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2" Type="http://schemas.openxmlformats.org/officeDocument/2006/relationships/viewProps" Target="viewProps.xml" /><Relationship Id="rId5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4" Type="http://schemas.openxmlformats.org/officeDocument/2006/relationships/tableStyles" Target="tableStyles.xml" /><Relationship Id="rId5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AME4064 - Week 1: Introduction to Mechatronics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Year 1 Mechanical Engineering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120-minute teaching session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AME4064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1: Introduction to Mechatronics</a:t>
            </a:r>
          </a:p>
          <a:p>
            <a:pPr lvl="0" indent="0" marL="0">
              <a:buNone/>
            </a:pPr>
            <a:r>
              <a:rPr b="1"/>
              <a:t>From mechanical system to mechatronic system</a:t>
            </a:r>
          </a:p>
          <a:p>
            <a:pPr lvl="0"/>
            <a:r>
              <a:rPr/>
              <a:t>Year 1 Mechanical Engineering</a:t>
            </a:r>
          </a:p>
          <a:p>
            <a:pPr lvl="0"/>
            <a:r>
              <a:rPr/>
              <a:t>Theory, design thinking and supervised practical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Route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0-10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Welcome, challenge context and learning outcomes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10-35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makes a product mechatronic?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35-55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Voltage, current, resistance and power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55-65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Worked example and readiness check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65-110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Practical: measure before building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110-120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Review, exit evidence and next week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Outcomes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By the end of this session, you should be able to: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identify the mechanical, electrical, sensing, control and actuation elements in a simple product;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distinguish an energy path from an information path;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state the units for voltage, current, resistance and power;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calculate power using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t>V</m:t>
                    </m:r>
                    <m:r>
                      <m:t>I</m:t>
                    </m:r>
                  </m:oMath>
                </a14:m>
                <a:r>
                  <a:rPr/>
                  <a:t>;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use a digital multimeter safely to measure voltage and resistance; and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build and check a low-voltage LED circuit with a current-limiting resistor.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Mechatronics?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mechanical product can be stronger, faster or lighter.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mechatronic</a:t>
            </a:r>
            <a:r>
              <a:rPr/>
              <a:t> product can also:</a:t>
            </a:r>
          </a:p>
          <a:p>
            <a:pPr lvl="0"/>
            <a:r>
              <a:rPr/>
              <a:t>sense its condition or surroundings;</a:t>
            </a:r>
          </a:p>
          <a:p>
            <a:pPr lvl="0"/>
            <a:r>
              <a:rPr/>
              <a:t>make a decision from a rule or program;</a:t>
            </a:r>
          </a:p>
          <a:p>
            <a:pPr lvl="0"/>
            <a:r>
              <a:rPr/>
              <a:t>create controlled motion;</a:t>
            </a:r>
          </a:p>
          <a:p>
            <a:pPr lvl="0"/>
            <a:r>
              <a:rPr/>
              <a:t>respond consistently to a changing task; and</a:t>
            </a:r>
          </a:p>
          <a:p>
            <a:pPr lvl="0"/>
            <a:r>
              <a:rPr/>
              <a:t>provide useful test data.</a:t>
            </a:r>
          </a:p>
          <a:p>
            <a:pPr lvl="0" indent="0" marL="0">
              <a:buNone/>
            </a:pPr>
            <a:r>
              <a:rPr b="1"/>
              <a:t>Question:</a:t>
            </a:r>
            <a:r>
              <a:rPr/>
              <a:t> Which of these capabilities would be valuable in a vehicle that must follow a line or stop at an obstacle?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Recurring Challenge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Throughout AME4064, use this mental model:</a:t>
            </a:r>
          </a:p>
          <a:p>
            <a:pPr lvl="0" indent="0" marL="1270000">
              <a:buNone/>
            </a:pPr>
            <a:r>
              <a:rPr sz="2000"/>
              <a:t>A small low-voltage vehicle or pipe-climber must move safely, respond to an input, and meet a stated requirement.</a:t>
            </a:r>
          </a:p>
          <a:p>
            <a:pPr lvl="0" indent="0" marL="0">
              <a:buNone/>
            </a:pPr>
            <a:r>
              <a:rPr/>
              <a:t>Possible requirements:</a:t>
            </a:r>
          </a:p>
          <a:p>
            <a:pPr lvl="0"/>
            <a:r>
              <a:rPr/>
              <a:t>move a specified distance;</a:t>
            </a:r>
          </a:p>
          <a:p>
            <a:pPr lvl="0"/>
            <a:r>
              <a:rPr/>
              <a:t>carry or pull a small load;</a:t>
            </a:r>
          </a:p>
          <a:p>
            <a:pPr lvl="0"/>
            <a:r>
              <a:rPr/>
              <a:t>stop at an end position;</a:t>
            </a:r>
          </a:p>
          <a:p>
            <a:pPr lvl="0"/>
            <a:r>
              <a:rPr/>
              <a:t>follow a contrasting line; or</a:t>
            </a:r>
          </a:p>
          <a:p>
            <a:pPr lvl="0"/>
            <a:r>
              <a:rPr/>
              <a:t>repeat the task reliably.</a:t>
            </a:r>
          </a:p>
          <a:p>
            <a:pPr lvl="0" indent="0" marL="0">
              <a:buNone/>
            </a:pPr>
            <a:r>
              <a:rPr/>
              <a:t>The exact challenge may change. The engineering principles do not.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Think-Pair-Share: Spot the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one minute, consider an automatic sliding door, a cordless drill or a robot vacuum.</a:t>
            </a:r>
          </a:p>
          <a:p>
            <a:pPr lvl="0" indent="0" marL="0">
              <a:buNone/>
            </a:pPr>
            <a:r>
              <a:rPr/>
              <a:t>With a neighbour, identify:</a:t>
            </a:r>
          </a:p>
          <a:p>
            <a:pPr lvl="0"/>
            <a:r>
              <a:rPr/>
              <a:t>one structural or mechanical part;</a:t>
            </a:r>
          </a:p>
          <a:p>
            <a:pPr lvl="0"/>
            <a:r>
              <a:rPr/>
              <a:t>one source of energy;</a:t>
            </a:r>
          </a:p>
          <a:p>
            <a:pPr lvl="0"/>
            <a:r>
              <a:rPr/>
              <a:t>one input or sensor;</a:t>
            </a:r>
          </a:p>
          <a:p>
            <a:pPr lvl="0"/>
            <a:r>
              <a:rPr/>
              <a:t>one decision-making component; and</a:t>
            </a:r>
          </a:p>
          <a:p>
            <a:pPr lvl="0"/>
            <a:r>
              <a:rPr/>
              <a:t>one output or actuator.</a:t>
            </a:r>
          </a:p>
          <a:p>
            <a:pPr lvl="0" indent="0" marL="0">
              <a:buNone/>
            </a:pPr>
            <a:r>
              <a:rPr/>
              <a:t>Be ready to share one example.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Useful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mechatronic system</a:t>
            </a:r>
            <a:r>
              <a:rPr/>
              <a:t> combines:</a:t>
            </a:r>
          </a:p>
          <a:p>
            <a:pPr lvl="0"/>
            <a:r>
              <a:rPr/>
              <a:t>mechanical structure and motion;</a:t>
            </a:r>
          </a:p>
          <a:p>
            <a:pPr lvl="0"/>
            <a:r>
              <a:rPr/>
              <a:t>electrical energy;</a:t>
            </a:r>
          </a:p>
          <a:p>
            <a:pPr lvl="0"/>
            <a:r>
              <a:rPr/>
              <a:t>electronics;</a:t>
            </a:r>
          </a:p>
          <a:p>
            <a:pPr lvl="0"/>
            <a:r>
              <a:rPr/>
              <a:t>sensors and inputs;</a:t>
            </a:r>
          </a:p>
          <a:p>
            <a:pPr lvl="0"/>
            <a:r>
              <a:rPr/>
              <a:t>control or decision-making; and</a:t>
            </a:r>
          </a:p>
          <a:p>
            <a:pPr lvl="0"/>
            <a:r>
              <a:rPr/>
              <a:t>actuators or outputs.</a:t>
            </a:r>
          </a:p>
          <a:p>
            <a:pPr lvl="0" indent="0" marL="0">
              <a:buNone/>
            </a:pPr>
            <a:r>
              <a:rPr/>
              <a:t>It is the purposeful connection between these parts that matters, not simply putting electronics near a mechanism.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Mechanical System to Mechatronic System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Mainly mechanical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Mechatronic extension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Hand-operated trolley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Powered trolley with controlled motor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Spring door closer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Sensor-controlled automatic door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Bicycle bell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Speed sensor and warning indicator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valve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 sensor, controller and motorised valve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mechatronic system can observe a condition and change its behaviour.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Six System Elements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 it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Vehicle 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holds the system together?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chassis, brackets, wheels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Energy 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 does useful energy begin?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 or bench supply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Sensor/input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does the system detect?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 sensor or limit switch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decides what happens next?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microcontroller or relay logic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Actuator/output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creates a physical response?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motor, LED or buzzer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Transmission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is motion delivered?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gearbox, shaft and wheel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Energy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energy path tells us how power reaches the part that does useful work.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Battery -&gt; fuse/switch -&gt; motor driver -&gt; motor -&gt; gearbox -&gt; wheel -&gt; motion</a:t>
            </a:r>
          </a:p>
          <a:p>
            <a:pPr lvl="0" indent="0" marL="0">
              <a:buNone/>
            </a:pPr>
            <a:r>
              <a:rPr/>
              <a:t>At each step, some energy is lost as heat, sound or friction.</a:t>
            </a:r>
          </a:p>
          <a:p>
            <a:pPr lvl="0" indent="0" marL="0">
              <a:buNone/>
            </a:pPr>
            <a:r>
              <a:rPr b="1"/>
              <a:t>Design question:</a:t>
            </a:r>
            <a:r>
              <a:rPr/>
              <a:t> Where would you place a fuse, and why should it be close to the battery?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Information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information path tells us how the product decides what to do.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Sensor or switch -&gt; controller -&gt; motor driver -&gt; motor action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a limit switch tells a vehicle it has reached an end stop;</a:t>
            </a:r>
          </a:p>
          <a:p>
            <a:pPr lvl="0"/>
            <a:r>
              <a:rPr/>
              <a:t>a light sensor tells a line follower where the track is;</a:t>
            </a:r>
          </a:p>
          <a:p>
            <a:pPr lvl="0"/>
            <a:r>
              <a:rPr/>
              <a:t>a pushbutton asks a system to start or stop.</a:t>
            </a:r>
          </a:p>
          <a:p>
            <a:pPr lvl="0" indent="0" marL="0">
              <a:buNone/>
            </a:pPr>
            <a:r>
              <a:rPr/>
              <a:t>Information usually controls energy; it does not supply the motor’s power.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Paths, One Product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Typical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 concern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Energy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electrical and mechanical power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battery, fuse, driver, motor, gearbox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current capacity and protection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signal or instruction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switch, sensor, controller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correct voltage levels and reliable readings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Important:</a:t>
            </a:r>
            <a:r>
              <a:rPr/>
              <a:t> A microcontroller output pin must not power a motor directly. A motor driver sits between the controller and motor.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Diagrams Before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block diagram is a fast way to communicate a system before selecting every wire and component.</a:t>
            </a:r>
          </a:p>
          <a:p>
            <a:pPr lvl="0" indent="0" marL="0">
              <a:buNone/>
            </a:pPr>
            <a:r>
              <a:rPr/>
              <a:t>For each block, ask:</a:t>
            </a:r>
          </a:p>
          <a:p>
            <a:pPr lvl="0"/>
            <a:r>
              <a:rPr/>
              <a:t>What is its purpose?</a:t>
            </a:r>
          </a:p>
          <a:p>
            <a:pPr lvl="0"/>
            <a:r>
              <a:rPr/>
              <a:t>What enters the block?</a:t>
            </a:r>
          </a:p>
          <a:p>
            <a:pPr lvl="0"/>
            <a:r>
              <a:rPr/>
              <a:t>What leaves the block?</a:t>
            </a:r>
          </a:p>
          <a:p>
            <a:pPr lvl="0"/>
            <a:r>
              <a:rPr/>
              <a:t>What could fail or become unsafe?</a:t>
            </a:r>
          </a:p>
          <a:p>
            <a:pPr lvl="0" indent="0" marL="0">
              <a:buNone/>
            </a:pPr>
            <a:r>
              <a:rPr/>
              <a:t>Use arrows to show direction of energy or information.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Activity: Complete the Vehicle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Draw these blocks and connect them with labelled arrows:</a:t>
            </a:r>
          </a:p>
          <a:p>
            <a:pPr lvl="0"/>
            <a:r>
              <a:rPr/>
              <a:t>battery;</a:t>
            </a:r>
          </a:p>
          <a:p>
            <a:pPr lvl="0"/>
            <a:r>
              <a:rPr/>
              <a:t>fuse and switch;</a:t>
            </a:r>
          </a:p>
          <a:p>
            <a:pPr lvl="0"/>
            <a:r>
              <a:rPr/>
              <a:t>controller;</a:t>
            </a:r>
          </a:p>
          <a:p>
            <a:pPr lvl="0"/>
            <a:r>
              <a:rPr/>
              <a:t>motor driver;</a:t>
            </a:r>
          </a:p>
          <a:p>
            <a:pPr lvl="0"/>
            <a:r>
              <a:rPr/>
              <a:t>motor and gearbox;</a:t>
            </a:r>
          </a:p>
          <a:p>
            <a:pPr lvl="0"/>
            <a:r>
              <a:rPr/>
              <a:t>wheel; and</a:t>
            </a:r>
          </a:p>
          <a:p>
            <a:pPr lvl="0"/>
            <a:r>
              <a:rPr/>
              <a:t>limit switch.</a:t>
            </a:r>
          </a:p>
          <a:p>
            <a:pPr lvl="0" indent="0" marL="0">
              <a:buNone/>
            </a:pPr>
            <a:r>
              <a:rPr/>
              <a:t>Then use two colours or line styles:</a:t>
            </a:r>
          </a:p>
          <a:p>
            <a:pPr lvl="0"/>
            <a:r>
              <a:rPr b="1"/>
              <a:t>energy path</a:t>
            </a:r>
            <a:r>
              <a:rPr/>
              <a:t> from battery to wheel;</a:t>
            </a:r>
          </a:p>
          <a:p>
            <a:pPr lvl="0"/>
            <a:r>
              <a:rPr b="1"/>
              <a:t>information path</a:t>
            </a:r>
            <a:r>
              <a:rPr/>
              <a:t> from limit switch to motor action.</a:t>
            </a:r>
          </a:p>
          <a:p>
            <a:pPr lvl="0" indent="0" marL="0">
              <a:buNone/>
            </a:pPr>
            <a:r>
              <a:rPr/>
              <a:t>Time: 5 minutes.</a:t>
            </a:r>
          </a:p>
        </p:txBody>
      </p:sp>
    </p:spTree>
  </p:cSld>
</p:sld>
</file>

<file path=ppt/slides/slide1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Engineering Language and SI Units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Clear units make calculations and test data meaningful.</a:t></a:r></a:p></p:txBody></p:sp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701800" /><a:gridCol w="1701800" /><a:gridCol w="1701800" /></a:tblGrid><a:tr h="0"><a:tc><a:txBody><a:bodyPr /><a:lstStyle /><a:p><a:pPr lvl="0" indent="0" marL="0"><a:buNone /></a:pPr><a:r><a:rPr /><a:t>Quantity</a:t></a:r></a:p></a:txBody><a:tcPr /></a:tc><a:tc><a:txBody><a:bodyPr /><a:lstStyle /><a:p><a:pPr lvl="0" indent="0" marL="0"><a:buNone /></a:pPr><a:r><a:rPr /><a:t>Symbol</a:t></a:r></a:p></a:txBody><a:tcPr /></a:tc><a:tc><a:txBody><a:bodyPr /><a:lstStyle /><a:p><a:pPr lvl="0" indent="0" marL="0"><a:buNone /></a:pPr><a:r><a:rPr /><a:t>SI unit</a:t></a:r></a:p></a:txBody><a:tcPr /></a:tc></a:tr><a:tr h="0"><a:tc><a:txBody><a:bodyPr /><a:lstStyle /><a:p><a:pPr lvl="0" indent="0" marL="0"><a:buNone /></a:pPr><a:r><a:rPr /><a:t>Voltage</a:t></a:r></a:p></a:txBody></a:tc><a:tc><a:txBody><a:bodyPr /><a:lstStyle /><a:p><a:pPr lvl="0" indent="0" marL="0"><a:buNone /></a:pPr><a14:m><m:oMath xmlns:m="http://schemas.openxmlformats.org/officeDocument/2006/math"><m:r><m:t>V</m:t></m:r></m:oMath></a14:m></a:p></a:txBody></a:tc><a:tc><a:txBody><a:bodyPr /><a:lstStyle /><a:p><a:pPr lvl="0" indent="0" marL="0"><a:buNone /></a:pPr><a:r><a:rPr /><a:t>volt</a:t></a:r></a:p></a:txBody></a:tc></a:tr><a:tr h="0"><a:tc><a:txBody><a:bodyPr /><a:lstStyle /><a:p><a:pPr lvl="0" indent="0" marL="0"><a:buNone /></a:pPr><a:r><a:rPr /><a:t>Current</a:t></a:r></a:p></a:txBody></a:tc><a:tc><a:txBody><a:bodyPr /><a:lstStyle /><a:p><a:pPr lvl="0" indent="0" marL="0"><a:buNone /></a:pPr><a14:m><m:oMath xmlns:m="http://schemas.openxmlformats.org/officeDocument/2006/math"><m:r><m:t>I</m:t></m:r></m:oMath></a14:m></a:p></a:txBody></a:tc><a:tc><a:txBody><a:bodyPr /><a:lstStyle /><a:p><a:pPr lvl="0" indent="0" marL="0"><a:buNone /></a:pPr><a:r><a:rPr /><a:t>ampere</a:t></a:r></a:p></a:txBody></a:tc></a:tr><a:tr h="0"><a:tc><a:txBody><a:bodyPr /><a:lstStyle /><a:p><a:pPr lvl="0" indent="0" marL="0"><a:buNone /></a:pPr><a:r><a:rPr /><a:t>Resistance</a:t></a:r></a:p></a:txBody></a:tc><a:tc><a:txBody><a:bodyPr /><a:lstStyle /><a:p><a:pPr lvl="0" indent="0" marL="0"><a:buNone /></a:pPr><a14:m><m:oMath xmlns:m="http://schemas.openxmlformats.org/officeDocument/2006/math"><m:r><m:t>R</m:t></m:r></m:oMath></a14:m></a:p></a:txBody></a:tc><a:tc><a:txBody><a:bodyPr /><a:lstStyle /><a:p><a:pPr lvl="0" indent="0" marL="0"><a:buNone /></a:pPr><a:r><a:rPr /><a:t>ohm</a:t></a:r></a:p></a:txBody></a:tc></a:tr><a:tr h="0"><a:tc><a:txBody><a:bodyPr /><a:lstStyle /><a:p><a:pPr lvl="0" indent="0" marL="0"><a:buNone /></a:pPr><a:r><a:rPr /><a:t>Power</a:t></a:r></a:p></a:txBody></a:tc><a:tc><a:txBody><a:bodyPr /><a:lstStyle /><a:p><a:pPr lvl="0" indent="0" marL="0"><a:buNone /></a:pPr><a14:m><m:oMath xmlns:m="http://schemas.openxmlformats.org/officeDocument/2006/math"><m:r><m:t>P</m:t></m:r></m:oMath></a14:m></a:p></a:txBody></a:tc><a:tc><a:txBody><a:bodyPr /><a:lstStyle /><a:p><a:pPr lvl="0" indent="0" marL="0"><a:buNone /></a:pPr><a:r><a:rPr /><a:t>watt</a:t></a:r></a:p></a:txBody></a:tc></a:tr><a:tr h="0"><a:tc><a:txBody><a:bodyPr /><a:lstStyle /><a:p><a:pPr lvl="0" indent="0" marL="0"><a:buNone /></a:pPr><a:r><a:rPr /><a:t>Energy</a:t></a:r></a:p></a:txBody></a:tc><a:tc><a:txBody><a:bodyPr /><a:lstStyle /><a:p><a:pPr lvl="0" indent="0" marL="0"><a:buNone /></a:pPr><a14:m><m:oMath xmlns:m="http://schemas.openxmlformats.org/officeDocument/2006/math"><m:r><m:t>E</m:t></m:r></m:oMath></a14:m></a:p></a:txBody></a:tc><a:tc><a:txBody><a:bodyPr /><a:lstStyle /><a:p><a:pPr lvl="0" indent="0" marL="0"><a:buNone /></a:pPr><a:r><a:rPr /><a:t>joule</a:t></a:r></a:p></a:txBody></a:tc></a:tr><a:tr h="0"><a:tc><a:txBody><a:bodyPr /><a:lstStyle /><a:p><a:pPr lvl="0" indent="0" marL="0"><a:buNone /></a:pPr><a:r><a:rPr /><a:t>Time</a:t></a:r></a:p></a:txBody></a:tc><a:tc><a:txBody><a:bodyPr /><a:lstStyle /><a:p><a:pPr lvl="0" indent="0" marL="0"><a:buNone /></a:pPr><a14:m><m:oMath xmlns:m="http://schemas.openxmlformats.org/officeDocument/2006/math"><m:r><m:t>t</m:t></m:r></m:oMath></a14:m></a:p></a:txBody></a:tc><a:tc><a:txBody><a:bodyPr /><a:lstStyle /><a:p><a:pPr lvl="0" indent="0" marL="0"><a:buNone /></a:pPr><a:r><a:rPr /><a:t>second</a:t></a:r></a:p></a:txBody></a:tc></a:tr></a:tbl></a:graphicData></a:graphic></p:graphicFrame></p:spTree></p:cSld>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Always record a number </a:t>
            </a:r>
            <a:r>
              <a:rPr b="1"/>
              <a:t>and</a:t>
            </a:r>
            <a:r>
              <a:rPr/>
              <a:t> its unit.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Voltage: Electrical Potential 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Voltage is the potential difference that can push charge through a circuit.</a:t>
            </a:r>
          </a:p>
          <a:p>
            <a:pPr lvl="0"/>
            <a:r>
              <a:rPr/>
              <a:t>Measured </a:t>
            </a:r>
            <a:r>
              <a:rPr b="1"/>
              <a:t>across</a:t>
            </a:r>
            <a:r>
              <a:rPr/>
              <a:t> two points.</a:t>
            </a:r>
          </a:p>
          <a:p>
            <a:pPr lvl="0"/>
            <a:r>
              <a:rPr/>
              <a:t>A 6 V battery pack has approximately 6 V between its positive and negative terminals.</a:t>
            </a:r>
          </a:p>
          <a:p>
            <a:pPr lvl="0"/>
            <a:r>
              <a:rPr/>
              <a:t>Voltage is not current: a source can have voltage even when nothing is connected.</a:t>
            </a:r>
          </a:p>
          <a:p>
            <a:pPr lvl="0" indent="0" marL="0">
              <a:buNone/>
            </a:pPr>
            <a:r>
              <a:rPr/>
              <a:t>Analogy: voltage is similar to a pressure difference, but electrical circuits should be analysed with measurements and equations, not analogy alone.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Current: Rate of Charge 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Current is the rate at which electric charge flows.</a:t>
                </a:r>
              </a:p>
              <a:p>
                <a:pPr lvl="0"/>
                <a:r>
                  <a:rPr/>
                  <a:t>Measured </a:t>
                </a:r>
                <a:r>
                  <a:rPr b="1"/>
                  <a:t>through</a:t>
                </a:r>
                <a:r>
                  <a:rPr/>
                  <a:t> a component or branch.</a:t>
                </a:r>
              </a:p>
              <a:p>
                <a:pPr lvl="0"/>
                <a:r>
                  <a:rPr/>
                  <a:t>Current needs a complete path around a circuit.</a:t>
                </a:r>
              </a:p>
              <a:p>
                <a:pPr lvl="0"/>
                <a:r>
                  <a:rPr/>
                  <a:t>A component draws current according to the applied voltage and its electrical behaviour.</a:t>
                </a:r>
              </a:p>
              <a:p>
                <a:pPr lvl="0"/>
                <a:r>
                  <a:rPr/>
                  <a:t>Current that is too high can overheat wires, damage components and drain a battery rapidly.</a:t>
                </a:r>
              </a:p>
              <a:p>
                <a:pPr lvl="0" indent="0" marL="0">
                  <a:buNone/>
                </a:pPr>
                <a:r>
                  <a:rPr/>
                  <a:t>Current is measured in amperes (A), often milliamperes (mA):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1</m:t>
                      </m:r>
                      <m:r>
                        <m:t> </m:t>
                      </m:r>
                      <m:r>
                        <m:rPr>
                          <m:sty m:val="p"/>
                        </m:rPr>
                        <m:t>A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1000</m:t>
                      </m:r>
                      <m:r>
                        <m:t> 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A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Resistance: Opposition to Current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Resistance limits current flow.</a:t>
                </a:r>
              </a:p>
              <a:p>
                <a:pPr lvl="0"/>
                <a:r>
                  <a:rPr/>
                  <a:t>Measured in ohms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Ω</m:t>
                    </m:r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/>
                  <a:t>A resistor converts electrical energy into heat.</a:t>
                </a:r>
              </a:p>
              <a:p>
                <a:pPr lvl="0"/>
                <a:r>
                  <a:rPr/>
                  <a:t>In an LED circuit, resistance is deliberately added to limit current.</a:t>
                </a:r>
              </a:p>
              <a:p>
                <a:pPr lvl="0"/>
                <a:r>
                  <a:rPr/>
                  <a:t>Wires have low resistance, but never zero resistance in real systems.</a:t>
                </a:r>
              </a:p>
              <a:p>
                <a:pPr lvl="0" indent="0" marL="0">
                  <a:buNone/>
                </a:pPr>
                <a:r>
                  <a:rPr/>
                  <a:t>For a fixed voltage, increasing resistance generally reduces current.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Power: Rate of Energy Transfer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Electrical power tells us how quickly energy is being transferred.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V</m:t>
                      </m:r>
                      <m:r>
                        <m:t>I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is power in watts (W);</a:t>
                </a:r>
              </a:p>
              <a:p>
                <a:pPr lvl="0"/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is voltage in volts (V); and</a:t>
                </a:r>
              </a:p>
              <a:p>
                <a:pPr lvl="0"/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is current in amperes (A).</a:t>
                </a:r>
              </a:p>
              <a:p>
                <a:pPr lvl="0" indent="0" marL="0">
                  <a:buNone/>
                </a:pPr>
                <a:r>
                  <a:rPr/>
                  <a:t>Power matters when choosing batteries, fuses, wires, motor drivers and resistors.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Example: Motor Load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6 V motor circuit draws 0.20 A while running under a light load.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V</m:t>
                      </m:r>
                      <m:r>
                        <m:t>I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6</m:t>
                      </m:r>
                      <m:r>
                        <m:t> </m:t>
                      </m:r>
                      <m:r>
                        <m:rPr>
                          <m:sty m:val="p"/>
                        </m:rPr>
                        <m:t>V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t>0.20</m:t>
                      </m:r>
                      <m:r>
                        <m:t> </m:t>
                      </m:r>
                      <m:r>
                        <m:rPr>
                          <m:sty m:val="p"/>
                        </m:rPr>
                        <m:t>A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1.2</m:t>
                      </m:r>
                      <m:r>
                        <m:t> </m:t>
                      </m:r>
                      <m:r>
                        <m:rPr>
                          <m:sty m:val="p"/>
                        </m:rPr>
                        <m:t>W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electrical input power. The useful mechanical output power will be lower because no motor or gearbox is 100% efficient.</a:t>
                </a:r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Your Understanding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Calculate the power for each case. Show the unit.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Power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 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0.10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 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0.05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 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Discuss: which circuit transfers energy fastest?</a:t>
            </a:r>
          </a:p>
          <a:p>
            <a:pPr lvl="0" indent="0" marL="0">
              <a:buNone/>
            </a:pPr>
            <a:r>
              <a:rPr/>
              <a:t>Time: 3 minutes.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Answers and Meaning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Power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 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0.10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 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 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0.05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 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 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0.50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6.0 W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12 V, 0.50 A circuit has the highest power. It may need a larger power source, more robust wiring and a suitable protective device.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Safety Gate: Low Voltage Still Needs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uses protected low-voltage DC supplies only. Even so:</a:t>
            </a:r>
          </a:p>
          <a:p>
            <a:pPr lvl="0"/>
            <a:r>
              <a:rPr/>
              <a:t>inspect leads and insulation before use;</a:t>
            </a:r>
          </a:p>
          <a:p>
            <a:pPr lvl="0"/>
            <a:r>
              <a:rPr/>
              <a:t>keep the bench dry, tidy and free of loose metal objects;</a:t>
            </a:r>
          </a:p>
          <a:p>
            <a:pPr lvl="0"/>
            <a:r>
              <a:rPr/>
              <a:t>turn power off before changing wiring;</a:t>
            </a:r>
          </a:p>
          <a:p>
            <a:pPr lvl="0"/>
            <a:r>
              <a:rPr/>
              <a:t>never deliberately short a supply or battery;</a:t>
            </a:r>
          </a:p>
          <a:p>
            <a:pPr lvl="0"/>
            <a:r>
              <a:rPr/>
              <a:t>use the correct meter terminals and range;</a:t>
            </a:r>
          </a:p>
          <a:p>
            <a:pPr lvl="0"/>
            <a:r>
              <a:rPr/>
              <a:t>ask the tutor if a component becomes hot, smells unusual or behaves unexpectedly.</a:t>
            </a:r>
          </a:p>
          <a:p>
            <a:pPr lvl="0" indent="0" marL="0">
              <a:buNone/>
            </a:pPr>
            <a:r>
              <a:rPr b="1"/>
              <a:t>Stop condition:</a:t>
            </a:r>
            <a:r>
              <a:rPr/>
              <a:t> disconnect power immediately if a wire, component or battery becomes hot.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Digital Multimeter (DMM)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multimeter can measure several quantities. It is useful only when connected correctly.</a:t>
            </a:r>
          </a:p>
          <a:p>
            <a:pPr lvl="0" indent="0" marL="0">
              <a:buNone/>
            </a:pPr>
            <a:r>
              <a:rPr/>
              <a:t>Typical terminals:</a:t>
            </a:r>
          </a:p>
          <a:p>
            <a:pPr lvl="0"/>
            <a:r>
              <a:rPr>
                <a:latin typeface="Courier"/>
              </a:rPr>
              <a:t>COM</a:t>
            </a:r>
            <a:r>
              <a:rPr/>
              <a:t>: common (black lead);</a:t>
            </a:r>
          </a:p>
          <a:p>
            <a:pPr lvl="0"/>
            <a:r>
              <a:rPr>
                <a:latin typeface="Courier"/>
              </a:rPr>
              <a:t>V ohm</a:t>
            </a:r>
            <a:r>
              <a:rPr/>
              <a:t>: voltage, resistance and low-current measurements (red lead);</a:t>
            </a:r>
          </a:p>
          <a:p>
            <a:pPr lvl="0"/>
            <a:r>
              <a:rPr>
                <a:latin typeface="Courier"/>
              </a:rPr>
              <a:t>A</a:t>
            </a:r>
            <a:r>
              <a:rPr/>
              <a:t> or </a:t>
            </a:r>
            <a:r>
              <a:rPr>
                <a:latin typeface="Courier"/>
              </a:rPr>
              <a:t>mA</a:t>
            </a:r>
            <a:r>
              <a:rPr/>
              <a:t>: current measurement terminal (red lead when instructed).</a:t>
            </a:r>
          </a:p>
          <a:p>
            <a:pPr lvl="0" indent="0" marL="0">
              <a:buNone/>
            </a:pPr>
            <a:r>
              <a:rPr/>
              <a:t>Always check the lead position </a:t>
            </a:r>
            <a:r>
              <a:rPr b="1"/>
              <a:t>before</a:t>
            </a:r>
            <a:r>
              <a:rPr/>
              <a:t> making a measurement.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Measuring Voltage Safely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measure voltage:</a:t>
            </a:r>
          </a:p>
          <a:p>
            <a:pPr lvl="0" indent="-342900" marL="342900">
              <a:buAutoNum type="arabicPeriod"/>
            </a:pPr>
            <a:r>
              <a:rPr/>
              <a:t>insert black lead into </a:t>
            </a:r>
            <a:r>
              <a:rPr>
                <a:latin typeface="Courier"/>
              </a:rPr>
              <a:t>COM</a:t>
            </a:r>
            <a:r>
              <a:rPr/>
              <a:t> and red lead into </a:t>
            </a:r>
            <a:r>
              <a:rPr>
                <a:latin typeface="Courier"/>
              </a:rPr>
              <a:t>V ohm</a:t>
            </a:r>
            <a:r>
              <a:rPr/>
              <a:t>;</a:t>
            </a:r>
          </a:p>
          <a:p>
            <a:pPr lvl="0" indent="-342900" marL="342900">
              <a:buAutoNum type="arabicPeriod"/>
            </a:pPr>
            <a:r>
              <a:rPr/>
              <a:t>select DC voltage mode and a suitable range;</a:t>
            </a:r>
          </a:p>
          <a:p>
            <a:pPr lvl="0" indent="-342900" marL="342900">
              <a:buAutoNum type="arabicPeriod"/>
            </a:pPr>
            <a:r>
              <a:rPr/>
              <a:t>place probes </a:t>
            </a:r>
            <a:r>
              <a:rPr b="1"/>
              <a:t>across</a:t>
            </a:r>
            <a:r>
              <a:rPr/>
              <a:t> the supply or component;</a:t>
            </a:r>
          </a:p>
          <a:p>
            <a:pPr lvl="0" indent="-342900" marL="342900">
              <a:buAutoNum type="arabicPeriod"/>
            </a:pPr>
            <a:r>
              <a:rPr/>
              <a:t>read the value and record its unit.</a:t>
            </a:r>
          </a:p>
          <a:p>
            <a:pPr lvl="0" indent="0" marL="0">
              <a:buNone/>
            </a:pPr>
            <a:r>
              <a:rPr/>
              <a:t>Never use the current terminal to measure voltage across a supply: it can create a short circuit.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Measuring Resistance Safely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measure resistance:</a:t>
            </a:r>
          </a:p>
          <a:p>
            <a:pPr lvl="0" indent="-342900" marL="342900">
              <a:buAutoNum type="arabicPeriod"/>
            </a:pPr>
            <a:r>
              <a:rPr/>
              <a:t>ensure the component is disconnected from power;</a:t>
            </a:r>
          </a:p>
          <a:p>
            <a:pPr lvl="0" indent="-342900" marL="342900">
              <a:buAutoNum type="arabicPeriod"/>
            </a:pPr>
            <a:r>
              <a:rPr/>
              <a:t>insert black lead into </a:t>
            </a:r>
            <a:r>
              <a:rPr>
                <a:latin typeface="Courier"/>
              </a:rPr>
              <a:t>COM</a:t>
            </a:r>
            <a:r>
              <a:rPr/>
              <a:t> and red lead into </a:t>
            </a:r>
            <a:r>
              <a:rPr>
                <a:latin typeface="Courier"/>
              </a:rPr>
              <a:t>V ohm</a:t>
            </a:r>
            <a:r>
              <a:rPr/>
              <a:t>;</a:t>
            </a:r>
          </a:p>
          <a:p>
            <a:pPr lvl="0" indent="-342900" marL="342900">
              <a:buAutoNum type="arabicPeriod"/>
            </a:pPr>
            <a:r>
              <a:rPr/>
              <a:t>select resistance mode (ohms);</a:t>
            </a:r>
          </a:p>
          <a:p>
            <a:pPr lvl="0" indent="-342900" marL="342900">
              <a:buAutoNum type="arabicPeriod"/>
            </a:pPr>
            <a:r>
              <a:rPr/>
              <a:t>touch probes to either end of the resistor;</a:t>
            </a:r>
          </a:p>
          <a:p>
            <a:pPr lvl="0" indent="-342900" marL="342900">
              <a:buAutoNum type="arabicPeriod"/>
            </a:pPr>
            <a:r>
              <a:rPr/>
              <a:t>compare measured value with the colour code or labelled value.</a:t>
            </a:r>
          </a:p>
          <a:p>
            <a:pPr lvl="0" indent="0" marL="0">
              <a:buNone/>
            </a:pPr>
            <a:r>
              <a:rPr/>
              <a:t>Resistance readings in a powered circuit are not valid and may damage the meter.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Measuring Current: Tutor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must be measured </a:t>
            </a:r>
            <a:r>
              <a:rPr b="1"/>
              <a:t>in series</a:t>
            </a:r>
            <a:r>
              <a:rPr/>
              <a:t> with the circuit.</a:t>
            </a:r>
          </a:p>
          <a:p>
            <a:pPr lvl="0"/>
            <a:r>
              <a:rPr/>
              <a:t>break the circuit and insert the meter into the current path;</a:t>
            </a:r>
          </a:p>
          <a:p>
            <a:pPr lvl="0"/>
            <a:r>
              <a:rPr/>
              <a:t>move the red lead to the correct current terminal;</a:t>
            </a:r>
          </a:p>
          <a:p>
            <a:pPr lvl="0"/>
            <a:r>
              <a:rPr/>
              <a:t>start on a safe high-current range if uncertain;</a:t>
            </a:r>
          </a:p>
          <a:p>
            <a:pPr lvl="0"/>
            <a:r>
              <a:rPr/>
              <a:t>return the lead to </a:t>
            </a:r>
            <a:r>
              <a:rPr>
                <a:latin typeface="Courier"/>
              </a:rPr>
              <a:t>V ohm</a:t>
            </a:r>
            <a:r>
              <a:rPr/>
              <a:t> after the measurement.</a:t>
            </a:r>
          </a:p>
          <a:p>
            <a:pPr lvl="0" indent="0" marL="0">
              <a:buNone/>
            </a:pPr>
            <a:r>
              <a:rPr/>
              <a:t>For today’s practical, measure voltage and resistance independently. Do not measure current unless the tutor has checked the circuit and meter setup.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LED Needs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LED is a diode: it conducts mainly in one direction and emits light when current flows.</a:t>
            </a:r>
          </a:p>
          <a:p>
            <a:pPr lvl="0"/>
            <a:r>
              <a:rPr/>
              <a:t>Long leg normally indicates the </a:t>
            </a:r>
            <a:r>
              <a:rPr b="1"/>
              <a:t>anode</a:t>
            </a:r>
            <a:r>
              <a:rPr/>
              <a:t> (+).</a:t>
            </a:r>
          </a:p>
          <a:p>
            <a:pPr lvl="0"/>
            <a:r>
              <a:rPr/>
              <a:t>Short leg or flat edge normally indicates the </a:t>
            </a:r>
            <a:r>
              <a:rPr b="1"/>
              <a:t>cathode</a:t>
            </a:r>
            <a:r>
              <a:rPr/>
              <a:t> (-).</a:t>
            </a:r>
          </a:p>
          <a:p>
            <a:pPr lvl="0"/>
            <a:r>
              <a:rPr/>
              <a:t>LEDs need a series resistor to limit current.</a:t>
            </a:r>
          </a:p>
          <a:p>
            <a:pPr lvl="0"/>
            <a:r>
              <a:rPr/>
              <a:t>Reversed polarity normally prevents light output.</a:t>
            </a:r>
          </a:p>
          <a:p>
            <a:pPr lvl="0" indent="0" marL="0">
              <a:buNone/>
            </a:pPr>
            <a:r>
              <a:rPr/>
              <a:t>Never connect an LED directly across a power supply.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LED Circuit Diagram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>
                    <a:latin typeface="Courier"/>
                  </a:rPr>
                  <a:t>Positive supply -&gt; resistor -&gt; LED anode -&gt; LED cathode -&gt; negative supply</a:t>
                </a:r>
              </a:p>
              <a:p>
                <a:pPr lvl="0" indent="0" marL="0">
                  <a:buNone/>
                </a:pPr>
                <a:r>
                  <a:rPr/>
                  <a:t>For a 5 V supply, a typical red LED may drop about 2 V. A 330 ohm resistor gives a safe current for introductory work.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r>
                        <m:rPr>
                          <m:sty m:val="p"/>
                        </m:rPr>
                        <m:t>≈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s</m:t>
                              </m:r>
                              <m:r>
                                <m:t>u</m:t>
                              </m:r>
                              <m:r>
                                <m:t>p</m:t>
                              </m:r>
                              <m:r>
                                <m:t>p</m:t>
                              </m:r>
                              <m:r>
                                <m:t>l</m:t>
                              </m:r>
                              <m:r>
                                <m:t>y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L</m:t>
                              </m:r>
                              <m:r>
                                <m:t>E</m:t>
                              </m:r>
                              <m:r>
                                <m:t>D</m:t>
                              </m:r>
                            </m:sub>
                          </m:sSub>
                        </m:num>
                        <m:den>
                          <m:r>
                            <m:t>R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5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2</m:t>
                          </m:r>
                        </m:num>
                        <m:den>
                          <m:r>
                            <m:t>330</m:t>
                          </m:r>
                        </m:den>
                      </m:f>
                      <m:r>
                        <m:rPr>
                          <m:sty m:val="p"/>
                        </m:rPr>
                        <m:t>≈</m:t>
                      </m:r>
                      <m:r>
                        <m:t>0.009</m:t>
                      </m:r>
                      <m:r>
                        <m:t> </m:t>
                      </m:r>
                      <m:r>
                        <m:rPr>
                          <m:sty m:val="p"/>
                        </m:rPr>
                        <m:t>A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9</m:t>
                      </m:r>
                      <m:r>
                        <m:t> 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A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is an estimate. Real component values vary.</a:t>
                </a:r>
              </a:p>
            </p:txBody>
          </p:sp>
        </mc:Choice>
      </mc:AlternateContent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Brief: Measure Before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Aim:</a:t>
            </a:r>
            <a:r>
              <a:rPr/>
              <a:t> Use a DMM safely, verify the parts, build a protected LED circuit, and record evidence.</a:t>
            </a:r>
          </a:p>
          <a:p>
            <a:pPr lvl="0" indent="0" marL="0">
              <a:buNone/>
            </a:pPr>
            <a:r>
              <a:rPr b="1"/>
              <a:t>In pairs:</a:t>
            </a:r>
          </a:p>
          <a:p>
            <a:pPr lvl="0"/>
            <a:r>
              <a:rPr/>
              <a:t>Person A sets the meter and makes the measurement.</a:t>
            </a:r>
          </a:p>
          <a:p>
            <a:pPr lvl="0"/>
            <a:r>
              <a:rPr/>
              <a:t>Person B checks the meter terminals, mode and probe position.</a:t>
            </a:r>
          </a:p>
          <a:p>
            <a:pPr lvl="0"/>
            <a:r>
              <a:rPr/>
              <a:t>Swap roles after each measurement.</a:t>
            </a:r>
          </a:p>
          <a:p>
            <a:pPr lvl="0" indent="0" marL="0">
              <a:buNone/>
            </a:pPr>
            <a:r>
              <a:rPr b="1"/>
              <a:t>Required evidence:</a:t>
            </a:r>
            <a:r>
              <a:rPr/>
              <a:t> a completed table, a labelled sketch and one safety control.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Equipment and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pair:</a:t>
            </a:r>
          </a:p>
          <a:p>
            <a:pPr lvl="0"/>
            <a:r>
              <a:rPr/>
              <a:t>protected low-voltage DC supply or battery pack;</a:t>
            </a:r>
          </a:p>
          <a:p>
            <a:pPr lvl="0"/>
            <a:r>
              <a:rPr/>
              <a:t>digital multimeter and leads;</a:t>
            </a:r>
          </a:p>
          <a:p>
            <a:pPr lvl="0"/>
            <a:r>
              <a:rPr/>
              <a:t>breadboard and jumper wires;</a:t>
            </a:r>
          </a:p>
          <a:p>
            <a:pPr lvl="0"/>
            <a:r>
              <a:rPr/>
              <a:t>330 ohm resistor;</a:t>
            </a:r>
          </a:p>
          <a:p>
            <a:pPr lvl="0"/>
            <a:r>
              <a:rPr/>
              <a:t>red LED; and</a:t>
            </a:r>
          </a:p>
          <a:p>
            <a:pPr lvl="0"/>
            <a:r>
              <a:rPr/>
              <a:t>isolated switch lead if supplied.</a:t>
            </a:r>
          </a:p>
          <a:p>
            <a:pPr lvl="0" indent="0" marL="0">
              <a:buNone/>
            </a:pPr>
            <a:r>
              <a:rPr/>
              <a:t>Before starting, identify the tutor-approved supply voltage and maximum current limit.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Procedure: Inspect and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Inspect the leads, breadboard, resistor and LED. Report damage; do not improvise a repair.</a:t>
            </a:r>
          </a:p>
          <a:p>
            <a:pPr lvl="0" indent="-342900" marL="342900">
              <a:buAutoNum type="arabicPeriod"/>
            </a:pPr>
            <a:r>
              <a:rPr/>
              <a:t>With power </a:t>
            </a:r>
            <a:r>
              <a:rPr b="1"/>
              <a:t>off</a:t>
            </a:r>
            <a:r>
              <a:rPr/>
              <a:t>, set the meter to resistance and measure the resistor.</a:t>
            </a:r>
          </a:p>
          <a:p>
            <a:pPr lvl="0" indent="-342900" marL="342900">
              <a:buAutoNum type="arabicPeriod"/>
            </a:pPr>
            <a:r>
              <a:rPr/>
              <a:t>Record the measured resistance in ohms or kilohms.</a:t>
            </a:r>
          </a:p>
          <a:p>
            <a:pPr lvl="0" indent="-342900" marL="342900">
              <a:buAutoNum type="arabicPeriod"/>
            </a:pPr>
            <a:r>
              <a:rPr/>
              <a:t>Set the meter to DC voltage and verify the supply voltage.</a:t>
            </a:r>
          </a:p>
          <a:p>
            <a:pPr lvl="0" indent="-342900" marL="342900">
              <a:buAutoNum type="arabicPeriod"/>
            </a:pPr>
            <a:r>
              <a:rPr/>
              <a:t>Turn power off again before placing any component on the breadboard.</a:t>
            </a:r>
          </a:p>
          <a:p>
            <a:pPr lvl="0" indent="0" marL="0">
              <a:buNone/>
            </a:pPr>
            <a:r>
              <a:rPr/>
              <a:t>Tutor checkpoint: both partners show the correct meter lead positions.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Procedure: Build and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Place the resistor and LED in series on separate breadboard rows.</a:t>
            </a:r>
          </a:p>
          <a:p>
            <a:pPr lvl="0" indent="-342900" marL="342900">
              <a:buAutoNum type="arabicPeriod"/>
            </a:pPr>
            <a:r>
              <a:rPr/>
              <a:t>Check LED polarity: anode toward the resistor and positive supply.</a:t>
            </a:r>
          </a:p>
          <a:p>
            <a:pPr lvl="0" indent="-342900" marL="342900">
              <a:buAutoNum type="arabicPeriod"/>
            </a:pPr>
            <a:r>
              <a:rPr/>
              <a:t>Ask your partner to trace the intended path aloud: positive -&gt; resistor -&gt; LED -&gt; negative.</a:t>
            </a:r>
          </a:p>
          <a:p>
            <a:pPr lvl="0" indent="-342900" marL="342900">
              <a:buAutoNum type="arabicPeriod"/>
            </a:pPr>
            <a:r>
              <a:rPr/>
              <a:t>Ask the tutor for a visual check if unsure.</a:t>
            </a:r>
          </a:p>
          <a:p>
            <a:pPr lvl="0" indent="-342900" marL="342900">
              <a:buAutoNum type="arabicPeriod"/>
            </a:pPr>
            <a:r>
              <a:rPr/>
              <a:t>Energise the circuit for a short observation.</a:t>
            </a:r>
          </a:p>
          <a:p>
            <a:pPr lvl="0" indent="-342900" marL="342900">
              <a:buAutoNum type="arabicPeriod"/>
            </a:pPr>
            <a:r>
              <a:rPr/>
              <a:t>Record whether the LED lights and whether any component warms up.</a:t>
            </a:r>
          </a:p>
          <a:p>
            <a:pPr lvl="0" indent="0" marL="0">
              <a:buNone/>
            </a:pPr>
            <a:r>
              <a:rPr/>
              <a:t>If the LED does not light, turn power off before investigating.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Troubleshooting 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LED does not light:</a:t>
            </a:r>
          </a:p>
          <a:p>
            <a:pPr lvl="0" indent="-342900" marL="342900">
              <a:buAutoNum type="arabicPeriod"/>
            </a:pPr>
            <a:r>
              <a:rPr/>
              <a:t>turn the power off;</a:t>
            </a:r>
          </a:p>
          <a:p>
            <a:pPr lvl="0" indent="-342900" marL="342900">
              <a:buAutoNum type="arabicPeriod"/>
            </a:pPr>
            <a:r>
              <a:rPr/>
              <a:t>check supply voltage with the meter;</a:t>
            </a:r>
          </a:p>
          <a:p>
            <a:pPr lvl="0" indent="-342900" marL="342900">
              <a:buAutoNum type="arabicPeriod"/>
            </a:pPr>
            <a:r>
              <a:rPr/>
              <a:t>check LED polarity;</a:t>
            </a:r>
          </a:p>
          <a:p>
            <a:pPr lvl="0" indent="-342900" marL="342900">
              <a:buAutoNum type="arabicPeriod"/>
            </a:pPr>
            <a:r>
              <a:rPr/>
              <a:t>check that each lead is in the intended breadboard row;</a:t>
            </a:r>
          </a:p>
          <a:p>
            <a:pPr lvl="0" indent="-342900" marL="342900">
              <a:buAutoNum type="arabicPeriod"/>
            </a:pPr>
            <a:r>
              <a:rPr/>
              <a:t>check the resistor value and placement;</a:t>
            </a:r>
          </a:p>
          <a:p>
            <a:pPr lvl="0" indent="-342900" marL="342900">
              <a:buAutoNum type="arabicPeriod"/>
            </a:pPr>
            <a:r>
              <a:rPr/>
              <a:t>check for a complete path from positive to negative; and</a:t>
            </a:r>
          </a:p>
          <a:p>
            <a:pPr lvl="0" indent="-342900" marL="342900">
              <a:buAutoNum type="arabicPeriod"/>
            </a:pPr>
            <a:r>
              <a:rPr/>
              <a:t>request tutor support before changing the circuit at random.</a:t>
            </a:r>
          </a:p>
          <a:p>
            <a:pPr lvl="0" indent="0" marL="0">
              <a:buNone/>
            </a:pPr>
            <a:r>
              <a:rPr/>
              <a:t>Good fault finding changes one thing at a time and records what was checked.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Recording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Measured/observed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Unit or evidence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Supply voltage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tutor-stated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Resistor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330 ohm nominal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ohm or kilohm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LED orientation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anode to positive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sketch/check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LED result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lights without heating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observation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safety 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power off before rewiring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statement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a labelled circuit sketch showing the supply, resistor, LED and polarity.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Mid-Practical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Pause and compare your work against these questions:</a:t>
            </a:r>
          </a:p>
          <a:p>
            <a:pPr lvl="0"/>
            <a:r>
              <a:rPr/>
              <a:t>Can you point to the energy path in your LED circuit?</a:t>
            </a:r>
          </a:p>
          <a:p>
            <a:pPr lvl="0"/>
            <a:r>
              <a:rPr/>
              <a:t>Why is the resistor included?</a:t>
            </a:r>
          </a:p>
          <a:p>
            <a:pPr lvl="0"/>
            <a:r>
              <a:rPr/>
              <a:t>Where are voltage and resistance measured differently?</a:t>
            </a:r>
          </a:p>
          <a:p>
            <a:pPr lvl="0"/>
            <a:r>
              <a:rPr/>
              <a:t>What must happen before moving a meter lead or rewiring a breadboard?</a:t>
            </a:r>
          </a:p>
          <a:p>
            <a:pPr lvl="0" indent="0" marL="0">
              <a:buNone/>
            </a:pPr>
            <a:r>
              <a:rPr/>
              <a:t>Resolve any unanswered question with your partner or tutor before continuing.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Extension: From LED to Vehicle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 same system-thinking approach for a small vehicle.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LED circuit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Vehicle system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 pack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Resistor protects LED current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fuse and driver protect motor circuit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LED produces visible 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motor produces motion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Switch can request 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sensor can request a behaviour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component choices differ, but safe power and clear information paths remain essential.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Evidence Check: Annotate a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Individually, draw a block diagram for a vehicle that:</a:t>
            </a:r>
          </a:p>
          <a:p>
            <a:pPr lvl="0"/>
            <a:r>
              <a:rPr/>
              <a:t>uses a battery;</a:t>
            </a:r>
          </a:p>
          <a:p>
            <a:pPr lvl="0"/>
            <a:r>
              <a:rPr/>
              <a:t>drives a motor and wheel;</a:t>
            </a:r>
          </a:p>
          <a:p>
            <a:pPr lvl="0"/>
            <a:r>
              <a:rPr/>
              <a:t>stops when a limit switch is pressed; and</a:t>
            </a:r>
          </a:p>
          <a:p>
            <a:pPr lvl="0"/>
            <a:r>
              <a:rPr/>
              <a:t>includes suitable protection.</a:t>
            </a:r>
          </a:p>
          <a:p>
            <a:pPr lvl="0" indent="0" marL="0">
              <a:buNone/>
            </a:pPr>
            <a:r>
              <a:rPr/>
              <a:t>Label:</a:t>
            </a:r>
          </a:p>
          <a:p>
            <a:pPr lvl="0"/>
            <a:r>
              <a:rPr/>
              <a:t>the energy path;</a:t>
            </a:r>
          </a:p>
          <a:p>
            <a:pPr lvl="0"/>
            <a:r>
              <a:rPr/>
              <a:t>the information path;</a:t>
            </a:r>
          </a:p>
          <a:p>
            <a:pPr lvl="0"/>
            <a:r>
              <a:rPr/>
              <a:t>the controller; and</a:t>
            </a:r>
          </a:p>
          <a:p>
            <a:pPr lvl="0"/>
            <a:r>
              <a:rPr/>
              <a:t>one safety component.</a:t>
            </a:r>
          </a:p>
          <a:p>
            <a:pPr lvl="0" indent="0" marL="0">
              <a:buNone/>
            </a:pPr>
            <a:r>
              <a:rPr/>
              <a:t>Time: 4 minutes.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Complete these before leaving:</a:t>
            </a:r>
          </a:p>
          <a:p>
            <a:pPr lvl="0" indent="-342900" marL="342900">
              <a:buAutoNum type="arabicPeriod"/>
            </a:pPr>
            <a:r>
              <a:rPr/>
              <a:t>What is the difference between an energy path and an information path?</a:t>
            </a:r>
          </a:p>
          <a:p>
            <a:pPr lvl="0" indent="-342900" marL="342900">
              <a:buAutoNum type="arabicPeriod"/>
            </a:pPr>
            <a:r>
              <a:rPr/>
              <a:t>A 6 V load draws 0.20 A. Calculate its power.</a:t>
            </a:r>
          </a:p>
          <a:p>
            <a:pPr lvl="0" indent="-342900" marL="342900">
              <a:buAutoNum type="arabicPeriod"/>
            </a:pPr>
            <a:r>
              <a:rPr/>
              <a:t>State one reason an LED needs a resistor.</a:t>
            </a:r>
          </a:p>
          <a:p>
            <a:pPr lvl="0" indent="-342900" marL="342900">
              <a:buAutoNum type="arabicPeriod"/>
            </a:pPr>
            <a:r>
              <a:rPr/>
              <a:t>State one rule for safe multimeter use.</a:t>
            </a:r>
          </a:p>
          <a:p>
            <a:pPr lvl="0" indent="-342900" marL="342900">
              <a:buAutoNum type="arabicPeriod"/>
            </a:pPr>
            <a:r>
              <a:rPr/>
              <a:t>Name one component that must not be connected directly to a microcontroller output pin.</a:t>
            </a:r>
          </a:p>
          <a:p>
            <a:pPr lvl="0" indent="0" marL="0">
              <a:buNone/>
            </a:pPr>
            <a:r>
              <a:rPr/>
              <a:t>Hand in or photograph your annotated block diagram and measurement table as directed.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Mechatronics combines mechanics, electrical energy, sensing, control and actuation.</a:t>
                </a:r>
              </a:p>
              <a:p>
                <a:pPr lvl="0"/>
                <a:r>
                  <a:rPr/>
                  <a:t>Separate the energy path from the information path when thinking about a design.</a:t>
                </a:r>
              </a:p>
              <a:p>
                <a:pPr lvl="0"/>
                <a:r>
                  <a:rPr/>
                  <a:t>Voltage, current, resistance and power have distinct meanings and units.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t>V</m:t>
                    </m:r>
                    <m:r>
                      <m:t>I</m:t>
                    </m:r>
                  </m:oMath>
                </a14:m>
                <a:r>
                  <a:rPr/>
                  <a:t> links voltage, current and power.</a:t>
                </a:r>
              </a:p>
              <a:p>
                <a:pPr lvl="0"/>
                <a:r>
                  <a:rPr/>
                  <a:t>Measure before building, check polarity, and isolate power before rewiring.</a:t>
                </a:r>
              </a:p>
              <a:p>
                <a:pPr lvl="0"/>
                <a:r>
                  <a:rPr/>
                  <a:t>A systematic check is safer and faster than trial-and-error wiring.</a:t>
                </a:r>
              </a:p>
            </p:txBody>
          </p:sp>
        </mc:Choice>
      </mc:AlternateContent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Week 2: DC Circuits and Digital Inputs</a:t>
                </a:r>
              </a:p>
              <a:p>
                <a:pPr lvl="0" indent="0" marL="0">
                  <a:buNone/>
                </a:pPr>
                <a:r>
                  <a:rPr/>
                  <a:t>Next we will use:</a:t>
                </a:r>
              </a:p>
              <a:p>
                <a:pPr lvl="0"/>
                <a:r>
                  <a:rPr/>
                  <a:t>Ohm’s law,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t>I</m:t>
                    </m:r>
                    <m:r>
                      <m:t>R</m:t>
                    </m:r>
                  </m:oMath>
                </a14:m>
                <a:r>
                  <a:rPr/>
                  <a:t>;</a:t>
                </a:r>
              </a:p>
              <a:p>
                <a:pPr lvl="0"/>
                <a:r>
                  <a:rPr/>
                  <a:t>series and parallel circuits;</a:t>
                </a:r>
              </a:p>
              <a:p>
                <a:pPr lvl="0"/>
                <a:r>
                  <a:rPr/>
                  <a:t>LED resistor selection; and</a:t>
                </a:r>
              </a:p>
              <a:p>
                <a:pPr lvl="0"/>
                <a:r>
                  <a:rPr/>
                  <a:t>stable switch inputs using pull-up and pull-down resistors.</a:t>
                </a:r>
              </a:p>
              <a:p>
                <a:pPr lvl="0" indent="0" marL="0">
                  <a:buNone/>
                </a:pPr>
                <a:r>
                  <a:rPr/>
                  <a:t>Bring this week’s block diagram and measurement record.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AME4064 - Week 1: Introduction to Mechatronics</dc:title>
  <dc:creator>Year 1 Mechanical Engineering</dc:creator>
  <cp:keywords/>
  <dcterms:created xsi:type="dcterms:W3CDTF">2026-10-01T05:24:31Z</dcterms:created>
  <dcterms:modified xsi:type="dcterms:W3CDTF">2026-10-01T05:24:31Z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120-minute teaching session</vt:lpwstr>
  </property>
</Properties>
</file>