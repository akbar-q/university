
<file path=[Content_Types].xml><?xml version="1.0" encoding="utf-8"?>
<Types xmlns="http://schemas.openxmlformats.org/package/2006/content-types">
  <Default Extension="jpeg" ContentType="image/jpeg"/>
  <Default Extension="jpg" ContentType="image/jpeg"/>
  <Default Extension="jpg&amp;f=1&amp;nofb=1&amp;ipt=8ba9c6f8f86287fb201b8be2f7e1dbf52af9df940258fd61e1a82b215e9bd25b&amp;ipo=images" ContentType="image/jpeg"/>
  <Default Extension="png" ContentType="image/png"/>
  <Default Extension="png&amp;f=1&amp;nofb=1&amp;ipt=20bc9334b7b31de4624af29631e34d26c144dca59dd2ae8c0642a837bb8589b2&amp;ipo=images" ContentType="image/png"/>
  <Default Extension="png&amp;f=1&amp;nofb=1&amp;ipt=6286f937abcf6121246572867ebe8f187d8e78e0044a49ef67011017216f248e&amp;ipo=images" ContentType="image/png"/>
  <Default Extension="png&amp;f=1&amp;nofb=1&amp;ipt=bc0603e4d1cbe04e45861f496327b29be27ccb8b703e446c539944d5fcf64688&amp;ipo=images"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Lst>
  <p:notesMasterIdLst>
    <p:notesMasterId r:id="rId32"/>
  </p:notesMasterIdLst>
  <p:handoutMasterIdLst>
    <p:handoutMasterId r:id="rId33"/>
  </p:handoutMasterIdLst>
  <p:sldIdLst>
    <p:sldId id="258" r:id="rId5"/>
    <p:sldId id="284" r:id="rId6"/>
    <p:sldId id="264" r:id="rId7"/>
    <p:sldId id="262" r:id="rId8"/>
    <p:sldId id="273" r:id="rId9"/>
    <p:sldId id="261" r:id="rId10"/>
    <p:sldId id="263" r:id="rId11"/>
    <p:sldId id="294" r:id="rId12"/>
    <p:sldId id="293" r:id="rId13"/>
    <p:sldId id="296" r:id="rId14"/>
    <p:sldId id="270" r:id="rId15"/>
    <p:sldId id="295" r:id="rId16"/>
    <p:sldId id="297" r:id="rId17"/>
    <p:sldId id="299" r:id="rId18"/>
    <p:sldId id="298" r:id="rId19"/>
    <p:sldId id="300" r:id="rId20"/>
    <p:sldId id="301" r:id="rId21"/>
    <p:sldId id="303" r:id="rId22"/>
    <p:sldId id="304" r:id="rId23"/>
    <p:sldId id="302" r:id="rId24"/>
    <p:sldId id="305" r:id="rId25"/>
    <p:sldId id="307" r:id="rId26"/>
    <p:sldId id="306" r:id="rId27"/>
    <p:sldId id="308" r:id="rId28"/>
    <p:sldId id="266" r:id="rId29"/>
    <p:sldId id="280" r:id="rId30"/>
    <p:sldId id="29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75000" autoAdjust="0"/>
  </p:normalViewPr>
  <p:slideViewPr>
    <p:cSldViewPr snapToGrid="0">
      <p:cViewPr varScale="1">
        <p:scale>
          <a:sx n="77" d="100"/>
          <a:sy n="77" d="100"/>
        </p:scale>
        <p:origin x="62" y="655"/>
      </p:cViewPr>
      <p:guideLst/>
    </p:cSldViewPr>
  </p:slideViewPr>
  <p:notesTextViewPr>
    <p:cViewPr>
      <p:scale>
        <a:sx n="150" d="100"/>
        <a:sy n="150" d="100"/>
      </p:scale>
      <p:origin x="0" y="0"/>
    </p:cViewPr>
  </p:notesTextViewPr>
  <p:notesViewPr>
    <p:cSldViewPr snapToGrid="0">
      <p:cViewPr>
        <p:scale>
          <a:sx n="50" d="100"/>
          <a:sy n="50" d="100"/>
        </p:scale>
        <p:origin x="3403" y="3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3AA0E9-8CD0-4A6E-A65E-A06028B83F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5E2408B-C9AB-4665-AC99-B057BD0A43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48E1AF-6343-46AA-8AEF-4C12F4118850}" type="datetimeFigureOut">
              <a:rPr lang="en-US" smtClean="0"/>
              <a:t>10/21/2026</a:t>
            </a:fld>
            <a:endParaRPr lang="en-US" dirty="0"/>
          </a:p>
        </p:txBody>
      </p:sp>
      <p:sp>
        <p:nvSpPr>
          <p:cNvPr id="4" name="Footer Placeholder 3">
            <a:extLst>
              <a:ext uri="{FF2B5EF4-FFF2-40B4-BE49-F238E27FC236}">
                <a16:creationId xmlns:a16="http://schemas.microsoft.com/office/drawing/2014/main" id="{8CD1B215-531B-4869-BD98-BD3B1390B1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0B53F21-4D67-455D-8074-E9E6EC26FA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2858E0-3D38-47B7-97D4-4FE08D90D359}" type="slidenum">
              <a:rPr lang="en-US" smtClean="0"/>
              <a:t>‹#›</a:t>
            </a:fld>
            <a:endParaRPr lang="en-US" dirty="0"/>
          </a:p>
        </p:txBody>
      </p:sp>
    </p:spTree>
    <p:extLst>
      <p:ext uri="{BB962C8B-B14F-4D97-AF65-F5344CB8AC3E}">
        <p14:creationId xmlns:p14="http://schemas.microsoft.com/office/powerpoint/2010/main" val="28214433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D2517-63AA-420A-887D-BE60360A8F4D}" type="datetimeFigureOut">
              <a:rPr lang="en-US" noProof="0" smtClean="0"/>
              <a:t>10/21/2026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ECAD9-32EE-4091-BDA5-6BD15ACC5E58}" type="slidenum">
              <a:rPr lang="en-US" noProof="0" smtClean="0"/>
              <a:t>‹#›</a:t>
            </a:fld>
            <a:endParaRPr lang="en-US" noProof="0" dirty="0"/>
          </a:p>
        </p:txBody>
      </p:sp>
    </p:spTree>
    <p:extLst>
      <p:ext uri="{BB962C8B-B14F-4D97-AF65-F5344CB8AC3E}">
        <p14:creationId xmlns:p14="http://schemas.microsoft.com/office/powerpoint/2010/main" val="1106618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1" i="0" kern="1200" dirty="0">
                <a:solidFill>
                  <a:schemeClr val="tx1"/>
                </a:solidFill>
                <a:effectLst/>
                <a:latin typeface="+mn-lt"/>
                <a:ea typeface="+mn-ea"/>
                <a:cs typeface="+mn-cs"/>
              </a:rPr>
              <a:t>Audience:</a:t>
            </a:r>
            <a:r>
              <a:rPr lang="en-AE" sz="1200" b="0" i="0" kern="1200" dirty="0">
                <a:solidFill>
                  <a:schemeClr val="tx1"/>
                </a:solidFill>
                <a:effectLst/>
                <a:latin typeface="+mn-lt"/>
                <a:ea typeface="+mn-ea"/>
                <a:cs typeface="+mn-cs"/>
              </a:rPr>
              <a:t> Mechanical engineering students working on practical mechatronic systems, including the IMechE pipe-climber challenge.</a:t>
            </a:r>
          </a:p>
          <a:p>
            <a:r>
              <a:rPr lang="en-AE" sz="1200" b="1" i="0" kern="1200" dirty="0">
                <a:solidFill>
                  <a:schemeClr val="tx1"/>
                </a:solidFill>
                <a:effectLst/>
                <a:latin typeface="+mn-lt"/>
                <a:ea typeface="+mn-ea"/>
                <a:cs typeface="+mn-cs"/>
              </a:rPr>
              <a:t>Delivery:</a:t>
            </a:r>
            <a:r>
              <a:rPr lang="en-AE" sz="1200" b="0" i="0" kern="1200" dirty="0">
                <a:solidFill>
                  <a:schemeClr val="tx1"/>
                </a:solidFill>
                <a:effectLst/>
                <a:latin typeface="+mn-lt"/>
                <a:ea typeface="+mn-ea"/>
                <a:cs typeface="+mn-cs"/>
              </a:rPr>
              <a:t> Two 120-minute classes. An optional extension at the end can take delivery to approximately 4.5-5 hours.</a:t>
            </a:r>
          </a:p>
          <a:p>
            <a:r>
              <a:rPr lang="en-AE" sz="1200" b="1" i="0" kern="1200" dirty="0">
                <a:solidFill>
                  <a:schemeClr val="tx1"/>
                </a:solidFill>
                <a:effectLst/>
                <a:latin typeface="+mn-lt"/>
                <a:ea typeface="+mn-ea"/>
                <a:cs typeface="+mn-cs"/>
              </a:rPr>
              <a:t>Focus:</a:t>
            </a:r>
            <a:r>
              <a:rPr lang="en-AE" sz="1200" b="0" i="0" kern="1200" dirty="0">
                <a:solidFill>
                  <a:schemeClr val="tx1"/>
                </a:solidFill>
                <a:effectLst/>
                <a:latin typeface="+mn-lt"/>
                <a:ea typeface="+mn-ea"/>
                <a:cs typeface="+mn-cs"/>
              </a:rPr>
              <a:t> Brushed permanent-magnet DC motors and the geared motor assemblies commonly used in student prototypes. Brushless motors are introduced only to distinguish technologies and avoid misidentifying them.</a:t>
            </a:r>
          </a:p>
          <a:p>
            <a:r>
              <a:rPr lang="en-AE" sz="1200" b="1" i="0" kern="1200" dirty="0">
                <a:solidFill>
                  <a:schemeClr val="tx1"/>
                </a:solidFill>
                <a:effectLst/>
                <a:latin typeface="+mn-lt"/>
                <a:ea typeface="+mn-ea"/>
                <a:cs typeface="+mn-cs"/>
              </a:rPr>
              <a:t>Teaching approach:</a:t>
            </a:r>
            <a:r>
              <a:rPr lang="en-AE" sz="1200" b="0" i="0" kern="1200" dirty="0">
                <a:solidFill>
                  <a:schemeClr val="tx1"/>
                </a:solidFill>
                <a:effectLst/>
                <a:latin typeface="+mn-lt"/>
                <a:ea typeface="+mn-ea"/>
                <a:cs typeface="+mn-cs"/>
              </a:rPr>
              <a:t> Connect each electrical quantity to an observable mechanical result. Use the actual motor, gearbox, driver and power supply students will use wherever possible. Insert local component photographs, manufacturer graphs, circuit diagrams, rig images and measured class data where indicated.</a:t>
            </a:r>
          </a:p>
          <a:p>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1</a:t>
            </a:fld>
            <a:endParaRPr lang="en-US" noProof="0" dirty="0"/>
          </a:p>
        </p:txBody>
      </p:sp>
    </p:spTree>
    <p:extLst>
      <p:ext uri="{BB962C8B-B14F-4D97-AF65-F5344CB8AC3E}">
        <p14:creationId xmlns:p14="http://schemas.microsoft.com/office/powerpoint/2010/main" val="2215981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dirty="0">
                <a:solidFill>
                  <a:schemeClr val="tx1"/>
                </a:solidFill>
                <a:effectLst/>
                <a:latin typeface="+mn-lt"/>
                <a:ea typeface="+mn-ea"/>
                <a:cs typeface="+mn-cs"/>
              </a:rPr>
              <a:t>Begin with a real motor in hand. Ask students to identify what they can see and what they think is hidden inside. Avoid beginning with equations; return to the same motor throughout both classes.</a:t>
            </a:r>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3</a:t>
            </a:fld>
            <a:endParaRPr lang="en-US" noProof="0" dirty="0"/>
          </a:p>
        </p:txBody>
      </p:sp>
    </p:spTree>
    <p:extLst>
      <p:ext uri="{BB962C8B-B14F-4D97-AF65-F5344CB8AC3E}">
        <p14:creationId xmlns:p14="http://schemas.microsoft.com/office/powerpoint/2010/main" val="2258266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1" i="0" kern="1200" dirty="0">
                <a:solidFill>
                  <a:schemeClr val="tx1"/>
                </a:solidFill>
                <a:effectLst/>
                <a:latin typeface="+mn-lt"/>
                <a:ea typeface="+mn-ea"/>
                <a:cs typeface="+mn-cs"/>
              </a:rPr>
              <a:t>Opening question:</a:t>
            </a:r>
            <a:r>
              <a:rPr lang="en-AE" sz="1200" b="0" i="0" kern="1200" dirty="0">
                <a:solidFill>
                  <a:schemeClr val="tx1"/>
                </a:solidFill>
                <a:effectLst/>
                <a:latin typeface="+mn-lt"/>
                <a:ea typeface="+mn-ea"/>
                <a:cs typeface="+mn-cs"/>
              </a:rPr>
              <a:t> What would you measure first, and what result would help distinguish these causes?</a:t>
            </a:r>
          </a:p>
          <a:p>
            <a:r>
              <a:rPr lang="en-AE" sz="1200" b="1" i="0" kern="1200" dirty="0">
                <a:solidFill>
                  <a:schemeClr val="tx1"/>
                </a:solidFill>
                <a:effectLst/>
                <a:latin typeface="+mn-lt"/>
                <a:ea typeface="+mn-ea"/>
                <a:cs typeface="+mn-cs"/>
              </a:rPr>
              <a:t>Speaker notes:</a:t>
            </a:r>
            <a:r>
              <a:rPr lang="en-AE" sz="1200" b="0" i="0" kern="1200" dirty="0">
                <a:solidFill>
                  <a:schemeClr val="tx1"/>
                </a:solidFill>
                <a:effectLst/>
                <a:latin typeface="+mn-lt"/>
                <a:ea typeface="+mn-ea"/>
                <a:cs typeface="+mn-cs"/>
              </a:rPr>
              <a:t> Collect hypotheses without immediately judging them. Return to the list during the selection challenge. Emphasise that a motor is part of a drive system, not a stand-alone answer to a mechanical problem.</a:t>
            </a:r>
          </a:p>
          <a:p>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4</a:t>
            </a:fld>
            <a:endParaRPr lang="en-US" noProof="0" dirty="0"/>
          </a:p>
        </p:txBody>
      </p:sp>
    </p:spTree>
    <p:extLst>
      <p:ext uri="{BB962C8B-B14F-4D97-AF65-F5344CB8AC3E}">
        <p14:creationId xmlns:p14="http://schemas.microsoft.com/office/powerpoint/2010/main" val="592779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1" i="0" kern="1200" dirty="0">
                <a:solidFill>
                  <a:schemeClr val="tx1"/>
                </a:solidFill>
                <a:effectLst/>
                <a:latin typeface="+mn-lt"/>
                <a:ea typeface="+mn-ea"/>
                <a:cs typeface="+mn-cs"/>
              </a:rPr>
              <a:t>Opening question:</a:t>
            </a:r>
            <a:r>
              <a:rPr lang="en-AE" sz="1200" b="0" i="0" kern="1200" dirty="0">
                <a:solidFill>
                  <a:schemeClr val="tx1"/>
                </a:solidFill>
                <a:effectLst/>
                <a:latin typeface="+mn-lt"/>
                <a:ea typeface="+mn-ea"/>
                <a:cs typeface="+mn-cs"/>
              </a:rPr>
              <a:t> What would you measure first, and what result would help distinguish these causes?</a:t>
            </a:r>
          </a:p>
          <a:p>
            <a:r>
              <a:rPr lang="en-AE" sz="1200" b="1" i="0" kern="1200" dirty="0">
                <a:solidFill>
                  <a:schemeClr val="tx1"/>
                </a:solidFill>
                <a:effectLst/>
                <a:latin typeface="+mn-lt"/>
                <a:ea typeface="+mn-ea"/>
                <a:cs typeface="+mn-cs"/>
              </a:rPr>
              <a:t>Speaker notes:</a:t>
            </a:r>
            <a:r>
              <a:rPr lang="en-AE" sz="1200" b="0" i="0" kern="1200" dirty="0">
                <a:solidFill>
                  <a:schemeClr val="tx1"/>
                </a:solidFill>
                <a:effectLst/>
                <a:latin typeface="+mn-lt"/>
                <a:ea typeface="+mn-ea"/>
                <a:cs typeface="+mn-cs"/>
              </a:rPr>
              <a:t> Collect hypotheses without immediately judging them. Return to the list during the selection challenge. Emphasise that a motor is part of a drive system, not a stand-alone answer to a mechanical problem.</a:t>
            </a:r>
          </a:p>
          <a:p>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5</a:t>
            </a:fld>
            <a:endParaRPr lang="en-US" noProof="0" dirty="0"/>
          </a:p>
        </p:txBody>
      </p:sp>
    </p:spTree>
    <p:extLst>
      <p:ext uri="{BB962C8B-B14F-4D97-AF65-F5344CB8AC3E}">
        <p14:creationId xmlns:p14="http://schemas.microsoft.com/office/powerpoint/2010/main" val="313171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dirty="0">
                <a:solidFill>
                  <a:schemeClr val="tx1"/>
                </a:solidFill>
                <a:effectLst/>
                <a:latin typeface="+mn-lt"/>
                <a:ea typeface="+mn-ea"/>
                <a:cs typeface="+mn-cs"/>
              </a:rPr>
              <a:t>Ask students to locate where a current measurement, shaft-speed measurement, temperature measurement and force measurement could be made. Note that the driver controls motor current; the controller should not directly supply motor current from a GPIO pin.</a:t>
            </a:r>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6</a:t>
            </a:fld>
            <a:endParaRPr lang="en-US" noProof="0" dirty="0"/>
          </a:p>
        </p:txBody>
      </p:sp>
    </p:spTree>
    <p:extLst>
      <p:ext uri="{BB962C8B-B14F-4D97-AF65-F5344CB8AC3E}">
        <p14:creationId xmlns:p14="http://schemas.microsoft.com/office/powerpoint/2010/main" val="3455333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7</a:t>
            </a:fld>
            <a:endParaRPr lang="en-US" noProof="0" dirty="0"/>
          </a:p>
        </p:txBody>
      </p:sp>
    </p:spTree>
    <p:extLst>
      <p:ext uri="{BB962C8B-B14F-4D97-AF65-F5344CB8AC3E}">
        <p14:creationId xmlns:p14="http://schemas.microsoft.com/office/powerpoint/2010/main" val="2445643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dirty="0">
                <a:solidFill>
                  <a:schemeClr val="tx1"/>
                </a:solidFill>
                <a:effectLst/>
                <a:latin typeface="+mn-lt"/>
                <a:ea typeface="+mn-ea"/>
                <a:cs typeface="+mn-cs"/>
              </a:rPr>
              <a:t>Small can motors typically use permanent magnets in the stator. Larger brushed motors may use wound field coils. Keep the presentation focused on the permanent-magnet type students are likely to handle.</a:t>
            </a:r>
            <a:endParaRPr lang="en-AE"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8</a:t>
            </a:fld>
            <a:endParaRPr lang="en-US" noProof="0" dirty="0"/>
          </a:p>
        </p:txBody>
      </p:sp>
    </p:spTree>
    <p:extLst>
      <p:ext uri="{BB962C8B-B14F-4D97-AF65-F5344CB8AC3E}">
        <p14:creationId xmlns:p14="http://schemas.microsoft.com/office/powerpoint/2010/main" val="1333361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DE581-632E-5A1A-339E-833F1BD48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00A08-115D-086F-267E-CD2E0ACAB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C7C3B-C5D0-06F3-7DBD-658CD7907656}"/>
              </a:ext>
            </a:extLst>
          </p:cNvPr>
          <p:cNvSpPr>
            <a:spLocks noGrp="1"/>
          </p:cNvSpPr>
          <p:nvPr>
            <p:ph type="body" idx="1"/>
          </p:nvPr>
        </p:nvSpPr>
        <p:spPr/>
        <p:txBody>
          <a:bodyPr/>
          <a:lstStyle/>
          <a:p>
            <a:r>
              <a:rPr lang="en-AE" sz="1200" b="0" i="0" kern="1200" dirty="0">
                <a:solidFill>
                  <a:schemeClr val="tx1"/>
                </a:solidFill>
                <a:effectLst/>
                <a:latin typeface="+mn-lt"/>
                <a:ea typeface="+mn-ea"/>
                <a:cs typeface="+mn-cs"/>
              </a:rPr>
              <a:t>Avoid generalising lifespan without a particular motor specification. Some small motors are designed as low-cost, limited-life components; others are serviceable. Confirm the actual product construction and rating.</a:t>
            </a:r>
          </a:p>
        </p:txBody>
      </p:sp>
      <p:sp>
        <p:nvSpPr>
          <p:cNvPr id="4" name="Slide Number Placeholder 3">
            <a:extLst>
              <a:ext uri="{FF2B5EF4-FFF2-40B4-BE49-F238E27FC236}">
                <a16:creationId xmlns:a16="http://schemas.microsoft.com/office/drawing/2014/main" id="{B3F610A2-6BD6-7404-AA6F-354007272AA4}"/>
              </a:ext>
            </a:extLst>
          </p:cNvPr>
          <p:cNvSpPr>
            <a:spLocks noGrp="1"/>
          </p:cNvSpPr>
          <p:nvPr>
            <p:ph type="sldNum" sz="quarter" idx="5"/>
          </p:nvPr>
        </p:nvSpPr>
        <p:spPr/>
        <p:txBody>
          <a:bodyPr/>
          <a:lstStyle/>
          <a:p>
            <a:fld id="{284ECAD9-32EE-4091-BDA5-6BD15ACC5E58}" type="slidenum">
              <a:rPr lang="en-US" noProof="0" smtClean="0"/>
              <a:t>9</a:t>
            </a:fld>
            <a:endParaRPr lang="en-US" noProof="0" dirty="0"/>
          </a:p>
        </p:txBody>
      </p:sp>
    </p:spTree>
    <p:extLst>
      <p:ext uri="{BB962C8B-B14F-4D97-AF65-F5344CB8AC3E}">
        <p14:creationId xmlns:p14="http://schemas.microsoft.com/office/powerpoint/2010/main" val="1185986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0F1E9-99FC-1367-3249-D728D659D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294D4-3360-5378-CAA5-558EE5C1C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C036B-BAEE-95FB-8EA9-44BDEB567060}"/>
              </a:ext>
            </a:extLst>
          </p:cNvPr>
          <p:cNvSpPr>
            <a:spLocks noGrp="1"/>
          </p:cNvSpPr>
          <p:nvPr>
            <p:ph type="body" idx="1"/>
          </p:nvPr>
        </p:nvSpPr>
        <p:spPr/>
        <p:txBody>
          <a:bodyPr/>
          <a:lstStyle/>
          <a:p>
            <a:r>
              <a:rPr lang="en-AE" sz="1200" b="0" i="0" kern="1200" dirty="0">
                <a:solidFill>
                  <a:schemeClr val="tx1"/>
                </a:solidFill>
                <a:effectLst/>
                <a:latin typeface="+mn-lt"/>
                <a:ea typeface="+mn-ea"/>
                <a:cs typeface="+mn-cs"/>
              </a:rPr>
              <a:t>This is the key idea that connects mechanical load to electrical current. The motor is an electromechanical energy converter; its apparent electrical behaviour changes as its speed changes.</a:t>
            </a:r>
            <a:endParaRPr lang="en-US" dirty="0"/>
          </a:p>
        </p:txBody>
      </p:sp>
      <p:sp>
        <p:nvSpPr>
          <p:cNvPr id="4" name="Slide Number Placeholder 3">
            <a:extLst>
              <a:ext uri="{FF2B5EF4-FFF2-40B4-BE49-F238E27FC236}">
                <a16:creationId xmlns:a16="http://schemas.microsoft.com/office/drawing/2014/main" id="{647E153E-B732-3C12-8087-342AC8C89A1A}"/>
              </a:ext>
            </a:extLst>
          </p:cNvPr>
          <p:cNvSpPr>
            <a:spLocks noGrp="1"/>
          </p:cNvSpPr>
          <p:nvPr>
            <p:ph type="sldNum" sz="quarter" idx="5"/>
          </p:nvPr>
        </p:nvSpPr>
        <p:spPr/>
        <p:txBody>
          <a:bodyPr/>
          <a:lstStyle/>
          <a:p>
            <a:fld id="{284ECAD9-32EE-4091-BDA5-6BD15ACC5E58}" type="slidenum">
              <a:rPr lang="en-US" noProof="0" smtClean="0"/>
              <a:t>10</a:t>
            </a:fld>
            <a:endParaRPr lang="en-US" noProof="0" dirty="0"/>
          </a:p>
        </p:txBody>
      </p:sp>
    </p:spTree>
    <p:extLst>
      <p:ext uri="{BB962C8B-B14F-4D97-AF65-F5344CB8AC3E}">
        <p14:creationId xmlns:p14="http://schemas.microsoft.com/office/powerpoint/2010/main" val="2488461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200" b="0" i="0" kern="1200" dirty="0">
                <a:solidFill>
                  <a:schemeClr val="tx1"/>
                </a:solidFill>
                <a:effectLst/>
                <a:latin typeface="+mn-lt"/>
                <a:ea typeface="+mn-ea"/>
                <a:cs typeface="+mn-cs"/>
              </a:rPr>
              <a:t>Students do not need a detailed derivation of the motor force law for this session. The practical mental model is that field strength and armature current set the electromagnetic force, while the geometry sets the resulting torque.</a:t>
            </a:r>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11</a:t>
            </a:fld>
            <a:endParaRPr lang="en-US" noProof="0" dirty="0"/>
          </a:p>
        </p:txBody>
      </p:sp>
    </p:spTree>
    <p:extLst>
      <p:ext uri="{BB962C8B-B14F-4D97-AF65-F5344CB8AC3E}">
        <p14:creationId xmlns:p14="http://schemas.microsoft.com/office/powerpoint/2010/main" val="3800404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AE010-1285-504C-2AEB-EC32AE214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E970E-5CB9-334B-0B3C-EDFB7704CD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37542-5461-1808-A8AF-EED2D3BB3DC4}"/>
              </a:ext>
            </a:extLst>
          </p:cNvPr>
          <p:cNvSpPr>
            <a:spLocks noGrp="1"/>
          </p:cNvSpPr>
          <p:nvPr>
            <p:ph type="body" idx="1"/>
          </p:nvPr>
        </p:nvSpPr>
        <p:spPr/>
        <p:txBody>
          <a:bodyPr/>
          <a:lstStyle/>
          <a:p>
            <a:r>
              <a:rPr lang="en-AE" sz="1200" b="0" i="0" kern="1200" dirty="0">
                <a:solidFill>
                  <a:schemeClr val="tx1"/>
                </a:solidFill>
                <a:effectLst/>
                <a:latin typeface="+mn-lt"/>
                <a:ea typeface="+mn-ea"/>
                <a:cs typeface="+mn-cs"/>
              </a:rPr>
              <a:t>Explain commutation as mechanical switching. Avoid implying that current in the whole motor simply reverses every half-turn; the switched coil connections produce the continuing torque.</a:t>
            </a:r>
            <a:endParaRPr lang="en-US" dirty="0"/>
          </a:p>
        </p:txBody>
      </p:sp>
      <p:sp>
        <p:nvSpPr>
          <p:cNvPr id="4" name="Slide Number Placeholder 3">
            <a:extLst>
              <a:ext uri="{FF2B5EF4-FFF2-40B4-BE49-F238E27FC236}">
                <a16:creationId xmlns:a16="http://schemas.microsoft.com/office/drawing/2014/main" id="{CBB3B469-83DB-6896-FD38-6219BB916013}"/>
              </a:ext>
            </a:extLst>
          </p:cNvPr>
          <p:cNvSpPr>
            <a:spLocks noGrp="1"/>
          </p:cNvSpPr>
          <p:nvPr>
            <p:ph type="sldNum" sz="quarter" idx="5"/>
          </p:nvPr>
        </p:nvSpPr>
        <p:spPr/>
        <p:txBody>
          <a:bodyPr/>
          <a:lstStyle/>
          <a:p>
            <a:fld id="{284ECAD9-32EE-4091-BDA5-6BD15ACC5E58}" type="slidenum">
              <a:rPr lang="en-US" noProof="0" smtClean="0"/>
              <a:t>12</a:t>
            </a:fld>
            <a:endParaRPr lang="en-US" noProof="0" dirty="0"/>
          </a:p>
        </p:txBody>
      </p:sp>
    </p:spTree>
    <p:extLst>
      <p:ext uri="{BB962C8B-B14F-4D97-AF65-F5344CB8AC3E}">
        <p14:creationId xmlns:p14="http://schemas.microsoft.com/office/powerpoint/2010/main" val="1771644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7C87D-A0CB-44C8-E578-6B181D5BC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1E8F4-9320-0C5B-FBE4-E61959044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D8961C-1254-AA72-49A3-F0B81918E82D}"/>
              </a:ext>
            </a:extLst>
          </p:cNvPr>
          <p:cNvSpPr>
            <a:spLocks noGrp="1"/>
          </p:cNvSpPr>
          <p:nvPr>
            <p:ph type="body" idx="1"/>
          </p:nvPr>
        </p:nvSpPr>
        <p:spPr/>
        <p:txBody>
          <a:bodyPr/>
          <a:lstStyle/>
          <a:p>
            <a:r>
              <a:rPr lang="en-AE" sz="1200" b="0" i="0" kern="1200" dirty="0">
                <a:solidFill>
                  <a:schemeClr val="tx1"/>
                </a:solidFill>
                <a:effectLst/>
                <a:latin typeface="+mn-lt"/>
                <a:ea typeface="+mn-ea"/>
                <a:cs typeface="+mn-cs"/>
              </a:rPr>
              <a:t>Startup current is transient and depends on acceleration time, load, supply impedance and driver behaviour. Stall current is a specified or calculated zero-speed condition. They are related, but should not be presented as identical measurements in every system.</a:t>
            </a:r>
            <a:endParaRPr lang="en-US" dirty="0"/>
          </a:p>
        </p:txBody>
      </p:sp>
      <p:sp>
        <p:nvSpPr>
          <p:cNvPr id="4" name="Slide Number Placeholder 3">
            <a:extLst>
              <a:ext uri="{FF2B5EF4-FFF2-40B4-BE49-F238E27FC236}">
                <a16:creationId xmlns:a16="http://schemas.microsoft.com/office/drawing/2014/main" id="{F6CA70B3-9308-888D-6BEB-B976CB445CC4}"/>
              </a:ext>
            </a:extLst>
          </p:cNvPr>
          <p:cNvSpPr>
            <a:spLocks noGrp="1"/>
          </p:cNvSpPr>
          <p:nvPr>
            <p:ph type="sldNum" sz="quarter" idx="5"/>
          </p:nvPr>
        </p:nvSpPr>
        <p:spPr/>
        <p:txBody>
          <a:bodyPr/>
          <a:lstStyle/>
          <a:p>
            <a:fld id="{284ECAD9-32EE-4091-BDA5-6BD15ACC5E58}" type="slidenum">
              <a:rPr lang="en-US" noProof="0" smtClean="0"/>
              <a:t>16</a:t>
            </a:fld>
            <a:endParaRPr lang="en-US" noProof="0" dirty="0"/>
          </a:p>
        </p:txBody>
      </p:sp>
    </p:spTree>
    <p:extLst>
      <p:ext uri="{BB962C8B-B14F-4D97-AF65-F5344CB8AC3E}">
        <p14:creationId xmlns:p14="http://schemas.microsoft.com/office/powerpoint/2010/main" val="2317635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F10D9-2380-E6C7-CA00-AAD89DEC0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9CA30-7E4E-5BDC-B15E-F682ED4B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9E239-7210-7020-9B5F-07C164214236}"/>
              </a:ext>
            </a:extLst>
          </p:cNvPr>
          <p:cNvSpPr>
            <a:spLocks noGrp="1"/>
          </p:cNvSpPr>
          <p:nvPr>
            <p:ph type="body" idx="1"/>
          </p:nvPr>
        </p:nvSpPr>
        <p:spPr/>
        <p:txBody>
          <a:bodyPr/>
          <a:lstStyle/>
          <a:p>
            <a:r>
              <a:rPr lang="en-AE" sz="1200" b="0" i="0" kern="1200" dirty="0">
                <a:solidFill>
                  <a:schemeClr val="tx1"/>
                </a:solidFill>
                <a:effectLst/>
                <a:latin typeface="+mn-lt"/>
                <a:ea typeface="+mn-ea"/>
                <a:cs typeface="+mn-cs"/>
              </a:rPr>
              <a:t>Stall current is important for driver, wiring and supply selection, but not a normal operating target. Driver modules may have different continuous and short-duration peak ratings; both must be interpreted using the manufacturer's conditions.</a:t>
            </a:r>
          </a:p>
        </p:txBody>
      </p:sp>
      <p:sp>
        <p:nvSpPr>
          <p:cNvPr id="4" name="Slide Number Placeholder 3">
            <a:extLst>
              <a:ext uri="{FF2B5EF4-FFF2-40B4-BE49-F238E27FC236}">
                <a16:creationId xmlns:a16="http://schemas.microsoft.com/office/drawing/2014/main" id="{45610F72-26D7-710A-226D-87381083160C}"/>
              </a:ext>
            </a:extLst>
          </p:cNvPr>
          <p:cNvSpPr>
            <a:spLocks noGrp="1"/>
          </p:cNvSpPr>
          <p:nvPr>
            <p:ph type="sldNum" sz="quarter" idx="5"/>
          </p:nvPr>
        </p:nvSpPr>
        <p:spPr/>
        <p:txBody>
          <a:bodyPr/>
          <a:lstStyle/>
          <a:p>
            <a:fld id="{284ECAD9-32EE-4091-BDA5-6BD15ACC5E58}" type="slidenum">
              <a:rPr lang="en-US" noProof="0" smtClean="0"/>
              <a:t>17</a:t>
            </a:fld>
            <a:endParaRPr lang="en-US" noProof="0" dirty="0"/>
          </a:p>
        </p:txBody>
      </p:sp>
    </p:spTree>
    <p:extLst>
      <p:ext uri="{BB962C8B-B14F-4D97-AF65-F5344CB8AC3E}">
        <p14:creationId xmlns:p14="http://schemas.microsoft.com/office/powerpoint/2010/main" val="2805738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FE9DA-7543-63A6-B3B7-35F40EC0A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9AC87-F325-928E-4480-6365DA9C3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4E1138-0DED-A576-A461-F0656B838523}"/>
              </a:ext>
            </a:extLst>
          </p:cNvPr>
          <p:cNvSpPr>
            <a:spLocks noGrp="1"/>
          </p:cNvSpPr>
          <p:nvPr>
            <p:ph type="body" idx="1"/>
          </p:nvPr>
        </p:nvSpPr>
        <p:spPr/>
        <p:txBody>
          <a:bodyPr/>
          <a:lstStyle/>
          <a:p>
            <a:r>
              <a:rPr lang="en-AE" sz="1200" b="0" i="0" kern="1200" dirty="0">
                <a:solidFill>
                  <a:schemeClr val="tx1"/>
                </a:solidFill>
                <a:effectLst/>
                <a:latin typeface="+mn-lt"/>
                <a:ea typeface="+mn-ea"/>
                <a:cs typeface="+mn-cs"/>
              </a:rPr>
              <a:t>Do not imply that every motor follows a perfectly linear speed-voltage relationship at all loads. Use the data sheet and avoid operating above ratings unless the manufacturer provides an approved operating envelope.</a:t>
            </a:r>
            <a:endParaRPr lang="en-US" dirty="0"/>
          </a:p>
        </p:txBody>
      </p:sp>
      <p:sp>
        <p:nvSpPr>
          <p:cNvPr id="4" name="Slide Number Placeholder 3">
            <a:extLst>
              <a:ext uri="{FF2B5EF4-FFF2-40B4-BE49-F238E27FC236}">
                <a16:creationId xmlns:a16="http://schemas.microsoft.com/office/drawing/2014/main" id="{A319461A-2136-3C49-0678-6D53DB2667B4}"/>
              </a:ext>
            </a:extLst>
          </p:cNvPr>
          <p:cNvSpPr>
            <a:spLocks noGrp="1"/>
          </p:cNvSpPr>
          <p:nvPr>
            <p:ph type="sldNum" sz="quarter" idx="5"/>
          </p:nvPr>
        </p:nvSpPr>
        <p:spPr/>
        <p:txBody>
          <a:bodyPr/>
          <a:lstStyle/>
          <a:p>
            <a:fld id="{284ECAD9-32EE-4091-BDA5-6BD15ACC5E58}" type="slidenum">
              <a:rPr lang="en-US" noProof="0" smtClean="0"/>
              <a:t>20</a:t>
            </a:fld>
            <a:endParaRPr lang="en-US" noProof="0" dirty="0"/>
          </a:p>
        </p:txBody>
      </p:sp>
    </p:spTree>
    <p:extLst>
      <p:ext uri="{BB962C8B-B14F-4D97-AF65-F5344CB8AC3E}">
        <p14:creationId xmlns:p14="http://schemas.microsoft.com/office/powerpoint/2010/main" val="258798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6AE79-3AD6-8FBE-E161-E519C7578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BF36E-8E52-1E1A-C57A-1850D1B86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1B060-D8AC-952B-791E-5D0B244992B9}"/>
              </a:ext>
            </a:extLst>
          </p:cNvPr>
          <p:cNvSpPr>
            <a:spLocks noGrp="1"/>
          </p:cNvSpPr>
          <p:nvPr>
            <p:ph type="body" idx="1"/>
          </p:nvPr>
        </p:nvSpPr>
        <p:spPr/>
        <p:txBody>
          <a:bodyPr/>
          <a:lstStyle/>
          <a:p>
            <a:r>
              <a:rPr lang="en-AE" sz="1200" b="0" i="0" kern="1200" dirty="0">
                <a:solidFill>
                  <a:schemeClr val="tx1"/>
                </a:solidFill>
                <a:effectLst/>
                <a:latin typeface="+mn-lt"/>
                <a:ea typeface="+mn-ea"/>
                <a:cs typeface="+mn-cs"/>
              </a:rPr>
              <a:t>Startup current is transient and depends on acceleration time, load, supply impedance and driver behaviour. Stall current is a specified or calculated zero-speed condition. They are related, but should not be presented as identical measurements in every system.</a:t>
            </a:r>
            <a:endParaRPr lang="en-US" dirty="0"/>
          </a:p>
        </p:txBody>
      </p:sp>
      <p:sp>
        <p:nvSpPr>
          <p:cNvPr id="4" name="Slide Number Placeholder 3">
            <a:extLst>
              <a:ext uri="{FF2B5EF4-FFF2-40B4-BE49-F238E27FC236}">
                <a16:creationId xmlns:a16="http://schemas.microsoft.com/office/drawing/2014/main" id="{1E8E820E-DCD1-11A5-255E-92A76D079FEA}"/>
              </a:ext>
            </a:extLst>
          </p:cNvPr>
          <p:cNvSpPr>
            <a:spLocks noGrp="1"/>
          </p:cNvSpPr>
          <p:nvPr>
            <p:ph type="sldNum" sz="quarter" idx="5"/>
          </p:nvPr>
        </p:nvSpPr>
        <p:spPr/>
        <p:txBody>
          <a:bodyPr/>
          <a:lstStyle/>
          <a:p>
            <a:fld id="{284ECAD9-32EE-4091-BDA5-6BD15ACC5E58}" type="slidenum">
              <a:rPr lang="en-US" noProof="0" smtClean="0"/>
              <a:t>22</a:t>
            </a:fld>
            <a:endParaRPr lang="en-US" noProof="0" dirty="0"/>
          </a:p>
        </p:txBody>
      </p:sp>
    </p:spTree>
    <p:extLst>
      <p:ext uri="{BB962C8B-B14F-4D97-AF65-F5344CB8AC3E}">
        <p14:creationId xmlns:p14="http://schemas.microsoft.com/office/powerpoint/2010/main" val="686347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9743B-A2E1-1C2E-F544-A0F3A6D91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ABF0C6-EBD7-6932-FE4A-9AE980BA4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3664D-46EB-3BD4-09F8-537CE5D16432}"/>
              </a:ext>
            </a:extLst>
          </p:cNvPr>
          <p:cNvSpPr>
            <a:spLocks noGrp="1"/>
          </p:cNvSpPr>
          <p:nvPr>
            <p:ph type="body" idx="1"/>
          </p:nvPr>
        </p:nvSpPr>
        <p:spPr/>
        <p:txBody>
          <a:bodyPr/>
          <a:lstStyle/>
          <a:p>
            <a:r>
              <a:rPr lang="en-GB" dirty="0"/>
              <a:t>Identify both axes and units. Distinguish a manufacturer's measured curve from a theoretical straight-line approximation. If the data sheet has no continuous operating region, state that and use manufacturer guidance or testing rather than inventing one.</a:t>
            </a:r>
            <a:endParaRPr lang="en-US" dirty="0"/>
          </a:p>
        </p:txBody>
      </p:sp>
      <p:sp>
        <p:nvSpPr>
          <p:cNvPr id="4" name="Slide Number Placeholder 3">
            <a:extLst>
              <a:ext uri="{FF2B5EF4-FFF2-40B4-BE49-F238E27FC236}">
                <a16:creationId xmlns:a16="http://schemas.microsoft.com/office/drawing/2014/main" id="{B06716D5-6E7C-FC2D-6518-8032F0A1ABA2}"/>
              </a:ext>
            </a:extLst>
          </p:cNvPr>
          <p:cNvSpPr>
            <a:spLocks noGrp="1"/>
          </p:cNvSpPr>
          <p:nvPr>
            <p:ph type="sldNum" sz="quarter" idx="5"/>
          </p:nvPr>
        </p:nvSpPr>
        <p:spPr/>
        <p:txBody>
          <a:bodyPr/>
          <a:lstStyle/>
          <a:p>
            <a:fld id="{284ECAD9-32EE-4091-BDA5-6BD15ACC5E58}" type="slidenum">
              <a:rPr lang="en-US" noProof="0" smtClean="0"/>
              <a:t>23</a:t>
            </a:fld>
            <a:endParaRPr lang="en-US" noProof="0" dirty="0"/>
          </a:p>
        </p:txBody>
      </p:sp>
    </p:spTree>
    <p:extLst>
      <p:ext uri="{BB962C8B-B14F-4D97-AF65-F5344CB8AC3E}">
        <p14:creationId xmlns:p14="http://schemas.microsoft.com/office/powerpoint/2010/main" val="1516930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FDBAE-4262-97AB-284D-7599056DB3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4E2FC-640C-1CDB-1A32-E2AD9ABBF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389AC-1A7F-AE91-0562-856CBD3A1D58}"/>
              </a:ext>
            </a:extLst>
          </p:cNvPr>
          <p:cNvSpPr>
            <a:spLocks noGrp="1"/>
          </p:cNvSpPr>
          <p:nvPr>
            <p:ph type="body" idx="1"/>
          </p:nvPr>
        </p:nvSpPr>
        <p:spPr/>
        <p:txBody>
          <a:bodyPr/>
          <a:lstStyle/>
          <a:p>
            <a:r>
              <a:rPr lang="en-AE" sz="1200" b="0" i="0" kern="1200" dirty="0">
                <a:solidFill>
                  <a:schemeClr val="tx1"/>
                </a:solidFill>
                <a:effectLst/>
                <a:latin typeface="+mn-lt"/>
                <a:ea typeface="+mn-ea"/>
                <a:cs typeface="+mn-cs"/>
              </a:rPr>
              <a:t>Startup current is transient and depends on acceleration time, load, supply impedance and driver behaviour. Stall current is a specified or calculated zero-speed condition. They are related, but should not be presented as identical measurements in every system.</a:t>
            </a:r>
            <a:endParaRPr lang="en-US" dirty="0"/>
          </a:p>
        </p:txBody>
      </p:sp>
      <p:sp>
        <p:nvSpPr>
          <p:cNvPr id="4" name="Slide Number Placeholder 3">
            <a:extLst>
              <a:ext uri="{FF2B5EF4-FFF2-40B4-BE49-F238E27FC236}">
                <a16:creationId xmlns:a16="http://schemas.microsoft.com/office/drawing/2014/main" id="{CD189BB7-0FED-5D5C-1EAE-5629565E0EA3}"/>
              </a:ext>
            </a:extLst>
          </p:cNvPr>
          <p:cNvSpPr>
            <a:spLocks noGrp="1"/>
          </p:cNvSpPr>
          <p:nvPr>
            <p:ph type="sldNum" sz="quarter" idx="5"/>
          </p:nvPr>
        </p:nvSpPr>
        <p:spPr/>
        <p:txBody>
          <a:bodyPr/>
          <a:lstStyle/>
          <a:p>
            <a:fld id="{284ECAD9-32EE-4091-BDA5-6BD15ACC5E58}" type="slidenum">
              <a:rPr lang="en-US" noProof="0" smtClean="0"/>
              <a:t>24</a:t>
            </a:fld>
            <a:endParaRPr lang="en-US" noProof="0" dirty="0"/>
          </a:p>
        </p:txBody>
      </p:sp>
    </p:spTree>
    <p:extLst>
      <p:ext uri="{BB962C8B-B14F-4D97-AF65-F5344CB8AC3E}">
        <p14:creationId xmlns:p14="http://schemas.microsoft.com/office/powerpoint/2010/main" val="26349937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25</a:t>
            </a:fld>
            <a:endParaRPr lang="en-US" noProof="0" dirty="0"/>
          </a:p>
        </p:txBody>
      </p:sp>
    </p:spTree>
    <p:extLst>
      <p:ext uri="{BB962C8B-B14F-4D97-AF65-F5344CB8AC3E}">
        <p14:creationId xmlns:p14="http://schemas.microsoft.com/office/powerpoint/2010/main" val="41666210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26</a:t>
            </a:fld>
            <a:endParaRPr lang="en-US" noProof="0" dirty="0"/>
          </a:p>
        </p:txBody>
      </p:sp>
    </p:spTree>
    <p:extLst>
      <p:ext uri="{BB962C8B-B14F-4D97-AF65-F5344CB8AC3E}">
        <p14:creationId xmlns:p14="http://schemas.microsoft.com/office/powerpoint/2010/main" val="1755222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1" name="Picture Placeholder 9">
            <a:extLst>
              <a:ext uri="{FF2B5EF4-FFF2-40B4-BE49-F238E27FC236}">
                <a16:creationId xmlns:a16="http://schemas.microsoft.com/office/drawing/2014/main" id="{D1D313A2-A4D4-40DF-A0C2-C29F64168525}"/>
              </a:ext>
            </a:extLst>
          </p:cNvPr>
          <p:cNvSpPr>
            <a:spLocks noGrp="1"/>
          </p:cNvSpPr>
          <p:nvPr>
            <p:ph type="pic" sz="quarter" idx="13"/>
          </p:nvPr>
        </p:nvSpPr>
        <p:spPr>
          <a:xfrm>
            <a:off x="0" y="0"/>
            <a:ext cx="12192000" cy="6858000"/>
          </a:xfrm>
        </p:spPr>
        <p:txBody>
          <a:bodyPr/>
          <a:lstStyle/>
          <a:p>
            <a:endParaRPr lang="en-US" noProof="0" dirty="0"/>
          </a:p>
        </p:txBody>
      </p: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F5CEFB0D-6DB6-450D-981E-DB5B064ABC8F}" type="datetime1">
              <a:rPr lang="en-US" noProof="0" smtClean="0"/>
              <a:t>10/21/2026</a:t>
            </a:fld>
            <a:endParaRPr lang="en-US" noProof="0"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r>
              <a:rPr lang="en-US" noProof="0" dirty="0"/>
              <a:t>Footer</a:t>
            </a:r>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3" name="Subtitle 2"/>
          <p:cNvSpPr>
            <a:spLocks noGrp="1"/>
          </p:cNvSpPr>
          <p:nvPr>
            <p:ph type="subTitle" idx="1"/>
          </p:nvPr>
        </p:nvSpPr>
        <p:spPr>
          <a:xfrm>
            <a:off x="1212850" y="4508500"/>
            <a:ext cx="5118100" cy="1279652"/>
          </a:xfrm>
        </p:spPr>
        <p:txBody>
          <a:bodyPr lIns="91440" rIns="91440">
            <a:normAutofit/>
          </a:bodyPr>
          <a:lstStyle>
            <a:lvl1pPr marL="0" indent="0" algn="l">
              <a:buNone/>
              <a:defRPr sz="2400" cap="all" spc="200" baseline="0">
                <a:solidFill>
                  <a:schemeClr val="bg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p>
        </p:txBody>
      </p:sp>
      <p:sp>
        <p:nvSpPr>
          <p:cNvPr id="2" name="Title 1"/>
          <p:cNvSpPr>
            <a:spLocks noGrp="1"/>
          </p:cNvSpPr>
          <p:nvPr>
            <p:ph type="ctrTitle"/>
          </p:nvPr>
        </p:nvSpPr>
        <p:spPr>
          <a:xfrm>
            <a:off x="1212850" y="2057400"/>
            <a:ext cx="5118100" cy="1929066"/>
          </a:xfrm>
        </p:spPr>
        <p:txBody>
          <a:bodyPr anchor="b">
            <a:noAutofit/>
          </a:bodyPr>
          <a:lstStyle>
            <a:lvl1pPr algn="l">
              <a:lnSpc>
                <a:spcPct val="90000"/>
              </a:lnSpc>
              <a:defRPr sz="5400" b="1" spc="-50" baseline="0">
                <a:solidFill>
                  <a:schemeClr val="bg1"/>
                </a:solidFill>
                <a:latin typeface="+mn-lt"/>
              </a:defRPr>
            </a:lvl1pPr>
          </a:lstStyle>
          <a:p>
            <a:r>
              <a:rPr lang="en-US" noProof="0"/>
              <a:t>Click to edit Master title style</a:t>
            </a:r>
          </a:p>
        </p:txBody>
      </p:sp>
    </p:spTree>
    <p:extLst>
      <p:ext uri="{BB962C8B-B14F-4D97-AF65-F5344CB8AC3E}">
        <p14:creationId xmlns:p14="http://schemas.microsoft.com/office/powerpoint/2010/main" val="672700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3" name="Parallélogramme 14">
            <a:extLst>
              <a:ext uri="{FF2B5EF4-FFF2-40B4-BE49-F238E27FC236}">
                <a16:creationId xmlns:a16="http://schemas.microsoft.com/office/drawing/2014/main" id="{F5AA8A10-E19C-430B-9D5D-8D12F92BFEC5}"/>
              </a:ext>
            </a:extLst>
          </p:cNvPr>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Rectangle 11">
            <a:extLst>
              <a:ext uri="{FF2B5EF4-FFF2-40B4-BE49-F238E27FC236}">
                <a16:creationId xmlns:a16="http://schemas.microsoft.com/office/drawing/2014/main" id="{A7C93D4F-3003-4D58-9AFB-356A0F800F42}"/>
              </a:ext>
            </a:extLst>
          </p:cNvPr>
          <p:cNvSpPr/>
          <p:nvPr userDrawn="1"/>
        </p:nvSpPr>
        <p:spPr>
          <a:xfrm>
            <a:off x="6394450" y="0"/>
            <a:ext cx="15392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666C8650-8C82-4FB0-9266-0148B376A8CE}" type="datetime1">
              <a:rPr lang="en-US" noProof="0" smtClean="0"/>
              <a:t>10/21/2026</a:t>
            </a:fld>
            <a:endParaRPr lang="en-US" noProof="0"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r>
              <a:rPr lang="en-US" noProof="0" dirty="0"/>
              <a:t>Footer</a:t>
            </a:r>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0" name="Picture Placeholder 9">
            <a:extLst>
              <a:ext uri="{FF2B5EF4-FFF2-40B4-BE49-F238E27FC236}">
                <a16:creationId xmlns:a16="http://schemas.microsoft.com/office/drawing/2014/main" id="{86028FDE-6655-4B55-B3B4-5B366034E8A8}"/>
              </a:ext>
            </a:extLst>
          </p:cNvPr>
          <p:cNvSpPr>
            <a:spLocks noGrp="1"/>
          </p:cNvSpPr>
          <p:nvPr>
            <p:ph type="pic" sz="quarter" idx="13"/>
          </p:nvPr>
        </p:nvSpPr>
        <p:spPr>
          <a:xfrm>
            <a:off x="0" y="0"/>
            <a:ext cx="6311900" cy="6858000"/>
          </a:xfrm>
        </p:spPr>
        <p:txBody>
          <a:bodyPr/>
          <a:lstStyle/>
          <a:p>
            <a:endParaRPr lang="en-US" noProof="0" dirty="0"/>
          </a:p>
        </p:txBody>
      </p:sp>
      <p:sp>
        <p:nvSpPr>
          <p:cNvPr id="2" name="Title 1"/>
          <p:cNvSpPr>
            <a:spLocks noGrp="1"/>
          </p:cNvSpPr>
          <p:nvPr>
            <p:ph type="ctrTitle"/>
          </p:nvPr>
        </p:nvSpPr>
        <p:spPr>
          <a:xfrm>
            <a:off x="6629400" y="758952"/>
            <a:ext cx="4526280" cy="3227514"/>
          </a:xfrm>
        </p:spPr>
        <p:txBody>
          <a:bodyPr anchor="b">
            <a:normAutofit/>
          </a:bodyPr>
          <a:lstStyle>
            <a:lvl1pPr algn="l">
              <a:lnSpc>
                <a:spcPct val="90000"/>
              </a:lnSpc>
              <a:defRPr sz="6000" b="1" spc="-50" baseline="0">
                <a:solidFill>
                  <a:schemeClr val="accent1"/>
                </a:solidFill>
                <a:latin typeface="+mn-lt"/>
              </a:defRPr>
            </a:lvl1pPr>
          </a:lstStyle>
          <a:p>
            <a:r>
              <a:rPr lang="en-US" noProof="0"/>
              <a:t>Click to edit Master title style</a:t>
            </a:r>
          </a:p>
        </p:txBody>
      </p:sp>
      <p:sp>
        <p:nvSpPr>
          <p:cNvPr id="3" name="Subtitle 2"/>
          <p:cNvSpPr>
            <a:spLocks noGrp="1"/>
          </p:cNvSpPr>
          <p:nvPr>
            <p:ph type="subTitle" idx="1"/>
          </p:nvPr>
        </p:nvSpPr>
        <p:spPr>
          <a:xfrm>
            <a:off x="6632171" y="4508500"/>
            <a:ext cx="4526280" cy="1279652"/>
          </a:xfrm>
        </p:spPr>
        <p:txBody>
          <a:bodyPr lIns="91440" rIns="91440">
            <a:normAutofit/>
          </a:bodyPr>
          <a:lstStyle>
            <a:lvl1pPr marL="0" indent="0" algn="l">
              <a:buNone/>
              <a:defRPr sz="2400" cap="all" spc="200" baseline="0">
                <a:solidFill>
                  <a:schemeClr val="tx1">
                    <a:lumMod val="75000"/>
                    <a:lumOff val="25000"/>
                  </a:schemeClr>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p>
        </p:txBody>
      </p:sp>
      <p:sp>
        <p:nvSpPr>
          <p:cNvPr id="11" name="Rectangle 10">
            <a:extLst>
              <a:ext uri="{FF2B5EF4-FFF2-40B4-BE49-F238E27FC236}">
                <a16:creationId xmlns:a16="http://schemas.microsoft.com/office/drawing/2014/main" id="{6D3E1BBA-670B-4CAE-B839-50ADB23DDBC6}"/>
              </a:ext>
            </a:extLst>
          </p:cNvPr>
          <p:cNvSpPr/>
          <p:nvPr userDrawn="1"/>
        </p:nvSpPr>
        <p:spPr>
          <a:xfrm>
            <a:off x="6311900" y="0"/>
            <a:ext cx="15392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66393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1529DE01-3159-42E8-9946-B3F7564EBC72}" type="datetime1">
              <a:rPr lang="en-US" smtClean="0"/>
              <a:t>10/21/2026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r>
              <a:rPr lang="en-US" dirty="0"/>
              <a:t>Footer</a:t>
            </a:r>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18278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5" name="Parallélogramme 14">
            <a:extLst>
              <a:ext uri="{FF2B5EF4-FFF2-40B4-BE49-F238E27FC236}">
                <a16:creationId xmlns:a16="http://schemas.microsoft.com/office/drawing/2014/main" id="{98B82A56-7790-48EC-983D-AB8F703699B2}"/>
              </a:ext>
            </a:extLst>
          </p:cNvPr>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lvl1pPr>
              <a:defRPr>
                <a:solidFill>
                  <a:schemeClr val="tx1">
                    <a:lumMod val="75000"/>
                    <a:lumOff val="25000"/>
                  </a:schemeClr>
                </a:solidFill>
              </a:defRPr>
            </a:lvl1pPr>
          </a:lstStyle>
          <a:p>
            <a:fld id="{1A1FC6A6-F894-471F-8AA4-AE4112290279}" type="datetime1">
              <a:rPr lang="en-US" noProof="0" smtClean="0"/>
              <a:t>10/21/2026</a:t>
            </a:fld>
            <a:endParaRPr lang="en-US" noProof="0"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lvl1pPr>
              <a:defRPr>
                <a:solidFill>
                  <a:schemeClr val="tx1">
                    <a:lumMod val="75000"/>
                    <a:lumOff val="25000"/>
                  </a:schemeClr>
                </a:solidFill>
              </a:defRPr>
            </a:lvl1pPr>
          </a:lstStyle>
          <a:p>
            <a:r>
              <a:rPr lang="en-US" noProof="0" dirty="0"/>
              <a:t>Footer</a:t>
            </a:r>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2" name="Picture Placeholder 9">
            <a:extLst>
              <a:ext uri="{FF2B5EF4-FFF2-40B4-BE49-F238E27FC236}">
                <a16:creationId xmlns:a16="http://schemas.microsoft.com/office/drawing/2014/main" id="{E76B772A-7600-4ECE-B5A2-34827D4C7103}"/>
              </a:ext>
            </a:extLst>
          </p:cNvPr>
          <p:cNvSpPr>
            <a:spLocks noGrp="1"/>
          </p:cNvSpPr>
          <p:nvPr>
            <p:ph type="pic" sz="quarter" idx="13"/>
          </p:nvPr>
        </p:nvSpPr>
        <p:spPr>
          <a:xfrm>
            <a:off x="0" y="0"/>
            <a:ext cx="6311900" cy="6858000"/>
          </a:xfrm>
        </p:spPr>
        <p:txBody>
          <a:bodyPr/>
          <a:lstStyle/>
          <a:p>
            <a:endParaRPr lang="en-US" noProof="0" dirty="0"/>
          </a:p>
        </p:txBody>
      </p:sp>
      <p:sp>
        <p:nvSpPr>
          <p:cNvPr id="13" name="Rectangle 12">
            <a:extLst>
              <a:ext uri="{FF2B5EF4-FFF2-40B4-BE49-F238E27FC236}">
                <a16:creationId xmlns:a16="http://schemas.microsoft.com/office/drawing/2014/main" id="{33820398-8D1F-4543-ABA0-7A67C38769B3}"/>
              </a:ext>
            </a:extLst>
          </p:cNvPr>
          <p:cNvSpPr/>
          <p:nvPr userDrawn="1"/>
        </p:nvSpPr>
        <p:spPr>
          <a:xfrm>
            <a:off x="2451099"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1400" noProof="0" dirty="0"/>
          </a:p>
        </p:txBody>
      </p:sp>
      <p:sp>
        <p:nvSpPr>
          <p:cNvPr id="2" name="Title 1"/>
          <p:cNvSpPr>
            <a:spLocks noGrp="1"/>
          </p:cNvSpPr>
          <p:nvPr>
            <p:ph type="title"/>
          </p:nvPr>
        </p:nvSpPr>
        <p:spPr>
          <a:xfrm>
            <a:off x="2641599" y="3746500"/>
            <a:ext cx="8331202" cy="1308100"/>
          </a:xfrm>
        </p:spPr>
        <p:txBody>
          <a:bodyPr anchor="b" anchorCtr="0">
            <a:noAutofit/>
          </a:bodyPr>
          <a:lstStyle>
            <a:lvl1pPr>
              <a:lnSpc>
                <a:spcPct val="90000"/>
              </a:lnSpc>
              <a:defRPr sz="4800" b="1">
                <a:solidFill>
                  <a:schemeClr val="bg1"/>
                </a:solidFill>
                <a:latin typeface="+mn-lt"/>
              </a:defRPr>
            </a:lvl1pPr>
          </a:lstStyle>
          <a:p>
            <a:r>
              <a:rPr lang="en-US" noProof="0"/>
              <a:t>Click to edit Master title style</a:t>
            </a:r>
          </a:p>
        </p:txBody>
      </p:sp>
      <p:sp>
        <p:nvSpPr>
          <p:cNvPr id="3" name="Text Placeholder 2"/>
          <p:cNvSpPr>
            <a:spLocks noGrp="1"/>
          </p:cNvSpPr>
          <p:nvPr>
            <p:ph type="body" idx="1"/>
          </p:nvPr>
        </p:nvSpPr>
        <p:spPr>
          <a:xfrm>
            <a:off x="2641600" y="5219700"/>
            <a:ext cx="8331201" cy="586740"/>
          </a:xfrm>
        </p:spPr>
        <p:txBody>
          <a:bodyPr lIns="91440" rIns="91440" anchor="t" anchorCtr="0">
            <a:normAutofit/>
          </a:bodyPr>
          <a:lstStyle>
            <a:lvl1pPr marL="0" indent="0">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14" name="Rectangle 13">
            <a:extLst>
              <a:ext uri="{FF2B5EF4-FFF2-40B4-BE49-F238E27FC236}">
                <a16:creationId xmlns:a16="http://schemas.microsoft.com/office/drawing/2014/main" id="{45757C57-BBBA-44C6-9A4D-12F5D1E400AA}"/>
              </a:ext>
            </a:extLst>
          </p:cNvPr>
          <p:cNvSpPr/>
          <p:nvPr userDrawn="1"/>
        </p:nvSpPr>
        <p:spPr>
          <a:xfrm>
            <a:off x="37528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596984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Section Header">
    <p:bg>
      <p:bgPr>
        <a:solidFill>
          <a:schemeClr val="bg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lvl1pPr>
              <a:defRPr>
                <a:solidFill>
                  <a:schemeClr val="tx1">
                    <a:lumMod val="75000"/>
                    <a:lumOff val="25000"/>
                  </a:schemeClr>
                </a:solidFill>
              </a:defRPr>
            </a:lvl1pPr>
          </a:lstStyle>
          <a:p>
            <a:fld id="{503D98FD-B63D-46E0-B974-EC5BBAC02E27}" type="datetime1">
              <a:rPr lang="en-US" noProof="0" smtClean="0"/>
              <a:t>10/21/2026</a:t>
            </a:fld>
            <a:endParaRPr lang="en-US" noProof="0"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lvl1pPr>
              <a:defRPr>
                <a:solidFill>
                  <a:schemeClr val="tx1">
                    <a:lumMod val="75000"/>
                    <a:lumOff val="25000"/>
                  </a:schemeClr>
                </a:solidFill>
              </a:defRPr>
            </a:lvl1pPr>
          </a:lstStyle>
          <a:p>
            <a:r>
              <a:rPr lang="en-US" noProof="0" dirty="0"/>
              <a:t>Footer</a:t>
            </a:r>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2" name="Picture Placeholder 9">
            <a:extLst>
              <a:ext uri="{FF2B5EF4-FFF2-40B4-BE49-F238E27FC236}">
                <a16:creationId xmlns:a16="http://schemas.microsoft.com/office/drawing/2014/main" id="{E76B772A-7600-4ECE-B5A2-34827D4C7103}"/>
              </a:ext>
            </a:extLst>
          </p:cNvPr>
          <p:cNvSpPr>
            <a:spLocks noGrp="1"/>
          </p:cNvSpPr>
          <p:nvPr>
            <p:ph type="pic" sz="quarter" idx="13"/>
          </p:nvPr>
        </p:nvSpPr>
        <p:spPr>
          <a:xfrm>
            <a:off x="0" y="0"/>
            <a:ext cx="12192000" cy="6858000"/>
          </a:xfrm>
        </p:spPr>
        <p:txBody>
          <a:bodyPr/>
          <a:lstStyle/>
          <a:p>
            <a:endParaRPr lang="en-US" noProof="0" dirty="0"/>
          </a:p>
        </p:txBody>
      </p:sp>
      <p:sp>
        <p:nvSpPr>
          <p:cNvPr id="13" name="Rectangle 12">
            <a:extLst>
              <a:ext uri="{FF2B5EF4-FFF2-40B4-BE49-F238E27FC236}">
                <a16:creationId xmlns:a16="http://schemas.microsoft.com/office/drawing/2014/main" id="{33820398-8D1F-4543-ABA0-7A67C38769B3}"/>
              </a:ext>
            </a:extLst>
          </p:cNvPr>
          <p:cNvSpPr/>
          <p:nvPr userDrawn="1"/>
        </p:nvSpPr>
        <p:spPr>
          <a:xfrm>
            <a:off x="1735138"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1400" noProof="0" dirty="0"/>
          </a:p>
        </p:txBody>
      </p:sp>
      <p:sp>
        <p:nvSpPr>
          <p:cNvPr id="2" name="Title 1"/>
          <p:cNvSpPr>
            <a:spLocks noGrp="1"/>
          </p:cNvSpPr>
          <p:nvPr>
            <p:ph type="title"/>
          </p:nvPr>
        </p:nvSpPr>
        <p:spPr>
          <a:xfrm>
            <a:off x="1930399" y="3746500"/>
            <a:ext cx="8331202" cy="1308100"/>
          </a:xfrm>
        </p:spPr>
        <p:txBody>
          <a:bodyPr anchor="b" anchorCtr="0">
            <a:noAutofit/>
          </a:bodyPr>
          <a:lstStyle>
            <a:lvl1pPr algn="ctr">
              <a:lnSpc>
                <a:spcPct val="90000"/>
              </a:lnSpc>
              <a:defRPr sz="4800" b="1">
                <a:solidFill>
                  <a:schemeClr val="bg1"/>
                </a:solidFill>
                <a:latin typeface="+mn-lt"/>
              </a:defRPr>
            </a:lvl1pPr>
          </a:lstStyle>
          <a:p>
            <a:r>
              <a:rPr lang="en-US" noProof="0"/>
              <a:t>Click to edit Master title style</a:t>
            </a:r>
          </a:p>
        </p:txBody>
      </p:sp>
      <p:sp>
        <p:nvSpPr>
          <p:cNvPr id="3" name="Text Placeholder 2"/>
          <p:cNvSpPr>
            <a:spLocks noGrp="1"/>
          </p:cNvSpPr>
          <p:nvPr>
            <p:ph type="body" idx="1"/>
          </p:nvPr>
        </p:nvSpPr>
        <p:spPr>
          <a:xfrm>
            <a:off x="1930400" y="5219700"/>
            <a:ext cx="8331201" cy="586740"/>
          </a:xfrm>
        </p:spPr>
        <p:txBody>
          <a:bodyPr lIns="91440" rIns="91440" anchor="t" anchorCtr="0">
            <a:normAutofit/>
          </a:bodyPr>
          <a:lstStyle>
            <a:lvl1pPr marL="0" indent="0" algn="ctr">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14" name="Rectangle 13">
            <a:extLst>
              <a:ext uri="{FF2B5EF4-FFF2-40B4-BE49-F238E27FC236}">
                <a16:creationId xmlns:a16="http://schemas.microsoft.com/office/drawing/2014/main" id="{45757C57-BBBA-44C6-9A4D-12F5D1E400AA}"/>
              </a:ext>
            </a:extLst>
          </p:cNvPr>
          <p:cNvSpPr/>
          <p:nvPr userDrawn="1"/>
        </p:nvSpPr>
        <p:spPr>
          <a:xfrm>
            <a:off x="35369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66489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7E74ECCD-A9BB-4C40-8999-9FDE0B2AF02D}" type="datetime1">
              <a:rPr lang="en-US" smtClean="0"/>
              <a:t>10/21/2026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r>
              <a:rPr lang="en-US" dirty="0"/>
              <a:t>Footer</a:t>
            </a:r>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7972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Autofit/>
          </a:bodyPr>
          <a:lstStyle>
            <a:lvl1pPr marL="0" indent="0" algn="l">
              <a:buNone/>
              <a:defRPr sz="24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86731"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Autofit/>
          </a:bodyPr>
          <a:lstStyle>
            <a:lvl1pPr marL="0" indent="0">
              <a:buNone/>
              <a:defRPr sz="24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5395"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B9A11315-80A2-4A6F-99BC-2337EDBA509A}" type="datetime1">
              <a:rPr lang="en-US" smtClean="0"/>
              <a:t>10/21/2026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r>
              <a:rPr lang="en-US" dirty="0"/>
              <a:t>Footer</a:t>
            </a:r>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9594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5323FCEE-D38D-4315-8661-B8B16CE6B114}" type="datetime1">
              <a:rPr lang="en-US" smtClean="0"/>
              <a:t>10/21/2026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r>
              <a:rPr lang="en-US" dirty="0"/>
              <a:t>Footer</a:t>
            </a:r>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80013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Parallélogramme 14">
            <a:extLst>
              <a:ext uri="{FF2B5EF4-FFF2-40B4-BE49-F238E27FC236}">
                <a16:creationId xmlns:a16="http://schemas.microsoft.com/office/drawing/2014/main" id="{AF082EE3-41AA-4817-A1CC-C33DDB8F675F}"/>
              </a:ext>
            </a:extLst>
          </p:cNvPr>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lvl1pPr>
              <a:defRPr>
                <a:solidFill>
                  <a:schemeClr val="tx1">
                    <a:lumMod val="75000"/>
                    <a:lumOff val="25000"/>
                  </a:schemeClr>
                </a:solidFill>
              </a:defRPr>
            </a:lvl1pPr>
          </a:lstStyle>
          <a:p>
            <a:fld id="{27909053-E1DD-4959-BC7A-C98D3D2614DC}" type="datetime1">
              <a:rPr lang="en-US" noProof="0" smtClean="0"/>
              <a:t>10/21/2026</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lvl1pPr>
              <a:defRPr>
                <a:solidFill>
                  <a:schemeClr val="tx1">
                    <a:lumMod val="75000"/>
                    <a:lumOff val="25000"/>
                  </a:schemeClr>
                </a:solidFill>
              </a:defRPr>
            </a:lvl1pPr>
          </a:lstStyle>
          <a:p>
            <a:r>
              <a:rPr lang="en-US" noProof="0" dirty="0"/>
              <a:t>Footer</a:t>
            </a:r>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Tree>
    <p:extLst>
      <p:ext uri="{BB962C8B-B14F-4D97-AF65-F5344CB8AC3E}">
        <p14:creationId xmlns:p14="http://schemas.microsoft.com/office/powerpoint/2010/main" val="3010507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Rectangle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786383"/>
            <a:ext cx="3068833" cy="2093975"/>
          </a:xfrm>
        </p:spPr>
        <p:txBody>
          <a:bodyPr anchor="b">
            <a:normAutofit/>
          </a:bodyPr>
          <a:lstStyle>
            <a:lvl1pPr>
              <a:lnSpc>
                <a:spcPct val="90000"/>
              </a:lnSpc>
              <a:defRPr sz="3600" b="0">
                <a:solidFill>
                  <a:srgbClr val="FFFFFF"/>
                </a:solidFill>
              </a:defRPr>
            </a:lvl1pPr>
          </a:lstStyle>
          <a:p>
            <a:r>
              <a:rPr lang="en-US" noProof="0"/>
              <a:t>Click to edit Master title style</a:t>
            </a:r>
          </a:p>
        </p:txBody>
      </p:sp>
      <p:sp>
        <p:nvSpPr>
          <p:cNvPr id="3" name="Content Placeholder 2"/>
          <p:cNvSpPr>
            <a:spLocks noGrp="1"/>
          </p:cNvSpPr>
          <p:nvPr>
            <p:ph idx="1"/>
          </p:nvPr>
        </p:nvSpPr>
        <p:spPr>
          <a:xfrm>
            <a:off x="5458984" y="812800"/>
            <a:ext cx="5713841" cy="486860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1092200" y="3043050"/>
            <a:ext cx="3068832" cy="2638359"/>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9" name="Rectangle 8">
            <a:extLst>
              <a:ext uri="{FF2B5EF4-FFF2-40B4-BE49-F238E27FC236}">
                <a16:creationId xmlns:a16="http://schemas.microsoft.com/office/drawing/2014/main" id="{4DC51BA7-A5A7-4A7F-A707-DBBDEA7705F3}"/>
              </a:ext>
            </a:extLst>
          </p:cNvPr>
          <p:cNvSpPr/>
          <p:nvPr userDrawn="1"/>
        </p:nvSpPr>
        <p:spPr>
          <a:xfrm>
            <a:off x="0" y="139700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D23174BA-29D0-4C1A-95C9-5A86FD25E47A}"/>
              </a:ext>
            </a:extLst>
          </p:cNvPr>
          <p:cNvSpPr/>
          <p:nvPr userDrawn="1"/>
        </p:nvSpPr>
        <p:spPr>
          <a:xfrm>
            <a:off x="5458983" y="624142"/>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3AB9C849-F1D8-4230-9F2F-9250D675BB2A}" type="datetime1">
              <a:rPr lang="en-US" noProof="0" smtClean="0"/>
              <a:t>10/21/2026</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cxnSp>
        <p:nvCxnSpPr>
          <p:cNvPr id="15" name="Connecteur droit 19">
            <a:extLst>
              <a:ext uri="{FF2B5EF4-FFF2-40B4-BE49-F238E27FC236}">
                <a16:creationId xmlns:a16="http://schemas.microsoft.com/office/drawing/2014/main" id="{D84C14C5-D99C-45CD-8001-AC745F4FB49B}"/>
              </a:ext>
            </a:extLst>
          </p:cNvPr>
          <p:cNvCxnSpPr>
            <a:cxnSpLocks/>
          </p:cNvCxnSpPr>
          <p:nvPr userDrawn="1"/>
        </p:nvCxnSpPr>
        <p:spPr>
          <a:xfrm flipH="1">
            <a:off x="1092200" y="6446838"/>
            <a:ext cx="16434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Connecteur droit 19">
            <a:extLst>
              <a:ext uri="{FF2B5EF4-FFF2-40B4-BE49-F238E27FC236}">
                <a16:creationId xmlns:a16="http://schemas.microsoft.com/office/drawing/2014/main" id="{019842DD-D0AB-4E35-9AB2-7DBB6E266120}"/>
              </a:ext>
            </a:extLst>
          </p:cNvPr>
          <p:cNvCxnSpPr>
            <a:cxnSpLocks/>
          </p:cNvCxnSpPr>
          <p:nvPr userDrawn="1"/>
        </p:nvCxnSpPr>
        <p:spPr>
          <a:xfrm flipH="1">
            <a:off x="8420100" y="6429376"/>
            <a:ext cx="1000462"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Connecteur droit 19">
            <a:extLst>
              <a:ext uri="{FF2B5EF4-FFF2-40B4-BE49-F238E27FC236}">
                <a16:creationId xmlns:a16="http://schemas.microsoft.com/office/drawing/2014/main" id="{832851A7-B301-4616-9843-9A0D06646DFD}"/>
              </a:ext>
            </a:extLst>
          </p:cNvPr>
          <p:cNvCxnSpPr>
            <a:cxnSpLocks/>
          </p:cNvCxnSpPr>
          <p:nvPr userDrawn="1"/>
        </p:nvCxnSpPr>
        <p:spPr>
          <a:xfrm flipH="1" flipV="1">
            <a:off x="10765675" y="6446838"/>
            <a:ext cx="407258" cy="635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9208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F2DB7022-84E8-42F0-8AEA-ADED76AFD446}" type="datetime1">
              <a:rPr lang="en-US" smtClean="0"/>
              <a:t>10/21/2026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r>
              <a:rPr lang="en-US" dirty="0"/>
              <a:t>Footer</a:t>
            </a:r>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65082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Rectangle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sp>
        <p:nvSpPr>
          <p:cNvPr id="3" name="Content Placeholder 2"/>
          <p:cNvSpPr>
            <a:spLocks noGrp="1"/>
          </p:cNvSpPr>
          <p:nvPr>
            <p:ph idx="1"/>
          </p:nvPr>
        </p:nvSpPr>
        <p:spPr>
          <a:xfrm>
            <a:off x="5458984" y="497808"/>
            <a:ext cx="5713841" cy="4868609"/>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Rectangle 8">
            <a:extLst>
              <a:ext uri="{FF2B5EF4-FFF2-40B4-BE49-F238E27FC236}">
                <a16:creationId xmlns:a16="http://schemas.microsoft.com/office/drawing/2014/main" id="{4DC51BA7-A5A7-4A7F-A707-DBBDEA7705F3}"/>
              </a:ext>
            </a:extLst>
          </p:cNvPr>
          <p:cNvSpPr/>
          <p:nvPr userDrawn="1"/>
        </p:nvSpPr>
        <p:spPr>
          <a:xfrm>
            <a:off x="0" y="2003424"/>
            <a:ext cx="1036320" cy="18573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D23174BA-29D0-4C1A-95C9-5A86FD25E47A}"/>
              </a:ext>
            </a:extLst>
          </p:cNvPr>
          <p:cNvSpPr/>
          <p:nvPr userDrawn="1"/>
        </p:nvSpPr>
        <p:spPr>
          <a:xfrm>
            <a:off x="5458983" y="377398"/>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8D4C0741-442A-4788-81DA-4F081D559C5A}" type="datetime1">
              <a:rPr lang="en-US" noProof="0" smtClean="0"/>
              <a:t>10/21/2026</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5" name="Rectangle 4">
            <a:extLst>
              <a:ext uri="{FF2B5EF4-FFF2-40B4-BE49-F238E27FC236}">
                <a16:creationId xmlns:a16="http://schemas.microsoft.com/office/drawing/2014/main" id="{6BC7DA98-7B92-4F45-80F8-1AEF72A601CF}"/>
              </a:ext>
            </a:extLst>
          </p:cNvPr>
          <p:cNvSpPr/>
          <p:nvPr userDrawn="1"/>
        </p:nvSpPr>
        <p:spPr>
          <a:xfrm>
            <a:off x="1078230" y="2003423"/>
            <a:ext cx="3576082" cy="185737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1092200" y="1885125"/>
            <a:ext cx="3314700" cy="2093975"/>
          </a:xfrm>
        </p:spPr>
        <p:txBody>
          <a:bodyPr anchor="ctr">
            <a:normAutofit/>
          </a:bodyPr>
          <a:lstStyle>
            <a:lvl1pPr>
              <a:lnSpc>
                <a:spcPct val="90000"/>
              </a:lnSpc>
              <a:defRPr sz="4400" b="1">
                <a:solidFill>
                  <a:srgbClr val="FFFFFF"/>
                </a:solidFill>
                <a:latin typeface="+mn-lt"/>
              </a:defRPr>
            </a:lvl1pPr>
          </a:lstStyle>
          <a:p>
            <a:r>
              <a:rPr lang="en-US" noProof="0"/>
              <a:t>Click to edit Master title style</a:t>
            </a:r>
          </a:p>
        </p:txBody>
      </p:sp>
      <p:sp>
        <p:nvSpPr>
          <p:cNvPr id="18" name="Rectangle 17">
            <a:extLst>
              <a:ext uri="{FF2B5EF4-FFF2-40B4-BE49-F238E27FC236}">
                <a16:creationId xmlns:a16="http://schemas.microsoft.com/office/drawing/2014/main" id="{DF96815B-4256-4CE0-9FCF-3A2967CF5792}"/>
              </a:ext>
            </a:extLst>
          </p:cNvPr>
          <p:cNvSpPr/>
          <p:nvPr userDrawn="1"/>
        </p:nvSpPr>
        <p:spPr>
          <a:xfrm>
            <a:off x="1092200" y="993775"/>
            <a:ext cx="1036320" cy="936626"/>
          </a:xfrm>
          <a:prstGeom prst="rect">
            <a:avLst/>
          </a:prstGeom>
          <a:solidFill>
            <a:schemeClr val="tx2">
              <a:lumMod val="20000"/>
              <a:lumOff val="8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812829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Content with Caption">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4654296" cy="5864225"/>
          </a:xfrm>
        </p:spPr>
        <p:txBody>
          <a:bodyPr/>
          <a:lstStyle>
            <a:lvl1pPr>
              <a:defRPr>
                <a:solidFill>
                  <a:schemeClr val="bg1"/>
                </a:solidFill>
              </a:defRPr>
            </a:lvl1pPr>
          </a:lstStyle>
          <a:p>
            <a:endParaRPr lang="en-US" noProof="0" dirty="0"/>
          </a:p>
        </p:txBody>
      </p:sp>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 name="Content Placeholder 2"/>
          <p:cNvSpPr>
            <a:spLocks noGrp="1"/>
          </p:cNvSpPr>
          <p:nvPr>
            <p:ph idx="1"/>
          </p:nvPr>
        </p:nvSpPr>
        <p:spPr>
          <a:xfrm>
            <a:off x="5458984" y="497808"/>
            <a:ext cx="5713841" cy="4868609"/>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470BDB9F-6784-464D-8ED7-29E60E2B21A9}" type="datetime1">
              <a:rPr lang="en-US" noProof="0" smtClean="0"/>
              <a:t>10/21/2026</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3954305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6_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 name="Title 1"/>
          <p:cNvSpPr>
            <a:spLocks noGrp="1"/>
          </p:cNvSpPr>
          <p:nvPr>
            <p:ph type="title"/>
          </p:nvPr>
        </p:nvSpPr>
        <p:spPr>
          <a:xfrm>
            <a:off x="4984722" y="548355"/>
            <a:ext cx="6054846" cy="634336"/>
          </a:xfrm>
        </p:spPr>
        <p:txBody>
          <a:bodyPr anchor="ctr">
            <a:noAutofit/>
          </a:bodyPr>
          <a:lstStyle>
            <a:lvl1pPr>
              <a:lnSpc>
                <a:spcPct val="90000"/>
              </a:lnSpc>
              <a:defRPr sz="3600" b="1" i="0">
                <a:solidFill>
                  <a:srgbClr val="FFFFFF"/>
                </a:solidFill>
                <a:latin typeface="+mn-lt"/>
              </a:defRPr>
            </a:lvl1pPr>
          </a:lstStyle>
          <a:p>
            <a:r>
              <a:rPr lang="en-US" noProof="0"/>
              <a:t>Click to edit Master title style</a:t>
            </a:r>
          </a:p>
        </p:txBody>
      </p:sp>
      <p:sp>
        <p:nvSpPr>
          <p:cNvPr id="3" name="Content Placeholder 2"/>
          <p:cNvSpPr>
            <a:spLocks noGrp="1"/>
          </p:cNvSpPr>
          <p:nvPr>
            <p:ph idx="1"/>
          </p:nvPr>
        </p:nvSpPr>
        <p:spPr>
          <a:xfrm>
            <a:off x="5100833" y="1611313"/>
            <a:ext cx="6072099" cy="3755104"/>
          </a:xfrm>
        </p:spPr>
        <p:txBody>
          <a:bodyPr anchor="t">
            <a:normAutofit/>
          </a:bodyPr>
          <a:lstStyle>
            <a:lvl1pPr>
              <a:defRPr sz="2400"/>
            </a:lvl1pPr>
            <a:lvl2pPr>
              <a:defRPr sz="2000"/>
            </a:lvl2pPr>
            <a:lvl3pPr>
              <a:defRPr sz="16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6DA3ABBD-A00D-4624-9D57-736F5DDBFABC}" type="datetime1">
              <a:rPr lang="en-US" noProof="0" smtClean="0"/>
              <a:t>10/21/2026</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4654296" cy="5864225"/>
          </a:xfrm>
        </p:spPr>
        <p:txBody>
          <a:bodyPr/>
          <a:lstStyle>
            <a:lvl1pPr>
              <a:defRPr>
                <a:solidFill>
                  <a:schemeClr val="tx1">
                    <a:lumMod val="75000"/>
                    <a:lumOff val="25000"/>
                  </a:schemeClr>
                </a:solidFill>
              </a:defRPr>
            </a:lvl1pPr>
          </a:lstStyle>
          <a:p>
            <a:endParaRPr lang="en-US" noProof="0" dirty="0"/>
          </a:p>
        </p:txBody>
      </p:sp>
    </p:spTree>
    <p:extLst>
      <p:ext uri="{BB962C8B-B14F-4D97-AF65-F5344CB8AC3E}">
        <p14:creationId xmlns:p14="http://schemas.microsoft.com/office/powerpoint/2010/main" val="1751046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Content with Caption">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12192000" cy="3541486"/>
          </a:xfrm>
        </p:spPr>
        <p:txBody>
          <a:bodyPr/>
          <a:lstStyle>
            <a:lvl1pPr>
              <a:defRPr>
                <a:solidFill>
                  <a:schemeClr val="tx1">
                    <a:lumMod val="75000"/>
                    <a:lumOff val="25000"/>
                  </a:schemeClr>
                </a:solidFill>
              </a:defRPr>
            </a:lvl1pPr>
          </a:lstStyle>
          <a:p>
            <a:endParaRPr lang="en-US" noProof="0" dirty="0"/>
          </a:p>
        </p:txBody>
      </p:sp>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 name="Title 1"/>
          <p:cNvSpPr>
            <a:spLocks noGrp="1"/>
          </p:cNvSpPr>
          <p:nvPr>
            <p:ph type="title"/>
          </p:nvPr>
        </p:nvSpPr>
        <p:spPr>
          <a:xfrm>
            <a:off x="3068577" y="880375"/>
            <a:ext cx="6054846" cy="634336"/>
          </a:xfrm>
        </p:spPr>
        <p:txBody>
          <a:bodyPr anchor="ctr">
            <a:noAutofit/>
          </a:bodyPr>
          <a:lstStyle>
            <a:lvl1pPr algn="ctr">
              <a:lnSpc>
                <a:spcPct val="90000"/>
              </a:lnSpc>
              <a:defRPr sz="3600" b="1" i="0">
                <a:solidFill>
                  <a:schemeClr val="tx1">
                    <a:lumMod val="75000"/>
                    <a:lumOff val="25000"/>
                  </a:schemeClr>
                </a:solidFill>
                <a:latin typeface="+mn-lt"/>
              </a:defRPr>
            </a:lvl1pPr>
          </a:lstStyle>
          <a:p>
            <a:r>
              <a:rPr lang="en-US" noProof="0"/>
              <a:t>Click to edit Master title style</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E6BF20AA-C418-460A-B9CF-8F3DD94C436D}" type="datetime1">
              <a:rPr lang="en-US" noProof="0" smtClean="0"/>
              <a:t>10/21/2026</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9" name="Rectangle 18">
            <a:extLst>
              <a:ext uri="{FF2B5EF4-FFF2-40B4-BE49-F238E27FC236}">
                <a16:creationId xmlns:a16="http://schemas.microsoft.com/office/drawing/2014/main" id="{AF446475-024F-4C71-99D3-501468ACAD11}"/>
              </a:ext>
            </a:extLst>
          </p:cNvPr>
          <p:cNvSpPr/>
          <p:nvPr userDrawn="1"/>
        </p:nvSpPr>
        <p:spPr>
          <a:xfrm>
            <a:off x="5577840" y="0"/>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676028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4" name="Rectangle 3">
            <a:extLst>
              <a:ext uri="{FF2B5EF4-FFF2-40B4-BE49-F238E27FC236}">
                <a16:creationId xmlns:a16="http://schemas.microsoft.com/office/drawing/2014/main" id="{648F6D61-9E88-4632-A0A8-CB2E0CC5DEAF}"/>
              </a:ext>
            </a:extLst>
          </p:cNvPr>
          <p:cNvSpPr/>
          <p:nvPr userDrawn="1"/>
        </p:nvSpPr>
        <p:spPr>
          <a:xfrm>
            <a:off x="4654312" y="507333"/>
            <a:ext cx="7537688" cy="4849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a:t>Click to edit Master title style</a:t>
            </a:r>
          </a:p>
        </p:txBody>
      </p:sp>
      <p:sp>
        <p:nvSpPr>
          <p:cNvPr id="3" name="Content Placeholder 2"/>
          <p:cNvSpPr>
            <a:spLocks noGrp="1"/>
          </p:cNvSpPr>
          <p:nvPr>
            <p:ph idx="1"/>
          </p:nvPr>
        </p:nvSpPr>
        <p:spPr>
          <a:xfrm>
            <a:off x="6473373" y="943430"/>
            <a:ext cx="4699452" cy="3977366"/>
          </a:xfrm>
        </p:spPr>
        <p:txBody>
          <a:bodyPr anchor="ctr">
            <a:normAutofit/>
          </a:bodyPr>
          <a:lstStyle>
            <a:lvl1pPr>
              <a:defRPr sz="2400"/>
            </a:lvl1pPr>
            <a:lvl2pPr>
              <a:defRPr sz="2000"/>
            </a:lvl2pPr>
            <a:lvl3pPr>
              <a:defRPr sz="16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063F5CE0-F8B8-4EAA-822E-6451047E7D5F}" type="datetime1">
              <a:rPr lang="en-US" noProof="0" smtClean="0"/>
              <a:t>10/21/2026</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20" name="Rectangle 19">
            <a:extLst>
              <a:ext uri="{FF2B5EF4-FFF2-40B4-BE49-F238E27FC236}">
                <a16:creationId xmlns:a16="http://schemas.microsoft.com/office/drawing/2014/main" id="{EF73BF96-A07C-4AAA-A37F-65151BD22A70}"/>
              </a:ext>
            </a:extLst>
          </p:cNvPr>
          <p:cNvSpPr/>
          <p:nvPr userDrawn="1"/>
        </p:nvSpPr>
        <p:spPr>
          <a:xfrm>
            <a:off x="4370251" y="2322780"/>
            <a:ext cx="1348378" cy="12186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012771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4" name="Rectangle 3">
            <a:extLst>
              <a:ext uri="{FF2B5EF4-FFF2-40B4-BE49-F238E27FC236}">
                <a16:creationId xmlns:a16="http://schemas.microsoft.com/office/drawing/2014/main" id="{648F6D61-9E88-4632-A0A8-CB2E0CC5DEAF}"/>
              </a:ext>
            </a:extLst>
          </p:cNvPr>
          <p:cNvSpPr/>
          <p:nvPr userDrawn="1"/>
        </p:nvSpPr>
        <p:spPr>
          <a:xfrm>
            <a:off x="4654312" y="507333"/>
            <a:ext cx="7537688" cy="48495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16D90D66-BCB9-4229-A829-628874352AC0}"/>
              </a:ext>
            </a:extLst>
          </p:cNvPr>
          <p:cNvSpPr/>
          <p:nvPr userDrawn="1"/>
        </p:nvSpPr>
        <p:spPr>
          <a:xfrm>
            <a:off x="16" y="0"/>
            <a:ext cx="4654296" cy="5864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a:t>Click to edit Master title style</a:t>
            </a:r>
          </a:p>
        </p:txBody>
      </p:sp>
      <p:sp>
        <p:nvSpPr>
          <p:cNvPr id="3" name="Content Placeholder 2"/>
          <p:cNvSpPr>
            <a:spLocks noGrp="1"/>
          </p:cNvSpPr>
          <p:nvPr>
            <p:ph idx="1"/>
          </p:nvPr>
        </p:nvSpPr>
        <p:spPr>
          <a:xfrm>
            <a:off x="6518529" y="943430"/>
            <a:ext cx="4654296" cy="3977366"/>
          </a:xfrm>
        </p:spPr>
        <p:txBody>
          <a:bodyPr anchor="ctr">
            <a:normAutofit/>
          </a:bodyPr>
          <a:lstStyle>
            <a:lvl1pPr>
              <a:defRPr sz="2400"/>
            </a:lvl1pPr>
            <a:lvl2pPr>
              <a:defRPr sz="2000"/>
            </a:lvl2pPr>
            <a:lvl3pPr>
              <a:defRPr sz="16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21F8AE65-7CE3-49A8-B2CC-A5A64E5730FA}" type="datetime1">
              <a:rPr lang="en-US" noProof="0" smtClean="0"/>
              <a:t>10/21/2026</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8" name="Rectangle 17">
            <a:extLst>
              <a:ext uri="{FF2B5EF4-FFF2-40B4-BE49-F238E27FC236}">
                <a16:creationId xmlns:a16="http://schemas.microsoft.com/office/drawing/2014/main" id="{6127F28F-6C7B-471B-9839-EF88426C1976}"/>
              </a:ext>
            </a:extLst>
          </p:cNvPr>
          <p:cNvSpPr/>
          <p:nvPr userDrawn="1"/>
        </p:nvSpPr>
        <p:spPr>
          <a:xfrm>
            <a:off x="4370251" y="2322780"/>
            <a:ext cx="1348378" cy="12186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9861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sp>
        <p:nvSpPr>
          <p:cNvPr id="3" name="Picture Placeholder 2"/>
          <p:cNvSpPr>
            <a:spLocks noGrp="1" noChangeAspect="1"/>
          </p:cNvSpPr>
          <p:nvPr>
            <p:ph type="pic" idx="1"/>
          </p:nvPr>
        </p:nvSpPr>
        <p:spPr>
          <a:xfrm>
            <a:off x="15" y="0"/>
            <a:ext cx="12191985" cy="4578350"/>
          </a:xfrm>
          <a:solidFill>
            <a:schemeClr val="bg1"/>
          </a:solidFill>
        </p:spPr>
        <p:txBody>
          <a:bodyPr lIns="457200" tIns="457200" anchor="t">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 name="Title 1"/>
          <p:cNvSpPr>
            <a:spLocks noGrp="1"/>
          </p:cNvSpPr>
          <p:nvPr>
            <p:ph type="title"/>
          </p:nvPr>
        </p:nvSpPr>
        <p:spPr>
          <a:xfrm>
            <a:off x="1097279" y="4799362"/>
            <a:ext cx="10113645" cy="743682"/>
          </a:xfrm>
        </p:spPr>
        <p:txBody>
          <a:bodyPr tIns="0" bIns="0" anchor="b">
            <a:noAutofit/>
          </a:bodyPr>
          <a:lstStyle>
            <a:lvl1pPr algn="ctr">
              <a:defRPr sz="4400" b="1">
                <a:solidFill>
                  <a:srgbClr val="FFFFFF"/>
                </a:solidFill>
              </a:defRPr>
            </a:lvl1pPr>
          </a:lstStyle>
          <a:p>
            <a:r>
              <a:rPr lang="en-US" noProof="0"/>
              <a:t>Click to edit Master title style</a:t>
            </a:r>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B5046700-360D-4474-9946-7580E8968658}" type="datetime1">
              <a:rPr lang="en-US" noProof="0" smtClean="0"/>
              <a:t>10/21/2026</a:t>
            </a:fld>
            <a:endParaRPr lang="en-US" noProof="0" dirty="0"/>
          </a:p>
        </p:txBody>
      </p:sp>
      <p:sp>
        <p:nvSpPr>
          <p:cNvPr id="6" name="Footer Placeholder 5"/>
          <p:cNvSpPr>
            <a:spLocks noGrp="1"/>
          </p:cNvSpPr>
          <p:nvPr>
            <p:ph type="ftr" sz="quarter" idx="11"/>
          </p:nvPr>
        </p:nvSpPr>
        <p:spPr>
          <a:xfrm>
            <a:off x="1097279" y="6446838"/>
            <a:ext cx="6818262" cy="365125"/>
          </a:xfrm>
        </p:spPr>
        <p:txBody>
          <a:bodyPr/>
          <a:lstStyle>
            <a:lvl1pPr>
              <a:defRPr>
                <a:solidFill>
                  <a:schemeClr val="bg1"/>
                </a:solidFill>
              </a:defRPr>
            </a:lvl1pPr>
          </a:lstStyle>
          <a:p>
            <a:r>
              <a:rPr lang="en-US" noProof="0" dirty="0"/>
              <a:t>Footer</a:t>
            </a:r>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3A98EE3D-8CD1-4C3F-BD1C-C98C9596463C}" type="slidenum">
              <a:rPr lang="en-US" noProof="0" smtClean="0"/>
              <a:pPr/>
              <a:t>‹#›</a:t>
            </a:fld>
            <a:endParaRPr lang="en-US" noProof="0" dirty="0"/>
          </a:p>
        </p:txBody>
      </p:sp>
      <p:sp>
        <p:nvSpPr>
          <p:cNvPr id="9" name="Rectangle 8">
            <a:extLst>
              <a:ext uri="{FF2B5EF4-FFF2-40B4-BE49-F238E27FC236}">
                <a16:creationId xmlns:a16="http://schemas.microsoft.com/office/drawing/2014/main" id="{B4A4DE4A-F8EF-47D5-8C37-A9021C2BB6A3}"/>
              </a:ext>
            </a:extLst>
          </p:cNvPr>
          <p:cNvSpPr/>
          <p:nvPr userDrawn="1"/>
        </p:nvSpPr>
        <p:spPr>
          <a:xfrm>
            <a:off x="3536950" y="4535901"/>
            <a:ext cx="5118100" cy="1256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598695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42F667F3-A942-43B7-9681-6435F4941075}" type="datetime1">
              <a:rPr lang="en-US" smtClean="0"/>
              <a:t>10/21/2026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r>
              <a:rPr lang="en-US" dirty="0"/>
              <a:t>Footer</a:t>
            </a:r>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560409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346200"/>
            <a:ext cx="2448033" cy="4530725"/>
          </a:xfrm>
        </p:spPr>
        <p:txBody>
          <a:bodyPr vert="eaVert"/>
          <a:lstStyle/>
          <a:p>
            <a:r>
              <a:rPr lang="en-US" noProof="0"/>
              <a:t>Click to edit Master title style</a:t>
            </a:r>
          </a:p>
        </p:txBody>
      </p:sp>
      <p:sp>
        <p:nvSpPr>
          <p:cNvPr id="3" name="Vertical Text Placeholder 2"/>
          <p:cNvSpPr>
            <a:spLocks noGrp="1"/>
          </p:cNvSpPr>
          <p:nvPr>
            <p:ph type="body" orient="vert" idx="1"/>
          </p:nvPr>
        </p:nvSpPr>
        <p:spPr>
          <a:xfrm>
            <a:off x="1092200" y="1346200"/>
            <a:ext cx="7480300" cy="4530723"/>
          </a:xfrm>
        </p:spPr>
        <p:txBody>
          <a:bodyPr vert="eaVert" lIns="45720" tIns="0" rIns="45720" bIns="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5D576BB9-001A-4B59-8C51-603E71AE3226}" type="datetime1">
              <a:rPr lang="en-US" noProof="0" smtClean="0"/>
              <a:t>10/21/2026</a:t>
            </a:fld>
            <a:endParaRPr lang="en-US" noProof="0"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r>
              <a:rPr lang="en-US" noProof="0" dirty="0"/>
              <a:t>Footer</a:t>
            </a:r>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4" name="Rectangle 13">
            <a:extLst>
              <a:ext uri="{FF2B5EF4-FFF2-40B4-BE49-F238E27FC236}">
                <a16:creationId xmlns:a16="http://schemas.microsoft.com/office/drawing/2014/main" id="{6B443CC6-CDCA-4595-ADAE-DCB961FF1A8E}"/>
              </a:ext>
            </a:extLst>
          </p:cNvPr>
          <p:cNvSpPr/>
          <p:nvPr userDrawn="1"/>
        </p:nvSpPr>
        <p:spPr>
          <a:xfrm rot="16200000">
            <a:off x="8871481" y="-14658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40687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arallélogramme 14">
            <a:extLst>
              <a:ext uri="{FF2B5EF4-FFF2-40B4-BE49-F238E27FC236}">
                <a16:creationId xmlns:a16="http://schemas.microsoft.com/office/drawing/2014/main" id="{D20796F3-5674-4AF5-9623-575731F82E52}"/>
              </a:ext>
            </a:extLst>
          </p:cNvPr>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noProof="0"/>
              <a:t>Click to edit Master title style</a:t>
            </a:r>
          </a:p>
        </p:txBody>
      </p:sp>
      <p:sp>
        <p:nvSpPr>
          <p:cNvPr id="3" name="Text Placeholder 2"/>
          <p:cNvSpPr>
            <a:spLocks noGrp="1"/>
          </p:cNvSpPr>
          <p:nvPr>
            <p:ph type="body" idx="1"/>
          </p:nvPr>
        </p:nvSpPr>
        <p:spPr>
          <a:xfrm>
            <a:off x="1216548" y="2108201"/>
            <a:ext cx="10058400" cy="3760891"/>
          </a:xfrm>
          <a:prstGeom prst="rect">
            <a:avLst/>
          </a:prstGeom>
        </p:spPr>
        <p:txBody>
          <a:bodyPr vert="horz" lIns="0" tIns="45720" rIns="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6834126" y="6446838"/>
            <a:ext cx="258485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010F8E8D-DF54-49BE-BDBC-401B280C4E3C}" type="datetime1">
              <a:rPr lang="en-US" noProof="0" smtClean="0"/>
              <a:t>10/21/2026</a:t>
            </a:fld>
            <a:endParaRPr lang="en-US" noProof="0" dirty="0"/>
          </a:p>
        </p:txBody>
      </p:sp>
      <p:sp>
        <p:nvSpPr>
          <p:cNvPr id="5" name="Footer Placeholder 4"/>
          <p:cNvSpPr>
            <a:spLocks noGrp="1"/>
          </p:cNvSpPr>
          <p:nvPr>
            <p:ph type="ftr" sz="quarter" idx="3"/>
          </p:nvPr>
        </p:nvSpPr>
        <p:spPr>
          <a:xfrm>
            <a:off x="1097279" y="6446838"/>
            <a:ext cx="4846321" cy="365125"/>
          </a:xfrm>
          <a:prstGeom prst="rect">
            <a:avLst/>
          </a:prstGeom>
        </p:spPr>
        <p:txBody>
          <a:bodyPr vert="horz" lIns="91440" tIns="45720" rIns="91440" bIns="45720" rtlCol="0" anchor="ctr"/>
          <a:lstStyle>
            <a:lvl1pPr algn="l">
              <a:defRPr sz="900" cap="all" baseline="0">
                <a:solidFill>
                  <a:schemeClr val="tx1">
                    <a:lumMod val="75000"/>
                    <a:lumOff val="25000"/>
                  </a:schemeClr>
                </a:solidFill>
              </a:defRPr>
            </a:lvl1pPr>
          </a:lstStyle>
          <a:p>
            <a:r>
              <a:rPr lang="en-US" noProof="0" dirty="0"/>
              <a:t>Footer</a:t>
            </a:r>
          </a:p>
        </p:txBody>
      </p:sp>
      <p:sp>
        <p:nvSpPr>
          <p:cNvPr id="6" name="Slide Number Placeholder 5"/>
          <p:cNvSpPr>
            <a:spLocks noGrp="1"/>
          </p:cNvSpPr>
          <p:nvPr>
            <p:ph type="sldNum" sz="quarter" idx="4"/>
          </p:nvPr>
        </p:nvSpPr>
        <p:spPr>
          <a:xfrm>
            <a:off x="10375670" y="6446838"/>
            <a:ext cx="780010" cy="365125"/>
          </a:xfrm>
          <a:prstGeom prst="rect">
            <a:avLst/>
          </a:prstGeom>
        </p:spPr>
        <p:txBody>
          <a:bodyPr vert="horz" lIns="91440" tIns="45720" rIns="91440" bIns="45720" rtlCol="0" anchor="ctr"/>
          <a:lstStyle>
            <a:lvl1pPr algn="r">
              <a:defRPr sz="1050">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8" name="Rectangle 7">
            <a:extLst>
              <a:ext uri="{FF2B5EF4-FFF2-40B4-BE49-F238E27FC236}">
                <a16:creationId xmlns:a16="http://schemas.microsoft.com/office/drawing/2014/main" id="{0F25E55C-1C16-46C6-B789-A4B2BCEF8F86}"/>
              </a:ext>
            </a:extLst>
          </p:cNvPr>
          <p:cNvSpPr/>
          <p:nvPr userDrawn="1"/>
        </p:nvSpPr>
        <p:spPr>
          <a:xfrm>
            <a:off x="0" y="1011981"/>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0285712"/>
      </p:ext>
    </p:extLst>
  </p:cSld>
  <p:clrMap bg1="lt1" tx1="dk1" bg2="lt2" tx2="dk2" accent1="accent1" accent2="accent2" accent3="accent3" accent4="accent4" accent5="accent5" accent6="accent6" hlink="hlink" folHlink="folHlink"/>
  <p:sldLayoutIdLst>
    <p:sldLayoutId id="2147483706" r:id="rId1"/>
    <p:sldLayoutId id="2147483718" r:id="rId2"/>
    <p:sldLayoutId id="2147483707" r:id="rId3"/>
    <p:sldLayoutId id="2147483708" r:id="rId4"/>
    <p:sldLayoutId id="2147483719" r:id="rId5"/>
    <p:sldLayoutId id="2147483709" r:id="rId6"/>
    <p:sldLayoutId id="2147483716" r:id="rId7"/>
    <p:sldLayoutId id="2147483710" r:id="rId8"/>
    <p:sldLayoutId id="2147483711" r:id="rId9"/>
    <p:sldLayoutId id="2147483712" r:id="rId10"/>
    <p:sldLayoutId id="2147483727" r:id="rId11"/>
    <p:sldLayoutId id="2147483720" r:id="rId12"/>
    <p:sldLayoutId id="2147483721" r:id="rId13"/>
    <p:sldLayoutId id="2147483725" r:id="rId14"/>
    <p:sldLayoutId id="2147483726" r:id="rId15"/>
    <p:sldLayoutId id="2147483722" r:id="rId16"/>
    <p:sldLayoutId id="2147483723" r:id="rId17"/>
    <p:sldLayoutId id="2147483715" r:id="rId18"/>
    <p:sldLayoutId id="2147483713" r:id="rId19"/>
    <p:sldLayoutId id="2147483714" r:id="rId20"/>
  </p:sldLayoutIdLst>
  <p:hf sldNum="0" hdr="0" ftr="0" dt="0"/>
  <p:txStyles>
    <p:titleStyle>
      <a:lvl1pPr algn="l" defTabSz="914400" rtl="0" eaLnBrk="1" latinLnBrk="0" hangingPunct="1">
        <a:lnSpc>
          <a:spcPct val="90000"/>
        </a:lnSpc>
        <a:spcBef>
          <a:spcPct val="0"/>
        </a:spcBef>
        <a:buNone/>
        <a:defRPr sz="4800" b="1" kern="1200" spc="-50" baseline="0">
          <a:solidFill>
            <a:schemeClr val="tx1">
              <a:lumMod val="75000"/>
              <a:lumOff val="25000"/>
            </a:schemeClr>
          </a:solidFill>
          <a:latin typeface="+mn-lt"/>
          <a:ea typeface="+mj-ea"/>
          <a:cs typeface="+mj-cs"/>
        </a:defRPr>
      </a:lvl1pPr>
    </p:titleStyle>
    <p:bodyStyle>
      <a:lvl1pPr marL="266700" indent="-2667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userDrawn="1">
          <p15:clr>
            <a:srgbClr val="F26B43"/>
          </p15:clr>
        </p15:guide>
        <p15:guide id="2" pos="688" userDrawn="1">
          <p15:clr>
            <a:srgbClr val="F26B43"/>
          </p15:clr>
        </p15:guide>
        <p15:guide id="3" pos="7038" userDrawn="1">
          <p15:clr>
            <a:srgbClr val="F26B43"/>
          </p15:clr>
        </p15:guide>
        <p15:guide id="4" orient="horz" pos="3702" userDrawn="1">
          <p15:clr>
            <a:srgbClr val="F26B43"/>
          </p15:clr>
        </p15:guide>
        <p15:guide id="5" orient="horz" pos="406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amazon.co.uk/Torque-Efficiency-1800RPM-Brushed-Reducer/dp/B0DCS48QQB"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fabacademy.org/2019/labs/irbid/students/ahmad-abbasi/InputDevice.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hyperlink" Target="https://storage.googleapis.com/dllndyujoessve/road-signs-with-red-background.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hyperlink" Target="https://blog.sciencenet.cn/blog-212210-1437458.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7.png&amp;f=1&amp;nofb=1&amp;ipt=bc0603e4d1cbe04e45861f496327b29be27ccb8b703e446c539944d5fcf64688&amp;ipo=image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hyperlink" Target="https://fi.wikipedia.org/wiki/Harja_(konetekniikka)"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amp;f=1&amp;nofb=1&amp;ipt=20bc9334b7b31de4624af29631e34d26c144dca59dd2ae8c0642a837bb8589b2&amp;ipo=image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iencestockphotos.com/free/electrical/slides/inductor.html" TargetMode="External"/><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hyperlink" Target="https://www.wallpaperflare.com/red-yellow-and-green-wallpaper-abstract-watercolor-multi-colored-wallpaper-pmhxt"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7.jpg&amp;f=1&amp;nofb=1&amp;ipt=8ba9c6f8f86287fb201b8be2f7e1dbf52af9df940258fd61e1a82b215e9bd25b&amp;ipo=image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hyperlink" Target="https://svgsilh.com/image/1332790.html"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20.png&amp;f=1&amp;nofb=1&amp;ipt=6286f937abcf6121246572867ebe8f187d8e78e0044a49ef67011017216f248e&amp;ipo=image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hyperlink" Target="https://fabiusmaximus.com/2017/01/31/trump-forces-repeal-of-excess-regulations/"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hyperlink" Target="https://www.transcend.org/tms/2023/03/numbers-around-u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C7D5F6B1-1228-4C2A-AE2C-950C34054CE4}"/>
              </a:ext>
            </a:extLst>
          </p:cNvPr>
          <p:cNvPicPr>
            <a:picLocks noGrp="1" noChangeAspect="1"/>
          </p:cNvPicPr>
          <p:nvPr>
            <p:ph type="pic" sz="quarter" idx="13"/>
          </p:nvPr>
        </p:nvPicPr>
        <p:blipFill>
          <a:blip r:embed="rId3">
            <a:grayscl/>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0" y="0"/>
            <a:ext cx="6311900" cy="6858000"/>
          </a:xfrm>
        </p:spPr>
      </p:pic>
      <p:sp>
        <p:nvSpPr>
          <p:cNvPr id="3" name="Title 2">
            <a:extLst>
              <a:ext uri="{FF2B5EF4-FFF2-40B4-BE49-F238E27FC236}">
                <a16:creationId xmlns:a16="http://schemas.microsoft.com/office/drawing/2014/main" id="{A017FF9C-6A7E-4A79-81BB-438E8EA9676A}"/>
              </a:ext>
              <a:ext uri="{C183D7F6-B498-43B3-948B-1728B52AA6E4}">
                <adec:decorative xmlns:adec="http://schemas.microsoft.com/office/drawing/2017/decorative" val="0"/>
              </a:ext>
            </a:extLst>
          </p:cNvPr>
          <p:cNvSpPr>
            <a:spLocks noGrp="1"/>
          </p:cNvSpPr>
          <p:nvPr>
            <p:ph type="ctrTitle"/>
          </p:nvPr>
        </p:nvSpPr>
        <p:spPr/>
        <p:txBody>
          <a:bodyPr>
            <a:normAutofit fontScale="90000"/>
          </a:bodyPr>
          <a:lstStyle/>
          <a:p>
            <a:r>
              <a:rPr lang="en-AE" dirty="0"/>
              <a:t>Practical DC Motors and Geared Motors</a:t>
            </a:r>
            <a:endParaRPr lang="en-US" dirty="0"/>
          </a:p>
        </p:txBody>
      </p:sp>
      <p:sp>
        <p:nvSpPr>
          <p:cNvPr id="4" name="Subtitle 3">
            <a:extLst>
              <a:ext uri="{FF2B5EF4-FFF2-40B4-BE49-F238E27FC236}">
                <a16:creationId xmlns:a16="http://schemas.microsoft.com/office/drawing/2014/main" id="{FFFB5E3C-FE17-44EA-B59B-183125D08F7C}"/>
              </a:ext>
            </a:extLst>
          </p:cNvPr>
          <p:cNvSpPr>
            <a:spLocks noGrp="1"/>
          </p:cNvSpPr>
          <p:nvPr>
            <p:ph type="subTitle" idx="1"/>
          </p:nvPr>
        </p:nvSpPr>
        <p:spPr/>
        <p:txBody>
          <a:bodyPr/>
          <a:lstStyle/>
          <a:p>
            <a:r>
              <a:rPr lang="en-US" dirty="0">
                <a:latin typeface="+mj-lt"/>
              </a:rPr>
              <a:t>AME5011</a:t>
            </a:r>
          </a:p>
          <a:p>
            <a:r>
              <a:rPr lang="en-US" dirty="0">
                <a:latin typeface="+mj-lt"/>
              </a:rPr>
              <a:t>Akbar QAMAR</a:t>
            </a:r>
          </a:p>
        </p:txBody>
      </p:sp>
    </p:spTree>
    <p:extLst>
      <p:ext uri="{BB962C8B-B14F-4D97-AF65-F5344CB8AC3E}">
        <p14:creationId xmlns:p14="http://schemas.microsoft.com/office/powerpoint/2010/main" val="4172296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0A5C30F-185D-413F-9005-B41DD0FA0924}"/>
              </a:ext>
            </a:extLst>
          </p:cNvPr>
          <p:cNvSpPr>
            <a:spLocks noGrp="1"/>
          </p:cNvSpPr>
          <p:nvPr>
            <p:ph type="title"/>
          </p:nvPr>
        </p:nvSpPr>
        <p:spPr/>
        <p:txBody>
          <a:bodyPr/>
          <a:lstStyle/>
          <a:p>
            <a:r>
              <a:rPr lang="en-US" dirty="0"/>
              <a:t>The Types</a:t>
            </a:r>
          </a:p>
        </p:txBody>
      </p:sp>
      <p:sp>
        <p:nvSpPr>
          <p:cNvPr id="10" name="Content Placeholder 9">
            <a:extLst>
              <a:ext uri="{FF2B5EF4-FFF2-40B4-BE49-F238E27FC236}">
                <a16:creationId xmlns:a16="http://schemas.microsoft.com/office/drawing/2014/main" id="{40FC70B0-5D08-4BDC-852E-3FD7214DA9BD}"/>
              </a:ext>
            </a:extLst>
          </p:cNvPr>
          <p:cNvSpPr>
            <a:spLocks noGrp="1"/>
          </p:cNvSpPr>
          <p:nvPr>
            <p:ph idx="1"/>
          </p:nvPr>
        </p:nvSpPr>
        <p:spPr>
          <a:xfrm>
            <a:off x="6071015" y="723900"/>
            <a:ext cx="5186597" cy="4642517"/>
          </a:xfrm>
        </p:spPr>
        <p:txBody>
          <a:bodyPr numCol="2">
            <a:normAutofit/>
          </a:bodyPr>
          <a:lstStyle/>
          <a:p>
            <a:pPr marL="0" indent="0">
              <a:spcBef>
                <a:spcPts val="0"/>
              </a:spcBef>
              <a:spcAft>
                <a:spcPts val="0"/>
              </a:spcAft>
              <a:buNone/>
            </a:pPr>
            <a:r>
              <a:rPr lang="en-US" sz="2800" b="1" dirty="0"/>
              <a:t>Brushed DC Motors</a:t>
            </a:r>
          </a:p>
          <a:p>
            <a:pPr marL="0" indent="0">
              <a:spcBef>
                <a:spcPts val="0"/>
              </a:spcBef>
              <a:spcAft>
                <a:spcPts val="0"/>
              </a:spcAft>
              <a:buNone/>
            </a:pPr>
            <a:endParaRPr lang="en-US" sz="2800" b="1" dirty="0"/>
          </a:p>
          <a:p>
            <a:pPr marL="0" indent="0">
              <a:spcBef>
                <a:spcPts val="0"/>
              </a:spcBef>
              <a:spcAft>
                <a:spcPts val="0"/>
              </a:spcAft>
              <a:buNone/>
            </a:pPr>
            <a:r>
              <a:rPr lang="en-US" sz="2800" b="1" dirty="0"/>
              <a:t>Brushless DC Motors</a:t>
            </a:r>
          </a:p>
          <a:p>
            <a:pPr marL="0" indent="0">
              <a:spcBef>
                <a:spcPts val="0"/>
              </a:spcBef>
              <a:spcAft>
                <a:spcPts val="0"/>
              </a:spcAft>
              <a:buNone/>
            </a:pPr>
            <a:endParaRPr lang="en-US" b="1" dirty="0">
              <a:latin typeface="+mj-lt"/>
            </a:endParaRPr>
          </a:p>
          <a:p>
            <a:pPr marL="0" indent="0">
              <a:spcBef>
                <a:spcPts val="0"/>
              </a:spcBef>
              <a:spcAft>
                <a:spcPts val="0"/>
              </a:spcAft>
              <a:buNone/>
            </a:pPr>
            <a:r>
              <a:rPr lang="en-US" b="1" dirty="0">
                <a:latin typeface="+mj-lt"/>
              </a:rPr>
              <a:t>Servo Motors</a:t>
            </a:r>
          </a:p>
          <a:p>
            <a:pPr marL="0" indent="0">
              <a:spcBef>
                <a:spcPts val="0"/>
              </a:spcBef>
              <a:spcAft>
                <a:spcPts val="0"/>
              </a:spcAft>
              <a:buNone/>
            </a:pPr>
            <a:r>
              <a:rPr lang="en-US" b="1" dirty="0">
                <a:latin typeface="+mj-lt"/>
              </a:rPr>
              <a:t>Geared Motors</a:t>
            </a:r>
          </a:p>
          <a:p>
            <a:pPr marL="0" indent="0">
              <a:spcBef>
                <a:spcPts val="0"/>
              </a:spcBef>
              <a:spcAft>
                <a:spcPts val="0"/>
              </a:spcAft>
              <a:buNone/>
            </a:pPr>
            <a:r>
              <a:rPr lang="en-US" b="1" dirty="0">
                <a:latin typeface="+mj-lt"/>
              </a:rPr>
              <a:t>	</a:t>
            </a:r>
          </a:p>
        </p:txBody>
      </p:sp>
    </p:spTree>
    <p:extLst>
      <p:ext uri="{BB962C8B-B14F-4D97-AF65-F5344CB8AC3E}">
        <p14:creationId xmlns:p14="http://schemas.microsoft.com/office/powerpoint/2010/main" val="2667318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cxnSp>
        <p:nvCxnSpPr>
          <p:cNvPr id="18" name="Straight Connector 17">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67B74F2B-9534-4540-96B0-5C8E958B9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36DB04AA-2B2C-4162-AD6D-1FF802682C3D}"/>
              </a:ext>
            </a:extLst>
          </p:cNvPr>
          <p:cNvSpPr>
            <a:spLocks noGrp="1"/>
          </p:cNvSpPr>
          <p:nvPr>
            <p:ph type="title"/>
          </p:nvPr>
        </p:nvSpPr>
        <p:spPr>
          <a:xfrm>
            <a:off x="5172074" y="286603"/>
            <a:ext cx="5983605" cy="1450757"/>
          </a:xfrm>
        </p:spPr>
        <p:txBody>
          <a:bodyPr vert="horz" lIns="91440" tIns="45720" rIns="91440" bIns="45720" rtlCol="0" anchor="b">
            <a:normAutofit/>
          </a:bodyPr>
          <a:lstStyle/>
          <a:p>
            <a:r>
              <a:rPr lang="en-GB" sz="4800" dirty="0">
                <a:solidFill>
                  <a:schemeClr val="tx1">
                    <a:lumMod val="75000"/>
                    <a:lumOff val="25000"/>
                  </a:schemeClr>
                </a:solidFill>
              </a:rPr>
              <a:t>Scope</a:t>
            </a:r>
            <a:endParaRPr lang="en-US" sz="4800" dirty="0">
              <a:solidFill>
                <a:schemeClr val="tx1">
                  <a:lumMod val="75000"/>
                  <a:lumOff val="25000"/>
                </a:schemeClr>
              </a:solidFill>
            </a:endParaRPr>
          </a:p>
        </p:txBody>
      </p:sp>
      <p:pic>
        <p:nvPicPr>
          <p:cNvPr id="11" name="Picture Placeholder 10">
            <a:extLst>
              <a:ext uri="{FF2B5EF4-FFF2-40B4-BE49-F238E27FC236}">
                <a16:creationId xmlns:a16="http://schemas.microsoft.com/office/drawing/2014/main" id="{94B2FFE9-6D1F-4DC1-8532-95405973ABE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42349" r="-1143"/>
          <a:stretch>
            <a:fillRect/>
          </a:stretch>
        </p:blipFill>
        <p:spPr>
          <a:xfrm>
            <a:off x="20" y="10"/>
            <a:ext cx="4580077" cy="6857990"/>
          </a:xfrm>
          <a:prstGeom prst="rect">
            <a:avLst/>
          </a:prstGeom>
        </p:spPr>
      </p:pic>
      <p:cxnSp>
        <p:nvCxnSpPr>
          <p:cNvPr id="22" name="Straight Connector 21">
            <a:extLst>
              <a:ext uri="{FF2B5EF4-FFF2-40B4-BE49-F238E27FC236}">
                <a16:creationId xmlns:a16="http://schemas.microsoft.com/office/drawing/2014/main" id="{33BECB2B-2CFA-412C-880F-C4B6097493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6CCBAAA8-DE36-46A7-8728-72C3486FDBF0}"/>
              </a:ext>
            </a:extLst>
          </p:cNvPr>
          <p:cNvSpPr>
            <a:spLocks noGrp="1"/>
          </p:cNvSpPr>
          <p:nvPr>
            <p:ph idx="1"/>
          </p:nvPr>
        </p:nvSpPr>
        <p:spPr>
          <a:xfrm>
            <a:off x="5172074" y="2108201"/>
            <a:ext cx="5983606" cy="3760891"/>
          </a:xfrm>
        </p:spPr>
        <p:txBody>
          <a:bodyPr vert="horz" lIns="0" tIns="45720" rIns="0" bIns="45720" rtlCol="0">
            <a:normAutofit/>
          </a:bodyPr>
          <a:lstStyle/>
          <a:p>
            <a:pPr marL="87313" indent="0">
              <a:buFont typeface="Calibri" panose="020F0502020204030204" pitchFamily="34" charset="0"/>
              <a:buNone/>
            </a:pPr>
            <a:r>
              <a:rPr lang="en-GB" dirty="0">
                <a:latin typeface="+mj-lt"/>
              </a:rPr>
              <a:t>From electrical input to useful mechanical work</a:t>
            </a:r>
          </a:p>
          <a:p>
            <a:pPr marL="87313" indent="0">
              <a:buFont typeface="Calibri" panose="020F0502020204030204" pitchFamily="34" charset="0"/>
              <a:buNone/>
            </a:pPr>
            <a:r>
              <a:rPr lang="en-GB" dirty="0">
                <a:latin typeface="+mj-lt"/>
              </a:rPr>
              <a:t>Brushed permanent-magnet DC motors</a:t>
            </a:r>
          </a:p>
          <a:p>
            <a:pPr marL="87313" indent="0">
              <a:buFont typeface="Calibri" panose="020F0502020204030204" pitchFamily="34" charset="0"/>
              <a:buNone/>
            </a:pPr>
            <a:r>
              <a:rPr lang="en-GB" dirty="0">
                <a:latin typeface="+mj-lt"/>
              </a:rPr>
              <a:t>Geared motor assemblies</a:t>
            </a:r>
          </a:p>
          <a:p>
            <a:pPr marL="87313" indent="0">
              <a:buFont typeface="Calibri" panose="020F0502020204030204" pitchFamily="34" charset="0"/>
              <a:buNone/>
            </a:pPr>
            <a:r>
              <a:rPr lang="en-GB" dirty="0">
                <a:latin typeface="+mj-lt"/>
              </a:rPr>
              <a:t>Measurement, selection, control and thermal limits</a:t>
            </a:r>
          </a:p>
          <a:p>
            <a:pPr marL="87313" indent="0">
              <a:buFont typeface="Calibri" panose="020F0502020204030204" pitchFamily="34" charset="0"/>
              <a:buNone/>
            </a:pPr>
            <a:r>
              <a:rPr lang="en-GB" dirty="0">
                <a:latin typeface="+mj-lt"/>
              </a:rPr>
              <a:t>Application context: small vehicles, rollers, winches and pipe-climbers</a:t>
            </a:r>
          </a:p>
        </p:txBody>
      </p:sp>
    </p:spTree>
    <p:extLst>
      <p:ext uri="{BB962C8B-B14F-4D97-AF65-F5344CB8AC3E}">
        <p14:creationId xmlns:p14="http://schemas.microsoft.com/office/powerpoint/2010/main" val="2596897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cxnSp>
        <p:nvCxnSpPr>
          <p:cNvPr id="17" name="Straight Connector 16">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67B74F2B-9534-4540-96B0-5C8E958B9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8146B020-2B12-4533-AB98-A078339B314A}"/>
              </a:ext>
            </a:extLst>
          </p:cNvPr>
          <p:cNvSpPr>
            <a:spLocks noGrp="1"/>
          </p:cNvSpPr>
          <p:nvPr>
            <p:ph type="title"/>
          </p:nvPr>
        </p:nvSpPr>
        <p:spPr>
          <a:xfrm>
            <a:off x="5172074" y="286603"/>
            <a:ext cx="5983605" cy="1450757"/>
          </a:xfrm>
        </p:spPr>
        <p:txBody>
          <a:bodyPr vert="horz" lIns="91440" tIns="45720" rIns="91440" bIns="45720" rtlCol="0" anchor="b">
            <a:normAutofit/>
          </a:bodyPr>
          <a:lstStyle/>
          <a:p>
            <a:r>
              <a:rPr lang="en-GB" sz="4800" dirty="0">
                <a:solidFill>
                  <a:schemeClr val="tx1">
                    <a:lumMod val="75000"/>
                    <a:lumOff val="25000"/>
                  </a:schemeClr>
                </a:solidFill>
              </a:rPr>
              <a:t>The Motor That Spins but Does Not Work</a:t>
            </a:r>
            <a:endParaRPr lang="en-US" sz="4800" dirty="0">
              <a:solidFill>
                <a:schemeClr val="tx1">
                  <a:lumMod val="75000"/>
                  <a:lumOff val="25000"/>
                </a:schemeClr>
              </a:solidFill>
            </a:endParaRPr>
          </a:p>
        </p:txBody>
      </p:sp>
      <p:pic>
        <p:nvPicPr>
          <p:cNvPr id="10" name="Picture Placeholder 9">
            <a:extLst>
              <a:ext uri="{FF2B5EF4-FFF2-40B4-BE49-F238E27FC236}">
                <a16:creationId xmlns:a16="http://schemas.microsoft.com/office/drawing/2014/main" id="{7E7516D5-86C5-48B5-8E66-B9E6F735DF5D}"/>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1214" r="31214"/>
          <a:stretch/>
        </p:blipFill>
        <p:spPr>
          <a:xfrm>
            <a:off x="20" y="10"/>
            <a:ext cx="4580077" cy="6857990"/>
          </a:xfrm>
          <a:prstGeom prst="rect">
            <a:avLst/>
          </a:prstGeom>
        </p:spPr>
      </p:pic>
      <p:cxnSp>
        <p:nvCxnSpPr>
          <p:cNvPr id="21" name="Straight Connector 20">
            <a:extLst>
              <a:ext uri="{FF2B5EF4-FFF2-40B4-BE49-F238E27FC236}">
                <a16:creationId xmlns:a16="http://schemas.microsoft.com/office/drawing/2014/main" id="{33BECB2B-2CFA-412C-880F-C4B6097493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3D22D53-586E-4F80-B549-03B4A942D854}"/>
              </a:ext>
            </a:extLst>
          </p:cNvPr>
          <p:cNvSpPr>
            <a:spLocks noGrp="1"/>
          </p:cNvSpPr>
          <p:nvPr>
            <p:ph idx="1"/>
          </p:nvPr>
        </p:nvSpPr>
        <p:spPr>
          <a:xfrm>
            <a:off x="5242903" y="2057401"/>
            <a:ext cx="6651332" cy="4639929"/>
          </a:xfrm>
        </p:spPr>
        <p:txBody>
          <a:bodyPr vert="horz" lIns="0" tIns="45720" rIns="0" bIns="45720" rtlCol="0">
            <a:normAutofit fontScale="85000" lnSpcReduction="10000"/>
          </a:bodyPr>
          <a:lstStyle/>
          <a:p>
            <a:r>
              <a:rPr lang="en-GB" dirty="0">
                <a:latin typeface="+mj-lt"/>
              </a:rPr>
              <a:t>A motor is connected to a battery and its shaft spins freely. Once attached to the mechanism, the vehicle will not start moving.</a:t>
            </a:r>
          </a:p>
          <a:p>
            <a:r>
              <a:rPr lang="en-GB" dirty="0">
                <a:latin typeface="+mj-lt"/>
              </a:rPr>
              <a:t>Possible causes:</a:t>
            </a:r>
          </a:p>
          <a:p>
            <a:r>
              <a:rPr lang="en-GB" dirty="0">
                <a:latin typeface="+mj-lt"/>
              </a:rPr>
              <a:t>The motor cannot provide enough torque at the required speed.</a:t>
            </a:r>
          </a:p>
          <a:p>
            <a:r>
              <a:rPr lang="en-GB" dirty="0">
                <a:latin typeface="+mj-lt"/>
              </a:rPr>
              <a:t>The gear ratio or wheel radius is unsuitable.</a:t>
            </a:r>
          </a:p>
          <a:p>
            <a:r>
              <a:rPr lang="en-GB" dirty="0">
                <a:latin typeface="+mj-lt"/>
              </a:rPr>
              <a:t>The mechanism is binding or the load is larger than expected.</a:t>
            </a:r>
          </a:p>
          <a:p>
            <a:r>
              <a:rPr lang="en-GB" dirty="0">
                <a:latin typeface="+mj-lt"/>
              </a:rPr>
              <a:t>The supply voltage sags or a driver current limit is reached.</a:t>
            </a:r>
          </a:p>
          <a:p>
            <a:r>
              <a:rPr lang="en-GB" dirty="0">
                <a:latin typeface="+mj-lt"/>
              </a:rPr>
              <a:t>The contact surface slips, so motor torque does not become useful drive force.</a:t>
            </a:r>
          </a:p>
          <a:p>
            <a:r>
              <a:rPr lang="en-GB" dirty="0">
                <a:latin typeface="+mj-lt"/>
              </a:rPr>
              <a:t>The motor starts but overheats during repeated operation.</a:t>
            </a:r>
          </a:p>
        </p:txBody>
      </p:sp>
    </p:spTree>
    <p:extLst>
      <p:ext uri="{BB962C8B-B14F-4D97-AF65-F5344CB8AC3E}">
        <p14:creationId xmlns:p14="http://schemas.microsoft.com/office/powerpoint/2010/main" val="1807676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A2408148-307A-49CD-B792-9631633A9905}"/>
              </a:ext>
            </a:extLst>
          </p:cNvPr>
          <p:cNvSpPr>
            <a:spLocks noGrp="1"/>
          </p:cNvSpPr>
          <p:nvPr>
            <p:ph type="title"/>
          </p:nvPr>
        </p:nvSpPr>
        <p:spPr>
          <a:xfrm>
            <a:off x="477078" y="276447"/>
            <a:ext cx="3100136" cy="2200623"/>
          </a:xfrm>
        </p:spPr>
        <p:txBody>
          <a:bodyPr vert="horz" lIns="91440" tIns="45720" rIns="91440" bIns="45720" rtlCol="0">
            <a:noAutofit/>
          </a:bodyPr>
          <a:lstStyle/>
          <a:p>
            <a:r>
              <a:rPr lang="en-GB" sz="2800" dirty="0">
                <a:solidFill>
                  <a:srgbClr val="314052"/>
                </a:solidFill>
              </a:rPr>
              <a:t>What would you blame first, and what result would help distinguish these causes?</a:t>
            </a:r>
          </a:p>
        </p:txBody>
      </p:sp>
      <p:cxnSp>
        <p:nvCxnSpPr>
          <p:cNvPr id="40" name="Straight Connector 39">
            <a:extLst>
              <a:ext uri="{FF2B5EF4-FFF2-40B4-BE49-F238E27FC236}">
                <a16:creationId xmlns:a16="http://schemas.microsoft.com/office/drawing/2014/main" id="{5A0A5CF6-407C-4691-8122-49DF69D002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927" y="2633962"/>
            <a:ext cx="28346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3" name="Picture Placeholder 12" descr="A large airplane flying high up in the air&#10;&#10;">
            <a:extLst>
              <a:ext uri="{FF2B5EF4-FFF2-40B4-BE49-F238E27FC236}">
                <a16:creationId xmlns:a16="http://schemas.microsoft.com/office/drawing/2014/main" id="{D7465B01-98C0-49B4-89B4-A4F1341745B4}"/>
              </a:ext>
            </a:extLst>
          </p:cNvPr>
          <p:cNvPicPr>
            <a:picLocks noGrp="1" noChangeAspect="1"/>
          </p:cNvPicPr>
          <p:nvPr>
            <p:ph type="pic" sz="quarter" idx="4294967295"/>
          </p:nvPr>
        </p:nvPicPr>
        <p:blipFill rotWithShape="1">
          <a:blip r:embed="rId3" cstate="print">
            <a:extLst>
              <a:ext uri="{28A0092B-C50C-407E-A947-70E740481C1C}">
                <a14:useLocalDpi xmlns:a14="http://schemas.microsoft.com/office/drawing/2010/main" val="0"/>
              </a:ext>
            </a:extLst>
          </a:blip>
          <a:srcRect r="-1" b="-1"/>
          <a:stretch/>
        </p:blipFill>
        <p:spPr>
          <a:xfrm>
            <a:off x="4080728" y="10"/>
            <a:ext cx="8111272" cy="6857990"/>
          </a:xfrm>
          <a:prstGeom prst="rect">
            <a:avLst/>
          </a:prstGeom>
        </p:spPr>
      </p:pic>
    </p:spTree>
    <p:extLst>
      <p:ext uri="{BB962C8B-B14F-4D97-AF65-F5344CB8AC3E}">
        <p14:creationId xmlns:p14="http://schemas.microsoft.com/office/powerpoint/2010/main" val="2667405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10A4FE-3C00-8B65-9EBA-95ED47BEE285}"/>
              </a:ext>
            </a:extLst>
          </p:cNvPr>
          <p:cNvPicPr>
            <a:picLocks noChangeAspect="1"/>
          </p:cNvPicPr>
          <p:nvPr/>
        </p:nvPicPr>
        <p:blipFill>
          <a:blip r:embed="rId3"/>
          <a:stretch>
            <a:fillRect/>
          </a:stretch>
        </p:blipFill>
        <p:spPr>
          <a:xfrm>
            <a:off x="0" y="1192491"/>
            <a:ext cx="12192000" cy="3367231"/>
          </a:xfrm>
          <a:prstGeom prst="rect">
            <a:avLst/>
          </a:prstGeom>
        </p:spPr>
      </p:pic>
    </p:spTree>
    <p:extLst>
      <p:ext uri="{BB962C8B-B14F-4D97-AF65-F5344CB8AC3E}">
        <p14:creationId xmlns:p14="http://schemas.microsoft.com/office/powerpoint/2010/main" val="1056707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cxnSp>
        <p:nvCxnSpPr>
          <p:cNvPr id="27" name="Straight Connector 26">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8146B020-2B12-4533-AB98-A078339B314A}"/>
              </a:ext>
            </a:extLst>
          </p:cNvPr>
          <p:cNvSpPr>
            <a:spLocks noGrp="1"/>
          </p:cNvSpPr>
          <p:nvPr>
            <p:ph type="title"/>
          </p:nvPr>
        </p:nvSpPr>
        <p:spPr>
          <a:xfrm>
            <a:off x="477078" y="516836"/>
            <a:ext cx="3100136" cy="1960234"/>
          </a:xfrm>
        </p:spPr>
        <p:txBody>
          <a:bodyPr vert="horz" lIns="91440" tIns="45720" rIns="91440" bIns="45720" rtlCol="0" anchor="b">
            <a:normAutofit fontScale="90000"/>
          </a:bodyPr>
          <a:lstStyle/>
          <a:p>
            <a:r>
              <a:rPr lang="en-GB" sz="4800" dirty="0">
                <a:solidFill>
                  <a:schemeClr val="tx1"/>
                </a:solidFill>
              </a:rPr>
              <a:t>What Does a Motor Convert?</a:t>
            </a:r>
            <a:endParaRPr lang="en-US" sz="4800" dirty="0">
              <a:solidFill>
                <a:schemeClr val="tx1"/>
              </a:solidFill>
            </a:endParaRPr>
          </a:p>
        </p:txBody>
      </p:sp>
      <p:cxnSp>
        <p:nvCxnSpPr>
          <p:cNvPr id="31" name="Straight Connector 30">
            <a:extLst>
              <a:ext uri="{FF2B5EF4-FFF2-40B4-BE49-F238E27FC236}">
                <a16:creationId xmlns:a16="http://schemas.microsoft.com/office/drawing/2014/main" id="{5A0A5CF6-407C-4691-8122-49DF69D002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927" y="2633962"/>
            <a:ext cx="28346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3D22D53-586E-4F80-B549-03B4A942D854}"/>
              </a:ext>
            </a:extLst>
          </p:cNvPr>
          <p:cNvSpPr>
            <a:spLocks noGrp="1"/>
          </p:cNvSpPr>
          <p:nvPr>
            <p:ph idx="1"/>
          </p:nvPr>
        </p:nvSpPr>
        <p:spPr>
          <a:xfrm>
            <a:off x="492371" y="2790855"/>
            <a:ext cx="3084844" cy="3311766"/>
          </a:xfrm>
        </p:spPr>
        <p:txBody>
          <a:bodyPr vert="horz" lIns="0" tIns="45720" rIns="0" bIns="45720" rtlCol="0">
            <a:normAutofit lnSpcReduction="10000"/>
          </a:bodyPr>
          <a:lstStyle/>
          <a:p>
            <a:r>
              <a:rPr lang="en-US" dirty="0">
                <a:latin typeface="+mj-lt"/>
              </a:rPr>
              <a:t>Rotational mechanical output power</a:t>
            </a:r>
          </a:p>
          <a:p>
            <a:endParaRPr lang="en-US" dirty="0">
              <a:latin typeface="+mj-lt"/>
            </a:endParaRPr>
          </a:p>
          <a:p>
            <a:r>
              <a:rPr lang="en-AE" b="1" dirty="0"/>
              <a:t>Check:</a:t>
            </a:r>
            <a:r>
              <a:rPr lang="en-AE" dirty="0"/>
              <a:t> If the shaft is stalled while current is flowing, where is the electrical input energy going?</a:t>
            </a:r>
            <a:endParaRPr lang="en-US" dirty="0">
              <a:latin typeface="+mj-lt"/>
            </a:endParaRPr>
          </a:p>
        </p:txBody>
      </p:sp>
      <p:pic>
        <p:nvPicPr>
          <p:cNvPr id="9" name="Picture Placeholder 8">
            <a:extLst>
              <a:ext uri="{FF2B5EF4-FFF2-40B4-BE49-F238E27FC236}">
                <a16:creationId xmlns:a16="http://schemas.microsoft.com/office/drawing/2014/main" id="{8CFBDF6E-78AD-4FBA-9B07-1F98608A8B2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0585" r="10585"/>
          <a:stretch/>
        </p:blipFill>
        <p:spPr>
          <a:xfrm>
            <a:off x="4080728" y="10"/>
            <a:ext cx="8111272" cy="6857990"/>
          </a:xfrm>
          <a:prstGeom prst="rect">
            <a:avLst/>
          </a:prstGeom>
        </p:spPr>
      </p:pic>
    </p:spTree>
    <p:extLst>
      <p:ext uri="{BB962C8B-B14F-4D97-AF65-F5344CB8AC3E}">
        <p14:creationId xmlns:p14="http://schemas.microsoft.com/office/powerpoint/2010/main" val="893224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ypes of DC Motors">
            <a:extLst>
              <a:ext uri="{FF2B5EF4-FFF2-40B4-BE49-F238E27FC236}">
                <a16:creationId xmlns:a16="http://schemas.microsoft.com/office/drawing/2014/main" id="{3DFEB2AB-8EC5-A0D0-FC62-1C951EFF5B32}"/>
              </a:ext>
            </a:extLst>
          </p:cNvPr>
          <p:cNvPicPr>
            <a:picLocks noChangeAspect="1"/>
          </p:cNvPicPr>
          <p:nvPr/>
        </p:nvPicPr>
        <p:blipFill>
          <a:blip r:embed="rId3"/>
          <a:stretch>
            <a:fillRect/>
          </a:stretch>
        </p:blipFill>
        <p:spPr>
          <a:xfrm>
            <a:off x="24809" y="266921"/>
            <a:ext cx="12142381" cy="6324157"/>
          </a:xfrm>
          <a:prstGeom prst="rect">
            <a:avLst/>
          </a:prstGeom>
        </p:spPr>
      </p:pic>
    </p:spTree>
    <p:extLst>
      <p:ext uri="{BB962C8B-B14F-4D97-AF65-F5344CB8AC3E}">
        <p14:creationId xmlns:p14="http://schemas.microsoft.com/office/powerpoint/2010/main" val="4122837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DCF6AF-A09B-2155-CE6E-074252CCFF56}"/>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BFA99704-4B38-C82A-00D9-21504789B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cxnSp>
        <p:nvCxnSpPr>
          <p:cNvPr id="18" name="Straight Connector 17">
            <a:extLst>
              <a:ext uri="{FF2B5EF4-FFF2-40B4-BE49-F238E27FC236}">
                <a16:creationId xmlns:a16="http://schemas.microsoft.com/office/drawing/2014/main" id="{5D6E5F48-6CFB-F633-1505-BBFA09FA8B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F715AC95-9FDC-732A-773F-13BB04874F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F0DFC671-E5A3-EC45-DF60-07F456279583}"/>
              </a:ext>
            </a:extLst>
          </p:cNvPr>
          <p:cNvSpPr>
            <a:spLocks noGrp="1"/>
          </p:cNvSpPr>
          <p:nvPr>
            <p:ph type="title"/>
          </p:nvPr>
        </p:nvSpPr>
        <p:spPr>
          <a:xfrm>
            <a:off x="5172074" y="286603"/>
            <a:ext cx="5983605" cy="1450757"/>
          </a:xfrm>
        </p:spPr>
        <p:txBody>
          <a:bodyPr vert="horz" lIns="91440" tIns="45720" rIns="91440" bIns="45720" rtlCol="0" anchor="b">
            <a:normAutofit/>
          </a:bodyPr>
          <a:lstStyle/>
          <a:p>
            <a:r>
              <a:rPr lang="en-GB" sz="4800" dirty="0">
                <a:solidFill>
                  <a:schemeClr val="tx1">
                    <a:lumMod val="75000"/>
                    <a:lumOff val="25000"/>
                  </a:schemeClr>
                </a:solidFill>
              </a:rPr>
              <a:t>Brushes: Useful, Wearable, Noisy</a:t>
            </a:r>
            <a:endParaRPr lang="en-US" sz="4800" dirty="0">
              <a:solidFill>
                <a:schemeClr val="tx1">
                  <a:lumMod val="75000"/>
                  <a:lumOff val="25000"/>
                </a:schemeClr>
              </a:solidFill>
            </a:endParaRPr>
          </a:p>
        </p:txBody>
      </p:sp>
      <p:cxnSp>
        <p:nvCxnSpPr>
          <p:cNvPr id="22" name="Straight Connector 21">
            <a:extLst>
              <a:ext uri="{FF2B5EF4-FFF2-40B4-BE49-F238E27FC236}">
                <a16:creationId xmlns:a16="http://schemas.microsoft.com/office/drawing/2014/main" id="{26369A6E-2A21-5F28-2833-59012597FC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1637B869-100C-6FBA-FB8E-0AC73DB253E0}"/>
              </a:ext>
            </a:extLst>
          </p:cNvPr>
          <p:cNvSpPr>
            <a:spLocks noGrp="1"/>
          </p:cNvSpPr>
          <p:nvPr>
            <p:ph idx="1"/>
          </p:nvPr>
        </p:nvSpPr>
        <p:spPr>
          <a:xfrm>
            <a:off x="5172073" y="2108201"/>
            <a:ext cx="6396149" cy="4413101"/>
          </a:xfrm>
        </p:spPr>
        <p:txBody>
          <a:bodyPr vert="horz" lIns="0" tIns="45720" rIns="0" bIns="45720" rtlCol="0">
            <a:normAutofit lnSpcReduction="10000"/>
          </a:bodyPr>
          <a:lstStyle/>
          <a:p>
            <a:pPr marL="87313" indent="0">
              <a:buFont typeface="Calibri" panose="020F0502020204030204" pitchFamily="34" charset="0"/>
              <a:buNone/>
            </a:pPr>
            <a:r>
              <a:rPr lang="en-GB" dirty="0">
                <a:latin typeface="+mj-lt"/>
              </a:rPr>
              <a:t>Brush contact makes the design simple to drive and reverse.</a:t>
            </a:r>
          </a:p>
          <a:p>
            <a:pPr marL="87313" indent="0">
              <a:buFont typeface="Calibri" panose="020F0502020204030204" pitchFamily="34" charset="0"/>
              <a:buNone/>
            </a:pPr>
            <a:r>
              <a:rPr lang="en-GB" dirty="0">
                <a:latin typeface="+mj-lt"/>
              </a:rPr>
              <a:t>Brushes and commutator wear with use; brush dust and contact condition matter.</a:t>
            </a:r>
          </a:p>
          <a:p>
            <a:pPr marL="87313" indent="0">
              <a:buFont typeface="Calibri" panose="020F0502020204030204" pitchFamily="34" charset="0"/>
              <a:buNone/>
            </a:pPr>
            <a:r>
              <a:rPr lang="en-GB" dirty="0">
                <a:latin typeface="+mj-lt"/>
              </a:rPr>
              <a:t>Switching can produce electrical noise and visible sparking.</a:t>
            </a:r>
          </a:p>
          <a:p>
            <a:pPr marL="87313" indent="0">
              <a:buFont typeface="Calibri" panose="020F0502020204030204" pitchFamily="34" charset="0"/>
              <a:buNone/>
            </a:pPr>
            <a:r>
              <a:rPr lang="en-GB" dirty="0">
                <a:latin typeface="+mj-lt"/>
              </a:rPr>
              <a:t>Contact resistance contributes to voltage drop and heating.</a:t>
            </a:r>
          </a:p>
          <a:p>
            <a:pPr marL="87313" indent="0">
              <a:buFont typeface="Calibri" panose="020F0502020204030204" pitchFamily="34" charset="0"/>
              <a:buNone/>
            </a:pPr>
            <a:r>
              <a:rPr lang="en-GB" dirty="0">
                <a:latin typeface="+mj-lt"/>
              </a:rPr>
              <a:t>Brush condition, commutator condition, speed, current and environment affect service life.</a:t>
            </a:r>
          </a:p>
        </p:txBody>
      </p:sp>
      <p:pic>
        <p:nvPicPr>
          <p:cNvPr id="5" name="Picture Placeholder 4">
            <a:extLst>
              <a:ext uri="{FF2B5EF4-FFF2-40B4-BE49-F238E27FC236}">
                <a16:creationId xmlns:a16="http://schemas.microsoft.com/office/drawing/2014/main" id="{53934BBC-3FF9-F704-0B5C-56A9F60E4F55}"/>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42441" t="1116" r="6657" b="710"/>
          <a:stretch>
            <a:fillRect/>
          </a:stretch>
        </p:blipFill>
        <p:spPr>
          <a:xfrm>
            <a:off x="-304801" y="0"/>
            <a:ext cx="4976037" cy="6858001"/>
          </a:xfrm>
        </p:spPr>
      </p:pic>
    </p:spTree>
    <p:extLst>
      <p:ext uri="{BB962C8B-B14F-4D97-AF65-F5344CB8AC3E}">
        <p14:creationId xmlns:p14="http://schemas.microsoft.com/office/powerpoint/2010/main" val="1113336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2D36D-17CC-051F-6DF1-61E454AE76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E14340-F1F6-1171-9893-0241DDC355A9}"/>
              </a:ext>
            </a:extLst>
          </p:cNvPr>
          <p:cNvSpPr txBox="1"/>
          <p:nvPr/>
        </p:nvSpPr>
        <p:spPr>
          <a:xfrm>
            <a:off x="4628707" y="545805"/>
            <a:ext cx="7265581" cy="584775"/>
          </a:xfrm>
          <a:prstGeom prst="rect">
            <a:avLst/>
          </a:prstGeom>
          <a:noFill/>
        </p:spPr>
        <p:txBody>
          <a:bodyPr wrap="square">
            <a:spAutoFit/>
          </a:bodyPr>
          <a:lstStyle/>
          <a:p>
            <a:pPr indent="0" algn="r">
              <a:spcAft>
                <a:spcPts val="1200"/>
              </a:spcAft>
              <a:buNone/>
            </a:pPr>
            <a:r>
              <a:rPr lang="en-AE" sz="3200" b="1" i="0" dirty="0">
                <a:solidFill>
                  <a:schemeClr val="tx1"/>
                </a:solidFill>
                <a:effectLst/>
                <a:latin typeface="+mn-lt"/>
              </a:rPr>
              <a:t>A Brushed Motor Is Not a Fixed Resistor</a:t>
            </a:r>
            <a:endParaRPr lang="en-AE" sz="3200" b="1" i="0" dirty="0">
              <a:solidFill>
                <a:srgbClr val="000000"/>
              </a:solidFill>
              <a:effectLst/>
              <a:latin typeface="Helvetica Neue"/>
            </a:endParaRPr>
          </a:p>
        </p:txBody>
      </p:sp>
      <p:pic>
        <p:nvPicPr>
          <p:cNvPr id="6" name="Picture 5">
            <a:extLst>
              <a:ext uri="{FF2B5EF4-FFF2-40B4-BE49-F238E27FC236}">
                <a16:creationId xmlns:a16="http://schemas.microsoft.com/office/drawing/2014/main" id="{84B68FE3-41A8-40AA-975F-2FB4A8A2086A}"/>
              </a:ext>
            </a:extLst>
          </p:cNvPr>
          <p:cNvPicPr>
            <a:picLocks noChangeAspect="1"/>
          </p:cNvPicPr>
          <p:nvPr/>
        </p:nvPicPr>
        <p:blipFill>
          <a:blip r:embed="rId3"/>
          <a:stretch>
            <a:fillRect/>
          </a:stretch>
        </p:blipFill>
        <p:spPr>
          <a:xfrm>
            <a:off x="0" y="1998702"/>
            <a:ext cx="12192000" cy="2860596"/>
          </a:xfrm>
          <a:prstGeom prst="rect">
            <a:avLst/>
          </a:prstGeom>
        </p:spPr>
      </p:pic>
    </p:spTree>
    <p:extLst>
      <p:ext uri="{BB962C8B-B14F-4D97-AF65-F5344CB8AC3E}">
        <p14:creationId xmlns:p14="http://schemas.microsoft.com/office/powerpoint/2010/main" val="1786258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2CC3EF0-F13E-468D-8198-2FFABAAB8360}"/>
              </a:ext>
            </a:extLst>
          </p:cNvPr>
          <p:cNvSpPr>
            <a:spLocks noGrp="1"/>
          </p:cNvSpPr>
          <p:nvPr>
            <p:ph type="title"/>
          </p:nvPr>
        </p:nvSpPr>
        <p:spPr/>
        <p:txBody>
          <a:bodyPr/>
          <a:lstStyle/>
          <a:p>
            <a:r>
              <a:rPr lang="en-AE" dirty="0"/>
              <a:t>What Makes the Rotor Turn?</a:t>
            </a:r>
          </a:p>
        </p:txBody>
      </p:sp>
      <p:sp>
        <p:nvSpPr>
          <p:cNvPr id="9" name="Content Placeholder 8">
            <a:extLst>
              <a:ext uri="{FF2B5EF4-FFF2-40B4-BE49-F238E27FC236}">
                <a16:creationId xmlns:a16="http://schemas.microsoft.com/office/drawing/2014/main" id="{EC401CC4-711A-4213-A098-6A62651D89A1}"/>
              </a:ext>
            </a:extLst>
          </p:cNvPr>
          <p:cNvSpPr>
            <a:spLocks noGrp="1"/>
          </p:cNvSpPr>
          <p:nvPr>
            <p:ph sz="half" idx="2"/>
          </p:nvPr>
        </p:nvSpPr>
        <p:spPr>
          <a:xfrm>
            <a:off x="1186731" y="2034364"/>
            <a:ext cx="10523260" cy="4451496"/>
          </a:xfrm>
        </p:spPr>
        <p:txBody>
          <a:bodyPr>
            <a:normAutofit/>
          </a:bodyPr>
          <a:lstStyle/>
          <a:p>
            <a:r>
              <a:rPr lang="en-GB" sz="2400" dirty="0">
                <a:latin typeface="+mj-lt"/>
              </a:rPr>
              <a:t>Current through a conductor creates a magnetic field.</a:t>
            </a:r>
          </a:p>
          <a:p>
            <a:r>
              <a:rPr lang="en-GB" sz="2400" dirty="0">
                <a:latin typeface="+mj-lt"/>
              </a:rPr>
              <a:t>A current-carrying conductor in the stator magnetic field experiences a force.</a:t>
            </a:r>
          </a:p>
          <a:p>
            <a:r>
              <a:rPr lang="en-GB" sz="2400" dirty="0">
                <a:latin typeface="+mj-lt"/>
              </a:rPr>
              <a:t>Forces on conductors around the armature create a turning moment, or torque.</a:t>
            </a:r>
          </a:p>
          <a:p>
            <a:r>
              <a:rPr lang="en-GB" sz="2400" dirty="0">
                <a:latin typeface="+mj-lt"/>
              </a:rPr>
              <a:t>Reversing the current reverses the force direction and motor rotation.</a:t>
            </a:r>
          </a:p>
          <a:p>
            <a:r>
              <a:rPr lang="en-GB" sz="2400" dirty="0">
                <a:latin typeface="+mj-lt"/>
              </a:rPr>
              <a:t>Reversing both supply polarity and field polarity would leave torque direction unchanged in a separately excited motor; a permanent-magnet field does not reverse with the supply.</a:t>
            </a:r>
          </a:p>
        </p:txBody>
      </p:sp>
    </p:spTree>
    <p:extLst>
      <p:ext uri="{BB962C8B-B14F-4D97-AF65-F5344CB8AC3E}">
        <p14:creationId xmlns:p14="http://schemas.microsoft.com/office/powerpoint/2010/main" val="151147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0CD6A-DC14-EF64-D77C-48DDFC401A4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8B4473A-D44A-06A1-522E-A3EFBEAFE3D0}"/>
              </a:ext>
            </a:extLst>
          </p:cNvPr>
          <p:cNvPicPr>
            <a:picLocks noChangeAspect="1"/>
          </p:cNvPicPr>
          <p:nvPr/>
        </p:nvPicPr>
        <p:blipFill>
          <a:blip r:embed="rId3"/>
          <a:stretch>
            <a:fillRect/>
          </a:stretch>
        </p:blipFill>
        <p:spPr>
          <a:xfrm>
            <a:off x="-49619" y="1583970"/>
            <a:ext cx="12192000" cy="3548292"/>
          </a:xfrm>
          <a:prstGeom prst="rect">
            <a:avLst/>
          </a:prstGeom>
        </p:spPr>
      </p:pic>
      <p:sp>
        <p:nvSpPr>
          <p:cNvPr id="6" name="TextBox 5">
            <a:extLst>
              <a:ext uri="{FF2B5EF4-FFF2-40B4-BE49-F238E27FC236}">
                <a16:creationId xmlns:a16="http://schemas.microsoft.com/office/drawing/2014/main" id="{13A63F0B-E28E-52BE-B674-E0FB350B6B39}"/>
              </a:ext>
            </a:extLst>
          </p:cNvPr>
          <p:cNvSpPr txBox="1"/>
          <p:nvPr/>
        </p:nvSpPr>
        <p:spPr>
          <a:xfrm>
            <a:off x="5257800" y="701857"/>
            <a:ext cx="6177516" cy="1908215"/>
          </a:xfrm>
          <a:prstGeom prst="rect">
            <a:avLst/>
          </a:prstGeom>
          <a:noFill/>
        </p:spPr>
        <p:txBody>
          <a:bodyPr wrap="square">
            <a:spAutoFit/>
          </a:bodyPr>
          <a:lstStyle/>
          <a:p>
            <a:pPr indent="0" algn="r">
              <a:spcAft>
                <a:spcPts val="1200"/>
              </a:spcAft>
              <a:buNone/>
            </a:pPr>
            <a:r>
              <a:rPr lang="en-AE" sz="3600" b="1" i="0" dirty="0">
                <a:solidFill>
                  <a:schemeClr val="tx1"/>
                </a:solidFill>
                <a:effectLst/>
                <a:latin typeface="+mn-lt"/>
              </a:rPr>
              <a:t>Why the Commutator Matters</a:t>
            </a:r>
          </a:p>
          <a:p>
            <a:pPr algn="r">
              <a:buNone/>
            </a:pPr>
            <a:br>
              <a:rPr lang="en-AE" sz="3600" dirty="0"/>
            </a:br>
            <a:endParaRPr lang="en-AE" sz="3600" dirty="0"/>
          </a:p>
        </p:txBody>
      </p:sp>
    </p:spTree>
    <p:extLst>
      <p:ext uri="{BB962C8B-B14F-4D97-AF65-F5344CB8AC3E}">
        <p14:creationId xmlns:p14="http://schemas.microsoft.com/office/powerpoint/2010/main" val="2699632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4E9E20-E18E-2C53-C2CB-C89E09FA9BED}"/>
              </a:ext>
            </a:extLst>
          </p:cNvPr>
          <p:cNvSpPr txBox="1"/>
          <p:nvPr/>
        </p:nvSpPr>
        <p:spPr>
          <a:xfrm>
            <a:off x="978195" y="1623237"/>
            <a:ext cx="184731" cy="369332"/>
          </a:xfrm>
          <a:prstGeom prst="rect">
            <a:avLst/>
          </a:prstGeom>
          <a:noFill/>
        </p:spPr>
        <p:txBody>
          <a:bodyPr wrap="none" rtlCol="0">
            <a:spAutoFit/>
          </a:bodyPr>
          <a:lstStyle/>
          <a:p>
            <a:endParaRPr lang="en-AE" dirty="0"/>
          </a:p>
        </p:txBody>
      </p:sp>
      <p:pic>
        <p:nvPicPr>
          <p:cNvPr id="7" name="Picture Placeholder 6">
            <a:extLst>
              <a:ext uri="{FF2B5EF4-FFF2-40B4-BE49-F238E27FC236}">
                <a16:creationId xmlns:a16="http://schemas.microsoft.com/office/drawing/2014/main" id="{750DCE2B-4241-0897-F75D-C6B210343AD3}"/>
              </a:ext>
            </a:extLst>
          </p:cNvPr>
          <p:cNvPicPr>
            <a:picLocks noGrp="1" noChangeAspect="1"/>
          </p:cNvPicPr>
          <p:nvPr>
            <p:ph type="pic" sz="quarter" idx="13"/>
          </p:nvPr>
        </p:nvPicPr>
        <p:blipFill>
          <a:blip r:embed="rId2"/>
          <a:srcRect l="-33793" r="-46550"/>
          <a:stretch>
            <a:fillRect/>
          </a:stretch>
        </p:blipFill>
        <p:spPr>
          <a:xfrm>
            <a:off x="0" y="0"/>
            <a:ext cx="12662452" cy="6858000"/>
          </a:xfrm>
          <a:prstGeom prst="rect">
            <a:avLst/>
          </a:prstGeom>
        </p:spPr>
      </p:pic>
    </p:spTree>
    <p:extLst>
      <p:ext uri="{BB962C8B-B14F-4D97-AF65-F5344CB8AC3E}">
        <p14:creationId xmlns:p14="http://schemas.microsoft.com/office/powerpoint/2010/main" val="387319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2221D-EC3C-FBC9-7465-E7A92E544B70}"/>
            </a:ext>
          </a:extLst>
        </p:cNvPr>
        <p:cNvGrpSpPr/>
        <p:nvPr/>
      </p:nvGrpSpPr>
      <p:grpSpPr>
        <a:xfrm>
          <a:off x="0" y="0"/>
          <a:ext cx="0" cy="0"/>
          <a:chOff x="0" y="0"/>
          <a:chExt cx="0" cy="0"/>
        </a:xfrm>
      </p:grpSpPr>
      <p:pic>
        <p:nvPicPr>
          <p:cNvPr id="6" name="Picture 5" descr="Electromagnetic Induction Diagram - XCTF">
            <a:extLst>
              <a:ext uri="{FF2B5EF4-FFF2-40B4-BE49-F238E27FC236}">
                <a16:creationId xmlns:a16="http://schemas.microsoft.com/office/drawing/2014/main" id="{3AA78DF2-88F0-69A9-DBDD-CF1C9DC85CCD}"/>
              </a:ext>
            </a:extLst>
          </p:cNvPr>
          <p:cNvPicPr>
            <a:picLocks noChangeAspect="1"/>
          </p:cNvPicPr>
          <p:nvPr/>
        </p:nvPicPr>
        <p:blipFill>
          <a:blip r:embed="rId2"/>
          <a:stretch>
            <a:fillRect/>
          </a:stretch>
        </p:blipFill>
        <p:spPr>
          <a:xfrm>
            <a:off x="0" y="0"/>
            <a:ext cx="12192000" cy="6857999"/>
          </a:xfrm>
          <a:prstGeom prst="rect">
            <a:avLst/>
          </a:prstGeom>
          <a:noFill/>
        </p:spPr>
      </p:pic>
      <p:sp>
        <p:nvSpPr>
          <p:cNvPr id="5" name="TextBox 4">
            <a:extLst>
              <a:ext uri="{FF2B5EF4-FFF2-40B4-BE49-F238E27FC236}">
                <a16:creationId xmlns:a16="http://schemas.microsoft.com/office/drawing/2014/main" id="{909FA0EA-1F95-D600-C058-339BE383D589}"/>
              </a:ext>
            </a:extLst>
          </p:cNvPr>
          <p:cNvSpPr txBox="1"/>
          <p:nvPr/>
        </p:nvSpPr>
        <p:spPr>
          <a:xfrm>
            <a:off x="978195" y="1623237"/>
            <a:ext cx="184731" cy="369332"/>
          </a:xfrm>
          <a:prstGeom prst="rect">
            <a:avLst/>
          </a:prstGeom>
          <a:noFill/>
        </p:spPr>
        <p:txBody>
          <a:bodyPr wrap="none" rtlCol="0">
            <a:spAutoFit/>
          </a:bodyPr>
          <a:lstStyle/>
          <a:p>
            <a:endParaRPr lang="en-AE" dirty="0"/>
          </a:p>
        </p:txBody>
      </p:sp>
    </p:spTree>
    <p:extLst>
      <p:ext uri="{BB962C8B-B14F-4D97-AF65-F5344CB8AC3E}">
        <p14:creationId xmlns:p14="http://schemas.microsoft.com/office/powerpoint/2010/main" val="1452943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35B6050B-D770-0A1C-EFD9-44FB161078CC}"/>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378" r="19378"/>
          <a:stretch/>
        </p:blipFill>
        <p:spPr>
          <a:prstGeom prst="rect">
            <a:avLst/>
          </a:prstGeom>
        </p:spPr>
      </p:pic>
      <p:sp>
        <p:nvSpPr>
          <p:cNvPr id="3" name="Title 2">
            <a:extLst>
              <a:ext uri="{FF2B5EF4-FFF2-40B4-BE49-F238E27FC236}">
                <a16:creationId xmlns:a16="http://schemas.microsoft.com/office/drawing/2014/main" id="{ABEC698F-04E1-F9A2-9779-E3F36F778F79}"/>
              </a:ext>
            </a:extLst>
          </p:cNvPr>
          <p:cNvSpPr>
            <a:spLocks noGrp="1"/>
          </p:cNvSpPr>
          <p:nvPr>
            <p:ph type="ctrTitle"/>
          </p:nvPr>
        </p:nvSpPr>
        <p:spPr/>
        <p:txBody>
          <a:bodyPr/>
          <a:lstStyle/>
          <a:p>
            <a:r>
              <a:rPr lang="en-GB" dirty="0"/>
              <a:t>Back EMF</a:t>
            </a:r>
            <a:endParaRPr lang="en-AE" dirty="0"/>
          </a:p>
        </p:txBody>
      </p:sp>
      <p:sp>
        <p:nvSpPr>
          <p:cNvPr id="4" name="Subtitle 3">
            <a:extLst>
              <a:ext uri="{FF2B5EF4-FFF2-40B4-BE49-F238E27FC236}">
                <a16:creationId xmlns:a16="http://schemas.microsoft.com/office/drawing/2014/main" id="{398B6A45-A6D1-1BD3-4ABE-3DF3B5B2C62D}"/>
              </a:ext>
            </a:extLst>
          </p:cNvPr>
          <p:cNvSpPr>
            <a:spLocks noGrp="1"/>
          </p:cNvSpPr>
          <p:nvPr>
            <p:ph type="subTitle" idx="1"/>
          </p:nvPr>
        </p:nvSpPr>
        <p:spPr/>
        <p:txBody>
          <a:bodyPr>
            <a:normAutofit/>
          </a:bodyPr>
          <a:lstStyle/>
          <a:p>
            <a:r>
              <a:rPr lang="en-GB" dirty="0"/>
              <a:t>Two Magnetic fields fight each other</a:t>
            </a:r>
          </a:p>
        </p:txBody>
      </p:sp>
      <p:sp>
        <p:nvSpPr>
          <p:cNvPr id="8" name="TextBox 7">
            <a:extLst>
              <a:ext uri="{FF2B5EF4-FFF2-40B4-BE49-F238E27FC236}">
                <a16:creationId xmlns:a16="http://schemas.microsoft.com/office/drawing/2014/main" id="{6274013C-FCBC-568D-05CE-675910C5DE6E}"/>
              </a:ext>
            </a:extLst>
          </p:cNvPr>
          <p:cNvSpPr txBox="1"/>
          <p:nvPr/>
        </p:nvSpPr>
        <p:spPr>
          <a:xfrm>
            <a:off x="0" y="6858000"/>
            <a:ext cx="6311900" cy="230832"/>
          </a:xfrm>
          <a:prstGeom prst="rect">
            <a:avLst/>
          </a:prstGeom>
          <a:noFill/>
        </p:spPr>
        <p:txBody>
          <a:bodyPr wrap="square" rtlCol="0">
            <a:spAutoFit/>
          </a:bodyPr>
          <a:lstStyle/>
          <a:p>
            <a:r>
              <a:rPr lang="en-AE" sz="900">
                <a:hlinkClick r:id="rId3" tooltip="https://www.sciencestockphotos.com/free/electrical/slides/inductor.html"/>
              </a:rPr>
              <a:t>This Photo</a:t>
            </a:r>
            <a:r>
              <a:rPr lang="en-AE" sz="900"/>
              <a:t> by Unknown Author is licensed under </a:t>
            </a:r>
            <a:r>
              <a:rPr lang="en-AE" sz="900">
                <a:hlinkClick r:id="rId4" tooltip="https://creativecommons.org/licenses/by/3.0/"/>
              </a:rPr>
              <a:t>CC BY</a:t>
            </a:r>
            <a:endParaRPr lang="en-AE" sz="900"/>
          </a:p>
        </p:txBody>
      </p:sp>
    </p:spTree>
    <p:extLst>
      <p:ext uri="{BB962C8B-B14F-4D97-AF65-F5344CB8AC3E}">
        <p14:creationId xmlns:p14="http://schemas.microsoft.com/office/powerpoint/2010/main" val="707171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5535-558C-C84F-0216-9C86E831386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1F0E173-17FF-8C86-E383-6477D8192780}"/>
              </a:ext>
            </a:extLst>
          </p:cNvPr>
          <p:cNvSpPr txBox="1"/>
          <p:nvPr/>
        </p:nvSpPr>
        <p:spPr>
          <a:xfrm>
            <a:off x="4628707" y="545805"/>
            <a:ext cx="7265581" cy="584775"/>
          </a:xfrm>
          <a:prstGeom prst="rect">
            <a:avLst/>
          </a:prstGeom>
          <a:noFill/>
        </p:spPr>
        <p:txBody>
          <a:bodyPr wrap="square">
            <a:spAutoFit/>
          </a:bodyPr>
          <a:lstStyle/>
          <a:p>
            <a:pPr indent="0" algn="r">
              <a:spcAft>
                <a:spcPts val="1200"/>
              </a:spcAft>
              <a:buNone/>
            </a:pPr>
            <a:r>
              <a:rPr lang="en-GB" sz="3200" b="1" i="0" dirty="0">
                <a:solidFill>
                  <a:schemeClr val="tx1"/>
                </a:solidFill>
                <a:effectLst/>
                <a:latin typeface="+mn-lt"/>
              </a:rPr>
              <a:t>Startup, No Load and Stall</a:t>
            </a:r>
            <a:endParaRPr lang="en-AE" sz="3200" b="1" i="0" dirty="0">
              <a:solidFill>
                <a:srgbClr val="000000"/>
              </a:solidFill>
              <a:effectLst/>
              <a:latin typeface="Helvetica Neue"/>
            </a:endParaRPr>
          </a:p>
        </p:txBody>
      </p:sp>
      <p:pic>
        <p:nvPicPr>
          <p:cNvPr id="3" name="Picture 2">
            <a:extLst>
              <a:ext uri="{FF2B5EF4-FFF2-40B4-BE49-F238E27FC236}">
                <a16:creationId xmlns:a16="http://schemas.microsoft.com/office/drawing/2014/main" id="{D84269DF-3FC9-61FB-9CAC-17450F95F997}"/>
              </a:ext>
            </a:extLst>
          </p:cNvPr>
          <p:cNvPicPr>
            <a:picLocks noChangeAspect="1"/>
          </p:cNvPicPr>
          <p:nvPr/>
        </p:nvPicPr>
        <p:blipFill>
          <a:blip r:embed="rId3"/>
          <a:stretch>
            <a:fillRect/>
          </a:stretch>
        </p:blipFill>
        <p:spPr>
          <a:xfrm>
            <a:off x="0" y="1251429"/>
            <a:ext cx="10150549" cy="5606571"/>
          </a:xfrm>
          <a:prstGeom prst="rect">
            <a:avLst/>
          </a:prstGeom>
        </p:spPr>
      </p:pic>
    </p:spTree>
    <p:extLst>
      <p:ext uri="{BB962C8B-B14F-4D97-AF65-F5344CB8AC3E}">
        <p14:creationId xmlns:p14="http://schemas.microsoft.com/office/powerpoint/2010/main" val="759735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7C147B-3691-B543-3DD8-751BBC6F395B}"/>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A6BC9C09-3BF8-4E36-9A5C-10B702BD2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cxnSp>
        <p:nvCxnSpPr>
          <p:cNvPr id="18" name="Straight Connector 17">
            <a:extLst>
              <a:ext uri="{FF2B5EF4-FFF2-40B4-BE49-F238E27FC236}">
                <a16:creationId xmlns:a16="http://schemas.microsoft.com/office/drawing/2014/main" id="{C2F5ED55-4650-F028-A11C-F0B274574C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2B8385D8-F79B-C7A3-E0A4-9D2751FF2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7627BBA6-1F2C-EDDA-C0EB-5B21A4ABB8E8}"/>
              </a:ext>
            </a:extLst>
          </p:cNvPr>
          <p:cNvSpPr>
            <a:spLocks noGrp="1"/>
          </p:cNvSpPr>
          <p:nvPr>
            <p:ph type="title"/>
          </p:nvPr>
        </p:nvSpPr>
        <p:spPr>
          <a:xfrm>
            <a:off x="5202898" y="245930"/>
            <a:ext cx="5983605" cy="1450757"/>
          </a:xfrm>
        </p:spPr>
        <p:txBody>
          <a:bodyPr vert="horz" lIns="91440" tIns="45720" rIns="91440" bIns="45720" rtlCol="0" anchor="b">
            <a:normAutofit/>
          </a:bodyPr>
          <a:lstStyle/>
          <a:p>
            <a:r>
              <a:rPr lang="en-GB" sz="4800" dirty="0">
                <a:solidFill>
                  <a:schemeClr val="tx1">
                    <a:lumMod val="75000"/>
                    <a:lumOff val="25000"/>
                  </a:schemeClr>
                </a:solidFill>
              </a:rPr>
              <a:t>Estimating Stall Current Carefully</a:t>
            </a:r>
            <a:endParaRPr lang="en-US" sz="4800" dirty="0">
              <a:solidFill>
                <a:schemeClr val="tx1">
                  <a:lumMod val="75000"/>
                  <a:lumOff val="25000"/>
                </a:schemeClr>
              </a:solidFill>
            </a:endParaRPr>
          </a:p>
        </p:txBody>
      </p:sp>
      <p:cxnSp>
        <p:nvCxnSpPr>
          <p:cNvPr id="22" name="Straight Connector 21">
            <a:extLst>
              <a:ext uri="{FF2B5EF4-FFF2-40B4-BE49-F238E27FC236}">
                <a16:creationId xmlns:a16="http://schemas.microsoft.com/office/drawing/2014/main" id="{CDA70437-041C-0FA8-CCFB-BC27F99F3D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Picture Placeholder 4">
            <a:extLst>
              <a:ext uri="{FF2B5EF4-FFF2-40B4-BE49-F238E27FC236}">
                <a16:creationId xmlns:a16="http://schemas.microsoft.com/office/drawing/2014/main" id="{F4DA483C-F7FC-D792-5AEF-3BF247DE82FF}"/>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9589" r="29589"/>
          <a:stretch/>
        </p:blipFill>
        <p:spPr>
          <a:xfrm>
            <a:off x="-304801" y="0"/>
            <a:ext cx="4976037" cy="6858001"/>
          </a:xfrm>
        </p:spPr>
      </p:pic>
      <p:pic>
        <p:nvPicPr>
          <p:cNvPr id="6" name="Picture 5">
            <a:extLst>
              <a:ext uri="{FF2B5EF4-FFF2-40B4-BE49-F238E27FC236}">
                <a16:creationId xmlns:a16="http://schemas.microsoft.com/office/drawing/2014/main" id="{A624E073-D243-F501-E6AE-9B31EA89426C}"/>
              </a:ext>
            </a:extLst>
          </p:cNvPr>
          <p:cNvPicPr>
            <a:picLocks noChangeAspect="1"/>
          </p:cNvPicPr>
          <p:nvPr/>
        </p:nvPicPr>
        <p:blipFill>
          <a:blip r:embed="rId5"/>
          <a:stretch>
            <a:fillRect/>
          </a:stretch>
        </p:blipFill>
        <p:spPr>
          <a:xfrm>
            <a:off x="-304802" y="1770409"/>
            <a:ext cx="12390475" cy="5087591"/>
          </a:xfrm>
          <a:prstGeom prst="rect">
            <a:avLst/>
          </a:prstGeom>
        </p:spPr>
      </p:pic>
    </p:spTree>
    <p:extLst>
      <p:ext uri="{BB962C8B-B14F-4D97-AF65-F5344CB8AC3E}">
        <p14:creationId xmlns:p14="http://schemas.microsoft.com/office/powerpoint/2010/main" val="1394660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dvice. Just starting : r/Welding">
            <a:extLst>
              <a:ext uri="{FF2B5EF4-FFF2-40B4-BE49-F238E27FC236}">
                <a16:creationId xmlns:a16="http://schemas.microsoft.com/office/drawing/2014/main" id="{00EC1436-1E53-080C-43ED-C75945C8A68B}"/>
              </a:ext>
            </a:extLst>
          </p:cNvPr>
          <p:cNvPicPr>
            <a:picLocks noChangeAspect="1"/>
          </p:cNvPicPr>
          <p:nvPr/>
        </p:nvPicPr>
        <p:blipFill>
          <a:blip r:embed="rId2"/>
          <a:stretch>
            <a:fillRect/>
          </a:stretch>
        </p:blipFill>
        <p:spPr>
          <a:xfrm>
            <a:off x="2166730" y="179302"/>
            <a:ext cx="8000999" cy="6620826"/>
          </a:xfrm>
          <a:prstGeom prst="rect">
            <a:avLst/>
          </a:prstGeom>
        </p:spPr>
      </p:pic>
    </p:spTree>
    <p:extLst>
      <p:ext uri="{BB962C8B-B14F-4D97-AF65-F5344CB8AC3E}">
        <p14:creationId xmlns:p14="http://schemas.microsoft.com/office/powerpoint/2010/main" val="3582747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B23E8-B936-A765-C51B-0A559269BF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976516F-A385-2DCD-9547-A0144F617F6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3274" y="517451"/>
            <a:ext cx="11391155" cy="5714562"/>
          </a:xfrm>
          <a:prstGeom prst="rect">
            <a:avLst/>
          </a:prstGeom>
        </p:spPr>
      </p:pic>
    </p:spTree>
    <p:extLst>
      <p:ext uri="{BB962C8B-B14F-4D97-AF65-F5344CB8AC3E}">
        <p14:creationId xmlns:p14="http://schemas.microsoft.com/office/powerpoint/2010/main" val="1834566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5C5F22-1724-DABA-38C5-C2E3A22EF098}"/>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79B08FE2-1E25-48AB-C5B6-2C82DB59E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cxnSp>
        <p:nvCxnSpPr>
          <p:cNvPr id="18" name="Straight Connector 17">
            <a:extLst>
              <a:ext uri="{FF2B5EF4-FFF2-40B4-BE49-F238E27FC236}">
                <a16:creationId xmlns:a16="http://schemas.microsoft.com/office/drawing/2014/main" id="{130EE0FA-DC48-5F8A-F339-93D24D6BAE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2B4B96CE-3ED5-989C-C079-FC2AEE18AE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669049B3-08C9-EAE8-54DB-E0F193E60958}"/>
              </a:ext>
            </a:extLst>
          </p:cNvPr>
          <p:cNvSpPr>
            <a:spLocks noGrp="1"/>
          </p:cNvSpPr>
          <p:nvPr>
            <p:ph type="title"/>
          </p:nvPr>
        </p:nvSpPr>
        <p:spPr>
          <a:xfrm>
            <a:off x="5172074" y="286603"/>
            <a:ext cx="5983605" cy="1450757"/>
          </a:xfrm>
        </p:spPr>
        <p:txBody>
          <a:bodyPr vert="horz" lIns="91440" tIns="45720" rIns="91440" bIns="45720" rtlCol="0" anchor="b">
            <a:normAutofit/>
          </a:bodyPr>
          <a:lstStyle/>
          <a:p>
            <a:r>
              <a:rPr lang="en-GB" sz="4800" dirty="0">
                <a:solidFill>
                  <a:schemeClr val="tx1">
                    <a:lumMod val="75000"/>
                    <a:lumOff val="25000"/>
                  </a:schemeClr>
                </a:solidFill>
              </a:rPr>
              <a:t>Voltage, Speed and Current</a:t>
            </a:r>
            <a:endParaRPr lang="en-US" sz="4800" dirty="0">
              <a:solidFill>
                <a:schemeClr val="tx1">
                  <a:lumMod val="75000"/>
                  <a:lumOff val="25000"/>
                </a:schemeClr>
              </a:solidFill>
            </a:endParaRPr>
          </a:p>
        </p:txBody>
      </p:sp>
      <p:pic>
        <p:nvPicPr>
          <p:cNvPr id="11" name="Picture Placeholder 10">
            <a:extLst>
              <a:ext uri="{FF2B5EF4-FFF2-40B4-BE49-F238E27FC236}">
                <a16:creationId xmlns:a16="http://schemas.microsoft.com/office/drawing/2014/main" id="{844EE7F5-1BF8-B8F5-89FB-52E87EF6439A}"/>
              </a:ext>
            </a:extLst>
          </p:cNvPr>
          <p:cNvPicPr>
            <a:picLocks noGrp="1" noChangeAspect="1"/>
          </p:cNvPicPr>
          <p:nvPr>
            <p:ph type="pic" sz="quarter" idx="13"/>
          </p:nvPr>
        </p:nvPicPr>
        <p:blipFill>
          <a:blip>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rcRect l="27758" r="27758"/>
          <a:stretch/>
        </p:blipFill>
        <p:spPr>
          <a:xfrm>
            <a:off x="20" y="10"/>
            <a:ext cx="4580077" cy="6857990"/>
          </a:xfrm>
          <a:prstGeom prst="rect">
            <a:avLst/>
          </a:prstGeom>
        </p:spPr>
      </p:pic>
      <p:cxnSp>
        <p:nvCxnSpPr>
          <p:cNvPr id="22" name="Straight Connector 21">
            <a:extLst>
              <a:ext uri="{FF2B5EF4-FFF2-40B4-BE49-F238E27FC236}">
                <a16:creationId xmlns:a16="http://schemas.microsoft.com/office/drawing/2014/main" id="{AB798469-3F1E-0E0E-E22B-BA30AF7F4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1FAE0C0D-44F1-1476-AF8D-C302183C8271}"/>
              </a:ext>
            </a:extLst>
          </p:cNvPr>
          <p:cNvSpPr>
            <a:spLocks noGrp="1"/>
          </p:cNvSpPr>
          <p:nvPr>
            <p:ph idx="1"/>
          </p:nvPr>
        </p:nvSpPr>
        <p:spPr>
          <a:xfrm>
            <a:off x="5172074" y="2108201"/>
            <a:ext cx="6722214" cy="4463196"/>
          </a:xfrm>
        </p:spPr>
        <p:txBody>
          <a:bodyPr vert="horz" lIns="0" tIns="45720" rIns="0" bIns="45720" rtlCol="0">
            <a:normAutofit/>
          </a:bodyPr>
          <a:lstStyle/>
          <a:p>
            <a:pPr marL="87313" indent="0">
              <a:buFont typeface="Calibri" panose="020F0502020204030204" pitchFamily="34" charset="0"/>
              <a:buNone/>
            </a:pPr>
            <a:r>
              <a:rPr lang="en-GB" dirty="0">
                <a:latin typeface="+mj-lt"/>
              </a:rPr>
              <a:t>Increasing voltage generally increases speed.</a:t>
            </a:r>
          </a:p>
          <a:p>
            <a:pPr marL="87313" indent="0">
              <a:buFont typeface="Calibri" panose="020F0502020204030204" pitchFamily="34" charset="0"/>
              <a:buNone/>
            </a:pPr>
            <a:r>
              <a:rPr lang="en-GB" dirty="0">
                <a:latin typeface="+mj-lt"/>
              </a:rPr>
              <a:t>At a given speed, more voltage can provide more current and torque margin.</a:t>
            </a:r>
          </a:p>
          <a:p>
            <a:pPr marL="87313" indent="0">
              <a:buFont typeface="Calibri" panose="020F0502020204030204" pitchFamily="34" charset="0"/>
              <a:buNone/>
            </a:pPr>
            <a:r>
              <a:rPr lang="en-GB" dirty="0">
                <a:latin typeface="+mj-lt"/>
              </a:rPr>
              <a:t>Stall current rises approximately with voltage in the simplified resistance model.</a:t>
            </a:r>
          </a:p>
          <a:p>
            <a:pPr marL="87313" indent="0">
              <a:buFont typeface="Calibri" panose="020F0502020204030204" pitchFamily="34" charset="0"/>
              <a:buNone/>
            </a:pPr>
            <a:r>
              <a:rPr lang="en-GB" dirty="0">
                <a:latin typeface="+mj-lt"/>
              </a:rPr>
              <a:t>Higher speed can increase friction, windage, commutation loss and mechanical stress.</a:t>
            </a:r>
          </a:p>
          <a:p>
            <a:pPr marL="87313" indent="0">
              <a:buFont typeface="Calibri" panose="020F0502020204030204" pitchFamily="34" charset="0"/>
              <a:buNone/>
            </a:pPr>
            <a:r>
              <a:rPr lang="en-GB" dirty="0">
                <a:latin typeface="+mj-lt"/>
              </a:rPr>
              <a:t>Supply voltage under load may be lower than its open-circuit value because of internal resistance, wiring drop or current limiting.</a:t>
            </a:r>
          </a:p>
        </p:txBody>
      </p:sp>
    </p:spTree>
    <p:extLst>
      <p:ext uri="{BB962C8B-B14F-4D97-AF65-F5344CB8AC3E}">
        <p14:creationId xmlns:p14="http://schemas.microsoft.com/office/powerpoint/2010/main" val="811669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alculating the torque and RPM requirements for a DC motor - Electrical ...">
            <a:extLst>
              <a:ext uri="{FF2B5EF4-FFF2-40B4-BE49-F238E27FC236}">
                <a16:creationId xmlns:a16="http://schemas.microsoft.com/office/drawing/2014/main" id="{966D95FC-2F6A-5DFB-3FF5-5C394A160EE2}"/>
              </a:ext>
            </a:extLst>
          </p:cNvPr>
          <p:cNvPicPr>
            <a:picLocks noChangeAspect="1"/>
          </p:cNvPicPr>
          <p:nvPr/>
        </p:nvPicPr>
        <p:blipFill>
          <a:blip r:embed="rId2"/>
          <a:stretch>
            <a:fillRect/>
          </a:stretch>
        </p:blipFill>
        <p:spPr>
          <a:xfrm>
            <a:off x="196576" y="58724"/>
            <a:ext cx="11798847" cy="6740552"/>
          </a:xfrm>
          <a:prstGeom prst="rect">
            <a:avLst/>
          </a:prstGeom>
        </p:spPr>
      </p:pic>
    </p:spTree>
    <p:extLst>
      <p:ext uri="{BB962C8B-B14F-4D97-AF65-F5344CB8AC3E}">
        <p14:creationId xmlns:p14="http://schemas.microsoft.com/office/powerpoint/2010/main" val="2354083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BAD8-D99E-005C-ED44-1B17BCCB53A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92581C-1CF3-7B2B-EE19-58BE721A45E2}"/>
              </a:ext>
            </a:extLst>
          </p:cNvPr>
          <p:cNvSpPr txBox="1"/>
          <p:nvPr/>
        </p:nvSpPr>
        <p:spPr>
          <a:xfrm>
            <a:off x="4628707" y="545805"/>
            <a:ext cx="7265581" cy="584775"/>
          </a:xfrm>
          <a:prstGeom prst="rect">
            <a:avLst/>
          </a:prstGeom>
          <a:noFill/>
        </p:spPr>
        <p:txBody>
          <a:bodyPr wrap="square">
            <a:spAutoFit/>
          </a:bodyPr>
          <a:lstStyle/>
          <a:p>
            <a:pPr indent="0" algn="r">
              <a:spcAft>
                <a:spcPts val="1200"/>
              </a:spcAft>
              <a:buNone/>
            </a:pPr>
            <a:r>
              <a:rPr lang="en-GB" sz="3200" b="1" dirty="0"/>
              <a:t>The Torque-Speed Curve</a:t>
            </a:r>
            <a:endParaRPr lang="en-AE" sz="3200" b="1" i="0" dirty="0">
              <a:solidFill>
                <a:srgbClr val="000000"/>
              </a:solidFill>
              <a:effectLst/>
              <a:latin typeface="Helvetica Neue"/>
            </a:endParaRPr>
          </a:p>
        </p:txBody>
      </p:sp>
      <p:pic>
        <p:nvPicPr>
          <p:cNvPr id="5" name="Picture 4">
            <a:extLst>
              <a:ext uri="{FF2B5EF4-FFF2-40B4-BE49-F238E27FC236}">
                <a16:creationId xmlns:a16="http://schemas.microsoft.com/office/drawing/2014/main" id="{CC5A83AA-6D83-B008-6601-CE647B7D2A83}"/>
              </a:ext>
            </a:extLst>
          </p:cNvPr>
          <p:cNvPicPr>
            <a:picLocks noChangeAspect="1"/>
          </p:cNvPicPr>
          <p:nvPr/>
        </p:nvPicPr>
        <p:blipFill>
          <a:blip r:embed="rId3"/>
          <a:stretch>
            <a:fillRect/>
          </a:stretch>
        </p:blipFill>
        <p:spPr>
          <a:xfrm>
            <a:off x="0" y="1940194"/>
            <a:ext cx="12192000" cy="2977612"/>
          </a:xfrm>
          <a:prstGeom prst="rect">
            <a:avLst/>
          </a:prstGeom>
        </p:spPr>
      </p:pic>
    </p:spTree>
    <p:extLst>
      <p:ext uri="{BB962C8B-B14F-4D97-AF65-F5344CB8AC3E}">
        <p14:creationId xmlns:p14="http://schemas.microsoft.com/office/powerpoint/2010/main" val="3967091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807832-F9B0-32DD-0343-0E65E6416E77}"/>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0049C08F-3986-DD86-0697-32210E4D4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cxnSp>
        <p:nvCxnSpPr>
          <p:cNvPr id="27" name="Straight Connector 26">
            <a:extLst>
              <a:ext uri="{FF2B5EF4-FFF2-40B4-BE49-F238E27FC236}">
                <a16:creationId xmlns:a16="http://schemas.microsoft.com/office/drawing/2014/main" id="{BDCCAAB7-72C3-833F-E2F3-CA093E2349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223FAD96-2D39-18E3-3A8E-C30DDAFAF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CE0CC6B9-3505-AEE4-CB07-2664CC70C0C0}"/>
              </a:ext>
            </a:extLst>
          </p:cNvPr>
          <p:cNvSpPr>
            <a:spLocks noGrp="1"/>
          </p:cNvSpPr>
          <p:nvPr>
            <p:ph type="title"/>
          </p:nvPr>
        </p:nvSpPr>
        <p:spPr>
          <a:xfrm>
            <a:off x="477078" y="516836"/>
            <a:ext cx="3100136" cy="1960234"/>
          </a:xfrm>
        </p:spPr>
        <p:txBody>
          <a:bodyPr vert="horz" lIns="91440" tIns="45720" rIns="91440" bIns="45720" rtlCol="0" anchor="b">
            <a:normAutofit/>
          </a:bodyPr>
          <a:lstStyle/>
          <a:p>
            <a:r>
              <a:rPr lang="en-GB" sz="4800" dirty="0">
                <a:solidFill>
                  <a:schemeClr val="tx1"/>
                </a:solidFill>
              </a:rPr>
              <a:t>The Curves</a:t>
            </a:r>
            <a:endParaRPr lang="en-US" sz="4800" dirty="0">
              <a:solidFill>
                <a:schemeClr val="tx1"/>
              </a:solidFill>
            </a:endParaRPr>
          </a:p>
        </p:txBody>
      </p:sp>
      <p:cxnSp>
        <p:nvCxnSpPr>
          <p:cNvPr id="31" name="Straight Connector 30">
            <a:extLst>
              <a:ext uri="{FF2B5EF4-FFF2-40B4-BE49-F238E27FC236}">
                <a16:creationId xmlns:a16="http://schemas.microsoft.com/office/drawing/2014/main" id="{C368CCF6-558D-49CE-9BBE-3F41A227F7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927" y="2633962"/>
            <a:ext cx="28346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9" name="Picture Placeholder 8">
            <a:extLst>
              <a:ext uri="{FF2B5EF4-FFF2-40B4-BE49-F238E27FC236}">
                <a16:creationId xmlns:a16="http://schemas.microsoft.com/office/drawing/2014/main" id="{F5899E72-30FF-AF24-6908-4AC76869FB5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5241" r="-5197" b="-45"/>
          <a:stretch>
            <a:fillRect/>
          </a:stretch>
        </p:blipFill>
        <p:spPr>
          <a:xfrm>
            <a:off x="4080728" y="10"/>
            <a:ext cx="8111272" cy="6857990"/>
          </a:xfrm>
          <a:prstGeom prst="rect">
            <a:avLst/>
          </a:prstGeom>
        </p:spPr>
      </p:pic>
    </p:spTree>
    <p:extLst>
      <p:ext uri="{BB962C8B-B14F-4D97-AF65-F5344CB8AC3E}">
        <p14:creationId xmlns:p14="http://schemas.microsoft.com/office/powerpoint/2010/main" val="2802288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90BB-45F7-31C0-8718-3D4E2D09AF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872A06-4E27-33A4-7D21-D66534B13C30}"/>
              </a:ext>
            </a:extLst>
          </p:cNvPr>
          <p:cNvSpPr txBox="1"/>
          <p:nvPr/>
        </p:nvSpPr>
        <p:spPr>
          <a:xfrm>
            <a:off x="4628707" y="545805"/>
            <a:ext cx="7265581" cy="1077218"/>
          </a:xfrm>
          <a:prstGeom prst="rect">
            <a:avLst/>
          </a:prstGeom>
          <a:noFill/>
        </p:spPr>
        <p:txBody>
          <a:bodyPr wrap="square">
            <a:spAutoFit/>
          </a:bodyPr>
          <a:lstStyle/>
          <a:p>
            <a:pPr indent="0" algn="r">
              <a:spcAft>
                <a:spcPts val="1200"/>
              </a:spcAft>
              <a:buNone/>
            </a:pPr>
            <a:r>
              <a:rPr lang="en-GB" sz="3200" b="1" dirty="0"/>
              <a:t>Current-Torque and Current-Speed Relationships</a:t>
            </a:r>
            <a:endParaRPr lang="en-AE" sz="3200" b="1" i="0" dirty="0">
              <a:solidFill>
                <a:srgbClr val="000000"/>
              </a:solidFill>
              <a:effectLst/>
              <a:latin typeface="Helvetica Neue"/>
            </a:endParaRPr>
          </a:p>
        </p:txBody>
      </p:sp>
      <p:pic>
        <p:nvPicPr>
          <p:cNvPr id="3" name="Picture 2">
            <a:extLst>
              <a:ext uri="{FF2B5EF4-FFF2-40B4-BE49-F238E27FC236}">
                <a16:creationId xmlns:a16="http://schemas.microsoft.com/office/drawing/2014/main" id="{DEFB28F8-E789-DC9C-ABEA-A01B8589CF94}"/>
              </a:ext>
            </a:extLst>
          </p:cNvPr>
          <p:cNvPicPr>
            <a:picLocks noChangeAspect="1"/>
          </p:cNvPicPr>
          <p:nvPr/>
        </p:nvPicPr>
        <p:blipFill>
          <a:blip r:embed="rId3"/>
          <a:stretch>
            <a:fillRect/>
          </a:stretch>
        </p:blipFill>
        <p:spPr>
          <a:xfrm>
            <a:off x="0" y="1840532"/>
            <a:ext cx="12192000" cy="3559708"/>
          </a:xfrm>
          <a:prstGeom prst="rect">
            <a:avLst/>
          </a:prstGeom>
        </p:spPr>
      </p:pic>
    </p:spTree>
    <p:extLst>
      <p:ext uri="{BB962C8B-B14F-4D97-AF65-F5344CB8AC3E}">
        <p14:creationId xmlns:p14="http://schemas.microsoft.com/office/powerpoint/2010/main" val="2926373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8">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cxnSp>
        <p:nvCxnSpPr>
          <p:cNvPr id="27" name="Straight Connector 30">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8" name="Rectangle 32">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B8B72B13-069B-4F8A-9437-FA58C3F1D44B}"/>
              </a:ext>
            </a:extLst>
          </p:cNvPr>
          <p:cNvSpPr>
            <a:spLocks noGrp="1"/>
          </p:cNvSpPr>
          <p:nvPr>
            <p:ph type="title"/>
          </p:nvPr>
        </p:nvSpPr>
        <p:spPr>
          <a:xfrm>
            <a:off x="477077" y="516836"/>
            <a:ext cx="3697683" cy="1960234"/>
          </a:xfrm>
        </p:spPr>
        <p:txBody>
          <a:bodyPr vert="horz" lIns="91440" tIns="45720" rIns="91440" bIns="45720" rtlCol="0" anchor="b">
            <a:noAutofit/>
          </a:bodyPr>
          <a:lstStyle/>
          <a:p>
            <a:r>
              <a:rPr lang="en-GB" sz="4400" dirty="0">
                <a:solidFill>
                  <a:schemeClr val="tx1"/>
                </a:solidFill>
              </a:rPr>
              <a:t>Read the Motor Data Sheet</a:t>
            </a:r>
            <a:endParaRPr lang="en-US" sz="4400" dirty="0">
              <a:solidFill>
                <a:schemeClr val="tx1"/>
              </a:solidFill>
            </a:endParaRPr>
          </a:p>
        </p:txBody>
      </p:sp>
      <p:cxnSp>
        <p:nvCxnSpPr>
          <p:cNvPr id="30" name="Straight Connector 34">
            <a:extLst>
              <a:ext uri="{FF2B5EF4-FFF2-40B4-BE49-F238E27FC236}">
                <a16:creationId xmlns:a16="http://schemas.microsoft.com/office/drawing/2014/main" id="{5A0A5CF6-407C-4691-8122-49DF69D002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927" y="2633962"/>
            <a:ext cx="28346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2281D70C-EE29-493E-838C-890184A02C07}"/>
              </a:ext>
            </a:extLst>
          </p:cNvPr>
          <p:cNvSpPr>
            <a:spLocks noGrp="1"/>
          </p:cNvSpPr>
          <p:nvPr>
            <p:ph idx="1"/>
          </p:nvPr>
        </p:nvSpPr>
        <p:spPr>
          <a:xfrm>
            <a:off x="492371" y="2790855"/>
            <a:ext cx="3084844" cy="3311766"/>
          </a:xfrm>
        </p:spPr>
        <p:txBody>
          <a:bodyPr vert="horz" lIns="0" tIns="45720" rIns="0" bIns="45720" rtlCol="0">
            <a:normAutofit/>
          </a:bodyPr>
          <a:lstStyle/>
          <a:p>
            <a:pPr marL="0" indent="0">
              <a:buFont typeface="Calibri" panose="020F0502020204030204" pitchFamily="34" charset="0"/>
              <a:buNone/>
            </a:pPr>
            <a:r>
              <a:rPr lang="en-GB" dirty="0">
                <a:latin typeface="+mj-lt"/>
              </a:rPr>
              <a:t>Some suppliers provide only typical values, use different test conditions, or omit continuous thermal ratings. Record source, model and assumptions.</a:t>
            </a:r>
            <a:endParaRPr lang="en-US" dirty="0">
              <a:latin typeface="+mj-lt"/>
            </a:endParaRPr>
          </a:p>
        </p:txBody>
      </p:sp>
      <p:pic>
        <p:nvPicPr>
          <p:cNvPr id="9" name="Picture Placeholder 8">
            <a:extLst>
              <a:ext uri="{FF2B5EF4-FFF2-40B4-BE49-F238E27FC236}">
                <a16:creationId xmlns:a16="http://schemas.microsoft.com/office/drawing/2014/main" id="{73634FB2-CF5B-4C8E-9EF0-593506A28F3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4080728" y="10"/>
            <a:ext cx="8111272" cy="6857990"/>
          </a:xfrm>
          <a:prstGeom prst="rect">
            <a:avLst/>
          </a:prstGeom>
        </p:spPr>
      </p:pic>
    </p:spTree>
    <p:extLst>
      <p:ext uri="{BB962C8B-B14F-4D97-AF65-F5344CB8AC3E}">
        <p14:creationId xmlns:p14="http://schemas.microsoft.com/office/powerpoint/2010/main" val="2225727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A7C45DDD-A694-4705-892B-497F786E9683}"/>
              </a:ext>
            </a:extLst>
          </p:cNvPr>
          <p:cNvPicPr>
            <a:picLocks noGrp="1" noChangeAspect="1"/>
          </p:cNvPicPr>
          <p:nvPr>
            <p:ph type="pic" idx="1"/>
          </p:nvPr>
        </p:nvPicPr>
        <p:blipFill>
          <a:blip r:embed="rId3">
            <a:grayscl/>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3098"/>
          <a:stretch>
            <a:fillRect/>
          </a:stretch>
        </p:blipFill>
        <p:spPr>
          <a:xfrm>
            <a:off x="15" y="0"/>
            <a:ext cx="12191985" cy="4578350"/>
          </a:xfrm>
        </p:spPr>
      </p:pic>
      <p:sp>
        <p:nvSpPr>
          <p:cNvPr id="7" name="Title 6">
            <a:extLst>
              <a:ext uri="{FF2B5EF4-FFF2-40B4-BE49-F238E27FC236}">
                <a16:creationId xmlns:a16="http://schemas.microsoft.com/office/drawing/2014/main" id="{E444079D-629C-4C44-8DB6-B4B5E7C54015}"/>
              </a:ext>
            </a:extLst>
          </p:cNvPr>
          <p:cNvSpPr>
            <a:spLocks noGrp="1"/>
          </p:cNvSpPr>
          <p:nvPr>
            <p:ph type="title"/>
          </p:nvPr>
        </p:nvSpPr>
        <p:spPr/>
        <p:txBody>
          <a:bodyPr/>
          <a:lstStyle/>
          <a:p>
            <a:r>
              <a:rPr lang="en-US" dirty="0"/>
              <a:t>Wrap Up</a:t>
            </a:r>
          </a:p>
        </p:txBody>
      </p:sp>
    </p:spTree>
    <p:extLst>
      <p:ext uri="{BB962C8B-B14F-4D97-AF65-F5344CB8AC3E}">
        <p14:creationId xmlns:p14="http://schemas.microsoft.com/office/powerpoint/2010/main" val="1664008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cxnSp>
        <p:nvCxnSpPr>
          <p:cNvPr id="15" name="Straight Connector 14">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365BF64-4B30-4125-9A30-A1B08C80ED7D}"/>
              </a:ext>
            </a:extLst>
          </p:cNvPr>
          <p:cNvSpPr>
            <a:spLocks noGrp="1"/>
          </p:cNvSpPr>
          <p:nvPr>
            <p:ph type="title"/>
          </p:nvPr>
        </p:nvSpPr>
        <p:spPr>
          <a:xfrm>
            <a:off x="1097280" y="758952"/>
            <a:ext cx="10058400" cy="3892168"/>
          </a:xfrm>
        </p:spPr>
        <p:txBody>
          <a:bodyPr vert="horz" lIns="91440" tIns="45720" rIns="91440" bIns="45720" rtlCol="0" anchor="b">
            <a:normAutofit/>
          </a:bodyPr>
          <a:lstStyle/>
          <a:p>
            <a:r>
              <a:rPr lang="en-US" sz="9600" dirty="0">
                <a:solidFill>
                  <a:srgbClr val="FFFFFF"/>
                </a:solidFill>
                <a:latin typeface="+mj-lt"/>
              </a:rPr>
              <a:t>Thank you</a:t>
            </a:r>
          </a:p>
        </p:txBody>
      </p:sp>
      <p:sp>
        <p:nvSpPr>
          <p:cNvPr id="19" name="Rectangle 1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E"/>
          </a:p>
        </p:txBody>
      </p:sp>
      <p:sp>
        <p:nvSpPr>
          <p:cNvPr id="8" name="Content Placeholder 7">
            <a:extLst>
              <a:ext uri="{FF2B5EF4-FFF2-40B4-BE49-F238E27FC236}">
                <a16:creationId xmlns:a16="http://schemas.microsoft.com/office/drawing/2014/main" id="{D4305886-8ACA-4ED6-AA5B-215F6D741CF0}"/>
              </a:ext>
            </a:extLst>
          </p:cNvPr>
          <p:cNvSpPr>
            <a:spLocks noGrp="1"/>
          </p:cNvSpPr>
          <p:nvPr>
            <p:ph idx="1"/>
          </p:nvPr>
        </p:nvSpPr>
        <p:spPr>
          <a:xfrm>
            <a:off x="1100051" y="5225240"/>
            <a:ext cx="10058400" cy="1143000"/>
          </a:xfrm>
        </p:spPr>
        <p:txBody>
          <a:bodyPr vert="horz" lIns="91440" tIns="45720" rIns="91440" bIns="45720" rtlCol="0">
            <a:normAutofit/>
          </a:bodyPr>
          <a:lstStyle/>
          <a:p>
            <a:pPr marL="0" indent="0">
              <a:buNone/>
            </a:pPr>
            <a:r>
              <a:rPr lang="en-US" sz="2400" cap="all" spc="200" dirty="0">
                <a:solidFill>
                  <a:srgbClr val="FFFFFF"/>
                </a:solidFill>
              </a:rPr>
              <a:t>Questions?</a:t>
            </a:r>
          </a:p>
        </p:txBody>
      </p:sp>
    </p:spTree>
    <p:extLst>
      <p:ext uri="{BB962C8B-B14F-4D97-AF65-F5344CB8AC3E}">
        <p14:creationId xmlns:p14="http://schemas.microsoft.com/office/powerpoint/2010/main" val="4127971368"/>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lassic Company All Hands_Win32_MS v3" id="{1F352A5D-0EBE-49A2-9FF7-DEF81AB6F3C6}" vid="{D35781EA-2188-4D84-8966-791644CE13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41CA7C-A0BF-44EF-B2E5-7539C3B9B0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4E879E6-8FFE-4154-8F2A-F7518B89B376}">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7E0A2CB4-6869-426F-8BC4-A32C90CBE2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Classic company all hands presentation</Template>
  <TotalTime>51</TotalTime>
  <Words>1251</Words>
  <Application>Microsoft Office PowerPoint</Application>
  <PresentationFormat>Widescreen</PresentationFormat>
  <Paragraphs>105</Paragraphs>
  <Slides>27</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Calibri</vt:lpstr>
      <vt:lpstr>Calibri Light</vt:lpstr>
      <vt:lpstr>Helvetica Neue</vt:lpstr>
      <vt:lpstr>Wingdings</vt:lpstr>
      <vt:lpstr>RetrospectVTI</vt:lpstr>
      <vt:lpstr>Practical DC Motors and Geared Motors</vt:lpstr>
      <vt:lpstr>The Types</vt:lpstr>
      <vt:lpstr>Scope</vt:lpstr>
      <vt:lpstr>The Motor That Spins but Does Not Work</vt:lpstr>
      <vt:lpstr>What would you blame first, and what result would help distinguish these causes?</vt:lpstr>
      <vt:lpstr>PowerPoint Presentation</vt:lpstr>
      <vt:lpstr>What Does a Motor Convert?</vt:lpstr>
      <vt:lpstr>PowerPoint Presentation</vt:lpstr>
      <vt:lpstr>Brushes: Useful, Wearable, Noisy</vt:lpstr>
      <vt:lpstr>PowerPoint Presentation</vt:lpstr>
      <vt:lpstr>What Makes the Rotor Turn?</vt:lpstr>
      <vt:lpstr>PowerPoint Presentation</vt:lpstr>
      <vt:lpstr>PowerPoint Presentation</vt:lpstr>
      <vt:lpstr>PowerPoint Presentation</vt:lpstr>
      <vt:lpstr>Back EMF</vt:lpstr>
      <vt:lpstr>PowerPoint Presentation</vt:lpstr>
      <vt:lpstr>Estimating Stall Current Carefully</vt:lpstr>
      <vt:lpstr>PowerPoint Presentation</vt:lpstr>
      <vt:lpstr>PowerPoint Presentation</vt:lpstr>
      <vt:lpstr>Voltage, Speed and Current</vt:lpstr>
      <vt:lpstr>PowerPoint Presentation</vt:lpstr>
      <vt:lpstr>PowerPoint Presentation</vt:lpstr>
      <vt:lpstr>The Curves</vt:lpstr>
      <vt:lpstr>PowerPoint Presentation</vt:lpstr>
      <vt:lpstr>Read the Motor Data Sheet</vt:lpstr>
      <vt:lpstr>Wrap Up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Akbar</dc:creator>
  <cp:lastModifiedBy>Akbar</cp:lastModifiedBy>
  <cp:revision>11</cp:revision>
  <dcterms:created xsi:type="dcterms:W3CDTF">2026-10-21T18:21:36Z</dcterms:created>
  <dcterms:modified xsi:type="dcterms:W3CDTF">2026-10-21T19:13:12Z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