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7" d="100"/>
          <a:sy n="137" d="100"/>
        </p:scale>
        <p:origin x="1186" y="10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25440"/>
          </a:xfrm>
        </p:spPr>
        <p:txBody>
          <a:bodyPr>
            <a:noAutofit/>
          </a:bodyPr>
          <a:lstStyle/>
          <a:p>
            <a:r>
              <a:rPr sz="2400" dirty="0"/>
              <a:t>## [Module/Unit Code: 4006] • [Assignment/Task Title]</a:t>
            </a:r>
          </a:p>
          <a:p>
            <a:r>
              <a:rPr sz="2400" dirty="0"/>
              <a:t>### [Student Name] • [Student ID] • [Date]</a:t>
            </a:r>
          </a:p>
          <a:p>
            <a:r>
              <a:rPr sz="2400" dirty="0"/>
              <a:t>Mechatronic system: [System name / rig / trainer /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21308"/>
          </a:xfrm>
        </p:spPr>
        <p:txBody>
          <a:bodyPr>
            <a:noAutofit/>
          </a:bodyPr>
          <a:lstStyle/>
          <a:p>
            <a:r>
              <a:rPr sz="2400" dirty="0"/>
              <a:t>## This presentation must be your own work</a:t>
            </a:r>
          </a:p>
          <a:p>
            <a:r>
              <a:rPr sz="2400" dirty="0"/>
              <a:t>Do not copy: no copy/paste from manuals, datasheets, websites, classmates, or AI output.</a:t>
            </a:r>
          </a:p>
          <a:p>
            <a:r>
              <a:rPr sz="2400" dirty="0"/>
              <a:t>Do use sources: to understand concepts, pinouts, specs, test procedures, and safety requirements.</a:t>
            </a:r>
          </a:p>
          <a:p>
            <a:r>
              <a:rPr sz="2400" dirty="0"/>
              <a:t>Do paraphrase: read → close the page → write from memory → check accuracy.</a:t>
            </a:r>
          </a:p>
          <a:p>
            <a:r>
              <a:rPr sz="2400" dirty="0"/>
              <a:t>Do cite: include a small reference on relevant slides and a full list at the end.</a:t>
            </a:r>
          </a:p>
          <a:p>
            <a:r>
              <a:rPr sz="2400" dirty="0"/>
              <a:t>If you use AI/tools: explain how you used them (e.g., “helped me plan a test sequence”), but the analysis and wording must be yours.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6343611"/>
          </a:xfrm>
        </p:spPr>
        <p:txBody>
          <a:bodyPr>
            <a:noAutofit/>
          </a:bodyPr>
          <a:lstStyle/>
          <a:p>
            <a:r>
              <a:rPr sz="2400" dirty="0"/>
              <a:t>## Fault finding skills + fault analysis on a mechatronic system</a:t>
            </a:r>
          </a:p>
          <a:p>
            <a:r>
              <a:rPr sz="2400" dirty="0"/>
              <a:t>You are aiming to show you can:</a:t>
            </a:r>
          </a:p>
          <a:p>
            <a:r>
              <a:rPr sz="2400" dirty="0"/>
              <a:t>Understand the original correct function of the system</a:t>
            </a:r>
          </a:p>
          <a:p>
            <a:r>
              <a:rPr sz="2400" dirty="0"/>
              <a:t>Use documentation (datasheets, drawings, schematics, manuals)</a:t>
            </a:r>
          </a:p>
          <a:p>
            <a:r>
              <a:rPr sz="2400" dirty="0"/>
              <a:t>Use instrumentation safely (multimeter, flow/temp/pressure meters, etc.)</a:t>
            </a:r>
          </a:p>
          <a:p>
            <a:r>
              <a:rPr sz="2400" dirty="0"/>
              <a:t>Apply methodical fault location techniques and use control software if available</a:t>
            </a:r>
          </a:p>
          <a:p>
            <a:r>
              <a:rPr sz="2400" dirty="0"/>
              <a:t>Identify, verify, and rectify faults; test and return to service</a:t>
            </a:r>
          </a:p>
          <a:p>
            <a:r>
              <a:rPr sz="2400" dirty="0"/>
              <a:t>Work with a safety-first culture (risk assessment, compliance, procedures)</a:t>
            </a:r>
          </a:p>
          <a:p>
            <a:r>
              <a:rPr sz="2400" dirty="0"/>
              <a:t>Use data collection &amp; management (logs, dashboards, databases) and document control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71128"/>
          </a:xfrm>
        </p:spPr>
        <p:txBody>
          <a:bodyPr>
            <a:noAutofit/>
          </a:bodyPr>
          <a:lstStyle/>
          <a:p>
            <a:r>
              <a:rPr sz="2400" dirty="0"/>
              <a:t>## Use this template as structure, not as finished text</a:t>
            </a:r>
          </a:p>
          <a:p>
            <a:r>
              <a:rPr sz="2400" dirty="0"/>
              <a:t>The wording in [EXAMPLE] blocks is starter phrasing.</a:t>
            </a:r>
          </a:p>
          <a:p>
            <a:r>
              <a:rPr sz="2400" dirty="0"/>
              <a:t>Replace it with your own system details, your results, and your reasoning.</a:t>
            </a:r>
          </a:p>
          <a:p>
            <a:r>
              <a:rPr sz="2400" dirty="0"/>
              <a:t>You can reorder slides if your project needs a different flow.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99006"/>
          </a:xfrm>
        </p:spPr>
        <p:txBody>
          <a:bodyPr>
            <a:noAutofit/>
          </a:bodyPr>
          <a:lstStyle/>
          <a:p>
            <a:r>
              <a:rPr sz="2400" dirty="0"/>
              <a:t>System overview + normal operation</a:t>
            </a:r>
          </a:p>
          <a:p>
            <a:r>
              <a:rPr sz="2400" dirty="0"/>
              <a:t>Safety, compliance, and risk assessment</a:t>
            </a:r>
          </a:p>
          <a:p>
            <a:r>
              <a:rPr sz="2400" dirty="0"/>
              <a:t>Documentation used (datasheets/manuals/schematics)</a:t>
            </a:r>
          </a:p>
          <a:p>
            <a:r>
              <a:rPr sz="2400" dirty="0"/>
              <a:t>Fault symptoms + evidence capture</a:t>
            </a:r>
          </a:p>
          <a:p>
            <a:r>
              <a:rPr sz="2400" dirty="0"/>
              <a:t>Methodical fault location plan</a:t>
            </a:r>
          </a:p>
          <a:p>
            <a:r>
              <a:rPr sz="2400" dirty="0"/>
              <a:t>Test equipment: safe use + settings + limitations</a:t>
            </a:r>
          </a:p>
          <a:p>
            <a:r>
              <a:rPr sz="2400" dirty="0"/>
              <a:t>Results: measurements, logs, screenshots</a:t>
            </a:r>
          </a:p>
          <a:p>
            <a:r>
              <a:rPr sz="2400" dirty="0"/>
              <a:t>Fault identification, cause analysis, and verification</a:t>
            </a:r>
          </a:p>
          <a:p>
            <a:r>
              <a:rPr sz="2400" dirty="0"/>
              <a:t>Rectification steps + retest + return to service</a:t>
            </a:r>
          </a:p>
          <a:p>
            <a:r>
              <a:rPr sz="2400" dirty="0"/>
              <a:t>Reliability improvements (design amendments)</a:t>
            </a:r>
          </a:p>
          <a:p>
            <a:r>
              <a:rPr sz="2400" dirty="0"/>
              <a:t>Conclusion + references + appendices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Your assessor should be able to answer:</a:t>
            </a:r>
          </a:p>
          <a:p>
            <a:r>
              <a:t>What was the system supposed to do?</a:t>
            </a:r>
          </a:p>
          <a:p>
            <a:r>
              <a:t>What went wrong (symptoms), and how do you know?</a:t>
            </a:r>
          </a:p>
          <a:p>
            <a:r>
              <a:t>What tests did you run, in what order, and why?</a:t>
            </a:r>
          </a:p>
          <a:p>
            <a:r>
              <a:t>How did you use instruments safely and correctly?</a:t>
            </a:r>
          </a:p>
          <a:p>
            <a:r>
              <a:t>How did you decide the fault cause (not just a guess)?</a:t>
            </a:r>
          </a:p>
          <a:p>
            <a:r>
              <a:t>What did you change to fix it?</a:t>
            </a:r>
          </a:p>
          <a:p>
            <a:r>
              <a:t>How did you verify it’s fixed and safe to return to service?</a:t>
            </a:r>
          </a:p>
          <a:p>
            <a:r>
              <a:t>What design changes would reduce recurrence?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System/rig: [e.g., LEGO EV3 pick-and-place arm / conveyor + sensor + PLC / ESP32 robot arm / pneumatic actuator station]</a:t>
            </a:r>
          </a:p>
          <a:p>
            <a:r>
              <a:t>Operating environment: [lab bench / workshop / simulated]</a:t>
            </a:r>
          </a:p>
          <a:p>
            <a:r>
              <a:t>Stakeholders/users: [technician, operator, student]</a:t>
            </a:r>
          </a:p>
          <a:p>
            <a:r>
              <a:t>Constraints: [time, tools available, access restrictions, safety rules]</a:t>
            </a:r>
          </a:p>
          <a:p>
            <a:r>
              <a:t>[EXAMPLE]</a:t>
            </a:r>
          </a:p>
          <a:p>
            <a:r>
              <a:t>“The system is a small pick-and-place station using a DC motor conveyor, a photoelectric sensor for part detection, and a microcontroller that drives a relay for the motor.”</a:t>
            </a:r>
          </a:p>
          <a:p>
            <a:r>
              <a:t>[EV3-ALIGNED EXAMPLE]</a:t>
            </a:r>
          </a:p>
          <a:p>
            <a:r>
              <a:t>“The system is a LEGO EV3 robotic arm with three motors (base rotation, arm lift, claw open/close) and an object-detection sensor. The EV3 brick runs a block program that detects an object, closes the claw, lifts, rotates, and places the object at a target location.”</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LEGO EV3 pick-and-place arm (to help you visualise LO4)</a:t>
            </a:r>
          </a:p>
          <a:p>
            <a:r>
              <a:t>Use this slide if your project is the EV3 arm, or adapt it if you used a different system.</a:t>
            </a:r>
          </a:p>
          <a:p>
            <a:r>
              <a:t>Controller: EV3 Brick (ports + firmware + program)</a:t>
            </a:r>
          </a:p>
          <a:p>
            <a:r>
              <a:t>Actuators: 3× EV3 motors (with built-in rotation sensing/encoders)</a:t>
            </a:r>
          </a:p>
          <a:p>
            <a:r>
              <a:t>Sensor: [Touch / Ultrasonic / Color / IR] used for object detection</a:t>
            </a:r>
          </a:p>
          <a:p>
            <a:r>
              <a:t>Power: EV3 battery pack</a:t>
            </a:r>
          </a:p>
          <a:p>
            <a:r>
              <a:t>Mechanics: gears, beams, linkages, claw mechanism</a:t>
            </a:r>
          </a:p>
          <a:p>
            <a:r>
              <a:t>Keep it open-ended:</a:t>
            </a:r>
          </a:p>
          <a:p>
            <a:r>
              <a:t>If your build differs (different sensor, different movement sequence, different gripper), explain your version.</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Define what is “inside” your investigation:</a:t>
            </a:r>
          </a:p>
          <a:p>
            <a:r>
              <a:t>Included subsystems: [power, sensors, actuators, controller, comms, HMI]</a:t>
            </a:r>
          </a:p>
          <a:p>
            <a:r>
              <a:t>Excluded items: [facility power upstream of socket, compressed air supply beyond regulator, etc.]</a:t>
            </a:r>
          </a:p>
          <a:p>
            <a:r>
              <a:t>Assumptions: [known-good PSU, known-good code baseline, etc.]</a:t>
            </a:r>
          </a:p>
          <a:p>
            <a:r>
              <a:t>Why this matters: It makes your investigation fair, focused, and reproducible.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Insert a simple diagram:</a:t>
            </a:r>
          </a:p>
          <a:p>
            <a:r>
              <a:t>Inputs → processing/control → outputs</a:t>
            </a:r>
          </a:p>
          <a:p>
            <a:r>
              <a:t>Show energy flows (electrical / pneumatic / hydraulic / thermal)</a:t>
            </a:r>
          </a:p>
          <a:p>
            <a:r>
              <a:t>Include:</a:t>
            </a:r>
          </a:p>
          <a:p>
            <a:r>
              <a:t>Power source(s)</a:t>
            </a:r>
          </a:p>
          <a:p>
            <a:r>
              <a:t>Controller(s)</a:t>
            </a:r>
          </a:p>
          <a:p>
            <a:r>
              <a:t>Sensors</a:t>
            </a:r>
          </a:p>
          <a:p>
            <a:r>
              <a:t>Actuators</a:t>
            </a:r>
          </a:p>
          <a:p>
            <a:r>
              <a:t>Communication links</a:t>
            </a:r>
          </a:p>
          <a:p>
            <a:r>
              <a:t>[PLACEHOLDER: insert block diagram image]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What should happen when it is working?</a:t>
            </a:r>
          </a:p>
          <a:p>
            <a:r>
              <a:t>Describe the intended function:</a:t>
            </a:r>
          </a:p>
          <a:p>
            <a:r>
              <a:t>Start-up sequence</a:t>
            </a:r>
          </a:p>
          <a:p>
            <a:r>
              <a:t>Normal steady-state behaviour</a:t>
            </a:r>
          </a:p>
          <a:p>
            <a:r>
              <a:t>Shutdown behaviour</a:t>
            </a:r>
          </a:p>
          <a:p>
            <a:r>
              <a:t>Typical setpoints / ranges</a:t>
            </a:r>
          </a:p>
          <a:p>
            <a:r>
              <a:t>[EXAMPLE]</a:t>
            </a:r>
          </a:p>
          <a:p>
            <a:r>
              <a:t>“When enabled, the controller reads the temperature sensor every 500 ms and controls the fan to maintain 35–40°C. The display updates every second.”</a:t>
            </a:r>
          </a:p>
          <a:p>
            <a:r>
              <a:t>[EV3-ALIGNED EXAMPLE]</a:t>
            </a:r>
          </a:p>
          <a:p>
            <a:r>
              <a:t>“When the program starts, the EV3 checks the sensor reading. When an object is detected, the claw closes, the arm lifts to a safe height, the base rotates to the drop-off position, the claw opens to release the object, then the arm returns to home and waits for the next object.”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List measurable criteria:</a:t>
            </a:r>
          </a:p>
          <a:p>
            <a:r>
              <a:t>Output performance: [speed, position error, pressure, temperature]</a:t>
            </a:r>
          </a:p>
          <a:p>
            <a:r>
              <a:t>Safety behaviour: [E-stop response, interlocks]</a:t>
            </a:r>
          </a:p>
          <a:p>
            <a:r>
              <a:t>Electrical limits: [current draw, voltage rails]</a:t>
            </a:r>
          </a:p>
          <a:p>
            <a:r>
              <a:t>Software behaviour: [state transitions, alarms]</a:t>
            </a:r>
          </a:p>
          <a:p>
            <a:r>
              <a:t>[EXAMPLE]</a:t>
            </a:r>
          </a:p>
          <a:p>
            <a:r>
              <a:t>“5 V rail stays between 4.85–5.15 V under load; motor current &lt; 1.2 A; sensor output toggles cleanly; E-stop removes actuator power within 0.5 s.”</a:t>
            </a:r>
          </a:p>
          <a:p>
            <a:r>
              <a:t>[EV3-ALIGNED EXAMPLE]</a:t>
            </a:r>
          </a:p>
          <a:p>
            <a:r>
              <a:t>“The arm completes pick-and-place successfully at least 8/10 attempts with the same object.”</a:t>
            </a:r>
          </a:p>
          <a:p>
            <a:r>
              <a:t>“Base rotation returns to the same home position within ±5° (using motor rotation feedback).”</a:t>
            </a:r>
          </a:p>
          <a:p>
            <a:r>
              <a:t>“Claw closes without stalling (no repeated clicking/skipping) and holds the object for the full move.”</a:t>
            </a:r>
          </a:p>
          <a:p>
            <a:r>
              <a:t>“Sensor consistently detects the object at the intended distance/position (stable readings, no false triggers during motion).”</a:t>
            </a:r>
          </a:p>
          <a:p>
            <a:r>
              <a:t>“Battery voltage is within the expected operating range and does not dip excessively when motors start.”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 can use the acceptance criteria examples as inspiration.</a:t>
            </a:r>
          </a:p>
          <a:p>
            <a:r>
              <a:t>Replace all numbers with values relevant to your system and sources.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Explain and apply safety procedures</a:t>
            </a:r>
          </a:p>
          <a:p>
            <a:r>
              <a:t>Cover:</a:t>
            </a:r>
          </a:p>
          <a:p>
            <a:r>
              <a:t>Hazards: moving parts, pinch points, stored energy (spring/gravity), hot motors (after repeated runs), battery short-circuit risk, trip hazards from cables</a:t>
            </a:r>
          </a:p>
          <a:p>
            <a:r>
              <a:t>Controls: isolation, guarding, lock-out/tag-out (if applicable), PPE, safe distances</a:t>
            </a:r>
          </a:p>
          <a:p>
            <a:r>
              <a:t>Human factors: clear workspace, no loose clothing, one hand rule (where relevant), buddy checks</a:t>
            </a:r>
          </a:p>
          <a:p>
            <a:r>
              <a:t>[PLACEHOLDER: include photo of lab setup showing safe arrangement]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Provide a compact table:</a:t>
            </a:r>
          </a:p>
          <a:p>
            <a:r>
              <a:t>Hazard</a:t>
            </a:r>
          </a:p>
          <a:p>
            <a:r>
              <a:t>Who could be harmed</a:t>
            </a:r>
          </a:p>
          <a:p>
            <a:r>
              <a:t>Risk level (before)</a:t>
            </a:r>
          </a:p>
          <a:p>
            <a:r>
              <a:t>Control measures</a:t>
            </a:r>
          </a:p>
          <a:p>
            <a:r>
              <a:t>Risk level (after)</a:t>
            </a:r>
          </a:p>
          <a:p>
            <a:r>
              <a:t>[EXAMPLE]</a:t>
            </a:r>
          </a:p>
          <a:p>
            <a:r>
              <a:t>“Live measurements on mains PSU: risk high → use isolated bench supply, insulated probes, one-hand rule → risk medium/low.”</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List what you followed:</a:t>
            </a:r>
          </a:p>
          <a:p>
            <a:r>
              <a:t>University/lab safety policy documents</a:t>
            </a:r>
          </a:p>
          <a:p>
            <a:r>
              <a:t>Equipment manuals and safe operating procedures</a:t>
            </a:r>
          </a:p>
          <a:p>
            <a:r>
              <a:t>Relevant standards/guidance (only if you actually used them)</a:t>
            </a:r>
          </a:p>
          <a:p>
            <a:r>
              <a:t>Write honestly: It’s better to cite one real policy you followed than to list many you didn’t.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 not copy safety text from policy documents.</a:t>
            </a:r>
          </a:p>
          <a:p>
            <a:r>
              <a:t>Summarise the parts you actually followed and cite the document.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Component datasheets + drawings + manuals + fault reports</a:t>
            </a:r>
          </a:p>
          <a:p>
            <a:r>
              <a:t>Create a list of documents you used:</a:t>
            </a:r>
          </a:p>
          <a:p>
            <a:r>
              <a:t>Datasheets: [sensor model], [actuator model], [driver IC]</a:t>
            </a:r>
          </a:p>
          <a:p>
            <a:r>
              <a:t>System drawings: wiring diagram, schematic, P&amp;ID/flow diagram (if fluids)</a:t>
            </a:r>
          </a:p>
          <a:p>
            <a:r>
              <a:t>Manuals: controller, power supply, PLC, HMI</a:t>
            </a:r>
          </a:p>
          <a:p>
            <a:r>
              <a:t>Previous fault reports / maintenance logs (if provided)</a:t>
            </a:r>
          </a:p>
          <a:p>
            <a:r>
              <a:t>[PLACEHOLDER: add thumbnails/screenshots of key pages you used]</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searching, use:</a:t>
            </a:r>
          </a:p>
          <a:p>
            <a:r>
              <a:t>Exact part numbers (e.g., “MPX5700 datasheet PDF”)</a:t>
            </a:r>
          </a:p>
          <a:p>
            <a:r>
              <a:t>Manufacturer site first (then reputable distributors)</a:t>
            </a:r>
          </a:p>
          <a:p>
            <a:r>
              <a:t>Keywords: “application note”, “typical circuit”, “wiring diagram”, “troubleshooting”, “calibration”, “error codes”</a:t>
            </a:r>
          </a:p>
          <a:p>
            <a:r>
              <a:t>Search examples:</a:t>
            </a:r>
          </a:p>
          <a:p>
            <a:r>
              <a:t>“&lt;[SENSOR PART NO]&gt; output voltage vs pressure graph”</a:t>
            </a:r>
          </a:p>
          <a:p>
            <a:r>
              <a:t>“&lt;[DRIVER IC]&gt; typical application circuit”</a:t>
            </a:r>
          </a:p>
          <a:p>
            <a:r>
              <a:t>“&lt;[PLC MODEL]&gt; alarm code &lt;code&gt; meaning”</a:t>
            </a:r>
          </a:p>
          <a:p>
            <a:r>
              <a:t>Quality check: Prefer PDFs with manufacturer branding and revision numbers.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Explain how you managed documents/data:</a:t>
            </a:r>
          </a:p>
          <a:p>
            <a:r>
              <a:t>Storage location: [OneDrive/Teams/Git folder]</a:t>
            </a:r>
          </a:p>
          <a:p>
            <a:r>
              <a:t>Naming convention: [YYYY-MM-DD_system_testname_v1]</a:t>
            </a:r>
          </a:p>
          <a:p>
            <a:r>
              <a:t>Version control method: [Git / manual versioning]</a:t>
            </a:r>
          </a:p>
          <a:p>
            <a:r>
              <a:t>Access/authorisation: [who can edit vs view]</a:t>
            </a:r>
          </a:p>
          <a:p>
            <a:r>
              <a:t>[EXAMPLE]</a:t>
            </a:r>
          </a:p>
          <a:p>
            <a:r>
              <a:t>“All test logs stored in Teams &gt; Module &gt; Group X. Only group members had edit access; tutor had view access.”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Describe what you used (even if simple):</a:t>
            </a:r>
          </a:p>
          <a:p>
            <a:r>
              <a:t>Serial logs / CSV files</a:t>
            </a:r>
          </a:p>
          <a:p>
            <a:r>
              <a:t>Spreadsheet tables</a:t>
            </a:r>
          </a:p>
          <a:p>
            <a:r>
              <a:t>Database (if used)</a:t>
            </a:r>
          </a:p>
          <a:p>
            <a:r>
              <a:t>Dashboard (e.g., plotted trends)</a:t>
            </a:r>
          </a:p>
          <a:p>
            <a:r>
              <a:t>Include:</a:t>
            </a:r>
          </a:p>
          <a:p>
            <a:r>
              <a:t>What data points were captured</a:t>
            </a:r>
          </a:p>
          <a:p>
            <a:r>
              <a:t>Sampling rate (if relevant)</a:t>
            </a:r>
          </a:p>
          <a:p>
            <a:r>
              <a:t>Why those data help diagnose faults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Don’t paste raw datasheet paragraphs.</a:t>
            </a:r>
          </a:p>
          <a:p>
            <a:r>
              <a:t>Use datasheets to justify your chosen test limits and expected values.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the fault context:</a:t>
            </a:r>
          </a:p>
          <a:p>
            <a:r>
              <a:t>Was the fault pre-inserted by tutor or naturally occurring?</a:t>
            </a:r>
          </a:p>
          <a:p>
            <a:r>
              <a:t>What was the initial symptom?</a:t>
            </a:r>
          </a:p>
          <a:p>
            <a:r>
              <a:t>When does it happen (startup, under load, intermittently)?</a:t>
            </a:r>
          </a:p>
          <a:p>
            <a:r>
              <a:t>[EXAMPLE]</a:t>
            </a:r>
          </a:p>
          <a:p>
            <a:r>
              <a:t>“The motor sometimes fails to start; when it does start, speed is unstable and the controller reports an undervoltage warning.”</a:t>
            </a:r>
          </a:p>
          <a:p>
            <a:r>
              <a:t>[EV3-ALIGNED EXAMPLE]</a:t>
            </a:r>
          </a:p>
          <a:p>
            <a:r>
              <a:t>“The arm detects the object but the claw does not close fully, causing the object to slip during lift.”</a:t>
            </a:r>
          </a:p>
          <a:p>
            <a:r>
              <a:t>“The base rotation overshoots and places the object in the wrong area.”</a:t>
            </a:r>
          </a:p>
          <a:p>
            <a:r>
              <a:t>“The program sometimes triggers ‘object detected’ when nothing is present (false positives).”</a:t>
            </a:r>
          </a:p>
          <a:p>
            <a:r>
              <a:t>“The arm runs once then stops because a motor stalls or the battery voltage drops under load.”</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Show that you documented the initial state:</a:t>
            </a:r>
          </a:p>
          <a:p>
            <a:r>
              <a:t>Photos of wiring/layout</a:t>
            </a:r>
          </a:p>
          <a:p>
            <a:r>
              <a:t>Short video of symptom (optional)</a:t>
            </a:r>
          </a:p>
          <a:p>
            <a:r>
              <a:t>Controller/HMI screenshots</a:t>
            </a:r>
          </a:p>
          <a:p>
            <a:r>
              <a:t>Error codes</a:t>
            </a:r>
          </a:p>
          <a:p>
            <a:r>
              <a:t>Initial measured values (rails, signals)</a:t>
            </a:r>
          </a:p>
          <a:p>
            <a:r>
              <a:t>Tip: This supports repeatability and protects against “I changed too much at once.”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Create a table:</a:t>
            </a:r>
          </a:p>
          <a:p>
            <a:r>
              <a:t>Symptom</a:t>
            </a:r>
          </a:p>
          <a:p>
            <a:r>
              <a:t>Possible causes (electrical, mechanical, software, sensor, comms)</a:t>
            </a:r>
          </a:p>
          <a:p>
            <a:r>
              <a:t>What test can confirm/deny</a:t>
            </a:r>
          </a:p>
          <a:p>
            <a:r>
              <a:t>[EXAMPLE]</a:t>
            </a:r>
          </a:p>
          <a:p>
            <a:r>
              <a:t>Symptom: “No flow reading”</a:t>
            </a:r>
          </a:p>
          <a:p>
            <a:r>
              <a:t>Possible causes: sensor unplugged, no power to sensor, blocked pipe, wrong scaling, ADC fault</a:t>
            </a:r>
          </a:p>
          <a:p>
            <a:r>
              <a:t>Test: check sensor supply, continuity, simulate sensor signal, check ADC counts</a:t>
            </a:r>
          </a:p>
          <a:p>
            <a:r>
              <a:t>[EV3-ALIGNED EXAMPLE]</a:t>
            </a:r>
          </a:p>
          <a:p>
            <a:r>
              <a:t>Symptom: “Claw closes but object slips”</a:t>
            </a:r>
          </a:p>
          <a:p>
            <a:r>
              <a:t>Possible causes: clutch/gear slip, wrong motor direction, low torque from low battery, mechanical binding, incorrect grip position, program timing too fast</a:t>
            </a:r>
          </a:p>
          <a:p>
            <a:r>
              <a:t>Tests: check battery voltage under load, inspect gears/linkages, slow the closing speed, confirm motor direction and rotation counts, try known-good object, repeatability test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 the approach you followed:</a:t>
            </a:r>
          </a:p>
          <a:p>
            <a:r>
              <a:t>Divide-and-conquer / half-split</a:t>
            </a:r>
          </a:p>
          <a:p>
            <a:r>
              <a:t>Input–process–output tracing</a:t>
            </a:r>
          </a:p>
          <a:p>
            <a:r>
              <a:t>Known-good substitution</a:t>
            </a:r>
          </a:p>
          <a:p>
            <a:r>
              <a:t>Signal injection</a:t>
            </a:r>
          </a:p>
          <a:p>
            <a:r>
              <a:t>Step-by-step isolation</a:t>
            </a:r>
          </a:p>
          <a:p>
            <a:r>
              <a:t>Include a simple flowchart of your diagnostic plan.</a:t>
            </a:r>
          </a:p>
          <a:p>
            <a:r>
              <a:t>[PLACEHOLDER: insert diagnostic flowchart]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List what you used:</a:t>
            </a:r>
          </a:p>
          <a:p>
            <a:r>
              <a:t>Multimeter (DMM): model + key functions used</a:t>
            </a:r>
          </a:p>
          <a:p>
            <a:r>
              <a:t>Oscilloscope (if used)</a:t>
            </a:r>
          </a:p>
          <a:p>
            <a:r>
              <a:t>Clamp meter (if used)</a:t>
            </a:r>
          </a:p>
          <a:p>
            <a:r>
              <a:t>Flow meter / temperature probe / pressure meter (if used)</a:t>
            </a:r>
          </a:p>
          <a:p>
            <a:r>
              <a:t>Insulation tester (if used and permitted)</a:t>
            </a:r>
          </a:p>
          <a:p>
            <a:r>
              <a:t>Software tools: PLC software, serial monitor, logging scripts, dashboards</a:t>
            </a:r>
          </a:p>
          <a:p>
            <a:r>
              <a:t>[EV3-SPECIFIC EXAMPLES — include only what you actually used]</a:t>
            </a:r>
          </a:p>
          <a:p>
            <a:r>
              <a:t>EV3 Classroom / Mindstorms software: live sensor view, motor rotation values, screenshots of programs</a:t>
            </a:r>
          </a:p>
          <a:p>
            <a:r>
              <a:t>EV3 Brick menus: port view, battery level, motor/sensor connection checks</a:t>
            </a:r>
          </a:p>
          <a:p>
            <a:r>
              <a:t>Phone camera: video evidence of symptoms (slow-motion can help)</a:t>
            </a:r>
          </a:p>
          <a:p>
            <a:r>
              <a:t>Also list:</a:t>
            </a:r>
          </a:p>
          <a:p>
            <a:r>
              <a:t>Leads/probes type (fused leads, CAT rating if relevant)</a:t>
            </a:r>
          </a:p>
          <a:p>
            <a:r>
              <a:t>Calibration status (if known)</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Cover both safety and correctness:</a:t>
            </a:r>
          </a:p>
          <a:p>
            <a:r>
              <a:t>Correct port selection (COM, VΩ, A/mA)</a:t>
            </a:r>
          </a:p>
          <a:p>
            <a:r>
              <a:t>Correct mode selection (VDC, VAC, Ω, continuity, diode)</a:t>
            </a:r>
          </a:p>
          <a:p>
            <a:r>
              <a:t>Start on highest range if manual-ranging</a:t>
            </a:r>
          </a:p>
          <a:p>
            <a:r>
              <a:t>Never measure voltage with leads in current port</a:t>
            </a:r>
          </a:p>
          <a:p>
            <a:r>
              <a:t>Use fused current inputs where possible</a:t>
            </a:r>
          </a:p>
          <a:p>
            <a:r>
              <a:t>De-energise before resistance/continuity tests</a:t>
            </a:r>
          </a:p>
          <a:p>
            <a:r>
              <a:t>[EV3-SPECIFIC SAFETY NOTES]</a:t>
            </a:r>
          </a:p>
          <a:p>
            <a:r>
              <a:t>Avoid shorting the EV3 battery terminals; keep probes separated and steady.</a:t>
            </a:r>
          </a:p>
          <a:p>
            <a:r>
              <a:t>Remove/disable power before continuity checks on the build.</a:t>
            </a:r>
          </a:p>
          <a:p>
            <a:r>
              <a:t>Use appropriate range for battery voltage (DC V), and do not force probes into EV3 ports.</a:t>
            </a:r>
          </a:p>
          <a:p>
            <a:r>
              <a:t>[EXAMPLE PHRASE]</a:t>
            </a:r>
          </a:p>
          <a:p>
            <a:r>
              <a:t>“Before measuring current, I moved the red lead to the fused A port and confirmed the meter was set to DC A. I verified the circuit was within the fuse rating.”</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Explain:</a:t>
            </a:r>
          </a:p>
          <a:p>
            <a:r>
              <a:t>Series connection requirement</a:t>
            </a:r>
          </a:p>
          <a:p>
            <a:r>
              <a:t>Why accidental parallel connection is dangerous</a:t>
            </a:r>
          </a:p>
          <a:p>
            <a:r>
              <a:t>Alternative: clamp meter (safer for higher currents)</a:t>
            </a:r>
          </a:p>
          <a:p>
            <a:r>
              <a:t>[EXAMPLE]</a:t>
            </a:r>
          </a:p>
          <a:p>
            <a:r>
              <a:t>“To avoid blowing the meter fuse, I first estimated expected current from the datasheet and used a clamp meter for the motor supply.”</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 only if you used it:</a:t>
            </a:r>
          </a:p>
          <a:p>
            <a:r>
              <a:t>Ground clip risks (short circuits on non-isolated systems)</a:t>
            </a:r>
          </a:p>
          <a:p>
            <a:r>
              <a:t>Use of differential probes or isolation (if applicable)</a:t>
            </a:r>
          </a:p>
          <a:p>
            <a:r>
              <a:t>Probe attenuation setting (x1/x10) matching scope setting</a:t>
            </a:r>
          </a:p>
          <a:p>
            <a:r>
              <a:t>Bandwidth limits and noise considerations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Explain:</a:t>
            </a:r>
          </a:p>
          <a:p>
            <a:r>
              <a:t>Correct range selection (avoid overrange)</a:t>
            </a:r>
          </a:p>
          <a:p>
            <a:r>
              <a:t>Safe connection/disconnection (depressurise first)</a:t>
            </a:r>
          </a:p>
          <a:p>
            <a:r>
              <a:t>Leak checks</a:t>
            </a:r>
          </a:p>
          <a:p>
            <a:r>
              <a:t>Temperature probe placement and contact safety</a:t>
            </a:r>
          </a:p>
          <a:p>
            <a:r>
              <a:t>Avoiding contamination (if fluids)</a:t>
            </a:r>
          </a:p>
          <a:p>
            <a:r>
              <a:t>[EXAMPLE]</a:t>
            </a:r>
          </a:p>
          <a:p>
            <a:r>
              <a:t>“I isolated the pneumatic supply and vented residual pressure before installing the pressure gauge to prevent hose whip and sudden release.”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Write your actual procedure:</a:t>
            </a:r>
          </a:p>
          <a:p>
            <a:r>
              <a:t>Prepare workspace (clear area, PPE)</a:t>
            </a:r>
          </a:p>
          <a:p>
            <a:r>
              <a:t>Identify isolation points (power, air)</a:t>
            </a:r>
          </a:p>
          <a:p>
            <a:r>
              <a:t>Verify isolation (try-start / measure 0 V)</a:t>
            </a:r>
          </a:p>
          <a:p>
            <a:r>
              <a:t>Connect instruments safely</a:t>
            </a:r>
          </a:p>
          <a:p>
            <a:r>
              <a:t>Re-energise only when ready</a:t>
            </a:r>
          </a:p>
          <a:p>
            <a:r>
              <a:t>Record measurements with timestamps</a:t>
            </a:r>
          </a:p>
          <a:p>
            <a:r>
              <a:t>De-energise before changing wiring</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Write procedures you actually followed.</a:t>
            </a:r>
          </a:p>
          <a:p>
            <a:r>
              <a:t>Do not claim tools/steps you didn’t use.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Provide a numbered list with rationale:</a:t>
            </a:r>
          </a:p>
          <a:p>
            <a:r>
              <a:t>[Test] → [Why] → [Expected if healthy]</a:t>
            </a:r>
          </a:p>
          <a:p>
            <a:r>
              <a:t>[Test] → [Why] → [Expected if faulty]</a:t>
            </a:r>
          </a:p>
          <a:p>
            <a:r>
              <a:t>[EXAMPLE]</a:t>
            </a:r>
          </a:p>
          <a:p>
            <a:r>
              <a:t>“Measure 24 V input at controller terminals” → confirm supply present → “23–25 V expected”</a:t>
            </a:r>
          </a:p>
          <a:p>
            <a:r>
              <a:t>“Measure 5 V regulator output under load” → check internal rail stability → “4.85–5.15 V expected”</a:t>
            </a:r>
          </a:p>
          <a:p>
            <a:r>
              <a:t>“Check sensor output while actuating” → verify signal changes → “0.5–4.5 V swing expected”</a:t>
            </a:r>
          </a:p>
          <a:p>
            <a:r>
              <a:t>[EV3-ALIGNED EXAMPLE]</a:t>
            </a:r>
          </a:p>
          <a:p>
            <a:r>
              <a:t>“Check EV3 battery voltage (no-load and during movement)” → verify power health → “Voltage should not collapse when motors start”</a:t>
            </a:r>
          </a:p>
          <a:p>
            <a:r>
              <a:t>“Confirm motors are plugged into the correct ports (A/B/C or 1/2/3) and the program matches” → rule out port mismatch → “Each motor responds as intended”</a:t>
            </a:r>
          </a:p>
          <a:p>
            <a:r>
              <a:t>“Use live sensor view to observe sensor readings with and without the object” → confirm detection threshold → “Clear separation between ‘no object’ and ‘object present’ values”</a:t>
            </a:r>
          </a:p>
          <a:p>
            <a:r>
              <a:t>“Run each motor individually and record rotation counts/angles for the same command” → check repeatability and stalling → “Similar rotation each trial; no stalls/clicking”</a:t>
            </a:r>
          </a:p>
          <a:p>
            <a:r>
              <a:t>“Inspect mechanics (gears, axles, alignment) while turning by hand (power off)” → find binding/slip → “Smooth motion with consistent resistance”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Test Point | What it is | Instrument &amp; Range | Expected (healthy) | Measured | Pass/Fail | Notes |</a:t>
            </a:r>
          </a:p>
          <a:p>
            <a:r>
              <a:t>|---|---|---:|---:|---:|---:|---|</a:t>
            </a:r>
          </a:p>
          <a:p>
            <a:r>
              <a:t>| TP1 | [Battery pack voltage] | DMM VDC | [expected range from source] | [ ] | [ ] | [no-load vs under-load noted] |</a:t>
            </a:r>
          </a:p>
          <a:p>
            <a:r>
              <a:t>| TP2 | [Motor rotation to “home”] | EV3 software/brick (degrees) | [e.g., 0° at home] | [ ] | [ ] | [repeatability across trials] |</a:t>
            </a:r>
          </a:p>
          <a:p>
            <a:r>
              <a:t>| TP3 | [Object detect sensor reading] | EV3 live view (raw/units) | [threshold band] | [ ] | [ ] | [lighting/distance notes] |</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you measured: [list rails]</a:t>
            </a:r>
          </a:p>
          <a:p>
            <a:r>
              <a:t>Why: [rail stability affects sensors/controllers]</a:t>
            </a:r>
          </a:p>
          <a:p>
            <a:r>
              <a:t>Findings: [numbers + trend]</a:t>
            </a:r>
          </a:p>
          <a:p>
            <a:r>
              <a:t>Interpretation: [what the numbers imply]</a:t>
            </a:r>
          </a:p>
          <a:p>
            <a:r>
              <a:t>[PLACEHOLDER: insert screenshot/photo of meter + annotated diagram of test point]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a:t>
            </a:r>
          </a:p>
          <a:p>
            <a:r>
              <a:t>PWM duty/period (servo/motor control)</a:t>
            </a:r>
          </a:p>
          <a:p>
            <a:r>
              <a:t>Sensor pulse timing</a:t>
            </a:r>
          </a:p>
          <a:p>
            <a:r>
              <a:t>Serial/CAN messages (IDs, errors)</a:t>
            </a:r>
          </a:p>
          <a:p>
            <a:r>
              <a:t>[PLACEHOLDER: insert scope screenshot or log snippet]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Show:</a:t>
            </a:r>
          </a:p>
          <a:p>
            <a:r>
              <a:t>Screenshots of PLC tags/online monitoring</a:t>
            </a:r>
          </a:p>
          <a:p>
            <a:r>
              <a:t>Trend plots</a:t>
            </a:r>
          </a:p>
          <a:p>
            <a:r>
              <a:t>Alarm/event logs</a:t>
            </a:r>
          </a:p>
          <a:p>
            <a:r>
              <a:t>State machine transitions</a:t>
            </a:r>
          </a:p>
          <a:p>
            <a:r>
              <a:t>[EV3-ALIGNED EVIDENCE IDEAS]</a:t>
            </a:r>
          </a:p>
          <a:p>
            <a:r>
              <a:t>Screenshot of the EV3 block program (highlight the detection logic and movement sequence)</a:t>
            </a:r>
          </a:p>
          <a:p>
            <a:r>
              <a:t>Screenshot/photo of live sensor values (object present vs not present)</a:t>
            </a:r>
          </a:p>
          <a:p>
            <a:r>
              <a:t>Table of motor rotation values (degrees) for repeated runs</a:t>
            </a:r>
          </a:p>
          <a:p>
            <a:r>
              <a:t>Any EV3 on-screen error messages or “motor stalled” behaviour (document as observed)</a:t>
            </a:r>
          </a:p>
          <a:p>
            <a:r>
              <a:t>Explain:</a:t>
            </a:r>
          </a:p>
          <a:p>
            <a:r>
              <a:t>What you looked for</a:t>
            </a:r>
          </a:p>
          <a:p>
            <a:r>
              <a:t>What the software evidence suggests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Summarise:</a:t>
            </a:r>
          </a:p>
          <a:p>
            <a:r>
              <a:t>Tests that ruled out certain causes</a:t>
            </a:r>
          </a:p>
          <a:p>
            <a:r>
              <a:t>The “turning point” observation</a:t>
            </a:r>
          </a:p>
          <a:p>
            <a:r>
              <a:t>Why you focused on [component/subsystem]</a:t>
            </a:r>
          </a:p>
          <a:p>
            <a:r>
              <a:t>[EXAMPLE]</a:t>
            </a:r>
          </a:p>
          <a:p>
            <a:r>
              <a:t>“Because the 24 V input was stable but the 5 V rail collapsed when the sensor was connected, the issue likely involved either a shorted sensor or a failing 5 V regulator.”</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Clearly state:</a:t>
            </a:r>
          </a:p>
          <a:p>
            <a:r>
              <a:t>Fault description: [e.g., open circuit, short, miswire, failed sensor, software scaling error]</a:t>
            </a:r>
          </a:p>
          <a:p>
            <a:r>
              <a:t>Location: [connector, board, line, module]</a:t>
            </a:r>
          </a:p>
          <a:p>
            <a:r>
              <a:t>Evidence: [measurements/logs/photos]</a:t>
            </a:r>
          </a:p>
          <a:p>
            <a:r>
              <a:t>Be specific: “Bad sensor” is too vague; state what was wrong and how you verified it.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Go beyond “what failed” to “why it failed”</a:t>
            </a:r>
          </a:p>
          <a:p>
            <a:r>
              <a:t>Use a structured method (choose one):</a:t>
            </a:r>
          </a:p>
          <a:p>
            <a:r>
              <a:t>5 Whys</a:t>
            </a:r>
          </a:p>
          <a:p>
            <a:r>
              <a:t>Fishbone (Ishikawa)</a:t>
            </a:r>
          </a:p>
          <a:p>
            <a:r>
              <a:t>FMEA-style thinking (failure mode, effect, cause)</a:t>
            </a:r>
          </a:p>
          <a:p>
            <a:r>
              <a:t>Prompt questions:</a:t>
            </a:r>
          </a:p>
          <a:p>
            <a:r>
              <a:t>Was it misuse, wear, manufacturing defect, design margin, environment, vibration, heat, contamination, EMC noise?</a:t>
            </a:r>
          </a:p>
          <a:p>
            <a:r>
              <a:t>Was it installation/wiring error?</a:t>
            </a:r>
          </a:p>
          <a:p>
            <a:r>
              <a:t>Was software logic robust to sensor faults?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Immediate cause: [what directly caused the symptom]</a:t>
            </a:r>
          </a:p>
          <a:p>
            <a:r>
              <a:t>Contributing factors: [what made it likely]</a:t>
            </a:r>
          </a:p>
          <a:p>
            <a:r>
              <a:t>Evidence linking cause to symptom: [measurements/tests]</a:t>
            </a:r>
          </a:p>
          <a:p>
            <a:r>
              <a:t>[EXAMPLE]</a:t>
            </a:r>
          </a:p>
          <a:p>
            <a:r>
              <a:t>Immediate cause: “Loose ground connection at terminal X created intermittent reference shifts.”</a:t>
            </a:r>
          </a:p>
          <a:p>
            <a:r>
              <a:t>Contributing factors: “No strain relief; vibration during operation.”</a:t>
            </a:r>
          </a:p>
          <a:p>
            <a:r>
              <a:t>Evidence: “Ground resistance changed when cable moved; symptom correlated with vibration.”</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Describe how you fixed it:</a:t>
            </a:r>
          </a:p>
          <a:p>
            <a:r>
              <a:t>Isolation steps (power off, lockout if required)</a:t>
            </a:r>
          </a:p>
          <a:p>
            <a:r>
              <a:t>Tools used</a:t>
            </a:r>
          </a:p>
          <a:p>
            <a:r>
              <a:t>Replacement/repair procedure</a:t>
            </a:r>
          </a:p>
          <a:p>
            <a:r>
              <a:t>Any settings changes (software parameters, scaling, calibration)</a:t>
            </a:r>
          </a:p>
          <a:p>
            <a:r>
              <a:t>Post-fix checks before powering up</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a:t>
            </a:r>
          </a:p>
          <a:p>
            <a:r>
              <a:t>Before/after photo of wiring/component</a:t>
            </a:r>
          </a:p>
          <a:p>
            <a:r>
              <a:t>Part number of replacement (if replaced)</a:t>
            </a:r>
          </a:p>
          <a:p>
            <a:r>
              <a:t>Configuration screenshots (if software)</a:t>
            </a:r>
          </a:p>
          <a:p>
            <a:r>
              <a:t>[PLACEHOLDER: insert before/after evidence]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Show that the fix worked:</a:t>
            </a:r>
          </a:p>
          <a:p>
            <a:r>
              <a:t>Repeat the acceptance criteria tests</a:t>
            </a:r>
          </a:p>
          <a:p>
            <a:r>
              <a:t>Confirm no new faults introduced</a:t>
            </a:r>
          </a:p>
          <a:p>
            <a:r>
              <a:t>Run system under normal and worst-case (safe) conditions</a:t>
            </a:r>
          </a:p>
          <a:p>
            <a:r>
              <a:t>[EXAMPLE]</a:t>
            </a:r>
          </a:p>
          <a:p>
            <a:r>
              <a:t>“After repair, the 5 V rail stayed at 5.02 V under load; the sensor output tracked expected range; the motor started reliably 10/10 trials.”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Describe:</a:t>
            </a:r>
          </a:p>
          <a:p>
            <a:r>
              <a:t>Test duration</a:t>
            </a:r>
          </a:p>
          <a:p>
            <a:r>
              <a:t>Operating modes tested</a:t>
            </a:r>
          </a:p>
          <a:p>
            <a:r>
              <a:t>Any alarms observed</a:t>
            </a:r>
          </a:p>
          <a:p>
            <a:r>
              <a:t>Operator acceptance / sign-off (if applicable)</a:t>
            </a:r>
          </a:p>
          <a:p>
            <a:r>
              <a:t>Keep it factual: If you only tested for 5 minutes, say so.</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Confirm:</a:t>
            </a:r>
          </a:p>
          <a:p>
            <a:r>
              <a:t>No exposed conductors</a:t>
            </a:r>
          </a:p>
          <a:p>
            <a:r>
              <a:t>Correct fusing</a:t>
            </a:r>
          </a:p>
          <a:p>
            <a:r>
              <a:t>Correct grounding</a:t>
            </a:r>
          </a:p>
          <a:p>
            <a:r>
              <a:t>Cables routed safely</a:t>
            </a:r>
          </a:p>
          <a:p>
            <a:r>
              <a:t>Guards/interlocks functional</a:t>
            </a:r>
          </a:p>
          <a:p>
            <a:r>
              <a:t>No leaks (if fluids)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Your marks come from your reasoning, evidence, and documentation quality.</a:t>
            </a:r>
          </a:p>
          <a:p>
            <a:r>
              <a:t>A neat story with no measurements is weak.</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Suggested amendments to design specification</a:t>
            </a:r>
          </a:p>
          <a:p>
            <a:r>
              <a:t>Propose improvements that would reduce recurrence:</a:t>
            </a:r>
          </a:p>
          <a:p>
            <a:r>
              <a:t>Electrical: better connectors, strain relief, shielding, pull-ups, filtering, TVS diodes, fusing</a:t>
            </a:r>
          </a:p>
          <a:p>
            <a:r>
              <a:t>Mechanical: better mounting, vibration isolation, alignment, wear-resistant parts</a:t>
            </a:r>
          </a:p>
          <a:p>
            <a:r>
              <a:t>Software: input validation, fault detection, debounce/filtering, safe states, watchdog timers</a:t>
            </a:r>
          </a:p>
          <a:p>
            <a:r>
              <a:t>Process: maintenance schedule, pre-use checks, clearer documentation</a:t>
            </a:r>
          </a:p>
          <a:p>
            <a:r>
              <a:t>[EV3-ALIGNED IMPROVEMENT IDEAS]</a:t>
            </a:r>
          </a:p>
          <a:p>
            <a:r>
              <a:t>Mechanical: add hard stops or guides to improve repeatable home positioning; improve gear mesh/alignment to reduce slipping</a:t>
            </a:r>
          </a:p>
          <a:p>
            <a:r>
              <a:t>Electrical/connection: label ports and route cables with strain relief to prevent intermittent disconnects</a:t>
            </a:r>
          </a:p>
          <a:p>
            <a:r>
              <a:t>Software: add a homing/calibration routine at startup; add stall/time-out detection and a safe recovery state; add debounce/filtering for the sensor; slow down movements (ramps) to reduce overshoot</a:t>
            </a:r>
          </a:p>
          <a:p>
            <a:r>
              <a:t>Process: add a pre-run checklist (battery charged, cables seated, calibration done)</a:t>
            </a:r>
          </a:p>
          <a:p>
            <a:r>
              <a:t>Tie each suggestion to the observed root cause.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For each proposed change:</a:t>
            </a:r>
          </a:p>
          <a:p>
            <a:r>
              <a:t>Problem observed: [e.g., intermittent ground]</a:t>
            </a:r>
          </a:p>
          <a:p>
            <a:r>
              <a:t>Proposed spec change: [e.g., “Add strain relief clamp within 50 mm of terminal”]</a:t>
            </a:r>
          </a:p>
          <a:p>
            <a:r>
              <a:t>Why it helps: [mechanism]</a:t>
            </a:r>
          </a:p>
          <a:p>
            <a:r>
              <a:t>Trade-offs: cost, complexity, maintenance</a:t>
            </a:r>
          </a:p>
          <a:p>
            <a:r>
              <a:t>How to verify improvement: test plan</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IDEAS]</a:t>
            </a:r>
          </a:p>
          <a:p>
            <a:r>
              <a:t>“Add keyed connectors to prevent miswiring.”</a:t>
            </a:r>
          </a:p>
          <a:p>
            <a:r>
              <a:t>“Specify sensor supply filtering (RC + decoupling) to reduce noise.”</a:t>
            </a:r>
          </a:p>
          <a:p>
            <a:r>
              <a:t>“Add software alarm if sensor output stuck high/low for &gt;2 s.”</a:t>
            </a:r>
          </a:p>
          <a:p>
            <a:r>
              <a:t>“Add mechanical guard to prevent accidental cable snag.”</a:t>
            </a:r>
          </a:p>
          <a:p>
            <a:r>
              <a:t>[EV3-ALIGNED EXAMPLE IDEAS]</a:t>
            </a:r>
          </a:p>
          <a:p>
            <a:r>
              <a:t>“Specify port labelling (A/B/C) on the build and in the program documentation to prevent motor-port mismatch.”</a:t>
            </a:r>
          </a:p>
          <a:p>
            <a:r>
              <a:t>“Add a calibration step: move arm to a known home stop at low speed and reset motor rotation to 0° before starting.”</a:t>
            </a:r>
          </a:p>
          <a:p>
            <a:r>
              <a:t>“Add a ‘stall detected’ branch: stop motors, open claw, and alert the operator to prevent damage.”</a:t>
            </a:r>
          </a:p>
          <a:p>
            <a:r>
              <a:t>“Add cable strain relief and route cables away from rotating joints to reduce intermittent disconnects.”</a:t>
            </a:r>
          </a:p>
          <a:p>
            <a:r>
              <a:t>Reminder: Do not copy these verbatim; make them specific to your system.</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Answer briefly:</a:t>
            </a:r>
          </a:p>
          <a:p>
            <a:r>
              <a:t>What diagnostic technique was most effective and why?</a:t>
            </a:r>
          </a:p>
          <a:p>
            <a:r>
              <a:t>What would you do earlier next time?</a:t>
            </a:r>
          </a:p>
          <a:p>
            <a:r>
              <a:t>What documentation helped most?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Changing multiple things at once (loses traceability)</a:t>
            </a:r>
          </a:p>
          <a:p>
            <a:r>
              <a:t>No baseline “normal operation” definition</a:t>
            </a:r>
          </a:p>
          <a:p>
            <a:r>
              <a:t>No safety/risk section or vague safety claims</a:t>
            </a:r>
          </a:p>
          <a:p>
            <a:r>
              <a:t>Measurements without units, ranges, or instrument settings</a:t>
            </a:r>
          </a:p>
          <a:p>
            <a:r>
              <a:t>Conclusions without evidence linking cause → symptom</a:t>
            </a:r>
          </a:p>
          <a:p>
            <a:r>
              <a:t>No post-fix verification or acceptance criteria</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 if relevant:</a:t>
            </a:r>
          </a:p>
          <a:p>
            <a:r>
              <a:t>Code/version used</a:t>
            </a:r>
          </a:p>
          <a:p>
            <a:r>
              <a:t>Inputs assumed vs actual</a:t>
            </a:r>
          </a:p>
          <a:p>
            <a:r>
              <a:t>Parameter scaling (engineering units)</a:t>
            </a:r>
          </a:p>
          <a:p>
            <a:r>
              <a:t>State machine logic</a:t>
            </a:r>
          </a:p>
          <a:p>
            <a:r>
              <a:t>Logging added to prove behaviour</a:t>
            </a:r>
          </a:p>
          <a:p>
            <a:r>
              <a:t>[PLACEHOLDER: include key code snippets ONLY if allowed and relevant]</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 if relevant:</a:t>
            </a:r>
          </a:p>
          <a:p>
            <a:r>
              <a:t>Wear, friction, backlash, misalignment</a:t>
            </a:r>
          </a:p>
          <a:p>
            <a:r>
              <a:t>Fasteners torque/loosening</a:t>
            </a:r>
          </a:p>
          <a:p>
            <a:r>
              <a:t>Material/thermal expansion</a:t>
            </a:r>
          </a:p>
          <a:p>
            <a:r>
              <a:t>Visual inspection evidence</a:t>
            </a:r>
          </a:p>
          <a:p>
            <a:r>
              <a:t>[PLACEHOLDER: include close-up photos and measurements]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 if relevant:</a:t>
            </a:r>
          </a:p>
          <a:p>
            <a:r>
              <a:t>Pressure/flow expectations</a:t>
            </a:r>
          </a:p>
          <a:p>
            <a:r>
              <a:t>Regulator settings</a:t>
            </a:r>
          </a:p>
          <a:p>
            <a:r>
              <a:t>Valve operation evidence</a:t>
            </a:r>
          </a:p>
          <a:p>
            <a:r>
              <a:t>Leak test method and results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Normal function defined: [1 sentence]</a:t>
            </a:r>
          </a:p>
          <a:p>
            <a:r>
              <a:t>Fault symptoms captured: [1 sentence]</a:t>
            </a:r>
          </a:p>
          <a:p>
            <a:r>
              <a:t>Methodical tests applied: [1 sentence]</a:t>
            </a:r>
          </a:p>
          <a:p>
            <a:r>
              <a:t>Fault(s) located and rectified: [1 sentence]</a:t>
            </a:r>
          </a:p>
          <a:p>
            <a:r>
              <a:t>Verification completed: [1 sentence]</a:t>
            </a:r>
          </a:p>
          <a:p>
            <a:r>
              <a:t>Reliability improvements proposed: [1 sentence]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Provide full references for:</a:t>
            </a:r>
          </a:p>
          <a:p>
            <a:r>
              <a:t>Datasheets (manufacturer, title, revision/date, URL)</a:t>
            </a:r>
          </a:p>
          <a:p>
            <a:r>
              <a:t>Manuals (title, version, URL)</a:t>
            </a:r>
          </a:p>
          <a:p>
            <a:r>
              <a:t>Standards/guidance (if used)</a:t>
            </a:r>
          </a:p>
          <a:p>
            <a:r>
              <a:t>Any academic sources</a:t>
            </a:r>
          </a:p>
          <a:p>
            <a:r>
              <a:t>[REFERENCE FORMAT EXAMPLE]</a:t>
            </a:r>
          </a:p>
          <a:p>
            <a:r>
              <a:t>Manufacturer, “Part XYZ Datasheet,” Rev. B, 2024. URL: https://...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This deck should reflect your investigation, your data, and your reasoning.</a:t>
            </a:r>
          </a:p>
          <a:p>
            <a:r>
              <a:t>Use sources ethically: understand → paraphrase → cite.</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 extra tables, raw logs, screenshots.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Include annotated extracts (highlight test points, connectors).</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Fault Report ID: [ ] Date: [ ] System: [ ]</a:t>
            </a:r>
          </a:p>
          <a:p>
            <a:r>
              <a:t>Reported by: [ ]</a:t>
            </a:r>
          </a:p>
          <a:p>
            <a:r>
              <a:t>Symptom description: [ ]</a:t>
            </a:r>
          </a:p>
          <a:p>
            <a:r>
              <a:t>Operational conditions: [ ]</a:t>
            </a:r>
          </a:p>
          <a:p>
            <a:r>
              <a:t>Safety actions taken: [ ]</a:t>
            </a:r>
          </a:p>
          <a:p>
            <a:r>
              <a:t>Initial measurements: [ ]</a:t>
            </a:r>
          </a:p>
          <a:p>
            <a:r>
              <a:t>Diagnostic steps performed: [ ]</a:t>
            </a:r>
          </a:p>
          <a:p>
            <a:r>
              <a:t>Fault identified: [ ]</a:t>
            </a:r>
          </a:p>
          <a:p>
            <a:r>
              <a:t>Root cause analysis: [ ]</a:t>
            </a:r>
          </a:p>
          <a:p>
            <a:r>
              <a:t>Rectification steps: [ ]</a:t>
            </a:r>
          </a:p>
          <a:p>
            <a:r>
              <a:t>Verification tests: [ ]</a:t>
            </a:r>
          </a:p>
          <a:p>
            <a:r>
              <a:t>Return to service decision: [ ]</a:t>
            </a:r>
          </a:p>
          <a:p>
            <a:r>
              <a:t>Recommended design/process improvements: [ ]</a:t>
            </a:r>
          </a:p>
        </p:txBody>
      </p:sp>
      <p:sp>
        <p:nvSpPr>
          <p:cNvPr id="3" name="Content Placeholder 2"/>
          <p:cNvSpPr>
            <a:spLocks noGrp="1"/>
          </p:cNvSpPr>
          <p:nvPr>
            <p:ph idx="1"/>
          </p:nvPr>
        </p:nvSpPr>
        <p:spPr/>
        <p:txBody>
          <a:bodyPr/>
          <a:lstStyle/>
          <a:p>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P5 covered: safe use of each instrument you used</a:t>
            </a:r>
          </a:p>
          <a:p>
            <a:r>
              <a:t>P6 covered: fault found, fixed, and verified</a:t>
            </a:r>
          </a:p>
          <a:p>
            <a:r>
              <a:t>M5 covered: documented method + safe/correct technique details</a:t>
            </a:r>
          </a:p>
          <a:p>
            <a:r>
              <a:t>D4 covered: cause analysis + specific design-spec improvement proposals</a:t>
            </a:r>
          </a:p>
          <a:p>
            <a:r>
              <a:t>Evidence included: photos/logs/tables/plots with units</a:t>
            </a:r>
          </a:p>
          <a:p>
            <a:r>
              <a:t>References included and consistent</a:t>
            </a:r>
          </a:p>
          <a:p>
            <a:r>
              <a:t>Wording is your own; no copied text</a:t>
            </a:r>
          </a:p>
        </p:txBody>
      </p:sp>
      <p:sp>
        <p:nvSpPr>
          <p:cNvPr id="3" name="Content Placeholder 2"/>
          <p:cNvSpPr>
            <a:spLocks noGrp="1"/>
          </p:cNvSpPr>
          <p:nvPr>
            <p:ph idx="1"/>
          </p:nvPr>
        </p:nvSpPr>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TotalTime>
  <Words>4477</Words>
  <Application>Microsoft Office PowerPoint</Application>
  <PresentationFormat>On-screen Show (4:3)</PresentationFormat>
  <Paragraphs>442</Paragraphs>
  <Slides>63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 [Module/Unit Code: 4006] • [Assignment/Task Title] ### [Student Name] • [Student ID] • [Date] Mechatronic system: [System name / rig / trainer / project]</vt:lpstr>
      <vt:lpstr>## This presentation must be your own work Do not copy: no copy/paste from manuals, datasheets, websites, classmates, or AI output. Do use sources: to understand concepts, pinouts, specs, test procedures, and safety requirements. Do paraphrase: read → close the page → write from memory → check accuracy. Do cite: include a small reference on relevant slides and a full list at the end. If you use AI/tools: explain how you used them (e.g., “helped me plan a test sequence”), but the analysis and wording must be yours.</vt:lpstr>
      <vt:lpstr>## Fault finding skills + fault analysis on a mechatronic system You are aiming to show you can: Understand the original correct function of the system Use documentation (datasheets, drawings, schematics, manuals) Use instrumentation safely (multimeter, flow/temp/pressure meters, etc.) Apply methodical fault location techniques and use control software if available Identify, verify, and rectify faults; test and return to service Work with a safety-first culture (risk assessment, compliance, procedures) Use data collection &amp; management (logs, dashboards, databases) and document control</vt:lpstr>
      <vt:lpstr>## Use this template as structure, not as finished text The wording in [EXAMPLE] blocks is starter phrasing. Replace it with your own system details, your results, and your reasoning. You can reorder slides if your project needs a different flow.</vt:lpstr>
      <vt:lpstr>System overview + normal operation Safety, compliance, and risk assessment Documentation used (datasheets/manuals/schematics) Fault symptoms + evidence capture Methodical fault location plan Test equipment: safe use + settings + limitations Results: measurements, logs, screenshots Fault identification, cause analysis, and verification Rectification steps + retest + return to service Reliability improvements (design amendments) Conclusion + references + appendices</vt:lpstr>
      <vt:lpstr>Your assessor should be able to answer: What was the system supposed to do? What went wrong (symptoms), and how do you know? What tests did you run, in what order, and why? How did you use instruments safely and correctly? How did you decide the fault cause (not just a guess)? What did you change to fix it? How did you verify it’s fixed and safe to return to service? What design changes would reduce recurrence?</vt:lpstr>
      <vt:lpstr>System/rig: [e.g., LEGO EV3 pick-and-place arm / conveyor + sensor + PLC / ESP32 robot arm / pneumatic actuator station] Operating environment: [lab bench / workshop / simulated] Stakeholders/users: [technician, operator, student] Constraints: [time, tools available, access restrictions, safety rules] [EXAMPLE] “The system is a small pick-and-place station using a DC motor conveyor, a photoelectric sensor for part detection, and a microcontroller that drives a relay for the motor.” [EV3-ALIGNED EXAMPLE] “The system is a LEGO EV3 robotic arm with three motors (base rotation, arm lift, claw open/close) and an object-detection sensor. The EV3 brick runs a block program that detects an object, closes the claw, lifts, rotates, and places the object at a target location.”</vt:lpstr>
      <vt:lpstr>## LEGO EV3 pick-and-place arm (to help you visualise LO4) Use this slide if your project is the EV3 arm, or adapt it if you used a different system. Controller: EV3 Brick (ports + firmware + program) Actuators: 3× EV3 motors (with built-in rotation sensing/encoders) Sensor: [Touch / Ultrasonic / Color / IR] used for object detection Power: EV3 battery pack Mechanics: gears, beams, linkages, claw mechanism Keep it open-ended: If your build differs (different sensor, different movement sequence, different gripper), explain your version.</vt:lpstr>
      <vt:lpstr>Define what is “inside” your investigation: Included subsystems: [power, sensors, actuators, controller, comms, HMI] Excluded items: [facility power upstream of socket, compressed air supply beyond regulator, etc.] Assumptions: [known-good PSU, known-good code baseline, etc.] Why this matters: It makes your investigation fair, focused, and reproducible.</vt:lpstr>
      <vt:lpstr>Insert a simple diagram: Inputs → processing/control → outputs Show energy flows (electrical / pneumatic / hydraulic / thermal) Include: Power source(s) Controller(s) Sensors Actuators Communication links [PLACEHOLDER: insert block diagram image]</vt:lpstr>
      <vt:lpstr>## What should happen when it is working? Describe the intended function: Start-up sequence Normal steady-state behaviour Shutdown behaviour Typical setpoints / ranges [EXAMPLE] “When enabled, the controller reads the temperature sensor every 500 ms and controls the fan to maintain 35–40°C. The display updates every second.” [EV3-ALIGNED EXAMPLE] “When the program starts, the EV3 checks the sensor reading. When an object is detected, the claw closes, the arm lifts to a safe height, the base rotates to the drop-off position, the claw opens to release the object, then the arm returns to home and waits for the next object.”</vt:lpstr>
      <vt:lpstr>List measurable criteria: Output performance: [speed, position error, pressure, temperature] Safety behaviour: [E-stop response, interlocks] Electrical limits: [current draw, voltage rails] Software behaviour: [state transitions, alarms] [EXAMPLE] “5 V rail stays between 4.85–5.15 V under load; motor current &lt; 1.2 A; sensor output toggles cleanly; E-stop removes actuator power within 0.5 s.” [EV3-ALIGNED EXAMPLE] “The arm completes pick-and-place successfully at least 8/10 attempts with the same object.” “Base rotation returns to the same home position within ±5° (using motor rotation feedback).” “Claw closes without stalling (no repeated clicking/skipping) and holds the object for the full move.” “Sensor consistently detects the object at the intended distance/position (stable readings, no false triggers during motion).” “Battery voltage is within the expected operating range and does not dip excessively when motors start.”</vt:lpstr>
      <vt:lpstr>You can use the acceptance criteria examples as inspiration. Replace all numbers with values relevant to your system and sources.</vt:lpstr>
      <vt:lpstr>## Explain and apply safety procedures Cover: Hazards: moving parts, pinch points, stored energy (spring/gravity), hot motors (after repeated runs), battery short-circuit risk, trip hazards from cables Controls: isolation, guarding, lock-out/tag-out (if applicable), PPE, safe distances Human factors: clear workspace, no loose clothing, one hand rule (where relevant), buddy checks [PLACEHOLDER: include photo of lab setup showing safe arrangement]</vt:lpstr>
      <vt:lpstr>Provide a compact table: Hazard Who could be harmed Risk level (before) Control measures Risk level (after) [EXAMPLE] “Live measurements on mains PSU: risk high → use isolated bench supply, insulated probes, one-hand rule → risk medium/low.”</vt:lpstr>
      <vt:lpstr>List what you followed: University/lab safety policy documents Equipment manuals and safe operating procedures Relevant standards/guidance (only if you actually used them) Write honestly: It’s better to cite one real policy you followed than to list many you didn’t.</vt:lpstr>
      <vt:lpstr>Do not copy safety text from policy documents. Summarise the parts you actually followed and cite the document.</vt:lpstr>
      <vt:lpstr>## Component datasheets + drawings + manuals + fault reports Create a list of documents you used: Datasheets: [sensor model], [actuator model], [driver IC] System drawings: wiring diagram, schematic, P&amp;ID/flow diagram (if fluids) Manuals: controller, power supply, PLC, HMI Previous fault reports / maintenance logs (if provided) [PLACEHOLDER: add thumbnails/screenshots of key pages you used]</vt:lpstr>
      <vt:lpstr>When searching, use: Exact part numbers (e.g., “MPX5700 datasheet PDF”) Manufacturer site first (then reputable distributors) Keywords: “application note”, “typical circuit”, “wiring diagram”, “troubleshooting”, “calibration”, “error codes” Search examples: “&lt;[SENSOR PART NO]&gt; output voltage vs pressure graph” “&lt;[DRIVER IC]&gt; typical application circuit” “&lt;[PLC MODEL]&gt; alarm code &lt;code&gt; meaning” Quality check: Prefer PDFs with manufacturer branding and revision numbers.</vt:lpstr>
      <vt:lpstr>Explain how you managed documents/data: Storage location: [OneDrive/Teams/Git folder] Naming convention: [YYYY-MM-DD_system_testname_v1] Version control method: [Git / manual versioning] Access/authorisation: [who can edit vs view] [EXAMPLE] “All test logs stored in Teams &gt; Module &gt; Group X. Only group members had edit access; tutor had view access.”</vt:lpstr>
      <vt:lpstr>Describe what you used (even if simple): Serial logs / CSV files Spreadsheet tables Database (if used) Dashboard (e.g., plotted trends) Include: What data points were captured Sampling rate (if relevant) Why those data help diagnose faults</vt:lpstr>
      <vt:lpstr>Don’t paste raw datasheet paragraphs. Use datasheets to justify your chosen test limits and expected values.</vt:lpstr>
      <vt:lpstr>State the fault context: Was the fault pre-inserted by tutor or naturally occurring? What was the initial symptom? When does it happen (startup, under load, intermittently)? [EXAMPLE] “The motor sometimes fails to start; when it does start, speed is unstable and the controller reports an undervoltage warning.” [EV3-ALIGNED EXAMPLE] “The arm detects the object but the claw does not close fully, causing the object to slip during lift.” “The base rotation overshoots and places the object in the wrong area.” “The program sometimes triggers ‘object detected’ when nothing is present (false positives).” “The arm runs once then stops because a motor stalls or the battery voltage drops under load.”</vt:lpstr>
      <vt:lpstr>Show that you documented the initial state: Photos of wiring/layout Short video of symptom (optional) Controller/HMI screenshots Error codes Initial measured values (rails, signals) Tip: This supports repeatability and protects against “I changed too much at once.”</vt:lpstr>
      <vt:lpstr>Create a table: Symptom Possible causes (electrical, mechanical, software, sensor, comms) What test can confirm/deny [EXAMPLE] Symptom: “No flow reading” Possible causes: sensor unplugged, no power to sensor, blocked pipe, wrong scaling, ADC fault Test: check sensor supply, continuity, simulate sensor signal, check ADC counts [EV3-ALIGNED EXAMPLE] Symptom: “Claw closes but object slips” Possible causes: clutch/gear slip, wrong motor direction, low torque from low battery, mechanical binding, incorrect grip position, program timing too fast Tests: check battery voltage under load, inspect gears/linkages, slow the closing speed, confirm motor direction and rotation counts, try known-good object, repeatability test</vt:lpstr>
      <vt:lpstr>State the approach you followed: Divide-and-conquer / half-split Input–process–output tracing Known-good substitution Signal injection Step-by-step isolation Include a simple flowchart of your diagnostic plan. [PLACEHOLDER: insert diagnostic flowchart]</vt:lpstr>
      <vt:lpstr>List what you used: Multimeter (DMM): model + key functions used Oscilloscope (if used) Clamp meter (if used) Flow meter / temperature probe / pressure meter (if used) Insulation tester (if used and permitted) Software tools: PLC software, serial monitor, logging scripts, dashboards [EV3-SPECIFIC EXAMPLES — include only what you actually used] EV3 Classroom / Mindstorms software: live sensor view, motor rotation values, screenshots of programs EV3 Brick menus: port view, battery level, motor/sensor connection checks Phone camera: video evidence of symptoms (slow-motion can help) Also list: Leads/probes type (fused leads, CAT rating if relevant) Calibration status (if known)</vt:lpstr>
      <vt:lpstr>Cover both safety and correctness: Correct port selection (COM, VΩ, A/mA) Correct mode selection (VDC, VAC, Ω, continuity, diode) Start on highest range if manual-ranging Never measure voltage with leads in current port Use fused current inputs where possible De-energise before resistance/continuity tests [EV3-SPECIFIC SAFETY NOTES] Avoid shorting the EV3 battery terminals; keep probes separated and steady. Remove/disable power before continuity checks on the build. Use appropriate range for battery voltage (DC V), and do not force probes into EV3 ports. [EXAMPLE PHRASE] “Before measuring current, I moved the red lead to the fused A port and confirmed the meter was set to DC A. I verified the circuit was within the fuse rating.”</vt:lpstr>
      <vt:lpstr>Explain: Series connection requirement Why accidental parallel connection is dangerous Alternative: clamp meter (safer for higher currents) [EXAMPLE] “To avoid blowing the meter fuse, I first estimated expected current from the datasheet and used a clamp meter for the motor supply.”</vt:lpstr>
      <vt:lpstr>Include only if you used it: Ground clip risks (short circuits on non-isolated systems) Use of differential probes or isolation (if applicable) Probe attenuation setting (x1/x10) matching scope setting Bandwidth limits and noise considerations</vt:lpstr>
      <vt:lpstr>Explain: Correct range selection (avoid overrange) Safe connection/disconnection (depressurise first) Leak checks Temperature probe placement and contact safety Avoiding contamination (if fluids) [EXAMPLE] “I isolated the pneumatic supply and vented residual pressure before installing the pressure gauge to prevent hose whip and sudden release.”</vt:lpstr>
      <vt:lpstr>Write your actual procedure: Prepare workspace (clear area, PPE) Identify isolation points (power, air) Verify isolation (try-start / measure 0 V) Connect instruments safely Re-energise only when ready Record measurements with timestamps De-energise before changing wiring</vt:lpstr>
      <vt:lpstr>Write procedures you actually followed. Do not claim tools/steps you didn’t use.</vt:lpstr>
      <vt:lpstr>Provide a numbered list with rationale: [Test] → [Why] → [Expected if healthy] [Test] → [Why] → [Expected if faulty] [EXAMPLE] “Measure 24 V input at controller terminals” → confirm supply present → “23–25 V expected” “Measure 5 V regulator output under load” → check internal rail stability → “4.85–5.15 V expected” “Check sensor output while actuating” → verify signal changes → “0.5–4.5 V swing expected” [EV3-ALIGNED EXAMPLE] “Check EV3 battery voltage (no-load and during movement)” → verify power health → “Voltage should not collapse when motors start” “Confirm motors are plugged into the correct ports (A/B/C or 1/2/3) and the program matches” → rule out port mismatch → “Each motor responds as intended” “Use live sensor view to observe sensor readings with and without the object” → confirm detection threshold → “Clear separation between ‘no object’ and ‘object present’ values” “Run each motor individually and record rotation counts/angles for the same command” → check repeatability and stalling → “Similar rotation each trial; no stalls/clicking” “Inspect mechanics (gears, axles, alignment) while turning by hand (power off)” → find binding/slip → “Smooth motion with consistent resistance”</vt:lpstr>
      <vt:lpstr>| Test Point | What it is | Instrument &amp; Range | Expected (healthy) | Measured | Pass/Fail | Notes | |---|---|---:|---:|---:|---:|---| | TP1 | [Battery pack voltage] | DMM VDC | [expected range from source] | [ ] | [ ] | [no-load vs under-load noted] | | TP2 | [Motor rotation to “home”] | EV3 software/brick (degrees) | [e.g., 0° at home] | [ ] | [ ] | [repeatability across trials] | | TP3 | [Object detect sensor reading] | EV3 live view (raw/units) | [threshold band] | [ ] | [ ] | [lighting/distance notes] |</vt:lpstr>
      <vt:lpstr>What you measured: [list rails] Why: [rail stability affects sensors/controllers] Findings: [numbers + trend] Interpretation: [what the numbers imply] [PLACEHOLDER: insert screenshot/photo of meter + annotated diagram of test point]</vt:lpstr>
      <vt:lpstr>Include: PWM duty/period (servo/motor control) Sensor pulse timing Serial/CAN messages (IDs, errors) [PLACEHOLDER: insert scope screenshot or log snippet]</vt:lpstr>
      <vt:lpstr>Show: Screenshots of PLC tags/online monitoring Trend plots Alarm/event logs State machine transitions [EV3-ALIGNED EVIDENCE IDEAS] Screenshot of the EV3 block program (highlight the detection logic and movement sequence) Screenshot/photo of live sensor values (object present vs not present) Table of motor rotation values (degrees) for repeated runs Any EV3 on-screen error messages or “motor stalled” behaviour (document as observed) Explain: What you looked for What the software evidence suggests</vt:lpstr>
      <vt:lpstr>Summarise: Tests that ruled out certain causes The “turning point” observation Why you focused on [component/subsystem] [EXAMPLE] “Because the 24 V input was stable but the 5 V rail collapsed when the sensor was connected, the issue likely involved either a shorted sensor or a failing 5 V regulator.”</vt:lpstr>
      <vt:lpstr>Clearly state: Fault description: [e.g., open circuit, short, miswire, failed sensor, software scaling error] Location: [connector, board, line, module] Evidence: [measurements/logs/photos] Be specific: “Bad sensor” is too vague; state what was wrong and how you verified it.</vt:lpstr>
      <vt:lpstr>## Go beyond “what failed” to “why it failed” Use a structured method (choose one): 5 Whys Fishbone (Ishikawa) FMEA-style thinking (failure mode, effect, cause) Prompt questions: Was it misuse, wear, manufacturing defect, design margin, environment, vibration, heat, contamination, EMC noise? Was it installation/wiring error? Was software logic robust to sensor faults?</vt:lpstr>
      <vt:lpstr>Immediate cause: [what directly caused the symptom] Contributing factors: [what made it likely] Evidence linking cause to symptom: [measurements/tests] [EXAMPLE] Immediate cause: “Loose ground connection at terminal X created intermittent reference shifts.” Contributing factors: “No strain relief; vibration during operation.” Evidence: “Ground resistance changed when cable moved; symptom correlated with vibration.”</vt:lpstr>
      <vt:lpstr>Describe how you fixed it: Isolation steps (power off, lockout if required) Tools used Replacement/repair procedure Any settings changes (software parameters, scaling, calibration) Post-fix checks before powering up</vt:lpstr>
      <vt:lpstr>Include: Before/after photo of wiring/component Part number of replacement (if replaced) Configuration screenshots (if software) [PLACEHOLDER: insert before/after evidence]</vt:lpstr>
      <vt:lpstr>Show that the fix worked: Repeat the acceptance criteria tests Confirm no new faults introduced Run system under normal and worst-case (safe) conditions [EXAMPLE] “After repair, the 5 V rail stayed at 5.02 V under load; the sensor output tracked expected range; the motor started reliably 10/10 trials.”</vt:lpstr>
      <vt:lpstr>Describe: Test duration Operating modes tested Any alarms observed Operator acceptance / sign-off (if applicable) Keep it factual: If you only tested for 5 minutes, say so.</vt:lpstr>
      <vt:lpstr>Confirm: No exposed conductors Correct fusing Correct grounding Cables routed safely Guards/interlocks functional No leaks (if fluids)</vt:lpstr>
      <vt:lpstr>Your marks come from your reasoning, evidence, and documentation quality. A neat story with no measurements is weak.</vt:lpstr>
      <vt:lpstr>## Suggested amendments to design specification Propose improvements that would reduce recurrence: Electrical: better connectors, strain relief, shielding, pull-ups, filtering, TVS diodes, fusing Mechanical: better mounting, vibration isolation, alignment, wear-resistant parts Software: input validation, fault detection, debounce/filtering, safe states, watchdog timers Process: maintenance schedule, pre-use checks, clearer documentation [EV3-ALIGNED IMPROVEMENT IDEAS] Mechanical: add hard stops or guides to improve repeatable home positioning; improve gear mesh/alignment to reduce slipping Electrical/connection: label ports and route cables with strain relief to prevent intermittent disconnects Software: add a homing/calibration routine at startup; add stall/time-out detection and a safe recovery state; add debounce/filtering for the sensor; slow down movements (ramps) to reduce overshoot Process: add a pre-run checklist (battery charged, cables seated, calibration done) Tie each suggestion to the observed root cause.</vt:lpstr>
      <vt:lpstr>For each proposed change: Problem observed: [e.g., intermittent ground] Proposed spec change: [e.g., “Add strain relief clamp within 50 mm of terminal”] Why it helps: [mechanism] Trade-offs: cost, complexity, maintenance How to verify improvement: test plan</vt:lpstr>
      <vt:lpstr>[EXAMPLE IDEAS] “Add keyed connectors to prevent miswiring.” “Specify sensor supply filtering (RC + decoupling) to reduce noise.” “Add software alarm if sensor output stuck high/low for &gt;2 s.” “Add mechanical guard to prevent accidental cable snag.” [EV3-ALIGNED EXAMPLE IDEAS] “Specify port labelling (A/B/C) on the build and in the program documentation to prevent motor-port mismatch.” “Add a calibration step: move arm to a known home stop at low speed and reset motor rotation to 0° before starting.” “Add a ‘stall detected’ branch: stop motors, open claw, and alert the operator to prevent damage.” “Add cable strain relief and route cables away from rotating joints to reduce intermittent disconnects.” Reminder: Do not copy these verbatim; make them specific to your system.</vt:lpstr>
      <vt:lpstr>Answer briefly: What diagnostic technique was most effective and why? What would you do earlier next time? What documentation helped most?</vt:lpstr>
      <vt:lpstr>Changing multiple things at once (loses traceability) No baseline “normal operation” definition No safety/risk section or vague safety claims Measurements without units, ranges, or instrument settings Conclusions without evidence linking cause → symptom No post-fix verification or acceptance criteria</vt:lpstr>
      <vt:lpstr>Include if relevant: Code/version used Inputs assumed vs actual Parameter scaling (engineering units) State machine logic Logging added to prove behaviour [PLACEHOLDER: include key code snippets ONLY if allowed and relevant]</vt:lpstr>
      <vt:lpstr>Include if relevant: Wear, friction, backlash, misalignment Fasteners torque/loosening Material/thermal expansion Visual inspection evidence [PLACEHOLDER: include close-up photos and measurements]</vt:lpstr>
      <vt:lpstr>Include if relevant: Pressure/flow expectations Regulator settings Valve operation evidence Leak test method and results</vt:lpstr>
      <vt:lpstr>Normal function defined: [1 sentence] Fault symptoms captured: [1 sentence] Methodical tests applied: [1 sentence] Fault(s) located and rectified: [1 sentence] Verification completed: [1 sentence] Reliability improvements proposed: [1 sentence]</vt:lpstr>
      <vt:lpstr>Provide full references for: Datasheets (manufacturer, title, revision/date, URL) Manuals (title, version, URL) Standards/guidance (if used) Any academic sources [REFERENCE FORMAT EXAMPLE] Manufacturer, “Part XYZ Datasheet,” Rev. B, 2024. URL: https://...</vt:lpstr>
      <vt:lpstr>This deck should reflect your investigation, your data, and your reasoning. Use sources ethically: understand → paraphrase → cite.</vt:lpstr>
      <vt:lpstr>Include extra tables, raw logs, screenshots.</vt:lpstr>
      <vt:lpstr>Include annotated extracts (highlight test points, connectors).</vt:lpstr>
      <vt:lpstr>Fault Report ID: [ ] Date: [ ] System: [ ] Reported by: [ ] Symptom description: [ ] Operational conditions: [ ] Safety actions taken: [ ] Initial measurements: [ ] Diagnostic steps performed: [ ] Fault identified: [ ] Root cause analysis: [ ] Rectification steps: [ ] Verification tests: [ ] Return to service decision: [ ] Recommended design/process improvements: [ ]</vt:lpstr>
      <vt:lpstr>P5 covered: safe use of each instrument you used P6 covered: fault found, fixed, and verified M5 covered: documented method + safe/correct technique details D4 covered: cause analysis + specific design-spec improvement proposals Evidence included: photos/logs/tables/plots with units References included and consistent Wording is your own; no copied text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Akbar Qamar</cp:lastModifiedBy>
  <cp:revision>3</cp:revision>
  <dcterms:created xsi:type="dcterms:W3CDTF">2013-01-27T09:14:16Z</dcterms:created>
  <dcterms:modified xsi:type="dcterms:W3CDTF">2026-01-17T16:02:20Z</dcterms:modified>
  <cp:category/>
</cp:coreProperties>
</file>