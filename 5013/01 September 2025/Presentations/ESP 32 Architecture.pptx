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2"/>
  </p:notesMasterIdLst>
  <p:sldIdLst>
    <p:sldId id="256" r:id="rId2"/>
    <p:sldId id="258" r:id="rId3"/>
    <p:sldId id="260" r:id="rId4"/>
    <p:sldId id="257" r:id="rId5"/>
    <p:sldId id="262" r:id="rId6"/>
    <p:sldId id="264" r:id="rId7"/>
    <p:sldId id="259" r:id="rId8"/>
    <p:sldId id="265" r:id="rId9"/>
    <p:sldId id="266" r:id="rId10"/>
    <p:sldId id="267" r:id="rId11"/>
    <p:sldId id="268" r:id="rId12"/>
    <p:sldId id="290" r:id="rId13"/>
    <p:sldId id="291" r:id="rId14"/>
    <p:sldId id="263" r:id="rId15"/>
    <p:sldId id="269" r:id="rId16"/>
    <p:sldId id="270" r:id="rId17"/>
    <p:sldId id="271" r:id="rId18"/>
    <p:sldId id="272" r:id="rId19"/>
    <p:sldId id="274" r:id="rId20"/>
    <p:sldId id="273" r:id="rId21"/>
    <p:sldId id="275" r:id="rId22"/>
    <p:sldId id="278" r:id="rId23"/>
    <p:sldId id="277" r:id="rId24"/>
    <p:sldId id="279" r:id="rId25"/>
    <p:sldId id="280" r:id="rId26"/>
    <p:sldId id="281" r:id="rId27"/>
    <p:sldId id="283" r:id="rId28"/>
    <p:sldId id="284" r:id="rId29"/>
    <p:sldId id="282" r:id="rId30"/>
    <p:sldId id="285" r:id="rId31"/>
    <p:sldId id="287" r:id="rId32"/>
    <p:sldId id="286" r:id="rId33"/>
    <p:sldId id="288" r:id="rId34"/>
    <p:sldId id="289" r:id="rId35"/>
    <p:sldId id="293" r:id="rId36"/>
    <p:sldId id="294" r:id="rId37"/>
    <p:sldId id="295" r:id="rId38"/>
    <p:sldId id="292" r:id="rId39"/>
    <p:sldId id="296" r:id="rId40"/>
    <p:sldId id="297" r:id="rId41"/>
    <p:sldId id="298" r:id="rId42"/>
    <p:sldId id="299" r:id="rId43"/>
    <p:sldId id="300" r:id="rId44"/>
    <p:sldId id="301" r:id="rId45"/>
    <p:sldId id="302" r:id="rId46"/>
    <p:sldId id="306" r:id="rId47"/>
    <p:sldId id="304" r:id="rId48"/>
    <p:sldId id="303" r:id="rId49"/>
    <p:sldId id="305" r:id="rId50"/>
    <p:sldId id="307" r:id="rId51"/>
    <p:sldId id="308" r:id="rId52"/>
    <p:sldId id="309" r:id="rId53"/>
    <p:sldId id="312" r:id="rId54"/>
    <p:sldId id="310" r:id="rId55"/>
    <p:sldId id="311" r:id="rId56"/>
    <p:sldId id="315" r:id="rId57"/>
    <p:sldId id="314" r:id="rId58"/>
    <p:sldId id="316" r:id="rId59"/>
    <p:sldId id="318" r:id="rId60"/>
    <p:sldId id="317" r:id="rId61"/>
    <p:sldId id="319" r:id="rId62"/>
    <p:sldId id="320" r:id="rId63"/>
    <p:sldId id="321" r:id="rId64"/>
    <p:sldId id="322" r:id="rId65"/>
    <p:sldId id="323" r:id="rId66"/>
    <p:sldId id="324" r:id="rId67"/>
    <p:sldId id="325" r:id="rId68"/>
    <p:sldId id="371" r:id="rId69"/>
    <p:sldId id="328" r:id="rId70"/>
    <p:sldId id="327" r:id="rId71"/>
    <p:sldId id="329" r:id="rId72"/>
    <p:sldId id="330" r:id="rId73"/>
    <p:sldId id="331" r:id="rId74"/>
    <p:sldId id="332" r:id="rId75"/>
    <p:sldId id="342" r:id="rId76"/>
    <p:sldId id="333" r:id="rId77"/>
    <p:sldId id="334" r:id="rId78"/>
    <p:sldId id="343" r:id="rId79"/>
    <p:sldId id="335" r:id="rId80"/>
    <p:sldId id="336" r:id="rId81"/>
    <p:sldId id="344" r:id="rId82"/>
    <p:sldId id="337" r:id="rId83"/>
    <p:sldId id="338" r:id="rId84"/>
    <p:sldId id="345" r:id="rId85"/>
    <p:sldId id="339" r:id="rId86"/>
    <p:sldId id="340" r:id="rId87"/>
    <p:sldId id="341"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60" r:id="rId102"/>
    <p:sldId id="359" r:id="rId103"/>
    <p:sldId id="361" r:id="rId104"/>
    <p:sldId id="362" r:id="rId105"/>
    <p:sldId id="363" r:id="rId106"/>
    <p:sldId id="375" r:id="rId107"/>
    <p:sldId id="376" r:id="rId108"/>
    <p:sldId id="364" r:id="rId109"/>
    <p:sldId id="370" r:id="rId110"/>
    <p:sldId id="372" r:id="rId111"/>
    <p:sldId id="374" r:id="rId112"/>
    <p:sldId id="373" r:id="rId113"/>
    <p:sldId id="365" r:id="rId114"/>
    <p:sldId id="366" r:id="rId115"/>
    <p:sldId id="368" r:id="rId116"/>
    <p:sldId id="377" r:id="rId117"/>
    <p:sldId id="378" r:id="rId118"/>
    <p:sldId id="367" r:id="rId119"/>
    <p:sldId id="379" r:id="rId120"/>
    <p:sldId id="369"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A63B26-16FA-4CD6-8412-C80CEE97EA80}">
          <p14:sldIdLst>
            <p14:sldId id="256"/>
            <p14:sldId id="258"/>
            <p14:sldId id="260"/>
            <p14:sldId id="257"/>
            <p14:sldId id="262"/>
            <p14:sldId id="264"/>
            <p14:sldId id="259"/>
            <p14:sldId id="265"/>
            <p14:sldId id="266"/>
            <p14:sldId id="267"/>
            <p14:sldId id="268"/>
            <p14:sldId id="290"/>
            <p14:sldId id="291"/>
            <p14:sldId id="263"/>
            <p14:sldId id="269"/>
            <p14:sldId id="270"/>
            <p14:sldId id="271"/>
            <p14:sldId id="272"/>
            <p14:sldId id="274"/>
            <p14:sldId id="273"/>
            <p14:sldId id="275"/>
            <p14:sldId id="278"/>
            <p14:sldId id="277"/>
            <p14:sldId id="279"/>
            <p14:sldId id="280"/>
            <p14:sldId id="281"/>
            <p14:sldId id="283"/>
            <p14:sldId id="284"/>
            <p14:sldId id="282"/>
            <p14:sldId id="285"/>
            <p14:sldId id="287"/>
            <p14:sldId id="286"/>
            <p14:sldId id="288"/>
            <p14:sldId id="289"/>
            <p14:sldId id="293"/>
            <p14:sldId id="294"/>
            <p14:sldId id="295"/>
            <p14:sldId id="292"/>
            <p14:sldId id="296"/>
            <p14:sldId id="297"/>
            <p14:sldId id="298"/>
            <p14:sldId id="299"/>
            <p14:sldId id="300"/>
            <p14:sldId id="301"/>
            <p14:sldId id="302"/>
            <p14:sldId id="306"/>
            <p14:sldId id="304"/>
            <p14:sldId id="303"/>
            <p14:sldId id="305"/>
            <p14:sldId id="307"/>
            <p14:sldId id="308"/>
            <p14:sldId id="309"/>
            <p14:sldId id="312"/>
            <p14:sldId id="310"/>
            <p14:sldId id="311"/>
            <p14:sldId id="315"/>
            <p14:sldId id="314"/>
            <p14:sldId id="316"/>
            <p14:sldId id="318"/>
            <p14:sldId id="317"/>
            <p14:sldId id="319"/>
            <p14:sldId id="320"/>
            <p14:sldId id="321"/>
            <p14:sldId id="322"/>
            <p14:sldId id="323"/>
            <p14:sldId id="324"/>
            <p14:sldId id="325"/>
            <p14:sldId id="371"/>
            <p14:sldId id="328"/>
            <p14:sldId id="327"/>
            <p14:sldId id="329"/>
            <p14:sldId id="330"/>
            <p14:sldId id="331"/>
            <p14:sldId id="332"/>
            <p14:sldId id="342"/>
            <p14:sldId id="333"/>
            <p14:sldId id="334"/>
            <p14:sldId id="343"/>
            <p14:sldId id="335"/>
            <p14:sldId id="336"/>
            <p14:sldId id="344"/>
            <p14:sldId id="337"/>
            <p14:sldId id="338"/>
            <p14:sldId id="345"/>
            <p14:sldId id="339"/>
            <p14:sldId id="340"/>
            <p14:sldId id="341"/>
            <p14:sldId id="346"/>
            <p14:sldId id="347"/>
            <p14:sldId id="348"/>
            <p14:sldId id="349"/>
            <p14:sldId id="350"/>
            <p14:sldId id="351"/>
            <p14:sldId id="352"/>
            <p14:sldId id="353"/>
            <p14:sldId id="354"/>
            <p14:sldId id="355"/>
            <p14:sldId id="356"/>
            <p14:sldId id="357"/>
            <p14:sldId id="358"/>
            <p14:sldId id="360"/>
            <p14:sldId id="359"/>
            <p14:sldId id="361"/>
            <p14:sldId id="362"/>
            <p14:sldId id="363"/>
            <p14:sldId id="375"/>
            <p14:sldId id="376"/>
            <p14:sldId id="364"/>
            <p14:sldId id="370"/>
            <p14:sldId id="372"/>
            <p14:sldId id="374"/>
            <p14:sldId id="373"/>
            <p14:sldId id="365"/>
            <p14:sldId id="366"/>
            <p14:sldId id="368"/>
            <p14:sldId id="377"/>
            <p14:sldId id="378"/>
            <p14:sldId id="367"/>
            <p14:sldId id="379"/>
            <p14:sldId id="369"/>
          </p14:sldIdLst>
        </p14:section>
        <p14:section name="Untitled Section" id="{7D360D87-32B0-4247-8D71-E3BFE96005A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FEC0"/>
    <a:srgbClr val="1B0104"/>
    <a:srgbClr val="560001"/>
    <a:srgbClr val="0A8F4A"/>
    <a:srgbClr val="1E4CA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814" autoAdjust="0"/>
  </p:normalViewPr>
  <p:slideViewPr>
    <p:cSldViewPr snapToGrid="0">
      <p:cViewPr varScale="1">
        <p:scale>
          <a:sx n="106" d="100"/>
          <a:sy n="106" d="100"/>
        </p:scale>
        <p:origin x="13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presProps" Target="presProps.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slide" Target="slides/slide112.xml" /><Relationship Id="rId118" Type="http://schemas.openxmlformats.org/officeDocument/2006/relationships/slide" Target="slides/slide117.xml" /><Relationship Id="rId126" Type="http://schemas.openxmlformats.org/officeDocument/2006/relationships/tableStyles" Target="tableStyle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116" Type="http://schemas.openxmlformats.org/officeDocument/2006/relationships/slide" Target="slides/slide115.xml" /><Relationship Id="rId124" Type="http://schemas.openxmlformats.org/officeDocument/2006/relationships/viewProps" Target="viewProp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slide" Target="slides/slide110.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slide" Target="slides/slide113.xml" /><Relationship Id="rId119" Type="http://schemas.openxmlformats.org/officeDocument/2006/relationships/slide" Target="slides/slide118.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theme" Target="theme/theme1.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F30041-17F6-495D-B283-0248B8A24E52}" type="datetimeFigureOut">
              <a:rPr lang="en-GB" smtClean="0"/>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73B71-0A15-4E89-867C-C61945019815}" type="slidenum">
              <a:rPr lang="en-GB" smtClean="0"/>
              <a:t>‹#›</a:t>
            </a:fld>
            <a:endParaRPr lang="en-GB"/>
          </a:p>
        </p:txBody>
      </p:sp>
    </p:spTree>
    <p:extLst>
      <p:ext uri="{BB962C8B-B14F-4D97-AF65-F5344CB8AC3E}">
        <p14:creationId xmlns:p14="http://schemas.microsoft.com/office/powerpoint/2010/main" val="4195837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2</a:t>
            </a:fld>
            <a:endParaRPr lang="en-GB"/>
          </a:p>
        </p:txBody>
      </p:sp>
    </p:spTree>
    <p:extLst>
      <p:ext uri="{BB962C8B-B14F-4D97-AF65-F5344CB8AC3E}">
        <p14:creationId xmlns:p14="http://schemas.microsoft.com/office/powerpoint/2010/main" val="14131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F089D-7A91-2CEA-78F2-39B5232DD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BD424-3E14-5E2E-CEB9-F72D6E8F8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C491D-C7EA-55D1-55A5-1FBE6A2F991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FCA061-41CB-1087-F297-3E0C870B47CD}"/>
              </a:ext>
            </a:extLst>
          </p:cNvPr>
          <p:cNvSpPr>
            <a:spLocks noGrp="1"/>
          </p:cNvSpPr>
          <p:nvPr>
            <p:ph type="sldNum" sz="quarter" idx="5"/>
          </p:nvPr>
        </p:nvSpPr>
        <p:spPr/>
        <p:txBody>
          <a:bodyPr/>
          <a:lstStyle/>
          <a:p>
            <a:fld id="{25273B71-0A15-4E89-867C-C61945019815}" type="slidenum">
              <a:rPr lang="en-GB" smtClean="0"/>
              <a:t>3</a:t>
            </a:fld>
            <a:endParaRPr lang="en-GB"/>
          </a:p>
        </p:txBody>
      </p:sp>
    </p:spTree>
    <p:extLst>
      <p:ext uri="{BB962C8B-B14F-4D97-AF65-F5344CB8AC3E}">
        <p14:creationId xmlns:p14="http://schemas.microsoft.com/office/powerpoint/2010/main" val="421430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7</a:t>
            </a:fld>
            <a:endParaRPr lang="en-GB"/>
          </a:p>
        </p:txBody>
      </p:sp>
    </p:spTree>
    <p:extLst>
      <p:ext uri="{BB962C8B-B14F-4D97-AF65-F5344CB8AC3E}">
        <p14:creationId xmlns:p14="http://schemas.microsoft.com/office/powerpoint/2010/main" val="3062776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45EC-FC0B-4D9A-FD75-3B583298F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619ED-207D-53E7-C266-51F7A588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E03173-F92C-47E0-B173-7823CADB23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2229580-E6F5-9712-6D50-C930894F4C6B}"/>
              </a:ext>
            </a:extLst>
          </p:cNvPr>
          <p:cNvSpPr>
            <a:spLocks noGrp="1"/>
          </p:cNvSpPr>
          <p:nvPr>
            <p:ph type="sldNum" sz="quarter" idx="5"/>
          </p:nvPr>
        </p:nvSpPr>
        <p:spPr/>
        <p:txBody>
          <a:bodyPr/>
          <a:lstStyle/>
          <a:p>
            <a:fld id="{25273B71-0A15-4E89-867C-C61945019815}" type="slidenum">
              <a:rPr lang="en-GB" smtClean="0"/>
              <a:t>8</a:t>
            </a:fld>
            <a:endParaRPr lang="en-GB"/>
          </a:p>
        </p:txBody>
      </p:sp>
    </p:spTree>
    <p:extLst>
      <p:ext uri="{BB962C8B-B14F-4D97-AF65-F5344CB8AC3E}">
        <p14:creationId xmlns:p14="http://schemas.microsoft.com/office/powerpoint/2010/main" val="3090916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10</a:t>
            </a:fld>
            <a:endParaRPr lang="en-GB"/>
          </a:p>
        </p:txBody>
      </p:sp>
    </p:spTree>
    <p:extLst>
      <p:ext uri="{BB962C8B-B14F-4D97-AF65-F5344CB8AC3E}">
        <p14:creationId xmlns:p14="http://schemas.microsoft.com/office/powerpoint/2010/main" val="3311759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B8F94-26C2-619A-17C6-8B5698373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E4D85-FDB4-C6B5-DE3A-7D61526B6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D7E64-DE28-050E-6F60-26E872DA3BA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DB76E23-0508-1EB9-8519-DFF4F47BB8DF}"/>
              </a:ext>
            </a:extLst>
          </p:cNvPr>
          <p:cNvSpPr>
            <a:spLocks noGrp="1"/>
          </p:cNvSpPr>
          <p:nvPr>
            <p:ph type="sldNum" sz="quarter" idx="5"/>
          </p:nvPr>
        </p:nvSpPr>
        <p:spPr/>
        <p:txBody>
          <a:bodyPr/>
          <a:lstStyle/>
          <a:p>
            <a:fld id="{25273B71-0A15-4E89-867C-C61945019815}" type="slidenum">
              <a:rPr lang="en-GB" smtClean="0"/>
              <a:t>14</a:t>
            </a:fld>
            <a:endParaRPr lang="en-GB"/>
          </a:p>
        </p:txBody>
      </p:sp>
    </p:spTree>
    <p:extLst>
      <p:ext uri="{BB962C8B-B14F-4D97-AF65-F5344CB8AC3E}">
        <p14:creationId xmlns:p14="http://schemas.microsoft.com/office/powerpoint/2010/main" val="2333083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21</a:t>
            </a:fld>
            <a:endParaRPr lang="en-GB"/>
          </a:p>
        </p:txBody>
      </p:sp>
    </p:spTree>
    <p:extLst>
      <p:ext uri="{BB962C8B-B14F-4D97-AF65-F5344CB8AC3E}">
        <p14:creationId xmlns:p14="http://schemas.microsoft.com/office/powerpoint/2010/main" val="2127860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17B15-8068-B420-E06B-235F2DF4B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385B2-ACF3-19DC-C6F8-F27CE78A9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10645-F4B8-0933-9C98-104592E3020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728477C-A9AB-AF58-9E2B-BE42F6FA8495}"/>
              </a:ext>
            </a:extLst>
          </p:cNvPr>
          <p:cNvSpPr>
            <a:spLocks noGrp="1"/>
          </p:cNvSpPr>
          <p:nvPr>
            <p:ph type="sldNum" sz="quarter" idx="5"/>
          </p:nvPr>
        </p:nvSpPr>
        <p:spPr/>
        <p:txBody>
          <a:bodyPr/>
          <a:lstStyle/>
          <a:p>
            <a:fld id="{25273B71-0A15-4E89-867C-C61945019815}" type="slidenum">
              <a:rPr lang="en-GB" smtClean="0"/>
              <a:t>22</a:t>
            </a:fld>
            <a:endParaRPr lang="en-GB"/>
          </a:p>
        </p:txBody>
      </p:sp>
    </p:spTree>
    <p:extLst>
      <p:ext uri="{BB962C8B-B14F-4D97-AF65-F5344CB8AC3E}">
        <p14:creationId xmlns:p14="http://schemas.microsoft.com/office/powerpoint/2010/main" val="41077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F4D0B-8BF5-F419-231A-0FE58A981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FDA51-054C-F5DD-68D1-DA26C8F32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10B04-4D38-E939-FCF7-382A30C220D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BBFA6B-EB0F-E761-CA4C-3AD4C59480FE}"/>
              </a:ext>
            </a:extLst>
          </p:cNvPr>
          <p:cNvSpPr>
            <a:spLocks noGrp="1"/>
          </p:cNvSpPr>
          <p:nvPr>
            <p:ph type="sldNum" sz="quarter" idx="5"/>
          </p:nvPr>
        </p:nvSpPr>
        <p:spPr/>
        <p:txBody>
          <a:bodyPr/>
          <a:lstStyle/>
          <a:p>
            <a:fld id="{25273B71-0A15-4E89-867C-C61945019815}" type="slidenum">
              <a:rPr lang="en-GB" smtClean="0"/>
              <a:t>23</a:t>
            </a:fld>
            <a:endParaRPr lang="en-GB"/>
          </a:p>
        </p:txBody>
      </p:sp>
    </p:spTree>
    <p:extLst>
      <p:ext uri="{BB962C8B-B14F-4D97-AF65-F5344CB8AC3E}">
        <p14:creationId xmlns:p14="http://schemas.microsoft.com/office/powerpoint/2010/main" val="201084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9EA34-06D5-4E72-A94E-1DAFBF1FB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4CFC9-193D-01D8-6DFE-28BC05124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2C4F1-A2EC-267C-8C18-DF030B2009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401B8A-552D-0228-AD08-1B19B1B314CA}"/>
              </a:ext>
            </a:extLst>
          </p:cNvPr>
          <p:cNvSpPr>
            <a:spLocks noGrp="1"/>
          </p:cNvSpPr>
          <p:nvPr>
            <p:ph type="sldNum" sz="quarter" idx="5"/>
          </p:nvPr>
        </p:nvSpPr>
        <p:spPr/>
        <p:txBody>
          <a:bodyPr/>
          <a:lstStyle/>
          <a:p>
            <a:fld id="{25273B71-0A15-4E89-867C-C61945019815}" type="slidenum">
              <a:rPr lang="en-GB" smtClean="0"/>
              <a:t>24</a:t>
            </a:fld>
            <a:endParaRPr lang="en-GB"/>
          </a:p>
        </p:txBody>
      </p:sp>
    </p:spTree>
    <p:extLst>
      <p:ext uri="{BB962C8B-B14F-4D97-AF65-F5344CB8AC3E}">
        <p14:creationId xmlns:p14="http://schemas.microsoft.com/office/powerpoint/2010/main" val="952383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E8A83-F604-9D05-DAB9-44D742078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C08A2-2B7F-DFE8-44B5-9208DC5BA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63988-5577-4C32-2244-FEC63A81A4D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1AA0ED9-E68F-F45B-EDC3-22026C0CDD28}"/>
              </a:ext>
            </a:extLst>
          </p:cNvPr>
          <p:cNvSpPr>
            <a:spLocks noGrp="1"/>
          </p:cNvSpPr>
          <p:nvPr>
            <p:ph type="sldNum" sz="quarter" idx="5"/>
          </p:nvPr>
        </p:nvSpPr>
        <p:spPr/>
        <p:txBody>
          <a:bodyPr/>
          <a:lstStyle/>
          <a:p>
            <a:fld id="{25273B71-0A15-4E89-867C-C61945019815}" type="slidenum">
              <a:rPr lang="en-GB" smtClean="0"/>
              <a:t>31</a:t>
            </a:fld>
            <a:endParaRPr lang="en-GB"/>
          </a:p>
        </p:txBody>
      </p:sp>
    </p:spTree>
    <p:extLst>
      <p:ext uri="{BB962C8B-B14F-4D97-AF65-F5344CB8AC3E}">
        <p14:creationId xmlns:p14="http://schemas.microsoft.com/office/powerpoint/2010/main" val="3251185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32</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33</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47</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48</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49</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56</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57</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58</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69</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70</a:t>
            </a:fld>
            <a:endParaRPr lang="en-GB"/>
          </a:p>
        </p:txBody>
      </p:sp>
    </p:spTree>
    <p:extLst>
      <p:ext uri="{BB962C8B-B14F-4D97-AF65-F5344CB8AC3E}">
        <p14:creationId xmlns:p14="http://schemas.microsoft.com/office/powerpoint/2010/main" val="3165779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975BC-E673-6ADB-44C5-FC00B604E0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686BFFA-66AF-B62E-07A2-5BAD3B5BB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DD9D9C5-7779-027A-3B04-354526AC05DF}"/>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5" name="Footer Placeholder 4">
            <a:extLst>
              <a:ext uri="{FF2B5EF4-FFF2-40B4-BE49-F238E27FC236}">
                <a16:creationId xmlns:a16="http://schemas.microsoft.com/office/drawing/2014/main" id="{EAFE6AE3-B1F3-5346-9D26-86FC440630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09FCF8-1AC2-E043-ED28-2ABB8BF69DAE}"/>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057692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AEC5-1958-9376-9E05-79420A18341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41865C-0C79-F152-11C5-03B92FB7CB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A4D98F-B8B9-C794-EF32-10BEFDE7E762}"/>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5" name="Footer Placeholder 4">
            <a:extLst>
              <a:ext uri="{FF2B5EF4-FFF2-40B4-BE49-F238E27FC236}">
                <a16:creationId xmlns:a16="http://schemas.microsoft.com/office/drawing/2014/main" id="{29097F0E-ACBF-250F-F067-322BCF411F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0645E3-1678-EF68-824A-E82DA9B8348C}"/>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3668992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6982-68A3-D56B-CA70-E184EF930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7B56337-8862-43D7-0B42-D59FBC0631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E025A2-844D-6F20-D34C-1A614579E8E8}"/>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5" name="Footer Placeholder 4">
            <a:extLst>
              <a:ext uri="{FF2B5EF4-FFF2-40B4-BE49-F238E27FC236}">
                <a16:creationId xmlns:a16="http://schemas.microsoft.com/office/drawing/2014/main" id="{1FC96C64-3C39-CEAC-E90A-5A19B2B626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C271E4-15B2-9D95-BEA9-86D73C6E7CAD}"/>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3651878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93F0-C3E3-182B-8773-731E9A0C207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C76392F-66E6-4D6D-E542-0F63E99982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560A7DD-9B81-55D3-A3B0-4F741E83EB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56729C6-9673-AE78-4FF4-7FFC4EB944B8}"/>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6" name="Footer Placeholder 5">
            <a:extLst>
              <a:ext uri="{FF2B5EF4-FFF2-40B4-BE49-F238E27FC236}">
                <a16:creationId xmlns:a16="http://schemas.microsoft.com/office/drawing/2014/main" id="{4208AFE1-D920-302A-9872-1784DFC20E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A6D622-5550-6E68-12A1-14C7EF72AEB4}"/>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109404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3395-8E3D-06FF-C9DD-028C847C6B8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8AE71C8-C01D-B1DD-9662-EA311E9DA7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982F68-DE19-F5AB-1A82-42B3621EA0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7D8AEE0-1FED-A593-6AAD-868C1729D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CA6E96-AA21-434F-24B7-4E1F0481F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3FE5CDF-3C15-3FB8-773D-8947A044C7FD}"/>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8" name="Footer Placeholder 7">
            <a:extLst>
              <a:ext uri="{FF2B5EF4-FFF2-40B4-BE49-F238E27FC236}">
                <a16:creationId xmlns:a16="http://schemas.microsoft.com/office/drawing/2014/main" id="{410544E2-D71D-71E1-4CCD-686D773B6A1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B7193B7-E608-3BBA-6736-F308B4B8B53A}"/>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084844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C15B-A837-D7C8-D7E1-37F3BC8EAA7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09A6493-C98D-5469-39C7-170CAB4CCE12}"/>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4" name="Footer Placeholder 3">
            <a:extLst>
              <a:ext uri="{FF2B5EF4-FFF2-40B4-BE49-F238E27FC236}">
                <a16:creationId xmlns:a16="http://schemas.microsoft.com/office/drawing/2014/main" id="{A958325E-CE19-4825-4013-D64F831C5B6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CE3B505-BD30-04C5-14F7-8C1DD808E7A3}"/>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1369240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87FFC-90FA-8F06-4F71-D3BB8BDB2424}"/>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3" name="Footer Placeholder 2">
            <a:extLst>
              <a:ext uri="{FF2B5EF4-FFF2-40B4-BE49-F238E27FC236}">
                <a16:creationId xmlns:a16="http://schemas.microsoft.com/office/drawing/2014/main" id="{A07A8801-7444-C07B-DAFF-99DB59A4C8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151316A-D5DB-17DA-D906-97FCBDA687DA}"/>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110678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85CC5-0D5B-CBC7-3B39-7F31347863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79BC167-EB6F-2842-1019-821006D78E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691C238-0854-24D0-F7B8-E9434A0AD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75B29-E153-F9B6-BD39-5F8B0EEDAEB0}"/>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6" name="Footer Placeholder 5">
            <a:extLst>
              <a:ext uri="{FF2B5EF4-FFF2-40B4-BE49-F238E27FC236}">
                <a16:creationId xmlns:a16="http://schemas.microsoft.com/office/drawing/2014/main" id="{8CFC7351-A2E2-C754-E212-F32322DCC1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753490-A648-6425-C160-2FA7CC7BB6E5}"/>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864222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49665-056F-D71F-F916-BEFBD790B2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1355EA9-D4DF-14AC-51BB-F57CB59802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988B859-7328-C30B-43BE-539D02748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3A0015-C3FD-A207-A280-FAEC22B917A1}"/>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6" name="Footer Placeholder 5">
            <a:extLst>
              <a:ext uri="{FF2B5EF4-FFF2-40B4-BE49-F238E27FC236}">
                <a16:creationId xmlns:a16="http://schemas.microsoft.com/office/drawing/2014/main" id="{9FEB3823-F1F4-15DB-0F6D-F72B887BD6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0AAF2C-D318-F7FC-6D9F-8C3E0FEA4967}"/>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93757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014C-A986-C9A6-EDA8-FDF95AA29AE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5C74F13-77D2-FC66-9258-D058310ED9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A6CDBC-4C30-2F6C-064D-195320ECED3D}"/>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5" name="Footer Placeholder 4">
            <a:extLst>
              <a:ext uri="{FF2B5EF4-FFF2-40B4-BE49-F238E27FC236}">
                <a16:creationId xmlns:a16="http://schemas.microsoft.com/office/drawing/2014/main" id="{729346A4-7412-500F-B11E-C1756CE67D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80DF3C-14BB-3EAB-CCAE-EFD1A1E07853}"/>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89843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5F1F48-36DA-3D8F-055D-9987CE14BA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7FAF20-0EAE-DEF1-D62B-D77468DFDB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E80771-3E4D-B243-EC63-6B3C5F35E2D1}"/>
              </a:ext>
            </a:extLst>
          </p:cNvPr>
          <p:cNvSpPr>
            <a:spLocks noGrp="1"/>
          </p:cNvSpPr>
          <p:nvPr>
            <p:ph type="dt" sz="half" idx="10"/>
          </p:nvPr>
        </p:nvSpPr>
        <p:spPr/>
        <p:txBody>
          <a:bodyPr/>
          <a:lstStyle/>
          <a:p>
            <a:fld id="{B608E68C-3C50-42C3-8893-ABCD9F7F9C90}" type="datetimeFigureOut">
              <a:rPr lang="en-GB" smtClean="0"/>
              <a:t>29/09/2026</a:t>
            </a:fld>
            <a:endParaRPr lang="en-GB"/>
          </a:p>
        </p:txBody>
      </p:sp>
      <p:sp>
        <p:nvSpPr>
          <p:cNvPr id="5" name="Footer Placeholder 4">
            <a:extLst>
              <a:ext uri="{FF2B5EF4-FFF2-40B4-BE49-F238E27FC236}">
                <a16:creationId xmlns:a16="http://schemas.microsoft.com/office/drawing/2014/main" id="{4D493F8D-0E82-FF4C-A235-A6A6F0019A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C52078-CD85-FFD3-4121-6284B20B1998}"/>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640617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8A668-4723-EEDA-821B-1C4A126C4B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F5655D-5B90-3075-DE5B-83D49F7AB0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5ECC07-285A-E210-664A-DA8DA06BE4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08E68C-3C50-42C3-8893-ABCD9F7F9C90}" type="datetimeFigureOut">
              <a:rPr lang="en-GB" smtClean="0"/>
              <a:t>29/09/2026</a:t>
            </a:fld>
            <a:endParaRPr lang="en-GB"/>
          </a:p>
        </p:txBody>
      </p:sp>
      <p:sp>
        <p:nvSpPr>
          <p:cNvPr id="5" name="Footer Placeholder 4">
            <a:extLst>
              <a:ext uri="{FF2B5EF4-FFF2-40B4-BE49-F238E27FC236}">
                <a16:creationId xmlns:a16="http://schemas.microsoft.com/office/drawing/2014/main" id="{7336C60C-33EF-9D3B-85A0-9085DEA43B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231E3B7-AF49-0571-8658-362C6B128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B30B6B-499A-45B4-B5B3-CE8484DC497F}" type="slidenum">
              <a:rPr lang="en-GB" smtClean="0"/>
              <a:t>‹#›</a:t>
            </a:fld>
            <a:endParaRPr lang="en-GB"/>
          </a:p>
        </p:txBody>
      </p:sp>
    </p:spTree>
    <p:extLst>
      <p:ext uri="{BB962C8B-B14F-4D97-AF65-F5344CB8AC3E}">
        <p14:creationId xmlns:p14="http://schemas.microsoft.com/office/powerpoint/2010/main" val="1182191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2.jp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0.jpg" /><Relationship Id="rId2" Type="http://schemas.openxmlformats.org/officeDocument/2006/relationships/notesSlide" Target="../notesSlides/notesSlide5.xml" /><Relationship Id="rId1" Type="http://schemas.openxmlformats.org/officeDocument/2006/relationships/slideLayout" Target="../slideLayouts/slideLayout2.xml" /><Relationship Id="rId4" Type="http://schemas.openxmlformats.org/officeDocument/2006/relationships/hyperlink" Target="https://pixabay.com/en/software-binary-system-1-0-binary-557603/" TargetMode="External" /></Relationships>
</file>

<file path=ppt/slides/_rels/slide11.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jp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8" Type="http://schemas.openxmlformats.org/officeDocument/2006/relationships/image" Target="../media/image19.png" /><Relationship Id="rId3" Type="http://schemas.openxmlformats.org/officeDocument/2006/relationships/image" Target="../media/image14.jpg" /><Relationship Id="rId7" Type="http://schemas.openxmlformats.org/officeDocument/2006/relationships/image" Target="../media/image18.png" /><Relationship Id="rId2" Type="http://schemas.openxmlformats.org/officeDocument/2006/relationships/notesSlide" Target="../notesSlides/notesSlide6.xml" /><Relationship Id="rId1" Type="http://schemas.openxmlformats.org/officeDocument/2006/relationships/slideLayout" Target="../slideLayouts/slideLayout2.xml" /><Relationship Id="rId6" Type="http://schemas.openxmlformats.org/officeDocument/2006/relationships/image" Target="../media/image17.png" /><Relationship Id="rId5" Type="http://schemas.openxmlformats.org/officeDocument/2006/relationships/image" Target="../media/image16.jpg" /><Relationship Id="rId4" Type="http://schemas.openxmlformats.org/officeDocument/2006/relationships/image" Target="../media/image15.png" /><Relationship Id="rId9" Type="http://schemas.microsoft.com/office/2007/relationships/hdphoto" Target="../media/hdphoto1.wdp"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20.jp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hyperlink" Target="https://www.nerdcoding.org/post/2018/2018-12-16-tls-x509/" TargetMode="External" /><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23.jpg" /><Relationship Id="rId2" Type="http://schemas.openxmlformats.org/officeDocument/2006/relationships/image" Target="../media/image22.jp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24.jp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26.jpe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27.jpe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28.jpe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image" Target="../media/image29.jpe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30.jpe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image" Target="../media/image31.jpe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32.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33.jpe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34.jpe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image" Target="../media/image35.jpe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image" Target="../media/image36.jpeg"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image" Target="../media/image37.jpe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2" Type="http://schemas.openxmlformats.org/officeDocument/2006/relationships/image" Target="../media/image38.jpeg"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2" Type="http://schemas.openxmlformats.org/officeDocument/2006/relationships/image" Target="../media/image39.jpeg"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2" Type="http://schemas.openxmlformats.org/officeDocument/2006/relationships/image" Target="../media/image40.png" /><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2" Type="http://schemas.openxmlformats.org/officeDocument/2006/relationships/image" Target="../media/image41.jpeg" /><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3" Type="http://schemas.openxmlformats.org/officeDocument/2006/relationships/image" Target="../media/image43.jpeg" /><Relationship Id="rId2" Type="http://schemas.openxmlformats.org/officeDocument/2006/relationships/image" Target="../media/image42.jpeg" /><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2" Type="http://schemas.openxmlformats.org/officeDocument/2006/relationships/image" Target="../media/image44.png"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image" Target="../media/image45.png"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2" Type="http://schemas.openxmlformats.org/officeDocument/2006/relationships/image" Target="../media/image46.png"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2" Type="http://schemas.openxmlformats.org/officeDocument/2006/relationships/image" Target="../media/image47.jpeg" /><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2" Type="http://schemas.openxmlformats.org/officeDocument/2006/relationships/image" Target="../media/image48.jpeg" /><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2" Type="http://schemas.openxmlformats.org/officeDocument/2006/relationships/image" Target="../media/image49.jpeg" /><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2" Type="http://schemas.openxmlformats.org/officeDocument/2006/relationships/image" Target="../media/image50.png" /><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2" Type="http://schemas.openxmlformats.org/officeDocument/2006/relationships/image" Target="../media/image51.jpeg" /><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2" Type="http://schemas.openxmlformats.org/officeDocument/2006/relationships/image" Target="../media/image52.jpeg" /><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2" Type="http://schemas.openxmlformats.org/officeDocument/2006/relationships/image" Target="../media/image53.jpeg" /><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3" Type="http://schemas.openxmlformats.org/officeDocument/2006/relationships/image" Target="../media/image55.jpeg" /><Relationship Id="rId2" Type="http://schemas.openxmlformats.org/officeDocument/2006/relationships/image" Target="../media/image54.jpeg" /><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2" Type="http://schemas.openxmlformats.org/officeDocument/2006/relationships/image" Target="../media/image56.jpeg" /><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2" Type="http://schemas.openxmlformats.org/officeDocument/2006/relationships/image" Target="../media/image57.png" /><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2" Type="http://schemas.openxmlformats.org/officeDocument/2006/relationships/image" Target="../media/image58.jpeg" /><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2" Type="http://schemas.openxmlformats.org/officeDocument/2006/relationships/image" Target="../media/image59.jpeg" /><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 standalone="yes"?>
<Relationships xmlns="http://schemas.openxmlformats.org/package/2006/relationships"><Relationship Id="rId2" Type="http://schemas.openxmlformats.org/officeDocument/2006/relationships/image" Target="../media/image60.png" /><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2" Type="http://schemas.openxmlformats.org/officeDocument/2006/relationships/image" Target="../media/image61.jpeg" /><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2" Type="http://schemas.openxmlformats.org/officeDocument/2006/relationships/image" Target="../media/image62.jpeg" /><Relationship Id="rId1" Type="http://schemas.openxmlformats.org/officeDocument/2006/relationships/slideLayout" Target="../slideLayouts/slideLayout2.xml" /></Relationships>
</file>

<file path=ppt/slides/_rels/slide100.xml.rels><?xml version="1.0" encoding="UTF-8" standalone="yes"?>
<Relationships xmlns="http://schemas.openxmlformats.org/package/2006/relationships"><Relationship Id="rId3" Type="http://schemas.openxmlformats.org/officeDocument/2006/relationships/image" Target="../media/image64.png" /><Relationship Id="rId2" Type="http://schemas.openxmlformats.org/officeDocument/2006/relationships/image" Target="../media/image63.jpeg" /><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2" Type="http://schemas.openxmlformats.org/officeDocument/2006/relationships/image" Target="../media/image65.jpeg" /><Relationship Id="rId1" Type="http://schemas.openxmlformats.org/officeDocument/2006/relationships/slideLayout" Target="../slideLayouts/slideLayout2.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3" Type="http://schemas.openxmlformats.org/officeDocument/2006/relationships/image" Target="../media/image67.jpeg" /><Relationship Id="rId2" Type="http://schemas.openxmlformats.org/officeDocument/2006/relationships/image" Target="../media/image66.jpeg" /><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2" Type="http://schemas.openxmlformats.org/officeDocument/2006/relationships/image" Target="../media/image68.jpeg" /><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2" Type="http://schemas.openxmlformats.org/officeDocument/2006/relationships/image" Target="../media/image69.png" /><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2" Type="http://schemas.openxmlformats.org/officeDocument/2006/relationships/image" Target="../media/image70.png" /><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2" Type="http://schemas.openxmlformats.org/officeDocument/2006/relationships/image" Target="../media/image71.png" /><Relationship Id="rId1" Type="http://schemas.openxmlformats.org/officeDocument/2006/relationships/slideLayout" Target="../slideLayouts/slideLayout2.xml" /></Relationships>
</file>

<file path=ppt/slides/_rels/slide110.xml.rels><?xml version="1.0" encoding="UTF-8" standalone="yes"?>
<Relationships xmlns="http://schemas.openxmlformats.org/package/2006/relationships"><Relationship Id="rId3" Type="http://schemas.openxmlformats.org/officeDocument/2006/relationships/image" Target="../media/image73.png" /><Relationship Id="rId2" Type="http://schemas.openxmlformats.org/officeDocument/2006/relationships/image" Target="../media/image72.jpeg" /><Relationship Id="rId1" Type="http://schemas.openxmlformats.org/officeDocument/2006/relationships/slideLayout" Target="../slideLayouts/slideLayout2.xml" /></Relationships>
</file>

<file path=ppt/slides/_rels/slide111.xml.rels><?xml version="1.0" encoding="UTF-8" standalone="yes"?>
<Relationships xmlns="http://schemas.openxmlformats.org/package/2006/relationships"><Relationship Id="rId3" Type="http://schemas.openxmlformats.org/officeDocument/2006/relationships/image" Target="../media/image75.jpeg" /><Relationship Id="rId2" Type="http://schemas.openxmlformats.org/officeDocument/2006/relationships/image" Target="../media/image74.jpeg" /><Relationship Id="rId1" Type="http://schemas.openxmlformats.org/officeDocument/2006/relationships/slideLayout" Target="../slideLayouts/slideLayout2.xml" /><Relationship Id="rId4" Type="http://schemas.openxmlformats.org/officeDocument/2006/relationships/image" Target="../media/image76.jpeg" /></Relationships>
</file>

<file path=ppt/slides/_rels/slide112.xml.rels><?xml version="1.0" encoding="UTF-8" standalone="yes"?>
<Relationships xmlns="http://schemas.openxmlformats.org/package/2006/relationships"><Relationship Id="rId2" Type="http://schemas.openxmlformats.org/officeDocument/2006/relationships/image" Target="../media/image77.jpeg" /><Relationship Id="rId1" Type="http://schemas.openxmlformats.org/officeDocument/2006/relationships/slideLayout" Target="../slideLayouts/slideLayout2.xml" /></Relationships>
</file>

<file path=ppt/slides/_rels/slide113.xml.rels><?xml version="1.0" encoding="UTF-8" standalone="yes"?>
<Relationships xmlns="http://schemas.openxmlformats.org/package/2006/relationships"><Relationship Id="rId2" Type="http://schemas.openxmlformats.org/officeDocument/2006/relationships/image" Target="../media/image78.jpeg" /><Relationship Id="rId1" Type="http://schemas.openxmlformats.org/officeDocument/2006/relationships/slideLayout" Target="../slideLayouts/slideLayout2.xml"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 standalone="yes"?>
<Relationships xmlns="http://schemas.openxmlformats.org/package/2006/relationships"><Relationship Id="rId2" Type="http://schemas.openxmlformats.org/officeDocument/2006/relationships/image" Target="../media/image79.jpeg" /><Relationship Id="rId1" Type="http://schemas.openxmlformats.org/officeDocument/2006/relationships/slideLayout" Target="../slideLayouts/slideLayout2.xml" /></Relationships>
</file>

<file path=ppt/slides/_rels/slide116.xml.rels><?xml version="1.0" encoding="UTF-8" standalone="yes"?>
<Relationships xmlns="http://schemas.openxmlformats.org/package/2006/relationships"><Relationship Id="rId2" Type="http://schemas.openxmlformats.org/officeDocument/2006/relationships/image" Target="../media/image80.jpeg" /><Relationship Id="rId1" Type="http://schemas.openxmlformats.org/officeDocument/2006/relationships/slideLayout" Target="../slideLayouts/slideLayout2.xml" /></Relationships>
</file>

<file path=ppt/slides/_rels/slide117.xml.rels><?xml version="1.0" encoding="UTF-8" standalone="yes"?>
<Relationships xmlns="http://schemas.openxmlformats.org/package/2006/relationships"><Relationship Id="rId2" Type="http://schemas.openxmlformats.org/officeDocument/2006/relationships/image" Target="../media/image81.jpeg" /><Relationship Id="rId1" Type="http://schemas.openxmlformats.org/officeDocument/2006/relationships/slideLayout" Target="../slideLayouts/slideLayout2.xml"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 standalone="yes"?>
<Relationships xmlns="http://schemas.openxmlformats.org/package/2006/relationships"><Relationship Id="rId2" Type="http://schemas.openxmlformats.org/officeDocument/2006/relationships/image" Target="../media/image82.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computer chip&#10;&#10;Description automatically generated">
            <a:extLst>
              <a:ext uri="{FF2B5EF4-FFF2-40B4-BE49-F238E27FC236}">
                <a16:creationId xmlns:a16="http://schemas.microsoft.com/office/drawing/2014/main" id="{BF0B474D-C007-1ACD-82D3-CB12FA686614}"/>
              </a:ext>
            </a:extLst>
          </p:cNvPr>
          <p:cNvPicPr>
            <a:picLocks noChangeAspect="1"/>
          </p:cNvPicPr>
          <p:nvPr/>
        </p:nvPicPr>
        <p:blipFill>
          <a:blip r:embed="rId2">
            <a:extLst>
              <a:ext uri="{28A0092B-C50C-407E-A947-70E740481C1C}">
                <a14:useLocalDpi xmlns:a14="http://schemas.microsoft.com/office/drawing/2010/main" val="0"/>
              </a:ext>
            </a:extLst>
          </a:blip>
          <a:srcRect l="11311" r="566"/>
          <a:stretch/>
        </p:blipFill>
        <p:spPr>
          <a:xfrm>
            <a:off x="1" y="10"/>
            <a:ext cx="9669642" cy="6857990"/>
          </a:xfrm>
          <a:prstGeom prst="rect">
            <a:avLst/>
          </a:prstGeom>
        </p:spPr>
      </p:pic>
      <p:sp>
        <p:nvSpPr>
          <p:cNvPr id="20" name="Rectangle 1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A42E4B-D443-9B38-FD32-B92A25B23C9C}"/>
              </a:ext>
            </a:extLst>
          </p:cNvPr>
          <p:cNvSpPr>
            <a:spLocks noGrp="1"/>
          </p:cNvSpPr>
          <p:nvPr>
            <p:ph type="ctrTitle"/>
          </p:nvPr>
        </p:nvSpPr>
        <p:spPr>
          <a:xfrm>
            <a:off x="8366722" y="96466"/>
            <a:ext cx="3445765" cy="2431074"/>
          </a:xfrm>
          <a:noFill/>
        </p:spPr>
        <p:txBody>
          <a:bodyPr>
            <a:normAutofit/>
          </a:bodyPr>
          <a:lstStyle/>
          <a:p>
            <a:pPr algn="r"/>
            <a:r>
              <a:rPr lang="en-GB" sz="8000" dirty="0">
                <a:latin typeface="Daytona Condensed" panose="020B0506030503040204" pitchFamily="34" charset="0"/>
              </a:rPr>
              <a:t>ESP 32 </a:t>
            </a:r>
            <a:r>
              <a:rPr lang="en-GB" sz="4400" dirty="0">
                <a:latin typeface="Daytona Condensed" panose="020B0506030503040204" pitchFamily="34" charset="0"/>
              </a:rPr>
              <a:t>Architecture</a:t>
            </a:r>
            <a:endParaRPr lang="en-GB" sz="5400" dirty="0">
              <a:latin typeface="Daytona Condensed" panose="020B0506030503040204" pitchFamily="34" charset="0"/>
            </a:endParaRPr>
          </a:p>
        </p:txBody>
      </p:sp>
      <p:sp>
        <p:nvSpPr>
          <p:cNvPr id="3" name="Subtitle 2">
            <a:extLst>
              <a:ext uri="{FF2B5EF4-FFF2-40B4-BE49-F238E27FC236}">
                <a16:creationId xmlns:a16="http://schemas.microsoft.com/office/drawing/2014/main" id="{479B5B80-4C6C-BC53-8F76-3656BBE4ACC3}"/>
              </a:ext>
            </a:extLst>
          </p:cNvPr>
          <p:cNvSpPr>
            <a:spLocks noGrp="1"/>
          </p:cNvSpPr>
          <p:nvPr>
            <p:ph type="subTitle" idx="1"/>
          </p:nvPr>
        </p:nvSpPr>
        <p:spPr>
          <a:xfrm>
            <a:off x="8366721" y="5612645"/>
            <a:ext cx="3445766" cy="1485319"/>
          </a:xfrm>
          <a:noFill/>
        </p:spPr>
        <p:txBody>
          <a:bodyPr>
            <a:normAutofit/>
          </a:bodyPr>
          <a:lstStyle/>
          <a:p>
            <a:pPr algn="l"/>
            <a:endParaRPr lang="en-GB" sz="2800" dirty="0"/>
          </a:p>
          <a:p>
            <a:pPr algn="r"/>
            <a:r>
              <a:rPr lang="en-GB" sz="2800" dirty="0">
                <a:latin typeface="Daytona Condensed" panose="020B0506030503040204" pitchFamily="34" charset="0"/>
              </a:rPr>
              <a:t>Akbar Q</a:t>
            </a:r>
          </a:p>
        </p:txBody>
      </p:sp>
      <p:pic>
        <p:nvPicPr>
          <p:cNvPr id="15" name="Picture 14" descr="A red logo with a circle and a ball&#10;&#10;Description automatically generated">
            <a:extLst>
              <a:ext uri="{FF2B5EF4-FFF2-40B4-BE49-F238E27FC236}">
                <a16:creationId xmlns:a16="http://schemas.microsoft.com/office/drawing/2014/main" id="{8E312F99-35C4-2CCA-57D3-0D38885FB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718" y="2527540"/>
            <a:ext cx="2845769" cy="2845769"/>
          </a:xfrm>
          <a:prstGeom prst="rect">
            <a:avLst/>
          </a:prstGeom>
        </p:spPr>
      </p:pic>
    </p:spTree>
    <p:extLst>
      <p:ext uri="{BB962C8B-B14F-4D97-AF65-F5344CB8AC3E}">
        <p14:creationId xmlns:p14="http://schemas.microsoft.com/office/powerpoint/2010/main" val="287828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Content Placeholder 10" descr="A group of people standing under a canopy&#10;&#10;Description automatically generated">
            <a:extLst>
              <a:ext uri="{FF2B5EF4-FFF2-40B4-BE49-F238E27FC236}">
                <a16:creationId xmlns:a16="http://schemas.microsoft.com/office/drawing/2014/main" id="{9D642AC3-107D-0FB6-68D4-6479E3BDA8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0" y="10"/>
            <a:ext cx="12191980" cy="6857990"/>
          </a:xfrm>
          <a:prstGeom prst="rect">
            <a:avLst/>
          </a:prstGeom>
        </p:spPr>
      </p:pic>
      <p:sp>
        <p:nvSpPr>
          <p:cNvPr id="16" name="Rectangle 1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BA9591-AEEC-339D-687E-C7B12037B43D}"/>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dirty="0">
                <a:solidFill>
                  <a:schemeClr val="tx1">
                    <a:lumMod val="85000"/>
                    <a:lumOff val="15000"/>
                  </a:schemeClr>
                </a:solidFill>
              </a:rPr>
              <a:t>What Do You Mean by Architecture?</a:t>
            </a:r>
          </a:p>
        </p:txBody>
      </p:sp>
      <p:cxnSp>
        <p:nvCxnSpPr>
          <p:cNvPr id="18" name="Straight Connector 17">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587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C623A-DD12-F5D6-A077-B8236978A7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FA98C-8C2F-B040-44EA-4A7C6D582F11}"/>
              </a:ext>
            </a:extLst>
          </p:cNvPr>
          <p:cNvSpPr>
            <a:spLocks noGrp="1"/>
          </p:cNvSpPr>
          <p:nvPr>
            <p:ph idx="1"/>
          </p:nvPr>
        </p:nvSpPr>
        <p:spPr>
          <a:xfrm>
            <a:off x="439947" y="543464"/>
            <a:ext cx="6968560" cy="6012610"/>
          </a:xfrm>
        </p:spPr>
        <p:txBody>
          <a:bodyPr>
            <a:normAutofit/>
          </a:bodyPr>
          <a:lstStyle/>
          <a:p>
            <a:pPr marL="0" indent="0" algn="just">
              <a:spcBef>
                <a:spcPts val="1200"/>
              </a:spcBef>
              <a:spcAft>
                <a:spcPts val="600"/>
              </a:spcAft>
              <a:buNone/>
            </a:pPr>
            <a:r>
              <a:rPr lang="en-US" sz="3600" b="1" dirty="0"/>
              <a:t>Definition: </a:t>
            </a:r>
            <a:r>
              <a:rPr lang="en-US" sz="3600" dirty="0"/>
              <a:t>Architecture refers to the </a:t>
            </a:r>
            <a:r>
              <a:rPr lang="en-US" sz="3600" i="1" dirty="0"/>
              <a:t>structure and design </a:t>
            </a:r>
            <a:r>
              <a:rPr lang="en-US" sz="3600" dirty="0"/>
              <a:t>of a system's internal components</a:t>
            </a:r>
          </a:p>
          <a:p>
            <a:pPr marL="0" indent="0" algn="just">
              <a:spcBef>
                <a:spcPts val="1200"/>
              </a:spcBef>
              <a:spcAft>
                <a:spcPts val="600"/>
              </a:spcAft>
              <a:buNone/>
            </a:pPr>
            <a:r>
              <a:rPr lang="en-US" sz="3200" dirty="0"/>
              <a:t>Including parts such as the: </a:t>
            </a:r>
          </a:p>
          <a:p>
            <a:pPr lvl="1" algn="just">
              <a:spcBef>
                <a:spcPts val="1200"/>
              </a:spcBef>
              <a:spcAft>
                <a:spcPts val="600"/>
              </a:spcAft>
            </a:pPr>
            <a:r>
              <a:rPr lang="en-US" sz="3200" dirty="0"/>
              <a:t>CPU </a:t>
            </a:r>
          </a:p>
          <a:p>
            <a:pPr lvl="1" algn="just">
              <a:spcBef>
                <a:spcPts val="1200"/>
              </a:spcBef>
              <a:spcAft>
                <a:spcPts val="600"/>
              </a:spcAft>
            </a:pPr>
            <a:r>
              <a:rPr lang="en-US" sz="3200" dirty="0"/>
              <a:t>Memory </a:t>
            </a:r>
          </a:p>
          <a:p>
            <a:pPr lvl="1" algn="just">
              <a:spcBef>
                <a:spcPts val="1200"/>
              </a:spcBef>
              <a:spcAft>
                <a:spcPts val="600"/>
              </a:spcAft>
            </a:pPr>
            <a:r>
              <a:rPr lang="en-US" sz="3200" dirty="0"/>
              <a:t>Peripherals</a:t>
            </a:r>
          </a:p>
          <a:p>
            <a:pPr lvl="1" algn="just">
              <a:spcBef>
                <a:spcPts val="1200"/>
              </a:spcBef>
              <a:spcAft>
                <a:spcPts val="600"/>
              </a:spcAft>
            </a:pPr>
            <a:r>
              <a:rPr lang="en-US" sz="3200" dirty="0"/>
              <a:t>Communication Interfaces</a:t>
            </a:r>
          </a:p>
        </p:txBody>
      </p:sp>
      <p:pic>
        <p:nvPicPr>
          <p:cNvPr id="4" name="Picture 3" descr="A burger with different ingredients&#10;&#10;Description automatically generated with medium confidence">
            <a:extLst>
              <a:ext uri="{FF2B5EF4-FFF2-40B4-BE49-F238E27FC236}">
                <a16:creationId xmlns:a16="http://schemas.microsoft.com/office/drawing/2014/main" id="{B8C671A6-21E0-563C-E23A-F1CEA7A3CF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7611" y="0"/>
            <a:ext cx="4288364" cy="6727371"/>
          </a:xfrm>
          <a:prstGeom prst="rect">
            <a:avLst/>
          </a:prstGeom>
        </p:spPr>
      </p:pic>
    </p:spTree>
    <p:extLst>
      <p:ext uri="{BB962C8B-B14F-4D97-AF65-F5344CB8AC3E}">
        <p14:creationId xmlns:p14="http://schemas.microsoft.com/office/powerpoint/2010/main" val="90040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A37AF-D618-72FB-A515-A584C4D2B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00426-B13C-9C71-94C4-52506E520D70}"/>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344C949D-2B2D-5BC9-A3A1-965FA6A2992A}"/>
              </a:ext>
            </a:extLst>
          </p:cNvPr>
          <p:cNvSpPr>
            <a:spLocks noGrp="1"/>
          </p:cNvSpPr>
          <p:nvPr>
            <p:ph type="subTitle" idx="1"/>
          </p:nvPr>
        </p:nvSpPr>
        <p:spPr/>
        <p:txBody>
          <a:bodyPr/>
          <a:lstStyle/>
          <a:p>
            <a:endParaRPr lang="en-GB" dirty="0"/>
          </a:p>
        </p:txBody>
      </p:sp>
      <p:pic>
        <p:nvPicPr>
          <p:cNvPr id="5" name="Picture 4" descr="A computer graphics on a background of stars&#10;&#10;Description automatically generated with medium confidence">
            <a:extLst>
              <a:ext uri="{FF2B5EF4-FFF2-40B4-BE49-F238E27FC236}">
                <a16:creationId xmlns:a16="http://schemas.microsoft.com/office/drawing/2014/main" id="{7E7FE758-6758-9285-D0E0-72810ECEC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0"/>
            <a:ext cx="13716000" cy="6858000"/>
          </a:xfrm>
          <a:prstGeom prst="rect">
            <a:avLst/>
          </a:prstGeom>
        </p:spPr>
      </p:pic>
    </p:spTree>
    <p:extLst>
      <p:ext uri="{BB962C8B-B14F-4D97-AF65-F5344CB8AC3E}">
        <p14:creationId xmlns:p14="http://schemas.microsoft.com/office/powerpoint/2010/main" val="121669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FE1C-A0FD-940F-7588-E36034373EAA}"/>
              </a:ext>
            </a:extLst>
          </p:cNvPr>
          <p:cNvSpPr>
            <a:spLocks noGrp="1"/>
          </p:cNvSpPr>
          <p:nvPr>
            <p:ph type="title"/>
          </p:nvPr>
        </p:nvSpPr>
        <p:spPr>
          <a:xfrm>
            <a:off x="277483" y="2812212"/>
            <a:ext cx="5056517" cy="2544792"/>
          </a:xfrm>
        </p:spPr>
        <p:txBody>
          <a:bodyPr>
            <a:normAutofit fontScale="90000"/>
          </a:bodyPr>
          <a:lstStyle/>
          <a:p>
            <a:r>
              <a:rPr lang="en-GB" sz="6000" dirty="0"/>
              <a:t>Scan For Module</a:t>
            </a:r>
            <a:br>
              <a:rPr lang="en-GB" sz="6000" dirty="0"/>
            </a:br>
            <a:r>
              <a:rPr lang="en-GB" sz="6000" dirty="0"/>
              <a:t>Data Sheet</a:t>
            </a:r>
          </a:p>
        </p:txBody>
      </p:sp>
      <p:pic>
        <p:nvPicPr>
          <p:cNvPr id="9" name="Picture 8">
            <a:extLst>
              <a:ext uri="{FF2B5EF4-FFF2-40B4-BE49-F238E27FC236}">
                <a16:creationId xmlns:a16="http://schemas.microsoft.com/office/drawing/2014/main" id="{DF285C82-CB85-6D11-231C-13A22A10D4BB}"/>
              </a:ext>
            </a:extLst>
          </p:cNvPr>
          <p:cNvPicPr>
            <a:picLocks noChangeAspect="1"/>
          </p:cNvPicPr>
          <p:nvPr/>
        </p:nvPicPr>
        <p:blipFill>
          <a:blip r:embed="rId2"/>
          <a:stretch>
            <a:fillRect/>
          </a:stretch>
        </p:blipFill>
        <p:spPr>
          <a:xfrm>
            <a:off x="5334000" y="0"/>
            <a:ext cx="6858000" cy="6858000"/>
          </a:xfrm>
          <a:prstGeom prst="rect">
            <a:avLst/>
          </a:prstGeom>
        </p:spPr>
      </p:pic>
      <p:pic>
        <p:nvPicPr>
          <p:cNvPr id="10" name="Picture 9" descr="A red logo with a circle and a ball&#10;&#10;Description automatically generated">
            <a:extLst>
              <a:ext uri="{FF2B5EF4-FFF2-40B4-BE49-F238E27FC236}">
                <a16:creationId xmlns:a16="http://schemas.microsoft.com/office/drawing/2014/main" id="{4776BAFD-0BAD-E2B2-D0A1-19D5011C3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014" y="181155"/>
            <a:ext cx="2845769" cy="2845769"/>
          </a:xfrm>
          <a:prstGeom prst="rect">
            <a:avLst/>
          </a:prstGeom>
        </p:spPr>
      </p:pic>
    </p:spTree>
    <p:extLst>
      <p:ext uri="{BB962C8B-B14F-4D97-AF65-F5344CB8AC3E}">
        <p14:creationId xmlns:p14="http://schemas.microsoft.com/office/powerpoint/2010/main" val="266749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EFE11-C643-2265-430C-11E1385E0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A068D-B631-2DF1-6196-E6FF409E24DB}"/>
              </a:ext>
            </a:extLst>
          </p:cNvPr>
          <p:cNvSpPr>
            <a:spLocks noGrp="1"/>
          </p:cNvSpPr>
          <p:nvPr>
            <p:ph type="title"/>
          </p:nvPr>
        </p:nvSpPr>
        <p:spPr>
          <a:xfrm>
            <a:off x="6787191" y="4146316"/>
            <a:ext cx="5056517" cy="2544792"/>
          </a:xfrm>
        </p:spPr>
        <p:txBody>
          <a:bodyPr>
            <a:normAutofit/>
          </a:bodyPr>
          <a:lstStyle/>
          <a:p>
            <a:pPr algn="r"/>
            <a:r>
              <a:rPr lang="en-GB" sz="6000" dirty="0"/>
              <a:t>Scan For SoC</a:t>
            </a:r>
            <a:br>
              <a:rPr lang="en-GB" sz="6000" dirty="0"/>
            </a:br>
            <a:r>
              <a:rPr lang="en-GB" sz="6000" dirty="0"/>
              <a:t>Data Sheet</a:t>
            </a:r>
          </a:p>
        </p:txBody>
      </p:sp>
      <p:pic>
        <p:nvPicPr>
          <p:cNvPr id="10" name="Picture 9" descr="A red logo with a circle and a ball&#10;&#10;Description automatically generated">
            <a:extLst>
              <a:ext uri="{FF2B5EF4-FFF2-40B4-BE49-F238E27FC236}">
                <a16:creationId xmlns:a16="http://schemas.microsoft.com/office/drawing/2014/main" id="{B8EC66D6-05F6-90EB-2BFB-455618B9B9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1664" y="114480"/>
            <a:ext cx="2845769" cy="2845769"/>
          </a:xfrm>
          <a:prstGeom prst="rect">
            <a:avLst/>
          </a:prstGeom>
        </p:spPr>
      </p:pic>
      <p:pic>
        <p:nvPicPr>
          <p:cNvPr id="4" name="Picture 3">
            <a:extLst>
              <a:ext uri="{FF2B5EF4-FFF2-40B4-BE49-F238E27FC236}">
                <a16:creationId xmlns:a16="http://schemas.microsoft.com/office/drawing/2014/main" id="{54B1814E-8F70-765E-C1B8-E77C39384223}"/>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4119438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E4C4E923-29E2-CB3D-01B7-6C5AE4709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B004BBB8-6FE1-25C1-192F-A17D36FC1EEA}"/>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3C0CFC9F-65D7-598B-D998-EB8B513CE1CB}"/>
              </a:ext>
            </a:extLst>
          </p:cNvPr>
          <p:cNvSpPr txBox="1"/>
          <p:nvPr/>
        </p:nvSpPr>
        <p:spPr>
          <a:xfrm>
            <a:off x="533400" y="5335906"/>
            <a:ext cx="4741544" cy="1077218"/>
          </a:xfrm>
          <a:prstGeom prst="rect">
            <a:avLst/>
          </a:prstGeom>
          <a:noFill/>
        </p:spPr>
        <p:txBody>
          <a:bodyPr wrap="square" rtlCol="0">
            <a:spAutoFit/>
          </a:bodyPr>
          <a:lstStyle/>
          <a:p>
            <a:r>
              <a:rPr lang="en-GB" sz="3600" dirty="0"/>
              <a:t>It is Very</a:t>
            </a:r>
          </a:p>
          <a:p>
            <a:r>
              <a:rPr lang="en-GB" sz="2800" dirty="0"/>
              <a:t>Comprehensive</a:t>
            </a:r>
          </a:p>
        </p:txBody>
      </p:sp>
    </p:spTree>
    <p:extLst>
      <p:ext uri="{BB962C8B-B14F-4D97-AF65-F5344CB8AC3E}">
        <p14:creationId xmlns:p14="http://schemas.microsoft.com/office/powerpoint/2010/main" val="4248186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shadeToTitle="1">
        <a:solidFill>
          <a:schemeClr val="bg1">
            <a:lumMod val="95000"/>
          </a:schemeClr>
        </a:solidFill>
        <a:effectLst/>
      </p:bgPr>
    </p:bg>
    <p:spTree>
      <p:nvGrpSpPr>
        <p:cNvPr id="1" name="">
          <a:extLst>
            <a:ext uri="{FF2B5EF4-FFF2-40B4-BE49-F238E27FC236}">
              <a16:creationId xmlns:a16="http://schemas.microsoft.com/office/drawing/2014/main" id="{1B966E4D-3D37-1B07-5679-62EAD6A9ADA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5E3FEF45-30A6-541A-9A74-7F81CEA14162}"/>
              </a:ext>
            </a:extLst>
          </p:cNvPr>
          <p:cNvPicPr>
            <a:picLocks noChangeAspect="1"/>
          </p:cNvPicPr>
          <p:nvPr/>
        </p:nvPicPr>
        <p:blipFill>
          <a:blip r:embed="rId3">
            <a:extLst>
              <a:ext uri="{28A0092B-C50C-407E-A947-70E740481C1C}">
                <a14:useLocalDpi xmlns:a14="http://schemas.microsoft.com/office/drawing/2010/main" val="0"/>
              </a:ext>
            </a:extLst>
          </a:blip>
          <a:srcRect l="28436" t="39028" r="35218" b="25833"/>
          <a:stretch/>
        </p:blipFill>
        <p:spPr>
          <a:xfrm>
            <a:off x="4590427" y="157058"/>
            <a:ext cx="7500894" cy="6543884"/>
          </a:xfrm>
          <a:prstGeom prst="rect">
            <a:avLst/>
          </a:prstGeom>
        </p:spPr>
      </p:pic>
      <p:sp>
        <p:nvSpPr>
          <p:cNvPr id="13" name="TextBox 12">
            <a:extLst>
              <a:ext uri="{FF2B5EF4-FFF2-40B4-BE49-F238E27FC236}">
                <a16:creationId xmlns:a16="http://schemas.microsoft.com/office/drawing/2014/main" id="{AAD9C613-F054-A15B-4628-658732211D17}"/>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B0FB59B4-219A-5B57-D785-12A6B3EDD2EE}"/>
              </a:ext>
            </a:extLst>
          </p:cNvPr>
          <p:cNvSpPr txBox="1"/>
          <p:nvPr/>
        </p:nvSpPr>
        <p:spPr>
          <a:xfrm>
            <a:off x="438150" y="5410021"/>
            <a:ext cx="4741544" cy="1200329"/>
          </a:xfrm>
          <a:prstGeom prst="rect">
            <a:avLst/>
          </a:prstGeom>
          <a:noFill/>
        </p:spPr>
        <p:txBody>
          <a:bodyPr wrap="square" rtlCol="0">
            <a:spAutoFit/>
          </a:bodyPr>
          <a:lstStyle/>
          <a:p>
            <a:r>
              <a:rPr lang="en-GB" sz="3600" dirty="0"/>
              <a:t>Starting with</a:t>
            </a:r>
          </a:p>
          <a:p>
            <a:r>
              <a:rPr lang="en-GB" sz="3600" dirty="0"/>
              <a:t>The CORE</a:t>
            </a:r>
            <a:endParaRPr lang="en-GB" sz="2800" dirty="0"/>
          </a:p>
        </p:txBody>
      </p:sp>
    </p:spTree>
    <p:extLst>
      <p:ext uri="{BB962C8B-B14F-4D97-AF65-F5344CB8AC3E}">
        <p14:creationId xmlns:p14="http://schemas.microsoft.com/office/powerpoint/2010/main" val="868039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33832-3BF3-7E5B-1B65-92E88DE528BB}"/>
              </a:ext>
            </a:extLst>
          </p:cNvPr>
          <p:cNvSpPr>
            <a:spLocks noGrp="1"/>
          </p:cNvSpPr>
          <p:nvPr>
            <p:ph type="title"/>
          </p:nvPr>
        </p:nvSpPr>
        <p:spPr>
          <a:xfrm>
            <a:off x="809624" y="543719"/>
            <a:ext cx="9725025" cy="2285206"/>
          </a:xfrm>
        </p:spPr>
        <p:txBody>
          <a:bodyPr>
            <a:normAutofit/>
          </a:bodyPr>
          <a:lstStyle/>
          <a:p>
            <a:r>
              <a:rPr lang="en-GB" dirty="0"/>
              <a:t>What Does it Mean by</a:t>
            </a:r>
            <a:br>
              <a:rPr lang="en-GB" dirty="0"/>
            </a:br>
            <a:r>
              <a:rPr lang="en-GB" b="1" dirty="0">
                <a:solidFill>
                  <a:srgbClr val="1E4CA1"/>
                </a:solidFill>
              </a:rPr>
              <a:t>Xtensa</a:t>
            </a:r>
            <a:r>
              <a:rPr lang="en-GB" dirty="0"/>
              <a:t> 32 Bit </a:t>
            </a:r>
            <a:r>
              <a:rPr lang="en-GB" b="1" dirty="0">
                <a:solidFill>
                  <a:srgbClr val="0A8F4A"/>
                </a:solidFill>
              </a:rPr>
              <a:t>LX6</a:t>
            </a:r>
            <a:br>
              <a:rPr lang="en-GB" dirty="0"/>
            </a:br>
            <a:r>
              <a:rPr lang="en-GB" dirty="0"/>
              <a:t>Microprocessors? </a:t>
            </a:r>
          </a:p>
        </p:txBody>
      </p:sp>
      <p:pic>
        <p:nvPicPr>
          <p:cNvPr id="5" name="Content Placeholder 4" descr="A blue and green logo&#10;&#10;Description automatically generated">
            <a:extLst>
              <a:ext uri="{FF2B5EF4-FFF2-40B4-BE49-F238E27FC236}">
                <a16:creationId xmlns:a16="http://schemas.microsoft.com/office/drawing/2014/main" id="{AC45E68C-F9F6-E9BD-7E25-2013898A68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34855" y="315119"/>
            <a:ext cx="4309495" cy="2742406"/>
          </a:xfrm>
        </p:spPr>
      </p:pic>
      <p:sp>
        <p:nvSpPr>
          <p:cNvPr id="6" name="TextBox 5">
            <a:extLst>
              <a:ext uri="{FF2B5EF4-FFF2-40B4-BE49-F238E27FC236}">
                <a16:creationId xmlns:a16="http://schemas.microsoft.com/office/drawing/2014/main" id="{65DA88F0-0020-53DB-93C7-92029E79125F}"/>
              </a:ext>
            </a:extLst>
          </p:cNvPr>
          <p:cNvSpPr txBox="1"/>
          <p:nvPr/>
        </p:nvSpPr>
        <p:spPr>
          <a:xfrm>
            <a:off x="576262" y="3800476"/>
            <a:ext cx="11039475" cy="2062103"/>
          </a:xfrm>
          <a:prstGeom prst="rect">
            <a:avLst/>
          </a:prstGeom>
          <a:noFill/>
        </p:spPr>
        <p:txBody>
          <a:bodyPr wrap="square" rtlCol="0">
            <a:spAutoFit/>
          </a:bodyPr>
          <a:lstStyle/>
          <a:p>
            <a:pPr algn="just"/>
            <a:r>
              <a:rPr lang="en-US" sz="3200" dirty="0"/>
              <a:t>Tensilica Inc. was a company based in Silicon Valley in the semiconductor intellectual property core business. It is now a part of Cadence Design Systems. Tensilica offers customizable Xtensa microprocessor cores</a:t>
            </a:r>
            <a:endParaRPr lang="en-GB" sz="3200" dirty="0"/>
          </a:p>
        </p:txBody>
      </p:sp>
    </p:spTree>
    <p:extLst>
      <p:ext uri="{BB962C8B-B14F-4D97-AF65-F5344CB8AC3E}">
        <p14:creationId xmlns:p14="http://schemas.microsoft.com/office/powerpoint/2010/main" val="207162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5DF68D-FCA8-A8AB-FD33-50EC47808E5B}"/>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4" name="Rectangle 1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864B30-FBF3-2AA3-C83F-BCB80672B4AD}"/>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3700" dirty="0"/>
              <a:t>What Does it Mean by</a:t>
            </a:r>
            <a:br>
              <a:rPr lang="en-US" sz="3700" dirty="0"/>
            </a:br>
            <a:r>
              <a:rPr lang="en-US" sz="3700" dirty="0"/>
              <a:t>Xtensa </a:t>
            </a:r>
            <a:r>
              <a:rPr lang="en-US" sz="3700" b="1" dirty="0"/>
              <a:t>32 Bit </a:t>
            </a:r>
            <a:r>
              <a:rPr lang="en-US" sz="3700" dirty="0"/>
              <a:t>LX6</a:t>
            </a:r>
            <a:br>
              <a:rPr lang="en-US" sz="3700" dirty="0"/>
            </a:br>
            <a:r>
              <a:rPr lang="en-US" sz="3700" dirty="0"/>
              <a:t>Microprocessors? </a:t>
            </a:r>
          </a:p>
        </p:txBody>
      </p:sp>
      <p:sp>
        <p:nvSpPr>
          <p:cNvPr id="6" name="TextBox 5">
            <a:extLst>
              <a:ext uri="{FF2B5EF4-FFF2-40B4-BE49-F238E27FC236}">
                <a16:creationId xmlns:a16="http://schemas.microsoft.com/office/drawing/2014/main" id="{058793E6-A0CF-8876-B79B-728CDD004D35}"/>
              </a:ext>
            </a:extLst>
          </p:cNvPr>
          <p:cNvSpPr txBox="1"/>
          <p:nvPr/>
        </p:nvSpPr>
        <p:spPr>
          <a:xfrm>
            <a:off x="561975" y="2743200"/>
            <a:ext cx="5029199" cy="3613149"/>
          </a:xfrm>
          <a:prstGeom prst="rect">
            <a:avLst/>
          </a:prstGeom>
        </p:spPr>
        <p:txBody>
          <a:bodyPr vert="horz" lIns="91440" tIns="45720" rIns="91440" bIns="45720" rtlCol="0" anchor="ctr">
            <a:normAutofit fontScale="92500" lnSpcReduction="10000"/>
          </a:bodyPr>
          <a:lstStyle/>
          <a:p>
            <a:pPr indent="-228600">
              <a:lnSpc>
                <a:spcPct val="90000"/>
              </a:lnSpc>
              <a:spcAft>
                <a:spcPts val="600"/>
              </a:spcAft>
              <a:buFont typeface="Arial" panose="020B0604020202020204" pitchFamily="34" charset="0"/>
              <a:buChar char="•"/>
            </a:pPr>
            <a:r>
              <a:rPr lang="en-US" sz="2800" dirty="0"/>
              <a:t>The number of bits (e.g., 8-bit, 16-bit, 32-bit, 64-bit) indicates how many bits of data the processor can process at once.</a:t>
            </a:r>
          </a:p>
          <a:p>
            <a:pPr indent="-228600">
              <a:lnSpc>
                <a:spcPct val="90000"/>
              </a:lnSpc>
              <a:spcAft>
                <a:spcPts val="600"/>
              </a:spcAft>
              <a:buFont typeface="Arial" panose="020B0604020202020204" pitchFamily="34" charset="0"/>
              <a:buChar char="•"/>
            </a:pPr>
            <a:endParaRPr lang="en-US" sz="2800" dirty="0"/>
          </a:p>
          <a:p>
            <a:pPr indent="-228600">
              <a:lnSpc>
                <a:spcPct val="90000"/>
              </a:lnSpc>
              <a:spcAft>
                <a:spcPts val="600"/>
              </a:spcAft>
              <a:buFont typeface="Arial" panose="020B0604020202020204" pitchFamily="34" charset="0"/>
              <a:buChar char="•"/>
            </a:pPr>
            <a:r>
              <a:rPr lang="en-US" sz="2800" dirty="0"/>
              <a:t>A 32-bit processor can handle 32 bits (4 bytes) of data in one operation, while a 64-bit processor can handle 64 bits (8 bytes).</a:t>
            </a:r>
          </a:p>
        </p:txBody>
      </p:sp>
      <p:pic>
        <p:nvPicPr>
          <p:cNvPr id="8" name="Picture 7">
            <a:extLst>
              <a:ext uri="{FF2B5EF4-FFF2-40B4-BE49-F238E27FC236}">
                <a16:creationId xmlns:a16="http://schemas.microsoft.com/office/drawing/2014/main" id="{9B875CD8-5BD8-044C-5930-F45D18448CB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847" r="20847"/>
          <a:stretch/>
        </p:blipFill>
        <p:spPr>
          <a:xfrm>
            <a:off x="6095998" y="0"/>
            <a:ext cx="6102825" cy="6858000"/>
          </a:xfrm>
          <a:prstGeom prst="rect">
            <a:avLst/>
          </a:prstGeom>
        </p:spPr>
      </p:pic>
    </p:spTree>
    <p:extLst>
      <p:ext uri="{BB962C8B-B14F-4D97-AF65-F5344CB8AC3E}">
        <p14:creationId xmlns:p14="http://schemas.microsoft.com/office/powerpoint/2010/main" val="75045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99D2C73-08B0-4F6B-A8E9-4651E6BDB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8DB88C-7EF2-487C-85D1-848F61F13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highway with cars on it&#10;&#10;Description automatically generated">
            <a:extLst>
              <a:ext uri="{FF2B5EF4-FFF2-40B4-BE49-F238E27FC236}">
                <a16:creationId xmlns:a16="http://schemas.microsoft.com/office/drawing/2014/main" id="{6C3341E2-F778-2874-7E65-F7137113285D}"/>
              </a:ext>
            </a:extLst>
          </p:cNvPr>
          <p:cNvPicPr>
            <a:picLocks noChangeAspect="1"/>
          </p:cNvPicPr>
          <p:nvPr/>
        </p:nvPicPr>
        <p:blipFill>
          <a:blip r:embed="rId2">
            <a:extLst>
              <a:ext uri="{28A0092B-C50C-407E-A947-70E740481C1C}">
                <a14:useLocalDpi xmlns:a14="http://schemas.microsoft.com/office/drawing/2010/main" val="0"/>
              </a:ext>
            </a:extLst>
          </a:blip>
          <a:srcRect l="21684" r="13949" b="-2"/>
          <a:stretch/>
        </p:blipFill>
        <p:spPr>
          <a:xfrm>
            <a:off x="643467" y="643467"/>
            <a:ext cx="5372099" cy="5571066"/>
          </a:xfrm>
          <a:prstGeom prst="rect">
            <a:avLst/>
          </a:prstGeom>
        </p:spPr>
      </p:pic>
      <p:pic>
        <p:nvPicPr>
          <p:cNvPr id="5" name="Picture 4">
            <a:extLst>
              <a:ext uri="{FF2B5EF4-FFF2-40B4-BE49-F238E27FC236}">
                <a16:creationId xmlns:a16="http://schemas.microsoft.com/office/drawing/2014/main" id="{DCB1B8CC-9D5A-28AD-47C6-91D98C289793}"/>
              </a:ext>
            </a:extLst>
          </p:cNvPr>
          <p:cNvPicPr>
            <a:picLocks noChangeAspect="1"/>
          </p:cNvPicPr>
          <p:nvPr/>
        </p:nvPicPr>
        <p:blipFill>
          <a:blip r:embed="rId3">
            <a:extLst>
              <a:ext uri="{28A0092B-C50C-407E-A947-70E740481C1C}">
                <a14:useLocalDpi xmlns:a14="http://schemas.microsoft.com/office/drawing/2010/main" val="0"/>
              </a:ext>
            </a:extLst>
          </a:blip>
          <a:srcRect l="17857" r="17857"/>
          <a:stretch/>
        </p:blipFill>
        <p:spPr>
          <a:xfrm>
            <a:off x="6176432" y="643467"/>
            <a:ext cx="5372100" cy="5571066"/>
          </a:xfrm>
          <a:prstGeom prst="rect">
            <a:avLst/>
          </a:prstGeom>
        </p:spPr>
      </p:pic>
    </p:spTree>
    <p:extLst>
      <p:ext uri="{BB962C8B-B14F-4D97-AF65-F5344CB8AC3E}">
        <p14:creationId xmlns:p14="http://schemas.microsoft.com/office/powerpoint/2010/main" val="1486096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D768B77-8742-43A0-AF16-6AC4D378E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48B13CA8-CBEA-4805-955D-CEBE32236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17490" cy="5486399"/>
          </a:xfrm>
          <a:prstGeom prst="rect">
            <a:avLst/>
          </a:prstGeom>
          <a:ln>
            <a:noFill/>
          </a:ln>
          <a:effectLst>
            <a:outerShdw blurRad="393700" dist="127000" dir="5400000" sx="95000" sy="95000" algn="t"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E921BC-7FE2-B239-916C-2A06FC2CDD2A}"/>
              </a:ext>
            </a:extLst>
          </p:cNvPr>
          <p:cNvSpPr>
            <a:spLocks noGrp="1"/>
          </p:cNvSpPr>
          <p:nvPr>
            <p:ph type="title"/>
          </p:nvPr>
        </p:nvSpPr>
        <p:spPr>
          <a:xfrm>
            <a:off x="758952" y="813574"/>
            <a:ext cx="3221377" cy="3859252"/>
          </a:xfrm>
        </p:spPr>
        <p:txBody>
          <a:bodyPr vert="horz" lIns="91440" tIns="45720" rIns="91440" bIns="45720" rtlCol="0" anchor="t">
            <a:normAutofit/>
          </a:bodyPr>
          <a:lstStyle/>
          <a:p>
            <a:pPr algn="r"/>
            <a:r>
              <a:rPr lang="en-US" dirty="0"/>
              <a:t>Find Out The </a:t>
            </a:r>
            <a:r>
              <a:rPr lang="en-US" b="1" dirty="0"/>
              <a:t>3 Most</a:t>
            </a:r>
            <a:r>
              <a:rPr lang="en-US" dirty="0"/>
              <a:t> Prominent Architectures</a:t>
            </a:r>
          </a:p>
        </p:txBody>
      </p:sp>
      <p:pic>
        <p:nvPicPr>
          <p:cNvPr id="5" name="Picture 4" descr="Box design on a wall">
            <a:extLst>
              <a:ext uri="{FF2B5EF4-FFF2-40B4-BE49-F238E27FC236}">
                <a16:creationId xmlns:a16="http://schemas.microsoft.com/office/drawing/2014/main" id="{61A53B6C-4837-CAC5-9F09-75997FC6A1AF}"/>
              </a:ext>
            </a:extLst>
          </p:cNvPr>
          <p:cNvPicPr>
            <a:picLocks noChangeAspect="1"/>
          </p:cNvPicPr>
          <p:nvPr/>
        </p:nvPicPr>
        <p:blipFill>
          <a:blip r:embed="rId2"/>
          <a:srcRect l="20976" r="4194" b="-1"/>
          <a:stretch/>
        </p:blipFill>
        <p:spPr>
          <a:xfrm>
            <a:off x="4617490" y="1"/>
            <a:ext cx="7574510" cy="6858000"/>
          </a:xfrm>
          <a:prstGeom prst="rect">
            <a:avLst/>
          </a:prstGeom>
          <a:effectLst>
            <a:outerShdw blurRad="254000" dist="190500" dir="5580000" sx="90000" sy="90000" algn="ctr" rotWithShape="0">
              <a:srgbClr val="000000">
                <a:alpha val="25000"/>
              </a:srgbClr>
            </a:outerShdw>
          </a:effectLst>
        </p:spPr>
      </p:pic>
    </p:spTree>
    <p:extLst>
      <p:ext uri="{BB962C8B-B14F-4D97-AF65-F5344CB8AC3E}">
        <p14:creationId xmlns:p14="http://schemas.microsoft.com/office/powerpoint/2010/main" val="362172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21BC-7FE2-B239-916C-2A06FC2CDD2A}"/>
              </a:ext>
            </a:extLst>
          </p:cNvPr>
          <p:cNvSpPr>
            <a:spLocks noGrp="1"/>
          </p:cNvSpPr>
          <p:nvPr>
            <p:ph type="title"/>
          </p:nvPr>
        </p:nvSpPr>
        <p:spPr>
          <a:xfrm>
            <a:off x="758952" y="813574"/>
            <a:ext cx="3221377" cy="5301476"/>
          </a:xfrm>
        </p:spPr>
        <p:txBody>
          <a:bodyPr vert="horz" lIns="91440" tIns="45720" rIns="91440" bIns="45720" rtlCol="0" anchor="t">
            <a:normAutofit/>
          </a:bodyPr>
          <a:lstStyle/>
          <a:p>
            <a:pPr algn="r"/>
            <a:r>
              <a:rPr lang="en-US" dirty="0"/>
              <a:t>The </a:t>
            </a:r>
            <a:r>
              <a:rPr lang="en-US" b="1" dirty="0"/>
              <a:t>3 Most</a:t>
            </a:r>
            <a:r>
              <a:rPr lang="en-US" dirty="0"/>
              <a:t> Prominent Architectures</a:t>
            </a:r>
            <a:br>
              <a:rPr lang="en-GB" dirty="0"/>
            </a:br>
            <a:br>
              <a:rPr lang="en-GB" dirty="0"/>
            </a:br>
            <a:r>
              <a:rPr lang="en-GB" dirty="0"/>
              <a:t>x86</a:t>
            </a:r>
            <a:br>
              <a:rPr lang="en-GB" dirty="0"/>
            </a:br>
            <a:r>
              <a:rPr lang="en-GB" dirty="0"/>
              <a:t>ARM</a:t>
            </a:r>
            <a:br>
              <a:rPr lang="en-GB" dirty="0"/>
            </a:br>
            <a:r>
              <a:rPr lang="en-GB" dirty="0"/>
              <a:t>RISC-V</a:t>
            </a:r>
            <a:endParaRPr lang="en-US" dirty="0"/>
          </a:p>
        </p:txBody>
      </p:sp>
      <p:pic>
        <p:nvPicPr>
          <p:cNvPr id="5" name="Picture 4" descr="Box design on a wall">
            <a:extLst>
              <a:ext uri="{FF2B5EF4-FFF2-40B4-BE49-F238E27FC236}">
                <a16:creationId xmlns:a16="http://schemas.microsoft.com/office/drawing/2014/main" id="{61A53B6C-4837-CAC5-9F09-75997FC6A1AF}"/>
              </a:ext>
            </a:extLst>
          </p:cNvPr>
          <p:cNvPicPr>
            <a:picLocks noChangeAspect="1"/>
          </p:cNvPicPr>
          <p:nvPr/>
        </p:nvPicPr>
        <p:blipFill>
          <a:blip r:embed="rId2"/>
          <a:srcRect l="20976" r="4194" b="-1"/>
          <a:stretch/>
        </p:blipFill>
        <p:spPr>
          <a:xfrm>
            <a:off x="4617490" y="1"/>
            <a:ext cx="7574510" cy="6858000"/>
          </a:xfrm>
          <a:prstGeom prst="rect">
            <a:avLst/>
          </a:prstGeom>
          <a:effectLst>
            <a:outerShdw blurRad="254000" dist="190500" dir="5580000" sx="90000" sy="90000" algn="ctr" rotWithShape="0">
              <a:srgbClr val="000000">
                <a:alpha val="25000"/>
              </a:srgbClr>
            </a:outerShdw>
          </a:effectLst>
        </p:spPr>
      </p:pic>
    </p:spTree>
    <p:extLst>
      <p:ext uri="{BB962C8B-B14F-4D97-AF65-F5344CB8AC3E}">
        <p14:creationId xmlns:p14="http://schemas.microsoft.com/office/powerpoint/2010/main" val="8867526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FA0D69C-02E4-4916-4E89-23DAE499014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91401DC-7AF6-42FA-BE31-CF773B6C8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0"/>
            <a:ext cx="12188952" cy="68580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ue and yellow logo&#10;&#10;Description automatically generated">
            <a:extLst>
              <a:ext uri="{FF2B5EF4-FFF2-40B4-BE49-F238E27FC236}">
                <a16:creationId xmlns:a16="http://schemas.microsoft.com/office/drawing/2014/main" id="{AD4361AD-67F4-1230-5845-A2B31FF44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587" y="346167"/>
            <a:ext cx="1561139" cy="1588946"/>
          </a:xfrm>
          <a:prstGeom prst="rect">
            <a:avLst/>
          </a:prstGeom>
        </p:spPr>
      </p:pic>
      <p:pic>
        <p:nvPicPr>
          <p:cNvPr id="8" name="Picture 7" descr="A black background with a black square&#10;&#10;Description automatically generated with medium confidence">
            <a:extLst>
              <a:ext uri="{FF2B5EF4-FFF2-40B4-BE49-F238E27FC236}">
                <a16:creationId xmlns:a16="http://schemas.microsoft.com/office/drawing/2014/main" id="{8968175D-6095-929D-0CDA-5E4AD0558E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3774" y="346167"/>
            <a:ext cx="2751900" cy="1547944"/>
          </a:xfrm>
          <a:prstGeom prst="rect">
            <a:avLst/>
          </a:prstGeom>
        </p:spPr>
      </p:pic>
      <p:pic>
        <p:nvPicPr>
          <p:cNvPr id="12" name="Picture 11" descr="A logo with blue and orange letters&#10;&#10;Description automatically generated">
            <a:extLst>
              <a:ext uri="{FF2B5EF4-FFF2-40B4-BE49-F238E27FC236}">
                <a16:creationId xmlns:a16="http://schemas.microsoft.com/office/drawing/2014/main" id="{E44C837C-E1B2-9371-0D9D-AE593EA21A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83259" y="346167"/>
            <a:ext cx="3035192" cy="1547948"/>
          </a:xfrm>
          <a:prstGeom prst="rect">
            <a:avLst/>
          </a:prstGeom>
        </p:spPr>
      </p:pic>
      <p:pic>
        <p:nvPicPr>
          <p:cNvPr id="6" name="Picture 5" descr="A blue and black logo&#10;&#10;Description automatically generated">
            <a:extLst>
              <a:ext uri="{FF2B5EF4-FFF2-40B4-BE49-F238E27FC236}">
                <a16:creationId xmlns:a16="http://schemas.microsoft.com/office/drawing/2014/main" id="{E0C90BF3-81BB-DA01-8CE2-2DB4D0031F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449" y="2639045"/>
            <a:ext cx="2823413" cy="1588934"/>
          </a:xfrm>
          <a:prstGeom prst="rect">
            <a:avLst/>
          </a:prstGeom>
        </p:spPr>
      </p:pic>
      <p:pic>
        <p:nvPicPr>
          <p:cNvPr id="4" name="Picture 3" descr="A blue and white logo&#10;&#10;Description automatically generated">
            <a:extLst>
              <a:ext uri="{FF2B5EF4-FFF2-40B4-BE49-F238E27FC236}">
                <a16:creationId xmlns:a16="http://schemas.microsoft.com/office/drawing/2014/main" id="{C97405B3-2B52-C1F4-6196-F33E1FB701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762" y="4930536"/>
            <a:ext cx="2813624" cy="1582664"/>
          </a:xfrm>
          <a:prstGeom prst="rect">
            <a:avLst/>
          </a:prstGeom>
        </p:spPr>
      </p:pic>
      <p:sp>
        <p:nvSpPr>
          <p:cNvPr id="19" name="Rectangle 18">
            <a:extLst>
              <a:ext uri="{FF2B5EF4-FFF2-40B4-BE49-F238E27FC236}">
                <a16:creationId xmlns:a16="http://schemas.microsoft.com/office/drawing/2014/main" id="{2B7203F0-D9CB-4774-B9D4-B3AB625DF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7495" y="2300641"/>
            <a:ext cx="8124506" cy="455736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A88CB8AF-5631-45C6-BFEC-971C4D6E58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12188952"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F2EA1AF-73AB-4FCB-B4EE-0E42E7250F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8"/>
            <a:ext cx="4064320"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5A18FBF-6157-4210-BEF2-9A6C31FA89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431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C9CCA8-3CEC-4CD0-A624-A701C61251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20742"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D310FAE-36BB-8321-E13F-2C7408FB4753}"/>
              </a:ext>
            </a:extLst>
          </p:cNvPr>
          <p:cNvSpPr>
            <a:spLocks noGrp="1"/>
          </p:cNvSpPr>
          <p:nvPr>
            <p:ph idx="1"/>
          </p:nvPr>
        </p:nvSpPr>
        <p:spPr>
          <a:xfrm>
            <a:off x="4485180" y="2586447"/>
            <a:ext cx="7706820" cy="4285742"/>
          </a:xfrm>
        </p:spPr>
        <p:txBody>
          <a:bodyPr>
            <a:normAutofit/>
          </a:bodyPr>
          <a:lstStyle/>
          <a:p>
            <a:pPr marL="0" indent="0">
              <a:spcBef>
                <a:spcPts val="1200"/>
              </a:spcBef>
              <a:spcAft>
                <a:spcPts val="600"/>
              </a:spcAft>
              <a:buNone/>
            </a:pPr>
            <a:r>
              <a:rPr lang="en-US" sz="7200" b="1" dirty="0">
                <a:solidFill>
                  <a:srgbClr val="FFFFFF"/>
                </a:solidFill>
              </a:rPr>
              <a:t>Who Else Exists?</a:t>
            </a:r>
          </a:p>
          <a:p>
            <a:pPr marL="0" indent="0">
              <a:spcBef>
                <a:spcPts val="1200"/>
              </a:spcBef>
              <a:spcAft>
                <a:spcPts val="600"/>
              </a:spcAft>
              <a:buNone/>
            </a:pPr>
            <a:r>
              <a:rPr lang="en-US" sz="3600" dirty="0">
                <a:solidFill>
                  <a:srgbClr val="FFFFFF"/>
                </a:solidFill>
              </a:rPr>
              <a:t>Here are Some Juggernauts</a:t>
            </a:r>
          </a:p>
        </p:txBody>
      </p:sp>
      <p:pic>
        <p:nvPicPr>
          <p:cNvPr id="14" name="Picture 13" descr="A grey apple with a bite taken out of it&#10;&#10;Description automatically generated">
            <a:extLst>
              <a:ext uri="{FF2B5EF4-FFF2-40B4-BE49-F238E27FC236}">
                <a16:creationId xmlns:a16="http://schemas.microsoft.com/office/drawing/2014/main" id="{62B558DD-A8C0-C63A-391F-E8A937D337B6}"/>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5000"/>
                    </a14:imgEffect>
                  </a14:imgLayer>
                </a14:imgProps>
              </a:ext>
              <a:ext uri="{28A0092B-C50C-407E-A947-70E740481C1C}">
                <a14:useLocalDpi xmlns:a14="http://schemas.microsoft.com/office/drawing/2010/main" val="0"/>
              </a:ext>
            </a:extLst>
          </a:blip>
          <a:stretch>
            <a:fillRect/>
          </a:stretch>
        </p:blipFill>
        <p:spPr>
          <a:xfrm>
            <a:off x="9530873" y="4773224"/>
            <a:ext cx="3090860" cy="1738609"/>
          </a:xfrm>
          <a:prstGeom prst="rect">
            <a:avLst/>
          </a:prstGeom>
        </p:spPr>
      </p:pic>
    </p:spTree>
    <p:extLst>
      <p:ext uri="{BB962C8B-B14F-4D97-AF65-F5344CB8AC3E}">
        <p14:creationId xmlns:p14="http://schemas.microsoft.com/office/powerpoint/2010/main" val="1344764340"/>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48B0-54D5-83CC-88CB-ADD5D63E7899}"/>
              </a:ext>
            </a:extLst>
          </p:cNvPr>
          <p:cNvSpPr>
            <a:spLocks noGrp="1"/>
          </p:cNvSpPr>
          <p:nvPr>
            <p:ph type="title"/>
          </p:nvPr>
        </p:nvSpPr>
        <p:spPr/>
        <p:txBody>
          <a:bodyPr/>
          <a:lstStyle/>
          <a:p>
            <a:r>
              <a:rPr lang="en-GB" b="1" dirty="0"/>
              <a:t>ROM (Read-Only Memory)</a:t>
            </a:r>
            <a:endParaRPr lang="en-GB" dirty="0"/>
          </a:p>
        </p:txBody>
      </p:sp>
      <p:sp>
        <p:nvSpPr>
          <p:cNvPr id="6" name="Rectangle 1">
            <a:extLst>
              <a:ext uri="{FF2B5EF4-FFF2-40B4-BE49-F238E27FC236}">
                <a16:creationId xmlns:a16="http://schemas.microsoft.com/office/drawing/2014/main" id="{294C424E-D116-D04D-359C-F81BBEDA4F0C}"/>
              </a:ext>
            </a:extLst>
          </p:cNvPr>
          <p:cNvSpPr>
            <a:spLocks noGrp="1" noChangeArrowheads="1"/>
          </p:cNvSpPr>
          <p:nvPr>
            <p:ph idx="1"/>
          </p:nvPr>
        </p:nvSpPr>
        <p:spPr bwMode="auto">
          <a:xfrm>
            <a:off x="571500" y="1904238"/>
            <a:ext cx="11049000"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Function</a:t>
            </a:r>
            <a:r>
              <a:rPr kumimoji="0" lang="en-US" altLang="en-US" b="0" i="0" u="none" strike="noStrike" cap="none" normalizeH="0" baseline="0" dirty="0">
                <a:ln>
                  <a:noFill/>
                </a:ln>
                <a:solidFill>
                  <a:schemeClr val="tx1"/>
                </a:solidFill>
                <a:effectLst/>
                <a:latin typeface="Arial" panose="020B0604020202020204" pitchFamily="34" charset="0"/>
              </a:rPr>
              <a:t>: Stores permanent data that does not change, like the firmware or bootloader.</a:t>
            </a:r>
          </a:p>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Characteristics</a:t>
            </a:r>
            <a:r>
              <a:rPr kumimoji="0" lang="en-US" altLang="en-US" b="0" i="0" u="none" strike="noStrike" cap="none" normalizeH="0" baseline="0" dirty="0">
                <a:ln>
                  <a:noFill/>
                </a:ln>
                <a:solidFill>
                  <a:schemeClr val="tx1"/>
                </a:solidFill>
                <a:effectLst/>
                <a:latin typeface="Arial" panose="020B0604020202020204" pitchFamily="34" charset="0"/>
              </a:rPr>
              <a:t>: Non-volatile memory, meaning it retains data even when power is turned off.</a:t>
            </a:r>
          </a:p>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Usage</a:t>
            </a:r>
            <a:r>
              <a:rPr kumimoji="0" lang="en-US" altLang="en-US" b="0" i="0" u="none" strike="noStrike" cap="none" normalizeH="0" baseline="0" dirty="0">
                <a:ln>
                  <a:noFill/>
                </a:ln>
                <a:solidFill>
                  <a:schemeClr val="tx1"/>
                </a:solidFill>
                <a:effectLst/>
                <a:latin typeface="Arial" panose="020B0604020202020204" pitchFamily="34" charset="0"/>
              </a:rPr>
              <a:t>: Used for critical system instructions that are required at startup and don’t need modification.</a:t>
            </a:r>
          </a:p>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Example</a:t>
            </a:r>
            <a:r>
              <a:rPr kumimoji="0" lang="en-US" altLang="en-US" b="0" i="0" u="none" strike="noStrike" cap="none" normalizeH="0" baseline="0" dirty="0">
                <a:ln>
                  <a:noFill/>
                </a:ln>
                <a:solidFill>
                  <a:schemeClr val="tx1"/>
                </a:solidFill>
                <a:effectLst/>
                <a:latin typeface="Arial" panose="020B0604020202020204" pitchFamily="34" charset="0"/>
              </a:rPr>
              <a:t>: In the ESP32, ROM stores the bootloader, Serial Number, Config info which helps initialize the system. </a:t>
            </a:r>
          </a:p>
        </p:txBody>
      </p:sp>
    </p:spTree>
    <p:extLst>
      <p:ext uri="{BB962C8B-B14F-4D97-AF65-F5344CB8AC3E}">
        <p14:creationId xmlns:p14="http://schemas.microsoft.com/office/powerpoint/2010/main" val="3007334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F4818BDE-00CA-EC85-5C9F-C4B2246BD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70F3F-8EDB-A26A-21F9-C047396BBA5E}"/>
              </a:ext>
            </a:extLst>
          </p:cNvPr>
          <p:cNvSpPr>
            <a:spLocks noGrp="1"/>
          </p:cNvSpPr>
          <p:nvPr>
            <p:ph type="title"/>
          </p:nvPr>
        </p:nvSpPr>
        <p:spPr>
          <a:xfrm>
            <a:off x="838200" y="1527175"/>
            <a:ext cx="10515600" cy="1325563"/>
          </a:xfrm>
        </p:spPr>
        <p:txBody>
          <a:bodyPr>
            <a:normAutofit/>
          </a:bodyPr>
          <a:lstStyle/>
          <a:p>
            <a:pPr algn="ctr"/>
            <a:r>
              <a:rPr lang="en-GB" sz="7200" b="1" spc="600" dirty="0">
                <a:solidFill>
                  <a:schemeClr val="bg1"/>
                </a:solidFill>
              </a:rPr>
              <a:t>ROM is NOT STORAGE</a:t>
            </a:r>
            <a:endParaRPr lang="en-GB" sz="7200" spc="600" dirty="0">
              <a:solidFill>
                <a:schemeClr val="bg1"/>
              </a:solidFill>
            </a:endParaRPr>
          </a:p>
        </p:txBody>
      </p:sp>
      <p:sp>
        <p:nvSpPr>
          <p:cNvPr id="3" name="Content Placeholder 2">
            <a:extLst>
              <a:ext uri="{FF2B5EF4-FFF2-40B4-BE49-F238E27FC236}">
                <a16:creationId xmlns:a16="http://schemas.microsoft.com/office/drawing/2014/main" id="{38971F46-C536-A3B3-6489-5E83446AF0E6}"/>
              </a:ext>
            </a:extLst>
          </p:cNvPr>
          <p:cNvSpPr>
            <a:spLocks noGrp="1"/>
          </p:cNvSpPr>
          <p:nvPr>
            <p:ph idx="1"/>
          </p:nvPr>
        </p:nvSpPr>
        <p:spPr>
          <a:xfrm>
            <a:off x="481012" y="3552825"/>
            <a:ext cx="11229975" cy="2967038"/>
          </a:xfrm>
        </p:spPr>
        <p:txBody>
          <a:bodyPr>
            <a:normAutofit/>
          </a:bodyPr>
          <a:lstStyle/>
          <a:p>
            <a:pPr marL="0" indent="0" algn="ctr">
              <a:buNone/>
            </a:pPr>
            <a:r>
              <a:rPr lang="en-GB" sz="4800" dirty="0">
                <a:solidFill>
                  <a:schemeClr val="bg1"/>
                </a:solidFill>
              </a:rPr>
              <a:t>Soo Many People Get This </a:t>
            </a:r>
            <a:r>
              <a:rPr lang="en-GB" sz="4800" b="1" dirty="0">
                <a:solidFill>
                  <a:schemeClr val="bg1"/>
                </a:solidFill>
              </a:rPr>
              <a:t>Wrong</a:t>
            </a:r>
            <a:r>
              <a:rPr lang="en-GB" sz="4800" dirty="0">
                <a:solidFill>
                  <a:schemeClr val="bg1"/>
                </a:solidFill>
              </a:rPr>
              <a:t> </a:t>
            </a:r>
            <a:r>
              <a:rPr lang="en-GB" sz="5400" dirty="0">
                <a:solidFill>
                  <a:schemeClr val="bg1"/>
                </a:solidFill>
              </a:rPr>
              <a:t>Because of</a:t>
            </a:r>
          </a:p>
          <a:p>
            <a:pPr marL="0" indent="0" algn="ctr">
              <a:buNone/>
            </a:pPr>
            <a:r>
              <a:rPr lang="en-GB" sz="4800" b="1" dirty="0">
                <a:solidFill>
                  <a:schemeClr val="bg1"/>
                </a:solidFill>
              </a:rPr>
              <a:t>Outdated Over-Simplifications </a:t>
            </a:r>
          </a:p>
        </p:txBody>
      </p:sp>
    </p:spTree>
    <p:extLst>
      <p:ext uri="{BB962C8B-B14F-4D97-AF65-F5344CB8AC3E}">
        <p14:creationId xmlns:p14="http://schemas.microsoft.com/office/powerpoint/2010/main" val="4003626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AB45FAA-A062-5B6C-6DF9-7E84A1FBE58E}"/>
              </a:ext>
            </a:extLst>
          </p:cNvPr>
          <p:cNvGraphicFramePr>
            <a:graphicFrameLocks noGrp="1"/>
          </p:cNvGraphicFramePr>
          <p:nvPr>
            <p:extLst>
              <p:ext uri="{D42A27DB-BD31-4B8C-83A1-F6EECF244321}">
                <p14:modId xmlns:p14="http://schemas.microsoft.com/office/powerpoint/2010/main" val="273910888"/>
              </p:ext>
            </p:extLst>
          </p:nvPr>
        </p:nvGraphicFramePr>
        <p:xfrm>
          <a:off x="390525" y="413984"/>
          <a:ext cx="11410950" cy="6030032"/>
        </p:xfrm>
        <a:graphic>
          <a:graphicData uri="http://schemas.openxmlformats.org/drawingml/2006/table">
            <a:tbl>
              <a:tblPr firstRow="1" bandRow="1">
                <a:tableStyleId>{5C22544A-7EE6-4342-B048-85BDC9FD1C3A}</a:tableStyleId>
              </a:tblPr>
              <a:tblGrid>
                <a:gridCol w="2291880">
                  <a:extLst>
                    <a:ext uri="{9D8B030D-6E8A-4147-A177-3AD203B41FA5}">
                      <a16:colId xmlns:a16="http://schemas.microsoft.com/office/drawing/2014/main" val="2186650971"/>
                    </a:ext>
                  </a:extLst>
                </a:gridCol>
                <a:gridCol w="4470870">
                  <a:extLst>
                    <a:ext uri="{9D8B030D-6E8A-4147-A177-3AD203B41FA5}">
                      <a16:colId xmlns:a16="http://schemas.microsoft.com/office/drawing/2014/main" val="693528656"/>
                    </a:ext>
                  </a:extLst>
                </a:gridCol>
                <a:gridCol w="4648200">
                  <a:extLst>
                    <a:ext uri="{9D8B030D-6E8A-4147-A177-3AD203B41FA5}">
                      <a16:colId xmlns:a16="http://schemas.microsoft.com/office/drawing/2014/main" val="1643057202"/>
                    </a:ext>
                  </a:extLst>
                </a:gridCol>
              </a:tblGrid>
              <a:tr h="407528">
                <a:tc>
                  <a:txBody>
                    <a:bodyPr/>
                    <a:lstStyle/>
                    <a:p>
                      <a:pPr algn="ctr"/>
                      <a:r>
                        <a:rPr lang="en-GB" sz="2000" b="1" dirty="0"/>
                        <a:t>Feature</a:t>
                      </a:r>
                      <a:endParaRPr lang="en-GB" sz="2000" dirty="0"/>
                    </a:p>
                  </a:txBody>
                  <a:tcPr anchor="ctr"/>
                </a:tc>
                <a:tc>
                  <a:txBody>
                    <a:bodyPr/>
                    <a:lstStyle/>
                    <a:p>
                      <a:pPr algn="ctr"/>
                      <a:r>
                        <a:rPr lang="en-GB" sz="2000" b="1" dirty="0"/>
                        <a:t>ROM (Read-Only Memory)</a:t>
                      </a:r>
                      <a:endParaRPr lang="en-GB" sz="2000" dirty="0"/>
                    </a:p>
                  </a:txBody>
                  <a:tcPr anchor="ctr"/>
                </a:tc>
                <a:tc>
                  <a:txBody>
                    <a:bodyPr/>
                    <a:lstStyle/>
                    <a:p>
                      <a:pPr algn="ctr"/>
                      <a:r>
                        <a:rPr lang="en-GB" sz="2000" b="1" dirty="0"/>
                        <a:t>Flash Memory</a:t>
                      </a:r>
                      <a:endParaRPr lang="en-GB" sz="2000" dirty="0"/>
                    </a:p>
                  </a:txBody>
                  <a:tcPr anchor="ctr"/>
                </a:tc>
                <a:extLst>
                  <a:ext uri="{0D108BD9-81ED-4DB2-BD59-A6C34878D82A}">
                    <a16:rowId xmlns:a16="http://schemas.microsoft.com/office/drawing/2014/main" val="63275104"/>
                  </a:ext>
                </a:extLst>
              </a:tr>
              <a:tr h="703404">
                <a:tc>
                  <a:txBody>
                    <a:bodyPr/>
                    <a:lstStyle/>
                    <a:p>
                      <a:pPr algn="ctr"/>
                      <a:r>
                        <a:rPr lang="en-GB" sz="2000" b="1" dirty="0"/>
                        <a:t>Purpose</a:t>
                      </a:r>
                    </a:p>
                  </a:txBody>
                  <a:tcPr/>
                </a:tc>
                <a:tc>
                  <a:txBody>
                    <a:bodyPr/>
                    <a:lstStyle/>
                    <a:p>
                      <a:r>
                        <a:rPr lang="en-US" sz="2000" dirty="0"/>
                        <a:t>Stores permanent, system-level instructions (e.g., bootloader)</a:t>
                      </a:r>
                      <a:endParaRPr lang="en-GB" sz="2000" dirty="0"/>
                    </a:p>
                  </a:txBody>
                  <a:tcPr/>
                </a:tc>
                <a:tc>
                  <a:txBody>
                    <a:bodyPr/>
                    <a:lstStyle/>
                    <a:p>
                      <a:r>
                        <a:rPr lang="en-US" sz="2000" dirty="0"/>
                        <a:t>Stores user programs, firmware, and data</a:t>
                      </a:r>
                      <a:endParaRPr lang="en-GB" sz="2000" dirty="0"/>
                    </a:p>
                  </a:txBody>
                  <a:tcPr/>
                </a:tc>
                <a:extLst>
                  <a:ext uri="{0D108BD9-81ED-4DB2-BD59-A6C34878D82A}">
                    <a16:rowId xmlns:a16="http://schemas.microsoft.com/office/drawing/2014/main" val="2663375375"/>
                  </a:ext>
                </a:extLst>
              </a:tr>
              <a:tr h="703404">
                <a:tc>
                  <a:txBody>
                    <a:bodyPr/>
                    <a:lstStyle/>
                    <a:p>
                      <a:pPr algn="ctr"/>
                      <a:r>
                        <a:rPr lang="en-GB" sz="2000" b="1" dirty="0"/>
                        <a:t>Modifiability</a:t>
                      </a:r>
                    </a:p>
                  </a:txBody>
                  <a:tcPr/>
                </a:tc>
                <a:tc>
                  <a:txBody>
                    <a:bodyPr/>
                    <a:lstStyle/>
                    <a:p>
                      <a:r>
                        <a:rPr lang="en-US" sz="2000" dirty="0"/>
                        <a:t>Not easily modifiable (written during manufacturing)</a:t>
                      </a:r>
                      <a:endParaRPr lang="en-GB" sz="2000" dirty="0"/>
                    </a:p>
                  </a:txBody>
                  <a:tcPr/>
                </a:tc>
                <a:tc>
                  <a:txBody>
                    <a:bodyPr/>
                    <a:lstStyle/>
                    <a:p>
                      <a:r>
                        <a:rPr lang="en-GB" sz="2000" dirty="0"/>
                        <a:t>Reprogrammable and erasable</a:t>
                      </a:r>
                    </a:p>
                  </a:txBody>
                  <a:tcPr/>
                </a:tc>
                <a:extLst>
                  <a:ext uri="{0D108BD9-81ED-4DB2-BD59-A6C34878D82A}">
                    <a16:rowId xmlns:a16="http://schemas.microsoft.com/office/drawing/2014/main" val="3663526671"/>
                  </a:ext>
                </a:extLst>
              </a:tr>
              <a:tr h="703404">
                <a:tc>
                  <a:txBody>
                    <a:bodyPr/>
                    <a:lstStyle/>
                    <a:p>
                      <a:pPr algn="ctr"/>
                      <a:r>
                        <a:rPr lang="en-GB" sz="2000" b="1" dirty="0"/>
                        <a:t>Usage</a:t>
                      </a:r>
                    </a:p>
                  </a:txBody>
                  <a:tcPr/>
                </a:tc>
                <a:tc>
                  <a:txBody>
                    <a:bodyPr/>
                    <a:lstStyle/>
                    <a:p>
                      <a:r>
                        <a:rPr lang="en-US" sz="2000" dirty="0"/>
                        <a:t>Used for essential startup and low-level system functions</a:t>
                      </a:r>
                      <a:endParaRPr lang="en-GB" sz="2000" dirty="0"/>
                    </a:p>
                  </a:txBody>
                  <a:tcPr/>
                </a:tc>
                <a:tc>
                  <a:txBody>
                    <a:bodyPr/>
                    <a:lstStyle/>
                    <a:p>
                      <a:r>
                        <a:rPr lang="en-US" sz="2000" dirty="0"/>
                        <a:t>Used for firmware updates and storing applications</a:t>
                      </a:r>
                      <a:endParaRPr lang="en-GB" sz="2000" dirty="0"/>
                    </a:p>
                  </a:txBody>
                  <a:tcPr/>
                </a:tc>
                <a:extLst>
                  <a:ext uri="{0D108BD9-81ED-4DB2-BD59-A6C34878D82A}">
                    <a16:rowId xmlns:a16="http://schemas.microsoft.com/office/drawing/2014/main" val="1713725159"/>
                  </a:ext>
                </a:extLst>
              </a:tr>
              <a:tr h="407528">
                <a:tc>
                  <a:txBody>
                    <a:bodyPr/>
                    <a:lstStyle/>
                    <a:p>
                      <a:pPr algn="ctr"/>
                      <a:r>
                        <a:rPr lang="en-GB" sz="2000" b="1" dirty="0"/>
                        <a:t>Size</a:t>
                      </a:r>
                    </a:p>
                  </a:txBody>
                  <a:tcPr/>
                </a:tc>
                <a:tc>
                  <a:txBody>
                    <a:bodyPr/>
                    <a:lstStyle/>
                    <a:p>
                      <a:r>
                        <a:rPr lang="en-US" sz="2000" dirty="0"/>
                        <a:t>Small (just enough for system instructions)</a:t>
                      </a:r>
                      <a:endParaRPr lang="en-GB" sz="2000" dirty="0"/>
                    </a:p>
                  </a:txBody>
                  <a:tcPr/>
                </a:tc>
                <a:tc>
                  <a:txBody>
                    <a:bodyPr/>
                    <a:lstStyle/>
                    <a:p>
                      <a:r>
                        <a:rPr lang="en-US" sz="2000" dirty="0"/>
                        <a:t>Larger (typically 4 MB or more in ESP32)</a:t>
                      </a:r>
                      <a:endParaRPr lang="en-GB" sz="2000" dirty="0"/>
                    </a:p>
                  </a:txBody>
                  <a:tcPr/>
                </a:tc>
                <a:extLst>
                  <a:ext uri="{0D108BD9-81ED-4DB2-BD59-A6C34878D82A}">
                    <a16:rowId xmlns:a16="http://schemas.microsoft.com/office/drawing/2014/main" val="2082291653"/>
                  </a:ext>
                </a:extLst>
              </a:tr>
              <a:tr h="703404">
                <a:tc>
                  <a:txBody>
                    <a:bodyPr/>
                    <a:lstStyle/>
                    <a:p>
                      <a:pPr algn="ctr"/>
                      <a:r>
                        <a:rPr lang="en-GB" sz="2000" b="1" dirty="0"/>
                        <a:t>Volatility</a:t>
                      </a:r>
                    </a:p>
                  </a:txBody>
                  <a:tcPr/>
                </a:tc>
                <a:tc>
                  <a:txBody>
                    <a:bodyPr/>
                    <a:lstStyle/>
                    <a:p>
                      <a:r>
                        <a:rPr lang="en-US" sz="2000" dirty="0"/>
                        <a:t>Non-volatile (retains data when power is off)</a:t>
                      </a:r>
                      <a:endParaRPr lang="en-GB" sz="2000" dirty="0"/>
                    </a:p>
                  </a:txBody>
                  <a:tcPr anchor="ctr"/>
                </a:tc>
                <a:tc>
                  <a:txBody>
                    <a:bodyPr/>
                    <a:lstStyle/>
                    <a:p>
                      <a:r>
                        <a:rPr lang="en-US" sz="2000" dirty="0"/>
                        <a:t>Non-volatile (retains data when power is off)</a:t>
                      </a:r>
                      <a:endParaRPr lang="en-GB" sz="2000" dirty="0"/>
                    </a:p>
                  </a:txBody>
                  <a:tcPr/>
                </a:tc>
                <a:extLst>
                  <a:ext uri="{0D108BD9-81ED-4DB2-BD59-A6C34878D82A}">
                    <a16:rowId xmlns:a16="http://schemas.microsoft.com/office/drawing/2014/main" val="3037240024"/>
                  </a:ext>
                </a:extLst>
              </a:tr>
              <a:tr h="407528">
                <a:tc>
                  <a:txBody>
                    <a:bodyPr/>
                    <a:lstStyle/>
                    <a:p>
                      <a:pPr algn="ctr"/>
                      <a:r>
                        <a:rPr lang="en-GB" sz="2000" b="1" dirty="0" err="1"/>
                        <a:t>Rewritability</a:t>
                      </a:r>
                      <a:endParaRPr lang="en-GB" sz="2000" b="1" dirty="0"/>
                    </a:p>
                  </a:txBody>
                  <a:tcPr/>
                </a:tc>
                <a:tc>
                  <a:txBody>
                    <a:bodyPr/>
                    <a:lstStyle/>
                    <a:p>
                      <a:r>
                        <a:rPr lang="en-US" sz="2000" dirty="0"/>
                        <a:t>Cannot be rewritten or updated frequently</a:t>
                      </a:r>
                      <a:endParaRPr lang="en-GB" sz="2000" dirty="0"/>
                    </a:p>
                  </a:txBody>
                  <a:tcPr/>
                </a:tc>
                <a:tc>
                  <a:txBody>
                    <a:bodyPr/>
                    <a:lstStyle/>
                    <a:p>
                      <a:r>
                        <a:rPr lang="en-US" sz="2000" dirty="0"/>
                        <a:t>Can be rewritten and updated multiple times</a:t>
                      </a:r>
                      <a:endParaRPr lang="en-GB" sz="2000" dirty="0"/>
                    </a:p>
                  </a:txBody>
                  <a:tcPr/>
                </a:tc>
                <a:extLst>
                  <a:ext uri="{0D108BD9-81ED-4DB2-BD59-A6C34878D82A}">
                    <a16:rowId xmlns:a16="http://schemas.microsoft.com/office/drawing/2014/main" val="2830971606"/>
                  </a:ext>
                </a:extLst>
              </a:tr>
              <a:tr h="703404">
                <a:tc>
                  <a:txBody>
                    <a:bodyPr/>
                    <a:lstStyle/>
                    <a:p>
                      <a:pPr algn="ctr"/>
                      <a:r>
                        <a:rPr lang="en-GB" sz="2000" b="1" dirty="0"/>
                        <a:t>Example in ESP32</a:t>
                      </a:r>
                    </a:p>
                  </a:txBody>
                  <a:tcPr/>
                </a:tc>
                <a:tc>
                  <a:txBody>
                    <a:bodyPr/>
                    <a:lstStyle/>
                    <a:p>
                      <a:r>
                        <a:rPr lang="en-US" sz="2000" dirty="0"/>
                        <a:t>Stores bootloader and essential startup code</a:t>
                      </a:r>
                      <a:endParaRPr lang="en-GB" sz="2000" dirty="0"/>
                    </a:p>
                  </a:txBody>
                  <a:tcPr/>
                </a:tc>
                <a:tc>
                  <a:txBody>
                    <a:bodyPr/>
                    <a:lstStyle/>
                    <a:p>
                      <a:r>
                        <a:rPr lang="en-US" sz="2000" dirty="0"/>
                        <a:t>Stores the user-uploaded program and firmware</a:t>
                      </a:r>
                      <a:endParaRPr lang="en-GB" sz="2000" dirty="0"/>
                    </a:p>
                  </a:txBody>
                  <a:tcPr/>
                </a:tc>
                <a:extLst>
                  <a:ext uri="{0D108BD9-81ED-4DB2-BD59-A6C34878D82A}">
                    <a16:rowId xmlns:a16="http://schemas.microsoft.com/office/drawing/2014/main" val="3636264605"/>
                  </a:ext>
                </a:extLst>
              </a:tr>
              <a:tr h="703404">
                <a:tc>
                  <a:txBody>
                    <a:bodyPr/>
                    <a:lstStyle/>
                    <a:p>
                      <a:pPr algn="ctr"/>
                      <a:r>
                        <a:rPr lang="en-GB" sz="2000" b="1" dirty="0"/>
                        <a:t>Main Function</a:t>
                      </a:r>
                    </a:p>
                  </a:txBody>
                  <a:tcPr/>
                </a:tc>
                <a:tc>
                  <a:txBody>
                    <a:bodyPr/>
                    <a:lstStyle/>
                    <a:p>
                      <a:r>
                        <a:rPr lang="en-US" sz="2000" dirty="0"/>
                        <a:t>Provides the initial instructions for booting</a:t>
                      </a:r>
                      <a:endParaRPr lang="en-GB" sz="2000" dirty="0"/>
                    </a:p>
                  </a:txBody>
                  <a:tcPr/>
                </a:tc>
                <a:tc>
                  <a:txBody>
                    <a:bodyPr/>
                    <a:lstStyle/>
                    <a:p>
                      <a:r>
                        <a:rPr lang="en-US" sz="2000" dirty="0"/>
                        <a:t>Acts as general-purpose storage for programs and data</a:t>
                      </a:r>
                      <a:endParaRPr lang="en-GB" sz="2000" dirty="0"/>
                    </a:p>
                  </a:txBody>
                  <a:tcPr/>
                </a:tc>
                <a:extLst>
                  <a:ext uri="{0D108BD9-81ED-4DB2-BD59-A6C34878D82A}">
                    <a16:rowId xmlns:a16="http://schemas.microsoft.com/office/drawing/2014/main" val="593531802"/>
                  </a:ext>
                </a:extLst>
              </a:tr>
            </a:tbl>
          </a:graphicData>
        </a:graphic>
      </p:graphicFrame>
    </p:spTree>
    <p:extLst>
      <p:ext uri="{BB962C8B-B14F-4D97-AF65-F5344CB8AC3E}">
        <p14:creationId xmlns:p14="http://schemas.microsoft.com/office/powerpoint/2010/main" val="1808352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427CF-143B-AA63-0C24-16710922969F}"/>
              </a:ext>
            </a:extLst>
          </p:cNvPr>
          <p:cNvSpPr>
            <a:spLocks noGrp="1"/>
          </p:cNvSpPr>
          <p:nvPr>
            <p:ph type="title"/>
          </p:nvPr>
        </p:nvSpPr>
        <p:spPr>
          <a:xfrm>
            <a:off x="533400" y="241300"/>
            <a:ext cx="10515600" cy="1325563"/>
          </a:xfrm>
        </p:spPr>
        <p:txBody>
          <a:bodyPr/>
          <a:lstStyle/>
          <a:p>
            <a:r>
              <a:rPr lang="en-GB" b="1" dirty="0"/>
              <a:t>SRAM (Static Random-Access Memory)</a:t>
            </a:r>
          </a:p>
        </p:txBody>
      </p:sp>
      <p:sp>
        <p:nvSpPr>
          <p:cNvPr id="3" name="Content Placeholder 2">
            <a:extLst>
              <a:ext uri="{FF2B5EF4-FFF2-40B4-BE49-F238E27FC236}">
                <a16:creationId xmlns:a16="http://schemas.microsoft.com/office/drawing/2014/main" id="{927A08DD-04BA-AEA7-B65D-A299CCC9166A}"/>
              </a:ext>
            </a:extLst>
          </p:cNvPr>
          <p:cNvSpPr>
            <a:spLocks noGrp="1"/>
          </p:cNvSpPr>
          <p:nvPr>
            <p:ph idx="1"/>
          </p:nvPr>
        </p:nvSpPr>
        <p:spPr>
          <a:xfrm>
            <a:off x="838200" y="1566863"/>
            <a:ext cx="10515600" cy="4610100"/>
          </a:xfrm>
        </p:spPr>
        <p:txBody>
          <a:bodyPr/>
          <a:lstStyle/>
          <a:p>
            <a:pPr>
              <a:spcBef>
                <a:spcPts val="1800"/>
              </a:spcBef>
            </a:pPr>
            <a:r>
              <a:rPr lang="en-US" b="1" dirty="0"/>
              <a:t>Function: </a:t>
            </a:r>
            <a:r>
              <a:rPr lang="en-US" dirty="0"/>
              <a:t>Used for temporary data storage during program execution, like variables or program instructions in use.</a:t>
            </a:r>
          </a:p>
          <a:p>
            <a:pPr>
              <a:spcBef>
                <a:spcPts val="1800"/>
              </a:spcBef>
            </a:pPr>
            <a:r>
              <a:rPr lang="en-US" b="1" dirty="0"/>
              <a:t>Characteristics: </a:t>
            </a:r>
            <a:r>
              <a:rPr lang="en-US" dirty="0"/>
              <a:t>Volatile memory, meaning it loses data when power is turned off. Faster and requires more power compared to DRAM.</a:t>
            </a:r>
          </a:p>
          <a:p>
            <a:pPr>
              <a:spcBef>
                <a:spcPts val="1800"/>
              </a:spcBef>
            </a:pPr>
            <a:r>
              <a:rPr lang="en-US" b="1" dirty="0"/>
              <a:t>Usage: </a:t>
            </a:r>
            <a:r>
              <a:rPr lang="en-US" dirty="0"/>
              <a:t>Used as working memory (for stack, cache, etc.) to quickly store and access data while the processor is running.</a:t>
            </a:r>
          </a:p>
          <a:p>
            <a:pPr>
              <a:spcBef>
                <a:spcPts val="1800"/>
              </a:spcBef>
            </a:pPr>
            <a:r>
              <a:rPr lang="en-US" b="1" dirty="0"/>
              <a:t>Example: </a:t>
            </a:r>
            <a:r>
              <a:rPr lang="en-US" dirty="0"/>
              <a:t>In the ESP32, SRAM is used to store active program data while the processor operates.</a:t>
            </a:r>
            <a:endParaRPr lang="en-GB" dirty="0"/>
          </a:p>
        </p:txBody>
      </p:sp>
    </p:spTree>
    <p:extLst>
      <p:ext uri="{BB962C8B-B14F-4D97-AF65-F5344CB8AC3E}">
        <p14:creationId xmlns:p14="http://schemas.microsoft.com/office/powerpoint/2010/main" val="1103569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60001"/>
        </a:solidFill>
        <a:effectLst/>
      </p:bgPr>
    </p:bg>
    <p:spTree>
      <p:nvGrpSpPr>
        <p:cNvPr id="1" name=""/>
        <p:cNvGrpSpPr/>
        <p:nvPr/>
      </p:nvGrpSpPr>
      <p:grpSpPr>
        <a:xfrm>
          <a:off x="0" y="0"/>
          <a:ext cx="0" cy="0"/>
          <a:chOff x="0" y="0"/>
          <a:chExt cx="0" cy="0"/>
        </a:xfrm>
      </p:grpSpPr>
      <p:pic>
        <p:nvPicPr>
          <p:cNvPr id="5" name="Content Placeholder 4" descr="A person in a red garment&#10;&#10;Description automatically generated">
            <a:extLst>
              <a:ext uri="{FF2B5EF4-FFF2-40B4-BE49-F238E27FC236}">
                <a16:creationId xmlns:a16="http://schemas.microsoft.com/office/drawing/2014/main" id="{46A74BD2-2488-568F-8592-E42A20B790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82985" cy="6858000"/>
          </a:xfrm>
        </p:spPr>
      </p:pic>
    </p:spTree>
    <p:extLst>
      <p:ext uri="{BB962C8B-B14F-4D97-AF65-F5344CB8AC3E}">
        <p14:creationId xmlns:p14="http://schemas.microsoft.com/office/powerpoint/2010/main" val="1340548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56000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FB4D-1771-78FD-B5BA-D0588883AE22}"/>
              </a:ext>
            </a:extLst>
          </p:cNvPr>
          <p:cNvSpPr>
            <a:spLocks noGrp="1"/>
          </p:cNvSpPr>
          <p:nvPr>
            <p:ph type="title"/>
          </p:nvPr>
        </p:nvSpPr>
        <p:spPr>
          <a:xfrm>
            <a:off x="380999" y="231775"/>
            <a:ext cx="10515600" cy="644525"/>
          </a:xfrm>
        </p:spPr>
        <p:txBody>
          <a:bodyPr>
            <a:normAutofit fontScale="90000"/>
          </a:bodyPr>
          <a:lstStyle/>
          <a:p>
            <a:r>
              <a:rPr lang="en-GB" dirty="0">
                <a:solidFill>
                  <a:schemeClr val="bg1"/>
                </a:solidFill>
              </a:rPr>
              <a:t>Flash Storage</a:t>
            </a:r>
          </a:p>
        </p:txBody>
      </p:sp>
      <p:sp>
        <p:nvSpPr>
          <p:cNvPr id="3" name="Content Placeholder 2">
            <a:extLst>
              <a:ext uri="{FF2B5EF4-FFF2-40B4-BE49-F238E27FC236}">
                <a16:creationId xmlns:a16="http://schemas.microsoft.com/office/drawing/2014/main" id="{E197AE12-85E8-2615-1F95-3A57600FAD5C}"/>
              </a:ext>
            </a:extLst>
          </p:cNvPr>
          <p:cNvSpPr>
            <a:spLocks noGrp="1"/>
          </p:cNvSpPr>
          <p:nvPr>
            <p:ph idx="1"/>
          </p:nvPr>
        </p:nvSpPr>
        <p:spPr>
          <a:xfrm>
            <a:off x="380999" y="990600"/>
            <a:ext cx="11344275" cy="5635625"/>
          </a:xfrm>
        </p:spPr>
        <p:txBody>
          <a:bodyPr>
            <a:normAutofit lnSpcReduction="10000"/>
          </a:bodyPr>
          <a:lstStyle/>
          <a:p>
            <a:pPr algn="just">
              <a:spcBef>
                <a:spcPts val="1800"/>
              </a:spcBef>
            </a:pPr>
            <a:r>
              <a:rPr lang="en-US" sz="2400" b="1" dirty="0">
                <a:solidFill>
                  <a:schemeClr val="bg1"/>
                </a:solidFill>
              </a:rPr>
              <a:t>Non-Volatile:</a:t>
            </a:r>
          </a:p>
          <a:p>
            <a:pPr marL="0" indent="0" algn="just">
              <a:spcBef>
                <a:spcPts val="1800"/>
              </a:spcBef>
              <a:buNone/>
            </a:pPr>
            <a:r>
              <a:rPr lang="en-US" sz="2400" dirty="0">
                <a:solidFill>
                  <a:schemeClr val="bg1"/>
                </a:solidFill>
              </a:rPr>
              <a:t>Flash storage retains data even when the power is turned off, unlike SRAM or DRAM. This makes it suitable for storing the programs, firmware, and data that need to persist even after the device is powered down.</a:t>
            </a:r>
          </a:p>
          <a:p>
            <a:pPr algn="just">
              <a:spcBef>
                <a:spcPts val="1800"/>
              </a:spcBef>
            </a:pPr>
            <a:r>
              <a:rPr lang="en-US" sz="2400" b="1" dirty="0">
                <a:solidFill>
                  <a:schemeClr val="bg1"/>
                </a:solidFill>
              </a:rPr>
              <a:t>Rewritable and Erasable:</a:t>
            </a:r>
          </a:p>
          <a:p>
            <a:pPr marL="0" indent="0" algn="just">
              <a:spcBef>
                <a:spcPts val="1800"/>
              </a:spcBef>
              <a:buNone/>
            </a:pPr>
            <a:r>
              <a:rPr lang="en-US" sz="2400" dirty="0">
                <a:solidFill>
                  <a:schemeClr val="bg1"/>
                </a:solidFill>
              </a:rPr>
              <a:t>Unlike ROM, flash memory can be erased and reprogrammed. This allows for updates, such as flashing new firmware or modifying user applications.</a:t>
            </a:r>
          </a:p>
          <a:p>
            <a:pPr marL="0" indent="0" algn="just">
              <a:spcBef>
                <a:spcPts val="1800"/>
              </a:spcBef>
              <a:buNone/>
            </a:pPr>
            <a:r>
              <a:rPr lang="en-US" sz="2400" dirty="0">
                <a:solidFill>
                  <a:schemeClr val="bg1"/>
                </a:solidFill>
              </a:rPr>
              <a:t>Flash memory is divided into blocks, and you can erase and rewrite data block by block, making it more flexible for embedded applications.</a:t>
            </a:r>
          </a:p>
          <a:p>
            <a:pPr algn="just">
              <a:spcBef>
                <a:spcPts val="1800"/>
              </a:spcBef>
            </a:pPr>
            <a:r>
              <a:rPr lang="en-US" sz="2400" b="1" dirty="0">
                <a:solidFill>
                  <a:schemeClr val="bg1"/>
                </a:solidFill>
              </a:rPr>
              <a:t>Program Storage:</a:t>
            </a:r>
          </a:p>
          <a:p>
            <a:pPr marL="0" indent="0" algn="just">
              <a:spcBef>
                <a:spcPts val="1800"/>
              </a:spcBef>
              <a:buNone/>
            </a:pPr>
            <a:r>
              <a:rPr lang="en-US" sz="2400" dirty="0">
                <a:solidFill>
                  <a:schemeClr val="bg1"/>
                </a:solidFill>
              </a:rPr>
              <a:t>On the ESP32, flash storage holds the firmware and user programs. When you write code and upload it to the ESP32 (e.g., through the Arduino IDE or </a:t>
            </a:r>
            <a:r>
              <a:rPr lang="en-US" sz="2400" dirty="0" err="1">
                <a:solidFill>
                  <a:schemeClr val="bg1"/>
                </a:solidFill>
              </a:rPr>
              <a:t>PlatformIO</a:t>
            </a:r>
            <a:r>
              <a:rPr lang="en-US" sz="2400" dirty="0">
                <a:solidFill>
                  <a:schemeClr val="bg1"/>
                </a:solidFill>
              </a:rPr>
              <a:t>), the code is stored in flash memory, ensuring the ESP32 can run your program after reboot.</a:t>
            </a:r>
            <a:endParaRPr lang="en-GB" sz="2400" dirty="0">
              <a:solidFill>
                <a:schemeClr val="bg1"/>
              </a:solidFill>
            </a:endParaRPr>
          </a:p>
        </p:txBody>
      </p:sp>
    </p:spTree>
    <p:extLst>
      <p:ext uri="{BB962C8B-B14F-4D97-AF65-F5344CB8AC3E}">
        <p14:creationId xmlns:p14="http://schemas.microsoft.com/office/powerpoint/2010/main" val="1702177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0104"/>
        </a:solidFill>
        <a:effectLst/>
      </p:bgPr>
    </p:bg>
    <p:spTree>
      <p:nvGrpSpPr>
        <p:cNvPr id="1" name="">
          <a:extLst>
            <a:ext uri="{FF2B5EF4-FFF2-40B4-BE49-F238E27FC236}">
              <a16:creationId xmlns:a16="http://schemas.microsoft.com/office/drawing/2014/main" id="{AD3DFCCE-7008-8900-AB69-5BDF822E7D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BE089-F979-C9A0-21FB-58034CE670B3}"/>
              </a:ext>
            </a:extLst>
          </p:cNvPr>
          <p:cNvSpPr>
            <a:spLocks noGrp="1"/>
          </p:cNvSpPr>
          <p:nvPr>
            <p:ph idx="1"/>
          </p:nvPr>
        </p:nvSpPr>
        <p:spPr>
          <a:xfrm>
            <a:off x="423862" y="177800"/>
            <a:ext cx="11344275" cy="6502400"/>
          </a:xfrm>
        </p:spPr>
        <p:txBody>
          <a:bodyPr>
            <a:normAutofit lnSpcReduction="10000"/>
          </a:bodyPr>
          <a:lstStyle/>
          <a:p>
            <a:pPr algn="just">
              <a:spcBef>
                <a:spcPts val="1800"/>
              </a:spcBef>
            </a:pPr>
            <a:r>
              <a:rPr lang="en-US" sz="2400" b="1" dirty="0">
                <a:solidFill>
                  <a:schemeClr val="bg1"/>
                </a:solidFill>
              </a:rPr>
              <a:t>Capacity:</a:t>
            </a:r>
          </a:p>
          <a:p>
            <a:pPr marL="0" indent="0" algn="just">
              <a:spcBef>
                <a:spcPts val="1800"/>
              </a:spcBef>
              <a:buNone/>
            </a:pPr>
            <a:r>
              <a:rPr lang="en-US" sz="2400" dirty="0">
                <a:solidFill>
                  <a:schemeClr val="bg1"/>
                </a:solidFill>
              </a:rPr>
              <a:t>Flash storage on the ESP32 typically ranges from 4 MB to 16 MB, which provides enough space to store multiple programs, configurations, and data logs.</a:t>
            </a:r>
          </a:p>
          <a:p>
            <a:pPr algn="just">
              <a:spcBef>
                <a:spcPts val="1800"/>
              </a:spcBef>
            </a:pPr>
            <a:r>
              <a:rPr lang="en-US" sz="2400" b="1" dirty="0">
                <a:solidFill>
                  <a:schemeClr val="bg1"/>
                </a:solidFill>
              </a:rPr>
              <a:t>Slower Access Compared to RAM:</a:t>
            </a:r>
          </a:p>
          <a:p>
            <a:pPr marL="0" indent="0" algn="just">
              <a:spcBef>
                <a:spcPts val="1800"/>
              </a:spcBef>
              <a:buNone/>
            </a:pPr>
            <a:r>
              <a:rPr lang="en-US" sz="2400" dirty="0">
                <a:solidFill>
                  <a:schemeClr val="bg1"/>
                </a:solidFill>
              </a:rPr>
              <a:t>While flash is non-volatile and versatile, it is slower to access than SRAM. Therefore, active data (like variables or real-time processing instructions) are usually stored in SRAM, while static program data resides in flash.</a:t>
            </a:r>
          </a:p>
          <a:p>
            <a:pPr algn="just">
              <a:spcBef>
                <a:spcPts val="1800"/>
              </a:spcBef>
            </a:pPr>
            <a:r>
              <a:rPr lang="en-US" sz="2400" b="1" dirty="0">
                <a:solidFill>
                  <a:schemeClr val="bg1"/>
                </a:solidFill>
              </a:rPr>
              <a:t>Write Limitations:</a:t>
            </a:r>
          </a:p>
          <a:p>
            <a:pPr marL="0" indent="0" algn="just">
              <a:spcBef>
                <a:spcPts val="1800"/>
              </a:spcBef>
              <a:buNone/>
            </a:pPr>
            <a:r>
              <a:rPr lang="en-US" sz="2400" dirty="0">
                <a:solidFill>
                  <a:schemeClr val="bg1"/>
                </a:solidFill>
              </a:rPr>
              <a:t>Flash storage has a limited number of write/erase cycles (usually in the range of tens of thousands to a few hundred thousand cycles). This means while it’s suitable for program storage and infrequent data logging, it’s not ideal for tasks requiring frequent updates.</a:t>
            </a:r>
          </a:p>
          <a:p>
            <a:pPr algn="just">
              <a:spcBef>
                <a:spcPts val="1800"/>
              </a:spcBef>
            </a:pPr>
            <a:r>
              <a:rPr lang="en-US" sz="2400" b="1" dirty="0">
                <a:solidFill>
                  <a:schemeClr val="bg1"/>
                </a:solidFill>
              </a:rPr>
              <a:t>A Note-Worthy Type of Memory:</a:t>
            </a:r>
          </a:p>
          <a:p>
            <a:pPr marL="0" indent="0" algn="just">
              <a:spcBef>
                <a:spcPts val="1800"/>
              </a:spcBef>
              <a:buNone/>
            </a:pPr>
            <a:r>
              <a:rPr lang="en-US" sz="2400" dirty="0">
                <a:solidFill>
                  <a:schemeClr val="bg1"/>
                </a:solidFill>
              </a:rPr>
              <a:t>NAND Flash: Offers larger storage capacity, slower read speeds, and is often used for mass storage devices like USB drives. The ESP32 typically uses NAND flash for program and data storage.</a:t>
            </a:r>
            <a:endParaRPr lang="en-GB" sz="2400" dirty="0">
              <a:solidFill>
                <a:schemeClr val="bg1"/>
              </a:solidFill>
            </a:endParaRPr>
          </a:p>
        </p:txBody>
      </p:sp>
    </p:spTree>
    <p:extLst>
      <p:ext uri="{BB962C8B-B14F-4D97-AF65-F5344CB8AC3E}">
        <p14:creationId xmlns:p14="http://schemas.microsoft.com/office/powerpoint/2010/main" val="2881701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shadeToTitle="1">
        <a:solidFill>
          <a:schemeClr val="bg1">
            <a:lumMod val="95000"/>
          </a:schemeClr>
        </a:solidFill>
        <a:effectLst/>
      </p:bgPr>
    </p:bg>
    <p:spTree>
      <p:nvGrpSpPr>
        <p:cNvPr id="1" name="">
          <a:extLst>
            <a:ext uri="{FF2B5EF4-FFF2-40B4-BE49-F238E27FC236}">
              <a16:creationId xmlns:a16="http://schemas.microsoft.com/office/drawing/2014/main" id="{8060D706-B4A7-509F-5F86-93DC3F4FFAC5}"/>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F2C8AB6-BF24-D6CD-57EB-D30B3BE51D36}"/>
              </a:ext>
            </a:extLst>
          </p:cNvPr>
          <p:cNvPicPr>
            <a:picLocks noChangeAspect="1"/>
          </p:cNvPicPr>
          <p:nvPr/>
        </p:nvPicPr>
        <p:blipFill>
          <a:blip r:embed="rId3">
            <a:extLst>
              <a:ext uri="{28A0092B-C50C-407E-A947-70E740481C1C}">
                <a14:useLocalDpi xmlns:a14="http://schemas.microsoft.com/office/drawing/2010/main" val="0"/>
              </a:ext>
            </a:extLst>
          </a:blip>
          <a:srcRect l="28436" t="39028" r="35218" b="25833"/>
          <a:stretch/>
        </p:blipFill>
        <p:spPr>
          <a:xfrm>
            <a:off x="4590427" y="157058"/>
            <a:ext cx="7500894" cy="6543884"/>
          </a:xfrm>
          <a:prstGeom prst="rect">
            <a:avLst/>
          </a:prstGeom>
        </p:spPr>
      </p:pic>
      <p:sp>
        <p:nvSpPr>
          <p:cNvPr id="13" name="TextBox 12">
            <a:extLst>
              <a:ext uri="{FF2B5EF4-FFF2-40B4-BE49-F238E27FC236}">
                <a16:creationId xmlns:a16="http://schemas.microsoft.com/office/drawing/2014/main" id="{41C8395B-429E-DB53-CD96-9E467D5EDC40}"/>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8F9C7A1F-70CB-2EE0-6CE7-9F9F926508EF}"/>
              </a:ext>
            </a:extLst>
          </p:cNvPr>
          <p:cNvSpPr txBox="1"/>
          <p:nvPr/>
        </p:nvSpPr>
        <p:spPr>
          <a:xfrm>
            <a:off x="438150" y="5410021"/>
            <a:ext cx="4741544" cy="646331"/>
          </a:xfrm>
          <a:prstGeom prst="rect">
            <a:avLst/>
          </a:prstGeom>
          <a:noFill/>
        </p:spPr>
        <p:txBody>
          <a:bodyPr wrap="square" rtlCol="0">
            <a:spAutoFit/>
          </a:bodyPr>
          <a:lstStyle/>
          <a:p>
            <a:r>
              <a:rPr lang="en-GB" sz="3600" dirty="0"/>
              <a:t>The Return</a:t>
            </a:r>
            <a:endParaRPr lang="en-GB" sz="2800" dirty="0"/>
          </a:p>
        </p:txBody>
      </p:sp>
    </p:spTree>
    <p:extLst>
      <p:ext uri="{BB962C8B-B14F-4D97-AF65-F5344CB8AC3E}">
        <p14:creationId xmlns:p14="http://schemas.microsoft.com/office/powerpoint/2010/main" val="4103960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5939-6712-8CC0-0217-A32EEBDDF393}"/>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D60F8DA6-C4E4-8F74-7657-FEABE22A8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9A4DC15F-8655-CD78-5890-D8A7AA0EBC0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D16E8713-0087-08E2-543E-A01EBC4F5E76}"/>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121616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14DEF-3E2E-5779-87E1-3C3A4D83AE7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892D117A-A683-FD98-A0F2-C253BBA039B5}"/>
              </a:ext>
            </a:extLst>
          </p:cNvPr>
          <p:cNvPicPr>
            <a:picLocks noChangeAspect="1"/>
          </p:cNvPicPr>
          <p:nvPr/>
        </p:nvPicPr>
        <p:blipFill>
          <a:blip r:embed="rId3">
            <a:extLst>
              <a:ext uri="{28A0092B-C50C-407E-A947-70E740481C1C}">
                <a14:useLocalDpi xmlns:a14="http://schemas.microsoft.com/office/drawing/2010/main" val="0"/>
              </a:ext>
            </a:extLst>
          </a:blip>
          <a:srcRect l="61183" t="38761" r="3474" b="2589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83080CE-5F13-C8E1-D3EB-4958A86EE620}"/>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BB317980-71B9-ECEB-62E9-44715A97EC00}"/>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2105034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person's message&#10;&#10;Description automatically generated with medium confidence">
            <a:extLst>
              <a:ext uri="{FF2B5EF4-FFF2-40B4-BE49-F238E27FC236}">
                <a16:creationId xmlns:a16="http://schemas.microsoft.com/office/drawing/2014/main" id="{355E2B8C-90A0-06BE-45F5-D131CE99EF8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5154" y="150434"/>
            <a:ext cx="11061691" cy="6557131"/>
          </a:xfrm>
        </p:spPr>
      </p:pic>
    </p:spTree>
    <p:extLst>
      <p:ext uri="{BB962C8B-B14F-4D97-AF65-F5344CB8AC3E}">
        <p14:creationId xmlns:p14="http://schemas.microsoft.com/office/powerpoint/2010/main" val="395293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E95B-B14D-A11F-04FB-9BC3AB42F15D}"/>
              </a:ext>
            </a:extLst>
          </p:cNvPr>
          <p:cNvSpPr>
            <a:spLocks noGrp="1"/>
          </p:cNvSpPr>
          <p:nvPr>
            <p:ph type="title"/>
          </p:nvPr>
        </p:nvSpPr>
        <p:spPr>
          <a:xfrm>
            <a:off x="476250" y="86718"/>
            <a:ext cx="10515600" cy="1325563"/>
          </a:xfrm>
        </p:spPr>
        <p:txBody>
          <a:bodyPr/>
          <a:lstStyle/>
          <a:p>
            <a:r>
              <a:rPr lang="en-GB" dirty="0"/>
              <a:t>Cryptography – Preventing Man in the Middle</a:t>
            </a:r>
          </a:p>
        </p:txBody>
      </p:sp>
      <p:sp>
        <p:nvSpPr>
          <p:cNvPr id="4" name="Rectangle 1">
            <a:extLst>
              <a:ext uri="{FF2B5EF4-FFF2-40B4-BE49-F238E27FC236}">
                <a16:creationId xmlns:a16="http://schemas.microsoft.com/office/drawing/2014/main" id="{54051398-86FD-28E8-56DA-AF08F2AD6AE3}"/>
              </a:ext>
            </a:extLst>
          </p:cNvPr>
          <p:cNvSpPr>
            <a:spLocks noGrp="1" noChangeArrowheads="1"/>
          </p:cNvSpPr>
          <p:nvPr>
            <p:ph idx="1"/>
          </p:nvPr>
        </p:nvSpPr>
        <p:spPr bwMode="auto">
          <a:xfrm>
            <a:off x="476250" y="1295063"/>
            <a:ext cx="113919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Definition</a:t>
            </a:r>
            <a:r>
              <a:rPr kumimoji="0" lang="en-US" altLang="en-US" sz="2400" b="0" i="0" u="none" strike="noStrike" cap="none" normalizeH="0" baseline="0" dirty="0">
                <a:ln>
                  <a:noFill/>
                </a:ln>
                <a:solidFill>
                  <a:schemeClr val="tx1"/>
                </a:solidFill>
                <a:effectLst/>
                <a:latin typeface="Arial" panose="020B0604020202020204" pitchFamily="34" charset="0"/>
              </a:rPr>
              <a:t>: Cryptographic hardware is dedicated silicon within a microcontroller, like the ESP32, that handles encryption, decryption, and key management efficiently and securely.</a:t>
            </a:r>
          </a:p>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Instead of relying on software, the cryptographic operations (e.g., encryption algorithms) are performed directly in hardware. This is faster, more energy-efficient, and provides a higher level of security.</a:t>
            </a:r>
          </a:p>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Energy efficiency</a:t>
            </a:r>
            <a:r>
              <a:rPr kumimoji="0" lang="en-US" altLang="en-US" sz="2400" b="0" i="0" u="none" strike="noStrike" cap="none" normalizeH="0" baseline="0" dirty="0">
                <a:ln>
                  <a:noFill/>
                </a:ln>
                <a:solidFill>
                  <a:schemeClr val="tx1"/>
                </a:solidFill>
                <a:effectLst/>
                <a:latin typeface="Arial" panose="020B0604020202020204" pitchFamily="34" charset="0"/>
              </a:rPr>
              <a:t>: Dedicated hardware uses less power for encryption tasks compared to software-based solutions.</a:t>
            </a:r>
          </a:p>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Security</a:t>
            </a:r>
            <a:r>
              <a:rPr kumimoji="0" lang="en-US" altLang="en-US" sz="2400" b="0" i="0" u="none" strike="noStrike" cap="none" normalizeH="0" baseline="0" dirty="0">
                <a:ln>
                  <a:noFill/>
                </a:ln>
                <a:solidFill>
                  <a:schemeClr val="tx1"/>
                </a:solidFill>
                <a:effectLst/>
                <a:latin typeface="Arial" panose="020B0604020202020204" pitchFamily="34" charset="0"/>
              </a:rPr>
              <a:t>: Hardware-based cryptography makes sensitive operations like encryption, key generation, and authentication more resistant to attacks (like side-channel attacks).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9261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C24A6-7C30-AC9D-0259-56720EA644A0}"/>
              </a:ext>
            </a:extLst>
          </p:cNvPr>
          <p:cNvSpPr>
            <a:spLocks noGrp="1"/>
          </p:cNvSpPr>
          <p:nvPr>
            <p:ph type="title"/>
          </p:nvPr>
        </p:nvSpPr>
        <p:spPr>
          <a:xfrm>
            <a:off x="333375" y="353160"/>
            <a:ext cx="7457639" cy="898581"/>
          </a:xfrm>
        </p:spPr>
        <p:txBody>
          <a:bodyPr vert="horz" lIns="91440" tIns="45720" rIns="91440" bIns="45720" rtlCol="0" anchor="ctr">
            <a:normAutofit fontScale="90000"/>
          </a:bodyPr>
          <a:lstStyle/>
          <a:p>
            <a:r>
              <a:rPr lang="en-US" sz="4000" dirty="0">
                <a:solidFill>
                  <a:srgbClr val="FFFFFF"/>
                </a:solidFill>
              </a:rPr>
              <a:t>Do You Want Your Fridge to Run Away or Your Toaster to Serve You Burt Toast?</a:t>
            </a:r>
          </a:p>
        </p:txBody>
      </p:sp>
      <p:pic>
        <p:nvPicPr>
          <p:cNvPr id="9" name="Picture 8" descr="A silver refrigerator with a touch screen&#10;&#10;Description automatically generated">
            <a:extLst>
              <a:ext uri="{FF2B5EF4-FFF2-40B4-BE49-F238E27FC236}">
                <a16:creationId xmlns:a16="http://schemas.microsoft.com/office/drawing/2014/main" id="{095C2A32-1042-5859-F613-2EFD7EEE6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532" y="2181424"/>
            <a:ext cx="4504379" cy="3997637"/>
          </a:xfrm>
          <a:prstGeom prst="rect">
            <a:avLst/>
          </a:prstGeom>
        </p:spPr>
      </p:pic>
      <p:pic>
        <p:nvPicPr>
          <p:cNvPr id="5" name="Content Placeholder 4" descr="Toast toaster with toasted bread flying out of it&#10;&#10;Description automatically generated">
            <a:extLst>
              <a:ext uri="{FF2B5EF4-FFF2-40B4-BE49-F238E27FC236}">
                <a16:creationId xmlns:a16="http://schemas.microsoft.com/office/drawing/2014/main" id="{1FFC0BB3-3CB4-A9C7-B4A2-733D893F584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07090" y="1856901"/>
            <a:ext cx="4646685" cy="4646685"/>
          </a:xfrm>
          <a:prstGeom prst="rect">
            <a:avLst/>
          </a:prstGeom>
        </p:spPr>
      </p:pic>
    </p:spTree>
    <p:extLst>
      <p:ext uri="{BB962C8B-B14F-4D97-AF65-F5344CB8AC3E}">
        <p14:creationId xmlns:p14="http://schemas.microsoft.com/office/powerpoint/2010/main" val="234209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a blue eye&#10;&#10;Description automatically generated">
            <a:extLst>
              <a:ext uri="{FF2B5EF4-FFF2-40B4-BE49-F238E27FC236}">
                <a16:creationId xmlns:a16="http://schemas.microsoft.com/office/drawing/2014/main" id="{FB7BC363-4C13-CD89-4601-CF9638EA49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805" b="4195"/>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useBgFill="1">
        <p:nvSpPr>
          <p:cNvPr id="12"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66F8F-7394-1FC5-5BC2-B23805741803}"/>
              </a:ext>
            </a:extLst>
          </p:cNvPr>
          <p:cNvSpPr>
            <a:spLocks noGrp="1"/>
          </p:cNvSpPr>
          <p:nvPr>
            <p:ph type="title"/>
          </p:nvPr>
        </p:nvSpPr>
        <p:spPr>
          <a:xfrm>
            <a:off x="589556" y="5746071"/>
            <a:ext cx="10278469" cy="852260"/>
          </a:xfrm>
        </p:spPr>
        <p:txBody>
          <a:bodyPr vert="horz" lIns="91440" tIns="45720" rIns="91440" bIns="45720" rtlCol="0" anchor="ctr">
            <a:normAutofit/>
          </a:bodyPr>
          <a:lstStyle/>
          <a:p>
            <a:r>
              <a:rPr lang="en-US" sz="4000" b="1" spc="600" dirty="0"/>
              <a:t>Yes, that’s the Dystopia We Live In</a:t>
            </a:r>
          </a:p>
        </p:txBody>
      </p:sp>
    </p:spTree>
    <p:extLst>
      <p:ext uri="{BB962C8B-B14F-4D97-AF65-F5344CB8AC3E}">
        <p14:creationId xmlns:p14="http://schemas.microsoft.com/office/powerpoint/2010/main" val="1068710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3586-2033-06D8-E71B-EB66B514185A}"/>
              </a:ext>
            </a:extLst>
          </p:cNvPr>
          <p:cNvSpPr>
            <a:spLocks noGrp="1"/>
          </p:cNvSpPr>
          <p:nvPr>
            <p:ph type="title"/>
          </p:nvPr>
        </p:nvSpPr>
        <p:spPr>
          <a:xfrm>
            <a:off x="485775" y="155575"/>
            <a:ext cx="10515600" cy="1325563"/>
          </a:xfrm>
        </p:spPr>
        <p:txBody>
          <a:bodyPr/>
          <a:lstStyle/>
          <a:p>
            <a:r>
              <a:rPr lang="en-GB" dirty="0"/>
              <a:t>Why Does the ESP 32 Models Need it?</a:t>
            </a:r>
          </a:p>
        </p:txBody>
      </p:sp>
      <p:sp>
        <p:nvSpPr>
          <p:cNvPr id="3" name="Content Placeholder 2">
            <a:extLst>
              <a:ext uri="{FF2B5EF4-FFF2-40B4-BE49-F238E27FC236}">
                <a16:creationId xmlns:a16="http://schemas.microsoft.com/office/drawing/2014/main" id="{6150A44A-BDF9-E39B-BBFD-2AE760E36629}"/>
              </a:ext>
            </a:extLst>
          </p:cNvPr>
          <p:cNvSpPr>
            <a:spLocks noGrp="1"/>
          </p:cNvSpPr>
          <p:nvPr>
            <p:ph idx="1"/>
          </p:nvPr>
        </p:nvSpPr>
        <p:spPr>
          <a:xfrm>
            <a:off x="361951" y="1481138"/>
            <a:ext cx="11344274" cy="5091111"/>
          </a:xfrm>
        </p:spPr>
        <p:txBody>
          <a:bodyPr>
            <a:normAutofit lnSpcReduction="10000"/>
          </a:bodyPr>
          <a:lstStyle/>
          <a:p>
            <a:pPr marL="0" indent="0" algn="just">
              <a:buNone/>
            </a:pPr>
            <a:r>
              <a:rPr lang="en-US" sz="2000" b="1" dirty="0"/>
              <a:t>Secure Wireless Communication:</a:t>
            </a:r>
          </a:p>
          <a:p>
            <a:pPr algn="just"/>
            <a:r>
              <a:rPr lang="en-US" sz="2000" dirty="0"/>
              <a:t>The ESP32 is often used in Wi-Fi and Bluetooth applications where secure communication is critical. By using cryptographic hardware to handle encryption (e.g., AES for Wi-Fi encryption), the ESP32 ensures that data transmitted wirelessly cannot be easily intercepted or tampered with.</a:t>
            </a:r>
          </a:p>
          <a:p>
            <a:pPr algn="just"/>
            <a:r>
              <a:rPr lang="en-US" sz="2000" dirty="0"/>
              <a:t>Example: In Wi-Fi Protected Access (WPA2), the AES encryption used to secure the connection is processed by the cryptographic hardware, ensuring fast, secure transmission without bogging down the CPU.</a:t>
            </a:r>
          </a:p>
          <a:p>
            <a:pPr algn="just"/>
            <a:endParaRPr lang="en-US" sz="2000" b="1" dirty="0"/>
          </a:p>
          <a:p>
            <a:pPr marL="0" indent="0" algn="just">
              <a:buNone/>
            </a:pPr>
            <a:r>
              <a:rPr lang="en-US" sz="2000" b="1" dirty="0"/>
              <a:t>Efficient IoT Security:</a:t>
            </a:r>
          </a:p>
          <a:p>
            <a:pPr algn="just"/>
            <a:r>
              <a:rPr lang="en-US" sz="2000" dirty="0"/>
              <a:t>In Internet of Things (IoT) devices, secure communication between sensors, devices, and servers is essential to prevent unauthorized access. The ESP32’s cryptographic hardware accelerates operations like RSA (for secure key exchanges) and SHA (for message integrity), ensuring that devices communicate securely with minimal processing overhead.</a:t>
            </a:r>
          </a:p>
          <a:p>
            <a:pPr algn="just"/>
            <a:r>
              <a:rPr lang="en-US" sz="2000" dirty="0"/>
              <a:t>Example: An ESP32-based smart device communicating with a cloud server can use RSA for exchanging encryption keys and AES to encrypt data sent back and forth, ensuring secure IoT connectivity.</a:t>
            </a:r>
            <a:endParaRPr lang="en-GB" sz="2000" dirty="0"/>
          </a:p>
        </p:txBody>
      </p:sp>
    </p:spTree>
    <p:extLst>
      <p:ext uri="{BB962C8B-B14F-4D97-AF65-F5344CB8AC3E}">
        <p14:creationId xmlns:p14="http://schemas.microsoft.com/office/powerpoint/2010/main" val="572219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A29BD-B871-C377-39CB-1BEDDF814AC9}"/>
              </a:ext>
            </a:extLst>
          </p:cNvPr>
          <p:cNvSpPr>
            <a:spLocks noGrp="1"/>
          </p:cNvSpPr>
          <p:nvPr>
            <p:ph idx="1"/>
          </p:nvPr>
        </p:nvSpPr>
        <p:spPr>
          <a:xfrm>
            <a:off x="419100" y="390525"/>
            <a:ext cx="11296650" cy="6229350"/>
          </a:xfrm>
        </p:spPr>
        <p:txBody>
          <a:bodyPr>
            <a:normAutofit fontScale="92500" lnSpcReduction="20000"/>
          </a:bodyPr>
          <a:lstStyle/>
          <a:p>
            <a:pPr algn="just"/>
            <a:r>
              <a:rPr lang="en-US" sz="2400" b="1" dirty="0"/>
              <a:t>SHA (Secure Hash Algorithm):</a:t>
            </a:r>
          </a:p>
          <a:p>
            <a:pPr marL="0" indent="0" algn="just">
              <a:buNone/>
            </a:pPr>
            <a:r>
              <a:rPr lang="en-US" sz="2400" dirty="0"/>
              <a:t>A family of cryptographic hash functions that convert data into a fixed-size hash. Commonly used in data integrity verification (e.g., SHA-256). Ensures data hasn't been altered in transmission by producing unique hash values for each data input.</a:t>
            </a:r>
          </a:p>
          <a:p>
            <a:pPr algn="just"/>
            <a:endParaRPr lang="en-US" sz="2400" dirty="0"/>
          </a:p>
          <a:p>
            <a:pPr algn="just"/>
            <a:r>
              <a:rPr lang="en-US" sz="2400" b="1" dirty="0"/>
              <a:t>RSA (Rivest-Shamir-Adleman):</a:t>
            </a:r>
          </a:p>
          <a:p>
            <a:pPr marL="0" indent="0" algn="just">
              <a:buNone/>
            </a:pPr>
            <a:r>
              <a:rPr lang="en-US" sz="2400" dirty="0"/>
              <a:t>An asymmetric encryption algorithm that uses a public/private key pair for secure data exchange. Secure communication by encrypting data with a public key, which can only be decrypted by the corresponding private key.</a:t>
            </a:r>
          </a:p>
          <a:p>
            <a:pPr algn="just"/>
            <a:endParaRPr lang="en-US" sz="2400" dirty="0"/>
          </a:p>
          <a:p>
            <a:pPr algn="just"/>
            <a:r>
              <a:rPr lang="en-US" sz="2400" b="1" dirty="0"/>
              <a:t>AES (Advanced Encryption Standard):</a:t>
            </a:r>
          </a:p>
          <a:p>
            <a:pPr marL="0" indent="0" algn="just">
              <a:buNone/>
            </a:pPr>
            <a:r>
              <a:rPr lang="en-US" sz="2400" dirty="0"/>
              <a:t>A symmetric encryption algorithm used for securing sensitive data. AES operates with fixed block sizes and key lengths (e.g., AES-128, AES-256).  Widely used for data encryption in secure communication, Wi-Fi encryption, and data storage.</a:t>
            </a:r>
          </a:p>
          <a:p>
            <a:pPr algn="just"/>
            <a:endParaRPr lang="en-US" sz="2400" dirty="0"/>
          </a:p>
          <a:p>
            <a:pPr algn="just"/>
            <a:r>
              <a:rPr lang="en-US" sz="2400" dirty="0"/>
              <a:t>    </a:t>
            </a:r>
            <a:r>
              <a:rPr lang="en-US" sz="2400" b="1" dirty="0"/>
              <a:t>RNG (Random Number Generator):</a:t>
            </a:r>
          </a:p>
          <a:p>
            <a:pPr marL="0" indent="0" algn="just">
              <a:buNone/>
            </a:pPr>
            <a:r>
              <a:rPr lang="en-US" sz="2400" dirty="0"/>
              <a:t>Hardware RNG generates random numbers, critical for cryptographic processes like key generation. Ensures unpredictability in encryption keys and other cryptographic operations, which is vital for security.</a:t>
            </a:r>
            <a:endParaRPr lang="en-GB" sz="2400" dirty="0"/>
          </a:p>
        </p:txBody>
      </p:sp>
    </p:spTree>
    <p:extLst>
      <p:ext uri="{BB962C8B-B14F-4D97-AF65-F5344CB8AC3E}">
        <p14:creationId xmlns:p14="http://schemas.microsoft.com/office/powerpoint/2010/main" val="1467892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FF1C-27E7-D186-DC8D-4EC9F1FB0CFB}"/>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A12E26C9-371A-F393-866F-47AEBAEBA7F2}"/>
              </a:ext>
            </a:extLst>
          </p:cNvPr>
          <p:cNvPicPr>
            <a:picLocks noChangeAspect="1"/>
          </p:cNvPicPr>
          <p:nvPr/>
        </p:nvPicPr>
        <p:blipFill>
          <a:blip r:embed="rId3">
            <a:extLst>
              <a:ext uri="{28A0092B-C50C-407E-A947-70E740481C1C}">
                <a14:useLocalDpi xmlns:a14="http://schemas.microsoft.com/office/drawing/2010/main" val="0"/>
              </a:ext>
            </a:extLst>
          </a:blip>
          <a:srcRect l="61183" t="38761" r="3474" b="2589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2F49E73C-679E-EB45-B634-10404C6469F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D107CF99-3549-3131-5CD7-D77EAE22932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027949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908301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225" t="38684" r="3473" b="-798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519063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7E1C1-3D5E-1B87-E53D-0C06148CAF7D}"/>
              </a:ext>
            </a:extLst>
          </p:cNvPr>
          <p:cNvSpPr>
            <a:spLocks noGrp="1"/>
          </p:cNvSpPr>
          <p:nvPr>
            <p:ph type="title"/>
          </p:nvPr>
        </p:nvSpPr>
        <p:spPr/>
        <p:txBody>
          <a:bodyPr/>
          <a:lstStyle/>
          <a:p>
            <a:r>
              <a:rPr lang="en-GB" dirty="0"/>
              <a:t>ESP 32 Power Modes</a:t>
            </a:r>
            <a:endParaRPr lang="en-US" dirty="0"/>
          </a:p>
        </p:txBody>
      </p:sp>
      <p:sp>
        <p:nvSpPr>
          <p:cNvPr id="3" name="Content Placeholder 2">
            <a:extLst>
              <a:ext uri="{FF2B5EF4-FFF2-40B4-BE49-F238E27FC236}">
                <a16:creationId xmlns:a16="http://schemas.microsoft.com/office/drawing/2014/main" id="{4E3409C0-D9C7-B6F0-FA23-DDCF18D80B13}"/>
              </a:ext>
            </a:extLst>
          </p:cNvPr>
          <p:cNvSpPr>
            <a:spLocks noGrp="1"/>
          </p:cNvSpPr>
          <p:nvPr>
            <p:ph idx="1"/>
          </p:nvPr>
        </p:nvSpPr>
        <p:spPr/>
        <p:txBody>
          <a:bodyPr/>
          <a:lstStyle/>
          <a:p>
            <a:pPr marL="0" indent="0" algn="just">
              <a:buNone/>
            </a:pPr>
            <a:r>
              <a:rPr lang="en-GB" dirty="0"/>
              <a:t>The ESP32 supports various power modes to optimize energy consumption based on the task at hand. These modes allow the device to balance performance with power efficiency</a:t>
            </a:r>
            <a:endParaRPr lang="en-US" dirty="0"/>
          </a:p>
        </p:txBody>
      </p:sp>
      <p:pic>
        <p:nvPicPr>
          <p:cNvPr id="6" name="Picture 5">
            <a:extLst>
              <a:ext uri="{FF2B5EF4-FFF2-40B4-BE49-F238E27FC236}">
                <a16:creationId xmlns:a16="http://schemas.microsoft.com/office/drawing/2014/main" id="{84EFDAC0-2F87-2DFD-80C8-812B48289228}"/>
              </a:ext>
            </a:extLst>
          </p:cNvPr>
          <p:cNvPicPr>
            <a:picLocks noChangeAspect="1"/>
          </p:cNvPicPr>
          <p:nvPr/>
        </p:nvPicPr>
        <p:blipFill>
          <a:blip r:embed="rId2"/>
          <a:srcRect t="52836"/>
          <a:stretch/>
        </p:blipFill>
        <p:spPr>
          <a:xfrm>
            <a:off x="370678" y="3791301"/>
            <a:ext cx="11450643" cy="2336570"/>
          </a:xfrm>
          <a:prstGeom prst="rect">
            <a:avLst/>
          </a:prstGeom>
        </p:spPr>
      </p:pic>
    </p:spTree>
    <p:extLst>
      <p:ext uri="{BB962C8B-B14F-4D97-AF65-F5344CB8AC3E}">
        <p14:creationId xmlns:p14="http://schemas.microsoft.com/office/powerpoint/2010/main" val="3506321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ight Triangle 14">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B9A60C5A-A1FD-8DFF-4AC9-4B21583ABF0E}"/>
              </a:ext>
            </a:extLst>
          </p:cNvPr>
          <p:cNvPicPr>
            <a:picLocks noGrp="1" noChangeAspect="1"/>
          </p:cNvPicPr>
          <p:nvPr>
            <p:ph idx="1"/>
          </p:nvPr>
        </p:nvPicPr>
        <p:blipFill>
          <a:blip r:embed="rId2"/>
          <a:stretch>
            <a:fillRect/>
          </a:stretch>
        </p:blipFill>
        <p:spPr>
          <a:xfrm>
            <a:off x="1048952" y="918546"/>
            <a:ext cx="7573131" cy="4979334"/>
          </a:xfrm>
          <a:prstGeom prst="rect">
            <a:avLst/>
          </a:prstGeom>
        </p:spPr>
      </p:pic>
    </p:spTree>
    <p:extLst>
      <p:ext uri="{BB962C8B-B14F-4D97-AF65-F5344CB8AC3E}">
        <p14:creationId xmlns:p14="http://schemas.microsoft.com/office/powerpoint/2010/main" val="415366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E36458-38DD-D68E-C40C-EEBF2EA4B637}"/>
              </a:ext>
            </a:extLst>
          </p:cNvPr>
          <p:cNvSpPr>
            <a:spLocks noGrp="1"/>
          </p:cNvSpPr>
          <p:nvPr>
            <p:ph idx="1"/>
          </p:nvPr>
        </p:nvSpPr>
        <p:spPr>
          <a:xfrm>
            <a:off x="838200" y="260562"/>
            <a:ext cx="10515600" cy="6597438"/>
          </a:xfrm>
        </p:spPr>
        <p:txBody>
          <a:bodyPr>
            <a:normAutofit lnSpcReduction="10000"/>
          </a:bodyPr>
          <a:lstStyle/>
          <a:p>
            <a:pPr algn="just"/>
            <a:r>
              <a:rPr lang="en-GB" b="1" dirty="0"/>
              <a:t>Active Mode (Running)</a:t>
            </a:r>
            <a:r>
              <a:rPr lang="en-GB" dirty="0"/>
              <a:t>:</a:t>
            </a:r>
          </a:p>
          <a:p>
            <a:pPr lvl="1" algn="just"/>
            <a:r>
              <a:rPr lang="en-GB" dirty="0"/>
              <a:t>The </a:t>
            </a:r>
            <a:r>
              <a:rPr lang="en-GB" b="1" dirty="0"/>
              <a:t>CPU is fully operational</a:t>
            </a:r>
            <a:r>
              <a:rPr lang="en-GB" dirty="0"/>
              <a:t>, handling all tasks and processes at maximum performance.</a:t>
            </a:r>
          </a:p>
          <a:p>
            <a:pPr lvl="1" algn="just"/>
            <a:r>
              <a:rPr lang="en-GB" dirty="0"/>
              <a:t>Power consumption is highest in this mode.</a:t>
            </a:r>
          </a:p>
          <a:p>
            <a:pPr lvl="1" algn="just"/>
            <a:r>
              <a:rPr lang="en-GB" dirty="0"/>
              <a:t>Used when real-time tasks, high-speed data processing, or communication are required.</a:t>
            </a:r>
          </a:p>
          <a:p>
            <a:pPr algn="just"/>
            <a:r>
              <a:rPr lang="en-GB" b="1" dirty="0"/>
              <a:t>Modem Sleep Mode</a:t>
            </a:r>
            <a:r>
              <a:rPr lang="en-GB" dirty="0"/>
              <a:t>:</a:t>
            </a:r>
          </a:p>
          <a:p>
            <a:pPr lvl="1" algn="just"/>
            <a:r>
              <a:rPr lang="en-GB" dirty="0"/>
              <a:t>The </a:t>
            </a:r>
            <a:r>
              <a:rPr lang="en-GB" b="1" dirty="0"/>
              <a:t>Wi-Fi and Bluetooth modems are disabled</a:t>
            </a:r>
            <a:r>
              <a:rPr lang="en-GB" dirty="0"/>
              <a:t> while the CPU remains active or idle.</a:t>
            </a:r>
          </a:p>
          <a:p>
            <a:pPr lvl="1" algn="just"/>
            <a:r>
              <a:rPr lang="en-GB" dirty="0"/>
              <a:t>Reduces power consumption during communication idle periods, while still allowing the ESP32 to run other tasks.</a:t>
            </a:r>
          </a:p>
          <a:p>
            <a:pPr algn="just"/>
            <a:r>
              <a:rPr lang="en-GB" b="1" dirty="0"/>
              <a:t>Light Sleep Mode</a:t>
            </a:r>
            <a:r>
              <a:rPr lang="en-GB" dirty="0"/>
              <a:t>:</a:t>
            </a:r>
          </a:p>
          <a:p>
            <a:pPr lvl="1" algn="just"/>
            <a:r>
              <a:rPr lang="en-GB" b="1" dirty="0"/>
              <a:t>Most of the system clocks</a:t>
            </a:r>
            <a:r>
              <a:rPr lang="en-GB" dirty="0"/>
              <a:t> are powered down, and </a:t>
            </a:r>
            <a:r>
              <a:rPr lang="en-GB" b="1" dirty="0"/>
              <a:t>peripheral functions</a:t>
            </a:r>
            <a:r>
              <a:rPr lang="en-GB" dirty="0"/>
              <a:t> (such as GPIO or touch sensors) can wake the device.</a:t>
            </a:r>
          </a:p>
          <a:p>
            <a:pPr lvl="1" algn="just"/>
            <a:r>
              <a:rPr lang="en-GB" dirty="0"/>
              <a:t>The </a:t>
            </a:r>
            <a:r>
              <a:rPr lang="en-GB" b="1" dirty="0"/>
              <a:t>CPU and memory</a:t>
            </a:r>
            <a:r>
              <a:rPr lang="en-GB" dirty="0"/>
              <a:t> remain powered but are idle.</a:t>
            </a:r>
          </a:p>
          <a:p>
            <a:pPr lvl="1" algn="just"/>
            <a:r>
              <a:rPr lang="en-GB" dirty="0"/>
              <a:t>Significantly reduces power usage while allowing fast wake-up from external interrupts or timers.</a:t>
            </a:r>
          </a:p>
        </p:txBody>
      </p:sp>
    </p:spTree>
    <p:extLst>
      <p:ext uri="{BB962C8B-B14F-4D97-AF65-F5344CB8AC3E}">
        <p14:creationId xmlns:p14="http://schemas.microsoft.com/office/powerpoint/2010/main" val="2863780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79324D1-F665-87CF-67BE-5B20AC262462}"/>
              </a:ext>
            </a:extLst>
          </p:cNvPr>
          <p:cNvPicPr>
            <a:picLocks noGrp="1" noChangeAspect="1"/>
          </p:cNvPicPr>
          <p:nvPr>
            <p:ph idx="1"/>
          </p:nvPr>
        </p:nvPicPr>
        <p:blipFill>
          <a:blip r:embed="rId2"/>
          <a:srcRect l="-2" t="20793" b="4246"/>
          <a:stretch/>
        </p:blipFill>
        <p:spPr>
          <a:xfrm>
            <a:off x="-6588" y="10"/>
            <a:ext cx="12198588" cy="6857990"/>
          </a:xfrm>
          <a:prstGeom prst="rect">
            <a:avLst/>
          </a:prstGeom>
        </p:spPr>
      </p:pic>
    </p:spTree>
    <p:extLst>
      <p:ext uri="{BB962C8B-B14F-4D97-AF65-F5344CB8AC3E}">
        <p14:creationId xmlns:p14="http://schemas.microsoft.com/office/powerpoint/2010/main" val="4170903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E36458-38DD-D68E-C40C-EEBF2EA4B637}"/>
              </a:ext>
            </a:extLst>
          </p:cNvPr>
          <p:cNvSpPr>
            <a:spLocks noGrp="1"/>
          </p:cNvSpPr>
          <p:nvPr>
            <p:ph idx="1"/>
          </p:nvPr>
        </p:nvSpPr>
        <p:spPr>
          <a:xfrm>
            <a:off x="838200" y="671788"/>
            <a:ext cx="10515600" cy="6186212"/>
          </a:xfrm>
        </p:spPr>
        <p:txBody>
          <a:bodyPr>
            <a:normAutofit/>
          </a:bodyPr>
          <a:lstStyle/>
          <a:p>
            <a:pPr algn="just"/>
            <a:r>
              <a:rPr lang="en-GB" b="1" dirty="0"/>
              <a:t>Deep Sleep Mode</a:t>
            </a:r>
            <a:r>
              <a:rPr lang="en-GB" dirty="0"/>
              <a:t>:</a:t>
            </a:r>
          </a:p>
          <a:p>
            <a:pPr lvl="1" algn="just"/>
            <a:r>
              <a:rPr lang="en-GB" b="1" dirty="0"/>
              <a:t>CPU and most peripherals are powered off</a:t>
            </a:r>
            <a:r>
              <a:rPr lang="en-GB" dirty="0"/>
              <a:t>, leaving only the RTC and ULP coprocessor active.</a:t>
            </a:r>
          </a:p>
          <a:p>
            <a:pPr lvl="1" algn="just"/>
            <a:r>
              <a:rPr lang="en-GB" b="1" dirty="0"/>
              <a:t>Lowest power mode</a:t>
            </a:r>
            <a:r>
              <a:rPr lang="en-GB" dirty="0"/>
              <a:t> for long idle periods or battery-powered applications.</a:t>
            </a:r>
          </a:p>
          <a:p>
            <a:pPr lvl="1" algn="just"/>
            <a:r>
              <a:rPr lang="en-GB" dirty="0"/>
              <a:t>Can wake up based on a timer, external GPIO events, or data from sensors monitored by the ULP coprocessor.</a:t>
            </a:r>
          </a:p>
          <a:p>
            <a:pPr algn="just"/>
            <a:r>
              <a:rPr lang="en-GB" b="1" dirty="0"/>
              <a:t>Hibernation Mode</a:t>
            </a:r>
            <a:r>
              <a:rPr lang="en-GB" dirty="0"/>
              <a:t>:</a:t>
            </a:r>
          </a:p>
          <a:p>
            <a:pPr lvl="1" algn="just"/>
            <a:r>
              <a:rPr lang="en-GB" b="1" dirty="0"/>
              <a:t>Minimal functionality</a:t>
            </a:r>
            <a:r>
              <a:rPr lang="en-GB" dirty="0"/>
              <a:t> is retained, and the system is effectively shut down with only a small portion of the RTC memory and configuration preserved.</a:t>
            </a:r>
          </a:p>
          <a:p>
            <a:pPr lvl="1" algn="just"/>
            <a:r>
              <a:rPr lang="en-GB" b="1" dirty="0"/>
              <a:t>Lowest possible power consumption</a:t>
            </a:r>
            <a:r>
              <a:rPr lang="en-GB" dirty="0"/>
              <a:t>.</a:t>
            </a:r>
          </a:p>
          <a:p>
            <a:pPr lvl="1" algn="just"/>
            <a:r>
              <a:rPr lang="en-GB" dirty="0"/>
              <a:t>Suitable for applications where the device only needs to wake up after very long intervals.</a:t>
            </a:r>
          </a:p>
        </p:txBody>
      </p:sp>
    </p:spTree>
    <p:extLst>
      <p:ext uri="{BB962C8B-B14F-4D97-AF65-F5344CB8AC3E}">
        <p14:creationId xmlns:p14="http://schemas.microsoft.com/office/powerpoint/2010/main" val="1540929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B403-5A9D-58DF-3AB5-E3CA170968C4}"/>
              </a:ext>
            </a:extLst>
          </p:cNvPr>
          <p:cNvSpPr>
            <a:spLocks noGrp="1"/>
          </p:cNvSpPr>
          <p:nvPr>
            <p:ph type="title"/>
          </p:nvPr>
        </p:nvSpPr>
        <p:spPr/>
        <p:txBody>
          <a:bodyPr/>
          <a:lstStyle/>
          <a:p>
            <a:r>
              <a:rPr lang="en-GB" dirty="0"/>
              <a:t>Some Engineers like some ESP Applications Don’t Need to Sleep But the RTC Still Matters</a:t>
            </a:r>
            <a:endParaRPr lang="en-US" dirty="0"/>
          </a:p>
        </p:txBody>
      </p:sp>
      <p:sp>
        <p:nvSpPr>
          <p:cNvPr id="3" name="Content Placeholder 2">
            <a:extLst>
              <a:ext uri="{FF2B5EF4-FFF2-40B4-BE49-F238E27FC236}">
                <a16:creationId xmlns:a16="http://schemas.microsoft.com/office/drawing/2014/main" id="{4489FFBA-6662-EFC7-5429-C995E7955EE5}"/>
              </a:ext>
            </a:extLst>
          </p:cNvPr>
          <p:cNvSpPr>
            <a:spLocks noGrp="1"/>
          </p:cNvSpPr>
          <p:nvPr>
            <p:ph idx="1"/>
          </p:nvPr>
        </p:nvSpPr>
        <p:spPr>
          <a:xfrm>
            <a:off x="838200" y="2226849"/>
            <a:ext cx="10515600" cy="4418904"/>
          </a:xfrm>
        </p:spPr>
        <p:txBody>
          <a:bodyPr>
            <a:normAutofit lnSpcReduction="10000"/>
          </a:bodyPr>
          <a:lstStyle/>
          <a:p>
            <a:pPr algn="just"/>
            <a:r>
              <a:rPr lang="en-GB" dirty="0"/>
              <a:t>When working with low-power devices like the ESP32, power failures and voltage drops can occur. Understanding how the ESP32 handles these situations is key for maintaining system stability:</a:t>
            </a:r>
          </a:p>
          <a:p>
            <a:pPr algn="just"/>
            <a:r>
              <a:rPr lang="en-GB" b="1" dirty="0"/>
              <a:t>Brown-Out Detection</a:t>
            </a:r>
            <a:r>
              <a:rPr lang="en-GB" dirty="0"/>
              <a:t>:</a:t>
            </a:r>
          </a:p>
          <a:p>
            <a:pPr lvl="1" algn="just"/>
            <a:r>
              <a:rPr lang="en-GB" b="1" dirty="0"/>
              <a:t>What It Is</a:t>
            </a:r>
            <a:r>
              <a:rPr lang="en-GB" dirty="0"/>
              <a:t>: A </a:t>
            </a:r>
            <a:r>
              <a:rPr lang="en-GB" b="1" dirty="0"/>
              <a:t>brown-out</a:t>
            </a:r>
            <a:r>
              <a:rPr lang="en-GB" dirty="0"/>
              <a:t> is a condition where the supply voltage drops below the minimum operating voltage required for the ESP32 to function correctly.</a:t>
            </a:r>
          </a:p>
          <a:p>
            <a:pPr lvl="1" algn="just"/>
            <a:r>
              <a:rPr lang="en-GB" dirty="0"/>
              <a:t>The </a:t>
            </a:r>
            <a:r>
              <a:rPr lang="en-GB" b="1" dirty="0"/>
              <a:t>ESP32’s brown-out detector</a:t>
            </a:r>
            <a:r>
              <a:rPr lang="en-GB" dirty="0"/>
              <a:t> triggers a system reset when the supply voltage dips too low, preventing unexpected </a:t>
            </a:r>
            <a:r>
              <a:rPr lang="en-GB" dirty="0" err="1"/>
              <a:t>behavior</a:t>
            </a:r>
            <a:r>
              <a:rPr lang="en-GB" dirty="0"/>
              <a:t> or data corruption.</a:t>
            </a:r>
          </a:p>
          <a:p>
            <a:pPr lvl="1" algn="just"/>
            <a:r>
              <a:rPr lang="en-GB" b="1" dirty="0"/>
              <a:t>Use</a:t>
            </a:r>
            <a:r>
              <a:rPr lang="en-GB" dirty="0"/>
              <a:t>: Prevents the ESP32 from running at unstable voltages, which could cause malfunctions or damage.</a:t>
            </a:r>
          </a:p>
          <a:p>
            <a:pPr algn="just"/>
            <a:endParaRPr lang="en-US" dirty="0"/>
          </a:p>
        </p:txBody>
      </p:sp>
    </p:spTree>
    <p:extLst>
      <p:ext uri="{BB962C8B-B14F-4D97-AF65-F5344CB8AC3E}">
        <p14:creationId xmlns:p14="http://schemas.microsoft.com/office/powerpoint/2010/main" val="2755252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32F8E5F2-373E-4220-5406-4FB6CF89DCCE}"/>
              </a:ext>
            </a:extLst>
          </p:cNvPr>
          <p:cNvPicPr>
            <a:picLocks noGrp="1" noChangeAspect="1"/>
          </p:cNvPicPr>
          <p:nvPr>
            <p:ph idx="1"/>
          </p:nvPr>
        </p:nvPicPr>
        <p:blipFill>
          <a:blip r:embed="rId2"/>
          <a:srcRect r="9478" b="1"/>
          <a:stretch/>
        </p:blipFill>
        <p:spPr>
          <a:xfrm>
            <a:off x="763524" y="733986"/>
            <a:ext cx="10664952" cy="5390029"/>
          </a:xfrm>
          <a:prstGeom prst="rect">
            <a:avLst/>
          </a:prstGeom>
          <a:effectLst>
            <a:outerShdw blurRad="292100" dist="165100" dir="6000000" sx="97000" sy="97000" algn="t" rotWithShape="0">
              <a:prstClr val="black">
                <a:alpha val="35000"/>
              </a:prstClr>
            </a:outerShdw>
          </a:effectLst>
        </p:spPr>
      </p:pic>
    </p:spTree>
    <p:extLst>
      <p:ext uri="{BB962C8B-B14F-4D97-AF65-F5344CB8AC3E}">
        <p14:creationId xmlns:p14="http://schemas.microsoft.com/office/powerpoint/2010/main" val="663927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11EFC-684B-8100-5BF0-54704148404D}"/>
              </a:ext>
            </a:extLst>
          </p:cNvPr>
          <p:cNvSpPr>
            <a:spLocks noGrp="1"/>
          </p:cNvSpPr>
          <p:nvPr>
            <p:ph type="title"/>
          </p:nvPr>
        </p:nvSpPr>
        <p:spPr/>
        <p:txBody>
          <a:bodyPr/>
          <a:lstStyle/>
          <a:p>
            <a:r>
              <a:rPr lang="en-GB" dirty="0"/>
              <a:t>Helps with The Watchdog Timer Reset</a:t>
            </a:r>
            <a:endParaRPr lang="en-US" dirty="0"/>
          </a:p>
        </p:txBody>
      </p:sp>
      <p:sp>
        <p:nvSpPr>
          <p:cNvPr id="3" name="Content Placeholder 2">
            <a:extLst>
              <a:ext uri="{FF2B5EF4-FFF2-40B4-BE49-F238E27FC236}">
                <a16:creationId xmlns:a16="http://schemas.microsoft.com/office/drawing/2014/main" id="{5E1E498D-D6C3-768A-7649-522525E2D5CE}"/>
              </a:ext>
            </a:extLst>
          </p:cNvPr>
          <p:cNvSpPr>
            <a:spLocks noGrp="1"/>
          </p:cNvSpPr>
          <p:nvPr>
            <p:ph idx="1"/>
          </p:nvPr>
        </p:nvSpPr>
        <p:spPr/>
        <p:txBody>
          <a:bodyPr>
            <a:normAutofit/>
          </a:bodyPr>
          <a:lstStyle/>
          <a:p>
            <a:pPr marL="0" indent="0" algn="just">
              <a:buNone/>
            </a:pPr>
            <a:endParaRPr lang="en-GB" dirty="0"/>
          </a:p>
          <a:p>
            <a:pPr algn="just"/>
            <a:r>
              <a:rPr lang="en-GB" b="1" dirty="0"/>
              <a:t>What It Is</a:t>
            </a:r>
            <a:r>
              <a:rPr lang="en-GB" dirty="0"/>
              <a:t>: The WDT monitors whether the system is stuck or not responding, it resets the ESP32 if the software becomes unresponsive or enters an infinite loop, ensuring the system can recover from software faults.</a:t>
            </a:r>
          </a:p>
          <a:p>
            <a:pPr algn="just"/>
            <a:r>
              <a:rPr lang="en-GB" b="1" dirty="0"/>
              <a:t>Use</a:t>
            </a:r>
            <a:r>
              <a:rPr lang="en-GB" dirty="0"/>
              <a:t>: Helps in maintaining system reliability by automatically recovering from unexpected failures.</a:t>
            </a:r>
          </a:p>
        </p:txBody>
      </p:sp>
    </p:spTree>
    <p:extLst>
      <p:ext uri="{BB962C8B-B14F-4D97-AF65-F5344CB8AC3E}">
        <p14:creationId xmlns:p14="http://schemas.microsoft.com/office/powerpoint/2010/main" val="17923524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4928-86AB-9392-51B2-57022AFCD0FF}"/>
              </a:ext>
            </a:extLst>
          </p:cNvPr>
          <p:cNvSpPr>
            <a:spLocks noGrp="1"/>
          </p:cNvSpPr>
          <p:nvPr>
            <p:ph type="title"/>
          </p:nvPr>
        </p:nvSpPr>
        <p:spPr/>
        <p:txBody>
          <a:bodyPr/>
          <a:lstStyle/>
          <a:p>
            <a:r>
              <a:rPr lang="en-GB" dirty="0"/>
              <a:t>Coming back to the RTC Which Enables It</a:t>
            </a:r>
            <a:endParaRPr lang="en-US" dirty="0"/>
          </a:p>
        </p:txBody>
      </p:sp>
      <p:sp>
        <p:nvSpPr>
          <p:cNvPr id="3" name="Content Placeholder 2">
            <a:extLst>
              <a:ext uri="{FF2B5EF4-FFF2-40B4-BE49-F238E27FC236}">
                <a16:creationId xmlns:a16="http://schemas.microsoft.com/office/drawing/2014/main" id="{18CBEF60-3679-25BD-7D97-ACDB75752805}"/>
              </a:ext>
            </a:extLst>
          </p:cNvPr>
          <p:cNvSpPr>
            <a:spLocks noGrp="1"/>
          </p:cNvSpPr>
          <p:nvPr>
            <p:ph idx="1"/>
          </p:nvPr>
        </p:nvSpPr>
        <p:spPr>
          <a:xfrm>
            <a:off x="838200" y="1825625"/>
            <a:ext cx="6062643" cy="4351338"/>
          </a:xfrm>
        </p:spPr>
        <p:txBody>
          <a:bodyPr/>
          <a:lstStyle/>
          <a:p>
            <a:pPr algn="just"/>
            <a:r>
              <a:rPr lang="en-GB" dirty="0"/>
              <a:t>It is literally just a clock which the ESP has running all of the time.</a:t>
            </a:r>
          </a:p>
          <a:p>
            <a:pPr algn="just"/>
            <a:r>
              <a:rPr lang="en-GB" dirty="0"/>
              <a:t>It runs independent of the rest of the microcontroller rather than relying on the processor to handle counting.</a:t>
            </a:r>
          </a:p>
          <a:p>
            <a:pPr algn="just"/>
            <a:r>
              <a:rPr lang="en-GB" dirty="0"/>
              <a:t>Being separate allows it to run regardless of power state or processor lockup.</a:t>
            </a:r>
          </a:p>
          <a:p>
            <a:pPr algn="just"/>
            <a:r>
              <a:rPr lang="en-GB" dirty="0"/>
              <a:t>Can be external, battery powered</a:t>
            </a:r>
            <a:endParaRPr lang="en-US" dirty="0"/>
          </a:p>
        </p:txBody>
      </p:sp>
      <p:pic>
        <p:nvPicPr>
          <p:cNvPr id="6" name="Picture 5">
            <a:extLst>
              <a:ext uri="{FF2B5EF4-FFF2-40B4-BE49-F238E27FC236}">
                <a16:creationId xmlns:a16="http://schemas.microsoft.com/office/drawing/2014/main" id="{D94FAFEE-F800-561C-ED67-8B71F58BA443}"/>
              </a:ext>
            </a:extLst>
          </p:cNvPr>
          <p:cNvPicPr>
            <a:picLocks noChangeAspect="1"/>
          </p:cNvPicPr>
          <p:nvPr/>
        </p:nvPicPr>
        <p:blipFill>
          <a:blip r:embed="rId2"/>
          <a:stretch>
            <a:fillRect/>
          </a:stretch>
        </p:blipFill>
        <p:spPr>
          <a:xfrm>
            <a:off x="7416685" y="1660239"/>
            <a:ext cx="4516724" cy="4516724"/>
          </a:xfrm>
          <a:prstGeom prst="rect">
            <a:avLst/>
          </a:prstGeom>
        </p:spPr>
      </p:pic>
    </p:spTree>
    <p:extLst>
      <p:ext uri="{BB962C8B-B14F-4D97-AF65-F5344CB8AC3E}">
        <p14:creationId xmlns:p14="http://schemas.microsoft.com/office/powerpoint/2010/main" val="120515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1C299F-A4A0-8B13-871D-D6DABC7EB977}"/>
              </a:ext>
            </a:extLst>
          </p:cNvPr>
          <p:cNvSpPr>
            <a:spLocks noGrp="1"/>
          </p:cNvSpPr>
          <p:nvPr>
            <p:ph type="title"/>
          </p:nvPr>
        </p:nvSpPr>
        <p:spPr>
          <a:xfrm>
            <a:off x="793662" y="386930"/>
            <a:ext cx="10066122" cy="1298448"/>
          </a:xfrm>
        </p:spPr>
        <p:txBody>
          <a:bodyPr anchor="b">
            <a:normAutofit/>
          </a:bodyPr>
          <a:lstStyle/>
          <a:p>
            <a:r>
              <a:rPr lang="en-GB" sz="4800"/>
              <a:t>Power Management Unit (PMU)</a:t>
            </a:r>
            <a:endParaRPr lang="en-US" sz="4800"/>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45E7838-FBCC-D927-6862-8868EF56427A}"/>
              </a:ext>
            </a:extLst>
          </p:cNvPr>
          <p:cNvSpPr>
            <a:spLocks noGrp="1"/>
          </p:cNvSpPr>
          <p:nvPr>
            <p:ph idx="1"/>
          </p:nvPr>
        </p:nvSpPr>
        <p:spPr>
          <a:xfrm>
            <a:off x="380628" y="2517349"/>
            <a:ext cx="5150277" cy="3639450"/>
          </a:xfrm>
        </p:spPr>
        <p:txBody>
          <a:bodyPr anchor="ctr">
            <a:noAutofit/>
          </a:bodyPr>
          <a:lstStyle/>
          <a:p>
            <a:pPr algn="just"/>
            <a:r>
              <a:rPr lang="en-GB" sz="2400" b="1" dirty="0"/>
              <a:t>What It Is</a:t>
            </a:r>
            <a:r>
              <a:rPr lang="en-GB" sz="2400" dirty="0"/>
              <a:t>: Controls the different power modes of the ESP32 (active, light sleep, deep sleep).</a:t>
            </a:r>
          </a:p>
          <a:p>
            <a:pPr algn="just"/>
            <a:r>
              <a:rPr lang="en-GB" sz="2400" b="1" dirty="0"/>
              <a:t>Use</a:t>
            </a:r>
            <a:r>
              <a:rPr lang="en-GB" sz="2400" dirty="0"/>
              <a:t>: Manages when to switch between low-power states and active states, optimizing battery life.</a:t>
            </a:r>
          </a:p>
          <a:p>
            <a:pPr algn="just"/>
            <a:r>
              <a:rPr lang="en-GB" sz="2400" b="1" dirty="0"/>
              <a:t>Example</a:t>
            </a:r>
            <a:r>
              <a:rPr lang="en-GB" sz="2400" dirty="0"/>
              <a:t>: The PMU puts the ESP32 into deep sleep when inactive and wakes it up when required by a timer or external event.</a:t>
            </a:r>
            <a:endParaRPr lang="en-US" sz="2400" dirty="0"/>
          </a:p>
        </p:txBody>
      </p:sp>
      <p:pic>
        <p:nvPicPr>
          <p:cNvPr id="6" name="Picture 5">
            <a:extLst>
              <a:ext uri="{FF2B5EF4-FFF2-40B4-BE49-F238E27FC236}">
                <a16:creationId xmlns:a16="http://schemas.microsoft.com/office/drawing/2014/main" id="{2A940D3C-9480-1887-B9B4-AE9FD87AD01A}"/>
              </a:ext>
            </a:extLst>
          </p:cNvPr>
          <p:cNvPicPr>
            <a:picLocks noChangeAspect="1"/>
          </p:cNvPicPr>
          <p:nvPr/>
        </p:nvPicPr>
        <p:blipFill>
          <a:blip r:embed="rId2"/>
          <a:stretch>
            <a:fillRect/>
          </a:stretch>
        </p:blipFill>
        <p:spPr>
          <a:xfrm>
            <a:off x="5911532" y="2707774"/>
            <a:ext cx="5150277" cy="3267206"/>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210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477870-C64A-4E35-8F2F-05B7114F3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C6489-52B5-1065-8006-29110BBC824A}"/>
              </a:ext>
            </a:extLst>
          </p:cNvPr>
          <p:cNvSpPr>
            <a:spLocks noGrp="1"/>
          </p:cNvSpPr>
          <p:nvPr>
            <p:ph type="title"/>
          </p:nvPr>
        </p:nvSpPr>
        <p:spPr>
          <a:xfrm>
            <a:off x="612648" y="1078992"/>
            <a:ext cx="6268770" cy="1536192"/>
          </a:xfrm>
        </p:spPr>
        <p:txBody>
          <a:bodyPr anchor="b">
            <a:normAutofit/>
          </a:bodyPr>
          <a:lstStyle/>
          <a:p>
            <a:r>
              <a:rPr lang="en-GB" sz="5200" dirty="0"/>
              <a:t>Ultra Low Power</a:t>
            </a:r>
            <a:br>
              <a:rPr lang="en-GB" sz="5200" dirty="0"/>
            </a:br>
            <a:r>
              <a:rPr lang="en-GB" sz="5200" dirty="0"/>
              <a:t>co-Processor (ULP)</a:t>
            </a:r>
            <a:endParaRPr lang="en-US" sz="5200" dirty="0"/>
          </a:p>
        </p:txBody>
      </p:sp>
      <p:sp>
        <p:nvSpPr>
          <p:cNvPr id="13" name="!!accent">
            <a:extLst>
              <a:ext uri="{FF2B5EF4-FFF2-40B4-BE49-F238E27FC236}">
                <a16:creationId xmlns:a16="http://schemas.microsoft.com/office/drawing/2014/main" id="{8AEA628B-C8FF-4D0B-B111-F101F580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2663BD0-064C-40FC-A331-F49FCA9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1FB4C61-A5A8-4805-BE6C-CEB19CE5382D}"/>
              </a:ext>
            </a:extLst>
          </p:cNvPr>
          <p:cNvSpPr>
            <a:spLocks noGrp="1"/>
          </p:cNvSpPr>
          <p:nvPr>
            <p:ph idx="1"/>
          </p:nvPr>
        </p:nvSpPr>
        <p:spPr>
          <a:xfrm>
            <a:off x="475840" y="2953829"/>
            <a:ext cx="7071964" cy="3740745"/>
          </a:xfrm>
        </p:spPr>
        <p:txBody>
          <a:bodyPr>
            <a:noAutofit/>
          </a:bodyPr>
          <a:lstStyle/>
          <a:p>
            <a:pPr algn="just"/>
            <a:r>
              <a:rPr lang="en-GB" sz="2400" b="1"/>
              <a:t>What It Is</a:t>
            </a:r>
            <a:r>
              <a:rPr lang="en-GB" sz="2400"/>
              <a:t>: A small, energy-efficient processor that can operate while the main CPU is in deep sleep.</a:t>
            </a:r>
          </a:p>
          <a:p>
            <a:pPr algn="just"/>
            <a:r>
              <a:rPr lang="en-GB" sz="2400" b="1"/>
              <a:t>Use</a:t>
            </a:r>
            <a:r>
              <a:rPr lang="en-GB" sz="2400"/>
              <a:t>: Handles simple tasks like reading sensors, checking conditions, or managing wake-up signals without waking up the main CPU.</a:t>
            </a:r>
          </a:p>
          <a:p>
            <a:pPr algn="just"/>
            <a:r>
              <a:rPr lang="en-GB" sz="2400" b="1"/>
              <a:t>Example</a:t>
            </a:r>
            <a:r>
              <a:rPr lang="en-GB" sz="2400"/>
              <a:t>: The ULP can read data from a sensor every few seconds and only wake the main CPU if certain thresholds are met, reducing power consumption.</a:t>
            </a:r>
            <a:endParaRPr lang="en-US" sz="2400"/>
          </a:p>
        </p:txBody>
      </p:sp>
      <p:pic>
        <p:nvPicPr>
          <p:cNvPr id="6" name="Picture 5">
            <a:extLst>
              <a:ext uri="{FF2B5EF4-FFF2-40B4-BE49-F238E27FC236}">
                <a16:creationId xmlns:a16="http://schemas.microsoft.com/office/drawing/2014/main" id="{91648C3B-E002-DA44-462B-CE903C9A6D1D}"/>
              </a:ext>
            </a:extLst>
          </p:cNvPr>
          <p:cNvPicPr>
            <a:picLocks noChangeAspect="1"/>
          </p:cNvPicPr>
          <p:nvPr/>
        </p:nvPicPr>
        <p:blipFill>
          <a:blip r:embed="rId2"/>
          <a:srcRect t="355"/>
          <a:stretch/>
        </p:blipFill>
        <p:spPr>
          <a:xfrm>
            <a:off x="7684006" y="10"/>
            <a:ext cx="4507993" cy="6857990"/>
          </a:xfrm>
          <a:prstGeom prst="rect">
            <a:avLst/>
          </a:prstGeom>
        </p:spPr>
      </p:pic>
    </p:spTree>
    <p:extLst>
      <p:ext uri="{BB962C8B-B14F-4D97-AF65-F5344CB8AC3E}">
        <p14:creationId xmlns:p14="http://schemas.microsoft.com/office/powerpoint/2010/main" val="2437508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E73F6F-443B-25E8-B685-00D99AB9F4EE}"/>
              </a:ext>
            </a:extLst>
          </p:cNvPr>
          <p:cNvSpPr>
            <a:spLocks noGrp="1"/>
          </p:cNvSpPr>
          <p:nvPr>
            <p:ph type="title"/>
          </p:nvPr>
        </p:nvSpPr>
        <p:spPr>
          <a:xfrm>
            <a:off x="572493" y="238539"/>
            <a:ext cx="11018520" cy="1434415"/>
          </a:xfrm>
        </p:spPr>
        <p:txBody>
          <a:bodyPr anchor="b">
            <a:normAutofit/>
          </a:bodyPr>
          <a:lstStyle/>
          <a:p>
            <a:r>
              <a:rPr lang="en-GB" sz="5400"/>
              <a:t>Recovery Mode</a:t>
            </a:r>
            <a:endParaRPr lang="en-US" sz="5400"/>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290B12-FE8B-9767-548D-0DC11A2159D3}"/>
              </a:ext>
            </a:extLst>
          </p:cNvPr>
          <p:cNvSpPr>
            <a:spLocks noGrp="1"/>
          </p:cNvSpPr>
          <p:nvPr>
            <p:ph idx="1"/>
          </p:nvPr>
        </p:nvSpPr>
        <p:spPr>
          <a:xfrm>
            <a:off x="572493" y="2071316"/>
            <a:ext cx="6713552" cy="4119172"/>
          </a:xfrm>
        </p:spPr>
        <p:txBody>
          <a:bodyPr anchor="t">
            <a:normAutofit/>
          </a:bodyPr>
          <a:lstStyle/>
          <a:p>
            <a:r>
              <a:rPr lang="en-GB" sz="2400" b="1"/>
              <a:t>What It Is</a:t>
            </a:r>
            <a:r>
              <a:rPr lang="en-GB" sz="2400"/>
              <a:t>: A mode in which the ESP32 can return to a known state after a power failure or reset.</a:t>
            </a:r>
          </a:p>
          <a:p>
            <a:r>
              <a:rPr lang="en-GB" sz="2400" b="1"/>
              <a:t>Use</a:t>
            </a:r>
            <a:r>
              <a:rPr lang="en-GB" sz="2400"/>
              <a:t>: Ensures the system can recover from unexpected power issues without losing critical data.</a:t>
            </a:r>
          </a:p>
          <a:p>
            <a:r>
              <a:rPr lang="en-GB" sz="2400" b="1"/>
              <a:t>Example</a:t>
            </a:r>
            <a:r>
              <a:rPr lang="en-GB" sz="2400"/>
              <a:t>: After a power outage, the ESP32 can recover its state and continue from where it left off, reducing downtime and ensuring consistent operation.</a:t>
            </a:r>
            <a:endParaRPr lang="en-US" sz="2400"/>
          </a:p>
        </p:txBody>
      </p:sp>
      <p:pic>
        <p:nvPicPr>
          <p:cNvPr id="6" name="Picture 5">
            <a:extLst>
              <a:ext uri="{FF2B5EF4-FFF2-40B4-BE49-F238E27FC236}">
                <a16:creationId xmlns:a16="http://schemas.microsoft.com/office/drawing/2014/main" id="{D922D757-4EC8-5093-09C2-1039E7F36674}"/>
              </a:ext>
            </a:extLst>
          </p:cNvPr>
          <p:cNvPicPr>
            <a:picLocks noChangeAspect="1"/>
          </p:cNvPicPr>
          <p:nvPr/>
        </p:nvPicPr>
        <p:blipFill>
          <a:blip r:embed="rId2"/>
          <a:srcRect l="263" r="3532"/>
          <a:stretch/>
        </p:blipFill>
        <p:spPr>
          <a:xfrm>
            <a:off x="7675658" y="2093976"/>
            <a:ext cx="3941064" cy="4096512"/>
          </a:xfrm>
          <a:prstGeom prst="rect">
            <a:avLst/>
          </a:prstGeom>
        </p:spPr>
      </p:pic>
    </p:spTree>
    <p:extLst>
      <p:ext uri="{BB962C8B-B14F-4D97-AF65-F5344CB8AC3E}">
        <p14:creationId xmlns:p14="http://schemas.microsoft.com/office/powerpoint/2010/main" val="3930037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8ADD3340-21B4-CE25-B9B4-385CA2784598}"/>
              </a:ext>
            </a:extLst>
          </p:cNvPr>
          <p:cNvPicPr>
            <a:picLocks noGrp="1" noChangeAspect="1"/>
          </p:cNvPicPr>
          <p:nvPr>
            <p:ph idx="1"/>
          </p:nvPr>
        </p:nvPicPr>
        <p:blipFill>
          <a:blip r:embed="rId2"/>
          <a:srcRect t="10403" b="4707"/>
          <a:stretch/>
        </p:blipFill>
        <p:spPr>
          <a:xfrm>
            <a:off x="20" y="1282"/>
            <a:ext cx="12191980" cy="6856718"/>
          </a:xfrm>
          <a:prstGeom prst="rect">
            <a:avLst/>
          </a:prstGeom>
        </p:spPr>
      </p:pic>
    </p:spTree>
    <p:extLst>
      <p:ext uri="{BB962C8B-B14F-4D97-AF65-F5344CB8AC3E}">
        <p14:creationId xmlns:p14="http://schemas.microsoft.com/office/powerpoint/2010/main" val="4103001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225" t="38684" r="3473" b="-798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234261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331370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344" t="2774" r="33206" b="5777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4271905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BB891-275B-F831-4341-DE4A1DAB8A2F}"/>
              </a:ext>
            </a:extLst>
          </p:cNvPr>
          <p:cNvSpPr>
            <a:spLocks noGrp="1"/>
          </p:cNvSpPr>
          <p:nvPr>
            <p:ph type="title"/>
          </p:nvPr>
        </p:nvSpPr>
        <p:spPr/>
        <p:txBody>
          <a:bodyPr/>
          <a:lstStyle/>
          <a:p>
            <a:r>
              <a:rPr lang="en-GB"/>
              <a:t>Find Out What Each is Used For in General</a:t>
            </a:r>
            <a:endParaRPr lang="en-US" dirty="0"/>
          </a:p>
        </p:txBody>
      </p:sp>
      <p:pic>
        <p:nvPicPr>
          <p:cNvPr id="6" name="Content Placeholder 5">
            <a:extLst>
              <a:ext uri="{FF2B5EF4-FFF2-40B4-BE49-F238E27FC236}">
                <a16:creationId xmlns:a16="http://schemas.microsoft.com/office/drawing/2014/main" id="{E7E305E8-67E0-6A36-36A2-4533E7D80393}"/>
              </a:ext>
            </a:extLst>
          </p:cNvPr>
          <p:cNvPicPr>
            <a:picLocks noGrp="1" noChangeAspect="1"/>
          </p:cNvPicPr>
          <p:nvPr>
            <p:ph idx="1"/>
          </p:nvPr>
        </p:nvPicPr>
        <p:blipFill>
          <a:blip r:embed="rId2"/>
          <a:stretch>
            <a:fillRect/>
          </a:stretch>
        </p:blipFill>
        <p:spPr>
          <a:xfrm>
            <a:off x="2857500" y="2096294"/>
            <a:ext cx="6477000" cy="3810000"/>
          </a:xfrm>
          <a:prstGeom prst="rect">
            <a:avLst/>
          </a:prstGeom>
        </p:spPr>
      </p:pic>
    </p:spTree>
    <p:extLst>
      <p:ext uri="{BB962C8B-B14F-4D97-AF65-F5344CB8AC3E}">
        <p14:creationId xmlns:p14="http://schemas.microsoft.com/office/powerpoint/2010/main" val="28472886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C9911-1AF7-863C-4819-A89C60B1927B}"/>
              </a:ext>
            </a:extLst>
          </p:cNvPr>
          <p:cNvSpPr>
            <a:spLocks noGrp="1"/>
          </p:cNvSpPr>
          <p:nvPr>
            <p:ph type="title"/>
          </p:nvPr>
        </p:nvSpPr>
        <p:spPr>
          <a:xfrm>
            <a:off x="414867" y="181067"/>
            <a:ext cx="10515600" cy="1325563"/>
          </a:xfrm>
        </p:spPr>
        <p:txBody>
          <a:bodyPr/>
          <a:lstStyle/>
          <a:p>
            <a:r>
              <a:rPr lang="en-GB" dirty="0"/>
              <a:t>The Bluetooth Link Controller</a:t>
            </a:r>
            <a:endParaRPr lang="en-US" dirty="0"/>
          </a:p>
        </p:txBody>
      </p:sp>
      <p:sp>
        <p:nvSpPr>
          <p:cNvPr id="3" name="Content Placeholder 2">
            <a:extLst>
              <a:ext uri="{FF2B5EF4-FFF2-40B4-BE49-F238E27FC236}">
                <a16:creationId xmlns:a16="http://schemas.microsoft.com/office/drawing/2014/main" id="{28F7BE49-8385-016D-96B5-7FEEE5ED8967}"/>
              </a:ext>
            </a:extLst>
          </p:cNvPr>
          <p:cNvSpPr>
            <a:spLocks noGrp="1"/>
          </p:cNvSpPr>
          <p:nvPr>
            <p:ph idx="1"/>
          </p:nvPr>
        </p:nvSpPr>
        <p:spPr>
          <a:xfrm>
            <a:off x="672548" y="1425645"/>
            <a:ext cx="10515600" cy="5432355"/>
          </a:xfrm>
        </p:spPr>
        <p:txBody>
          <a:bodyPr>
            <a:normAutofit lnSpcReduction="10000"/>
          </a:bodyPr>
          <a:lstStyle/>
          <a:p>
            <a:pPr marL="0" indent="0" algn="justLow">
              <a:buNone/>
            </a:pPr>
            <a:r>
              <a:rPr lang="en-GB" dirty="0"/>
              <a:t>The </a:t>
            </a:r>
            <a:r>
              <a:rPr lang="en-GB" b="1" dirty="0"/>
              <a:t>Bluetooth Link Controller</a:t>
            </a:r>
            <a:r>
              <a:rPr lang="en-GB" dirty="0"/>
              <a:t> (LC) is responsible for </a:t>
            </a:r>
            <a:r>
              <a:rPr lang="en-GB" b="1" dirty="0"/>
              <a:t>managing the low-level Bluetooth operations</a:t>
            </a:r>
            <a:r>
              <a:rPr lang="en-GB" dirty="0"/>
              <a:t>. It handles the link layer protocol and controls the physical transmission and reception of data.</a:t>
            </a:r>
          </a:p>
          <a:p>
            <a:pPr algn="justLow"/>
            <a:r>
              <a:rPr lang="en-GB" b="1" dirty="0"/>
              <a:t>Device Pairing and Connections</a:t>
            </a:r>
            <a:r>
              <a:rPr lang="en-GB" dirty="0"/>
              <a:t>: Manages </a:t>
            </a:r>
            <a:r>
              <a:rPr lang="en-GB" b="1" dirty="0"/>
              <a:t>Bluetooth connections</a:t>
            </a:r>
            <a:r>
              <a:rPr lang="en-GB" dirty="0"/>
              <a:t>, including device discovery, pairing, and establishing connections between Bluetooth devices.</a:t>
            </a:r>
          </a:p>
          <a:p>
            <a:pPr algn="justLow"/>
            <a:r>
              <a:rPr lang="en-GB" b="1" dirty="0"/>
              <a:t>Flow Control</a:t>
            </a:r>
            <a:r>
              <a:rPr lang="en-GB" dirty="0"/>
              <a:t>: Handles </a:t>
            </a:r>
            <a:r>
              <a:rPr lang="en-GB" b="1" dirty="0"/>
              <a:t>data flow control</a:t>
            </a:r>
            <a:r>
              <a:rPr lang="en-GB" dirty="0"/>
              <a:t> between devices, ensuring that data packets are transmitted and received efficiently.</a:t>
            </a:r>
          </a:p>
          <a:p>
            <a:pPr algn="justLow"/>
            <a:r>
              <a:rPr lang="en-GB" b="1" dirty="0"/>
              <a:t>Error Detection and Correction</a:t>
            </a:r>
            <a:r>
              <a:rPr lang="en-GB" dirty="0"/>
              <a:t>: Ensures </a:t>
            </a:r>
            <a:r>
              <a:rPr lang="en-GB" b="1" dirty="0"/>
              <a:t>data integrity</a:t>
            </a:r>
            <a:r>
              <a:rPr lang="en-GB" dirty="0"/>
              <a:t> through error detection and correction mechanisms during communication.</a:t>
            </a:r>
          </a:p>
        </p:txBody>
      </p:sp>
    </p:spTree>
    <p:extLst>
      <p:ext uri="{BB962C8B-B14F-4D97-AF65-F5344CB8AC3E}">
        <p14:creationId xmlns:p14="http://schemas.microsoft.com/office/powerpoint/2010/main" val="25949595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9E06-8E69-1AA1-5BB9-495C382212C9}"/>
              </a:ext>
            </a:extLst>
          </p:cNvPr>
          <p:cNvSpPr>
            <a:spLocks noGrp="1"/>
          </p:cNvSpPr>
          <p:nvPr>
            <p:ph type="title"/>
          </p:nvPr>
        </p:nvSpPr>
        <p:spPr/>
        <p:txBody>
          <a:bodyPr/>
          <a:lstStyle/>
          <a:p>
            <a:r>
              <a:rPr lang="en-GB" dirty="0"/>
              <a:t>The Bluetooth Baseband</a:t>
            </a:r>
            <a:endParaRPr lang="en-US" dirty="0"/>
          </a:p>
        </p:txBody>
      </p:sp>
      <p:sp>
        <p:nvSpPr>
          <p:cNvPr id="3" name="Content Placeholder 2">
            <a:extLst>
              <a:ext uri="{FF2B5EF4-FFF2-40B4-BE49-F238E27FC236}">
                <a16:creationId xmlns:a16="http://schemas.microsoft.com/office/drawing/2014/main" id="{CAEFB316-DD87-2EDF-13C5-CCC79F05142B}"/>
              </a:ext>
            </a:extLst>
          </p:cNvPr>
          <p:cNvSpPr>
            <a:spLocks noGrp="1"/>
          </p:cNvSpPr>
          <p:nvPr>
            <p:ph idx="1"/>
          </p:nvPr>
        </p:nvSpPr>
        <p:spPr>
          <a:xfrm>
            <a:off x="838200" y="1512474"/>
            <a:ext cx="10515600" cy="4351338"/>
          </a:xfrm>
        </p:spPr>
        <p:txBody>
          <a:bodyPr>
            <a:noAutofit/>
          </a:bodyPr>
          <a:lstStyle/>
          <a:p>
            <a:pPr algn="just"/>
            <a:r>
              <a:rPr lang="en-GB" dirty="0"/>
              <a:t>The </a:t>
            </a:r>
            <a:r>
              <a:rPr lang="en-GB" b="1" dirty="0"/>
              <a:t>Bluetooth Baseband</a:t>
            </a:r>
            <a:r>
              <a:rPr lang="en-GB" dirty="0"/>
              <a:t> layer handles the </a:t>
            </a:r>
            <a:r>
              <a:rPr lang="en-GB" b="1" dirty="0"/>
              <a:t>core Bluetooth operations</a:t>
            </a:r>
            <a:r>
              <a:rPr lang="en-GB" dirty="0"/>
              <a:t> related to the physical transmission of data packets. It works closely with the Link Controller to implement the basic transmission and reception protocols.</a:t>
            </a:r>
          </a:p>
          <a:p>
            <a:pPr algn="just"/>
            <a:r>
              <a:rPr lang="en-GB" b="1" dirty="0"/>
              <a:t>Packet Formation</a:t>
            </a:r>
            <a:r>
              <a:rPr lang="en-GB" dirty="0"/>
              <a:t>: The baseband layer is responsible for </a:t>
            </a:r>
            <a:r>
              <a:rPr lang="en-GB" b="1" dirty="0"/>
              <a:t>forming and parsing Bluetooth data packets</a:t>
            </a:r>
            <a:r>
              <a:rPr lang="en-GB" dirty="0"/>
              <a:t> before they are sent over the air or after they are received.</a:t>
            </a:r>
          </a:p>
          <a:p>
            <a:pPr algn="just"/>
            <a:r>
              <a:rPr lang="en-GB" b="1" dirty="0"/>
              <a:t>Frequency Hopping</a:t>
            </a:r>
            <a:r>
              <a:rPr lang="en-GB" dirty="0"/>
              <a:t>: Supports </a:t>
            </a:r>
            <a:r>
              <a:rPr lang="en-GB" b="1" dirty="0"/>
              <a:t>frequency hopping</a:t>
            </a:r>
            <a:r>
              <a:rPr lang="en-GB" dirty="0"/>
              <a:t> to avoid interference with other wireless signals. Bluetooth devices hop between frequencies, improving connection stability and security.</a:t>
            </a:r>
          </a:p>
          <a:p>
            <a:pPr algn="just"/>
            <a:r>
              <a:rPr lang="en-GB" b="1" dirty="0"/>
              <a:t>Synchronization</a:t>
            </a:r>
            <a:r>
              <a:rPr lang="en-GB" dirty="0"/>
              <a:t>: Ensures devices are properly synchronized for </a:t>
            </a:r>
            <a:r>
              <a:rPr lang="en-GB" b="1" dirty="0"/>
              <a:t>accurate timing</a:t>
            </a:r>
            <a:r>
              <a:rPr lang="en-GB" dirty="0"/>
              <a:t> of packet transmission and reception.</a:t>
            </a:r>
          </a:p>
          <a:p>
            <a:pPr algn="just"/>
            <a:endParaRPr lang="en-US" dirty="0"/>
          </a:p>
        </p:txBody>
      </p:sp>
    </p:spTree>
    <p:extLst>
      <p:ext uri="{BB962C8B-B14F-4D97-AF65-F5344CB8AC3E}">
        <p14:creationId xmlns:p14="http://schemas.microsoft.com/office/powerpoint/2010/main" val="2011381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61CEB0F-2F2D-D54A-0C95-5E6FDD8CD13B}"/>
              </a:ext>
            </a:extLst>
          </p:cNvPr>
          <p:cNvPicPr>
            <a:picLocks noGrp="1" noChangeAspect="1"/>
          </p:cNvPicPr>
          <p:nvPr>
            <p:ph idx="1"/>
          </p:nvPr>
        </p:nvPicPr>
        <p:blipFill>
          <a:blip r:embed="rId2"/>
          <a:srcRect r="-2" b="53"/>
          <a:stretch/>
        </p:blipFill>
        <p:spPr>
          <a:xfrm>
            <a:off x="-6588" y="10"/>
            <a:ext cx="12198588" cy="6857990"/>
          </a:xfrm>
          <a:prstGeom prst="rect">
            <a:avLst/>
          </a:prstGeom>
        </p:spPr>
      </p:pic>
    </p:spTree>
    <p:extLst>
      <p:ext uri="{BB962C8B-B14F-4D97-AF65-F5344CB8AC3E}">
        <p14:creationId xmlns:p14="http://schemas.microsoft.com/office/powerpoint/2010/main" val="1122616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5FB0-144C-E616-F1A7-FF3C078F2F9B}"/>
              </a:ext>
            </a:extLst>
          </p:cNvPr>
          <p:cNvSpPr>
            <a:spLocks noGrp="1"/>
          </p:cNvSpPr>
          <p:nvPr>
            <p:ph type="title"/>
          </p:nvPr>
        </p:nvSpPr>
        <p:spPr/>
        <p:txBody>
          <a:bodyPr/>
          <a:lstStyle/>
          <a:p>
            <a:r>
              <a:rPr lang="en-GB" dirty="0"/>
              <a:t>Wi-Fi MAC (Media Access Control)</a:t>
            </a:r>
            <a:endParaRPr lang="en-US" dirty="0"/>
          </a:p>
        </p:txBody>
      </p:sp>
      <p:sp>
        <p:nvSpPr>
          <p:cNvPr id="3" name="Content Placeholder 2">
            <a:extLst>
              <a:ext uri="{FF2B5EF4-FFF2-40B4-BE49-F238E27FC236}">
                <a16:creationId xmlns:a16="http://schemas.microsoft.com/office/drawing/2014/main" id="{C6C0EA31-615C-EBB5-D167-0BF6EA29C5E4}"/>
              </a:ext>
            </a:extLst>
          </p:cNvPr>
          <p:cNvSpPr>
            <a:spLocks noGrp="1"/>
          </p:cNvSpPr>
          <p:nvPr>
            <p:ph idx="1"/>
          </p:nvPr>
        </p:nvSpPr>
        <p:spPr/>
        <p:txBody>
          <a:bodyPr>
            <a:normAutofit fontScale="92500" lnSpcReduction="10000"/>
          </a:bodyPr>
          <a:lstStyle/>
          <a:p>
            <a:pPr algn="just"/>
            <a:r>
              <a:rPr lang="en-GB" dirty="0"/>
              <a:t>The </a:t>
            </a:r>
            <a:r>
              <a:rPr lang="en-GB" b="1" dirty="0"/>
              <a:t>Wi-Fi MAC layer</a:t>
            </a:r>
            <a:r>
              <a:rPr lang="en-GB" dirty="0"/>
              <a:t> is responsible for </a:t>
            </a:r>
            <a:r>
              <a:rPr lang="en-GB" b="1" dirty="0"/>
              <a:t>controlling access to the wireless medium</a:t>
            </a:r>
            <a:r>
              <a:rPr lang="en-GB" dirty="0"/>
              <a:t>, managing the transmission and reception of data packets over Wi-Fi.</a:t>
            </a:r>
          </a:p>
          <a:p>
            <a:pPr algn="just"/>
            <a:r>
              <a:rPr lang="en-GB" b="1" dirty="0"/>
              <a:t>Frame Control</a:t>
            </a:r>
            <a:r>
              <a:rPr lang="en-GB" dirty="0"/>
              <a:t>: Handles the creation and management of </a:t>
            </a:r>
            <a:r>
              <a:rPr lang="en-GB" b="1" dirty="0"/>
              <a:t>Wi-Fi data frames</a:t>
            </a:r>
            <a:r>
              <a:rPr lang="en-GB" dirty="0"/>
              <a:t>, including addressing and sequencing of packets to ensure proper delivery.</a:t>
            </a:r>
          </a:p>
          <a:p>
            <a:pPr algn="just"/>
            <a:r>
              <a:rPr lang="en-GB" b="1" dirty="0"/>
              <a:t>Collision Avoidance</a:t>
            </a:r>
            <a:r>
              <a:rPr lang="en-GB" dirty="0"/>
              <a:t>: Implements </a:t>
            </a:r>
            <a:r>
              <a:rPr lang="en-GB" b="1" dirty="0"/>
              <a:t>collision avoidance mechanisms</a:t>
            </a:r>
            <a:r>
              <a:rPr lang="en-GB" dirty="0"/>
              <a:t> to prevent data packet collisions in shared wireless environments, improving transmission efficiency.</a:t>
            </a:r>
          </a:p>
          <a:p>
            <a:pPr algn="just"/>
            <a:r>
              <a:rPr lang="en-GB" b="1" dirty="0"/>
              <a:t>Power Management</a:t>
            </a:r>
            <a:r>
              <a:rPr lang="en-GB" dirty="0"/>
              <a:t>: The Wi-Fi MAC supports </a:t>
            </a:r>
            <a:r>
              <a:rPr lang="en-GB" b="1" dirty="0"/>
              <a:t>power-saving modes</a:t>
            </a:r>
            <a:r>
              <a:rPr lang="en-GB" dirty="0"/>
              <a:t>, allowing the ESP32 to conserve energy while maintaining its connection to Wi-Fi networks.</a:t>
            </a:r>
          </a:p>
          <a:p>
            <a:pPr marL="0" indent="0" algn="just">
              <a:buNone/>
            </a:pPr>
            <a:endParaRPr lang="en-US" dirty="0"/>
          </a:p>
        </p:txBody>
      </p:sp>
    </p:spTree>
    <p:extLst>
      <p:ext uri="{BB962C8B-B14F-4D97-AF65-F5344CB8AC3E}">
        <p14:creationId xmlns:p14="http://schemas.microsoft.com/office/powerpoint/2010/main" val="7161555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7B1A9-A75F-D9D2-AC44-8B7E5490637A}"/>
              </a:ext>
            </a:extLst>
          </p:cNvPr>
          <p:cNvSpPr>
            <a:spLocks noGrp="1"/>
          </p:cNvSpPr>
          <p:nvPr>
            <p:ph type="title"/>
          </p:nvPr>
        </p:nvSpPr>
        <p:spPr/>
        <p:txBody>
          <a:bodyPr/>
          <a:lstStyle/>
          <a:p>
            <a:r>
              <a:rPr lang="en-GB" dirty="0"/>
              <a:t>Wi-Fi Baseband</a:t>
            </a:r>
            <a:endParaRPr lang="en-US" dirty="0"/>
          </a:p>
        </p:txBody>
      </p:sp>
      <p:sp>
        <p:nvSpPr>
          <p:cNvPr id="3" name="Content Placeholder 2">
            <a:extLst>
              <a:ext uri="{FF2B5EF4-FFF2-40B4-BE49-F238E27FC236}">
                <a16:creationId xmlns:a16="http://schemas.microsoft.com/office/drawing/2014/main" id="{785996EB-71D8-B0A0-F503-6CB894C43005}"/>
              </a:ext>
            </a:extLst>
          </p:cNvPr>
          <p:cNvSpPr>
            <a:spLocks noGrp="1"/>
          </p:cNvSpPr>
          <p:nvPr>
            <p:ph idx="1"/>
          </p:nvPr>
        </p:nvSpPr>
        <p:spPr/>
        <p:txBody>
          <a:bodyPr>
            <a:normAutofit fontScale="92500" lnSpcReduction="10000"/>
          </a:bodyPr>
          <a:lstStyle/>
          <a:p>
            <a:r>
              <a:rPr lang="en-GB" dirty="0"/>
              <a:t>The </a:t>
            </a:r>
            <a:r>
              <a:rPr lang="en-GB" b="1" dirty="0"/>
              <a:t>Wi-Fi Baseband</a:t>
            </a:r>
            <a:r>
              <a:rPr lang="en-GB" dirty="0"/>
              <a:t> is responsible for the </a:t>
            </a:r>
            <a:r>
              <a:rPr lang="en-GB" b="1" dirty="0"/>
              <a:t>physical layer (PHY) operations</a:t>
            </a:r>
            <a:r>
              <a:rPr lang="en-GB" dirty="0"/>
              <a:t> of Wi-Fi communication, including signal modulation, demodulation, and encoding.</a:t>
            </a:r>
          </a:p>
          <a:p>
            <a:r>
              <a:rPr lang="en-GB" b="1" dirty="0"/>
              <a:t>Modulation and Demodulation</a:t>
            </a:r>
            <a:r>
              <a:rPr lang="en-GB" dirty="0"/>
              <a:t>: Converts digital data into </a:t>
            </a:r>
            <a:r>
              <a:rPr lang="en-GB" b="1" dirty="0"/>
              <a:t>radio waves</a:t>
            </a:r>
            <a:r>
              <a:rPr lang="en-GB" dirty="0"/>
              <a:t> (modulation) and back into digital data (demodulation) to enable wireless communication over the air.</a:t>
            </a:r>
          </a:p>
          <a:p>
            <a:r>
              <a:rPr lang="en-GB" b="1" dirty="0"/>
              <a:t>Error Correction</a:t>
            </a:r>
            <a:r>
              <a:rPr lang="en-GB" dirty="0"/>
              <a:t>: Implements </a:t>
            </a:r>
            <a:r>
              <a:rPr lang="en-GB" b="1" dirty="0"/>
              <a:t>error correction techniques</a:t>
            </a:r>
            <a:r>
              <a:rPr lang="en-GB" dirty="0"/>
              <a:t> to recover lost or corrupted data during transmission.</a:t>
            </a:r>
          </a:p>
          <a:p>
            <a:r>
              <a:rPr lang="en-GB" b="1" dirty="0"/>
              <a:t>Signal Processing</a:t>
            </a:r>
            <a:r>
              <a:rPr lang="en-GB" dirty="0"/>
              <a:t>: Handles the </a:t>
            </a:r>
            <a:r>
              <a:rPr lang="en-GB" b="1" dirty="0"/>
              <a:t>signal processing</a:t>
            </a:r>
            <a:r>
              <a:rPr lang="en-GB" dirty="0"/>
              <a:t> needed to transmit data over Wi-Fi at different speeds, depending on the quality of the wireless channel.</a:t>
            </a:r>
          </a:p>
          <a:p>
            <a:endParaRPr lang="en-US" dirty="0"/>
          </a:p>
        </p:txBody>
      </p:sp>
    </p:spTree>
    <p:extLst>
      <p:ext uri="{BB962C8B-B14F-4D97-AF65-F5344CB8AC3E}">
        <p14:creationId xmlns:p14="http://schemas.microsoft.com/office/powerpoint/2010/main" val="9937778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344" t="2774" r="33206" b="5777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896042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31179" b="-31686"/>
          <a:stretch/>
        </p:blipFill>
        <p:spPr>
          <a:xfrm>
            <a:off x="2222500" y="-1"/>
            <a:ext cx="9969500" cy="9031111"/>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169929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64032" t="-10705" r="-11347" b="60481"/>
          <a:stretch/>
        </p:blipFill>
        <p:spPr>
          <a:xfrm>
            <a:off x="5274943" y="-1857769"/>
            <a:ext cx="9099147" cy="8715769"/>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1229373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FB9E653A-65D1-05F1-A564-125F078457AE}"/>
              </a:ext>
            </a:extLst>
          </p:cNvPr>
          <p:cNvPicPr>
            <a:picLocks noGrp="1" noChangeAspect="1"/>
          </p:cNvPicPr>
          <p:nvPr>
            <p:ph idx="1"/>
          </p:nvPr>
        </p:nvPicPr>
        <p:blipFill>
          <a:blip r:embed="rId2"/>
          <a:srcRect b="19"/>
          <a:stretch/>
        </p:blipFill>
        <p:spPr>
          <a:xfrm>
            <a:off x="20" y="1282"/>
            <a:ext cx="12191980" cy="6856718"/>
          </a:xfrm>
          <a:prstGeom prst="rect">
            <a:avLst/>
          </a:prstGeom>
        </p:spPr>
      </p:pic>
    </p:spTree>
    <p:extLst>
      <p:ext uri="{BB962C8B-B14F-4D97-AF65-F5344CB8AC3E}">
        <p14:creationId xmlns:p14="http://schemas.microsoft.com/office/powerpoint/2010/main" val="13074852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61AC-B9A4-C6E9-AF77-24B7C3E75879}"/>
              </a:ext>
            </a:extLst>
          </p:cNvPr>
          <p:cNvSpPr>
            <a:spLocks noGrp="1"/>
          </p:cNvSpPr>
          <p:nvPr>
            <p:ph type="title"/>
          </p:nvPr>
        </p:nvSpPr>
        <p:spPr/>
        <p:txBody>
          <a:bodyPr/>
          <a:lstStyle/>
          <a:p>
            <a:r>
              <a:rPr lang="de-DE" dirty="0"/>
              <a:t>RF Transmit / Receive</a:t>
            </a:r>
            <a:endParaRPr lang="en-US" dirty="0"/>
          </a:p>
        </p:txBody>
      </p:sp>
      <p:sp>
        <p:nvSpPr>
          <p:cNvPr id="3" name="Content Placeholder 2">
            <a:extLst>
              <a:ext uri="{FF2B5EF4-FFF2-40B4-BE49-F238E27FC236}">
                <a16:creationId xmlns:a16="http://schemas.microsoft.com/office/drawing/2014/main" id="{18C109B1-B6A9-32BA-4B41-FC8A35C942D3}"/>
              </a:ext>
            </a:extLst>
          </p:cNvPr>
          <p:cNvSpPr>
            <a:spLocks noGrp="1"/>
          </p:cNvSpPr>
          <p:nvPr>
            <p:ph idx="1"/>
          </p:nvPr>
        </p:nvSpPr>
        <p:spPr>
          <a:xfrm>
            <a:off x="908179" y="1617306"/>
            <a:ext cx="10515600" cy="4940657"/>
          </a:xfrm>
        </p:spPr>
        <p:txBody>
          <a:bodyPr>
            <a:noAutofit/>
          </a:bodyPr>
          <a:lstStyle/>
          <a:p>
            <a:pPr marL="0" indent="0" algn="just">
              <a:buNone/>
            </a:pPr>
            <a:r>
              <a:rPr lang="en-US" dirty="0"/>
              <a:t>The RF (Radio Frequency) Transmit/Receive section handles the conversion of digital signals into radio waves for wireless transmission and vice versa for reception</a:t>
            </a:r>
            <a:r>
              <a:rPr lang="de-DE" dirty="0"/>
              <a:t>. It handles both Wi-Fi and Bluetooth which Operate in the same 2.4GHz Band</a:t>
            </a:r>
          </a:p>
          <a:p>
            <a:pPr algn="just"/>
            <a:r>
              <a:rPr lang="en-US" dirty="0"/>
              <a:t> Transmission (</a:t>
            </a:r>
            <a:r>
              <a:rPr lang="en-US" dirty="0" err="1"/>
              <a:t>Tx</a:t>
            </a:r>
            <a:r>
              <a:rPr lang="en-US" dirty="0"/>
              <a:t>):Converts digital signals into analog radio frequency signals that can be transmitted over Wi-Fi, Bluetooth, or other wireless protocols.</a:t>
            </a:r>
            <a:r>
              <a:rPr lang="de-DE" dirty="0"/>
              <a:t> </a:t>
            </a:r>
            <a:r>
              <a:rPr lang="en-US" dirty="0"/>
              <a:t>Amplifies the signal to ensure it can travel over distances.</a:t>
            </a:r>
            <a:endParaRPr lang="de-DE" dirty="0"/>
          </a:p>
          <a:p>
            <a:pPr algn="just"/>
            <a:r>
              <a:rPr lang="en-US" dirty="0"/>
              <a:t>Reception (Rx):Captures incoming radio waves and converts them back into digital data that the system can process.</a:t>
            </a:r>
            <a:r>
              <a:rPr lang="de-DE" dirty="0"/>
              <a:t> </a:t>
            </a:r>
            <a:r>
              <a:rPr lang="en-US" dirty="0"/>
              <a:t>Includes filtering and amplification to improve signal quality and reduce noise.</a:t>
            </a:r>
          </a:p>
        </p:txBody>
      </p:sp>
    </p:spTree>
    <p:extLst>
      <p:ext uri="{BB962C8B-B14F-4D97-AF65-F5344CB8AC3E}">
        <p14:creationId xmlns:p14="http://schemas.microsoft.com/office/powerpoint/2010/main" val="10394757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F659C-0BA0-0ADC-44A6-C925D9D15CF9}"/>
              </a:ext>
            </a:extLst>
          </p:cNvPr>
          <p:cNvSpPr>
            <a:spLocks noGrp="1"/>
          </p:cNvSpPr>
          <p:nvPr>
            <p:ph type="title"/>
          </p:nvPr>
        </p:nvSpPr>
        <p:spPr>
          <a:xfrm>
            <a:off x="667138" y="89580"/>
            <a:ext cx="10515600" cy="1325563"/>
          </a:xfrm>
        </p:spPr>
        <p:txBody>
          <a:bodyPr/>
          <a:lstStyle/>
          <a:p>
            <a:r>
              <a:rPr lang="de-DE" dirty="0"/>
              <a:t>HF Clock Generator</a:t>
            </a:r>
            <a:endParaRPr lang="en-US" dirty="0"/>
          </a:p>
        </p:txBody>
      </p:sp>
      <p:sp>
        <p:nvSpPr>
          <p:cNvPr id="3" name="Content Placeholder 2">
            <a:extLst>
              <a:ext uri="{FF2B5EF4-FFF2-40B4-BE49-F238E27FC236}">
                <a16:creationId xmlns:a16="http://schemas.microsoft.com/office/drawing/2014/main" id="{4C2F584B-9B2A-22F7-D012-D36BF936B329}"/>
              </a:ext>
            </a:extLst>
          </p:cNvPr>
          <p:cNvSpPr>
            <a:spLocks noGrp="1"/>
          </p:cNvSpPr>
          <p:nvPr>
            <p:ph idx="1"/>
          </p:nvPr>
        </p:nvSpPr>
        <p:spPr>
          <a:xfrm>
            <a:off x="482082" y="1415143"/>
            <a:ext cx="10871718" cy="4761820"/>
          </a:xfrm>
        </p:spPr>
        <p:txBody>
          <a:bodyPr>
            <a:normAutofit lnSpcReduction="10000"/>
          </a:bodyPr>
          <a:lstStyle/>
          <a:p>
            <a:pPr marL="0" indent="0" algn="just">
              <a:buNone/>
            </a:pPr>
            <a:r>
              <a:rPr lang="en-US" dirty="0"/>
              <a:t>Produces the high-frequency clock signals needed for RF mixing. In the ESP32, these signals are used to </a:t>
            </a:r>
            <a:r>
              <a:rPr lang="en-US" dirty="0" err="1"/>
              <a:t>upconvert</a:t>
            </a:r>
            <a:r>
              <a:rPr lang="en-US" dirty="0"/>
              <a:t> digital baseband signals to radio frequencies for transmission and </a:t>
            </a:r>
            <a:r>
              <a:rPr lang="en-US" dirty="0" err="1"/>
              <a:t>downconvert</a:t>
            </a:r>
            <a:r>
              <a:rPr lang="en-US" dirty="0"/>
              <a:t> incoming RF signals back to baseband for processing.</a:t>
            </a:r>
            <a:endParaRPr lang="de-DE" dirty="0"/>
          </a:p>
          <a:p>
            <a:pPr algn="just"/>
            <a:r>
              <a:rPr lang="en-US" dirty="0"/>
              <a:t>RF Mixing is a process where signals are combined with a high-frequency signal (generated by the Clock Generator) to either shift them up to a higher frequency (for transmission) or down to baseband (for reception).</a:t>
            </a:r>
            <a:r>
              <a:rPr lang="de-DE" dirty="0"/>
              <a:t> </a:t>
            </a:r>
            <a:r>
              <a:rPr lang="en-US" dirty="0"/>
              <a:t>This is essential for Wi-Fi and Bluetooth communication, which operate at specific radio frequencies.</a:t>
            </a:r>
            <a:endParaRPr lang="de-DE" dirty="0"/>
          </a:p>
          <a:p>
            <a:pPr algn="just"/>
            <a:r>
              <a:rPr lang="de-DE" dirty="0"/>
              <a:t>The </a:t>
            </a:r>
            <a:r>
              <a:rPr lang="en-US" dirty="0"/>
              <a:t>Reference Clock</a:t>
            </a:r>
            <a:r>
              <a:rPr lang="de-DE" dirty="0"/>
              <a:t> </a:t>
            </a:r>
            <a:r>
              <a:rPr lang="en-US" dirty="0"/>
              <a:t>Provides a stable and accurate reference frequency to ensure precise modulation, demodulation, and synchronization during RF communication.</a:t>
            </a:r>
          </a:p>
        </p:txBody>
      </p:sp>
    </p:spTree>
    <p:extLst>
      <p:ext uri="{BB962C8B-B14F-4D97-AF65-F5344CB8AC3E}">
        <p14:creationId xmlns:p14="http://schemas.microsoft.com/office/powerpoint/2010/main" val="1536287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B081-0919-FE53-27E9-284DCD4B6025}"/>
              </a:ext>
            </a:extLst>
          </p:cNvPr>
          <p:cNvSpPr>
            <a:spLocks noGrp="1"/>
          </p:cNvSpPr>
          <p:nvPr>
            <p:ph type="title"/>
          </p:nvPr>
        </p:nvSpPr>
        <p:spPr/>
        <p:txBody>
          <a:bodyPr/>
          <a:lstStyle/>
          <a:p>
            <a:r>
              <a:rPr lang="de-DE" dirty="0"/>
              <a:t>Beacause Wi-Fi/BT is 2.4GHz NOT 200MHz</a:t>
            </a:r>
            <a:endParaRPr lang="en-US" dirty="0"/>
          </a:p>
        </p:txBody>
      </p:sp>
      <p:pic>
        <p:nvPicPr>
          <p:cNvPr id="6" name="Content Placeholder 5">
            <a:extLst>
              <a:ext uri="{FF2B5EF4-FFF2-40B4-BE49-F238E27FC236}">
                <a16:creationId xmlns:a16="http://schemas.microsoft.com/office/drawing/2014/main" id="{DE0755B2-D5E0-3807-096C-BC6639857863}"/>
              </a:ext>
            </a:extLst>
          </p:cNvPr>
          <p:cNvPicPr>
            <a:picLocks noGrp="1" noChangeAspect="1"/>
          </p:cNvPicPr>
          <p:nvPr>
            <p:ph idx="1"/>
          </p:nvPr>
        </p:nvPicPr>
        <p:blipFill>
          <a:blip r:embed="rId2"/>
          <a:stretch>
            <a:fillRect/>
          </a:stretch>
        </p:blipFill>
        <p:spPr>
          <a:xfrm>
            <a:off x="2448757" y="1301913"/>
            <a:ext cx="7294485" cy="5343634"/>
          </a:xfrm>
          <a:prstGeom prst="rect">
            <a:avLst/>
          </a:prstGeom>
        </p:spPr>
      </p:pic>
    </p:spTree>
    <p:extLst>
      <p:ext uri="{BB962C8B-B14F-4D97-AF65-F5344CB8AC3E}">
        <p14:creationId xmlns:p14="http://schemas.microsoft.com/office/powerpoint/2010/main" val="36831660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D2DAB80-B261-E017-2506-CF9D7AD412B9}"/>
              </a:ext>
            </a:extLst>
          </p:cNvPr>
          <p:cNvPicPr>
            <a:picLocks noGrp="1" noChangeAspect="1"/>
          </p:cNvPicPr>
          <p:nvPr>
            <p:ph idx="1"/>
          </p:nvPr>
        </p:nvPicPr>
        <p:blipFill>
          <a:blip r:embed="rId2"/>
          <a:stretch>
            <a:fillRect/>
          </a:stretch>
        </p:blipFill>
        <p:spPr>
          <a:xfrm>
            <a:off x="236213" y="629817"/>
            <a:ext cx="11719573" cy="5840254"/>
          </a:xfrm>
          <a:prstGeom prst="rect">
            <a:avLst/>
          </a:prstGeom>
        </p:spPr>
      </p:pic>
    </p:spTree>
    <p:extLst>
      <p:ext uri="{BB962C8B-B14F-4D97-AF65-F5344CB8AC3E}">
        <p14:creationId xmlns:p14="http://schemas.microsoft.com/office/powerpoint/2010/main" val="13410078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FF914-0919-9FDF-84FE-0367238E1660}"/>
              </a:ext>
            </a:extLst>
          </p:cNvPr>
          <p:cNvSpPr>
            <a:spLocks noGrp="1"/>
          </p:cNvSpPr>
          <p:nvPr>
            <p:ph type="title"/>
          </p:nvPr>
        </p:nvSpPr>
        <p:spPr/>
        <p:txBody>
          <a:bodyPr/>
          <a:lstStyle/>
          <a:p>
            <a:r>
              <a:rPr lang="de-DE" dirty="0"/>
              <a:t>RF Switching</a:t>
            </a:r>
            <a:endParaRPr lang="en-US" dirty="0"/>
          </a:p>
        </p:txBody>
      </p:sp>
      <p:sp>
        <p:nvSpPr>
          <p:cNvPr id="3" name="Content Placeholder 2">
            <a:extLst>
              <a:ext uri="{FF2B5EF4-FFF2-40B4-BE49-F238E27FC236}">
                <a16:creationId xmlns:a16="http://schemas.microsoft.com/office/drawing/2014/main" id="{3EAAC398-3DE4-9FDB-CAEB-80958D1E8646}"/>
              </a:ext>
            </a:extLst>
          </p:cNvPr>
          <p:cNvSpPr>
            <a:spLocks noGrp="1"/>
          </p:cNvSpPr>
          <p:nvPr>
            <p:ph idx="1"/>
          </p:nvPr>
        </p:nvSpPr>
        <p:spPr>
          <a:xfrm>
            <a:off x="838200" y="1555102"/>
            <a:ext cx="10515600" cy="4621861"/>
          </a:xfrm>
        </p:spPr>
        <p:txBody>
          <a:bodyPr/>
          <a:lstStyle/>
          <a:p>
            <a:pPr marL="0" indent="0" algn="just">
              <a:buNone/>
            </a:pPr>
            <a:r>
              <a:rPr lang="en-US" dirty="0"/>
              <a:t>Directs the signal either to the transmitter or the receiver, ensuring the right path for data communication</a:t>
            </a:r>
            <a:endParaRPr lang="de-DE" dirty="0"/>
          </a:p>
          <a:p>
            <a:pPr algn="just"/>
            <a:r>
              <a:rPr lang="en-US" dirty="0"/>
              <a:t>Helps in matching impedance between different components, minimizing signal loss and improving overall performance.</a:t>
            </a:r>
            <a:endParaRPr lang="de-DE" dirty="0"/>
          </a:p>
          <a:p>
            <a:pPr algn="just"/>
            <a:r>
              <a:rPr lang="en-US" dirty="0"/>
              <a:t>The RF Switch is crucial for efficient communication, ensuring smooth transitions between transmitting and receiving modes without interference.</a:t>
            </a:r>
            <a:endParaRPr lang="de-DE" dirty="0"/>
          </a:p>
          <a:p>
            <a:pPr algn="just"/>
            <a:r>
              <a:rPr lang="en-US" dirty="0"/>
              <a:t>During Wi-Fi communication, the RF Switch ensures the ESP32 can quickly switch between sending data (</a:t>
            </a:r>
            <a:r>
              <a:rPr lang="en-US" dirty="0" err="1"/>
              <a:t>Tx</a:t>
            </a:r>
            <a:r>
              <a:rPr lang="en-US" dirty="0"/>
              <a:t>) and receiving data (Rx) as needed</a:t>
            </a:r>
          </a:p>
        </p:txBody>
      </p:sp>
    </p:spTree>
    <p:extLst>
      <p:ext uri="{BB962C8B-B14F-4D97-AF65-F5344CB8AC3E}">
        <p14:creationId xmlns:p14="http://schemas.microsoft.com/office/powerpoint/2010/main" val="37006199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C29FBE2-EF69-5FAA-2558-09667CEB3449}"/>
              </a:ext>
            </a:extLst>
          </p:cNvPr>
          <p:cNvPicPr>
            <a:picLocks noGrp="1" noChangeAspect="1"/>
          </p:cNvPicPr>
          <p:nvPr>
            <p:ph idx="1"/>
          </p:nvPr>
        </p:nvPicPr>
        <p:blipFill>
          <a:blip r:embed="rId2"/>
          <a:stretch>
            <a:fillRect/>
          </a:stretch>
        </p:blipFill>
        <p:spPr>
          <a:xfrm>
            <a:off x="1535431" y="147735"/>
            <a:ext cx="9121138" cy="6369403"/>
          </a:xfrm>
          <a:prstGeom prst="rect">
            <a:avLst/>
          </a:prstGeom>
        </p:spPr>
      </p:pic>
    </p:spTree>
    <p:extLst>
      <p:ext uri="{BB962C8B-B14F-4D97-AF65-F5344CB8AC3E}">
        <p14:creationId xmlns:p14="http://schemas.microsoft.com/office/powerpoint/2010/main" val="24226553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58634-42C1-ABC0-DFC5-CD3C47E2ED69}"/>
              </a:ext>
            </a:extLst>
          </p:cNvPr>
          <p:cNvSpPr>
            <a:spLocks noGrp="1"/>
          </p:cNvSpPr>
          <p:nvPr>
            <p:ph type="title"/>
          </p:nvPr>
        </p:nvSpPr>
        <p:spPr/>
        <p:txBody>
          <a:bodyPr/>
          <a:lstStyle/>
          <a:p>
            <a:r>
              <a:rPr lang="de-DE" dirty="0"/>
              <a:t>The BALUN</a:t>
            </a:r>
            <a:endParaRPr lang="en-US" dirty="0"/>
          </a:p>
        </p:txBody>
      </p:sp>
      <p:sp>
        <p:nvSpPr>
          <p:cNvPr id="3" name="Content Placeholder 2">
            <a:extLst>
              <a:ext uri="{FF2B5EF4-FFF2-40B4-BE49-F238E27FC236}">
                <a16:creationId xmlns:a16="http://schemas.microsoft.com/office/drawing/2014/main" id="{BFB794FF-B732-7C1A-1FA6-5D11235E0E40}"/>
              </a:ext>
            </a:extLst>
          </p:cNvPr>
          <p:cNvSpPr>
            <a:spLocks noGrp="1"/>
          </p:cNvSpPr>
          <p:nvPr>
            <p:ph idx="1"/>
          </p:nvPr>
        </p:nvSpPr>
        <p:spPr/>
        <p:txBody>
          <a:bodyPr/>
          <a:lstStyle/>
          <a:p>
            <a:pPr marL="0" indent="0" algn="just">
              <a:buNone/>
            </a:pPr>
            <a:r>
              <a:rPr lang="en-US" dirty="0"/>
              <a:t>A </a:t>
            </a:r>
            <a:r>
              <a:rPr lang="en-US" dirty="0" err="1"/>
              <a:t>Balun</a:t>
            </a:r>
            <a:r>
              <a:rPr lang="en-US" dirty="0"/>
              <a:t> is a transformer that converts a balanced signal (with equal and opposite voltages) to an unbalanced signal (with one side grounded) and vice versa</a:t>
            </a:r>
            <a:r>
              <a:rPr lang="de-DE" dirty="0"/>
              <a:t>.</a:t>
            </a:r>
          </a:p>
          <a:p>
            <a:pPr algn="just"/>
            <a:r>
              <a:rPr lang="en-US" dirty="0"/>
              <a:t>Helps maximize the efficiency of signal transmission and reception by reducing reflection and power loss.</a:t>
            </a:r>
            <a:endParaRPr lang="de-DE" dirty="0"/>
          </a:p>
          <a:p>
            <a:pPr algn="just"/>
            <a:r>
              <a:rPr lang="en-US" dirty="0"/>
              <a:t>The </a:t>
            </a:r>
            <a:r>
              <a:rPr lang="en-US" dirty="0" err="1"/>
              <a:t>Balun</a:t>
            </a:r>
            <a:r>
              <a:rPr lang="en-US" dirty="0"/>
              <a:t> ensures efficient transmission of RF signals to and from the antenna, improving signal quality and reducing interference.</a:t>
            </a:r>
          </a:p>
        </p:txBody>
      </p:sp>
    </p:spTree>
    <p:extLst>
      <p:ext uri="{BB962C8B-B14F-4D97-AF65-F5344CB8AC3E}">
        <p14:creationId xmlns:p14="http://schemas.microsoft.com/office/powerpoint/2010/main" val="19997403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333BAB-9D76-B121-5FD8-93C2DAC53ED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Why Generate Balanced Signals?</a:t>
            </a:r>
          </a:p>
        </p:txBody>
      </p:sp>
      <p:pic>
        <p:nvPicPr>
          <p:cNvPr id="6" name="Content Placeholder 5">
            <a:extLst>
              <a:ext uri="{FF2B5EF4-FFF2-40B4-BE49-F238E27FC236}">
                <a16:creationId xmlns:a16="http://schemas.microsoft.com/office/drawing/2014/main" id="{AA31A2E0-A29C-EFE1-5947-B9861730C857}"/>
              </a:ext>
            </a:extLst>
          </p:cNvPr>
          <p:cNvPicPr>
            <a:picLocks noGrp="1" noChangeAspect="1"/>
          </p:cNvPicPr>
          <p:nvPr>
            <p:ph idx="1"/>
          </p:nvPr>
        </p:nvPicPr>
        <p:blipFill>
          <a:blip r:embed="rId2"/>
          <a:srcRect r="48367" b="27056"/>
          <a:stretch/>
        </p:blipFill>
        <p:spPr>
          <a:xfrm>
            <a:off x="1948784" y="1675227"/>
            <a:ext cx="8294431" cy="4394199"/>
          </a:xfrm>
          <a:prstGeom prst="rect">
            <a:avLst/>
          </a:prstGeom>
        </p:spPr>
      </p:pic>
    </p:spTree>
    <p:extLst>
      <p:ext uri="{BB962C8B-B14F-4D97-AF65-F5344CB8AC3E}">
        <p14:creationId xmlns:p14="http://schemas.microsoft.com/office/powerpoint/2010/main" val="37118897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785F6-0F11-501F-7839-CAC5F9F191ED}"/>
              </a:ext>
            </a:extLst>
          </p:cNvPr>
          <p:cNvSpPr>
            <a:spLocks noGrp="1"/>
          </p:cNvSpPr>
          <p:nvPr>
            <p:ph type="title"/>
          </p:nvPr>
        </p:nvSpPr>
        <p:spPr>
          <a:xfrm>
            <a:off x="838200" y="18255"/>
            <a:ext cx="10515600" cy="1325563"/>
          </a:xfrm>
        </p:spPr>
        <p:txBody>
          <a:bodyPr/>
          <a:lstStyle/>
          <a:p>
            <a:r>
              <a:rPr lang="en-GB" dirty="0"/>
              <a:t>Most Power Analog Outputs are Balanced</a:t>
            </a:r>
            <a:endParaRPr lang="en-US" dirty="0"/>
          </a:p>
        </p:txBody>
      </p:sp>
      <p:sp>
        <p:nvSpPr>
          <p:cNvPr id="3" name="Content Placeholder 2">
            <a:extLst>
              <a:ext uri="{FF2B5EF4-FFF2-40B4-BE49-F238E27FC236}">
                <a16:creationId xmlns:a16="http://schemas.microsoft.com/office/drawing/2014/main" id="{A82C6D48-CB85-F7D3-327C-27FD27BCA4B1}"/>
              </a:ext>
            </a:extLst>
          </p:cNvPr>
          <p:cNvSpPr>
            <a:spLocks noGrp="1"/>
          </p:cNvSpPr>
          <p:nvPr>
            <p:ph idx="1"/>
          </p:nvPr>
        </p:nvSpPr>
        <p:spPr>
          <a:xfrm>
            <a:off x="838200" y="1088691"/>
            <a:ext cx="10515600" cy="4351338"/>
          </a:xfrm>
        </p:spPr>
        <p:txBody>
          <a:bodyPr/>
          <a:lstStyle/>
          <a:p>
            <a:pPr marL="0" indent="0">
              <a:buNone/>
            </a:pPr>
            <a:r>
              <a:rPr lang="en-GB" dirty="0"/>
              <a:t>Antennas Can Also come in Monopole and Dipole Configurations</a:t>
            </a:r>
            <a:endParaRPr lang="en-US" dirty="0"/>
          </a:p>
        </p:txBody>
      </p:sp>
      <p:pic>
        <p:nvPicPr>
          <p:cNvPr id="6" name="Picture 5">
            <a:extLst>
              <a:ext uri="{FF2B5EF4-FFF2-40B4-BE49-F238E27FC236}">
                <a16:creationId xmlns:a16="http://schemas.microsoft.com/office/drawing/2014/main" id="{9C467E32-7BD6-DC09-E3F4-CF25B6CC44E2}"/>
              </a:ext>
            </a:extLst>
          </p:cNvPr>
          <p:cNvPicPr>
            <a:picLocks noChangeAspect="1"/>
          </p:cNvPicPr>
          <p:nvPr/>
        </p:nvPicPr>
        <p:blipFill>
          <a:blip r:embed="rId2"/>
          <a:srcRect t="14180" b="-439"/>
          <a:stretch/>
        </p:blipFill>
        <p:spPr>
          <a:xfrm>
            <a:off x="2534151" y="1850188"/>
            <a:ext cx="7123697" cy="4608533"/>
          </a:xfrm>
          <a:prstGeom prst="rect">
            <a:avLst/>
          </a:prstGeom>
        </p:spPr>
      </p:pic>
    </p:spTree>
    <p:extLst>
      <p:ext uri="{BB962C8B-B14F-4D97-AF65-F5344CB8AC3E}">
        <p14:creationId xmlns:p14="http://schemas.microsoft.com/office/powerpoint/2010/main" val="26606162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64032" t="-10705" r="-11347" b="60481"/>
          <a:stretch/>
        </p:blipFill>
        <p:spPr>
          <a:xfrm>
            <a:off x="5274943" y="-1857769"/>
            <a:ext cx="9099147" cy="8715769"/>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2182270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31179" b="-31686"/>
          <a:stretch/>
        </p:blipFill>
        <p:spPr>
          <a:xfrm>
            <a:off x="2222500" y="-1"/>
            <a:ext cx="9969500" cy="9031111"/>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1339850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3CEBD-3FE5-B1A7-1E67-2FD5D082D9F1}"/>
              </a:ext>
            </a:extLst>
          </p:cNvPr>
          <p:cNvSpPr>
            <a:spLocks noGrp="1"/>
          </p:cNvSpPr>
          <p:nvPr>
            <p:ph type="title"/>
          </p:nvPr>
        </p:nvSpPr>
        <p:spPr/>
        <p:txBody>
          <a:bodyPr/>
          <a:lstStyle/>
          <a:p>
            <a:r>
              <a:rPr lang="de-DE" dirty="0"/>
              <a:t>Communication Interfaces</a:t>
            </a:r>
            <a:endParaRPr lang="en-US" dirty="0"/>
          </a:p>
        </p:txBody>
      </p:sp>
      <p:sp>
        <p:nvSpPr>
          <p:cNvPr id="3" name="Content Placeholder 2">
            <a:extLst>
              <a:ext uri="{FF2B5EF4-FFF2-40B4-BE49-F238E27FC236}">
                <a16:creationId xmlns:a16="http://schemas.microsoft.com/office/drawing/2014/main" id="{6F1FD139-A6D0-4588-23D6-A72F3CEFA4F0}"/>
              </a:ext>
            </a:extLst>
          </p:cNvPr>
          <p:cNvSpPr>
            <a:spLocks noGrp="1"/>
          </p:cNvSpPr>
          <p:nvPr>
            <p:ph idx="1"/>
          </p:nvPr>
        </p:nvSpPr>
        <p:spPr>
          <a:xfrm>
            <a:off x="838200" y="1643786"/>
            <a:ext cx="10515600" cy="4351338"/>
          </a:xfrm>
        </p:spPr>
        <p:txBody>
          <a:bodyPr>
            <a:normAutofit fontScale="85000" lnSpcReduction="10000"/>
          </a:bodyPr>
          <a:lstStyle/>
          <a:p>
            <a:pPr algn="just"/>
            <a:r>
              <a:rPr lang="en-US" dirty="0"/>
              <a:t>Hardware-based peripherals provide much faster and more reliable communication than software-only solutions. Direct access to hardware eliminates delays caused by software processing, leading to higher data throughput and reduced latency.</a:t>
            </a:r>
            <a:endParaRPr lang="de-DE" dirty="0"/>
          </a:p>
          <a:p>
            <a:pPr algn="just"/>
            <a:r>
              <a:rPr lang="de-DE" dirty="0"/>
              <a:t>A</a:t>
            </a:r>
            <a:r>
              <a:rPr lang="en-US" dirty="0"/>
              <a:t>re more energy-efficient, as they are optimized to perform specific tasks without burdening the main processor, which can conserve power, especially in low-power devices like the ESP32.</a:t>
            </a:r>
            <a:endParaRPr lang="de-DE" dirty="0"/>
          </a:p>
          <a:p>
            <a:pPr algn="just"/>
            <a:r>
              <a:rPr lang="de-DE" dirty="0"/>
              <a:t>C</a:t>
            </a:r>
            <a:r>
              <a:rPr lang="en-US" dirty="0"/>
              <a:t>an handle tasks independently of the main CPU, allowing the processor to focus on other computations while the hardware handles communication or data transfer.</a:t>
            </a:r>
            <a:endParaRPr lang="de-DE" dirty="0"/>
          </a:p>
          <a:p>
            <a:pPr algn="just"/>
            <a:r>
              <a:rPr lang="en-US" dirty="0"/>
              <a:t>Many applications, such as sensor reading or communication protocols, require real-time data processing that software-based solutions cannot guarantee due to their inherent delays and processing overhead.</a:t>
            </a:r>
          </a:p>
        </p:txBody>
      </p:sp>
    </p:spTree>
    <p:extLst>
      <p:ext uri="{BB962C8B-B14F-4D97-AF65-F5344CB8AC3E}">
        <p14:creationId xmlns:p14="http://schemas.microsoft.com/office/powerpoint/2010/main" val="13849591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695F69-7001-421E-98A8-E74156934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B672B5E-9BEE-C7EC-4F7C-DBB0945E1444}"/>
              </a:ext>
            </a:extLst>
          </p:cNvPr>
          <p:cNvPicPr>
            <a:picLocks noChangeAspect="1"/>
          </p:cNvPicPr>
          <p:nvPr/>
        </p:nvPicPr>
        <p:blipFill>
          <a:blip r:embed="rId2"/>
          <a:srcRect t="15025" r="-2" b="4817"/>
          <a:stretch/>
        </p:blipFill>
        <p:spPr>
          <a:xfrm>
            <a:off x="6096010" y="10"/>
            <a:ext cx="6095999" cy="6857990"/>
          </a:xfrm>
          <a:custGeom>
            <a:avLst/>
            <a:gdLst/>
            <a:ahLst/>
            <a:cxnLst/>
            <a:rect l="l" t="t" r="r" b="b"/>
            <a:pathLst>
              <a:path w="6095999" h="6858000">
                <a:moveTo>
                  <a:pt x="0" y="0"/>
                </a:moveTo>
                <a:lnTo>
                  <a:pt x="6095999" y="0"/>
                </a:lnTo>
                <a:lnTo>
                  <a:pt x="6095999" y="6858000"/>
                </a:lnTo>
                <a:lnTo>
                  <a:pt x="0" y="6858000"/>
                </a:lnTo>
                <a:lnTo>
                  <a:pt x="0" y="6857999"/>
                </a:lnTo>
                <a:lnTo>
                  <a:pt x="4220980" y="6857999"/>
                </a:lnTo>
                <a:lnTo>
                  <a:pt x="4213164" y="6851010"/>
                </a:lnTo>
                <a:cubicBezTo>
                  <a:pt x="4181666" y="6825777"/>
                  <a:pt x="4066661" y="6744343"/>
                  <a:pt x="4062999" y="6737842"/>
                </a:cubicBezTo>
                <a:cubicBezTo>
                  <a:pt x="4024279" y="6693220"/>
                  <a:pt x="4060463" y="6731339"/>
                  <a:pt x="3994350" y="6686435"/>
                </a:cubicBezTo>
                <a:cubicBezTo>
                  <a:pt x="3947033" y="6670674"/>
                  <a:pt x="3899856" y="6566625"/>
                  <a:pt x="3859426" y="6512643"/>
                </a:cubicBezTo>
                <a:cubicBezTo>
                  <a:pt x="3843619" y="6494605"/>
                  <a:pt x="3819111" y="6476220"/>
                  <a:pt x="3795266" y="6469055"/>
                </a:cubicBezTo>
                <a:cubicBezTo>
                  <a:pt x="3772240" y="6479507"/>
                  <a:pt x="3769424" y="6446115"/>
                  <a:pt x="3752228" y="6440526"/>
                </a:cubicBezTo>
                <a:cubicBezTo>
                  <a:pt x="3742060" y="6447641"/>
                  <a:pt x="3719048" y="6424775"/>
                  <a:pt x="3716355" y="6414007"/>
                </a:cubicBezTo>
                <a:cubicBezTo>
                  <a:pt x="3729286" y="6392352"/>
                  <a:pt x="3629924" y="6387100"/>
                  <a:pt x="3629916" y="6370687"/>
                </a:cubicBezTo>
                <a:cubicBezTo>
                  <a:pt x="3600280" y="6362353"/>
                  <a:pt x="3495200" y="6368444"/>
                  <a:pt x="3479034" y="6339494"/>
                </a:cubicBezTo>
                <a:cubicBezTo>
                  <a:pt x="3420435" y="6317314"/>
                  <a:pt x="3345614" y="6290932"/>
                  <a:pt x="3319627" y="6285893"/>
                </a:cubicBezTo>
                <a:cubicBezTo>
                  <a:pt x="3282294" y="6327705"/>
                  <a:pt x="3185936" y="6185255"/>
                  <a:pt x="3075494" y="6164273"/>
                </a:cubicBezTo>
                <a:cubicBezTo>
                  <a:pt x="3059427" y="6166243"/>
                  <a:pt x="3051440" y="6164859"/>
                  <a:pt x="3050019" y="6153683"/>
                </a:cubicBezTo>
                <a:cubicBezTo>
                  <a:pt x="3016030" y="6146243"/>
                  <a:pt x="2991340" y="6114870"/>
                  <a:pt x="2963636" y="6123708"/>
                </a:cubicBezTo>
                <a:cubicBezTo>
                  <a:pt x="2928425" y="6105855"/>
                  <a:pt x="2947049" y="6092097"/>
                  <a:pt x="2914912" y="6078439"/>
                </a:cubicBezTo>
                <a:lnTo>
                  <a:pt x="2770812" y="6041758"/>
                </a:lnTo>
                <a:cubicBezTo>
                  <a:pt x="2750466" y="6034724"/>
                  <a:pt x="2729222" y="6014032"/>
                  <a:pt x="2708585" y="6007728"/>
                </a:cubicBezTo>
                <a:lnTo>
                  <a:pt x="2687072" y="6003931"/>
                </a:lnTo>
                <a:lnTo>
                  <a:pt x="2674457" y="5991515"/>
                </a:lnTo>
                <a:cubicBezTo>
                  <a:pt x="2668773" y="5988707"/>
                  <a:pt x="2661696" y="5988167"/>
                  <a:pt x="2652298" y="5991525"/>
                </a:cubicBezTo>
                <a:cubicBezTo>
                  <a:pt x="2634345" y="5986939"/>
                  <a:pt x="2583809" y="5969299"/>
                  <a:pt x="2566743" y="5963996"/>
                </a:cubicBezTo>
                <a:lnTo>
                  <a:pt x="2549903" y="5959709"/>
                </a:lnTo>
                <a:lnTo>
                  <a:pt x="2542177" y="5951723"/>
                </a:lnTo>
                <a:cubicBezTo>
                  <a:pt x="2529898" y="5945994"/>
                  <a:pt x="2498812" y="5935402"/>
                  <a:pt x="2476225" y="5925338"/>
                </a:cubicBezTo>
                <a:cubicBezTo>
                  <a:pt x="2457810" y="5911056"/>
                  <a:pt x="2433846" y="5899348"/>
                  <a:pt x="2406656" y="5891344"/>
                </a:cubicBezTo>
                <a:cubicBezTo>
                  <a:pt x="2400991" y="5896275"/>
                  <a:pt x="2393612" y="5885783"/>
                  <a:pt x="2389160" y="5883030"/>
                </a:cubicBezTo>
                <a:cubicBezTo>
                  <a:pt x="2387458" y="5886701"/>
                  <a:pt x="2375233" y="5885881"/>
                  <a:pt x="2372540" y="5881920"/>
                </a:cubicBezTo>
                <a:cubicBezTo>
                  <a:pt x="2293168" y="5849488"/>
                  <a:pt x="2325743" y="5894734"/>
                  <a:pt x="2283811" y="5862541"/>
                </a:cubicBezTo>
                <a:cubicBezTo>
                  <a:pt x="2275730" y="5859531"/>
                  <a:pt x="2268484" y="5859925"/>
                  <a:pt x="2261759" y="5861764"/>
                </a:cubicBezTo>
                <a:lnTo>
                  <a:pt x="2219265" y="5849327"/>
                </a:lnTo>
                <a:cubicBezTo>
                  <a:pt x="2203078" y="5842651"/>
                  <a:pt x="2185672" y="5837119"/>
                  <a:pt x="2167456" y="5832891"/>
                </a:cubicBezTo>
                <a:cubicBezTo>
                  <a:pt x="2161387" y="5839963"/>
                  <a:pt x="2149583" y="5826532"/>
                  <a:pt x="2143288" y="5823218"/>
                </a:cubicBezTo>
                <a:cubicBezTo>
                  <a:pt x="2141966" y="5828274"/>
                  <a:pt x="2126227" y="5828196"/>
                  <a:pt x="2121889" y="5823116"/>
                </a:cubicBezTo>
                <a:cubicBezTo>
                  <a:pt x="2013448" y="5786297"/>
                  <a:pt x="2065303" y="5844161"/>
                  <a:pt x="2004548" y="5804552"/>
                </a:cubicBezTo>
                <a:cubicBezTo>
                  <a:pt x="1993575" y="5801194"/>
                  <a:pt x="1984449" y="5802325"/>
                  <a:pt x="1976317" y="5805346"/>
                </a:cubicBezTo>
                <a:lnTo>
                  <a:pt x="1960968" y="5813703"/>
                </a:lnTo>
                <a:lnTo>
                  <a:pt x="1951886" y="5808313"/>
                </a:lnTo>
                <a:cubicBezTo>
                  <a:pt x="1914205" y="5801767"/>
                  <a:pt x="1900427" y="5810657"/>
                  <a:pt x="1881129" y="5796205"/>
                </a:cubicBezTo>
                <a:cubicBezTo>
                  <a:pt x="1847467" y="5788576"/>
                  <a:pt x="1808824" y="5783942"/>
                  <a:pt x="1778393" y="5776687"/>
                </a:cubicBezTo>
                <a:cubicBezTo>
                  <a:pt x="1764338" y="5756704"/>
                  <a:pt x="1721542" y="5761928"/>
                  <a:pt x="1698544" y="5752677"/>
                </a:cubicBezTo>
                <a:cubicBezTo>
                  <a:pt x="1688689" y="5744367"/>
                  <a:pt x="1680710" y="5741898"/>
                  <a:pt x="1667763" y="5746936"/>
                </a:cubicBezTo>
                <a:cubicBezTo>
                  <a:pt x="1622782" y="5706970"/>
                  <a:pt x="1636232" y="5740258"/>
                  <a:pt x="1589890" y="5720079"/>
                </a:cubicBezTo>
                <a:cubicBezTo>
                  <a:pt x="1550522" y="5700408"/>
                  <a:pt x="1504390" y="5684235"/>
                  <a:pt x="1470745" y="5647268"/>
                </a:cubicBezTo>
                <a:cubicBezTo>
                  <a:pt x="1465307" y="5637473"/>
                  <a:pt x="1447590" y="5631171"/>
                  <a:pt x="1431171" y="5633192"/>
                </a:cubicBezTo>
                <a:cubicBezTo>
                  <a:pt x="1428344" y="5633540"/>
                  <a:pt x="1425665" y="5634127"/>
                  <a:pt x="1423215" y="5634934"/>
                </a:cubicBezTo>
                <a:cubicBezTo>
                  <a:pt x="1404063" y="5609561"/>
                  <a:pt x="1384477" y="5616951"/>
                  <a:pt x="1377158" y="5600720"/>
                </a:cubicBezTo>
                <a:cubicBezTo>
                  <a:pt x="1337416" y="5587406"/>
                  <a:pt x="1299119" y="5594952"/>
                  <a:pt x="1292001" y="5580595"/>
                </a:cubicBezTo>
                <a:cubicBezTo>
                  <a:pt x="1270404" y="5577445"/>
                  <a:pt x="1236263" y="5586393"/>
                  <a:pt x="1224877" y="5570207"/>
                </a:cubicBezTo>
                <a:cubicBezTo>
                  <a:pt x="1218892" y="5580643"/>
                  <a:pt x="1203320" y="5557444"/>
                  <a:pt x="1188481" y="5562311"/>
                </a:cubicBezTo>
                <a:cubicBezTo>
                  <a:pt x="1177571" y="5566931"/>
                  <a:pt x="1170302" y="5560971"/>
                  <a:pt x="1160620" y="5558862"/>
                </a:cubicBezTo>
                <a:cubicBezTo>
                  <a:pt x="1146504" y="5561577"/>
                  <a:pt x="1106544" y="5545833"/>
                  <a:pt x="1097113" y="5537725"/>
                </a:cubicBezTo>
                <a:cubicBezTo>
                  <a:pt x="1076260" y="5511528"/>
                  <a:pt x="1012618" y="5517876"/>
                  <a:pt x="994944" y="5497522"/>
                </a:cubicBezTo>
                <a:cubicBezTo>
                  <a:pt x="987638" y="5493756"/>
                  <a:pt x="980141" y="5491480"/>
                  <a:pt x="972567" y="5490138"/>
                </a:cubicBezTo>
                <a:lnTo>
                  <a:pt x="927036" y="5488921"/>
                </a:lnTo>
                <a:lnTo>
                  <a:pt x="905198" y="5488488"/>
                </a:lnTo>
                <a:cubicBezTo>
                  <a:pt x="920127" y="5466532"/>
                  <a:pt x="847550" y="5479119"/>
                  <a:pt x="871473" y="5463326"/>
                </a:cubicBezTo>
                <a:cubicBezTo>
                  <a:pt x="835241" y="5455796"/>
                  <a:pt x="824844" y="5441869"/>
                  <a:pt x="787335" y="5431076"/>
                </a:cubicBezTo>
                <a:lnTo>
                  <a:pt x="646418" y="5398569"/>
                </a:lnTo>
                <a:cubicBezTo>
                  <a:pt x="594533" y="5378172"/>
                  <a:pt x="569175" y="5376706"/>
                  <a:pt x="522316" y="5365133"/>
                </a:cubicBezTo>
                <a:cubicBezTo>
                  <a:pt x="485699" y="5316148"/>
                  <a:pt x="451396" y="5327743"/>
                  <a:pt x="425051" y="5295085"/>
                </a:cubicBezTo>
                <a:cubicBezTo>
                  <a:pt x="373115" y="5280721"/>
                  <a:pt x="376598" y="5265782"/>
                  <a:pt x="318461" y="5265657"/>
                </a:cubicBezTo>
                <a:lnTo>
                  <a:pt x="266536" y="5232252"/>
                </a:lnTo>
                <a:cubicBezTo>
                  <a:pt x="254867" y="5225616"/>
                  <a:pt x="251642" y="5227516"/>
                  <a:pt x="248444" y="5225838"/>
                </a:cubicBezTo>
                <a:lnTo>
                  <a:pt x="247345" y="5222181"/>
                </a:lnTo>
                <a:lnTo>
                  <a:pt x="237345" y="5217023"/>
                </a:lnTo>
                <a:lnTo>
                  <a:pt x="219603" y="5204977"/>
                </a:lnTo>
                <a:lnTo>
                  <a:pt x="214443" y="5204489"/>
                </a:lnTo>
                <a:lnTo>
                  <a:pt x="184816" y="5189073"/>
                </a:lnTo>
                <a:lnTo>
                  <a:pt x="183534" y="5189699"/>
                </a:lnTo>
                <a:cubicBezTo>
                  <a:pt x="179981" y="5190754"/>
                  <a:pt x="176085" y="5190869"/>
                  <a:pt x="171363" y="5189023"/>
                </a:cubicBezTo>
                <a:cubicBezTo>
                  <a:pt x="165797" y="5204157"/>
                  <a:pt x="163531" y="5192594"/>
                  <a:pt x="150096" y="5185813"/>
                </a:cubicBezTo>
                <a:lnTo>
                  <a:pt x="59253" y="5172817"/>
                </a:lnTo>
                <a:lnTo>
                  <a:pt x="52526" y="5170052"/>
                </a:lnTo>
                <a:lnTo>
                  <a:pt x="52188" y="5170183"/>
                </a:lnTo>
                <a:cubicBezTo>
                  <a:pt x="50293" y="5169980"/>
                  <a:pt x="47917" y="5169219"/>
                  <a:pt x="44687" y="5167637"/>
                </a:cubicBezTo>
                <a:lnTo>
                  <a:pt x="40261" y="5165012"/>
                </a:lnTo>
                <a:lnTo>
                  <a:pt x="27209" y="5159648"/>
                </a:lnTo>
                <a:lnTo>
                  <a:pt x="21368" y="5159036"/>
                </a:lnTo>
                <a:lnTo>
                  <a:pt x="0" y="5158850"/>
                </a:lnTo>
                <a:close/>
              </a:path>
            </a:pathLst>
          </a:custGeom>
        </p:spPr>
      </p:pic>
      <p:sp>
        <p:nvSpPr>
          <p:cNvPr id="2" name="Title 1">
            <a:extLst>
              <a:ext uri="{FF2B5EF4-FFF2-40B4-BE49-F238E27FC236}">
                <a16:creationId xmlns:a16="http://schemas.microsoft.com/office/drawing/2014/main" id="{E40F9926-7B4A-29BD-DA7D-76C311F95666}"/>
              </a:ext>
            </a:extLst>
          </p:cNvPr>
          <p:cNvSpPr>
            <a:spLocks noGrp="1"/>
          </p:cNvSpPr>
          <p:nvPr>
            <p:ph type="title"/>
          </p:nvPr>
        </p:nvSpPr>
        <p:spPr>
          <a:xfrm>
            <a:off x="599818" y="5494090"/>
            <a:ext cx="6931319" cy="752217"/>
          </a:xfrm>
        </p:spPr>
        <p:txBody>
          <a:bodyPr vert="horz" lIns="91440" tIns="45720" rIns="91440" bIns="45720" rtlCol="0" anchor="b">
            <a:normAutofit/>
          </a:bodyPr>
          <a:lstStyle/>
          <a:p>
            <a:r>
              <a:rPr lang="de-DE" sz="3600" kern="1200" dirty="0">
                <a:solidFill>
                  <a:schemeClr val="tx1">
                    <a:lumMod val="85000"/>
                    <a:lumOff val="15000"/>
                  </a:schemeClr>
                </a:solidFill>
                <a:latin typeface="+mj-lt"/>
                <a:ea typeface="+mj-ea"/>
                <a:cs typeface="+mj-cs"/>
              </a:rPr>
              <a:t>What is This?</a:t>
            </a:r>
            <a:endParaRPr lang="en-US" sz="3600" kern="1200" dirty="0">
              <a:solidFill>
                <a:schemeClr val="tx1">
                  <a:lumMod val="85000"/>
                  <a:lumOff val="15000"/>
                </a:schemeClr>
              </a:solidFill>
              <a:latin typeface="+mj-lt"/>
              <a:ea typeface="+mj-ea"/>
              <a:cs typeface="+mj-cs"/>
            </a:endParaRPr>
          </a:p>
        </p:txBody>
      </p:sp>
      <p:pic>
        <p:nvPicPr>
          <p:cNvPr id="6" name="Content Placeholder 5">
            <a:extLst>
              <a:ext uri="{FF2B5EF4-FFF2-40B4-BE49-F238E27FC236}">
                <a16:creationId xmlns:a16="http://schemas.microsoft.com/office/drawing/2014/main" id="{80ADC7D8-3263-0C28-4A23-49A85BCE3FAF}"/>
              </a:ext>
            </a:extLst>
          </p:cNvPr>
          <p:cNvPicPr>
            <a:picLocks noGrp="1" noChangeAspect="1"/>
          </p:cNvPicPr>
          <p:nvPr>
            <p:ph idx="1"/>
          </p:nvPr>
        </p:nvPicPr>
        <p:blipFill>
          <a:blip r:embed="rId3"/>
          <a:srcRect l="7857" r="2449" b="-1"/>
          <a:stretch/>
        </p:blipFill>
        <p:spPr>
          <a:xfrm>
            <a:off x="-5388" y="10"/>
            <a:ext cx="6169518" cy="5158840"/>
          </a:xfrm>
          <a:custGeom>
            <a:avLst/>
            <a:gdLst/>
            <a:ahLst/>
            <a:cxnLst/>
            <a:rect l="l" t="t" r="r" b="b"/>
            <a:pathLst>
              <a:path w="6096000" h="5158850">
                <a:moveTo>
                  <a:pt x="0" y="0"/>
                </a:moveTo>
                <a:lnTo>
                  <a:pt x="6096000" y="0"/>
                </a:lnTo>
                <a:lnTo>
                  <a:pt x="6096000" y="5158850"/>
                </a:lnTo>
                <a:lnTo>
                  <a:pt x="5957305" y="5157644"/>
                </a:lnTo>
                <a:cubicBezTo>
                  <a:pt x="5920540" y="5151975"/>
                  <a:pt x="5887096" y="5153588"/>
                  <a:pt x="5857259" y="5143603"/>
                </a:cubicBezTo>
                <a:cubicBezTo>
                  <a:pt x="5843335" y="5146861"/>
                  <a:pt x="5830921" y="5147051"/>
                  <a:pt x="5821375" y="5137142"/>
                </a:cubicBezTo>
                <a:cubicBezTo>
                  <a:pt x="5786501" y="5134144"/>
                  <a:pt x="5775399" y="5144200"/>
                  <a:pt x="5755916" y="5131695"/>
                </a:cubicBezTo>
                <a:cubicBezTo>
                  <a:pt x="5732132" y="5146996"/>
                  <a:pt x="5732735" y="5139753"/>
                  <a:pt x="5725007" y="5132964"/>
                </a:cubicBezTo>
                <a:lnTo>
                  <a:pt x="5723810" y="5132374"/>
                </a:lnTo>
                <a:lnTo>
                  <a:pt x="5720531" y="5134578"/>
                </a:lnTo>
                <a:lnTo>
                  <a:pt x="5714795" y="5134902"/>
                </a:lnTo>
                <a:lnTo>
                  <a:pt x="5700142" y="5131655"/>
                </a:lnTo>
                <a:lnTo>
                  <a:pt x="5694799" y="5129754"/>
                </a:lnTo>
                <a:cubicBezTo>
                  <a:pt x="5691058" y="5128696"/>
                  <a:pt x="5688491" y="5128320"/>
                  <a:pt x="5686627" y="5128420"/>
                </a:cubicBezTo>
                <a:lnTo>
                  <a:pt x="5686371" y="5128603"/>
                </a:lnTo>
                <a:lnTo>
                  <a:pt x="5678819" y="5126929"/>
                </a:lnTo>
                <a:cubicBezTo>
                  <a:pt x="5666199" y="5123608"/>
                  <a:pt x="5654035" y="5119908"/>
                  <a:pt x="5642547" y="5116000"/>
                </a:cubicBezTo>
                <a:cubicBezTo>
                  <a:pt x="5629445" y="5126457"/>
                  <a:pt x="5588783" y="5104807"/>
                  <a:pt x="5587979" y="5128480"/>
                </a:cubicBezTo>
                <a:cubicBezTo>
                  <a:pt x="5572317" y="5123886"/>
                  <a:pt x="5564904" y="5112774"/>
                  <a:pt x="5566635" y="5128675"/>
                </a:cubicBezTo>
                <a:cubicBezTo>
                  <a:pt x="5561375" y="5127594"/>
                  <a:pt x="5557787" y="5128327"/>
                  <a:pt x="5554953" y="5129937"/>
                </a:cubicBezTo>
                <a:lnTo>
                  <a:pt x="5554039" y="5130763"/>
                </a:lnTo>
                <a:lnTo>
                  <a:pt x="5514254" y="5120517"/>
                </a:lnTo>
                <a:lnTo>
                  <a:pt x="5492156" y="5111382"/>
                </a:lnTo>
                <a:lnTo>
                  <a:pt x="5480446" y="5107855"/>
                </a:lnTo>
                <a:lnTo>
                  <a:pt x="5477744" y="5104402"/>
                </a:lnTo>
                <a:cubicBezTo>
                  <a:pt x="5474490" y="5102038"/>
                  <a:pt x="5469391" y="5100405"/>
                  <a:pt x="5460150" y="5100442"/>
                </a:cubicBezTo>
                <a:lnTo>
                  <a:pt x="5457901" y="5100914"/>
                </a:lnTo>
                <a:lnTo>
                  <a:pt x="5444243" y="5094201"/>
                </a:lnTo>
                <a:cubicBezTo>
                  <a:pt x="5439994" y="5091441"/>
                  <a:pt x="5436419" y="5088231"/>
                  <a:pt x="5433825" y="5084410"/>
                </a:cubicBezTo>
                <a:cubicBezTo>
                  <a:pt x="5379443" y="5093528"/>
                  <a:pt x="5336110" y="5069767"/>
                  <a:pt x="5280996" y="5063773"/>
                </a:cubicBezTo>
                <a:cubicBezTo>
                  <a:pt x="5250806" y="5055129"/>
                  <a:pt x="5168599" y="5059471"/>
                  <a:pt x="5161582" y="5030966"/>
                </a:cubicBezTo>
                <a:cubicBezTo>
                  <a:pt x="5121870" y="5022662"/>
                  <a:pt x="5095637" y="5020496"/>
                  <a:pt x="5042717" y="5013952"/>
                </a:cubicBezTo>
                <a:cubicBezTo>
                  <a:pt x="4991136" y="4983679"/>
                  <a:pt x="4902283" y="4990567"/>
                  <a:pt x="4840514" y="4970468"/>
                </a:cubicBezTo>
                <a:cubicBezTo>
                  <a:pt x="4799904" y="4987615"/>
                  <a:pt x="4824087" y="4969531"/>
                  <a:pt x="4786778" y="4967817"/>
                </a:cubicBezTo>
                <a:cubicBezTo>
                  <a:pt x="4801901" y="4948343"/>
                  <a:pt x="4739845" y="4972374"/>
                  <a:pt x="4743741" y="4948216"/>
                </a:cubicBezTo>
                <a:cubicBezTo>
                  <a:pt x="4736829" y="4948670"/>
                  <a:pt x="4730010" y="4949869"/>
                  <a:pt x="4723136" y="4951257"/>
                </a:cubicBezTo>
                <a:lnTo>
                  <a:pt x="4719535" y="4951970"/>
                </a:lnTo>
                <a:lnTo>
                  <a:pt x="4706143" y="4950704"/>
                </a:lnTo>
                <a:lnTo>
                  <a:pt x="4701098" y="4955500"/>
                </a:lnTo>
                <a:lnTo>
                  <a:pt x="4680034" y="4957289"/>
                </a:lnTo>
                <a:cubicBezTo>
                  <a:pt x="4672339" y="4957161"/>
                  <a:pt x="4664292" y="4956094"/>
                  <a:pt x="4655741" y="4953520"/>
                </a:cubicBezTo>
                <a:cubicBezTo>
                  <a:pt x="4636359" y="4940479"/>
                  <a:pt x="4599701" y="4946454"/>
                  <a:pt x="4569298" y="4940691"/>
                </a:cubicBezTo>
                <a:lnTo>
                  <a:pt x="4555978" y="4935439"/>
                </a:lnTo>
                <a:lnTo>
                  <a:pt x="4508950" y="4932725"/>
                </a:lnTo>
                <a:cubicBezTo>
                  <a:pt x="4495669" y="4931511"/>
                  <a:pt x="4482007" y="4929765"/>
                  <a:pt x="4467838" y="4927057"/>
                </a:cubicBezTo>
                <a:lnTo>
                  <a:pt x="4441949" y="4920349"/>
                </a:lnTo>
                <a:lnTo>
                  <a:pt x="4394719" y="4912853"/>
                </a:lnTo>
                <a:lnTo>
                  <a:pt x="4356810" y="4916186"/>
                </a:lnTo>
                <a:lnTo>
                  <a:pt x="4222145" y="4920166"/>
                </a:lnTo>
                <a:cubicBezTo>
                  <a:pt x="4202488" y="4924963"/>
                  <a:pt x="4184742" y="4944595"/>
                  <a:pt x="4160481" y="4934555"/>
                </a:cubicBezTo>
                <a:cubicBezTo>
                  <a:pt x="4165854" y="4945670"/>
                  <a:pt x="4131661" y="4931019"/>
                  <a:pt x="4124879" y="4940397"/>
                </a:cubicBezTo>
                <a:cubicBezTo>
                  <a:pt x="4120895" y="4948198"/>
                  <a:pt x="4109593" y="4945570"/>
                  <a:pt x="4100114" y="4947117"/>
                </a:cubicBezTo>
                <a:cubicBezTo>
                  <a:pt x="4091835" y="4954382"/>
                  <a:pt x="4045978" y="4954676"/>
                  <a:pt x="4030957" y="4950944"/>
                </a:cubicBezTo>
                <a:cubicBezTo>
                  <a:pt x="3989825" y="4935537"/>
                  <a:pt x="3946860" y="4963196"/>
                  <a:pt x="3913764" y="4951738"/>
                </a:cubicBezTo>
                <a:cubicBezTo>
                  <a:pt x="3904534" y="4951024"/>
                  <a:pt x="3896577" y="4951663"/>
                  <a:pt x="3889457" y="4953140"/>
                </a:cubicBezTo>
                <a:lnTo>
                  <a:pt x="3871115" y="4959252"/>
                </a:lnTo>
                <a:lnTo>
                  <a:pt x="3869086" y="4964946"/>
                </a:lnTo>
                <a:lnTo>
                  <a:pt x="3856124" y="4966504"/>
                </a:lnTo>
                <a:lnTo>
                  <a:pt x="3835967" y="4975175"/>
                </a:lnTo>
                <a:cubicBezTo>
                  <a:pt x="3826465" y="4950975"/>
                  <a:pt x="3782586" y="4987146"/>
                  <a:pt x="3785910" y="4965148"/>
                </a:cubicBezTo>
                <a:cubicBezTo>
                  <a:pt x="3750785" y="4971249"/>
                  <a:pt x="3699033" y="4952693"/>
                  <a:pt x="3671085" y="4977741"/>
                </a:cubicBezTo>
                <a:cubicBezTo>
                  <a:pt x="3621255" y="4982620"/>
                  <a:pt x="3562637" y="4994206"/>
                  <a:pt x="3486928" y="4994420"/>
                </a:cubicBezTo>
                <a:cubicBezTo>
                  <a:pt x="3446030" y="4994640"/>
                  <a:pt x="3343460" y="4976299"/>
                  <a:pt x="3280956" y="4975036"/>
                </a:cubicBezTo>
                <a:cubicBezTo>
                  <a:pt x="3227193" y="4980695"/>
                  <a:pt x="3256481" y="4973778"/>
                  <a:pt x="3211563" y="4993919"/>
                </a:cubicBezTo>
                <a:cubicBezTo>
                  <a:pt x="3207119" y="4990757"/>
                  <a:pt x="3170070" y="4988394"/>
                  <a:pt x="3164681" y="4986606"/>
                </a:cubicBezTo>
                <a:lnTo>
                  <a:pt x="3127171" y="4979411"/>
                </a:lnTo>
                <a:lnTo>
                  <a:pt x="3096889" y="4976795"/>
                </a:lnTo>
                <a:cubicBezTo>
                  <a:pt x="3088441" y="4978753"/>
                  <a:pt x="3082883" y="4978233"/>
                  <a:pt x="3078620" y="4976620"/>
                </a:cubicBezTo>
                <a:lnTo>
                  <a:pt x="3074275" y="4973840"/>
                </a:lnTo>
                <a:lnTo>
                  <a:pt x="3036436" y="4968613"/>
                </a:lnTo>
                <a:lnTo>
                  <a:pt x="3031995" y="4969990"/>
                </a:lnTo>
                <a:lnTo>
                  <a:pt x="2994028" y="4967956"/>
                </a:lnTo>
                <a:cubicBezTo>
                  <a:pt x="2992299" y="4970105"/>
                  <a:pt x="2989407" y="4971561"/>
                  <a:pt x="2984001" y="4971609"/>
                </a:cubicBezTo>
                <a:cubicBezTo>
                  <a:pt x="2994191" y="4986644"/>
                  <a:pt x="2981386" y="4977427"/>
                  <a:pt x="2964542" y="4976237"/>
                </a:cubicBezTo>
                <a:cubicBezTo>
                  <a:pt x="2976613" y="4999323"/>
                  <a:pt x="2927627" y="4986817"/>
                  <a:pt x="2921274" y="4999668"/>
                </a:cubicBezTo>
                <a:cubicBezTo>
                  <a:pt x="2908629" y="4998274"/>
                  <a:pt x="2895476" y="4997220"/>
                  <a:pt x="2882111" y="4996632"/>
                </a:cubicBezTo>
                <a:lnTo>
                  <a:pt x="2874282" y="4996582"/>
                </a:lnTo>
                <a:cubicBezTo>
                  <a:pt x="2874237" y="4996658"/>
                  <a:pt x="2874193" y="4996735"/>
                  <a:pt x="2874147" y="4996812"/>
                </a:cubicBezTo>
                <a:cubicBezTo>
                  <a:pt x="2872492" y="4997296"/>
                  <a:pt x="2869935" y="4997466"/>
                  <a:pt x="2865932" y="4997221"/>
                </a:cubicBezTo>
                <a:lnTo>
                  <a:pt x="2860008" y="4996489"/>
                </a:lnTo>
                <a:lnTo>
                  <a:pt x="2844819" y="4996392"/>
                </a:lnTo>
                <a:lnTo>
                  <a:pt x="2839735" y="4997900"/>
                </a:lnTo>
                <a:lnTo>
                  <a:pt x="2837922" y="5000718"/>
                </a:lnTo>
                <a:lnTo>
                  <a:pt x="2836507" y="5000394"/>
                </a:lnTo>
                <a:cubicBezTo>
                  <a:pt x="2825749" y="4995427"/>
                  <a:pt x="2822382" y="4988291"/>
                  <a:pt x="2808859" y="5008050"/>
                </a:cubicBezTo>
                <a:cubicBezTo>
                  <a:pt x="2784233" y="4999995"/>
                  <a:pt x="2779499" y="5012041"/>
                  <a:pt x="2745907" y="5016391"/>
                </a:cubicBezTo>
                <a:cubicBezTo>
                  <a:pt x="2731796" y="5008784"/>
                  <a:pt x="2720518" y="5011549"/>
                  <a:pt x="2709519" y="5017601"/>
                </a:cubicBezTo>
                <a:cubicBezTo>
                  <a:pt x="2676766" y="5014138"/>
                  <a:pt x="2646981" y="5022656"/>
                  <a:pt x="2610212" y="5024813"/>
                </a:cubicBezTo>
                <a:cubicBezTo>
                  <a:pt x="2570359" y="5014992"/>
                  <a:pt x="2550109" y="5032793"/>
                  <a:pt x="2510814" y="5035020"/>
                </a:cubicBezTo>
                <a:cubicBezTo>
                  <a:pt x="2476639" y="5017991"/>
                  <a:pt x="2482834" y="5049980"/>
                  <a:pt x="2462736" y="5056754"/>
                </a:cubicBezTo>
                <a:lnTo>
                  <a:pt x="2457050" y="5057379"/>
                </a:lnTo>
                <a:lnTo>
                  <a:pt x="2442184" y="5054901"/>
                </a:lnTo>
                <a:lnTo>
                  <a:pt x="2436703" y="5053277"/>
                </a:lnTo>
                <a:cubicBezTo>
                  <a:pt x="2432888" y="5052418"/>
                  <a:pt x="2430299" y="5052175"/>
                  <a:pt x="2428451" y="5052373"/>
                </a:cubicBezTo>
                <a:lnTo>
                  <a:pt x="2420551" y="5051292"/>
                </a:lnTo>
                <a:cubicBezTo>
                  <a:pt x="2407700" y="5048633"/>
                  <a:pt x="2395274" y="5045570"/>
                  <a:pt x="2383501" y="5042264"/>
                </a:cubicBezTo>
                <a:cubicBezTo>
                  <a:pt x="2362992" y="5043848"/>
                  <a:pt x="2317884" y="5059023"/>
                  <a:pt x="2297493" y="5060796"/>
                </a:cubicBezTo>
                <a:lnTo>
                  <a:pt x="2261156" y="5052905"/>
                </a:lnTo>
                <a:lnTo>
                  <a:pt x="2200581" y="5036274"/>
                </a:lnTo>
                <a:lnTo>
                  <a:pt x="2198380" y="5036861"/>
                </a:lnTo>
                <a:lnTo>
                  <a:pt x="2116066" y="5030866"/>
                </a:lnTo>
                <a:cubicBezTo>
                  <a:pt x="2111600" y="5028328"/>
                  <a:pt x="2059664" y="5017338"/>
                  <a:pt x="2056754" y="5013653"/>
                </a:cubicBezTo>
                <a:cubicBezTo>
                  <a:pt x="2003393" y="5025622"/>
                  <a:pt x="1998298" y="5020073"/>
                  <a:pt x="1942916" y="5016969"/>
                </a:cubicBezTo>
                <a:cubicBezTo>
                  <a:pt x="1882138" y="5005950"/>
                  <a:pt x="1836966" y="4987831"/>
                  <a:pt x="1796717" y="4981610"/>
                </a:cubicBezTo>
                <a:cubicBezTo>
                  <a:pt x="1724075" y="4970499"/>
                  <a:pt x="1636218" y="4947449"/>
                  <a:pt x="1583222" y="4942334"/>
                </a:cubicBezTo>
                <a:cubicBezTo>
                  <a:pt x="1544265" y="4961611"/>
                  <a:pt x="1556109" y="4938719"/>
                  <a:pt x="1518821" y="4938963"/>
                </a:cubicBezTo>
                <a:cubicBezTo>
                  <a:pt x="1497291" y="4936197"/>
                  <a:pt x="1483221" y="4927794"/>
                  <a:pt x="1471837" y="4925740"/>
                </a:cubicBezTo>
                <a:lnTo>
                  <a:pt x="1450515" y="4926642"/>
                </a:lnTo>
                <a:lnTo>
                  <a:pt x="1437078" y="4926078"/>
                </a:lnTo>
                <a:lnTo>
                  <a:pt x="1432462" y="4931139"/>
                </a:lnTo>
                <a:lnTo>
                  <a:pt x="1411645" y="4934032"/>
                </a:lnTo>
                <a:cubicBezTo>
                  <a:pt x="1384856" y="4931153"/>
                  <a:pt x="1306656" y="4918434"/>
                  <a:pt x="1271729" y="4913863"/>
                </a:cubicBezTo>
                <a:cubicBezTo>
                  <a:pt x="1258697" y="4907976"/>
                  <a:pt x="1213546" y="4901042"/>
                  <a:pt x="1202076" y="4906608"/>
                </a:cubicBezTo>
                <a:cubicBezTo>
                  <a:pt x="1192059" y="4906580"/>
                  <a:pt x="1182171" y="4902320"/>
                  <a:pt x="1174670" y="4909064"/>
                </a:cubicBezTo>
                <a:cubicBezTo>
                  <a:pt x="1163701" y="4916862"/>
                  <a:pt x="1136874" y="4897641"/>
                  <a:pt x="1137035" y="4908989"/>
                </a:cubicBezTo>
                <a:cubicBezTo>
                  <a:pt x="1117838" y="4895687"/>
                  <a:pt x="1091386" y="4911450"/>
                  <a:pt x="1069882" y="4912892"/>
                </a:cubicBezTo>
                <a:cubicBezTo>
                  <a:pt x="1055589" y="4900472"/>
                  <a:pt x="1024570" y="4915744"/>
                  <a:pt x="980935" y="4911119"/>
                </a:cubicBezTo>
                <a:cubicBezTo>
                  <a:pt x="947614" y="4906556"/>
                  <a:pt x="913224" y="4897403"/>
                  <a:pt x="869960" y="4885518"/>
                </a:cubicBezTo>
                <a:cubicBezTo>
                  <a:pt x="819114" y="4856727"/>
                  <a:pt x="768074" y="4850663"/>
                  <a:pt x="721345" y="4839806"/>
                </a:cubicBezTo>
                <a:cubicBezTo>
                  <a:pt x="667944" y="4829906"/>
                  <a:pt x="698286" y="4859338"/>
                  <a:pt x="635428" y="4830000"/>
                </a:cubicBezTo>
                <a:cubicBezTo>
                  <a:pt x="626286" y="4837571"/>
                  <a:pt x="617638" y="4836842"/>
                  <a:pt x="604106" y="4830842"/>
                </a:cubicBezTo>
                <a:cubicBezTo>
                  <a:pt x="583276" y="4833091"/>
                  <a:pt x="539859" y="4845979"/>
                  <a:pt x="510451" y="4843485"/>
                </a:cubicBezTo>
                <a:cubicBezTo>
                  <a:pt x="489781" y="4840800"/>
                  <a:pt x="443867" y="4818678"/>
                  <a:pt x="427656" y="4815877"/>
                </a:cubicBezTo>
                <a:cubicBezTo>
                  <a:pt x="424088" y="4817297"/>
                  <a:pt x="419580" y="4820561"/>
                  <a:pt x="413184" y="4826676"/>
                </a:cubicBezTo>
                <a:cubicBezTo>
                  <a:pt x="387673" y="4816699"/>
                  <a:pt x="379855" y="4828170"/>
                  <a:pt x="341772" y="4829671"/>
                </a:cubicBezTo>
                <a:cubicBezTo>
                  <a:pt x="327795" y="4821005"/>
                  <a:pt x="314729" y="4822794"/>
                  <a:pt x="301266" y="4827842"/>
                </a:cubicBezTo>
                <a:cubicBezTo>
                  <a:pt x="265781" y="4821714"/>
                  <a:pt x="231017" y="4827635"/>
                  <a:pt x="189886" y="4826710"/>
                </a:cubicBezTo>
                <a:cubicBezTo>
                  <a:pt x="147910" y="4813727"/>
                  <a:pt x="121702" y="4829584"/>
                  <a:pt x="77762" y="4828518"/>
                </a:cubicBezTo>
                <a:cubicBezTo>
                  <a:pt x="38733" y="4806108"/>
                  <a:pt x="44308" y="4851138"/>
                  <a:pt x="8164" y="4846203"/>
                </a:cubicBezTo>
                <a:lnTo>
                  <a:pt x="0" y="4843648"/>
                </a:lnTo>
                <a:lnTo>
                  <a:pt x="0" y="4080681"/>
                </a:lnTo>
                <a:close/>
              </a:path>
            </a:pathLst>
          </a:custGeom>
        </p:spPr>
      </p:pic>
    </p:spTree>
    <p:extLst>
      <p:ext uri="{BB962C8B-B14F-4D97-AF65-F5344CB8AC3E}">
        <p14:creationId xmlns:p14="http://schemas.microsoft.com/office/powerpoint/2010/main" val="29404153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3612-D862-80B0-CD8D-D3440E0F930E}"/>
              </a:ext>
            </a:extLst>
          </p:cNvPr>
          <p:cNvSpPr>
            <a:spLocks noGrp="1"/>
          </p:cNvSpPr>
          <p:nvPr>
            <p:ph type="title"/>
          </p:nvPr>
        </p:nvSpPr>
        <p:spPr/>
        <p:txBody>
          <a:bodyPr/>
          <a:lstStyle/>
          <a:p>
            <a:r>
              <a:rPr lang="de-DE" dirty="0"/>
              <a:t>Serial Peripheral Interface</a:t>
            </a:r>
            <a:endParaRPr lang="en-US" dirty="0"/>
          </a:p>
        </p:txBody>
      </p:sp>
      <p:sp>
        <p:nvSpPr>
          <p:cNvPr id="3" name="Content Placeholder 2">
            <a:extLst>
              <a:ext uri="{FF2B5EF4-FFF2-40B4-BE49-F238E27FC236}">
                <a16:creationId xmlns:a16="http://schemas.microsoft.com/office/drawing/2014/main" id="{8C0C3252-1F2F-4126-082E-64D434B650E2}"/>
              </a:ext>
            </a:extLst>
          </p:cNvPr>
          <p:cNvSpPr>
            <a:spLocks noGrp="1"/>
          </p:cNvSpPr>
          <p:nvPr>
            <p:ph idx="1"/>
          </p:nvPr>
        </p:nvSpPr>
        <p:spPr/>
        <p:txBody>
          <a:bodyPr/>
          <a:lstStyle/>
          <a:p>
            <a:pPr marL="0" indent="0" algn="just">
              <a:buNone/>
            </a:pPr>
            <a:r>
              <a:rPr lang="en-US" dirty="0"/>
              <a:t>The SPI is a high-speed synchronous communication protocol used for short-distance communication between the ESP32 and external devices like sensors, displays, or storage.</a:t>
            </a:r>
            <a:endParaRPr lang="de-DE" dirty="0"/>
          </a:p>
          <a:p>
            <a:pPr algn="just"/>
            <a:r>
              <a:rPr lang="en-US" dirty="0"/>
              <a:t>Synchronous Communication: Uses a shared clock signal for precise data transfer.</a:t>
            </a:r>
            <a:endParaRPr lang="de-DE" dirty="0"/>
          </a:p>
          <a:p>
            <a:pPr algn="just"/>
            <a:r>
              <a:rPr lang="en-US" dirty="0"/>
              <a:t>Full-Duplex: Supports data simultaneously in both directions</a:t>
            </a:r>
            <a:r>
              <a:rPr lang="de-DE" dirty="0"/>
              <a:t>.</a:t>
            </a:r>
          </a:p>
          <a:p>
            <a:pPr algn="just"/>
            <a:r>
              <a:rPr lang="en-US" dirty="0"/>
              <a:t>Master/Slave Architecture: Allows multiple devices to communicate with the ESP32 in master/slave mode.</a:t>
            </a:r>
          </a:p>
        </p:txBody>
      </p:sp>
    </p:spTree>
    <p:extLst>
      <p:ext uri="{BB962C8B-B14F-4D97-AF65-F5344CB8AC3E}">
        <p14:creationId xmlns:p14="http://schemas.microsoft.com/office/powerpoint/2010/main" val="18067796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1029-7B3F-88D2-AF4A-77268F640026}"/>
              </a:ext>
            </a:extLst>
          </p:cNvPr>
          <p:cNvSpPr>
            <a:spLocks noGrp="1"/>
          </p:cNvSpPr>
          <p:nvPr>
            <p:ph type="title"/>
          </p:nvPr>
        </p:nvSpPr>
        <p:spPr>
          <a:xfrm>
            <a:off x="838200" y="572941"/>
            <a:ext cx="10515600" cy="1325563"/>
          </a:xfrm>
        </p:spPr>
        <p:txBody>
          <a:bodyPr>
            <a:normAutofit fontScale="90000"/>
          </a:bodyPr>
          <a:lstStyle/>
          <a:p>
            <a:r>
              <a:rPr lang="de-DE" dirty="0"/>
              <a:t>Master Slave Arrangement</a:t>
            </a:r>
            <a:br>
              <a:rPr lang="de-DE" dirty="0"/>
            </a:br>
            <a:r>
              <a:rPr lang="de-DE" sz="2800" dirty="0"/>
              <a:t>Serial Input – Serial Output – Serial Clock</a:t>
            </a:r>
            <a:br>
              <a:rPr lang="de-DE" sz="2800" dirty="0"/>
            </a:br>
            <a:r>
              <a:rPr lang="de-DE" sz="2800" dirty="0"/>
              <a:t>Select Pins</a:t>
            </a:r>
            <a:br>
              <a:rPr lang="de-DE" sz="2800" dirty="0"/>
            </a:br>
            <a:endParaRPr lang="en-US" sz="2800" dirty="0"/>
          </a:p>
        </p:txBody>
      </p:sp>
      <p:pic>
        <p:nvPicPr>
          <p:cNvPr id="6" name="Content Placeholder 5">
            <a:extLst>
              <a:ext uri="{FF2B5EF4-FFF2-40B4-BE49-F238E27FC236}">
                <a16:creationId xmlns:a16="http://schemas.microsoft.com/office/drawing/2014/main" id="{4FFCEFAA-3C99-6654-0B04-69ABA7C29A72}"/>
              </a:ext>
            </a:extLst>
          </p:cNvPr>
          <p:cNvPicPr>
            <a:picLocks noGrp="1" noChangeAspect="1"/>
          </p:cNvPicPr>
          <p:nvPr>
            <p:ph idx="1"/>
          </p:nvPr>
        </p:nvPicPr>
        <p:blipFill>
          <a:blip r:embed="rId2"/>
          <a:stretch>
            <a:fillRect/>
          </a:stretch>
        </p:blipFill>
        <p:spPr>
          <a:xfrm>
            <a:off x="48090" y="2363938"/>
            <a:ext cx="12119665" cy="3106082"/>
          </a:xfrm>
          <a:prstGeom prst="rect">
            <a:avLst/>
          </a:prstGeom>
        </p:spPr>
      </p:pic>
    </p:spTree>
    <p:extLst>
      <p:ext uri="{BB962C8B-B14F-4D97-AF65-F5344CB8AC3E}">
        <p14:creationId xmlns:p14="http://schemas.microsoft.com/office/powerpoint/2010/main" val="25016269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C08C-26AC-2FA7-1219-05D703B5EBFB}"/>
              </a:ext>
            </a:extLst>
          </p:cNvPr>
          <p:cNvSpPr>
            <a:spLocks noGrp="1"/>
          </p:cNvSpPr>
          <p:nvPr>
            <p:ph type="title"/>
          </p:nvPr>
        </p:nvSpPr>
        <p:spPr/>
        <p:txBody>
          <a:bodyPr/>
          <a:lstStyle/>
          <a:p>
            <a:r>
              <a:rPr lang="en-GB" dirty="0"/>
              <a:t>The common DHT Series Sensors Use SPI</a:t>
            </a:r>
            <a:endParaRPr lang="en-US" dirty="0"/>
          </a:p>
        </p:txBody>
      </p:sp>
      <p:pic>
        <p:nvPicPr>
          <p:cNvPr id="6" name="Content Placeholder 5">
            <a:extLst>
              <a:ext uri="{FF2B5EF4-FFF2-40B4-BE49-F238E27FC236}">
                <a16:creationId xmlns:a16="http://schemas.microsoft.com/office/drawing/2014/main" id="{C2A2B82C-B7A8-C6F9-67DF-BBA0E95B54DF}"/>
              </a:ext>
            </a:extLst>
          </p:cNvPr>
          <p:cNvPicPr>
            <a:picLocks noGrp="1" noChangeAspect="1"/>
          </p:cNvPicPr>
          <p:nvPr>
            <p:ph idx="1"/>
          </p:nvPr>
        </p:nvPicPr>
        <p:blipFill>
          <a:blip r:embed="rId2"/>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1332236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2524A-BF1C-5FE5-D17B-1C5F32E2AA19}"/>
              </a:ext>
            </a:extLst>
          </p:cNvPr>
          <p:cNvSpPr>
            <a:spLocks noGrp="1"/>
          </p:cNvSpPr>
          <p:nvPr>
            <p:ph type="title"/>
          </p:nvPr>
        </p:nvSpPr>
        <p:spPr/>
        <p:txBody>
          <a:bodyPr/>
          <a:lstStyle/>
          <a:p>
            <a:r>
              <a:rPr lang="de-DE" dirty="0"/>
              <a:t>Inter-Integrated Circuit </a:t>
            </a:r>
            <a:endParaRPr lang="en-US" dirty="0"/>
          </a:p>
        </p:txBody>
      </p:sp>
      <p:sp>
        <p:nvSpPr>
          <p:cNvPr id="3" name="Content Placeholder 2">
            <a:extLst>
              <a:ext uri="{FF2B5EF4-FFF2-40B4-BE49-F238E27FC236}">
                <a16:creationId xmlns:a16="http://schemas.microsoft.com/office/drawing/2014/main" id="{17EB7AD3-8CD6-6889-41AF-1D917EA366C9}"/>
              </a:ext>
            </a:extLst>
          </p:cNvPr>
          <p:cNvSpPr>
            <a:spLocks noGrp="1"/>
          </p:cNvSpPr>
          <p:nvPr>
            <p:ph idx="1"/>
          </p:nvPr>
        </p:nvSpPr>
        <p:spPr>
          <a:xfrm>
            <a:off x="838200" y="1713058"/>
            <a:ext cx="10515600" cy="4351338"/>
          </a:xfrm>
        </p:spPr>
        <p:txBody>
          <a:bodyPr/>
          <a:lstStyle/>
          <a:p>
            <a:pPr marL="0" indent="0" algn="just">
              <a:buNone/>
            </a:pPr>
            <a:r>
              <a:rPr lang="en-US" dirty="0"/>
              <a:t>I2C is a multi-master, multi-slave communication protocol designed for short-distance data transfer between the ESP32 and peripherals like sensors or EEPROMs.</a:t>
            </a:r>
            <a:endParaRPr lang="de-DE" dirty="0"/>
          </a:p>
          <a:p>
            <a:pPr algn="just"/>
            <a:r>
              <a:rPr lang="en-US" dirty="0"/>
              <a:t>Requires only two wires (SDA - data, SCL - clock) for communication.</a:t>
            </a:r>
            <a:endParaRPr lang="de-DE" dirty="0"/>
          </a:p>
          <a:p>
            <a:pPr algn="just"/>
            <a:r>
              <a:rPr lang="en-US" dirty="0"/>
              <a:t>Each device connected to the bus has a unique address for identification</a:t>
            </a:r>
            <a:r>
              <a:rPr lang="de-DE" dirty="0"/>
              <a:t>.</a:t>
            </a:r>
          </a:p>
          <a:p>
            <a:pPr algn="just"/>
            <a:r>
              <a:rPr lang="en-US" dirty="0"/>
              <a:t>Typically used for connecting low-speed sensors, real-time clocks, and other peripherals that don’t require fast data transfer rates but need simple, low-pin-count communication</a:t>
            </a:r>
          </a:p>
        </p:txBody>
      </p:sp>
    </p:spTree>
    <p:extLst>
      <p:ext uri="{BB962C8B-B14F-4D97-AF65-F5344CB8AC3E}">
        <p14:creationId xmlns:p14="http://schemas.microsoft.com/office/powerpoint/2010/main" val="18143554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06954FA-36B8-BD05-4C1B-7E9AE1B1B4FC}"/>
              </a:ext>
            </a:extLst>
          </p:cNvPr>
          <p:cNvPicPr>
            <a:picLocks noGrp="1" noChangeAspect="1"/>
          </p:cNvPicPr>
          <p:nvPr>
            <p:ph idx="1"/>
          </p:nvPr>
        </p:nvPicPr>
        <p:blipFill>
          <a:blip r:embed="rId2"/>
          <a:stretch>
            <a:fillRect/>
          </a:stretch>
        </p:blipFill>
        <p:spPr>
          <a:xfrm>
            <a:off x="1917700" y="643466"/>
            <a:ext cx="8356600" cy="5571067"/>
          </a:xfrm>
          <a:prstGeom prst="rect">
            <a:avLst/>
          </a:prstGeom>
        </p:spPr>
      </p:pic>
    </p:spTree>
    <p:extLst>
      <p:ext uri="{BB962C8B-B14F-4D97-AF65-F5344CB8AC3E}">
        <p14:creationId xmlns:p14="http://schemas.microsoft.com/office/powerpoint/2010/main" val="31365174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E61B563-A4B2-5783-81AF-A2A053D747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2" name="Rectangle 11">
              <a:extLst>
                <a:ext uri="{FF2B5EF4-FFF2-40B4-BE49-F238E27FC236}">
                  <a16:creationId xmlns:a16="http://schemas.microsoft.com/office/drawing/2014/main" id="{40633BBC-8C60-7DC4-F0CC-CE322510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C98078-F2A2-725C-ED61-320B63B69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D4C03-24F0-57A9-530E-8F2ABABDC5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BA24A7E-DCA5-5660-2564-B06C2288E635}"/>
              </a:ext>
            </a:extLst>
          </p:cNvPr>
          <p:cNvSpPr>
            <a:spLocks noGrp="1"/>
          </p:cNvSpPr>
          <p:nvPr>
            <p:ph type="title"/>
          </p:nvPr>
        </p:nvSpPr>
        <p:spPr>
          <a:xfrm>
            <a:off x="838199" y="5686673"/>
            <a:ext cx="10280201" cy="837204"/>
          </a:xfrm>
        </p:spPr>
        <p:txBody>
          <a:bodyPr vert="horz" lIns="91440" tIns="45720" rIns="91440" bIns="45720" rtlCol="0" anchor="ctr">
            <a:noAutofit/>
          </a:bodyPr>
          <a:lstStyle/>
          <a:p>
            <a:r>
              <a:rPr lang="en-US" sz="4000" dirty="0">
                <a:solidFill>
                  <a:srgbClr val="FFFFFF"/>
                </a:solidFill>
              </a:rPr>
              <a:t>Displays</a:t>
            </a:r>
            <a:r>
              <a:rPr lang="en-GB" sz="4000" dirty="0">
                <a:solidFill>
                  <a:srgbClr val="FFFFFF"/>
                </a:solidFill>
              </a:rPr>
              <a:t> </a:t>
            </a:r>
            <a:r>
              <a:rPr lang="en-US" sz="4000" dirty="0">
                <a:solidFill>
                  <a:srgbClr val="FFFFFF"/>
                </a:solidFill>
              </a:rPr>
              <a:t>Use I2C</a:t>
            </a:r>
          </a:p>
        </p:txBody>
      </p:sp>
      <p:pic>
        <p:nvPicPr>
          <p:cNvPr id="6" name="Content Placeholder 5">
            <a:extLst>
              <a:ext uri="{FF2B5EF4-FFF2-40B4-BE49-F238E27FC236}">
                <a16:creationId xmlns:a16="http://schemas.microsoft.com/office/drawing/2014/main" id="{EEE45B05-A3E2-9BB6-698C-91AD7A7E0ECF}"/>
              </a:ext>
            </a:extLst>
          </p:cNvPr>
          <p:cNvPicPr>
            <a:picLocks noGrp="1" noChangeAspect="1"/>
          </p:cNvPicPr>
          <p:nvPr>
            <p:ph idx="1"/>
          </p:nvPr>
        </p:nvPicPr>
        <p:blipFill>
          <a:blip r:embed="rId2"/>
          <a:srcRect t="9102" b="12855"/>
          <a:stretch/>
        </p:blipFill>
        <p:spPr>
          <a:xfrm>
            <a:off x="1" y="10"/>
            <a:ext cx="12191998" cy="5352218"/>
          </a:xfrm>
          <a:prstGeom prst="rect">
            <a:avLst/>
          </a:prstGeom>
        </p:spPr>
      </p:pic>
    </p:spTree>
    <p:extLst>
      <p:ext uri="{BB962C8B-B14F-4D97-AF65-F5344CB8AC3E}">
        <p14:creationId xmlns:p14="http://schemas.microsoft.com/office/powerpoint/2010/main" val="18293011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D5B36-AD32-E023-CF1B-C4486110E207}"/>
              </a:ext>
            </a:extLst>
          </p:cNvPr>
          <p:cNvSpPr>
            <a:spLocks noGrp="1"/>
          </p:cNvSpPr>
          <p:nvPr>
            <p:ph type="title"/>
          </p:nvPr>
        </p:nvSpPr>
        <p:spPr>
          <a:xfrm>
            <a:off x="687804" y="231441"/>
            <a:ext cx="10515600" cy="1325563"/>
          </a:xfrm>
        </p:spPr>
        <p:txBody>
          <a:bodyPr/>
          <a:lstStyle/>
          <a:p>
            <a:r>
              <a:rPr lang="de-DE" dirty="0"/>
              <a:t>Inter-Integrated Circuit Sound</a:t>
            </a:r>
            <a:endParaRPr lang="en-US" dirty="0"/>
          </a:p>
        </p:txBody>
      </p:sp>
      <p:sp>
        <p:nvSpPr>
          <p:cNvPr id="3" name="Content Placeholder 2">
            <a:extLst>
              <a:ext uri="{FF2B5EF4-FFF2-40B4-BE49-F238E27FC236}">
                <a16:creationId xmlns:a16="http://schemas.microsoft.com/office/drawing/2014/main" id="{F90AA5EC-9A39-5DAF-4751-70D85F9EE9DA}"/>
              </a:ext>
            </a:extLst>
          </p:cNvPr>
          <p:cNvSpPr>
            <a:spLocks noGrp="1"/>
          </p:cNvSpPr>
          <p:nvPr>
            <p:ph idx="1"/>
          </p:nvPr>
        </p:nvSpPr>
        <p:spPr>
          <a:xfrm>
            <a:off x="824395" y="1316952"/>
            <a:ext cx="10994265" cy="5018759"/>
          </a:xfrm>
        </p:spPr>
        <p:txBody>
          <a:bodyPr>
            <a:normAutofit fontScale="92500"/>
          </a:bodyPr>
          <a:lstStyle/>
          <a:p>
            <a:pPr marL="0" indent="0" algn="just">
              <a:buNone/>
            </a:pPr>
            <a:r>
              <a:rPr lang="en-US" dirty="0"/>
              <a:t>I2S is a hardware interface designed for audio data transmission, commonly used to connect digital audio devices like microphones, speakers, and codecs.</a:t>
            </a:r>
            <a:endParaRPr lang="de-DE" dirty="0"/>
          </a:p>
          <a:p>
            <a:pPr algn="just"/>
            <a:r>
              <a:rPr lang="en-US" dirty="0"/>
              <a:t>Transfers audio data with timing signals for precise synchronization between devices.</a:t>
            </a:r>
            <a:endParaRPr lang="de-DE" dirty="0"/>
          </a:p>
          <a:p>
            <a:pPr algn="just"/>
            <a:r>
              <a:rPr lang="en-US" dirty="0"/>
              <a:t>Supports stereo sound with separate left and right audio channels for high-quality digital audio transmission.</a:t>
            </a:r>
            <a:endParaRPr lang="de-DE" dirty="0"/>
          </a:p>
          <a:p>
            <a:pPr algn="just"/>
            <a:r>
              <a:rPr lang="en-US" dirty="0"/>
              <a:t>Configurable for different bit depths (e.g., 16-bit, 24-bit) and sampling rates, depending on the quality of audio needed.</a:t>
            </a:r>
            <a:endParaRPr lang="de-DE" dirty="0"/>
          </a:p>
          <a:p>
            <a:pPr marL="0" indent="0" algn="just">
              <a:buNone/>
            </a:pPr>
            <a:r>
              <a:rPr lang="en-US" dirty="0"/>
              <a:t>I2S is ideal for applications that involve audio input/output, such as wireless audio streaming, sound recording, or interfacing with digital-to-analog converters (DACs) and analog-to-digital converters (ADCs) for audio</a:t>
            </a:r>
          </a:p>
        </p:txBody>
      </p:sp>
    </p:spTree>
    <p:extLst>
      <p:ext uri="{BB962C8B-B14F-4D97-AF65-F5344CB8AC3E}">
        <p14:creationId xmlns:p14="http://schemas.microsoft.com/office/powerpoint/2010/main" val="37894622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D0893995-FE84-E91C-16F0-74921662767C}"/>
              </a:ext>
            </a:extLst>
          </p:cNvPr>
          <p:cNvPicPr>
            <a:picLocks noGrp="1" noChangeAspect="1"/>
          </p:cNvPicPr>
          <p:nvPr>
            <p:ph idx="1"/>
          </p:nvPr>
        </p:nvPicPr>
        <p:blipFill>
          <a:blip r:embed="rId2"/>
          <a:srcRect b="900"/>
          <a:stretch/>
        </p:blipFill>
        <p:spPr>
          <a:xfrm>
            <a:off x="20" y="1282"/>
            <a:ext cx="12191980" cy="6856718"/>
          </a:xfrm>
          <a:prstGeom prst="rect">
            <a:avLst/>
          </a:prstGeom>
        </p:spPr>
      </p:pic>
    </p:spTree>
    <p:extLst>
      <p:ext uri="{BB962C8B-B14F-4D97-AF65-F5344CB8AC3E}">
        <p14:creationId xmlns:p14="http://schemas.microsoft.com/office/powerpoint/2010/main" val="32258881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575B87-929F-B68E-0B63-758511E1D36F}"/>
              </a:ext>
            </a:extLst>
          </p:cNvPr>
          <p:cNvPicPr>
            <a:picLocks noGrp="1" noChangeAspect="1"/>
          </p:cNvPicPr>
          <p:nvPr>
            <p:ph idx="1"/>
          </p:nvPr>
        </p:nvPicPr>
        <p:blipFill>
          <a:blip r:embed="rId2"/>
          <a:srcRect t="2322" b="13408"/>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BD2BD-DC59-5A5F-25C8-E62A63FCDBC3}"/>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rPr>
              <a:t>Used for Transducers</a:t>
            </a:r>
            <a:r>
              <a:rPr lang="en-GB" sz="3600" dirty="0">
                <a:solidFill>
                  <a:schemeClr val="tx1">
                    <a:lumMod val="85000"/>
                    <a:lumOff val="15000"/>
                  </a:schemeClr>
                </a:solidFill>
              </a:rPr>
              <a:t> </a:t>
            </a:r>
            <a:r>
              <a:rPr lang="en-GB" sz="3600" dirty="0" err="1">
                <a:solidFill>
                  <a:schemeClr val="tx1">
                    <a:lumMod val="85000"/>
                    <a:lumOff val="15000"/>
                  </a:schemeClr>
                </a:solidFill>
              </a:rPr>
              <a:t>i.e</a:t>
            </a:r>
            <a:r>
              <a:rPr lang="en-GB" sz="3600" dirty="0">
                <a:solidFill>
                  <a:schemeClr val="tx1">
                    <a:lumMod val="85000"/>
                    <a:lumOff val="15000"/>
                  </a:schemeClr>
                </a:solidFill>
              </a:rPr>
              <a:t> External DAC Applications</a:t>
            </a:r>
            <a:endParaRPr lang="en-US" sz="3600" dirty="0">
              <a:solidFill>
                <a:schemeClr val="tx1">
                  <a:lumMod val="85000"/>
                  <a:lumOff val="15000"/>
                </a:schemeClr>
              </a:solidFill>
            </a:endParaRP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6887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FF5A6-CB52-E3A4-1E2D-7AAD938615B6}"/>
              </a:ext>
            </a:extLst>
          </p:cNvPr>
          <p:cNvSpPr>
            <a:spLocks noGrp="1"/>
          </p:cNvSpPr>
          <p:nvPr>
            <p:ph type="title"/>
          </p:nvPr>
        </p:nvSpPr>
        <p:spPr>
          <a:xfrm>
            <a:off x="183356" y="0"/>
            <a:ext cx="10515600" cy="1325563"/>
          </a:xfrm>
        </p:spPr>
        <p:txBody>
          <a:bodyPr/>
          <a:lstStyle/>
          <a:p>
            <a:r>
              <a:rPr lang="de-DE" dirty="0"/>
              <a:t>Secure Digital Input Output</a:t>
            </a:r>
            <a:endParaRPr lang="en-US" dirty="0"/>
          </a:p>
        </p:txBody>
      </p:sp>
      <p:sp>
        <p:nvSpPr>
          <p:cNvPr id="3" name="Content Placeholder 2">
            <a:extLst>
              <a:ext uri="{FF2B5EF4-FFF2-40B4-BE49-F238E27FC236}">
                <a16:creationId xmlns:a16="http://schemas.microsoft.com/office/drawing/2014/main" id="{363FE62C-9736-1EC8-FB33-740C8591A8E8}"/>
              </a:ext>
            </a:extLst>
          </p:cNvPr>
          <p:cNvSpPr>
            <a:spLocks noGrp="1"/>
          </p:cNvSpPr>
          <p:nvPr>
            <p:ph idx="1"/>
          </p:nvPr>
        </p:nvSpPr>
        <p:spPr>
          <a:xfrm>
            <a:off x="108635" y="1105580"/>
            <a:ext cx="12001722" cy="5450069"/>
          </a:xfrm>
        </p:spPr>
        <p:txBody>
          <a:bodyPr>
            <a:noAutofit/>
          </a:bodyPr>
          <a:lstStyle/>
          <a:p>
            <a:pPr marL="0" indent="0" algn="just">
              <a:buNone/>
            </a:pPr>
            <a:r>
              <a:rPr lang="en-US" dirty="0"/>
              <a:t>SDIO is a peripheral interface that allows communication between the ESP32 and SD cards or other devices like Wi-Fi modules that follow the SDIO standard.</a:t>
            </a:r>
            <a:endParaRPr lang="de-DE" dirty="0"/>
          </a:p>
          <a:p>
            <a:pPr algn="just"/>
            <a:r>
              <a:rPr lang="en-US" dirty="0"/>
              <a:t>Supports high-speed, low-power communication with SD cards and similar devices, offering up to 4-bit data </a:t>
            </a:r>
            <a:r>
              <a:rPr lang="en-US" dirty="0" err="1"/>
              <a:t>transfe</a:t>
            </a:r>
            <a:r>
              <a:rPr lang="de-DE" dirty="0"/>
              <a:t>r.</a:t>
            </a:r>
          </a:p>
          <a:p>
            <a:pPr algn="just"/>
            <a:r>
              <a:rPr lang="en-US" dirty="0"/>
              <a:t>Allows the ESP32 to use SD cards for external data storage, expanding its memory capacity beyond built-in flash.</a:t>
            </a:r>
            <a:endParaRPr lang="de-DE" dirty="0"/>
          </a:p>
          <a:p>
            <a:pPr algn="just"/>
            <a:r>
              <a:rPr lang="en-US" dirty="0"/>
              <a:t>Provides interrupt-based communication for low-latency control and I/O functionality with SDIO-compliant devices.</a:t>
            </a:r>
            <a:endParaRPr lang="de-DE" dirty="0"/>
          </a:p>
          <a:p>
            <a:pPr marL="0" indent="0" algn="just">
              <a:buNone/>
            </a:pPr>
            <a:r>
              <a:rPr lang="en-US" dirty="0"/>
              <a:t>In </a:t>
            </a:r>
            <a:r>
              <a:rPr lang="en-US" dirty="0" err="1"/>
              <a:t>IoT</a:t>
            </a:r>
            <a:r>
              <a:rPr lang="en-US" dirty="0"/>
              <a:t> devices, SDIO can be used to store large data logs from sensors or store firmware updates on an SD card, increasing the device’s functionality.</a:t>
            </a:r>
          </a:p>
        </p:txBody>
      </p:sp>
    </p:spTree>
    <p:extLst>
      <p:ext uri="{BB962C8B-B14F-4D97-AF65-F5344CB8AC3E}">
        <p14:creationId xmlns:p14="http://schemas.microsoft.com/office/powerpoint/2010/main" val="10956372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32A6F60-731F-BF46-F250-2706B7D128D4}"/>
              </a:ext>
            </a:extLst>
          </p:cNvPr>
          <p:cNvPicPr>
            <a:picLocks noGrp="1" noChangeAspect="1"/>
          </p:cNvPicPr>
          <p:nvPr>
            <p:ph idx="1"/>
          </p:nvPr>
        </p:nvPicPr>
        <p:blipFill>
          <a:blip r:embed="rId2"/>
          <a:srcRect t="12436" r="-2" b="6808"/>
          <a:stretch/>
        </p:blipFill>
        <p:spPr>
          <a:xfrm>
            <a:off x="-6588" y="10"/>
            <a:ext cx="12198588" cy="6857990"/>
          </a:xfrm>
          <a:prstGeom prst="rect">
            <a:avLst/>
          </a:prstGeom>
        </p:spPr>
      </p:pic>
      <p:sp>
        <p:nvSpPr>
          <p:cNvPr id="9" name="TextBox 8">
            <a:extLst>
              <a:ext uri="{FF2B5EF4-FFF2-40B4-BE49-F238E27FC236}">
                <a16:creationId xmlns:a16="http://schemas.microsoft.com/office/drawing/2014/main" id="{159C5E88-306B-0482-F3F9-9B1C5D0EA085}"/>
              </a:ext>
            </a:extLst>
          </p:cNvPr>
          <p:cNvSpPr txBox="1"/>
          <p:nvPr/>
        </p:nvSpPr>
        <p:spPr>
          <a:xfrm>
            <a:off x="8805431" y="1085850"/>
            <a:ext cx="2726110" cy="2308324"/>
          </a:xfrm>
          <a:prstGeom prst="rect">
            <a:avLst/>
          </a:prstGeom>
          <a:noFill/>
        </p:spPr>
        <p:txBody>
          <a:bodyPr wrap="square" rtlCol="0">
            <a:spAutoFit/>
          </a:bodyPr>
          <a:lstStyle/>
          <a:p>
            <a:pPr algn="l"/>
            <a:r>
              <a:rPr lang="de-DE" sz="2400" dirty="0"/>
              <a:t>Serial Data Bit 3</a:t>
            </a:r>
          </a:p>
          <a:p>
            <a:pPr algn="l"/>
            <a:r>
              <a:rPr lang="de-DE" sz="2400" dirty="0"/>
              <a:t>Serial Data Bit 2</a:t>
            </a:r>
          </a:p>
          <a:p>
            <a:pPr algn="l"/>
            <a:r>
              <a:rPr lang="de-DE" sz="2400" dirty="0"/>
              <a:t>Serial Data Bit 1</a:t>
            </a:r>
          </a:p>
          <a:p>
            <a:pPr algn="l"/>
            <a:r>
              <a:rPr lang="de-DE" sz="2400" dirty="0"/>
              <a:t>Serial Command</a:t>
            </a:r>
          </a:p>
          <a:p>
            <a:pPr algn="l"/>
            <a:r>
              <a:rPr lang="de-DE" sz="2400" dirty="0"/>
              <a:t>Serial Data Bit 0</a:t>
            </a:r>
          </a:p>
          <a:p>
            <a:pPr algn="l"/>
            <a:r>
              <a:rPr lang="de-DE" sz="2400" dirty="0"/>
              <a:t>Serial Clock</a:t>
            </a:r>
            <a:endParaRPr lang="en-US" sz="2400" dirty="0"/>
          </a:p>
        </p:txBody>
      </p:sp>
    </p:spTree>
    <p:extLst>
      <p:ext uri="{BB962C8B-B14F-4D97-AF65-F5344CB8AC3E}">
        <p14:creationId xmlns:p14="http://schemas.microsoft.com/office/powerpoint/2010/main" val="42518991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ADA2E165-4B7E-62F2-511B-4EBF04B9FDC0}"/>
              </a:ext>
            </a:extLst>
          </p:cNvPr>
          <p:cNvSpPr>
            <a:spLocks noGrp="1"/>
          </p:cNvSpPr>
          <p:nvPr>
            <p:ph type="title"/>
          </p:nvPr>
        </p:nvSpPr>
        <p:spPr>
          <a:xfrm>
            <a:off x="640080" y="4777739"/>
            <a:ext cx="3418990" cy="1412119"/>
          </a:xfrm>
        </p:spPr>
        <p:txBody>
          <a:bodyPr>
            <a:normAutofit/>
          </a:bodyPr>
          <a:lstStyle/>
          <a:p>
            <a:r>
              <a:rPr lang="en-GB" sz="4800" dirty="0"/>
              <a:t>SD Cards</a:t>
            </a:r>
            <a:endParaRPr lang="en-US" sz="4800" dirty="0"/>
          </a:p>
        </p:txBody>
      </p:sp>
      <p:pic>
        <p:nvPicPr>
          <p:cNvPr id="6" name="Content Placeholder 5">
            <a:extLst>
              <a:ext uri="{FF2B5EF4-FFF2-40B4-BE49-F238E27FC236}">
                <a16:creationId xmlns:a16="http://schemas.microsoft.com/office/drawing/2014/main" id="{83D7AE99-0C6F-22DA-20D1-98D7B6D16EED}"/>
              </a:ext>
            </a:extLst>
          </p:cNvPr>
          <p:cNvPicPr>
            <a:picLocks noChangeAspect="1"/>
          </p:cNvPicPr>
          <p:nvPr/>
        </p:nvPicPr>
        <p:blipFill>
          <a:blip r:embed="rId2"/>
          <a:srcRect r="4383"/>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27"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onnsiteX0" fmla="*/ 0 w 1371600"/>
              <a:gd name="connsiteY0" fmla="*/ 0 h 18288"/>
              <a:gd name="connsiteX1" fmla="*/ 685800 w 1371600"/>
              <a:gd name="connsiteY1" fmla="*/ 0 h 18288"/>
              <a:gd name="connsiteX2" fmla="*/ 1371600 w 1371600"/>
              <a:gd name="connsiteY2" fmla="*/ 0 h 18288"/>
              <a:gd name="connsiteX3" fmla="*/ 1371600 w 1371600"/>
              <a:gd name="connsiteY3" fmla="*/ 18288 h 18288"/>
              <a:gd name="connsiteX4" fmla="*/ 713232 w 1371600"/>
              <a:gd name="connsiteY4" fmla="*/ 18288 h 18288"/>
              <a:gd name="connsiteX5" fmla="*/ 0 w 1371600"/>
              <a:gd name="connsiteY5" fmla="*/ 18288 h 18288"/>
              <a:gd name="connsiteX6" fmla="*/ 0 w 1371600"/>
              <a:gd name="connsiteY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2087F51F-D139-DE73-37E1-F8263D6832B8}"/>
              </a:ext>
            </a:extLst>
          </p:cNvPr>
          <p:cNvSpPr>
            <a:spLocks noGrp="1"/>
          </p:cNvSpPr>
          <p:nvPr>
            <p:ph idx="1"/>
          </p:nvPr>
        </p:nvSpPr>
        <p:spPr>
          <a:xfrm>
            <a:off x="4654294" y="4777739"/>
            <a:ext cx="6897626" cy="1399223"/>
          </a:xfrm>
        </p:spPr>
        <p:txBody>
          <a:bodyPr anchor="ctr">
            <a:normAutofit/>
          </a:bodyPr>
          <a:lstStyle/>
          <a:p>
            <a:pPr marL="0" indent="0">
              <a:buNone/>
            </a:pPr>
            <a:r>
              <a:rPr lang="en-GB" dirty="0"/>
              <a:t>The Most Common Application w/ ESP32 Dev Modules</a:t>
            </a:r>
            <a:endParaRPr lang="en-US" dirty="0"/>
          </a:p>
        </p:txBody>
      </p:sp>
    </p:spTree>
    <p:extLst>
      <p:ext uri="{BB962C8B-B14F-4D97-AF65-F5344CB8AC3E}">
        <p14:creationId xmlns:p14="http://schemas.microsoft.com/office/powerpoint/2010/main" val="37068222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4F71-C532-5E7D-CA03-5DD19661ED16}"/>
              </a:ext>
            </a:extLst>
          </p:cNvPr>
          <p:cNvSpPr>
            <a:spLocks noGrp="1"/>
          </p:cNvSpPr>
          <p:nvPr>
            <p:ph type="title"/>
          </p:nvPr>
        </p:nvSpPr>
        <p:spPr>
          <a:xfrm>
            <a:off x="675409" y="365125"/>
            <a:ext cx="10678391" cy="1325563"/>
          </a:xfrm>
        </p:spPr>
        <p:txBody>
          <a:bodyPr/>
          <a:lstStyle/>
          <a:p>
            <a:r>
              <a:rPr lang="en-US" dirty="0"/>
              <a:t>Universal Asynchronous</a:t>
            </a:r>
            <a:r>
              <a:rPr lang="de-DE" dirty="0"/>
              <a:t> </a:t>
            </a:r>
            <a:r>
              <a:rPr lang="en-US" dirty="0"/>
              <a:t>Receiver/Transmitter)</a:t>
            </a:r>
          </a:p>
        </p:txBody>
      </p:sp>
      <p:sp>
        <p:nvSpPr>
          <p:cNvPr id="3" name="Content Placeholder 2">
            <a:extLst>
              <a:ext uri="{FF2B5EF4-FFF2-40B4-BE49-F238E27FC236}">
                <a16:creationId xmlns:a16="http://schemas.microsoft.com/office/drawing/2014/main" id="{36B1CBEE-9D82-9495-0749-6354E8230AA9}"/>
              </a:ext>
            </a:extLst>
          </p:cNvPr>
          <p:cNvSpPr>
            <a:spLocks noGrp="1"/>
          </p:cNvSpPr>
          <p:nvPr>
            <p:ph idx="1"/>
          </p:nvPr>
        </p:nvSpPr>
        <p:spPr/>
        <p:txBody>
          <a:bodyPr/>
          <a:lstStyle/>
          <a:p>
            <a:pPr marL="0" indent="0" algn="just">
              <a:buNone/>
            </a:pPr>
            <a:r>
              <a:rPr lang="en-US" dirty="0"/>
              <a:t>The UART peripheral provides asynchronous serial communication between the ESP32 and other devices, using a simple, efficient protocol for data transfer.</a:t>
            </a:r>
            <a:endParaRPr lang="de-DE" dirty="0"/>
          </a:p>
          <a:p>
            <a:pPr algn="just"/>
            <a:r>
              <a:rPr lang="en-US" dirty="0"/>
              <a:t>Asynchronous Communication: No need for a clock signal; devices agree on a baud rate.</a:t>
            </a:r>
            <a:endParaRPr lang="de-DE" dirty="0"/>
          </a:p>
          <a:p>
            <a:pPr algn="just"/>
            <a:r>
              <a:rPr lang="en-US" dirty="0"/>
              <a:t>Full-Duplex: Supports simultaneous transmission and reception of data.</a:t>
            </a:r>
            <a:endParaRPr lang="de-DE" dirty="0"/>
          </a:p>
          <a:p>
            <a:pPr marL="0" indent="0" algn="just">
              <a:buNone/>
            </a:pPr>
            <a:r>
              <a:rPr lang="en-US" dirty="0"/>
              <a:t>UART is often used for serial communication with modules like GPS receivers, Bluetooth modules, or for debugging.</a:t>
            </a:r>
          </a:p>
        </p:txBody>
      </p:sp>
    </p:spTree>
    <p:extLst>
      <p:ext uri="{BB962C8B-B14F-4D97-AF65-F5344CB8AC3E}">
        <p14:creationId xmlns:p14="http://schemas.microsoft.com/office/powerpoint/2010/main" val="27235715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53D8AF7-C49D-0C44-B850-F384271DD1F0}"/>
              </a:ext>
            </a:extLst>
          </p:cNvPr>
          <p:cNvPicPr>
            <a:picLocks noGrp="1" noChangeAspect="1"/>
          </p:cNvPicPr>
          <p:nvPr>
            <p:ph idx="1"/>
          </p:nvPr>
        </p:nvPicPr>
        <p:blipFill>
          <a:blip r:embed="rId2"/>
          <a:stretch>
            <a:fillRect/>
          </a:stretch>
        </p:blipFill>
        <p:spPr>
          <a:xfrm>
            <a:off x="643467" y="1261618"/>
            <a:ext cx="10905066" cy="4334763"/>
          </a:xfrm>
          <a:prstGeom prst="rect">
            <a:avLst/>
          </a:prstGeom>
        </p:spPr>
      </p:pic>
    </p:spTree>
    <p:extLst>
      <p:ext uri="{BB962C8B-B14F-4D97-AF65-F5344CB8AC3E}">
        <p14:creationId xmlns:p14="http://schemas.microsoft.com/office/powerpoint/2010/main" val="23966809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792D6E-2905-8427-283A-962F0D8FB350}"/>
              </a:ext>
            </a:extLst>
          </p:cNvPr>
          <p:cNvSpPr>
            <a:spLocks noGrp="1"/>
          </p:cNvSpPr>
          <p:nvPr>
            <p:ph type="title"/>
          </p:nvPr>
        </p:nvSpPr>
        <p:spPr>
          <a:xfrm>
            <a:off x="8643193" y="489507"/>
            <a:ext cx="3091607" cy="1655483"/>
          </a:xfrm>
        </p:spPr>
        <p:txBody>
          <a:bodyPr anchor="b">
            <a:normAutofit/>
          </a:bodyPr>
          <a:lstStyle/>
          <a:p>
            <a:r>
              <a:rPr lang="en-GB" sz="4000" dirty="0"/>
              <a:t>TV Remotes Use UART</a:t>
            </a:r>
            <a:endParaRPr lang="en-US" sz="4000" dirty="0"/>
          </a:p>
        </p:txBody>
      </p:sp>
      <p:pic>
        <p:nvPicPr>
          <p:cNvPr id="6" name="Content Placeholder 5">
            <a:extLst>
              <a:ext uri="{FF2B5EF4-FFF2-40B4-BE49-F238E27FC236}">
                <a16:creationId xmlns:a16="http://schemas.microsoft.com/office/drawing/2014/main" id="{7D215734-6187-99A5-7D9E-F818EE8F527B}"/>
              </a:ext>
            </a:extLst>
          </p:cNvPr>
          <p:cNvPicPr>
            <a:picLocks noChangeAspect="1"/>
          </p:cNvPicPr>
          <p:nvPr/>
        </p:nvPicPr>
        <p:blipFill>
          <a:blip r:embed="rId2"/>
          <a:srcRect l="18448" r="10318" b="-1"/>
          <a:stretch/>
        </p:blipFill>
        <p:spPr>
          <a:xfrm>
            <a:off x="20" y="431"/>
            <a:ext cx="8115280" cy="6408311"/>
          </a:xfrm>
          <a:prstGeom prst="rect">
            <a:avLst/>
          </a:prstGeom>
        </p:spPr>
      </p:pic>
      <p:sp>
        <p:nvSpPr>
          <p:cNvPr id="10" name="Content Placeholder 9">
            <a:extLst>
              <a:ext uri="{FF2B5EF4-FFF2-40B4-BE49-F238E27FC236}">
                <a16:creationId xmlns:a16="http://schemas.microsoft.com/office/drawing/2014/main" id="{65651876-8516-6C78-98FF-D8DA5B270025}"/>
              </a:ext>
            </a:extLst>
          </p:cNvPr>
          <p:cNvSpPr>
            <a:spLocks noGrp="1"/>
          </p:cNvSpPr>
          <p:nvPr>
            <p:ph idx="1"/>
          </p:nvPr>
        </p:nvSpPr>
        <p:spPr>
          <a:xfrm>
            <a:off x="8643193" y="2418408"/>
            <a:ext cx="2942813" cy="3540265"/>
          </a:xfrm>
        </p:spPr>
        <p:txBody>
          <a:bodyPr>
            <a:normAutofit/>
          </a:bodyPr>
          <a:lstStyle/>
          <a:p>
            <a:pPr algn="just"/>
            <a:r>
              <a:rPr lang="en-GB" dirty="0"/>
              <a:t>Why?</a:t>
            </a:r>
          </a:p>
          <a:p>
            <a:pPr algn="just"/>
            <a:r>
              <a:rPr lang="en-GB" dirty="0"/>
              <a:t>Because it does not require a handshake and data can be sent impromptu </a:t>
            </a:r>
            <a:endParaRPr lang="en-US" dirty="0"/>
          </a:p>
        </p:txBody>
      </p:sp>
      <p:sp>
        <p:nvSpPr>
          <p:cNvPr id="15" name="Rectangle 14">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83638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43CF-A11B-40C8-0CC8-3519BD7ECBD8}"/>
              </a:ext>
            </a:extLst>
          </p:cNvPr>
          <p:cNvSpPr>
            <a:spLocks noGrp="1"/>
          </p:cNvSpPr>
          <p:nvPr>
            <p:ph type="title"/>
          </p:nvPr>
        </p:nvSpPr>
        <p:spPr>
          <a:xfrm>
            <a:off x="5980638" y="1128094"/>
            <a:ext cx="5262386" cy="1415270"/>
          </a:xfrm>
        </p:spPr>
        <p:txBody>
          <a:bodyPr anchor="t">
            <a:normAutofit/>
          </a:bodyPr>
          <a:lstStyle/>
          <a:p>
            <a:r>
              <a:rPr lang="en-GB" sz="3200"/>
              <a:t>Many of the uC’s Use UART For Programming</a:t>
            </a:r>
            <a:endParaRPr lang="en-US" sz="3200"/>
          </a:p>
        </p:txBody>
      </p:sp>
      <p:pic>
        <p:nvPicPr>
          <p:cNvPr id="9" name="Picture 8">
            <a:extLst>
              <a:ext uri="{FF2B5EF4-FFF2-40B4-BE49-F238E27FC236}">
                <a16:creationId xmlns:a16="http://schemas.microsoft.com/office/drawing/2014/main" id="{5EF50CC1-1FEE-2D7D-B7B4-313D13676386}"/>
              </a:ext>
            </a:extLst>
          </p:cNvPr>
          <p:cNvPicPr>
            <a:picLocks noChangeAspect="1"/>
          </p:cNvPicPr>
          <p:nvPr/>
        </p:nvPicPr>
        <p:blipFill>
          <a:blip r:embed="rId2"/>
          <a:srcRect t="13119"/>
          <a:stretch/>
        </p:blipFill>
        <p:spPr>
          <a:xfrm>
            <a:off x="1" y="1"/>
            <a:ext cx="5262386" cy="3429000"/>
          </a:xfrm>
          <a:prstGeom prst="rect">
            <a:avLst/>
          </a:prstGeom>
        </p:spPr>
      </p:pic>
      <p:cxnSp>
        <p:nvCxnSpPr>
          <p:cNvPr id="26" name="Straight Connector 25">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5214"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F1D3C3D2-9D27-45D2-7581-21FD6EA70FE7}"/>
              </a:ext>
            </a:extLst>
          </p:cNvPr>
          <p:cNvPicPr>
            <a:picLocks noChangeAspect="1"/>
          </p:cNvPicPr>
          <p:nvPr/>
        </p:nvPicPr>
        <p:blipFill>
          <a:blip r:embed="rId3"/>
          <a:srcRect t="23242" r="-1" b="11687"/>
          <a:stretch/>
        </p:blipFill>
        <p:spPr>
          <a:xfrm>
            <a:off x="-7252" y="3429000"/>
            <a:ext cx="5269639" cy="3429000"/>
          </a:xfrm>
          <a:prstGeom prst="rect">
            <a:avLst/>
          </a:prstGeom>
        </p:spPr>
      </p:pic>
      <p:sp>
        <p:nvSpPr>
          <p:cNvPr id="27" name="Content Placeholder 12">
            <a:extLst>
              <a:ext uri="{FF2B5EF4-FFF2-40B4-BE49-F238E27FC236}">
                <a16:creationId xmlns:a16="http://schemas.microsoft.com/office/drawing/2014/main" id="{C662C815-87D9-CF40-6997-BA491CB123FB}"/>
              </a:ext>
            </a:extLst>
          </p:cNvPr>
          <p:cNvSpPr>
            <a:spLocks noGrp="1"/>
          </p:cNvSpPr>
          <p:nvPr>
            <p:ph idx="1"/>
          </p:nvPr>
        </p:nvSpPr>
        <p:spPr>
          <a:xfrm>
            <a:off x="5980638" y="2543364"/>
            <a:ext cx="5262385" cy="3599019"/>
          </a:xfrm>
        </p:spPr>
        <p:txBody>
          <a:bodyPr>
            <a:normAutofit/>
          </a:bodyPr>
          <a:lstStyle/>
          <a:p>
            <a:pPr algn="just"/>
            <a:r>
              <a:rPr lang="en-GB" dirty="0"/>
              <a:t>So You need UART to Serial Converters</a:t>
            </a:r>
          </a:p>
          <a:p>
            <a:pPr algn="just"/>
            <a:r>
              <a:rPr lang="en-GB" dirty="0"/>
              <a:t>Since Computers Have USB</a:t>
            </a:r>
          </a:p>
          <a:p>
            <a:pPr algn="just"/>
            <a:r>
              <a:rPr lang="en-GB" dirty="0"/>
              <a:t>Universal Serial Bus</a:t>
            </a:r>
          </a:p>
        </p:txBody>
      </p:sp>
    </p:spTree>
    <p:extLst>
      <p:ext uri="{BB962C8B-B14F-4D97-AF65-F5344CB8AC3E}">
        <p14:creationId xmlns:p14="http://schemas.microsoft.com/office/powerpoint/2010/main" val="4294549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267A8-01FB-B2C3-BE62-F6D63BDA85C0}"/>
              </a:ext>
            </a:extLst>
          </p:cNvPr>
          <p:cNvSpPr>
            <a:spLocks noGrp="1"/>
          </p:cNvSpPr>
          <p:nvPr>
            <p:ph type="title"/>
          </p:nvPr>
        </p:nvSpPr>
        <p:spPr/>
        <p:txBody>
          <a:bodyPr/>
          <a:lstStyle/>
          <a:p>
            <a:r>
              <a:rPr lang="en-GB" dirty="0"/>
              <a:t>So Why Not Use On Board Serial Devices?</a:t>
            </a:r>
            <a:endParaRPr lang="en-US" dirty="0"/>
          </a:p>
        </p:txBody>
      </p:sp>
      <p:sp>
        <p:nvSpPr>
          <p:cNvPr id="3" name="Content Placeholder 2">
            <a:extLst>
              <a:ext uri="{FF2B5EF4-FFF2-40B4-BE49-F238E27FC236}">
                <a16:creationId xmlns:a16="http://schemas.microsoft.com/office/drawing/2014/main" id="{D8CA2731-E2CE-7BB0-6EBC-301E3CC52FD6}"/>
              </a:ext>
            </a:extLst>
          </p:cNvPr>
          <p:cNvSpPr>
            <a:spLocks noGrp="1"/>
          </p:cNvSpPr>
          <p:nvPr>
            <p:ph idx="1"/>
          </p:nvPr>
        </p:nvSpPr>
        <p:spPr>
          <a:xfrm>
            <a:off x="838200" y="1695740"/>
            <a:ext cx="10515600" cy="4351338"/>
          </a:xfrm>
        </p:spPr>
        <p:txBody>
          <a:bodyPr/>
          <a:lstStyle/>
          <a:p>
            <a:pPr marL="0" indent="0">
              <a:buNone/>
            </a:pPr>
            <a:r>
              <a:rPr lang="en-GB" dirty="0"/>
              <a:t>They lack the support for USB Compliance. Exceptions exist</a:t>
            </a:r>
          </a:p>
          <a:p>
            <a:pPr marL="0" indent="0">
              <a:buNone/>
            </a:pPr>
            <a:endParaRPr lang="en-GB" dirty="0"/>
          </a:p>
          <a:p>
            <a:pPr marL="0" indent="0">
              <a:buNone/>
            </a:pPr>
            <a:endParaRPr lang="en-GB" dirty="0"/>
          </a:p>
        </p:txBody>
      </p:sp>
      <p:pic>
        <p:nvPicPr>
          <p:cNvPr id="6" name="Picture 5">
            <a:extLst>
              <a:ext uri="{FF2B5EF4-FFF2-40B4-BE49-F238E27FC236}">
                <a16:creationId xmlns:a16="http://schemas.microsoft.com/office/drawing/2014/main" id="{DDBE1F46-B7C1-822E-EB13-0DF35FC760B1}"/>
              </a:ext>
            </a:extLst>
          </p:cNvPr>
          <p:cNvPicPr>
            <a:picLocks noChangeAspect="1"/>
          </p:cNvPicPr>
          <p:nvPr/>
        </p:nvPicPr>
        <p:blipFill>
          <a:blip r:embed="rId2"/>
          <a:stretch>
            <a:fillRect/>
          </a:stretch>
        </p:blipFill>
        <p:spPr>
          <a:xfrm>
            <a:off x="1629533" y="2130054"/>
            <a:ext cx="8626429" cy="4598086"/>
          </a:xfrm>
          <a:prstGeom prst="rect">
            <a:avLst/>
          </a:prstGeom>
        </p:spPr>
      </p:pic>
      <p:sp>
        <p:nvSpPr>
          <p:cNvPr id="4" name="Frame 3">
            <a:extLst>
              <a:ext uri="{FF2B5EF4-FFF2-40B4-BE49-F238E27FC236}">
                <a16:creationId xmlns:a16="http://schemas.microsoft.com/office/drawing/2014/main" id="{F9765DCA-BAB3-652D-B85D-B3927583C533}"/>
              </a:ext>
            </a:extLst>
          </p:cNvPr>
          <p:cNvSpPr/>
          <p:nvPr/>
        </p:nvSpPr>
        <p:spPr>
          <a:xfrm>
            <a:off x="5978192" y="2481513"/>
            <a:ext cx="1005138" cy="53891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923450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24C1-F934-D2B7-CD57-E9E97D9F8BA6}"/>
              </a:ext>
            </a:extLst>
          </p:cNvPr>
          <p:cNvSpPr>
            <a:spLocks noGrp="1"/>
          </p:cNvSpPr>
          <p:nvPr>
            <p:ph type="title"/>
          </p:nvPr>
        </p:nvSpPr>
        <p:spPr/>
        <p:txBody>
          <a:bodyPr/>
          <a:lstStyle/>
          <a:p>
            <a:r>
              <a:rPr lang="en-US" dirty="0"/>
              <a:t>TWAI (Two-Wire Automotive Interface)</a:t>
            </a:r>
          </a:p>
        </p:txBody>
      </p:sp>
      <p:sp>
        <p:nvSpPr>
          <p:cNvPr id="3" name="Content Placeholder 2">
            <a:extLst>
              <a:ext uri="{FF2B5EF4-FFF2-40B4-BE49-F238E27FC236}">
                <a16:creationId xmlns:a16="http://schemas.microsoft.com/office/drawing/2014/main" id="{EEF9962D-5EC7-D4A4-2655-CF6F094EE5A0}"/>
              </a:ext>
            </a:extLst>
          </p:cNvPr>
          <p:cNvSpPr>
            <a:spLocks noGrp="1"/>
          </p:cNvSpPr>
          <p:nvPr>
            <p:ph idx="1"/>
          </p:nvPr>
        </p:nvSpPr>
        <p:spPr>
          <a:xfrm>
            <a:off x="471259" y="1690688"/>
            <a:ext cx="11387046" cy="4691262"/>
          </a:xfrm>
        </p:spPr>
        <p:txBody>
          <a:bodyPr>
            <a:normAutofit fontScale="92500" lnSpcReduction="20000"/>
          </a:bodyPr>
          <a:lstStyle/>
          <a:p>
            <a:pPr algn="just"/>
            <a:r>
              <a:rPr lang="en-US" dirty="0"/>
              <a:t>TWAI in the ESP32 refers to the CAN (Controller Area Network) interface, which is a multi-master, multi-slave protocol used for communication between microcontrollers and devices in automotive and industrial applications.</a:t>
            </a:r>
            <a:endParaRPr lang="en-GB" dirty="0"/>
          </a:p>
          <a:p>
            <a:pPr algn="just"/>
            <a:r>
              <a:rPr lang="en-US" dirty="0"/>
              <a:t>Allows multiple devices (nodes) to communicate without a central master, using a two-wire bus for data transmission</a:t>
            </a:r>
            <a:r>
              <a:rPr lang="en-GB" dirty="0"/>
              <a:t>.</a:t>
            </a:r>
          </a:p>
          <a:p>
            <a:pPr algn="just"/>
            <a:r>
              <a:rPr lang="en-US" dirty="0"/>
              <a:t>Built for environments with high noise and electrical interference, common in automotive and industrial setups.</a:t>
            </a:r>
            <a:endParaRPr lang="en-GB" dirty="0"/>
          </a:p>
          <a:p>
            <a:pPr algn="just"/>
            <a:r>
              <a:rPr lang="en-US" dirty="0"/>
              <a:t>Messages are assigned priorities, and the bus arbitration ensures that higher priority messages are sent first, ideal for critical real-time communication.</a:t>
            </a:r>
            <a:endParaRPr lang="en-GB" dirty="0"/>
          </a:p>
          <a:p>
            <a:pPr marL="0" indent="0" algn="just">
              <a:buNone/>
            </a:pPr>
            <a:r>
              <a:rPr lang="en-US" dirty="0"/>
              <a:t>TWAI/CAN is used in automotive networks (e.g., for engine control, airbags, ABS) and industrial automation systems.</a:t>
            </a:r>
            <a:r>
              <a:rPr lang="en-GB" dirty="0"/>
              <a:t> </a:t>
            </a:r>
            <a:r>
              <a:rPr lang="en-US" dirty="0"/>
              <a:t>An ESP32 could be integrated into a vehicle diagnostic system, communicating with other electronic control units (ECUs) over the CAN bus.</a:t>
            </a:r>
          </a:p>
        </p:txBody>
      </p:sp>
    </p:spTree>
    <p:extLst>
      <p:ext uri="{BB962C8B-B14F-4D97-AF65-F5344CB8AC3E}">
        <p14:creationId xmlns:p14="http://schemas.microsoft.com/office/powerpoint/2010/main" val="25355017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F5EC60A7-4AD9-AF16-C4CD-EE1A1FE87BF0}"/>
              </a:ext>
            </a:extLst>
          </p:cNvPr>
          <p:cNvPicPr>
            <a:picLocks noGrp="1" noChangeAspect="1"/>
          </p:cNvPicPr>
          <p:nvPr>
            <p:ph idx="1"/>
          </p:nvPr>
        </p:nvPicPr>
        <p:blipFill>
          <a:blip r:embed="rId2"/>
          <a:srcRect t="15217" r="3" b="5596"/>
          <a:stretch/>
        </p:blipFill>
        <p:spPr>
          <a:xfrm>
            <a:off x="20" y="1282"/>
            <a:ext cx="12191980" cy="6856718"/>
          </a:xfrm>
          <a:prstGeom prst="rect">
            <a:avLst/>
          </a:prstGeom>
        </p:spPr>
      </p:pic>
    </p:spTree>
    <p:extLst>
      <p:ext uri="{BB962C8B-B14F-4D97-AF65-F5344CB8AC3E}">
        <p14:creationId xmlns:p14="http://schemas.microsoft.com/office/powerpoint/2010/main" val="21866926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ADB91CE-3A7B-7F34-1DF1-5F8D819C3903}"/>
              </a:ext>
            </a:extLst>
          </p:cNvPr>
          <p:cNvPicPr>
            <a:picLocks noGrp="1" noChangeAspect="1"/>
          </p:cNvPicPr>
          <p:nvPr>
            <p:ph idx="1"/>
          </p:nvPr>
        </p:nvPicPr>
        <p:blipFill>
          <a:blip r:embed="rId2"/>
          <a:src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ADCE23-2B1C-A333-E81F-06A461B22170}"/>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How to Have a Stable Internet Connection</a:t>
            </a: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61502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A382-F2E1-C1EA-55B6-80576F208F58}"/>
              </a:ext>
            </a:extLst>
          </p:cNvPr>
          <p:cNvSpPr>
            <a:spLocks noGrp="1"/>
          </p:cNvSpPr>
          <p:nvPr>
            <p:ph type="title"/>
          </p:nvPr>
        </p:nvSpPr>
        <p:spPr/>
        <p:txBody>
          <a:bodyPr/>
          <a:lstStyle/>
          <a:p>
            <a:r>
              <a:rPr lang="en-GB" dirty="0"/>
              <a:t>Ethernet</a:t>
            </a:r>
            <a:endParaRPr lang="en-US" dirty="0"/>
          </a:p>
        </p:txBody>
      </p:sp>
      <p:sp>
        <p:nvSpPr>
          <p:cNvPr id="3" name="Content Placeholder 2">
            <a:extLst>
              <a:ext uri="{FF2B5EF4-FFF2-40B4-BE49-F238E27FC236}">
                <a16:creationId xmlns:a16="http://schemas.microsoft.com/office/drawing/2014/main" id="{9CC21A4B-21E3-8931-8F19-3FC5EB6BD779}"/>
              </a:ext>
            </a:extLst>
          </p:cNvPr>
          <p:cNvSpPr>
            <a:spLocks noGrp="1"/>
          </p:cNvSpPr>
          <p:nvPr>
            <p:ph idx="1"/>
          </p:nvPr>
        </p:nvSpPr>
        <p:spPr>
          <a:xfrm>
            <a:off x="838199" y="1532480"/>
            <a:ext cx="10882547" cy="4644483"/>
          </a:xfrm>
        </p:spPr>
        <p:txBody>
          <a:bodyPr>
            <a:normAutofit fontScale="92500" lnSpcReduction="10000"/>
          </a:bodyPr>
          <a:lstStyle/>
          <a:p>
            <a:pPr marL="0" indent="0" algn="just">
              <a:buNone/>
            </a:pPr>
            <a:r>
              <a:rPr lang="en-US" dirty="0"/>
              <a:t>Ethernet is a wired communication protocol offering high-speed, reliable data transfer between the ESP32 and networked devices.</a:t>
            </a:r>
            <a:endParaRPr lang="en-GB" dirty="0"/>
          </a:p>
          <a:p>
            <a:pPr algn="just"/>
            <a:r>
              <a:rPr lang="en-US" dirty="0"/>
              <a:t>Ethernet supports higher data rates, offering stable and low-latency communication.</a:t>
            </a:r>
            <a:endParaRPr lang="en-GB" dirty="0"/>
          </a:p>
          <a:p>
            <a:pPr algn="just"/>
            <a:r>
              <a:rPr lang="en-US" dirty="0"/>
              <a:t>Provides a physical, secure connection to a network, reducing interference and ensuring reliable communication in industrial settings.</a:t>
            </a:r>
            <a:endParaRPr lang="en-GB" dirty="0"/>
          </a:p>
          <a:p>
            <a:pPr algn="just"/>
            <a:r>
              <a:rPr lang="en-US" dirty="0"/>
              <a:t>Commonly used in environments requiring robust data communication, where wireless connections might fail due to interference or security concerns.</a:t>
            </a:r>
            <a:endParaRPr lang="en-GB" dirty="0"/>
          </a:p>
          <a:p>
            <a:pPr marL="0" indent="0" algn="just">
              <a:buNone/>
            </a:pPr>
            <a:r>
              <a:rPr lang="en-US" dirty="0"/>
              <a:t>Ethernet is used for projects that need continuous, stable connectivity, like local servers, </a:t>
            </a:r>
            <a:r>
              <a:rPr lang="en-US" dirty="0" err="1"/>
              <a:t>IoT</a:t>
            </a:r>
            <a:r>
              <a:rPr lang="en-US" dirty="0"/>
              <a:t> hubs, or industrial machines that require low-latency data transfer.</a:t>
            </a:r>
          </a:p>
        </p:txBody>
      </p:sp>
    </p:spTree>
    <p:extLst>
      <p:ext uri="{BB962C8B-B14F-4D97-AF65-F5344CB8AC3E}">
        <p14:creationId xmlns:p14="http://schemas.microsoft.com/office/powerpoint/2010/main" val="1739184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15C703F-81EE-04D4-ED1A-A9DCCD789A46}"/>
              </a:ext>
            </a:extLst>
          </p:cNvPr>
          <p:cNvPicPr>
            <a:picLocks noGrp="1" noChangeAspect="1"/>
          </p:cNvPicPr>
          <p:nvPr>
            <p:ph idx="1"/>
          </p:nvPr>
        </p:nvPicPr>
        <p:blipFill>
          <a:blip r:embed="rId2"/>
          <a:srcRect t="9986" r="-2" b="15053"/>
          <a:stretch/>
        </p:blipFill>
        <p:spPr>
          <a:xfrm>
            <a:off x="-6588" y="10"/>
            <a:ext cx="12198588" cy="6857990"/>
          </a:xfrm>
          <a:prstGeom prst="rect">
            <a:avLst/>
          </a:prstGeom>
        </p:spPr>
      </p:pic>
    </p:spTree>
    <p:extLst>
      <p:ext uri="{BB962C8B-B14F-4D97-AF65-F5344CB8AC3E}">
        <p14:creationId xmlns:p14="http://schemas.microsoft.com/office/powerpoint/2010/main" val="41095322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11DE-AF76-CE22-9502-1FB821867095}"/>
              </a:ext>
            </a:extLst>
          </p:cNvPr>
          <p:cNvSpPr>
            <a:spLocks noGrp="1"/>
          </p:cNvSpPr>
          <p:nvPr>
            <p:ph type="title"/>
          </p:nvPr>
        </p:nvSpPr>
        <p:spPr/>
        <p:txBody>
          <a:bodyPr/>
          <a:lstStyle/>
          <a:p>
            <a:r>
              <a:rPr lang="en-GB" dirty="0"/>
              <a:t>Remote Control Transmitter/</a:t>
            </a:r>
            <a:r>
              <a:rPr lang="en-GB" dirty="0" err="1"/>
              <a:t>Reciever</a:t>
            </a:r>
            <a:endParaRPr lang="en-US" dirty="0"/>
          </a:p>
        </p:txBody>
      </p:sp>
      <p:sp>
        <p:nvSpPr>
          <p:cNvPr id="3" name="Content Placeholder 2">
            <a:extLst>
              <a:ext uri="{FF2B5EF4-FFF2-40B4-BE49-F238E27FC236}">
                <a16:creationId xmlns:a16="http://schemas.microsoft.com/office/drawing/2014/main" id="{C0EF69D6-F078-7F92-C0CC-17BB6DA7E5F4}"/>
              </a:ext>
            </a:extLst>
          </p:cNvPr>
          <p:cNvSpPr>
            <a:spLocks noGrp="1"/>
          </p:cNvSpPr>
          <p:nvPr>
            <p:ph idx="1"/>
          </p:nvPr>
        </p:nvSpPr>
        <p:spPr>
          <a:xfrm>
            <a:off x="500019" y="1416784"/>
            <a:ext cx="11019328" cy="4998946"/>
          </a:xfrm>
        </p:spPr>
        <p:txBody>
          <a:bodyPr>
            <a:normAutofit fontScale="92500"/>
          </a:bodyPr>
          <a:lstStyle/>
          <a:p>
            <a:pPr marL="0" indent="0" algn="just">
              <a:buNone/>
            </a:pPr>
            <a:r>
              <a:rPr lang="en-US" dirty="0"/>
              <a:t>RMT is a hardware peripheral in the ESP32 designed for precise pulse-based communication, such as infrared (IR) signal transmission or decoding and custom remote control protocols.</a:t>
            </a:r>
            <a:endParaRPr lang="en-GB" dirty="0"/>
          </a:p>
          <a:p>
            <a:pPr algn="just"/>
            <a:r>
              <a:rPr lang="en-US" dirty="0"/>
              <a:t>The RMT peripheral generates or decodes pulses with precise timing, essential for remote control protocols</a:t>
            </a:r>
            <a:r>
              <a:rPr lang="en-GB" dirty="0"/>
              <a:t>.</a:t>
            </a:r>
          </a:p>
          <a:p>
            <a:pPr algn="just"/>
            <a:r>
              <a:rPr lang="en-US" dirty="0"/>
              <a:t>This is a hardware-driven interface, freeing up the CPU while ensuring reliable performance.</a:t>
            </a:r>
            <a:endParaRPr lang="en-GB" dirty="0"/>
          </a:p>
          <a:p>
            <a:pPr algn="just"/>
            <a:r>
              <a:rPr lang="en-US" dirty="0"/>
              <a:t>RMT can handle a wide range of protocols, including NEC for IR signals, as well as custom protocols for motor control or pulse-based sensors.</a:t>
            </a:r>
            <a:endParaRPr lang="en-GB" dirty="0"/>
          </a:p>
          <a:p>
            <a:pPr marL="0" indent="0" algn="just">
              <a:buNone/>
            </a:pPr>
            <a:r>
              <a:rPr lang="en-US" dirty="0"/>
              <a:t>RMT is often used for infrared remotes, signal decoding, and pulse width modulation in smart devices</a:t>
            </a:r>
            <a:r>
              <a:rPr lang="en-GB" dirty="0"/>
              <a:t>. </a:t>
            </a:r>
            <a:r>
              <a:rPr lang="en-US" dirty="0"/>
              <a:t>Use RMT to control home appliances via an IR remote or decode sensor signals that use pulse modulation.</a:t>
            </a:r>
          </a:p>
        </p:txBody>
      </p:sp>
    </p:spTree>
    <p:extLst>
      <p:ext uri="{BB962C8B-B14F-4D97-AF65-F5344CB8AC3E}">
        <p14:creationId xmlns:p14="http://schemas.microsoft.com/office/powerpoint/2010/main" val="27226888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C1417F-AB0E-4233-FE8D-A98B086BE039}"/>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RMT can use UART for IR Communication</a:t>
            </a:r>
          </a:p>
        </p:txBody>
      </p:sp>
      <p:pic>
        <p:nvPicPr>
          <p:cNvPr id="6" name="Content Placeholder 5">
            <a:extLst>
              <a:ext uri="{FF2B5EF4-FFF2-40B4-BE49-F238E27FC236}">
                <a16:creationId xmlns:a16="http://schemas.microsoft.com/office/drawing/2014/main" id="{70E65FBD-56CE-7C31-916B-80769B09FD5E}"/>
              </a:ext>
            </a:extLst>
          </p:cNvPr>
          <p:cNvPicPr>
            <a:picLocks noGrp="1" noChangeAspect="1"/>
          </p:cNvPicPr>
          <p:nvPr>
            <p:ph idx="1"/>
          </p:nvPr>
        </p:nvPicPr>
        <p:blipFill>
          <a:blip r:embed="rId2"/>
          <a:stretch>
            <a:fillRect/>
          </a:stretch>
        </p:blipFill>
        <p:spPr>
          <a:xfrm>
            <a:off x="623087" y="1063529"/>
            <a:ext cx="10945825" cy="3256381"/>
          </a:xfrm>
          <a:prstGeom prst="rect">
            <a:avLst/>
          </a:prstGeom>
        </p:spPr>
      </p:pic>
    </p:spTree>
    <p:extLst>
      <p:ext uri="{BB962C8B-B14F-4D97-AF65-F5344CB8AC3E}">
        <p14:creationId xmlns:p14="http://schemas.microsoft.com/office/powerpoint/2010/main" val="69916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16F6D60-97CE-8B43-6C07-63DF4EB07767}"/>
              </a:ext>
            </a:extLst>
          </p:cNvPr>
          <p:cNvPicPr>
            <a:picLocks noGrp="1" noChangeAspect="1"/>
          </p:cNvPicPr>
          <p:nvPr>
            <p:ph idx="1"/>
          </p:nvPr>
        </p:nvPicPr>
        <p:blipFill>
          <a:blip r:embed="rId2"/>
          <a:srcRect t="22323" r="-2" b="2716"/>
          <a:stretch/>
        </p:blipFill>
        <p:spPr>
          <a:xfrm>
            <a:off x="-6588" y="10"/>
            <a:ext cx="12198588" cy="6857990"/>
          </a:xfrm>
          <a:prstGeom prst="rect">
            <a:avLst/>
          </a:prstGeom>
        </p:spPr>
      </p:pic>
    </p:spTree>
    <p:extLst>
      <p:ext uri="{BB962C8B-B14F-4D97-AF65-F5344CB8AC3E}">
        <p14:creationId xmlns:p14="http://schemas.microsoft.com/office/powerpoint/2010/main" val="30400285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CF9D2-3DD7-3F18-C59D-1BA3D0A90DCA}"/>
              </a:ext>
            </a:extLst>
          </p:cNvPr>
          <p:cNvSpPr>
            <a:spLocks noGrp="1"/>
          </p:cNvSpPr>
          <p:nvPr>
            <p:ph type="title"/>
          </p:nvPr>
        </p:nvSpPr>
        <p:spPr>
          <a:xfrm>
            <a:off x="560517" y="69717"/>
            <a:ext cx="10515600" cy="1325563"/>
          </a:xfrm>
        </p:spPr>
        <p:txBody>
          <a:bodyPr/>
          <a:lstStyle/>
          <a:p>
            <a:pPr algn="just"/>
            <a:r>
              <a:rPr lang="en-GB" dirty="0"/>
              <a:t>Pulse Width Modulation</a:t>
            </a:r>
            <a:endParaRPr lang="en-US" dirty="0"/>
          </a:p>
        </p:txBody>
      </p:sp>
      <p:sp>
        <p:nvSpPr>
          <p:cNvPr id="3" name="Content Placeholder 2">
            <a:extLst>
              <a:ext uri="{FF2B5EF4-FFF2-40B4-BE49-F238E27FC236}">
                <a16:creationId xmlns:a16="http://schemas.microsoft.com/office/drawing/2014/main" id="{0953F4CA-7969-1557-890B-AC2A490C1630}"/>
              </a:ext>
            </a:extLst>
          </p:cNvPr>
          <p:cNvSpPr>
            <a:spLocks noGrp="1"/>
          </p:cNvSpPr>
          <p:nvPr>
            <p:ph idx="1"/>
          </p:nvPr>
        </p:nvSpPr>
        <p:spPr>
          <a:xfrm>
            <a:off x="266434" y="1188936"/>
            <a:ext cx="11757152" cy="5378201"/>
          </a:xfrm>
        </p:spPr>
        <p:txBody>
          <a:bodyPr>
            <a:noAutofit/>
          </a:bodyPr>
          <a:lstStyle/>
          <a:p>
            <a:pPr marL="0" indent="0" algn="just">
              <a:buNone/>
            </a:pPr>
            <a:r>
              <a:rPr lang="en-US" dirty="0"/>
              <a:t>PWM is a method of generating analog-like signals by rapidly switching a digital signal between on and off states. It's used to control the power delivered to devices or generate precise control signals.</a:t>
            </a:r>
            <a:endParaRPr lang="en-GB" dirty="0"/>
          </a:p>
          <a:p>
            <a:pPr algn="just"/>
            <a:r>
              <a:rPr lang="en-US" dirty="0"/>
              <a:t>The duty cycle (percentage of time the signal is high) can be adjusted to control devices like LEDs, motors, and actuators</a:t>
            </a:r>
            <a:r>
              <a:rPr lang="en-GB" dirty="0"/>
              <a:t>.</a:t>
            </a:r>
          </a:p>
          <a:p>
            <a:pPr algn="just"/>
            <a:r>
              <a:rPr lang="en-US" dirty="0"/>
              <a:t>PWM can also be used to generate signals for devices like servo motors, which require specific pulse widths to determine their position.</a:t>
            </a:r>
            <a:endParaRPr lang="en-GB" dirty="0"/>
          </a:p>
          <a:p>
            <a:pPr algn="just"/>
            <a:r>
              <a:rPr lang="en-US" dirty="0"/>
              <a:t>Provides efficient power control since the energy is switched on and off rapidly with minimal heat generation.</a:t>
            </a:r>
            <a:endParaRPr lang="en-GB" dirty="0"/>
          </a:p>
          <a:p>
            <a:pPr marL="0" indent="0" algn="just">
              <a:buNone/>
            </a:pPr>
            <a:r>
              <a:rPr lang="en-US" dirty="0"/>
              <a:t>Controlling LED brightness or DC motor speed by adjusting power levels.</a:t>
            </a:r>
            <a:r>
              <a:rPr lang="en-GB" dirty="0"/>
              <a:t> </a:t>
            </a:r>
            <a:r>
              <a:rPr lang="en-US" dirty="0"/>
              <a:t>Generating servo signals, where a specific pulse width (e.g., 1ms to 2ms) moves the servo to a certain angle in robotics applications.</a:t>
            </a:r>
          </a:p>
        </p:txBody>
      </p:sp>
    </p:spTree>
    <p:extLst>
      <p:ext uri="{BB962C8B-B14F-4D97-AF65-F5344CB8AC3E}">
        <p14:creationId xmlns:p14="http://schemas.microsoft.com/office/powerpoint/2010/main" val="21489761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276F8-CFB8-0AF1-98DA-00970F36946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It is Literally The Width of the Square Wave High Time</a:t>
            </a:r>
          </a:p>
        </p:txBody>
      </p:sp>
      <p:pic>
        <p:nvPicPr>
          <p:cNvPr id="6" name="Content Placeholder 5">
            <a:extLst>
              <a:ext uri="{FF2B5EF4-FFF2-40B4-BE49-F238E27FC236}">
                <a16:creationId xmlns:a16="http://schemas.microsoft.com/office/drawing/2014/main" id="{A03B6567-BF18-65E6-5840-604666ADAA2C}"/>
              </a:ext>
            </a:extLst>
          </p:cNvPr>
          <p:cNvPicPr>
            <a:picLocks noGrp="1" noChangeAspect="1"/>
          </p:cNvPicPr>
          <p:nvPr>
            <p:ph idx="1"/>
          </p:nvPr>
        </p:nvPicPr>
        <p:blipFill>
          <a:blip r:embed="rId2"/>
          <a:stretch>
            <a:fillRect/>
          </a:stretch>
        </p:blipFill>
        <p:spPr>
          <a:xfrm>
            <a:off x="4777316" y="1495336"/>
            <a:ext cx="6780700" cy="3864999"/>
          </a:xfrm>
          <a:prstGeom prst="rect">
            <a:avLst/>
          </a:prstGeom>
        </p:spPr>
      </p:pic>
    </p:spTree>
    <p:extLst>
      <p:ext uri="{BB962C8B-B14F-4D97-AF65-F5344CB8AC3E}">
        <p14:creationId xmlns:p14="http://schemas.microsoft.com/office/powerpoint/2010/main" val="717887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0394FE2-BDDA-4ECE-B320-81AE19E90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625AAC5-802A-4197-8804-2B78FF65C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C7125F-939F-0E60-2D9A-E5356B5FA4B9}"/>
              </a:ext>
            </a:extLst>
          </p:cNvPr>
          <p:cNvSpPr>
            <a:spLocks noGrp="1"/>
          </p:cNvSpPr>
          <p:nvPr>
            <p:ph type="title"/>
          </p:nvPr>
        </p:nvSpPr>
        <p:spPr>
          <a:xfrm>
            <a:off x="2103120" y="310896"/>
            <a:ext cx="7982712" cy="868680"/>
          </a:xfrm>
        </p:spPr>
        <p:txBody>
          <a:bodyPr vert="horz" lIns="91440" tIns="45720" rIns="91440" bIns="45720" rtlCol="0" anchor="ctr">
            <a:normAutofit/>
          </a:bodyPr>
          <a:lstStyle/>
          <a:p>
            <a:pPr algn="ctr"/>
            <a:r>
              <a:rPr lang="en-GB" sz="4000" kern="1200" dirty="0">
                <a:solidFill>
                  <a:schemeClr val="tx1"/>
                </a:solidFill>
                <a:latin typeface="+mj-lt"/>
                <a:ea typeface="+mj-ea"/>
                <a:cs typeface="+mj-cs"/>
              </a:rPr>
              <a:t>PWM Signal and Power Applications</a:t>
            </a:r>
            <a:endParaRPr lang="en-US" sz="4000" kern="1200" dirty="0">
              <a:solidFill>
                <a:schemeClr val="tx1"/>
              </a:solidFill>
              <a:latin typeface="+mj-lt"/>
              <a:ea typeface="+mj-ea"/>
              <a:cs typeface="+mj-cs"/>
            </a:endParaRPr>
          </a:p>
        </p:txBody>
      </p:sp>
      <p:sp>
        <p:nvSpPr>
          <p:cNvPr id="18" name="Rectangle: Rounded Corners 17">
            <a:extLst>
              <a:ext uri="{FF2B5EF4-FFF2-40B4-BE49-F238E27FC236}">
                <a16:creationId xmlns:a16="http://schemas.microsoft.com/office/drawing/2014/main" id="{A1B139DD-0E8D-42FA-9171-C5F001754A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6" name="Content Placeholder 5">
            <a:extLst>
              <a:ext uri="{FF2B5EF4-FFF2-40B4-BE49-F238E27FC236}">
                <a16:creationId xmlns:a16="http://schemas.microsoft.com/office/drawing/2014/main" id="{548FB765-A231-8740-0F32-1F6494274D15}"/>
              </a:ext>
            </a:extLst>
          </p:cNvPr>
          <p:cNvPicPr>
            <a:picLocks noGrp="1" noChangeAspect="1"/>
          </p:cNvPicPr>
          <p:nvPr>
            <p:ph idx="1"/>
          </p:nvPr>
        </p:nvPicPr>
        <p:blipFill>
          <a:blip r:embed="rId2"/>
          <a:srcRect t="2393" r="3" b="3"/>
          <a:stretch/>
        </p:blipFill>
        <p:spPr>
          <a:xfrm>
            <a:off x="419830" y="2128345"/>
            <a:ext cx="5577840" cy="4083269"/>
          </a:xfrm>
          <a:prstGeom prst="rect">
            <a:avLst/>
          </a:prstGeom>
        </p:spPr>
      </p:pic>
      <p:pic>
        <p:nvPicPr>
          <p:cNvPr id="9" name="Picture 8">
            <a:extLst>
              <a:ext uri="{FF2B5EF4-FFF2-40B4-BE49-F238E27FC236}">
                <a16:creationId xmlns:a16="http://schemas.microsoft.com/office/drawing/2014/main" id="{12922734-5B62-4810-F34F-77D7D729CA56}"/>
              </a:ext>
            </a:extLst>
          </p:cNvPr>
          <p:cNvPicPr>
            <a:picLocks noChangeAspect="1"/>
          </p:cNvPicPr>
          <p:nvPr/>
        </p:nvPicPr>
        <p:blipFill>
          <a:blip r:embed="rId3"/>
          <a:srcRect l="11663" t="78" r="11558" b="-82"/>
          <a:stretch/>
        </p:blipFill>
        <p:spPr>
          <a:xfrm>
            <a:off x="6194332" y="2128367"/>
            <a:ext cx="5577840" cy="4086603"/>
          </a:xfrm>
          <a:prstGeom prst="rect">
            <a:avLst/>
          </a:prstGeom>
        </p:spPr>
      </p:pic>
    </p:spTree>
    <p:extLst>
      <p:ext uri="{BB962C8B-B14F-4D97-AF65-F5344CB8AC3E}">
        <p14:creationId xmlns:p14="http://schemas.microsoft.com/office/powerpoint/2010/main" val="22334131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3B01615-E113-E82F-1E7E-86C7FE43E472}"/>
              </a:ext>
            </a:extLst>
          </p:cNvPr>
          <p:cNvPicPr>
            <a:picLocks noGrp="1" noChangeAspect="1"/>
          </p:cNvPicPr>
          <p:nvPr>
            <p:ph idx="1"/>
          </p:nvPr>
        </p:nvPicPr>
        <p:blipFill>
          <a:blip r:embed="rId2"/>
          <a:srcRect t="7376" b="7719"/>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62C435-659D-2F1B-7767-A5CF1CA56335}"/>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GB" sz="3600" dirty="0">
                <a:solidFill>
                  <a:schemeClr val="tx1">
                    <a:lumMod val="85000"/>
                    <a:lumOff val="15000"/>
                  </a:schemeClr>
                </a:solidFill>
              </a:rPr>
              <a:t>More Input Options</a:t>
            </a:r>
            <a:endParaRPr lang="en-US" sz="3600" dirty="0">
              <a:solidFill>
                <a:schemeClr val="tx1">
                  <a:lumMod val="85000"/>
                  <a:lumOff val="15000"/>
                </a:schemeClr>
              </a:solidFill>
            </a:endParaRP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7253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C3A6-A059-7B25-67D7-39F998F6BAB6}"/>
              </a:ext>
            </a:extLst>
          </p:cNvPr>
          <p:cNvSpPr>
            <a:spLocks noGrp="1"/>
          </p:cNvSpPr>
          <p:nvPr>
            <p:ph type="title"/>
          </p:nvPr>
        </p:nvSpPr>
        <p:spPr>
          <a:xfrm>
            <a:off x="309500" y="-54094"/>
            <a:ext cx="10515600" cy="1325563"/>
          </a:xfrm>
        </p:spPr>
        <p:txBody>
          <a:bodyPr/>
          <a:lstStyle/>
          <a:p>
            <a:r>
              <a:rPr lang="en-GB" dirty="0"/>
              <a:t>Touch Sensing</a:t>
            </a:r>
            <a:endParaRPr lang="en-US" dirty="0"/>
          </a:p>
        </p:txBody>
      </p:sp>
      <p:sp>
        <p:nvSpPr>
          <p:cNvPr id="3" name="Content Placeholder 2">
            <a:extLst>
              <a:ext uri="{FF2B5EF4-FFF2-40B4-BE49-F238E27FC236}">
                <a16:creationId xmlns:a16="http://schemas.microsoft.com/office/drawing/2014/main" id="{3EB2BBC4-782E-EE0A-8FE1-43E3EC3D7270}"/>
              </a:ext>
            </a:extLst>
          </p:cNvPr>
          <p:cNvSpPr>
            <a:spLocks noGrp="1"/>
          </p:cNvSpPr>
          <p:nvPr>
            <p:ph idx="1"/>
          </p:nvPr>
        </p:nvSpPr>
        <p:spPr>
          <a:xfrm>
            <a:off x="437335" y="1023833"/>
            <a:ext cx="11437445" cy="5469043"/>
          </a:xfrm>
        </p:spPr>
        <p:txBody>
          <a:bodyPr>
            <a:noAutofit/>
          </a:bodyPr>
          <a:lstStyle/>
          <a:p>
            <a:pPr marL="0" indent="0" algn="just">
              <a:buNone/>
            </a:pPr>
            <a:r>
              <a:rPr lang="en-US" dirty="0"/>
              <a:t>The ESP32 has a built-in capacitive touch sensor system that allows touch input detection without mechanical buttons.</a:t>
            </a:r>
            <a:endParaRPr lang="en-GB" dirty="0"/>
          </a:p>
          <a:p>
            <a:pPr algn="just"/>
            <a:r>
              <a:rPr lang="en-US" dirty="0"/>
              <a:t>Detects changes in capacitance when a human finger (or conductive object) approaches a sensor pad.</a:t>
            </a:r>
            <a:endParaRPr lang="en-GB" dirty="0"/>
          </a:p>
          <a:p>
            <a:pPr algn="just"/>
            <a:r>
              <a:rPr lang="en-US" dirty="0"/>
              <a:t>Supports up to 10 touch channels, allowing multiple </a:t>
            </a:r>
            <a:r>
              <a:rPr lang="en-US" dirty="0" err="1"/>
              <a:t>touchpoints</a:t>
            </a:r>
            <a:r>
              <a:rPr lang="en-US" dirty="0"/>
              <a:t> to be monitored simultaneously.</a:t>
            </a:r>
            <a:endParaRPr lang="en-GB" dirty="0"/>
          </a:p>
          <a:p>
            <a:pPr algn="just"/>
            <a:r>
              <a:rPr lang="en-US" dirty="0"/>
              <a:t>Since touch sensors have no moving parts, they are highly durable and do not degrade over time like physical buttons.</a:t>
            </a:r>
            <a:endParaRPr lang="en-GB" dirty="0"/>
          </a:p>
          <a:p>
            <a:pPr marL="0" indent="0" algn="just">
              <a:buNone/>
            </a:pPr>
            <a:r>
              <a:rPr lang="en-US" dirty="0"/>
              <a:t>Touch sensors are commonly used for creating touch-based user interfaces, such as in smart home control panels, touchpads, or gesture-based control systems.</a:t>
            </a:r>
            <a:r>
              <a:rPr lang="en-GB" dirty="0"/>
              <a:t> </a:t>
            </a:r>
            <a:r>
              <a:rPr lang="en-US" dirty="0"/>
              <a:t>An ESP32 touch sensor could be used to control light dimming or appliance control by detecting finger touches on a wall-mounted touchpad.</a:t>
            </a:r>
          </a:p>
        </p:txBody>
      </p:sp>
    </p:spTree>
    <p:extLst>
      <p:ext uri="{BB962C8B-B14F-4D97-AF65-F5344CB8AC3E}">
        <p14:creationId xmlns:p14="http://schemas.microsoft.com/office/powerpoint/2010/main" val="15381603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771385-2F3C-E7DB-4763-999F5C1303A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GB" sz="6600" dirty="0"/>
              <a:t>Touch Modules</a:t>
            </a:r>
            <a:endParaRPr lang="en-US" sz="6600" dirty="0"/>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726A32B-4E18-0DA0-C753-3870D80332C9}"/>
              </a:ext>
            </a:extLst>
          </p:cNvPr>
          <p:cNvPicPr>
            <a:picLocks noChangeAspect="1"/>
          </p:cNvPicPr>
          <p:nvPr/>
        </p:nvPicPr>
        <p:blipFill>
          <a:blip r:embed="rId2"/>
          <a:stretch>
            <a:fillRect/>
          </a:stretch>
        </p:blipFill>
        <p:spPr>
          <a:xfrm>
            <a:off x="614507" y="2642616"/>
            <a:ext cx="5025482" cy="3605784"/>
          </a:xfrm>
          <a:prstGeom prst="rect">
            <a:avLst/>
          </a:prstGeom>
        </p:spPr>
      </p:pic>
      <p:pic>
        <p:nvPicPr>
          <p:cNvPr id="9" name="Content Placeholder 8">
            <a:extLst>
              <a:ext uri="{FF2B5EF4-FFF2-40B4-BE49-F238E27FC236}">
                <a16:creationId xmlns:a16="http://schemas.microsoft.com/office/drawing/2014/main" id="{2E5B2EC5-6118-F770-9003-B73FC36B65A4}"/>
              </a:ext>
            </a:extLst>
          </p:cNvPr>
          <p:cNvPicPr>
            <a:picLocks noGrp="1" noChangeAspect="1"/>
          </p:cNvPicPr>
          <p:nvPr>
            <p:ph idx="1"/>
          </p:nvPr>
        </p:nvPicPr>
        <p:blipFill>
          <a:blip r:embed="rId3"/>
          <a:stretch>
            <a:fillRect/>
          </a:stretch>
        </p:blipFill>
        <p:spPr>
          <a:xfrm>
            <a:off x="6254496" y="3448949"/>
            <a:ext cx="5614416" cy="1993117"/>
          </a:xfrm>
          <a:prstGeom prst="rect">
            <a:avLst/>
          </a:prstGeom>
        </p:spPr>
      </p:pic>
    </p:spTree>
    <p:extLst>
      <p:ext uri="{BB962C8B-B14F-4D97-AF65-F5344CB8AC3E}">
        <p14:creationId xmlns:p14="http://schemas.microsoft.com/office/powerpoint/2010/main" val="39591934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A73D-123A-3C38-FCCA-B75A851061B8}"/>
              </a:ext>
            </a:extLst>
          </p:cNvPr>
          <p:cNvSpPr>
            <a:spLocks noGrp="1"/>
          </p:cNvSpPr>
          <p:nvPr>
            <p:ph type="title"/>
          </p:nvPr>
        </p:nvSpPr>
        <p:spPr/>
        <p:txBody>
          <a:bodyPr/>
          <a:lstStyle/>
          <a:p>
            <a:r>
              <a:rPr lang="en-GB" dirty="0"/>
              <a:t>Digital to Analog Converter</a:t>
            </a:r>
            <a:endParaRPr lang="en-US" dirty="0"/>
          </a:p>
        </p:txBody>
      </p:sp>
      <p:sp>
        <p:nvSpPr>
          <p:cNvPr id="3" name="Content Placeholder 2">
            <a:extLst>
              <a:ext uri="{FF2B5EF4-FFF2-40B4-BE49-F238E27FC236}">
                <a16:creationId xmlns:a16="http://schemas.microsoft.com/office/drawing/2014/main" id="{501BA6EF-91A0-8CA3-E9AE-68121F1C67A9}"/>
              </a:ext>
            </a:extLst>
          </p:cNvPr>
          <p:cNvSpPr>
            <a:spLocks noGrp="1"/>
          </p:cNvSpPr>
          <p:nvPr>
            <p:ph idx="1"/>
          </p:nvPr>
        </p:nvSpPr>
        <p:spPr/>
        <p:txBody>
          <a:bodyPr>
            <a:normAutofit fontScale="92500" lnSpcReduction="20000"/>
          </a:bodyPr>
          <a:lstStyle/>
          <a:p>
            <a:pPr marL="0" indent="0" algn="just">
              <a:buNone/>
            </a:pPr>
            <a:r>
              <a:rPr lang="en-US" dirty="0"/>
              <a:t>The ESP32 has two 8-bit DAC channels for converting digital values into analog voltage signals.</a:t>
            </a:r>
            <a:endParaRPr lang="en-GB" dirty="0"/>
          </a:p>
          <a:p>
            <a:pPr algn="just"/>
            <a:r>
              <a:rPr lang="en-US" dirty="0"/>
              <a:t>Each DAC channel has a resolution of 8 bits, meaning it can output 256 discrete levels of voltage, ranging from 0V to the reference voltage (typically 3.3V).</a:t>
            </a:r>
            <a:endParaRPr lang="en-GB" dirty="0"/>
          </a:p>
          <a:p>
            <a:pPr algn="just"/>
            <a:r>
              <a:rPr lang="en-US" dirty="0"/>
              <a:t>The ESP32 has two DAC channels, which can be used for applications like stereo audio generation or controlling multiple analog devices independently.</a:t>
            </a:r>
            <a:endParaRPr lang="en-GB" dirty="0"/>
          </a:p>
          <a:p>
            <a:pPr algn="just"/>
            <a:r>
              <a:rPr lang="en-US" dirty="0"/>
              <a:t>The DACs can be used to generate sound waves, control analog actuators, or create smooth analog outputs from digital data.</a:t>
            </a:r>
            <a:endParaRPr lang="en-GB" dirty="0"/>
          </a:p>
          <a:p>
            <a:pPr algn="just"/>
            <a:r>
              <a:rPr lang="en-US" dirty="0"/>
              <a:t>DAC1 (GPIO25) and DAC2 (GPIO26) allow the ESP32 to generate analog signals for audio applications, waveform generation, or driving devices that require an analog control signal</a:t>
            </a:r>
            <a:r>
              <a:rPr lang="en-GB" dirty="0"/>
              <a:t>.</a:t>
            </a:r>
            <a:endParaRPr lang="en-US" dirty="0"/>
          </a:p>
        </p:txBody>
      </p:sp>
    </p:spTree>
    <p:extLst>
      <p:ext uri="{BB962C8B-B14F-4D97-AF65-F5344CB8AC3E}">
        <p14:creationId xmlns:p14="http://schemas.microsoft.com/office/powerpoint/2010/main" val="385677191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E830C8-3BFD-0C24-EED8-30F759C1A80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dirty="0">
                <a:solidFill>
                  <a:schemeClr val="bg1"/>
                </a:solidFill>
                <a:latin typeface="+mj-lt"/>
                <a:ea typeface="+mj-ea"/>
                <a:cs typeface="+mj-cs"/>
              </a:rPr>
              <a:t>To and Fro Conversion Diagram</a:t>
            </a:r>
            <a:endParaRPr lang="en-US" sz="3200" kern="1200" dirty="0">
              <a:solidFill>
                <a:schemeClr val="bg1"/>
              </a:solidFill>
              <a:latin typeface="+mj-lt"/>
              <a:ea typeface="+mj-ea"/>
              <a:cs typeface="+mj-cs"/>
            </a:endParaRPr>
          </a:p>
        </p:txBody>
      </p:sp>
      <p:pic>
        <p:nvPicPr>
          <p:cNvPr id="4" name="Picture 3">
            <a:extLst>
              <a:ext uri="{FF2B5EF4-FFF2-40B4-BE49-F238E27FC236}">
                <a16:creationId xmlns:a16="http://schemas.microsoft.com/office/drawing/2014/main" id="{092300AA-1500-503F-261F-DEEF962C01F3}"/>
              </a:ext>
            </a:extLst>
          </p:cNvPr>
          <p:cNvPicPr>
            <a:picLocks noChangeAspect="1"/>
          </p:cNvPicPr>
          <p:nvPr/>
        </p:nvPicPr>
        <p:blipFill>
          <a:blip r:embed="rId2">
            <a:extLst>
              <a:ext uri="{28A0092B-C50C-407E-A947-70E740481C1C}">
                <a14:useLocalDpi xmlns:a14="http://schemas.microsoft.com/office/drawing/2010/main" val="0"/>
              </a:ext>
            </a:extLst>
          </a:blip>
          <a:srcRect b="36637"/>
          <a:stretch/>
        </p:blipFill>
        <p:spPr>
          <a:xfrm>
            <a:off x="17318" y="2061295"/>
            <a:ext cx="12144591" cy="3482036"/>
          </a:xfrm>
          <a:prstGeom prst="rect">
            <a:avLst/>
          </a:prstGeom>
        </p:spPr>
      </p:pic>
    </p:spTree>
    <p:extLst>
      <p:ext uri="{BB962C8B-B14F-4D97-AF65-F5344CB8AC3E}">
        <p14:creationId xmlns:p14="http://schemas.microsoft.com/office/powerpoint/2010/main" val="32784143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D4D61B-DFEB-88D5-D3F6-88836AE9C26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Used to Generate an AC or DC Voltage</a:t>
            </a:r>
          </a:p>
        </p:txBody>
      </p:sp>
      <p:pic>
        <p:nvPicPr>
          <p:cNvPr id="6" name="Content Placeholder 5">
            <a:extLst>
              <a:ext uri="{FF2B5EF4-FFF2-40B4-BE49-F238E27FC236}">
                <a16:creationId xmlns:a16="http://schemas.microsoft.com/office/drawing/2014/main" id="{A36F8691-88FC-A599-FDF6-C5C6744F4383}"/>
              </a:ext>
            </a:extLst>
          </p:cNvPr>
          <p:cNvPicPr>
            <a:picLocks noGrp="1" noChangeAspect="1"/>
          </p:cNvPicPr>
          <p:nvPr>
            <p:ph idx="1"/>
          </p:nvPr>
        </p:nvPicPr>
        <p:blipFill>
          <a:blip r:embed="rId2"/>
          <a:stretch>
            <a:fillRect/>
          </a:stretch>
        </p:blipFill>
        <p:spPr>
          <a:xfrm>
            <a:off x="4777316" y="1054590"/>
            <a:ext cx="6780700" cy="4746490"/>
          </a:xfrm>
          <a:prstGeom prst="rect">
            <a:avLst/>
          </a:prstGeom>
        </p:spPr>
      </p:pic>
    </p:spTree>
    <p:extLst>
      <p:ext uri="{BB962C8B-B14F-4D97-AF65-F5344CB8AC3E}">
        <p14:creationId xmlns:p14="http://schemas.microsoft.com/office/powerpoint/2010/main" val="15703344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C72536-472D-A3ED-2529-1E3870ECE95D}"/>
              </a:ext>
            </a:extLst>
          </p:cNvPr>
          <p:cNvSpPr>
            <a:spLocks noGrp="1"/>
          </p:cNvSpPr>
          <p:nvPr>
            <p:ph type="title"/>
          </p:nvPr>
        </p:nvSpPr>
        <p:spPr>
          <a:xfrm>
            <a:off x="429768" y="411480"/>
            <a:ext cx="11201400" cy="1106424"/>
          </a:xfrm>
        </p:spPr>
        <p:txBody>
          <a:bodyPr>
            <a:normAutofit/>
          </a:bodyPr>
          <a:lstStyle/>
          <a:p>
            <a:r>
              <a:rPr lang="en-GB" sz="3600"/>
              <a:t>Even Digital Potentiometers Can be Made</a:t>
            </a:r>
            <a:endParaRPr lang="en-US" sz="3600"/>
          </a:p>
        </p:txBody>
      </p:sp>
      <p:sp>
        <p:nvSpPr>
          <p:cNvPr id="21" name="Rectangle 2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DF6AE9BB-25DB-4385-50B2-B15C7BD22940}"/>
              </a:ext>
            </a:extLst>
          </p:cNvPr>
          <p:cNvPicPr>
            <a:picLocks noChangeAspect="1"/>
          </p:cNvPicPr>
          <p:nvPr/>
        </p:nvPicPr>
        <p:blipFill>
          <a:blip r:embed="rId2"/>
          <a:srcRect r="6189" b="1"/>
          <a:stretch/>
        </p:blipFill>
        <p:spPr>
          <a:xfrm>
            <a:off x="429768" y="1721922"/>
            <a:ext cx="6704891" cy="4520559"/>
          </a:xfrm>
          <a:prstGeom prst="rect">
            <a:avLst/>
          </a:prstGeom>
        </p:spPr>
      </p:pic>
      <p:sp useBgFill="1">
        <p:nvSpPr>
          <p:cNvPr id="22" name="Rectangle 2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Content Placeholder 9">
            <a:extLst>
              <a:ext uri="{FF2B5EF4-FFF2-40B4-BE49-F238E27FC236}">
                <a16:creationId xmlns:a16="http://schemas.microsoft.com/office/drawing/2014/main" id="{87A1E783-B747-07BE-960C-E4C68DD07AAD}"/>
              </a:ext>
            </a:extLst>
          </p:cNvPr>
          <p:cNvSpPr>
            <a:spLocks noGrp="1"/>
          </p:cNvSpPr>
          <p:nvPr>
            <p:ph idx="1"/>
          </p:nvPr>
        </p:nvSpPr>
        <p:spPr>
          <a:xfrm>
            <a:off x="7938752" y="2020824"/>
            <a:ext cx="3455097" cy="3959352"/>
          </a:xfrm>
        </p:spPr>
        <p:txBody>
          <a:bodyPr anchor="ctr">
            <a:normAutofit/>
          </a:bodyPr>
          <a:lstStyle/>
          <a:p>
            <a:r>
              <a:rPr lang="en-GB" sz="1800" dirty="0"/>
              <a:t>Just Remember the Output has a  DC Offset</a:t>
            </a:r>
          </a:p>
          <a:p>
            <a:r>
              <a:rPr lang="en-GB" sz="1800" dirty="0"/>
              <a:t>Which means a DC Blocking Capacitor is Needed for true AC Voltage Generation</a:t>
            </a:r>
            <a:endParaRPr lang="en-US" sz="1800" dirty="0"/>
          </a:p>
        </p:txBody>
      </p:sp>
    </p:spTree>
    <p:extLst>
      <p:ext uri="{BB962C8B-B14F-4D97-AF65-F5344CB8AC3E}">
        <p14:creationId xmlns:p14="http://schemas.microsoft.com/office/powerpoint/2010/main" val="6845322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72718-F76B-C8C5-4793-C6908159A517}"/>
              </a:ext>
            </a:extLst>
          </p:cNvPr>
          <p:cNvSpPr>
            <a:spLocks noGrp="1"/>
          </p:cNvSpPr>
          <p:nvPr>
            <p:ph type="title"/>
          </p:nvPr>
        </p:nvSpPr>
        <p:spPr>
          <a:xfrm>
            <a:off x="226503" y="-45586"/>
            <a:ext cx="10515600" cy="1325563"/>
          </a:xfrm>
        </p:spPr>
        <p:txBody>
          <a:bodyPr/>
          <a:lstStyle/>
          <a:p>
            <a:r>
              <a:rPr lang="en-GB" dirty="0"/>
              <a:t>Analog to Digital Conversion</a:t>
            </a:r>
            <a:endParaRPr lang="en-US" dirty="0"/>
          </a:p>
        </p:txBody>
      </p:sp>
      <p:sp>
        <p:nvSpPr>
          <p:cNvPr id="3" name="Content Placeholder 2">
            <a:extLst>
              <a:ext uri="{FF2B5EF4-FFF2-40B4-BE49-F238E27FC236}">
                <a16:creationId xmlns:a16="http://schemas.microsoft.com/office/drawing/2014/main" id="{9283F0ED-B829-E93B-20C0-339A721C3E5E}"/>
              </a:ext>
            </a:extLst>
          </p:cNvPr>
          <p:cNvSpPr>
            <a:spLocks noGrp="1"/>
          </p:cNvSpPr>
          <p:nvPr>
            <p:ph idx="1"/>
          </p:nvPr>
        </p:nvSpPr>
        <p:spPr>
          <a:xfrm>
            <a:off x="218468" y="1091304"/>
            <a:ext cx="11619930" cy="5461728"/>
          </a:xfrm>
        </p:spPr>
        <p:txBody>
          <a:bodyPr>
            <a:noAutofit/>
          </a:bodyPr>
          <a:lstStyle/>
          <a:p>
            <a:pPr marL="0" indent="0" algn="just">
              <a:buNone/>
            </a:pPr>
            <a:r>
              <a:rPr lang="en-US" sz="2400" dirty="0"/>
              <a:t>The ESP32 has multiple 12-bit ADC channels that convert analog voltages into digital values for processing.</a:t>
            </a:r>
            <a:r>
              <a:rPr lang="en-GB" sz="2400" dirty="0"/>
              <a:t> </a:t>
            </a:r>
            <a:r>
              <a:rPr lang="en-US" sz="2400" dirty="0"/>
              <a:t>Each ADC has a resolution of 12 bits, providing 4096 discrete levels to represent the input voltage. This allows for more precise measurements compared to lower bit-depth ADCs.</a:t>
            </a:r>
            <a:endParaRPr lang="en-GB" sz="2400" dirty="0"/>
          </a:p>
          <a:p>
            <a:pPr algn="just"/>
            <a:r>
              <a:rPr lang="en-US" sz="2400" dirty="0"/>
              <a:t>The ESP32 has 18 ADC channels, spread across two ADC units (ADC1 and ADC2). These channels are mapped to different GPIO pins.</a:t>
            </a:r>
            <a:endParaRPr lang="en-GB" sz="2400" dirty="0"/>
          </a:p>
          <a:p>
            <a:pPr algn="just"/>
            <a:r>
              <a:rPr lang="en-US" sz="2400" dirty="0"/>
              <a:t>The ADC supports a voltage input range from 0V to </a:t>
            </a:r>
            <a:r>
              <a:rPr lang="en-GB" sz="2400" dirty="0"/>
              <a:t>1</a:t>
            </a:r>
            <a:r>
              <a:rPr lang="en-US" sz="2400" dirty="0"/>
              <a:t>.</a:t>
            </a:r>
            <a:r>
              <a:rPr lang="en-GB" sz="2400" dirty="0"/>
              <a:t>1</a:t>
            </a:r>
            <a:r>
              <a:rPr lang="en-US" sz="2400" dirty="0"/>
              <a:t>V</a:t>
            </a:r>
            <a:r>
              <a:rPr lang="en-GB" sz="2400" dirty="0"/>
              <a:t> with an attenuation of 0dB though the Arduino IDE sets it to 11dB to allow up to 3.3 while ESP Home does Not</a:t>
            </a:r>
            <a:r>
              <a:rPr lang="en-US" sz="2400" dirty="0"/>
              <a:t>, making it suitable for reading sensor values like temperature, light, and humidity.</a:t>
            </a:r>
            <a:r>
              <a:rPr lang="en-GB" sz="2400" dirty="0"/>
              <a:t> </a:t>
            </a:r>
          </a:p>
          <a:p>
            <a:pPr algn="just"/>
            <a:r>
              <a:rPr lang="en-US" sz="2400" dirty="0"/>
              <a:t>ADC1 Channels:GPIO32 to GPIO39 (8 channels)</a:t>
            </a:r>
            <a:endParaRPr lang="en-GB" sz="2400" dirty="0"/>
          </a:p>
          <a:p>
            <a:pPr algn="just"/>
            <a:r>
              <a:rPr lang="en-US" sz="2400" dirty="0"/>
              <a:t>ADC2 Channels:GPIO0, GPIO2, GPIO4, GPIO12 to GPIO15, GPIO25 to GPIO27 (10 channels)</a:t>
            </a:r>
            <a:endParaRPr lang="en-GB" sz="2400" dirty="0"/>
          </a:p>
          <a:p>
            <a:pPr algn="just"/>
            <a:r>
              <a:rPr lang="en-US" sz="2400" dirty="0"/>
              <a:t>ADC1 is commonly used when you want to measure analog inputs while keeping Wi-Fi enabled, as ADC2 cannot be used when Wi-Fi is active</a:t>
            </a:r>
            <a:r>
              <a:rPr lang="en-GB" sz="2400" dirty="0"/>
              <a:t>.</a:t>
            </a:r>
            <a:endParaRPr lang="en-US" sz="2400" dirty="0"/>
          </a:p>
        </p:txBody>
      </p:sp>
    </p:spTree>
    <p:extLst>
      <p:ext uri="{BB962C8B-B14F-4D97-AF65-F5344CB8AC3E}">
        <p14:creationId xmlns:p14="http://schemas.microsoft.com/office/powerpoint/2010/main" val="12631890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2FD6353-B39D-EAC6-D697-04C52DA02184}"/>
              </a:ext>
            </a:extLst>
          </p:cNvPr>
          <p:cNvPicPr>
            <a:picLocks noGrp="1" noChangeAspect="1"/>
          </p:cNvPicPr>
          <p:nvPr>
            <p:ph idx="1"/>
          </p:nvPr>
        </p:nvPicPr>
        <p:blipFill>
          <a:blip r:embed="rId2"/>
          <a:srcRect l="500" r="834" b="-1"/>
          <a:stretch/>
        </p:blipFill>
        <p:spPr>
          <a:xfrm>
            <a:off x="-6588" y="10"/>
            <a:ext cx="12198588" cy="6857990"/>
          </a:xfrm>
          <a:prstGeom prst="rect">
            <a:avLst/>
          </a:prstGeom>
        </p:spPr>
      </p:pic>
    </p:spTree>
    <p:extLst>
      <p:ext uri="{BB962C8B-B14F-4D97-AF65-F5344CB8AC3E}">
        <p14:creationId xmlns:p14="http://schemas.microsoft.com/office/powerpoint/2010/main" val="23311205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7CD46A-628C-E3AC-7016-BC86DF2C8EDE}"/>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Analog Sensor Interfacing</a:t>
            </a:r>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E9CB1159-D1DE-D624-4E2E-EDDB03DF93DD}"/>
              </a:ext>
            </a:extLst>
          </p:cNvPr>
          <p:cNvPicPr>
            <a:picLocks noGrp="1" noChangeAspect="1"/>
          </p:cNvPicPr>
          <p:nvPr>
            <p:ph idx="1"/>
          </p:nvPr>
        </p:nvPicPr>
        <p:blipFill>
          <a:blip r:embed="rId2"/>
          <a:stretch>
            <a:fillRect/>
          </a:stretch>
        </p:blipFill>
        <p:spPr>
          <a:xfrm>
            <a:off x="1997436" y="2642616"/>
            <a:ext cx="2259624" cy="3605784"/>
          </a:xfrm>
          <a:prstGeom prst="rect">
            <a:avLst/>
          </a:prstGeom>
        </p:spPr>
      </p:pic>
      <p:pic>
        <p:nvPicPr>
          <p:cNvPr id="6" name="Picture 5">
            <a:extLst>
              <a:ext uri="{FF2B5EF4-FFF2-40B4-BE49-F238E27FC236}">
                <a16:creationId xmlns:a16="http://schemas.microsoft.com/office/drawing/2014/main" id="{FA9946FA-B1D9-A15D-FD00-6392F063534A}"/>
              </a:ext>
            </a:extLst>
          </p:cNvPr>
          <p:cNvPicPr>
            <a:picLocks noChangeAspect="1"/>
          </p:cNvPicPr>
          <p:nvPr/>
        </p:nvPicPr>
        <p:blipFill>
          <a:blip r:embed="rId3"/>
          <a:stretch>
            <a:fillRect/>
          </a:stretch>
        </p:blipFill>
        <p:spPr>
          <a:xfrm>
            <a:off x="6689477" y="2642616"/>
            <a:ext cx="4744453" cy="3605784"/>
          </a:xfrm>
          <a:prstGeom prst="rect">
            <a:avLst/>
          </a:prstGeom>
        </p:spPr>
      </p:pic>
    </p:spTree>
    <p:extLst>
      <p:ext uri="{BB962C8B-B14F-4D97-AF65-F5344CB8AC3E}">
        <p14:creationId xmlns:p14="http://schemas.microsoft.com/office/powerpoint/2010/main" val="1893315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DA216DF-C268-4A25-A2DC-51E15F550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FE58E0-3A37-47E6-B8E6-8775E309E7D2}"/>
              </a:ext>
            </a:extLst>
          </p:cNvPr>
          <p:cNvSpPr>
            <a:spLocks noGrp="1"/>
          </p:cNvSpPr>
          <p:nvPr>
            <p:ph type="title"/>
          </p:nvPr>
        </p:nvSpPr>
        <p:spPr>
          <a:xfrm>
            <a:off x="638881" y="4474080"/>
            <a:ext cx="10909640" cy="1065836"/>
          </a:xfrm>
        </p:spPr>
        <p:txBody>
          <a:bodyPr vert="horz" lIns="91440" tIns="45720" rIns="91440" bIns="45720" rtlCol="0" anchor="ctr">
            <a:normAutofit/>
          </a:bodyPr>
          <a:lstStyle/>
          <a:p>
            <a:pPr algn="ctr"/>
            <a:r>
              <a:rPr lang="en-US" sz="6600"/>
              <a:t>ANY THING</a:t>
            </a:r>
          </a:p>
        </p:txBody>
      </p:sp>
      <p:pic>
        <p:nvPicPr>
          <p:cNvPr id="6" name="Picture 5">
            <a:extLst>
              <a:ext uri="{FF2B5EF4-FFF2-40B4-BE49-F238E27FC236}">
                <a16:creationId xmlns:a16="http://schemas.microsoft.com/office/drawing/2014/main" id="{B382E944-CBEB-C48B-57B8-B79601E4CE11}"/>
              </a:ext>
            </a:extLst>
          </p:cNvPr>
          <p:cNvPicPr>
            <a:picLocks noChangeAspect="1"/>
          </p:cNvPicPr>
          <p:nvPr/>
        </p:nvPicPr>
        <p:blipFill>
          <a:blip r:embed="rId2"/>
          <a:stretch>
            <a:fillRect/>
          </a:stretch>
        </p:blipFill>
        <p:spPr>
          <a:xfrm>
            <a:off x="301752" y="329184"/>
            <a:ext cx="3758184" cy="3758184"/>
          </a:xfrm>
          <a:prstGeom prst="rect">
            <a:avLst/>
          </a:prstGeom>
        </p:spPr>
      </p:pic>
      <p:pic>
        <p:nvPicPr>
          <p:cNvPr id="9" name="Content Placeholder 8">
            <a:extLst>
              <a:ext uri="{FF2B5EF4-FFF2-40B4-BE49-F238E27FC236}">
                <a16:creationId xmlns:a16="http://schemas.microsoft.com/office/drawing/2014/main" id="{0396030A-B594-2EDD-266A-030D62CA1327}"/>
              </a:ext>
            </a:extLst>
          </p:cNvPr>
          <p:cNvPicPr>
            <a:picLocks noGrp="1" noChangeAspect="1"/>
          </p:cNvPicPr>
          <p:nvPr>
            <p:ph idx="1"/>
          </p:nvPr>
        </p:nvPicPr>
        <p:blipFill>
          <a:blip r:embed="rId3"/>
          <a:stretch>
            <a:fillRect/>
          </a:stretch>
        </p:blipFill>
        <p:spPr>
          <a:xfrm>
            <a:off x="4224528" y="329184"/>
            <a:ext cx="3758184" cy="3758184"/>
          </a:xfrm>
          <a:prstGeom prst="rect">
            <a:avLst/>
          </a:prstGeom>
        </p:spPr>
      </p:pic>
      <p:pic>
        <p:nvPicPr>
          <p:cNvPr id="12" name="Picture 11">
            <a:extLst>
              <a:ext uri="{FF2B5EF4-FFF2-40B4-BE49-F238E27FC236}">
                <a16:creationId xmlns:a16="http://schemas.microsoft.com/office/drawing/2014/main" id="{9976E36D-1660-FF2D-6387-ADD6678DD495}"/>
              </a:ext>
            </a:extLst>
          </p:cNvPr>
          <p:cNvPicPr>
            <a:picLocks noChangeAspect="1"/>
          </p:cNvPicPr>
          <p:nvPr/>
        </p:nvPicPr>
        <p:blipFill>
          <a:blip r:embed="rId4"/>
          <a:srcRect t="23525" r="48239"/>
          <a:stretch/>
        </p:blipFill>
        <p:spPr>
          <a:xfrm>
            <a:off x="8147304" y="646612"/>
            <a:ext cx="3758184" cy="3123327"/>
          </a:xfrm>
          <a:prstGeom prst="rect">
            <a:avLst/>
          </a:prstGeom>
        </p:spPr>
      </p:pic>
      <p:sp>
        <p:nvSpPr>
          <p:cNvPr id="26" name="sketch line">
            <a:extLst>
              <a:ext uri="{FF2B5EF4-FFF2-40B4-BE49-F238E27FC236}">
                <a16:creationId xmlns:a16="http://schemas.microsoft.com/office/drawing/2014/main" id="{DE127D07-37F2-4FE3-9F47-F0CD6740D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563476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29743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47E5FCD-0A19-277A-8D41-BBAEB38525F3}"/>
              </a:ext>
            </a:extLst>
          </p:cNvPr>
          <p:cNvPicPr>
            <a:picLocks noGrp="1" noChangeAspect="1"/>
          </p:cNvPicPr>
          <p:nvPr>
            <p:ph idx="1"/>
          </p:nvPr>
        </p:nvPicPr>
        <p:blipFill>
          <a:blip r:embed="rId2"/>
          <a:src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DFC569-F8AD-4EEC-C8BC-41B1AC85E4AD}"/>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You can Measure Any Voltage</a:t>
            </a: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2689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A6790A96-9ED5-8548-3B91-DDA663531F2E}"/>
              </a:ext>
            </a:extLst>
          </p:cNvPr>
          <p:cNvPicPr>
            <a:picLocks noGrp="1" noChangeAspect="1"/>
          </p:cNvPicPr>
          <p:nvPr>
            <p:ph idx="1"/>
          </p:nvPr>
        </p:nvPicPr>
        <p:blipFill>
          <a:blip r:embed="rId2"/>
          <a:srcRect t="5089" b="10657"/>
          <a:stretch/>
        </p:blipFill>
        <p:spPr>
          <a:xfrm>
            <a:off x="20" y="1282"/>
            <a:ext cx="12191980" cy="6856718"/>
          </a:xfrm>
          <a:prstGeom prst="rect">
            <a:avLst/>
          </a:prstGeom>
        </p:spPr>
      </p:pic>
    </p:spTree>
    <p:extLst>
      <p:ext uri="{BB962C8B-B14F-4D97-AF65-F5344CB8AC3E}">
        <p14:creationId xmlns:p14="http://schemas.microsoft.com/office/powerpoint/2010/main" val="2980978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04D53-6C99-0E4C-020B-59AFC2B99BBB}"/>
              </a:ext>
            </a:extLst>
          </p:cNvPr>
          <p:cNvSpPr>
            <a:spLocks noGrp="1"/>
          </p:cNvSpPr>
          <p:nvPr>
            <p:ph type="title"/>
          </p:nvPr>
        </p:nvSpPr>
        <p:spPr>
          <a:xfrm>
            <a:off x="173341" y="-195892"/>
            <a:ext cx="10515600" cy="1325563"/>
          </a:xfrm>
        </p:spPr>
        <p:txBody>
          <a:bodyPr/>
          <a:lstStyle/>
          <a:p>
            <a:r>
              <a:rPr lang="en-GB" dirty="0"/>
              <a:t>Timers</a:t>
            </a:r>
            <a:endParaRPr lang="en-US" dirty="0"/>
          </a:p>
        </p:txBody>
      </p:sp>
      <p:sp>
        <p:nvSpPr>
          <p:cNvPr id="3" name="Content Placeholder 2">
            <a:extLst>
              <a:ext uri="{FF2B5EF4-FFF2-40B4-BE49-F238E27FC236}">
                <a16:creationId xmlns:a16="http://schemas.microsoft.com/office/drawing/2014/main" id="{FE8E99D0-D9CE-32FD-AB6B-9252BA2E959D}"/>
              </a:ext>
            </a:extLst>
          </p:cNvPr>
          <p:cNvSpPr>
            <a:spLocks noGrp="1"/>
          </p:cNvSpPr>
          <p:nvPr>
            <p:ph idx="1"/>
          </p:nvPr>
        </p:nvSpPr>
        <p:spPr>
          <a:xfrm>
            <a:off x="182120" y="678668"/>
            <a:ext cx="11755375" cy="5161720"/>
          </a:xfrm>
        </p:spPr>
        <p:txBody>
          <a:bodyPr>
            <a:noAutofit/>
          </a:bodyPr>
          <a:lstStyle/>
          <a:p>
            <a:pPr marL="0" indent="0" algn="just">
              <a:buNone/>
            </a:pPr>
            <a:r>
              <a:rPr lang="en-US" sz="2400" dirty="0"/>
              <a:t>The ESP32 includes a variety of timers that provide precise control over time-dependent operations such as delays, event scheduling, and time-sensitive tasks.</a:t>
            </a:r>
            <a:endParaRPr lang="en-GB" sz="2400" dirty="0"/>
          </a:p>
          <a:p>
            <a:pPr algn="just"/>
            <a:r>
              <a:rPr lang="en-US" sz="2400" dirty="0"/>
              <a:t>Types of Timers in ESP32:</a:t>
            </a:r>
            <a:endParaRPr lang="en-GB" sz="2400" dirty="0"/>
          </a:p>
          <a:p>
            <a:pPr algn="just"/>
            <a:r>
              <a:rPr lang="en-US" sz="2400" dirty="0"/>
              <a:t>The ESP32 has four 64-bit general-purpose timers, each divided into two 32-bit parts, making it ideal for handling tasks that need precise timing or scheduling.</a:t>
            </a:r>
            <a:r>
              <a:rPr lang="en-GB" sz="2400" dirty="0"/>
              <a:t> </a:t>
            </a:r>
          </a:p>
          <a:p>
            <a:pPr algn="just"/>
            <a:r>
              <a:rPr lang="en-US" sz="2400" dirty="0"/>
              <a:t>Each timer has a 64-bit counter, allowing for extremely high-precision timekeeping. The clock source can be configured to run at different frequencies.</a:t>
            </a:r>
            <a:endParaRPr lang="en-GB" sz="2400" dirty="0"/>
          </a:p>
          <a:p>
            <a:pPr algn="just"/>
            <a:r>
              <a:rPr lang="en-US" sz="2400" dirty="0"/>
              <a:t>Each of the four timers is independent, meaning you can use them for different tasks, such as delays, pulse generation, or event scheduling.</a:t>
            </a:r>
            <a:endParaRPr lang="en-GB" sz="2400" dirty="0"/>
          </a:p>
          <a:p>
            <a:pPr algn="just"/>
            <a:r>
              <a:rPr lang="en-US" sz="2400" dirty="0"/>
              <a:t>The timers can automatically reload their values after reaching a predefined limit, perfect for periodic tasks such as sensor polling or PWM signal generation.</a:t>
            </a:r>
            <a:endParaRPr lang="en-GB" sz="2400" dirty="0"/>
          </a:p>
          <a:p>
            <a:pPr algn="just"/>
            <a:r>
              <a:rPr lang="en-US" sz="2400" dirty="0"/>
              <a:t>Timers can trigger interrupts when they overflow or hit specific time values, enabling tasks like toggling GPIO pins or triggering other functions.</a:t>
            </a:r>
            <a:endParaRPr lang="en-GB" sz="2400" dirty="0"/>
          </a:p>
          <a:p>
            <a:pPr marL="0" indent="0" algn="just">
              <a:buNone/>
            </a:pPr>
            <a:r>
              <a:rPr lang="en-US" sz="2400" dirty="0"/>
              <a:t>A timer can be set to trigger an interrupt every 1ms, allowing for precise control over periodic tasks like sensor sampling or generating waveforms for communication protocols.</a:t>
            </a:r>
          </a:p>
        </p:txBody>
      </p:sp>
    </p:spTree>
    <p:extLst>
      <p:ext uri="{BB962C8B-B14F-4D97-AF65-F5344CB8AC3E}">
        <p14:creationId xmlns:p14="http://schemas.microsoft.com/office/powerpoint/2010/main" val="16102413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5E5497B-B6A8-B1FC-EB5C-02714686ABFE}"/>
              </a:ext>
            </a:extLst>
          </p:cNvPr>
          <p:cNvPicPr>
            <a:picLocks noGrp="1" noChangeAspect="1"/>
          </p:cNvPicPr>
          <p:nvPr>
            <p:ph idx="1"/>
          </p:nvPr>
        </p:nvPicPr>
        <p:blipFill>
          <a:blip r:embed="rId2"/>
          <a:srcRect t="5718" b="11864"/>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392902F9-8D43-9535-FA5A-B5EA8B7BB6B2}"/>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GB" sz="3600" dirty="0">
                <a:solidFill>
                  <a:schemeClr val="tx1">
                    <a:lumMod val="85000"/>
                    <a:lumOff val="15000"/>
                  </a:schemeClr>
                </a:solidFill>
              </a:rPr>
              <a:t>The Watcher</a:t>
            </a:r>
            <a:endParaRPr lang="en-US" sz="3600" dirty="0">
              <a:solidFill>
                <a:schemeClr val="tx1">
                  <a:lumMod val="85000"/>
                  <a:lumOff val="15000"/>
                </a:schemeClr>
              </a:solidFill>
            </a:endParaRP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2666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2" name="Rectangle 11">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6" name="Content Placeholder 5">
            <a:extLst>
              <a:ext uri="{FF2B5EF4-FFF2-40B4-BE49-F238E27FC236}">
                <a16:creationId xmlns:a16="http://schemas.microsoft.com/office/drawing/2014/main" id="{56545370-6B52-890A-9856-E1075192579E}"/>
              </a:ext>
            </a:extLst>
          </p:cNvPr>
          <p:cNvPicPr>
            <a:picLocks noGrp="1" noChangeAspect="1"/>
          </p:cNvPicPr>
          <p:nvPr>
            <p:ph idx="1"/>
          </p:nvPr>
        </p:nvPicPr>
        <p:blipFill>
          <a:blip r:embed="rId2">
            <a:alphaModFix amt="59000"/>
          </a:blip>
          <a:srcRect t="3864" b="7174"/>
          <a:stretch/>
        </p:blipFill>
        <p:spPr>
          <a:xfrm>
            <a:off x="20" y="-7624"/>
            <a:ext cx="12191981" cy="6887365"/>
          </a:xfrm>
          <a:prstGeom prst="rect">
            <a:avLst/>
          </a:prstGeom>
        </p:spPr>
      </p:pic>
    </p:spTree>
    <p:extLst>
      <p:ext uri="{BB962C8B-B14F-4D97-AF65-F5344CB8AC3E}">
        <p14:creationId xmlns:p14="http://schemas.microsoft.com/office/powerpoint/2010/main" val="28088441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2" name="Rectangle 11">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6" name="Content Placeholder 5">
            <a:extLst>
              <a:ext uri="{FF2B5EF4-FFF2-40B4-BE49-F238E27FC236}">
                <a16:creationId xmlns:a16="http://schemas.microsoft.com/office/drawing/2014/main" id="{E42B70A8-9EDF-D947-FDAB-A9B83FA3F4B8}"/>
              </a:ext>
            </a:extLst>
          </p:cNvPr>
          <p:cNvPicPr>
            <a:picLocks noGrp="1" noChangeAspect="1"/>
          </p:cNvPicPr>
          <p:nvPr>
            <p:ph idx="1"/>
          </p:nvPr>
        </p:nvPicPr>
        <p:blipFill>
          <a:blip r:embed="rId2">
            <a:alphaModFix amt="59000"/>
          </a:blip>
          <a:srcRect b="5849"/>
          <a:stretch/>
        </p:blipFill>
        <p:spPr>
          <a:xfrm>
            <a:off x="20" y="-7624"/>
            <a:ext cx="12191981" cy="6887365"/>
          </a:xfrm>
          <a:prstGeom prst="rect">
            <a:avLst/>
          </a:prstGeom>
        </p:spPr>
      </p:pic>
    </p:spTree>
    <p:extLst>
      <p:ext uri="{BB962C8B-B14F-4D97-AF65-F5344CB8AC3E}">
        <p14:creationId xmlns:p14="http://schemas.microsoft.com/office/powerpoint/2010/main" val="4530822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5EFD-F336-EFB5-6DC0-237AB04AA650}"/>
              </a:ext>
            </a:extLst>
          </p:cNvPr>
          <p:cNvSpPr>
            <a:spLocks noGrp="1"/>
          </p:cNvSpPr>
          <p:nvPr>
            <p:ph type="title"/>
          </p:nvPr>
        </p:nvSpPr>
        <p:spPr>
          <a:xfrm>
            <a:off x="344632" y="235239"/>
            <a:ext cx="10515600" cy="1325563"/>
          </a:xfrm>
        </p:spPr>
        <p:txBody>
          <a:bodyPr/>
          <a:lstStyle/>
          <a:p>
            <a:r>
              <a:rPr lang="en-GB" dirty="0"/>
              <a:t>The Watchdog</a:t>
            </a:r>
            <a:endParaRPr lang="en-US" dirty="0"/>
          </a:p>
        </p:txBody>
      </p:sp>
      <p:sp>
        <p:nvSpPr>
          <p:cNvPr id="3" name="Content Placeholder 2">
            <a:extLst>
              <a:ext uri="{FF2B5EF4-FFF2-40B4-BE49-F238E27FC236}">
                <a16:creationId xmlns:a16="http://schemas.microsoft.com/office/drawing/2014/main" id="{40208A56-AC74-C7CE-9F74-BEA299B7AF88}"/>
              </a:ext>
            </a:extLst>
          </p:cNvPr>
          <p:cNvSpPr>
            <a:spLocks noGrp="1"/>
          </p:cNvSpPr>
          <p:nvPr>
            <p:ph idx="1"/>
          </p:nvPr>
        </p:nvSpPr>
        <p:spPr>
          <a:xfrm>
            <a:off x="344632" y="1487921"/>
            <a:ext cx="11694968" cy="4879012"/>
          </a:xfrm>
        </p:spPr>
        <p:txBody>
          <a:bodyPr>
            <a:normAutofit fontScale="92500" lnSpcReduction="10000"/>
          </a:bodyPr>
          <a:lstStyle/>
          <a:p>
            <a:pPr marL="0" indent="0">
              <a:buNone/>
            </a:pPr>
            <a:r>
              <a:rPr lang="en-US" dirty="0"/>
              <a:t>Watchdog Timers are used to reset the system if a program gets stuck or takes too long to execute, preventing it from getting stuck in an infinite loop or deadlock.</a:t>
            </a:r>
            <a:endParaRPr lang="en-GB" dirty="0"/>
          </a:p>
          <a:p>
            <a:r>
              <a:rPr lang="en-US" dirty="0"/>
              <a:t>If the system does not reset the watchdog timer within the specified timeout period, it triggers a system reset to recover from failures.</a:t>
            </a:r>
            <a:endParaRPr lang="en-GB" dirty="0"/>
          </a:p>
          <a:p>
            <a:r>
              <a:rPr lang="en-US" dirty="0"/>
              <a:t>The ESP32 has both software and hardware watchdog timers to ensure system reliability.</a:t>
            </a:r>
            <a:endParaRPr lang="en-GB" dirty="0"/>
          </a:p>
          <a:p>
            <a:r>
              <a:rPr lang="en-US" dirty="0"/>
              <a:t>In a Wi-Fi-enabled device, a watchdog timer can be used to reset the ESP32 if it loses connection or fails to execute network tasks within the set timeout.</a:t>
            </a:r>
            <a:endParaRPr lang="en-GB" dirty="0"/>
          </a:p>
          <a:p>
            <a:r>
              <a:rPr lang="en-US" dirty="0"/>
              <a:t>Timers provide accurate control over time-related tasks like signal generation, delays, and event scheduling.</a:t>
            </a:r>
            <a:endParaRPr lang="en-GB" dirty="0"/>
          </a:p>
          <a:p>
            <a:r>
              <a:rPr lang="en-US" dirty="0"/>
              <a:t>They allow time-based actions without blocking the main program, useful for tasks like non-blocking delays and real-time event handling.</a:t>
            </a:r>
          </a:p>
        </p:txBody>
      </p:sp>
    </p:spTree>
    <p:extLst>
      <p:ext uri="{BB962C8B-B14F-4D97-AF65-F5344CB8AC3E}">
        <p14:creationId xmlns:p14="http://schemas.microsoft.com/office/powerpoint/2010/main" val="3858706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58E9D-C1D4-9F13-E69E-EC3D7451E3AE}"/>
              </a:ext>
            </a:extLst>
          </p:cNvPr>
          <p:cNvSpPr>
            <a:spLocks noGrp="1"/>
          </p:cNvSpPr>
          <p:nvPr>
            <p:ph type="title"/>
          </p:nvPr>
        </p:nvSpPr>
        <p:spPr/>
        <p:txBody>
          <a:bodyPr/>
          <a:lstStyle/>
          <a:p>
            <a:pPr algn="ctr"/>
            <a:r>
              <a:rPr lang="en-GB" dirty="0"/>
              <a:t>We Truly Have Only Scratched the Surface</a:t>
            </a:r>
            <a:endParaRPr lang="en-US" dirty="0"/>
          </a:p>
        </p:txBody>
      </p:sp>
      <p:graphicFrame>
        <p:nvGraphicFramePr>
          <p:cNvPr id="24" name="Table 23">
            <a:extLst>
              <a:ext uri="{FF2B5EF4-FFF2-40B4-BE49-F238E27FC236}">
                <a16:creationId xmlns:a16="http://schemas.microsoft.com/office/drawing/2014/main" id="{42EDEFCF-AABA-EEBD-B90A-1B6B6A8C7DF4}"/>
              </a:ext>
            </a:extLst>
          </p:cNvPr>
          <p:cNvGraphicFramePr/>
          <p:nvPr>
            <p:extLst>
              <p:ext uri="{D42A27DB-BD31-4B8C-83A1-F6EECF244321}">
                <p14:modId xmlns:p14="http://schemas.microsoft.com/office/powerpoint/2010/main" val="832379385"/>
              </p:ext>
            </p:extLst>
          </p:nvPr>
        </p:nvGraphicFramePr>
        <p:xfrm>
          <a:off x="66841" y="1999501"/>
          <a:ext cx="12039934" cy="4524900"/>
        </p:xfrm>
        <a:graphic>
          <a:graphicData uri="http://schemas.openxmlformats.org/drawingml/2006/table">
            <a:tbl>
              <a:tblPr>
                <a:tableStyleId>{5C22544A-7EE6-4342-B048-85BDC9FD1C3A}</a:tableStyleId>
              </a:tblPr>
              <a:tblGrid>
                <a:gridCol w="1195706">
                  <a:extLst>
                    <a:ext uri="{9D8B030D-6E8A-4147-A177-3AD203B41FA5}">
                      <a16:colId xmlns:a16="http://schemas.microsoft.com/office/drawing/2014/main" val="2347293745"/>
                    </a:ext>
                  </a:extLst>
                </a:gridCol>
                <a:gridCol w="982610">
                  <a:extLst>
                    <a:ext uri="{9D8B030D-6E8A-4147-A177-3AD203B41FA5}">
                      <a16:colId xmlns:a16="http://schemas.microsoft.com/office/drawing/2014/main" val="2590102955"/>
                    </a:ext>
                  </a:extLst>
                </a:gridCol>
                <a:gridCol w="1065481">
                  <a:extLst>
                    <a:ext uri="{9D8B030D-6E8A-4147-A177-3AD203B41FA5}">
                      <a16:colId xmlns:a16="http://schemas.microsoft.com/office/drawing/2014/main" val="647025896"/>
                    </a:ext>
                  </a:extLst>
                </a:gridCol>
                <a:gridCol w="769514">
                  <a:extLst>
                    <a:ext uri="{9D8B030D-6E8A-4147-A177-3AD203B41FA5}">
                      <a16:colId xmlns:a16="http://schemas.microsoft.com/office/drawing/2014/main" val="4006916743"/>
                    </a:ext>
                  </a:extLst>
                </a:gridCol>
                <a:gridCol w="1207545">
                  <a:extLst>
                    <a:ext uri="{9D8B030D-6E8A-4147-A177-3AD203B41FA5}">
                      <a16:colId xmlns:a16="http://schemas.microsoft.com/office/drawing/2014/main" val="2581405459"/>
                    </a:ext>
                  </a:extLst>
                </a:gridCol>
                <a:gridCol w="2273026">
                  <a:extLst>
                    <a:ext uri="{9D8B030D-6E8A-4147-A177-3AD203B41FA5}">
                      <a16:colId xmlns:a16="http://schemas.microsoft.com/office/drawing/2014/main" val="790492554"/>
                    </a:ext>
                  </a:extLst>
                </a:gridCol>
                <a:gridCol w="2273026">
                  <a:extLst>
                    <a:ext uri="{9D8B030D-6E8A-4147-A177-3AD203B41FA5}">
                      <a16:colId xmlns:a16="http://schemas.microsoft.com/office/drawing/2014/main" val="3188870825"/>
                    </a:ext>
                  </a:extLst>
                </a:gridCol>
                <a:gridCol w="2273026">
                  <a:extLst>
                    <a:ext uri="{9D8B030D-6E8A-4147-A177-3AD203B41FA5}">
                      <a16:colId xmlns:a16="http://schemas.microsoft.com/office/drawing/2014/main" val="3378997410"/>
                    </a:ext>
                  </a:extLst>
                </a:gridCol>
              </a:tblGrid>
              <a:tr h="276638">
                <a:tc>
                  <a:txBody>
                    <a:bodyPr/>
                    <a:lstStyle/>
                    <a:p>
                      <a:pPr algn="ctr" fontAlgn="b"/>
                      <a:r>
                        <a:rPr lang="en-GB" sz="1400" u="none" strike="noStrike">
                          <a:effectLst/>
                        </a:rPr>
                        <a:t>Model</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Cores</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Clock Speed</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Flash</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RAM (SRAM)</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Wireless</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Peripherals</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Notable Features</a:t>
                      </a:r>
                      <a:endParaRPr lang="en-GB" sz="1400" b="1"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36699636"/>
                  </a:ext>
                </a:extLst>
              </a:tr>
              <a:tr h="488270">
                <a:tc>
                  <a:txBody>
                    <a:bodyPr/>
                    <a:lstStyle/>
                    <a:p>
                      <a:pPr algn="ctr" fontAlgn="b"/>
                      <a:r>
                        <a:rPr lang="en-GB" sz="1400" u="none" strike="noStrike">
                          <a:effectLst/>
                        </a:rPr>
                        <a:t>ESP8266</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(Tensilica L106)</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80 MHz / 160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512 KB - 4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80 KB (user)</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ADC (1 ch), PWM</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Low power, No Bluetooth</a:t>
                      </a:r>
                      <a:endParaRPr lang="en-GB" sz="1400" b="0" i="0" u="none" strike="noStrike" dirty="0">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322344178"/>
                  </a:ext>
                </a:extLst>
              </a:tr>
              <a:tr h="488270">
                <a:tc>
                  <a:txBody>
                    <a:bodyPr/>
                    <a:lstStyle/>
                    <a:p>
                      <a:pPr algn="ctr" fontAlgn="b"/>
                      <a:r>
                        <a:rPr lang="en-GB" sz="1400" u="none" strike="noStrike" dirty="0">
                          <a:effectLst/>
                        </a:rPr>
                        <a:t>ESP32 (WROOM-32)</a:t>
                      </a:r>
                      <a:endParaRPr lang="en-GB" sz="1400" b="1"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2 (</a:t>
                      </a:r>
                      <a:r>
                        <a:rPr lang="en-GB" sz="1400" u="none" strike="noStrike" dirty="0" err="1">
                          <a:effectLst/>
                        </a:rPr>
                        <a:t>Xtensa</a:t>
                      </a:r>
                      <a:r>
                        <a:rPr lang="en-GB" sz="1400" u="none" strike="noStrike" dirty="0">
                          <a:effectLst/>
                        </a:rPr>
                        <a:t> LX6)</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160 MHz / 240 MHz</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4 MB - 16 MB</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520 KB</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Wi-Fi 802.11 b/g/n, Bluetooth 4.2 (BR/EDR + BLE)</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UART, SPI, I2C, I2S, ADC (18 </a:t>
                      </a:r>
                      <a:r>
                        <a:rPr lang="en-GB" sz="1400" u="none" strike="noStrike" dirty="0" err="1">
                          <a:effectLst/>
                        </a:rPr>
                        <a:t>ch</a:t>
                      </a:r>
                      <a:r>
                        <a:rPr lang="en-GB" sz="1400" u="none" strike="noStrike" dirty="0">
                          <a:effectLst/>
                        </a:rPr>
                        <a:t>), DAC, PWM</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Dual-core, Bluetooth, Ultra Low Power (ULP), ADC attenuation up to 3.3V</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extLst>
                  <a:ext uri="{0D108BD9-81ED-4DB2-BD59-A6C34878D82A}">
                    <a16:rowId xmlns:a16="http://schemas.microsoft.com/office/drawing/2014/main" val="2323293063"/>
                  </a:ext>
                </a:extLst>
              </a:tr>
              <a:tr h="488270">
                <a:tc>
                  <a:txBody>
                    <a:bodyPr/>
                    <a:lstStyle/>
                    <a:p>
                      <a:pPr algn="ctr" fontAlgn="b"/>
                      <a:r>
                        <a:rPr lang="en-GB" sz="1400" u="none" strike="noStrike">
                          <a:effectLst/>
                        </a:rPr>
                        <a:t>ESP32-S2</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(Xtensa LX7)</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240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4 MB - 16 MB</a:t>
                      </a:r>
                      <a:endParaRPr lang="en-GB" sz="1400" b="0" i="0" u="none" strike="noStrike" dirty="0">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320 KB</a:t>
                      </a:r>
                      <a:endParaRPr lang="en-GB" sz="1400" b="0" i="0" u="none" strike="noStrike" dirty="0">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ADC (20 ch), DAC, USB OTG</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USB OTG support, single-core, secure boot</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529048528"/>
                  </a:ext>
                </a:extLst>
              </a:tr>
              <a:tr h="488270">
                <a:tc>
                  <a:txBody>
                    <a:bodyPr/>
                    <a:lstStyle/>
                    <a:p>
                      <a:pPr algn="ctr" fontAlgn="b"/>
                      <a:r>
                        <a:rPr lang="en-GB" sz="1400" u="none" strike="noStrike">
                          <a:effectLst/>
                        </a:rPr>
                        <a:t>ESP32-S3</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 (Xtensa LX7)</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240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 MB - 16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512 KB + 8 MB PSRAM</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I2S, ADC (20 ch), DAC, USB OTG</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Enhanced BLE, vector extensions for AI processing, larger RAM</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176641833"/>
                  </a:ext>
                </a:extLst>
              </a:tr>
              <a:tr h="488270">
                <a:tc>
                  <a:txBody>
                    <a:bodyPr/>
                    <a:lstStyle/>
                    <a:p>
                      <a:pPr algn="ctr" fontAlgn="b"/>
                      <a:r>
                        <a:rPr lang="en-GB" sz="1400" u="none" strike="noStrike">
                          <a:effectLst/>
                        </a:rPr>
                        <a:t>ESP32-C3</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(RISC-V)</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160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400 KB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UART, SPI, I2C, ADC (6 </a:t>
                      </a:r>
                      <a:r>
                        <a:rPr lang="en-GB" sz="1400" u="none" strike="noStrike" dirty="0" err="1">
                          <a:effectLst/>
                        </a:rPr>
                        <a:t>ch</a:t>
                      </a:r>
                      <a:r>
                        <a:rPr lang="en-GB" sz="1400" u="none" strike="noStrike" dirty="0">
                          <a:effectLst/>
                        </a:rPr>
                        <a:t>), PWM</a:t>
                      </a:r>
                      <a:endParaRPr lang="en-GB" sz="1400" b="0" i="0" u="none" strike="noStrike" dirty="0">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RISC-V architecture, compact, Bluetooth 5, low power consumption</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633647888"/>
                  </a:ext>
                </a:extLst>
              </a:tr>
              <a:tr h="488270">
                <a:tc>
                  <a:txBody>
                    <a:bodyPr/>
                    <a:lstStyle/>
                    <a:p>
                      <a:pPr algn="ctr" fontAlgn="b"/>
                      <a:r>
                        <a:rPr lang="en-GB" sz="1400" u="none" strike="noStrike">
                          <a:effectLst/>
                        </a:rPr>
                        <a:t>ESP32-C6</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(RISC-V)</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160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400 KB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6 (802.11ax),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ADC, GPIO, Ethernet</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6 support, BLE 5 long-range, secure boot</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3291094185"/>
                  </a:ext>
                </a:extLst>
              </a:tr>
              <a:tr h="488270">
                <a:tc>
                  <a:txBody>
                    <a:bodyPr/>
                    <a:lstStyle/>
                    <a:p>
                      <a:pPr algn="ctr" fontAlgn="b"/>
                      <a:r>
                        <a:rPr lang="en-GB" sz="1400" u="none" strike="noStrike">
                          <a:effectLst/>
                        </a:rPr>
                        <a:t>ESP32-H2</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(RISC-V)</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96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Up to 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256 KB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IEEE 802.15.4 (Thread and Zigbee),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GPIO</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Thread/Zigbee integration, ultra-low power, RISC-V</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778873957"/>
                  </a:ext>
                </a:extLst>
              </a:tr>
              <a:tr h="276638">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dirty="0">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187540425"/>
                  </a:ext>
                </a:extLst>
              </a:tr>
            </a:tbl>
          </a:graphicData>
        </a:graphic>
      </p:graphicFrame>
    </p:spTree>
    <p:extLst>
      <p:ext uri="{BB962C8B-B14F-4D97-AF65-F5344CB8AC3E}">
        <p14:creationId xmlns:p14="http://schemas.microsoft.com/office/powerpoint/2010/main" val="15957463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BFBEAC9-E481-CBAF-B4A8-D285BE2DB6B6}"/>
              </a:ext>
            </a:extLst>
          </p:cNvPr>
          <p:cNvPicPr>
            <a:picLocks noGrp="1" noChangeAspect="1"/>
          </p:cNvPicPr>
          <p:nvPr>
            <p:ph idx="1"/>
          </p:nvPr>
        </p:nvPicPr>
        <p:blipFill>
          <a:blip r:embed="rId2"/>
          <a:srcRect r="16445" b="1"/>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626502-D576-BF8B-3471-ED2BA003BB3A}"/>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The End		</a:t>
            </a:r>
          </a:p>
        </p:txBody>
      </p:sp>
      <p:cxnSp>
        <p:nvCxnSpPr>
          <p:cNvPr id="17" name="Straight Connector 16">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484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TotalTime>
  <Words>5527</Words>
  <Application>Microsoft Office PowerPoint</Application>
  <PresentationFormat>Widescreen</PresentationFormat>
  <Paragraphs>472</Paragraphs>
  <Slides>120</Slides>
  <Notes>21</Notes>
  <HiddenSlides>0</HiddenSlides>
  <MMClips>0</MMClips>
  <ScaleCrop>false</ScaleCrop>
  <HeadingPairs>
    <vt:vector size="4" baseType="variant">
      <vt:variant>
        <vt:lpstr>Theme</vt:lpstr>
      </vt:variant>
      <vt:variant>
        <vt:i4>1</vt:i4>
      </vt:variant>
      <vt:variant>
        <vt:lpstr>Slide Titles</vt:lpstr>
      </vt:variant>
      <vt:variant>
        <vt:i4>120</vt:i4>
      </vt:variant>
    </vt:vector>
  </HeadingPairs>
  <TitlesOfParts>
    <vt:vector size="121" baseType="lpstr">
      <vt:lpstr>Office Theme</vt:lpstr>
      <vt:lpstr>ESP 32 Architecture</vt:lpstr>
      <vt:lpstr>What Do You Mean by Architecture?</vt:lpstr>
      <vt:lpstr>PowerPoint Presentation</vt:lpstr>
      <vt:lpstr>PowerPoint Presentation</vt:lpstr>
      <vt:lpstr>Scan For Module Data Sheet</vt:lpstr>
      <vt:lpstr>Scan For SoC Data Sheet</vt:lpstr>
      <vt:lpstr>PowerPoint Presentation</vt:lpstr>
      <vt:lpstr>PowerPoint Presentation</vt:lpstr>
      <vt:lpstr>What Does it Mean by Xtensa 32 Bit LX6 Microprocessors? </vt:lpstr>
      <vt:lpstr>What Does it Mean by Xtensa 32 Bit LX6 Microprocessors? </vt:lpstr>
      <vt:lpstr>PowerPoint Presentation</vt:lpstr>
      <vt:lpstr>Find Out The 3 Most Prominent Architectures</vt:lpstr>
      <vt:lpstr>The 3 Most Prominent Architectures  x86 ARM RISC-V</vt:lpstr>
      <vt:lpstr>PowerPoint Presentation</vt:lpstr>
      <vt:lpstr>ROM (Read-Only Memory)</vt:lpstr>
      <vt:lpstr>ROM is NOT STORAGE</vt:lpstr>
      <vt:lpstr>PowerPoint Presentation</vt:lpstr>
      <vt:lpstr>SRAM (Static Random-Access Memory)</vt:lpstr>
      <vt:lpstr>PowerPoint Presentation</vt:lpstr>
      <vt:lpstr>Flash Storage</vt:lpstr>
      <vt:lpstr>PowerPoint Presentation</vt:lpstr>
      <vt:lpstr>PowerPoint Presentation</vt:lpstr>
      <vt:lpstr>PowerPoint Presentation</vt:lpstr>
      <vt:lpstr>PowerPoint Presentation</vt:lpstr>
      <vt:lpstr>PowerPoint Presentation</vt:lpstr>
      <vt:lpstr>Cryptography – Preventing Man in the Middle</vt:lpstr>
      <vt:lpstr>Do You Want Your Fridge to Run Away or Your Toaster to Serve You Burt Toast?</vt:lpstr>
      <vt:lpstr>Yes, that’s the Dystopia We Live In</vt:lpstr>
      <vt:lpstr>Why Does the ESP 32 Models Need it?</vt:lpstr>
      <vt:lpstr>PowerPoint Presentation</vt:lpstr>
      <vt:lpstr>PowerPoint Presentation</vt:lpstr>
      <vt:lpstr>PowerPoint Presentation</vt:lpstr>
      <vt:lpstr>PowerPoint Presentation</vt:lpstr>
      <vt:lpstr>ESP 32 Power Modes</vt:lpstr>
      <vt:lpstr>PowerPoint Presentation</vt:lpstr>
      <vt:lpstr>PowerPoint Presentation</vt:lpstr>
      <vt:lpstr>PowerPoint Presentation</vt:lpstr>
      <vt:lpstr>PowerPoint Presentation</vt:lpstr>
      <vt:lpstr>Some Engineers like some ESP Applications Don’t Need to Sleep But the RTC Still Matters</vt:lpstr>
      <vt:lpstr>PowerPoint Presentation</vt:lpstr>
      <vt:lpstr>Helps with The Watchdog Timer Reset</vt:lpstr>
      <vt:lpstr>Coming back to the RTC Which Enables It</vt:lpstr>
      <vt:lpstr>Power Management Unit (PMU)</vt:lpstr>
      <vt:lpstr>Ultra Low Power co-Processor (ULP)</vt:lpstr>
      <vt:lpstr>Recovery Mode</vt:lpstr>
      <vt:lpstr>PowerPoint Presentation</vt:lpstr>
      <vt:lpstr>PowerPoint Presentation</vt:lpstr>
      <vt:lpstr>PowerPoint Presentation</vt:lpstr>
      <vt:lpstr>PowerPoint Presentation</vt:lpstr>
      <vt:lpstr>Find Out What Each is Used For in General</vt:lpstr>
      <vt:lpstr>The Bluetooth Link Controller</vt:lpstr>
      <vt:lpstr>The Bluetooth Baseband</vt:lpstr>
      <vt:lpstr>PowerPoint Presentation</vt:lpstr>
      <vt:lpstr>Wi-Fi MAC (Media Access Control)</vt:lpstr>
      <vt:lpstr>Wi-Fi Baseband</vt:lpstr>
      <vt:lpstr>PowerPoint Presentation</vt:lpstr>
      <vt:lpstr>PowerPoint Presentation</vt:lpstr>
      <vt:lpstr>PowerPoint Presentation</vt:lpstr>
      <vt:lpstr>PowerPoint Presentation</vt:lpstr>
      <vt:lpstr>RF Transmit / Receive</vt:lpstr>
      <vt:lpstr>HF Clock Generator</vt:lpstr>
      <vt:lpstr>Beacause Wi-Fi/BT is 2.4GHz NOT 200MHz</vt:lpstr>
      <vt:lpstr>PowerPoint Presentation</vt:lpstr>
      <vt:lpstr>RF Switching</vt:lpstr>
      <vt:lpstr>PowerPoint Presentation</vt:lpstr>
      <vt:lpstr>The BALUN</vt:lpstr>
      <vt:lpstr>Why Generate Balanced Signals?</vt:lpstr>
      <vt:lpstr>Most Power Analog Outputs are Balanced</vt:lpstr>
      <vt:lpstr>PowerPoint Presentation</vt:lpstr>
      <vt:lpstr>PowerPoint Presentation</vt:lpstr>
      <vt:lpstr>Communication Interfaces</vt:lpstr>
      <vt:lpstr>What is This?</vt:lpstr>
      <vt:lpstr>Serial Peripheral Interface</vt:lpstr>
      <vt:lpstr>Master Slave Arrangement Serial Input – Serial Output – Serial Clock Select Pins </vt:lpstr>
      <vt:lpstr>The common DHT Series Sensors Use SPI</vt:lpstr>
      <vt:lpstr>Inter-Integrated Circuit </vt:lpstr>
      <vt:lpstr>PowerPoint Presentation</vt:lpstr>
      <vt:lpstr>Displays Use I2C</vt:lpstr>
      <vt:lpstr>Inter-Integrated Circuit Sound</vt:lpstr>
      <vt:lpstr>PowerPoint Presentation</vt:lpstr>
      <vt:lpstr>Used for Transducers i.e External DAC Applications</vt:lpstr>
      <vt:lpstr>Secure Digital Input Output</vt:lpstr>
      <vt:lpstr>PowerPoint Presentation</vt:lpstr>
      <vt:lpstr>SD Cards</vt:lpstr>
      <vt:lpstr>Universal Asynchronous Receiver/Transmitter)</vt:lpstr>
      <vt:lpstr>PowerPoint Presentation</vt:lpstr>
      <vt:lpstr>TV Remotes Use UART</vt:lpstr>
      <vt:lpstr>Many of the uC’s Use UART For Programming</vt:lpstr>
      <vt:lpstr>So Why Not Use On Board Serial Devices?</vt:lpstr>
      <vt:lpstr>TWAI (Two-Wire Automotive Interface)</vt:lpstr>
      <vt:lpstr>PowerPoint Presentation</vt:lpstr>
      <vt:lpstr>How to Have a Stable Internet Connection</vt:lpstr>
      <vt:lpstr>Ethernet</vt:lpstr>
      <vt:lpstr>PowerPoint Presentation</vt:lpstr>
      <vt:lpstr>Remote Control Transmitter/Reciever</vt:lpstr>
      <vt:lpstr>RMT can use UART for IR Communication</vt:lpstr>
      <vt:lpstr>PowerPoint Presentation</vt:lpstr>
      <vt:lpstr>Pulse Width Modulation</vt:lpstr>
      <vt:lpstr>It is Literally The Width of the Square Wave High Time</vt:lpstr>
      <vt:lpstr>PWM Signal and Power Applications</vt:lpstr>
      <vt:lpstr>More Input Options</vt:lpstr>
      <vt:lpstr>Touch Sensing</vt:lpstr>
      <vt:lpstr>Touch Modules</vt:lpstr>
      <vt:lpstr>Digital to Analog Converter</vt:lpstr>
      <vt:lpstr>To and Fro Conversion Diagram</vt:lpstr>
      <vt:lpstr>Used to Generate an AC or DC Voltage</vt:lpstr>
      <vt:lpstr>Even Digital Potentiometers Can be Made</vt:lpstr>
      <vt:lpstr>Analog to Digital Conversion</vt:lpstr>
      <vt:lpstr>PowerPoint Presentation</vt:lpstr>
      <vt:lpstr>Analog Sensor Interfacing</vt:lpstr>
      <vt:lpstr>ANY THING</vt:lpstr>
      <vt:lpstr>You can Measure Any Voltage</vt:lpstr>
      <vt:lpstr>PowerPoint Presentation</vt:lpstr>
      <vt:lpstr>Timers</vt:lpstr>
      <vt:lpstr>The Watcher</vt:lpstr>
      <vt:lpstr>PowerPoint Presentation</vt:lpstr>
      <vt:lpstr>PowerPoint Presentation</vt:lpstr>
      <vt:lpstr>The Watchdog</vt:lpstr>
      <vt:lpstr>We Truly Have Only Scratched the Surface</vt:lpstr>
      <vt:lpstr>The 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 32 Architecture</dc:title>
  <dc:creator>Akbar Qamar</dc:creator>
  <cp:lastModifiedBy>showkat ahmed</cp:lastModifiedBy>
  <cp:revision>28</cp:revision>
  <dcterms:created xsi:type="dcterms:W3CDTF">2024-10-08T16:17:02Z</dcterms:created>
  <dcterms:modified xsi:type="dcterms:W3CDTF">2026-09-29T18:21:55Z</dcterms:modified>
</cp:coreProperties>
</file>