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58" y="54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LO4 — Applications &amp; Impact of Embedded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Presentation template (detailed skeleton). Purpose: provide a slide-by-slide skeleton covering: - Current uses in a chosen sector - Emerging trends and enabling technologies - Critical appraisal of research, societal and economic implications</a:t>
            </a:r>
          </a:p>
          <a:p>
            <a:pPr marL="0" lvl="0" indent="0">
              <a:buNone/>
            </a:pPr>
            <a:r>
              <a:rPr dirty="0"/>
              <a:t>Notes: - Use this Markdown as the source slide content. Each top-level H2 (##) is a slide. - Speaker notes are included under each slide as “Notes:” and research prompts as bullets. - Convert to a presentation (pptx/</a:t>
            </a:r>
            <a:r>
              <a:rPr dirty="0" err="1"/>
              <a:t>odp</a:t>
            </a:r>
            <a:r>
              <a:rPr dirty="0"/>
              <a:t>) using the provided conversion script or instructions in </a:t>
            </a:r>
            <a:r>
              <a:rPr dirty="0">
                <a:latin typeface="Courier"/>
              </a:rPr>
              <a:t>README_CONVERT_TO_ODP.md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1 — Title</a:t>
            </a:r>
          </a:p>
          <a:p>
            <a:pPr marL="0" lvl="0" indent="0">
              <a:buNone/>
            </a:pPr>
            <a:r>
              <a:t>Title: LO4 — Applications &amp; Impact of Embedded Systems Subtitle: [Your sector] — e.g., Smart Buildings / Healthcare / Automotive / Agriculture Author(s), date, module: Unit 5013 — Embedded Systems</a:t>
            </a:r>
          </a:p>
          <a:p>
            <a:pPr marL="0" lvl="0" indent="0">
              <a:buNone/>
            </a:pPr>
            <a:r>
              <a:t>Notes: - Keep title concise; add institution and module. - Research step: confirm exact sector name (e.g., “Commercial HVAC systems in Office Buildings”).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2 — Vocational scenario recap (1 slide)</a:t>
            </a:r>
          </a:p>
          <a:p>
            <a:pPr marL="0" lvl="0" indent="0">
              <a:buNone/>
            </a:pPr>
            <a:r>
              <a:t>Heading: Vocational scenario &amp; scope Bullets: - Short scenario statement (1–2 lines): who benefits, primary function of embedded systems in the sector. - Scope: geographical, scale (e.g., single building, fleet-level, regional / national), key stakeholders.</a:t>
            </a:r>
          </a:p>
          <a:p>
            <a:pPr marL="0" lvl="0" indent="0">
              <a:buNone/>
            </a:pPr>
            <a:r>
              <a:t>Notes: - Provide a 1-line hook to contextualise use-cases. - Research prompts: identify 2–3 primary stakeholders and a short problem statement.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3 — Learning outcomes &amp; assessment mapping</a:t>
            </a:r>
          </a:p>
          <a:p>
            <a:pPr marL="0" lvl="0" indent="0">
              <a:buNone/>
            </a:pPr>
            <a:r>
              <a:t>Heading: What we’ll cover Bullets: - Short overview of the presentation structure (current uses, case studies, trends, research appraisal) - How to navigate the evidence and appendices</a:t>
            </a:r>
          </a:p>
          <a:p>
            <a:pPr marL="0" lvl="0" indent="0">
              <a:buNone/>
            </a:pPr>
            <a:r>
              <a:t>Notes: - This slide is optional; use it to orient the assessor/audience to the flow of the presentation.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75" y="3048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Slide 4 — Sector snapshot: current landscape (data-driven)</a:t>
            </a:r>
          </a:p>
          <a:p>
            <a:pPr marL="0" lvl="0" indent="0">
              <a:buNone/>
            </a:pPr>
            <a:r>
              <a:rPr dirty="0"/>
              <a:t>Heading: Current landscape (market size, adoption rate, timelines) Bullets: - Key metrics: market value, growth rate, installed base, adoption barriers - Regulatory context (standards, safety requirements, data protection laws)</a:t>
            </a:r>
          </a:p>
          <a:p>
            <a:pPr marL="0" lvl="0" indent="0">
              <a:buNone/>
            </a:pPr>
            <a:r>
              <a:rPr dirty="0"/>
              <a:t>Notes: - Research prompts: gather 2–3 reputable stats (industry reports, government sources) with citations. - Tip: use a small chart (market growth) on the right-hand side.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550" y="561975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Slide 5 — Current uses: taxonomy of applications (P6)</a:t>
            </a:r>
          </a:p>
          <a:p>
            <a:pPr marL="0" lvl="0" indent="0">
              <a:buNone/>
            </a:pPr>
            <a:r>
              <a:rPr dirty="0"/>
              <a:t>Heading: How embedded systems are used in this sector Bullets (each becomes a sub-point / mini-slide if needed): - Monitoring &amp; sensing (environmental sensors, occupancy, condition monitoring) - Control &amp; actuation (HVAC control, dosing systems, motor controllers) - Connectivity &amp; gateways (edge devices, protocol gateways) - Safety/critical functions (interlocks, fail-safes, alarms) - Data logging &amp; telemetry (historic data for maintenance/analytics)</a:t>
            </a:r>
          </a:p>
          <a:p>
            <a:pPr marL="0" lvl="0" indent="0">
              <a:buNone/>
            </a:pPr>
            <a:r>
              <a:rPr dirty="0"/>
              <a:t>Notes: - For each bullet, add 1 example product or vendor and 1 short use-case description. - Research prompts: list at least one field example or vendor per category.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381125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Slide 6 — Case study A — representative deployed system (P6)</a:t>
            </a:r>
          </a:p>
          <a:p>
            <a:pPr marL="0" lvl="0" indent="0">
              <a:buNone/>
            </a:pPr>
            <a:r>
              <a:rPr dirty="0"/>
              <a:t>Heading: Case study — [name/location/vendor] Structure: - System overview diagram (block diagram): sensors → MCU → comms → cloud/local aggregator → actuator - Key specs: MCU type, comms protocol, power source, sampling rate - Outcomes/benefits: energy saved, downtime reduced, safety incidents avoided</a:t>
            </a:r>
          </a:p>
          <a:p>
            <a:pPr marL="0" lvl="0" indent="0">
              <a:buNone/>
            </a:pPr>
            <a:r>
              <a:rPr dirty="0"/>
              <a:t>Notes: - Research: get one case study with public data (white paper, datasheet or press release). Cite. - Add a 1-line critical note: limitations or failure modes reported.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7 — Case study B — alternative scale (P6)</a:t>
            </a:r>
          </a:p>
          <a:p>
            <a:pPr marL="0" lvl="0" indent="0">
              <a:buNone/>
            </a:pPr>
            <a:r>
              <a:t>Heading: Case study — small/large scale comparison Structure: - Compare a small-scale (prototype or SME) vs enterprise deployment - Differences: cost, reliability, support, certification</a:t>
            </a:r>
          </a:p>
          <a:p>
            <a:pPr marL="0" lvl="0" indent="0">
              <a:buNone/>
            </a:pPr>
            <a:r>
              <a:t>Notes: - Use this slide to show range of applications and evaluation criteria for P6.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025" y="1166018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Slide 8 — Technical enablers &amp; typical architectures</a:t>
            </a:r>
          </a:p>
          <a:p>
            <a:pPr marL="0" lvl="0" indent="0">
              <a:buNone/>
            </a:pPr>
            <a:r>
              <a:rPr dirty="0"/>
              <a:t>Heading: Common architectures and their trade-offs Bullets: - Edge-first (local processing + summary telemetry) - Cloud-first (thin edge + heavy cloud processing) - Hybrid (edge ML inference + cloud training) - Communication layers: Wi‑Fi, BLE, </a:t>
            </a:r>
            <a:r>
              <a:rPr dirty="0" err="1"/>
              <a:t>LoRaWAN</a:t>
            </a:r>
            <a:r>
              <a:rPr dirty="0"/>
              <a:t>, NB‑IoT, wired (RS485, CAN)</a:t>
            </a:r>
          </a:p>
          <a:p>
            <a:pPr marL="0" lvl="0" indent="0">
              <a:buNone/>
            </a:pPr>
            <a:r>
              <a:rPr dirty="0"/>
              <a:t>Notes: - Add mini-table for trade-offs: latency, power, cost, privacy. - Research prompts: typical MCU families used in sector (e.g., ESP32, STM32, NXP, TI) and why.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75" y="238125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Slide 9 — Evaluation criteria for current uses (P6) — checklist</a:t>
            </a:r>
          </a:p>
          <a:p>
            <a:pPr marL="0" lvl="0" indent="0">
              <a:buNone/>
            </a:pPr>
            <a:r>
              <a:rPr dirty="0"/>
              <a:t>Heading: How to evaluate a deployed embedded solution Checklist / headings: - Functional correctness &amp; reliability - Safety and fail-safe </a:t>
            </a:r>
            <a:r>
              <a:rPr dirty="0" err="1"/>
              <a:t>behaviour</a:t>
            </a:r>
            <a:r>
              <a:rPr dirty="0"/>
              <a:t> - Maintainability &amp; updateability (OTA updates) - Security &amp; data privacy - Energy and cost efficiency - Regulatory compliance &amp; certification</a:t>
            </a:r>
          </a:p>
          <a:p>
            <a:pPr marL="0" lvl="0" indent="0">
              <a:buNone/>
            </a:pPr>
            <a:r>
              <a:rPr dirty="0"/>
              <a:t>Notes: - For each checklist item, collect evidence (logs, datasheets, vendor claims, test results) for at least two systems where possible. - Research prompts: find statements on maintenance intervals and failure rates where possible.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875" y="857250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Slide 10 — Emerging trends overview (M5)</a:t>
            </a:r>
          </a:p>
          <a:p>
            <a:pPr marL="0" lvl="0" indent="0">
              <a:buNone/>
            </a:pPr>
            <a:r>
              <a:rPr dirty="0"/>
              <a:t>Heading: Major trends shaping the sector Bullets: - IoT proliferation and ubiquitous sensing - Edge AI / </a:t>
            </a:r>
            <a:r>
              <a:rPr dirty="0" err="1"/>
              <a:t>TinyML</a:t>
            </a:r>
            <a:r>
              <a:rPr dirty="0"/>
              <a:t> for local inference - Sustainability-driven design (energy harvesting, low-power protocols) - </a:t>
            </a:r>
            <a:r>
              <a:rPr dirty="0" err="1"/>
              <a:t>Standardisation</a:t>
            </a:r>
            <a:r>
              <a:rPr dirty="0"/>
              <a:t> and federated data platforms - Security by design: secure boot, hardware root-of-trust</a:t>
            </a:r>
          </a:p>
          <a:p>
            <a:pPr marL="0" lvl="0" indent="0">
              <a:buNone/>
            </a:pPr>
            <a:r>
              <a:rPr dirty="0"/>
              <a:t>Notes: - Link each trend to a short explanation of sector impact and a concrete example. - Research prompts: cite 2–3 recent papers or industry reports per trend.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66675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Slide 11 — Trend deep-dive: IoT &amp; connectivity (M5)</a:t>
            </a:r>
          </a:p>
          <a:p>
            <a:pPr marL="0" lvl="0" indent="0">
              <a:buNone/>
            </a:pPr>
            <a:r>
              <a:rPr dirty="0"/>
              <a:t>Heading: IoT platforms &amp; connectivity choices Bullets: - Protocols mapped to use-cases (e.g., </a:t>
            </a:r>
            <a:r>
              <a:rPr dirty="0" err="1"/>
              <a:t>LoRaWAN</a:t>
            </a:r>
            <a:r>
              <a:rPr dirty="0"/>
              <a:t> for long-range low-power) - Edge gateways and interoperability challenges - Example: Integration stack for occupancy-based HVAC control</a:t>
            </a:r>
          </a:p>
          <a:p>
            <a:pPr marL="0" lvl="0" indent="0">
              <a:buNone/>
            </a:pPr>
            <a:r>
              <a:rPr dirty="0"/>
              <a:t>Notes: - Provide specific advantages and limitations for 2–3 protocols. - Research prompts: find a vendor/standard (e.g., Matter, MQTT) and note adoption status.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875" y="51435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Slide 12 — Trend deep-dive: AI at the edge (M5)</a:t>
            </a:r>
          </a:p>
          <a:p>
            <a:pPr marL="0" lvl="0" indent="0">
              <a:buNone/>
            </a:pPr>
            <a:r>
              <a:rPr dirty="0"/>
              <a:t>Heading: </a:t>
            </a:r>
            <a:r>
              <a:rPr dirty="0" err="1"/>
              <a:t>TinyML</a:t>
            </a:r>
            <a:r>
              <a:rPr dirty="0"/>
              <a:t> &amp; on-device inference Bullets: - Typical applications: anomaly detection, predictive maintenance, occupancy detection - Model lifecycle: training, compression/quantization, deployment, updates - Resource constraints &amp; evaluation metrics (latency, accuracy, power)</a:t>
            </a:r>
          </a:p>
          <a:p>
            <a:pPr marL="0" lvl="0" indent="0">
              <a:buNone/>
            </a:pPr>
            <a:r>
              <a:rPr dirty="0"/>
              <a:t>Notes: - Provide a short example pipeline: sensor → feature extraction → </a:t>
            </a:r>
            <a:r>
              <a:rPr dirty="0" err="1"/>
              <a:t>TinyML</a:t>
            </a:r>
            <a:r>
              <a:rPr dirty="0"/>
              <a:t> model → action. - Research prompts: cite a recent </a:t>
            </a:r>
            <a:r>
              <a:rPr dirty="0" err="1"/>
              <a:t>TinyML</a:t>
            </a:r>
            <a:r>
              <a:rPr dirty="0"/>
              <a:t> study or vendor SDK (TensorFlow Lite Micro, Edge Impulse).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5245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Slide 13 — Trend deep-dive: Sustainability (M5)</a:t>
            </a:r>
          </a:p>
          <a:p>
            <a:pPr marL="0" lvl="0" indent="0">
              <a:buNone/>
            </a:pPr>
            <a:r>
              <a:rPr dirty="0"/>
              <a:t>Heading: Sustainability &amp; circular design for embedded systems Bullets: - Energy efficiency (low-power modes, duty cycling) - Materials &amp; repairability (modular hardware, recyclable materials) - Lifecycle analysis: embodied carbon, EOL recycling</a:t>
            </a:r>
          </a:p>
          <a:p>
            <a:pPr marL="0" lvl="0" indent="0">
              <a:buNone/>
            </a:pPr>
            <a:r>
              <a:rPr dirty="0"/>
              <a:t>Notes: - Quantify impact where possible (e.g., % energy reduction from smart control). - Research prompt: find one lifecycle analysis or sustainability metric used in the sector.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9175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Slide 14 — Research landscape &amp; active areas (D4)</a:t>
            </a:r>
          </a:p>
          <a:p>
            <a:pPr marL="0" lvl="0" indent="0">
              <a:buNone/>
            </a:pPr>
            <a:r>
              <a:rPr dirty="0"/>
              <a:t>Heading: What researchers are investigating now Bullets: - Robustness and interpretability for edge AI - Secure update mechanisms for constrained devices - Privacy-preserving telemetry (federated learning, homomorphic approaches) - Socio-technical studies: acceptance, ethics &amp; worker impact</a:t>
            </a:r>
          </a:p>
          <a:p>
            <a:pPr marL="0" lvl="0" indent="0">
              <a:buNone/>
            </a:pPr>
            <a:r>
              <a:rPr dirty="0"/>
              <a:t>Notes: - List 4–6 contemporary papers (title + 1-line takeaway) and funding sources (Horizon Europe, NSF, etc.). - Research prompt: </a:t>
            </a:r>
            <a:r>
              <a:rPr dirty="0" err="1"/>
              <a:t>summarise</a:t>
            </a:r>
            <a:r>
              <a:rPr dirty="0"/>
              <a:t> 2—3 research gaps.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5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Slide 15 — Societal &amp; economic implications (D4)</a:t>
            </a:r>
          </a:p>
          <a:p>
            <a:pPr marL="0" lvl="0" indent="0">
              <a:buNone/>
            </a:pPr>
            <a:r>
              <a:rPr dirty="0"/>
              <a:t>Heading: Benefits &amp; harms — a critical appraisal Bullets: - Economic: cost savings, job shifts, new business models - Social: privacy risks, surveillance concerns, unequal access - Ethical: biases in automated control systems, accountability</a:t>
            </a:r>
          </a:p>
          <a:p>
            <a:pPr marL="0" lvl="0" indent="0">
              <a:buNone/>
            </a:pPr>
            <a:r>
              <a:rPr dirty="0"/>
              <a:t>Notes: - Provide balanced viewpoints with evidence (news, white papers, policy docs). - Research prompt: identify at least one policy/ethics guideline relevant to the sector.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7725"/>
            <a:ext cx="8229600" cy="4525963"/>
          </a:xfrm>
        </p:spPr>
        <p:txBody>
          <a:bodyPr>
            <a:normAutofit fontScale="925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Slide 16 — Risks, mitigations &amp; standards (D4)</a:t>
            </a:r>
          </a:p>
          <a:p>
            <a:pPr marL="0" lvl="0" indent="0">
              <a:buNone/>
            </a:pPr>
            <a:r>
              <a:rPr dirty="0"/>
              <a:t>Heading: Risk appraisal and mitigations Bullets: - Technical risks: device compromise, data loss, sensor drift - Operational risks: supply chain, scalability, maintenance - Mitigations: secure boot, redundancy, robust testing, SLAs - Standards mapping: ISO, IEC, sector-specific standards</a:t>
            </a:r>
          </a:p>
          <a:p>
            <a:pPr marL="0" lvl="0" indent="0">
              <a:buNone/>
            </a:pPr>
            <a:r>
              <a:rPr dirty="0"/>
              <a:t>Notes: - Include concrete recommendations and where to find relevant standards.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3345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Slide 17 — Cost-benefit &amp; ROI (P6 + D4)</a:t>
            </a:r>
          </a:p>
          <a:p>
            <a:pPr marL="0" lvl="0" indent="0">
              <a:buNone/>
            </a:pPr>
            <a:r>
              <a:rPr dirty="0"/>
              <a:t>Heading: Quantitative comparison — typical KPIs Bullets: - Initial costs vs operational savings (example calculation) - Payback period and TCO (total cost of ownership) - Non-financial benefits (safety, compliance)</a:t>
            </a:r>
          </a:p>
          <a:p>
            <a:pPr marL="0" lvl="0" indent="0">
              <a:buNone/>
            </a:pPr>
            <a:r>
              <a:rPr dirty="0"/>
              <a:t>Notes: - Show a simple worked example: e.g., smart HVAC reduces energy by X% → £Y per year saved. - Research prompt: locate a public ROI case study or vendor ROI calculator.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Slide 18 — Implementation challenges &amp; lessons learned</a:t>
            </a:r>
          </a:p>
          <a:p>
            <a:pPr marL="0" lvl="0" indent="0">
              <a:buNone/>
            </a:pPr>
            <a:r>
              <a:rPr dirty="0"/>
              <a:t>Heading: Practical deployment lessons Bullets: - Procurement &amp; vendor lock-in - Integration with legacy systems - Maintenance &amp; OTA strategies - Data governance and ownership</a:t>
            </a:r>
          </a:p>
          <a:p>
            <a:pPr marL="0" lvl="0" indent="0">
              <a:buNone/>
            </a:pPr>
            <a:r>
              <a:rPr dirty="0"/>
              <a:t>Notes: - Pull lessons from case studies; highlight at least 3 actionable recommendations.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875" y="1166018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Slide 19 — Recommendations &amp; future roadmap (D4)</a:t>
            </a:r>
          </a:p>
          <a:p>
            <a:pPr marL="0" lvl="0" indent="0">
              <a:buNone/>
            </a:pPr>
            <a:r>
              <a:rPr dirty="0"/>
              <a:t>Heading: What to do next — short, medium, long term Bullets: - Short-term: pilot scope, acceptance criteria, test metrics - Medium-term: scale-up plan, maintenance contracts, staff training - Long-term: research partnerships, policy engagement, sustainability goals</a:t>
            </a:r>
          </a:p>
          <a:p>
            <a:pPr marL="0" lvl="0" indent="0">
              <a:buNone/>
            </a:pPr>
            <a:r>
              <a:rPr dirty="0"/>
              <a:t>Notes: - Provide a 1-page roadmap as an appendix if needed.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20 — Evidence mapping &amp; where the criteria are met</a:t>
            </a:r>
          </a:p>
          <a:p>
            <a:pPr marL="0" lvl="0" indent="0">
              <a:buNone/>
            </a:pPr>
            <a:r>
              <a:t>Heading: Cross-reference Bullets: - Evidence mapping: list slides and appendix items that support claims, case studies and data</a:t>
            </a:r>
          </a:p>
          <a:p>
            <a:pPr marL="0" lvl="0" indent="0">
              <a:buNone/>
            </a:pPr>
            <a:r>
              <a:t>Notes: - Use this slide to help assessors quickly find supporting evidence and links to the repo artifacts.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21 — References</a:t>
            </a:r>
          </a:p>
          <a:p>
            <a:pPr marL="0" lvl="0" indent="0">
              <a:buNone/>
            </a:pPr>
            <a:r>
              <a:t>Heading: References (Harvard style) Bullets: - Include full citations for all stats, papers, white papers, vendor material. - Use Harvard format and ensure every in-slide claim has a cite key.</a:t>
            </a:r>
          </a:p>
          <a:p>
            <a:pPr marL="0" lvl="0" indent="0">
              <a:buNone/>
            </a:pPr>
            <a:r>
              <a:t>Notes: - If a slide includes non-free images, note the licence.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22 — Appendices &amp; supporting materials</a:t>
            </a:r>
          </a:p>
          <a:p>
            <a:pPr marL="0" lvl="0" indent="0">
              <a:buNone/>
            </a:pPr>
            <a:r>
              <a:t>Heading: Appendices Bullets: - Full code snippets (link to repo), test logs, detailed ROI calc, full case study data - Contact details and last updated date</a:t>
            </a:r>
          </a:p>
          <a:p>
            <a:pPr marL="0" lvl="0" indent="0">
              <a:buNone/>
            </a:pPr>
            <a:r>
              <a:t>Notes: - Keep appendices short and point to repo artifacts for full evidence.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3345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Speaker tips &amp; submission checklist (last slide/handout)</a:t>
            </a:r>
          </a:p>
          <a:p>
            <a:pPr marL="0" lvl="0" indent="0">
              <a:buNone/>
            </a:pPr>
            <a:r>
              <a:rPr dirty="0"/>
              <a:t>Bullets: - Keep SAQ (short answers) prepared for assessor questions on security &amp; ethics - Ensure each deliverable (report, slides, code) cross-references the LO criteria - Submission checklist: report PDF, ODP slides, code listing, test logs, professional discussion notes</a:t>
            </a:r>
          </a:p>
          <a:p>
            <a:pPr marL="0" lvl="0" indent="0">
              <a:buNone/>
            </a:pPr>
            <a:r>
              <a:rPr dirty="0"/>
              <a:t>Notes: - Suggest practicing the professional discussion using the slides as prompts.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End of template. Fill in sector-specific examples and citations before converting to a presentation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2030</Words>
  <Application>Microsoft Office PowerPoint</Application>
  <PresentationFormat>Widescreen</PresentationFormat>
  <Paragraphs>73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</vt:lpstr>
      <vt:lpstr>Office Theme</vt:lpstr>
      <vt:lpstr>LO4 — Applications &amp; Impact of Embedded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Akbar Qamar</cp:lastModifiedBy>
  <cp:revision>1</cp:revision>
  <dcterms:created xsi:type="dcterms:W3CDTF">2025-12-10T17:21:05Z</dcterms:created>
  <dcterms:modified xsi:type="dcterms:W3CDTF">2025-12-10T17:24:47Z</dcterms:modified>
</cp:coreProperties>
</file>