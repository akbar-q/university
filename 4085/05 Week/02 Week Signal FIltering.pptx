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6"/>
  </p:notesMasterIdLst>
  <p:handoutMasterIdLst>
    <p:handoutMasterId r:id="rId6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72" r:id="rId13"/>
    <p:sldId id="273" r:id="rId14"/>
    <p:sldId id="266" r:id="rId15"/>
    <p:sldId id="267" r:id="rId16"/>
    <p:sldId id="268" r:id="rId17"/>
    <p:sldId id="269" r:id="rId18"/>
    <p:sldId id="270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0" r:id="rId27"/>
    <p:sldId id="283" r:id="rId28"/>
    <p:sldId id="285" r:id="rId29"/>
    <p:sldId id="284" r:id="rId30"/>
    <p:sldId id="286" r:id="rId31"/>
    <p:sldId id="287" r:id="rId32"/>
    <p:sldId id="288" r:id="rId33"/>
    <p:sldId id="289" r:id="rId34"/>
    <p:sldId id="290" r:id="rId35"/>
    <p:sldId id="292" r:id="rId36"/>
    <p:sldId id="291" r:id="rId37"/>
    <p:sldId id="295" r:id="rId38"/>
    <p:sldId id="294" r:id="rId39"/>
    <p:sldId id="293" r:id="rId40"/>
    <p:sldId id="296" r:id="rId41"/>
    <p:sldId id="297" r:id="rId42"/>
    <p:sldId id="314" r:id="rId43"/>
    <p:sldId id="315" r:id="rId44"/>
    <p:sldId id="316" r:id="rId45"/>
    <p:sldId id="317" r:id="rId46"/>
    <p:sldId id="318" r:id="rId47"/>
    <p:sldId id="320" r:id="rId48"/>
    <p:sldId id="319" r:id="rId49"/>
    <p:sldId id="298" r:id="rId50"/>
    <p:sldId id="299" r:id="rId51"/>
    <p:sldId id="301" r:id="rId52"/>
    <p:sldId id="300" r:id="rId53"/>
    <p:sldId id="302" r:id="rId54"/>
    <p:sldId id="303" r:id="rId55"/>
    <p:sldId id="304" r:id="rId56"/>
    <p:sldId id="309" r:id="rId57"/>
    <p:sldId id="305" r:id="rId58"/>
    <p:sldId id="310" r:id="rId59"/>
    <p:sldId id="312" r:id="rId60"/>
    <p:sldId id="311" r:id="rId61"/>
    <p:sldId id="313" r:id="rId62"/>
    <p:sldId id="306" r:id="rId63"/>
    <p:sldId id="307" r:id="rId64"/>
    <p:sldId id="308" r:id="rId65"/>
  </p:sldIdLst>
  <p:sldSz cx="12192000" cy="6858000"/>
  <p:notesSz cx="6858000" cy="9144000"/>
  <p:defaultTextStyle>
    <a:defPPr rtl="0">
      <a:defRPr lang="en-GB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2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120" y="3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355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2C4E19-8368-4673-9F53-87E2D008C30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8AED4F-3DE1-4EB2-A85E-A2707C2135D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33DECA-6D21-450E-8EA5-92F91A3608CC}" type="datetime1">
              <a:rPr lang="en-GB" smtClean="0"/>
              <a:t>27/02/2025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3ECD23-30F9-4DD5-BE0E-26794FA29A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F65FB9-9ACE-4651-A201-B2797BFC879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AABB9F-CEB5-4107-8FAD-F86D727075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574497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C21DD5-60B2-4AA8-A1F6-D8D246208762}" type="datetime1">
              <a:rPr lang="en-GB" smtClean="0"/>
              <a:pPr/>
              <a:t>27/02/2025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D1BEDC-50E9-45C7-9E89-0A952ADB1772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65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1BEDC-50E9-45C7-9E89-0A952ADB1772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0456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rtlCol="0" anchor="b">
            <a:normAutofit/>
          </a:bodyPr>
          <a:lstStyle>
            <a:lvl1pPr algn="l">
              <a:defRPr sz="600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 rtlCol="0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 rtlCol="0"/>
          <a:lstStyle/>
          <a:p>
            <a:pPr rtl="0"/>
            <a:fld id="{C9F85E8B-BB25-43E0-A312-C4C9351E09EB}" type="datetime1">
              <a:rPr lang="en-GB" noProof="0" smtClean="0"/>
              <a:t>27/02/2025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 rtlCol="0"/>
          <a:lstStyle/>
          <a:p>
            <a:pPr rtl="0"/>
            <a:fld id="{6D22F896-40B5-4ADD-8801-0D06FADFA095}" type="slidenum">
              <a:rPr lang="en-GB" noProof="0" smtClean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1DD02F7-7096-4480-AFF5-1D2388297B2B}" type="datetime1">
              <a:rPr lang="en-GB" noProof="0" smtClean="0"/>
              <a:t>27/02/2025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GB" noProof="0" smtClean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rtlCol="0" anchor="b">
            <a:normAutofit/>
          </a:bodyPr>
          <a:lstStyle>
            <a:lvl1pPr algn="r">
              <a:defRPr sz="400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 rtlCol="0"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 rtlCol="0"/>
          <a:lstStyle>
            <a:lvl1pPr algn="r">
              <a:defRPr/>
            </a:lvl1pPr>
          </a:lstStyle>
          <a:p>
            <a:pPr rtl="0"/>
            <a:fld id="{E93FA21A-0498-4D7C-9321-98539BE39566}" type="datetime1">
              <a:rPr lang="en-GB" noProof="0" smtClean="0"/>
              <a:t>27/02/2025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 rtlCol="0"/>
          <a:lstStyle/>
          <a:p>
            <a:pPr rtl="0"/>
            <a:fld id="{6D22F896-40B5-4ADD-8801-0D06FADFA095}" type="slidenum">
              <a:rPr lang="en-GB" noProof="0" smtClean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9FA4F2B-E66D-49DE-B086-A99E7C5D0929}" type="datetime1">
              <a:rPr lang="en-GB" noProof="0" smtClean="0"/>
              <a:t>27/02/2025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GB" noProof="0" smtClean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rtlCol="0"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rtlCol="0"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5129BD0-7B58-4DE1-BF4A-60853CEDB945}" type="datetime1">
              <a:rPr lang="en-GB" noProof="0" smtClean="0"/>
              <a:t>27/02/2025</a:t>
            </a:fld>
            <a:endParaRPr lang="en-GB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GB" noProof="0" smtClean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E12CC0D-7277-4229-BC3D-AA8FFED97577}" type="datetime1">
              <a:rPr lang="en-GB" noProof="0" smtClean="0"/>
              <a:t>27/02/2025</a:t>
            </a:fld>
            <a:endParaRPr lang="en-GB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GB" noProof="0" smtClean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1FCA57E-94A6-4D08-8F9F-B86C2A08161A}" type="datetime1">
              <a:rPr lang="en-GB" noProof="0" smtClean="0"/>
              <a:t>27/02/2025</a:t>
            </a:fld>
            <a:endParaRPr lang="en-GB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GB" noProof="0" smtClean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rtlCol="0" anchor="b"/>
          <a:lstStyle>
            <a:lvl1pPr algn="l">
              <a:defRPr sz="320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rtlCol="0" anchor="ctr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345DD0D-6EE3-4EBE-AC7B-0FAEE5F43E3A}" type="datetime1">
              <a:rPr lang="en-GB" noProof="0" smtClean="0"/>
              <a:t>27/02/2025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GB" noProof="0" smtClean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rtlCol="0" anchor="b"/>
          <a:lstStyle>
            <a:lvl1pPr algn="l">
              <a:defRPr sz="320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B8D81ED-5986-4BF3-B7E3-FCEA1EB91F7E}" type="datetime1">
              <a:rPr lang="en-GB" noProof="0" smtClean="0"/>
              <a:t>27/02/2025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GB" noProof="0" smtClean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rtlCol="0" anchor="b"/>
          <a:lstStyle>
            <a:lvl1pPr algn="l">
              <a:defRPr sz="320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 rtlCol="0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3C28D9E-E09C-4CEE-BAC3-E66B0A5E5690}" type="datetime1">
              <a:rPr lang="en-GB" noProof="0" smtClean="0"/>
              <a:t>27/02/2025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GB" noProof="0" smtClean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rtlCol="0" anchor="ctr"/>
          <a:lstStyle>
            <a:lvl1pPr algn="l">
              <a:defRPr sz="320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rtlCol="0"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 rtlCol="0"/>
          <a:lstStyle>
            <a:lvl1pPr algn="r">
              <a:defRPr/>
            </a:lvl1pPr>
          </a:lstStyle>
          <a:p>
            <a:pPr rtl="0"/>
            <a:fld id="{3519C4BC-7890-4861-B648-5F6B5E9BB158}" type="datetime1">
              <a:rPr lang="en-GB" noProof="0" smtClean="0"/>
              <a:t>27/02/2025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 rtlCol="0"/>
          <a:lstStyle/>
          <a:p>
            <a:pPr rtl="0"/>
            <a:fld id="{6D22F896-40B5-4ADD-8801-0D06FADFA095}" type="slidenum">
              <a:rPr lang="en-GB" noProof="0" smtClean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rtlCol="0" anchor="ctr"/>
          <a:lstStyle>
            <a:lvl1pPr algn="l">
              <a:defRPr sz="320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rtlCol="0"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 rtlCol="0"/>
          <a:lstStyle>
            <a:lvl1pPr algn="r">
              <a:defRPr/>
            </a:lvl1pPr>
          </a:lstStyle>
          <a:p>
            <a:pPr rtl="0"/>
            <a:fld id="{F4AE1A87-3705-425A-96CD-FC35B44BCF00}" type="datetime1">
              <a:rPr lang="en-GB" noProof="0" smtClean="0"/>
              <a:t>27/02/2025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 rtlCol="0"/>
          <a:lstStyle/>
          <a:p>
            <a:pPr rtl="0"/>
            <a:fld id="{6D22F896-40B5-4ADD-8801-0D06FADFA095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n-GB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n-GB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rtlCol="0" anchor="b"/>
          <a:lstStyle>
            <a:lvl1pPr algn="l">
              <a:defRPr sz="320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rtlCol="0"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 rtlCol="0"/>
          <a:lstStyle>
            <a:lvl1pPr algn="r">
              <a:defRPr/>
            </a:lvl1pPr>
          </a:lstStyle>
          <a:p>
            <a:pPr rtl="0"/>
            <a:fld id="{789538C6-4E79-4BCC-ABA7-DF938E6E64CD}" type="datetime1">
              <a:rPr lang="en-GB" noProof="0" smtClean="0"/>
              <a:t>27/02/2025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 rtlCol="0"/>
          <a:lstStyle/>
          <a:p>
            <a:pPr rtl="0"/>
            <a:fld id="{6D22F896-40B5-4ADD-8801-0D06FADFA095}" type="slidenum">
              <a:rPr lang="en-GB" noProof="0" smtClean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1CBA8C9-3B51-4F27-A7D7-1A83A00D14AE}" type="datetime1">
              <a:rPr lang="en-GB" noProof="0" smtClean="0"/>
              <a:t>27/02/2025</a:t>
            </a:fld>
            <a:endParaRPr lang="en-GB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GB" noProof="0" smtClean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2ED0BB0-039B-4E8F-BC0C-B290707A142F}" type="datetime1">
              <a:rPr lang="en-GB" noProof="0" smtClean="0"/>
              <a:t>27/02/2025</a:t>
            </a:fld>
            <a:endParaRPr lang="en-GB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GB" noProof="0" smtClean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6CDB25D-9786-4BA4-AF8E-8F4824B80D21}" type="datetime1">
              <a:rPr lang="en-GB" noProof="0" smtClean="0"/>
              <a:t>27/02/2025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GB" noProof="0" smtClean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 rtlCol="0"/>
          <a:lstStyle>
            <a:lvl1pPr algn="l">
              <a:defRPr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 rtlCol="0"/>
          <a:lstStyle>
            <a:lvl1pPr algn="r">
              <a:defRPr/>
            </a:lvl1pPr>
          </a:lstStyle>
          <a:p>
            <a:pPr rtl="0"/>
            <a:fld id="{4EB419EC-2B9A-443A-ACB2-49F4621D245F}" type="datetime1">
              <a:rPr lang="en-GB" noProof="0" smtClean="0"/>
              <a:t>27/02/2025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 rtlCol="0"/>
          <a:lstStyle/>
          <a:p>
            <a:pPr rtl="0"/>
            <a:fld id="{6D22F896-40B5-4ADD-8801-0D06FADFA095}" type="slidenum">
              <a:rPr lang="en-GB" noProof="0" smtClean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1B87A8A7-D7EF-4D1D-8463-60736E203CCB}" type="datetime1">
              <a:rPr lang="en-GB" noProof="0" smtClean="0"/>
              <a:t>27/02/2025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6D22F896-40B5-4ADD-8801-0D06FADFA09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jpg"/><Relationship Id="rId4" Type="http://schemas.openxmlformats.org/officeDocument/2006/relationships/image" Target="../media/image38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7691940" cy="1825096"/>
          </a:xfrm>
        </p:spPr>
        <p:txBody>
          <a:bodyPr rtlCol="0">
            <a:normAutofit/>
          </a:bodyPr>
          <a:lstStyle/>
          <a:p>
            <a:pPr rtl="0"/>
            <a:r>
              <a:rPr lang="en-GB" sz="4000" dirty="0"/>
              <a:t>Fundamentals of Signal Processing: Analog and Digital Techniques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6299"/>
            <a:ext cx="9448800" cy="685800"/>
          </a:xfrm>
        </p:spPr>
        <p:txBody>
          <a:bodyPr rtlCol="0"/>
          <a:lstStyle/>
          <a:p>
            <a:pPr rtl="0"/>
            <a:r>
              <a:rPr lang="en-GB" dirty="0"/>
              <a:t>Akbar Q </a:t>
            </a:r>
            <a:r>
              <a:rPr lang="en-GB"/>
              <a:t>– Calander </a:t>
            </a:r>
            <a:r>
              <a:rPr lang="en-GB" dirty="0"/>
              <a:t>Week 5Mechatronics Engineering Year 1</a:t>
            </a:r>
          </a:p>
        </p:txBody>
      </p:sp>
    </p:spTree>
    <p:extLst>
      <p:ext uri="{BB962C8B-B14F-4D97-AF65-F5344CB8AC3E}">
        <p14:creationId xmlns:p14="http://schemas.microsoft.com/office/powerpoint/2010/main" val="3402371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D9E86-D92A-171E-CEDB-37C74C8CF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Introduction to Signal Processing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B60BE-AE6C-23BA-6B04-32684D524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Definition of Signal Processing</a:t>
            </a:r>
          </a:p>
          <a:p>
            <a:r>
              <a:rPr lang="en-GB" sz="3600" dirty="0"/>
              <a:t>Importance of Signal Processing in Real-World Applications (e.g., audio, communication, medical devices, etc.)</a:t>
            </a:r>
          </a:p>
          <a:p>
            <a:r>
              <a:rPr lang="en-GB" sz="3600" dirty="0"/>
              <a:t>Overview of Analog vs. Digital Signal Processing</a:t>
            </a:r>
          </a:p>
        </p:txBody>
      </p:sp>
    </p:spTree>
    <p:extLst>
      <p:ext uri="{BB962C8B-B14F-4D97-AF65-F5344CB8AC3E}">
        <p14:creationId xmlns:p14="http://schemas.microsoft.com/office/powerpoint/2010/main" val="3133343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E681-D5D0-4A35-EADB-611A700D9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006" y="1569751"/>
            <a:ext cx="10307194" cy="487649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Analog Signal Processing Overview</a:t>
            </a:r>
            <a:br>
              <a:rPr lang="en-GB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989C4-E1D6-0FB4-5046-57C48A502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sz="4000" dirty="0"/>
          </a:p>
          <a:p>
            <a:r>
              <a:rPr lang="en-GB" sz="4000" dirty="0"/>
              <a:t>Filters</a:t>
            </a:r>
          </a:p>
          <a:p>
            <a:r>
              <a:rPr lang="en-GB" sz="4000" dirty="0"/>
              <a:t>Amplifiers</a:t>
            </a:r>
          </a:p>
          <a:p>
            <a:r>
              <a:rPr lang="en-GB" sz="4000" dirty="0"/>
              <a:t>Attenuators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927126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F44A6-B886-6A5A-6C65-44060C9F0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B6650EF-6A88-CDEE-6944-3CD4364B9F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53642"/>
            <a:ext cx="12192000" cy="583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716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6399F-E34F-2822-2A94-FF260A5D6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77D80AA-6A8A-B2D6-B5AF-13799547E8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72720"/>
            <a:ext cx="12192000" cy="542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847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C8DAD-337D-AEA4-5E01-22BB5C6C8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8F839-06DA-53A0-6AF5-59160F739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EE08A1-66D5-616E-1187-B6A76F138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3730"/>
            <a:ext cx="12192000" cy="545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274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DB276-5403-718A-A0E3-4CA5BD934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957" y="764373"/>
            <a:ext cx="11009243" cy="1293028"/>
          </a:xfrm>
        </p:spPr>
        <p:txBody>
          <a:bodyPr/>
          <a:lstStyle/>
          <a:p>
            <a:r>
              <a:rPr lang="en-GB" dirty="0"/>
              <a:t>FILTERS IN ANALOG SIGNAL PROCESSING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3137F-891E-463B-B390-D0D577703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3600" dirty="0"/>
              <a:t>Types of Filters:</a:t>
            </a:r>
          </a:p>
          <a:p>
            <a:r>
              <a:rPr lang="en-GB" sz="3600" dirty="0"/>
              <a:t>Low-Pass Filters (LPF)</a:t>
            </a:r>
          </a:p>
          <a:p>
            <a:r>
              <a:rPr lang="en-GB" sz="3600" dirty="0"/>
              <a:t>High-Pass Filters (HPF)</a:t>
            </a:r>
          </a:p>
          <a:p>
            <a:r>
              <a:rPr lang="en-GB" sz="3600" dirty="0"/>
              <a:t>Band-Pass Filters (BPF)</a:t>
            </a:r>
          </a:p>
          <a:p>
            <a:r>
              <a:rPr lang="en-GB" sz="3600" dirty="0"/>
              <a:t>Band-Stop (Notch) Filters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44114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84830EE-25D1-33F9-0A4B-5DFDA7DBF3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9112" y="0"/>
            <a:ext cx="99137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734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8A95F-EA97-D146-A943-343D800A0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1F4D005-FCE9-1A9D-2B86-24A9C91844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532" y="-52092"/>
            <a:ext cx="11791136" cy="6901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760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07DE5-1ED5-02F2-FCE5-F2639420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C6CFB3D-0B4B-DF5D-8D2A-59DA8216D6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6138" y="0"/>
            <a:ext cx="114682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498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15103-BCC4-5C21-8C1F-CEEF3DB08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Low pass and high pass formula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E98DE20-5FFB-954A-7D18-738B525444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893" y="2218458"/>
            <a:ext cx="11848213" cy="4460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159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C5C4A-2BD5-FC5C-E670-FC82B290A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-3db is when</a:t>
            </a:r>
            <a:br>
              <a:rPr lang="en-GB" dirty="0"/>
            </a:br>
            <a:r>
              <a:rPr lang="en-GB" dirty="0"/>
              <a:t>power output is half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A08687-6F75-CDAC-7550-A597F2843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4" y="2534980"/>
            <a:ext cx="12178566" cy="432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381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B836880-BF75-4385-9994-9270F8ACF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6BCFBE2-C65F-42E3-A14A-5D04B9842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4C60EC-C5B5-B378-4064-CE5050BDF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3306744" cy="1293028"/>
          </a:xfrm>
        </p:spPr>
        <p:txBody>
          <a:bodyPr>
            <a:normAutofit/>
          </a:bodyPr>
          <a:lstStyle/>
          <a:p>
            <a:r>
              <a:rPr lang="en-GB" sz="3200" dirty="0"/>
              <a:t>Power halves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E2374-46B4-2A89-7241-F66588105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94560"/>
            <a:ext cx="3306742" cy="4024125"/>
          </a:xfrm>
        </p:spPr>
        <p:txBody>
          <a:bodyPr>
            <a:normAutofit/>
          </a:bodyPr>
          <a:lstStyle/>
          <a:p>
            <a:r>
              <a:rPr lang="en-GB" sz="1600" dirty="0"/>
              <a:t>Power is Voltage x Current</a:t>
            </a:r>
          </a:p>
          <a:p>
            <a:pPr marL="0" indent="0">
              <a:buNone/>
            </a:pPr>
            <a:endParaRPr lang="en-US" sz="160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8D32B90-922C-4411-A898-3F03AA80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1066164"/>
            <a:ext cx="6765949" cy="5148371"/>
          </a:xfrm>
          <a:prstGeom prst="roundRect">
            <a:avLst>
              <a:gd name="adj" fmla="val 2403"/>
            </a:avLst>
          </a:prstGeom>
          <a:solidFill>
            <a:srgbClr val="FFFFF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D93B79-9957-B5B6-08B2-8633D9B25A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28" b="-3"/>
          <a:stretch/>
        </p:blipFill>
        <p:spPr>
          <a:xfrm>
            <a:off x="4955339" y="1336566"/>
            <a:ext cx="6127287" cy="4607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578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95DD5BC2-A8E7-4CAD-955A-3807355EC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7B40B49E-0AAE-4F83-8B0A-EB7C41036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262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11">
            <a:extLst>
              <a:ext uri="{FF2B5EF4-FFF2-40B4-BE49-F238E27FC236}">
                <a16:creationId xmlns:a16="http://schemas.microsoft.com/office/drawing/2014/main" id="{52009DA8-640E-4004-AA63-72884752D8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03" y="643464"/>
            <a:ext cx="10905195" cy="5571072"/>
          </a:xfrm>
          <a:prstGeom prst="roundRect">
            <a:avLst>
              <a:gd name="adj" fmla="val 2403"/>
            </a:avLst>
          </a:prstGeom>
          <a:solidFill>
            <a:srgbClr val="FFFFF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A64FF46-CE41-B096-14BC-0E1C5B91E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447" y="873252"/>
            <a:ext cx="9087105" cy="5111496"/>
          </a:xfrm>
          <a:prstGeom prst="rect">
            <a:avLst/>
          </a:prstGeom>
          <a:ln w="31750" cap="sq">
            <a:noFill/>
            <a:miter lim="800000"/>
          </a:ln>
        </p:spPr>
      </p:pic>
    </p:spTree>
    <p:extLst>
      <p:ext uri="{BB962C8B-B14F-4D97-AF65-F5344CB8AC3E}">
        <p14:creationId xmlns:p14="http://schemas.microsoft.com/office/powerpoint/2010/main" val="22918946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ounded Rectangle 14">
            <a:extLst>
              <a:ext uri="{FF2B5EF4-FFF2-40B4-BE49-F238E27FC236}">
                <a16:creationId xmlns:a16="http://schemas.microsoft.com/office/drawing/2014/main" id="{1FDFF85F-F105-40D5-9793-90419158C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AB47A4-BA8C-4250-88BD-D49C68C5F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6C8958D-EB99-414F-B735-863B67BB1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4636008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E37FAD-869A-F869-297F-8881E0695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3687417" cy="1920372"/>
          </a:xfrm>
        </p:spPr>
        <p:txBody>
          <a:bodyPr>
            <a:norm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</a:rPr>
              <a:t>Impedance mismatch</a:t>
            </a: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9E5F3CB-7BDD-4E64-B274-CD900F08C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943FA3-BEDC-0720-A82F-7845DC56C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821774"/>
            <a:ext cx="3687417" cy="3148329"/>
          </a:xfrm>
        </p:spPr>
        <p:txBody>
          <a:bodyPr>
            <a:noAutofit/>
          </a:bodyPr>
          <a:lstStyle/>
          <a:p>
            <a:r>
              <a:rPr lang="en-GB" sz="2400" dirty="0">
                <a:solidFill>
                  <a:schemeClr val="bg1"/>
                </a:solidFill>
              </a:rPr>
              <a:t>Impedance of the filter is difficult to control with a passive filter</a:t>
            </a:r>
          </a:p>
          <a:p>
            <a:r>
              <a:rPr lang="en-GB" sz="2400" dirty="0">
                <a:solidFill>
                  <a:schemeClr val="bg1"/>
                </a:solidFill>
              </a:rPr>
              <a:t>Active Filters can be Used to Increase Current Drive</a:t>
            </a:r>
          </a:p>
          <a:p>
            <a:r>
              <a:rPr lang="en-GB" sz="2400" dirty="0">
                <a:solidFill>
                  <a:schemeClr val="bg1"/>
                </a:solidFill>
              </a:rPr>
              <a:t>Also to control impedance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19F9222-3B53-CE31-DAE7-74C497CB4E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9475" y="1814718"/>
            <a:ext cx="6269058" cy="3228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811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4D312-A41F-2FF8-3A13-6C19F49D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 need to recover losses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DA47B8F-9BEB-C87D-98A3-213FDC07EB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2135" y="2202259"/>
            <a:ext cx="12214135" cy="465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25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DFCAC-5D4C-4228-7A3B-763D287E1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EB8F867-F68F-A51D-0D9F-F16C82C0B4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392776" cy="6939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3107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F97AB-5AE7-F7BE-BF3B-6B30648A3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9610" y="188949"/>
            <a:ext cx="8610600" cy="1293028"/>
          </a:xfrm>
        </p:spPr>
        <p:txBody>
          <a:bodyPr/>
          <a:lstStyle/>
          <a:p>
            <a:r>
              <a:rPr lang="en-GB" dirty="0"/>
              <a:t>Unity </a:t>
            </a:r>
            <a:r>
              <a:rPr lang="en-GB"/>
              <a:t>Voltage Gain Mode</a:t>
            </a:r>
            <a:endParaRPr lang="en-US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DCF1628E-1309-0ED1-0678-16B12894E9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1789" y="1182990"/>
            <a:ext cx="10828421" cy="567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7611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ounded Rectangle 14">
            <a:extLst>
              <a:ext uri="{FF2B5EF4-FFF2-40B4-BE49-F238E27FC236}">
                <a16:creationId xmlns:a16="http://schemas.microsoft.com/office/drawing/2014/main" id="{1FDFF85F-F105-40D5-9793-90419158C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AB47A4-BA8C-4250-88BD-D49C68C5F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6C8958D-EB99-414F-B735-863B67BB1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4636008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36E770-AF3B-35F1-FD46-F6DAD225E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3687417" cy="1920372"/>
          </a:xfrm>
        </p:spPr>
        <p:txBody>
          <a:bodyPr>
            <a:normAutofit/>
          </a:bodyPr>
          <a:lstStyle/>
          <a:p>
            <a:pPr algn="l"/>
            <a:r>
              <a:rPr lang="en-GB" sz="3600">
                <a:solidFill>
                  <a:schemeClr val="bg1"/>
                </a:solidFill>
              </a:rPr>
              <a:t>Why is unity voltage gain useful?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9E5F3CB-7BDD-4E64-B274-CD900F08C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2" name="Content Placeholder 8">
            <a:extLst>
              <a:ext uri="{FF2B5EF4-FFF2-40B4-BE49-F238E27FC236}">
                <a16:creationId xmlns:a16="http://schemas.microsoft.com/office/drawing/2014/main" id="{53E9C776-B61F-42F1-89DB-B34256D2F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821774"/>
            <a:ext cx="3687417" cy="3148329"/>
          </a:xfrm>
        </p:spPr>
        <p:txBody>
          <a:bodyPr>
            <a:normAutofit fontScale="92500"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Increases Current Drive at the Output</a:t>
            </a:r>
          </a:p>
          <a:p>
            <a:r>
              <a:rPr lang="en-US" sz="2800" dirty="0">
                <a:solidFill>
                  <a:schemeClr val="bg1"/>
                </a:solidFill>
              </a:rPr>
              <a:t>Decouples the Load Current from Sensitive Source</a:t>
            </a:r>
          </a:p>
          <a:p>
            <a:r>
              <a:rPr lang="en-US" sz="2800" dirty="0">
                <a:solidFill>
                  <a:schemeClr val="bg1"/>
                </a:solidFill>
              </a:rPr>
              <a:t>Maintains the Same Signal Shape</a:t>
            </a:r>
          </a:p>
        </p:txBody>
      </p:sp>
      <p:pic>
        <p:nvPicPr>
          <p:cNvPr id="5" name="Content Placeholder 4" descr="A diagram of a circuit&#10;&#10;AI-generated content may be incorrect.">
            <a:extLst>
              <a:ext uri="{FF2B5EF4-FFF2-40B4-BE49-F238E27FC236}">
                <a16:creationId xmlns:a16="http://schemas.microsoft.com/office/drawing/2014/main" id="{711B7A94-F094-044F-BDB8-303424BABE1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78"/>
          <a:stretch/>
        </p:blipFill>
        <p:spPr>
          <a:xfrm>
            <a:off x="4898799" y="1548900"/>
            <a:ext cx="7293201" cy="4099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0102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F524EF-31EA-97D8-6184-33FDD7D51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ounded Rectangle 14">
            <a:extLst>
              <a:ext uri="{FF2B5EF4-FFF2-40B4-BE49-F238E27FC236}">
                <a16:creationId xmlns:a16="http://schemas.microsoft.com/office/drawing/2014/main" id="{89E18BD9-B28A-8BBB-B639-ED48FADEE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DDE72A-E30F-FFB6-FA86-C5569A27B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1C9F47A-A43C-D78D-6B1F-5D5D8523C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4636008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78A96B-054E-78C5-8244-7D397463E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3687417" cy="1920372"/>
          </a:xfrm>
        </p:spPr>
        <p:txBody>
          <a:bodyPr>
            <a:normAutofit/>
          </a:bodyPr>
          <a:lstStyle/>
          <a:p>
            <a:pPr algn="l"/>
            <a:r>
              <a:rPr lang="en-GB" sz="2800" dirty="0">
                <a:solidFill>
                  <a:schemeClr val="bg1"/>
                </a:solidFill>
              </a:rPr>
              <a:t>Sometimes the voltage needs to be reduced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E749B60-4218-3373-CB25-C25E32C597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2" name="Content Placeholder 8">
            <a:extLst>
              <a:ext uri="{FF2B5EF4-FFF2-40B4-BE49-F238E27FC236}">
                <a16:creationId xmlns:a16="http://schemas.microsoft.com/office/drawing/2014/main" id="{0AEAD71A-EA0D-7370-BA09-FB14032DC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821774"/>
            <a:ext cx="3687417" cy="3513712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Scales down voltage to fit within ADC range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Eg</a:t>
            </a:r>
            <a:r>
              <a:rPr lang="en-US" sz="2400" dirty="0">
                <a:solidFill>
                  <a:schemeClr val="bg1"/>
                </a:solidFill>
              </a:rPr>
              <a:t>, the ESP32 can measure </a:t>
            </a:r>
            <a:r>
              <a:rPr lang="en-US" sz="2400" dirty="0" err="1">
                <a:solidFill>
                  <a:schemeClr val="bg1"/>
                </a:solidFill>
              </a:rPr>
              <a:t>upto</a:t>
            </a:r>
            <a:r>
              <a:rPr lang="en-US" sz="2400" dirty="0">
                <a:solidFill>
                  <a:schemeClr val="bg1"/>
                </a:solidFill>
              </a:rPr>
              <a:t> 1.1V without internal dividers but with a 1:10 division it could measure much higher voltage like 24V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8B43F4-8ACF-9EDC-3A81-051D63A413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895" b="4895"/>
          <a:stretch/>
        </p:blipFill>
        <p:spPr>
          <a:xfrm>
            <a:off x="4767943" y="1548899"/>
            <a:ext cx="7424057" cy="4172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78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08331-11CE-480A-432F-AD531622B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BFD96-264A-1742-204B-4ED419D7B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633744"/>
            <a:ext cx="8610600" cy="1293028"/>
          </a:xfrm>
        </p:spPr>
        <p:txBody>
          <a:bodyPr>
            <a:noAutofit/>
          </a:bodyPr>
          <a:lstStyle/>
          <a:p>
            <a:r>
              <a:rPr lang="en-GB" sz="3200" dirty="0" err="1"/>
              <a:t>Opamps</a:t>
            </a:r>
            <a:r>
              <a:rPr lang="en-GB" sz="3200" dirty="0"/>
              <a:t> can be used for attenuation given the signal fits within the </a:t>
            </a:r>
            <a:r>
              <a:rPr lang="en-GB" sz="3200" dirty="0" err="1"/>
              <a:t>opamp</a:t>
            </a:r>
            <a:r>
              <a:rPr lang="en-GB" sz="3200" dirty="0"/>
              <a:t> supply voltage rails</a:t>
            </a:r>
            <a:endParaRPr lang="en-US" sz="3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980141A-306F-A231-0154-19BBF3B7B9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-22135" y="2202259"/>
            <a:ext cx="12214135" cy="465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0431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2FD9F-526C-2456-70DE-677CB3F47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9D531-61A5-82F6-D3CB-B53F95E82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957" y="448687"/>
            <a:ext cx="11009243" cy="1293028"/>
          </a:xfrm>
        </p:spPr>
        <p:txBody>
          <a:bodyPr/>
          <a:lstStyle/>
          <a:p>
            <a:r>
              <a:rPr lang="en-US" b="1" dirty="0"/>
              <a:t>Caveats of Using Op-Amps in Real-World Signal Processing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631CF-56B9-569F-06E7-9BD43BBD1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741716"/>
            <a:ext cx="10820400" cy="501831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Input Offset Voltage:</a:t>
            </a:r>
          </a:p>
          <a:p>
            <a:pPr marL="0" indent="0">
              <a:buNone/>
            </a:pPr>
            <a:r>
              <a:rPr lang="en-US" sz="2400" dirty="0"/>
              <a:t>    Small voltage difference between the inverting and non-inverting inputs.</a:t>
            </a:r>
          </a:p>
          <a:p>
            <a:pPr marL="0" indent="0">
              <a:buNone/>
            </a:pPr>
            <a:r>
              <a:rPr lang="en-US" sz="2400" dirty="0"/>
              <a:t>    Causes DC error in the output, especially in high-gain applications.</a:t>
            </a:r>
          </a:p>
          <a:p>
            <a:pPr marL="0" indent="0">
              <a:buNone/>
            </a:pPr>
            <a:r>
              <a:rPr lang="en-US" sz="2400" dirty="0"/>
              <a:t>    Requires external trimming or offset nulling circuits.</a:t>
            </a:r>
          </a:p>
          <a:p>
            <a:pPr marL="0" indent="0">
              <a:buNone/>
            </a:pPr>
            <a:r>
              <a:rPr lang="en-US" sz="2400" dirty="0"/>
              <a:t>Input Bias Current:</a:t>
            </a:r>
          </a:p>
          <a:p>
            <a:pPr marL="0" indent="0">
              <a:buNone/>
            </a:pPr>
            <a:r>
              <a:rPr lang="en-US" sz="2400" dirty="0"/>
              <a:t>    Small current flowing into the input terminals.</a:t>
            </a:r>
          </a:p>
          <a:p>
            <a:pPr marL="0" indent="0">
              <a:buNone/>
            </a:pPr>
            <a:r>
              <a:rPr lang="en-US" sz="2400" dirty="0"/>
              <a:t>    Can cause voltage drops across input resistors, leading to errors.</a:t>
            </a:r>
          </a:p>
          <a:p>
            <a:pPr marL="0" indent="0">
              <a:buNone/>
            </a:pPr>
            <a:r>
              <a:rPr lang="en-US" sz="2400" dirty="0"/>
              <a:t>    Critical in high-impedance circuits.</a:t>
            </a:r>
          </a:p>
          <a:p>
            <a:pPr marL="0" indent="0">
              <a:buNone/>
            </a:pPr>
            <a:r>
              <a:rPr lang="en-US" sz="2400" dirty="0"/>
              <a:t>Input Offset Current:</a:t>
            </a:r>
          </a:p>
          <a:p>
            <a:pPr marL="0" indent="0">
              <a:buNone/>
            </a:pPr>
            <a:r>
              <a:rPr lang="en-US" sz="2400" dirty="0"/>
              <a:t>    Difference between the bias currents of the two input terminals.</a:t>
            </a:r>
          </a:p>
          <a:p>
            <a:pPr marL="0" indent="0">
              <a:buNone/>
            </a:pPr>
            <a:r>
              <a:rPr lang="en-US" sz="2400" dirty="0"/>
              <a:t>    Exacerbates errors in precision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6637826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B2640-9911-1B5B-4874-2F737FA53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8C65D-9D6A-CDEF-F742-D6395929B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957" y="448688"/>
            <a:ext cx="11009243" cy="1293028"/>
          </a:xfrm>
        </p:spPr>
        <p:txBody>
          <a:bodyPr/>
          <a:lstStyle/>
          <a:p>
            <a:r>
              <a:rPr lang="en-US" b="1" dirty="0"/>
              <a:t>Caveats of Using Op-Amps in Real-World Signal Processing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A6CAD-C62F-8717-C35C-3E03A4604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741716"/>
            <a:ext cx="10820400" cy="501831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/>
              <a:t>Limited Bandwidth:</a:t>
            </a:r>
          </a:p>
          <a:p>
            <a:pPr marL="0" indent="0">
              <a:buNone/>
            </a:pPr>
            <a:r>
              <a:rPr lang="en-US" sz="2400" dirty="0"/>
              <a:t>    Op-amps have a finite gain-bandwidth product (GBW).</a:t>
            </a:r>
          </a:p>
          <a:p>
            <a:pPr marL="0" indent="0">
              <a:buNone/>
            </a:pPr>
            <a:r>
              <a:rPr lang="en-US" sz="2400" dirty="0"/>
              <a:t>    High-frequency signals may experience attenuation or phase shift.</a:t>
            </a:r>
          </a:p>
          <a:p>
            <a:pPr marL="0" indent="0">
              <a:buNone/>
            </a:pPr>
            <a:r>
              <a:rPr lang="en-US" sz="2400" dirty="0"/>
              <a:t>Slew Rate Limitation:</a:t>
            </a:r>
          </a:p>
          <a:p>
            <a:pPr marL="0" indent="0">
              <a:buNone/>
            </a:pPr>
            <a:r>
              <a:rPr lang="en-US" sz="2400" dirty="0"/>
              <a:t>    Maximum rate of change of the output voltage.</a:t>
            </a:r>
          </a:p>
          <a:p>
            <a:pPr marL="0" indent="0">
              <a:buNone/>
            </a:pPr>
            <a:r>
              <a:rPr lang="en-US" sz="2400" dirty="0"/>
              <a:t>    Limits the op-amp’s ability to handle fast-changing signals, causing distortion.</a:t>
            </a:r>
          </a:p>
          <a:p>
            <a:pPr marL="0" indent="0">
              <a:buNone/>
            </a:pPr>
            <a:r>
              <a:rPr lang="en-US" sz="2400" dirty="0"/>
              <a:t>Non-Rail-to-Rail Operation:</a:t>
            </a:r>
          </a:p>
          <a:p>
            <a:pPr marL="0" indent="0">
              <a:buNone/>
            </a:pPr>
            <a:r>
              <a:rPr lang="en-US" sz="2400" dirty="0"/>
              <a:t>    Many op-amps cannot swing their output voltage to the supply rails.</a:t>
            </a:r>
          </a:p>
          <a:p>
            <a:pPr marL="0" indent="0">
              <a:buNone/>
            </a:pPr>
            <a:r>
              <a:rPr lang="en-US" sz="2400" dirty="0"/>
              <a:t>    Reduces dynamic range, especially in low-voltage applications.</a:t>
            </a:r>
          </a:p>
          <a:p>
            <a:pPr marL="0" indent="0">
              <a:buNone/>
            </a:pPr>
            <a:r>
              <a:rPr lang="en-US" sz="2400" dirty="0"/>
              <a:t>Power Supply Limitations:</a:t>
            </a:r>
          </a:p>
          <a:p>
            <a:pPr marL="0" indent="0">
              <a:buNone/>
            </a:pPr>
            <a:r>
              <a:rPr lang="en-US" sz="2400" dirty="0"/>
              <a:t>    Op-amps require stable and clean power supplies.</a:t>
            </a:r>
          </a:p>
          <a:p>
            <a:pPr marL="0" indent="0">
              <a:buNone/>
            </a:pPr>
            <a:r>
              <a:rPr lang="en-US" sz="2400" dirty="0"/>
              <a:t>    Noise or fluctuations in the supply can affect performance.</a:t>
            </a:r>
          </a:p>
        </p:txBody>
      </p:sp>
    </p:spTree>
    <p:extLst>
      <p:ext uri="{BB962C8B-B14F-4D97-AF65-F5344CB8AC3E}">
        <p14:creationId xmlns:p14="http://schemas.microsoft.com/office/powerpoint/2010/main" val="26359572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316B3-FFB2-02DD-6AAE-8A9206108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CF4E8-B1CA-3919-9509-5A6E2FDF9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957" y="448687"/>
            <a:ext cx="11009243" cy="1293028"/>
          </a:xfrm>
        </p:spPr>
        <p:txBody>
          <a:bodyPr/>
          <a:lstStyle/>
          <a:p>
            <a:r>
              <a:rPr lang="en-US" b="1" dirty="0"/>
              <a:t>Caveats of Using Op-Amps in Real-World Signal Processing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E0058-79C1-C317-E82D-A1A77E422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741716"/>
            <a:ext cx="10820400" cy="50183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Temperature Sensitivity:</a:t>
            </a:r>
          </a:p>
          <a:p>
            <a:pPr marL="0" indent="0">
              <a:buNone/>
            </a:pPr>
            <a:r>
              <a:rPr lang="en-US" sz="2400" dirty="0"/>
              <a:t>    Parameters like offset voltage, bias current, and gain vary with temperature.</a:t>
            </a:r>
          </a:p>
          <a:p>
            <a:pPr marL="0" indent="0">
              <a:buNone/>
            </a:pPr>
            <a:r>
              <a:rPr lang="en-US" sz="2400" dirty="0"/>
              <a:t>    Requires careful design for temperature-critical applications.</a:t>
            </a:r>
          </a:p>
          <a:p>
            <a:pPr marL="0" indent="0">
              <a:buNone/>
            </a:pPr>
            <a:r>
              <a:rPr lang="en-US" sz="2400" dirty="0"/>
              <a:t>Common-Mode Rejection Ratio (CMRR) Limitations:</a:t>
            </a:r>
          </a:p>
          <a:p>
            <a:pPr marL="0" indent="0">
              <a:buNone/>
            </a:pPr>
            <a:r>
              <a:rPr lang="en-US" sz="2400" dirty="0"/>
              <a:t>    Op-amps may not perfectly reject common-mode signals.</a:t>
            </a:r>
          </a:p>
          <a:p>
            <a:pPr marL="0" indent="0">
              <a:buNone/>
            </a:pPr>
            <a:r>
              <a:rPr lang="en-US" sz="2400" dirty="0"/>
              <a:t>    Can introduce errors in differential amplification.</a:t>
            </a:r>
          </a:p>
          <a:p>
            <a:pPr marL="0" indent="0">
              <a:buNone/>
            </a:pPr>
            <a:r>
              <a:rPr lang="en-US" sz="2400" dirty="0"/>
              <a:t>Output Impedance:</a:t>
            </a:r>
          </a:p>
          <a:p>
            <a:pPr marL="0" indent="0">
              <a:buNone/>
            </a:pPr>
            <a:r>
              <a:rPr lang="en-US" sz="2400" dirty="0"/>
              <a:t>    Non-zero output impedance can affect signal integrity.</a:t>
            </a:r>
          </a:p>
          <a:p>
            <a:pPr marL="0" indent="0">
              <a:buNone/>
            </a:pPr>
            <a:r>
              <a:rPr lang="en-US" sz="2400" dirty="0"/>
              <a:t>    May require buffering for low-impedance loads.</a:t>
            </a:r>
          </a:p>
        </p:txBody>
      </p:sp>
    </p:spTree>
    <p:extLst>
      <p:ext uri="{BB962C8B-B14F-4D97-AF65-F5344CB8AC3E}">
        <p14:creationId xmlns:p14="http://schemas.microsoft.com/office/powerpoint/2010/main" val="17245511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9E7C7-A2D4-6407-D0E7-97B9F3B5D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81196-7FAB-7667-2187-8096F7773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633744"/>
            <a:ext cx="8610600" cy="1293028"/>
          </a:xfrm>
        </p:spPr>
        <p:txBody>
          <a:bodyPr>
            <a:noAutofit/>
          </a:bodyPr>
          <a:lstStyle/>
          <a:p>
            <a:r>
              <a:rPr lang="en-GB" sz="2800" dirty="0"/>
              <a:t>Instrumentation amplifiers are designed to overcome generic </a:t>
            </a:r>
            <a:r>
              <a:rPr lang="en-GB" sz="2800" dirty="0" err="1"/>
              <a:t>opamp</a:t>
            </a:r>
            <a:r>
              <a:rPr lang="en-GB" sz="2800" dirty="0"/>
              <a:t> caveats</a:t>
            </a:r>
            <a:endParaRPr lang="en-US" sz="28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2F53FBB-CF45-8690-18F5-044AA69E8E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-22135" y="2202259"/>
            <a:ext cx="12214135" cy="465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0948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A3DB4-B440-94C4-50E6-4917485EE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58932-83E9-2F69-77D5-3FEC2EEB3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957" y="448687"/>
            <a:ext cx="11009243" cy="1293028"/>
          </a:xfrm>
        </p:spPr>
        <p:txBody>
          <a:bodyPr/>
          <a:lstStyle/>
          <a:p>
            <a:r>
              <a:rPr lang="en-US" b="1" dirty="0"/>
              <a:t>What is an Instrumentation Amplifier?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B2B53-641F-A612-C50E-3478FD277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741716"/>
            <a:ext cx="10820400" cy="501831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A specialized type of differential amplifier with: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/>
              <a:t>High input impedance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/>
              <a:t>High common-mode rejection ratio (CMRR)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/>
              <a:t>Precise gain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Typically built using </a:t>
            </a:r>
            <a:r>
              <a:rPr lang="en-US" sz="3600" b="1" dirty="0"/>
              <a:t>3 op-amps</a:t>
            </a:r>
            <a:r>
              <a:rPr lang="en-US" sz="3600" dirty="0"/>
              <a:t> or integrated as a single IC.</a:t>
            </a:r>
          </a:p>
        </p:txBody>
      </p:sp>
    </p:spTree>
    <p:extLst>
      <p:ext uri="{BB962C8B-B14F-4D97-AF65-F5344CB8AC3E}">
        <p14:creationId xmlns:p14="http://schemas.microsoft.com/office/powerpoint/2010/main" val="4666866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D8894-C5CB-BF1B-FDCC-63A52E01F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EE3C5-E601-E56E-2F90-A3C7F9575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957" y="448687"/>
            <a:ext cx="11009243" cy="1293028"/>
          </a:xfrm>
        </p:spPr>
        <p:txBody>
          <a:bodyPr/>
          <a:lstStyle/>
          <a:p>
            <a:r>
              <a:rPr lang="en-US" b="1" dirty="0"/>
              <a:t>Key Advantages of Instrumentation Amplifiers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14022-4CA6-8033-8304-971ADE805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91343"/>
            <a:ext cx="10820400" cy="526868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/>
              <a:t>High Input Impedance:</a:t>
            </a:r>
          </a:p>
          <a:p>
            <a:pPr marL="0" indent="0">
              <a:buNone/>
            </a:pPr>
            <a:r>
              <a:rPr lang="en-US" sz="2400" dirty="0"/>
              <a:t>    Minimizes loading effects on the signal source.</a:t>
            </a:r>
          </a:p>
          <a:p>
            <a:pPr marL="0" indent="0">
              <a:buNone/>
            </a:pPr>
            <a:r>
              <a:rPr lang="en-US" sz="2400" dirty="0"/>
              <a:t>    Fixes issues caused by input bias current in standard op-amps.</a:t>
            </a:r>
          </a:p>
          <a:p>
            <a:pPr marL="0" indent="0">
              <a:buNone/>
            </a:pPr>
            <a:r>
              <a:rPr lang="en-US" sz="2400" dirty="0"/>
              <a:t>High Common-Mode Rejection Ratio (CMRR):</a:t>
            </a:r>
          </a:p>
          <a:p>
            <a:pPr marL="0" indent="0">
              <a:buNone/>
            </a:pPr>
            <a:r>
              <a:rPr lang="en-US" sz="2400" dirty="0"/>
              <a:t>    Effectively rejects common-mode noise and interference.</a:t>
            </a:r>
          </a:p>
          <a:p>
            <a:pPr marL="0" indent="0">
              <a:buNone/>
            </a:pPr>
            <a:r>
              <a:rPr lang="en-US" sz="2400" dirty="0"/>
              <a:t>    Solves problems with common-mode signals in standard op-amps.</a:t>
            </a:r>
          </a:p>
          <a:p>
            <a:pPr marL="0" indent="0">
              <a:buNone/>
            </a:pPr>
            <a:r>
              <a:rPr lang="en-US" sz="2400" dirty="0"/>
              <a:t>Precise Differential Amplification:</a:t>
            </a:r>
          </a:p>
          <a:p>
            <a:pPr marL="0" indent="0">
              <a:buNone/>
            </a:pPr>
            <a:r>
              <a:rPr lang="en-US" sz="2400" dirty="0"/>
              <a:t>    Amplifies only the difference between two input signals.</a:t>
            </a:r>
          </a:p>
          <a:p>
            <a:pPr marL="0" indent="0">
              <a:buNone/>
            </a:pPr>
            <a:r>
              <a:rPr lang="en-US" sz="2400" dirty="0"/>
              <a:t>    Reduces errors caused by input offset voltage and current.</a:t>
            </a:r>
          </a:p>
          <a:p>
            <a:pPr marL="0" indent="0">
              <a:buNone/>
            </a:pPr>
            <a:r>
              <a:rPr lang="en-US" sz="2400" dirty="0"/>
              <a:t>Adjustable Gain:</a:t>
            </a:r>
          </a:p>
          <a:p>
            <a:pPr marL="0" indent="0">
              <a:buNone/>
            </a:pPr>
            <a:r>
              <a:rPr lang="en-US" sz="2400" dirty="0"/>
              <a:t>    Gain is set using a single external resistor.</a:t>
            </a:r>
          </a:p>
          <a:p>
            <a:pPr marL="0" indent="0">
              <a:buNone/>
            </a:pPr>
            <a:r>
              <a:rPr lang="en-US" sz="2400" dirty="0"/>
              <a:t>    Provides better control and accuracy compared to standard op-amp configurations.</a:t>
            </a:r>
          </a:p>
        </p:txBody>
      </p:sp>
    </p:spTree>
    <p:extLst>
      <p:ext uri="{BB962C8B-B14F-4D97-AF65-F5344CB8AC3E}">
        <p14:creationId xmlns:p14="http://schemas.microsoft.com/office/powerpoint/2010/main" val="41806437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582A7-1ED4-BFA0-34E7-CBD36A4AC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EF0F2-DDD7-47C0-B34D-A9DB53B5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957" y="448687"/>
            <a:ext cx="11009243" cy="1293028"/>
          </a:xfrm>
        </p:spPr>
        <p:txBody>
          <a:bodyPr/>
          <a:lstStyle/>
          <a:p>
            <a:r>
              <a:rPr lang="en-US" b="1" dirty="0"/>
              <a:t>Key Advantages of Instrumentation Amplifiers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FBE18-4A03-4DCF-847C-D15E49BC9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91343"/>
            <a:ext cx="10820400" cy="526868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/>
              <a:t>High Input Impedance:</a:t>
            </a:r>
          </a:p>
          <a:p>
            <a:pPr marL="0" indent="0">
              <a:buNone/>
            </a:pPr>
            <a:r>
              <a:rPr lang="en-US" sz="2400" dirty="0"/>
              <a:t>    Minimizes loading effects on the signal source.</a:t>
            </a:r>
          </a:p>
          <a:p>
            <a:pPr marL="0" indent="0">
              <a:buNone/>
            </a:pPr>
            <a:r>
              <a:rPr lang="en-US" sz="2400" dirty="0"/>
              <a:t>    Fixes issues caused by input bias current in standard op-amps.</a:t>
            </a:r>
          </a:p>
          <a:p>
            <a:pPr marL="0" indent="0">
              <a:buNone/>
            </a:pPr>
            <a:r>
              <a:rPr lang="en-US" sz="2400" dirty="0"/>
              <a:t>High Common-Mode Rejection Ratio (CMRR):</a:t>
            </a:r>
          </a:p>
          <a:p>
            <a:pPr marL="0" indent="0">
              <a:buNone/>
            </a:pPr>
            <a:r>
              <a:rPr lang="en-US" sz="2400" dirty="0"/>
              <a:t>    Effectively rejects common-mode noise and interference.</a:t>
            </a:r>
          </a:p>
          <a:p>
            <a:pPr marL="0" indent="0">
              <a:buNone/>
            </a:pPr>
            <a:r>
              <a:rPr lang="en-US" sz="2400" dirty="0"/>
              <a:t>    Solves problems with common-mode signals in standard op-amps.</a:t>
            </a:r>
          </a:p>
          <a:p>
            <a:pPr marL="0" indent="0">
              <a:buNone/>
            </a:pPr>
            <a:r>
              <a:rPr lang="en-US" sz="2400" dirty="0"/>
              <a:t>Precise Differential Amplification:</a:t>
            </a:r>
          </a:p>
          <a:p>
            <a:pPr marL="0" indent="0">
              <a:buNone/>
            </a:pPr>
            <a:r>
              <a:rPr lang="en-US" sz="2400" dirty="0"/>
              <a:t>    Amplifies only the difference between two input signals.</a:t>
            </a:r>
          </a:p>
          <a:p>
            <a:pPr marL="0" indent="0">
              <a:buNone/>
            </a:pPr>
            <a:r>
              <a:rPr lang="en-US" sz="2400" dirty="0"/>
              <a:t>    Reduces errors caused by input offset voltage and current.</a:t>
            </a:r>
          </a:p>
          <a:p>
            <a:pPr marL="0" indent="0">
              <a:buNone/>
            </a:pPr>
            <a:r>
              <a:rPr lang="en-US" sz="2400" dirty="0"/>
              <a:t>Adjustable Gain:</a:t>
            </a:r>
          </a:p>
          <a:p>
            <a:pPr marL="0" indent="0">
              <a:buNone/>
            </a:pPr>
            <a:r>
              <a:rPr lang="en-US" sz="2400" dirty="0"/>
              <a:t>    Gain is set using a single external resistor.</a:t>
            </a:r>
          </a:p>
          <a:p>
            <a:pPr marL="0" indent="0">
              <a:buNone/>
            </a:pPr>
            <a:r>
              <a:rPr lang="en-US" sz="2400" dirty="0"/>
              <a:t>    Provides better control and accuracy compared to standard op-amp configurations.</a:t>
            </a:r>
          </a:p>
        </p:txBody>
      </p:sp>
    </p:spTree>
    <p:extLst>
      <p:ext uri="{BB962C8B-B14F-4D97-AF65-F5344CB8AC3E}">
        <p14:creationId xmlns:p14="http://schemas.microsoft.com/office/powerpoint/2010/main" val="26746144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F83AD-74D6-7F1D-657C-4CD24B587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E7E02-5AA4-DBDB-DF0C-AB8AA8581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957" y="448687"/>
            <a:ext cx="11009243" cy="1293028"/>
          </a:xfrm>
        </p:spPr>
        <p:txBody>
          <a:bodyPr/>
          <a:lstStyle/>
          <a:p>
            <a:r>
              <a:rPr lang="en-US" b="1" dirty="0"/>
              <a:t>Key Advantages of Instrumentation Amplifiers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CE3A8-7A56-35B8-8E1B-B70244790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91343"/>
            <a:ext cx="10820400" cy="526868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dirty="0"/>
              <a:t>Low Output Impedance:</a:t>
            </a:r>
          </a:p>
          <a:p>
            <a:pPr marL="0" indent="0">
              <a:buNone/>
            </a:pPr>
            <a:r>
              <a:rPr lang="en-US" sz="2400" dirty="0"/>
              <a:t>    Provides a strong, low-impedance output signal.</a:t>
            </a:r>
          </a:p>
          <a:p>
            <a:pPr marL="0" indent="0">
              <a:buNone/>
            </a:pPr>
            <a:r>
              <a:rPr lang="en-US" sz="2400" dirty="0"/>
              <a:t>    Eliminates the need for additional buffering.</a:t>
            </a:r>
          </a:p>
          <a:p>
            <a:pPr marL="0" indent="0">
              <a:buNone/>
            </a:pPr>
            <a:r>
              <a:rPr lang="en-US" sz="2400" dirty="0"/>
              <a:t>Low DC Offset and Drift:</a:t>
            </a:r>
          </a:p>
          <a:p>
            <a:pPr marL="0" indent="0">
              <a:buNone/>
            </a:pPr>
            <a:r>
              <a:rPr lang="en-US" sz="2400" dirty="0"/>
              <a:t>    Designed for precision applications with minimal offset voltage and drift.</a:t>
            </a:r>
          </a:p>
          <a:p>
            <a:pPr marL="0" indent="0">
              <a:buNone/>
            </a:pPr>
            <a:r>
              <a:rPr lang="en-US" sz="2400" dirty="0"/>
              <a:t>    Reduces errors in DC and low-frequency signal processing.</a:t>
            </a:r>
          </a:p>
          <a:p>
            <a:pPr marL="0" indent="0">
              <a:buNone/>
            </a:pPr>
            <a:r>
              <a:rPr lang="en-US" sz="2400" dirty="0"/>
              <a:t>Improved Noise Performance:</a:t>
            </a:r>
          </a:p>
          <a:p>
            <a:pPr marL="0" indent="0">
              <a:buNone/>
            </a:pPr>
            <a:r>
              <a:rPr lang="en-US" sz="2400" dirty="0"/>
              <a:t>    Lower internal noise compared to standard op-amps.</a:t>
            </a:r>
          </a:p>
          <a:p>
            <a:pPr marL="0" indent="0">
              <a:buNone/>
            </a:pPr>
            <a:r>
              <a:rPr lang="en-US" sz="2400" dirty="0"/>
              <a:t>    Ideal for low-noise applications like medical devices and sensors.</a:t>
            </a:r>
          </a:p>
          <a:p>
            <a:pPr marL="0" indent="0">
              <a:buNone/>
            </a:pPr>
            <a:r>
              <a:rPr lang="en-US" sz="2400" dirty="0"/>
              <a:t>Rail-to-Rail Operation (in some models):</a:t>
            </a:r>
          </a:p>
          <a:p>
            <a:pPr marL="0" indent="0">
              <a:buNone/>
            </a:pPr>
            <a:r>
              <a:rPr lang="en-US" sz="2400" dirty="0"/>
              <a:t>    Modern in-amps can operate close to the supply rails.</a:t>
            </a:r>
          </a:p>
          <a:p>
            <a:pPr marL="0" indent="0">
              <a:buNone/>
            </a:pPr>
            <a:r>
              <a:rPr lang="en-US" sz="2400" dirty="0"/>
              <a:t>    Addresses the limited dynamic range of standard op-amps.</a:t>
            </a:r>
          </a:p>
        </p:txBody>
      </p:sp>
    </p:spTree>
    <p:extLst>
      <p:ext uri="{BB962C8B-B14F-4D97-AF65-F5344CB8AC3E}">
        <p14:creationId xmlns:p14="http://schemas.microsoft.com/office/powerpoint/2010/main" val="14568041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7D65C-B714-F250-C7D4-2DC3B99BD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94A07-9586-31AA-36C7-B54FE7AB5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957" y="448687"/>
            <a:ext cx="11009243" cy="1293028"/>
          </a:xfrm>
        </p:spPr>
        <p:txBody>
          <a:bodyPr/>
          <a:lstStyle/>
          <a:p>
            <a:r>
              <a:rPr lang="en-GB" b="1" dirty="0"/>
              <a:t>Applications of Instrumentation Amplifiers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DC917-729E-75AD-5804-32E068460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91343"/>
            <a:ext cx="10820400" cy="5268687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800" b="1" dirty="0"/>
              <a:t>Sensor Signal Conditioning</a:t>
            </a:r>
            <a:r>
              <a:rPr lang="en-GB" sz="28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800" dirty="0"/>
              <a:t>Amplifies weak signals from sensors (e.g., thermocouples, strain gauges).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b="1" dirty="0"/>
              <a:t>Medical Devices</a:t>
            </a:r>
            <a:r>
              <a:rPr lang="en-GB" sz="28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800" dirty="0"/>
              <a:t>Used in ECG, EEG, and other biomedical instruments.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b="1" dirty="0"/>
              <a:t>Industrial Systems</a:t>
            </a:r>
            <a:r>
              <a:rPr lang="en-GB" sz="28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800" dirty="0"/>
              <a:t>Noise-resistant signal processing in harsh environments.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b="1" dirty="0"/>
              <a:t>Precision Measurement</a:t>
            </a:r>
            <a:r>
              <a:rPr lang="en-GB" sz="28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800" dirty="0"/>
              <a:t>High-accuracy amplification for test and measurement equipment.</a:t>
            </a:r>
          </a:p>
        </p:txBody>
      </p:sp>
    </p:spTree>
    <p:extLst>
      <p:ext uri="{BB962C8B-B14F-4D97-AF65-F5344CB8AC3E}">
        <p14:creationId xmlns:p14="http://schemas.microsoft.com/office/powerpoint/2010/main" val="20880007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9111C9-283A-6202-7FAC-77EDFFC3C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B836880-BF75-4385-9994-9270F8ACF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6BCFBE2-C65F-42E3-A14A-5D04B9842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0F75A1-1C58-458F-67D7-15DC9C169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29" y="764373"/>
            <a:ext cx="4397829" cy="5450162"/>
          </a:xfrm>
        </p:spPr>
        <p:txBody>
          <a:bodyPr>
            <a:normAutofit/>
          </a:bodyPr>
          <a:lstStyle/>
          <a:p>
            <a:r>
              <a:rPr lang="en-GB" sz="3600" dirty="0"/>
              <a:t>BJT Based amplifiers, attenuators,  filters are available but harder to design so not as common</a:t>
            </a:r>
            <a:endParaRPr lang="en-US" sz="3600" dirty="0"/>
          </a:p>
        </p:txBody>
      </p:sp>
      <p:sp>
        <p:nvSpPr>
          <p:cNvPr id="18" name="Rounded Rectangle 14">
            <a:extLst>
              <a:ext uri="{FF2B5EF4-FFF2-40B4-BE49-F238E27FC236}">
                <a16:creationId xmlns:a16="http://schemas.microsoft.com/office/drawing/2014/main" id="{38D32B90-922C-4411-A898-3F03AA80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1066164"/>
            <a:ext cx="6765949" cy="5148371"/>
          </a:xfrm>
          <a:prstGeom prst="roundRect">
            <a:avLst>
              <a:gd name="adj" fmla="val 2403"/>
            </a:avLst>
          </a:prstGeom>
          <a:solidFill>
            <a:srgbClr val="FFFFF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diagram of a circuit board&#10;&#10;AI-generated content may be incorrect.">
            <a:extLst>
              <a:ext uri="{FF2B5EF4-FFF2-40B4-BE49-F238E27FC236}">
                <a16:creationId xmlns:a16="http://schemas.microsoft.com/office/drawing/2014/main" id="{909DA68C-8288-CDCC-1D3E-2679BD8AEF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8" r="5430" b="1"/>
          <a:stretch/>
        </p:blipFill>
        <p:spPr>
          <a:xfrm>
            <a:off x="4955339" y="1336566"/>
            <a:ext cx="6127287" cy="4607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8303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4D5B4-E982-9297-9C10-EA6C7DB80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AB396-4DD0-5E2E-632F-F728B5AB4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006" y="936171"/>
            <a:ext cx="10307194" cy="112122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Introduction to Digital Signal Processing (DSP)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8D1DE-0202-7A1A-8EB4-956477D5E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634343"/>
            <a:ext cx="10820400" cy="35843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4000" dirty="0"/>
              <a:t>The method of analogue signal processing where the source signal is acquired by an ADC and then software processed before being regenerated by a DAC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257189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F90ACC-16E1-231C-D270-F9EA4C0E3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FD580F5-E7BF-4C1D-BEFD-4A4601EBA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0F06750-78FE-4472-8DA5-14CF3336F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5B7B068-8178-428D-927D-52BF95F4A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360126"/>
            <a:ext cx="12192000" cy="24978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F1827E-AD02-0B07-CDAB-11F6498C5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640" y="5205941"/>
            <a:ext cx="10820400" cy="82126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100" b="1" dirty="0"/>
              <a:t>DSP FOR MICROPHONE AUDIO PROCESSING EXAMPLE</a:t>
            </a:r>
            <a:endParaRPr lang="en-US" sz="3100" dirty="0"/>
          </a:p>
        </p:txBody>
      </p:sp>
      <p:pic>
        <p:nvPicPr>
          <p:cNvPr id="7" name="Picture 6" descr="A diagram of a process flow&#10;&#10;AI-generated content may be incorrect.">
            <a:extLst>
              <a:ext uri="{FF2B5EF4-FFF2-40B4-BE49-F238E27FC236}">
                <a16:creationId xmlns:a16="http://schemas.microsoft.com/office/drawing/2014/main" id="{9A75F700-8A98-06B2-F68C-0CF20AC63E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39" t="-196" r="39" b="1298"/>
          <a:stretch/>
        </p:blipFill>
        <p:spPr>
          <a:xfrm>
            <a:off x="0" y="429751"/>
            <a:ext cx="12179681" cy="4486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894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EAA8A-17E3-3C01-F6A4-0DAD8BA0D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C4D08-979B-F308-EA2D-E33307A06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006" y="936171"/>
            <a:ext cx="10307194" cy="1121229"/>
          </a:xfrm>
        </p:spPr>
        <p:txBody>
          <a:bodyPr>
            <a:normAutofit/>
          </a:bodyPr>
          <a:lstStyle/>
          <a:p>
            <a:r>
              <a:rPr lang="fr-FR" b="1" dirty="0"/>
              <a:t>Noise Reduction Techniques in DSP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D7923-9B5B-57D9-B769-153CC755D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634343"/>
            <a:ext cx="10820400" cy="358434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4000" dirty="0"/>
              <a:t>Digital Filtering Techniques: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4000" dirty="0"/>
              <a:t>Finite Impulse Response (FIR) Filters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4000" dirty="0"/>
              <a:t>Infinite Impulse Response (IIR) Filters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4000" dirty="0"/>
              <a:t>Applications of Noise Reduction (e.g., audio processing, image processing)</a:t>
            </a:r>
          </a:p>
        </p:txBody>
      </p:sp>
    </p:spTree>
    <p:extLst>
      <p:ext uri="{BB962C8B-B14F-4D97-AF65-F5344CB8AC3E}">
        <p14:creationId xmlns:p14="http://schemas.microsoft.com/office/powerpoint/2010/main" val="14959865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892350-7C2E-AD7C-680F-C00508F7B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F0C75F6-A291-087B-0BA2-B90D63E35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286FE7-B49C-3725-5227-12F7B062E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0DE2AFF-D14B-578C-F531-2116420DB4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360126"/>
            <a:ext cx="12192000" cy="24978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C4CF24-0BE5-AFED-68FA-594015D7C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639" y="5626098"/>
            <a:ext cx="10820400" cy="82126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100" b="1" dirty="0"/>
              <a:t>FIR Filter Diagram</a:t>
            </a:r>
            <a:endParaRPr lang="en-US" sz="3100" dirty="0"/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B4DC5E0-F8E1-EEAD-6521-44634AC321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354" y="129075"/>
            <a:ext cx="11908971" cy="5479987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2486582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3E0D9-5140-D665-723F-FA97C40BB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526E0-2F84-6A87-80FF-DACC621DF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006" y="936171"/>
            <a:ext cx="10307194" cy="1121229"/>
          </a:xfrm>
        </p:spPr>
        <p:txBody>
          <a:bodyPr>
            <a:normAutofit/>
          </a:bodyPr>
          <a:lstStyle/>
          <a:p>
            <a:r>
              <a:rPr lang="fr-FR" b="1" dirty="0"/>
              <a:t>FIR </a:t>
            </a:r>
            <a:r>
              <a:rPr lang="fr-FR" b="1" dirty="0" err="1"/>
              <a:t>Filters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0F2C9-4293-06E6-1C2F-D429B0599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634343"/>
            <a:ext cx="10820400" cy="358434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3200" b="1" dirty="0"/>
              <a:t>Definition</a:t>
            </a:r>
            <a:r>
              <a:rPr lang="en-GB" sz="3200" dirty="0"/>
              <a:t>: FIR filters have a finite duration impulse response.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3200" b="1" dirty="0"/>
              <a:t>Stability</a:t>
            </a:r>
            <a:r>
              <a:rPr lang="en-GB" sz="3200" dirty="0"/>
              <a:t>: Always stable (no feedback).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3200" b="1" dirty="0"/>
              <a:t>Linear Phase</a:t>
            </a:r>
            <a:r>
              <a:rPr lang="en-GB" sz="3200" dirty="0"/>
              <a:t>: Symmetric coefficients ensure linear phase response.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3200" b="1" dirty="0"/>
              <a:t>Structure</a:t>
            </a:r>
            <a:r>
              <a:rPr lang="en-GB" sz="3200" dirty="0"/>
              <a:t>: Non-recursive (uses only input signals, no feedback).</a:t>
            </a:r>
          </a:p>
        </p:txBody>
      </p:sp>
    </p:spTree>
    <p:extLst>
      <p:ext uri="{BB962C8B-B14F-4D97-AF65-F5344CB8AC3E}">
        <p14:creationId xmlns:p14="http://schemas.microsoft.com/office/powerpoint/2010/main" val="15971569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diagram of a block diagram&#10;&#10;AI-generated content may be incorrect.">
            <a:extLst>
              <a:ext uri="{FF2B5EF4-FFF2-40B4-BE49-F238E27FC236}">
                <a16:creationId xmlns:a16="http://schemas.microsoft.com/office/drawing/2014/main" id="{26B07E5C-D360-AE8F-550C-8983AF183F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5671" y="18737"/>
            <a:ext cx="8220658" cy="6839263"/>
          </a:xfrm>
        </p:spPr>
      </p:pic>
    </p:spTree>
    <p:extLst>
      <p:ext uri="{BB962C8B-B14F-4D97-AF65-F5344CB8AC3E}">
        <p14:creationId xmlns:p14="http://schemas.microsoft.com/office/powerpoint/2010/main" val="13165114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BD070-4DBE-10AF-A1E8-C052CC9A9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0B6AF-2540-FE47-90AA-2DF2A83FA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006" y="936171"/>
            <a:ext cx="10307194" cy="1121229"/>
          </a:xfrm>
        </p:spPr>
        <p:txBody>
          <a:bodyPr>
            <a:normAutofit/>
          </a:bodyPr>
          <a:lstStyle/>
          <a:p>
            <a:r>
              <a:rPr lang="fr-FR" b="1" dirty="0"/>
              <a:t>FIR </a:t>
            </a:r>
            <a:r>
              <a:rPr lang="fr-FR" b="1" dirty="0" err="1"/>
              <a:t>Filters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E4A96-9305-EF56-E7D5-C43BDABE3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634343"/>
            <a:ext cx="10820400" cy="358434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Definition</a:t>
            </a:r>
            <a:r>
              <a:rPr lang="en-US" sz="3200" dirty="0"/>
              <a:t>: IIR filters have an infinite duration impulse response.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Stability</a:t>
            </a:r>
            <a:r>
              <a:rPr lang="en-US" sz="3200" dirty="0"/>
              <a:t>: Can be unstable if not designed properly (due to feedback).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Nonlinear Phase</a:t>
            </a:r>
            <a:r>
              <a:rPr lang="en-US" sz="3200" dirty="0"/>
              <a:t>: Phase response is not linear.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Structure</a:t>
            </a:r>
            <a:r>
              <a:rPr lang="en-US" sz="3200" dirty="0"/>
              <a:t>: Recursive (uses both input and output feedback).</a:t>
            </a:r>
          </a:p>
        </p:txBody>
      </p:sp>
    </p:spTree>
    <p:extLst>
      <p:ext uri="{BB962C8B-B14F-4D97-AF65-F5344CB8AC3E}">
        <p14:creationId xmlns:p14="http://schemas.microsoft.com/office/powerpoint/2010/main" val="14872133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26FF27-D24E-3F1D-B401-DCC9066D5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C413590B-CB36-47BC-B705-69813F7B5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676F4B9-1E76-49E4-8A47-FBDCE00D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CAD490-3D1B-8491-E7F4-14D444AA5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9340" y="673240"/>
            <a:ext cx="3148461" cy="3446373"/>
          </a:xfrm>
          <a:noFill/>
          <a:ln w="19050">
            <a:noFill/>
            <a:prstDash val="dash"/>
          </a:ln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800" b="1" dirty="0"/>
              <a:t>FIR vs </a:t>
            </a:r>
            <a:r>
              <a:rPr lang="en-US" sz="4800" b="1" dirty="0" err="1"/>
              <a:t>iir</a:t>
            </a:r>
            <a:r>
              <a:rPr lang="en-US" sz="4800" b="1" dirty="0"/>
              <a:t> Diagram</a:t>
            </a:r>
            <a:endParaRPr lang="en-US" sz="48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F8A0554-081B-4FCD-B8AC-1F826E38F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46782" y="-1"/>
            <a:ext cx="4245218" cy="5367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06FFEE2-58A0-44A3-9892-24602A688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96124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9CA411D-D82A-4BF1-878C-4C25F8C77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097" y="488844"/>
            <a:ext cx="3731895" cy="352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0719B6F-C437-88FC-A672-A19721FDBB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964" y="1467914"/>
            <a:ext cx="3404405" cy="1566558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31" name="Round Single Corner Rectangle 15">
            <a:extLst>
              <a:ext uri="{FF2B5EF4-FFF2-40B4-BE49-F238E27FC236}">
                <a16:creationId xmlns:a16="http://schemas.microsoft.com/office/drawing/2014/main" id="{C9BB7D94-2C4A-4F0F-8933-E3276A899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38650" y="604977"/>
            <a:ext cx="1998359" cy="2223847"/>
          </a:xfrm>
          <a:prstGeom prst="round1Rect">
            <a:avLst>
              <a:gd name="adj" fmla="val 11295"/>
            </a:avLst>
          </a:prstGeom>
          <a:solidFill>
            <a:schemeClr val="accent6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 Single Corner Rectangle 14">
            <a:extLst>
              <a:ext uri="{FF2B5EF4-FFF2-40B4-BE49-F238E27FC236}">
                <a16:creationId xmlns:a16="http://schemas.microsoft.com/office/drawing/2014/main" id="{2C166329-A912-4CA1-A632-89563D660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769673" y="4118455"/>
            <a:ext cx="2417253" cy="1840846"/>
          </a:xfrm>
          <a:prstGeom prst="round1Rect">
            <a:avLst>
              <a:gd name="adj" fmla="val 11295"/>
            </a:avLst>
          </a:prstGeom>
          <a:solidFill>
            <a:schemeClr val="accent5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FB54679-12EF-4E3F-B1F8-3750B8BD1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7795" y="2989690"/>
            <a:ext cx="3023953" cy="338892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diagram of a block diagram&#10;&#10;AI-generated content may be incorrect.">
            <a:extLst>
              <a:ext uri="{FF2B5EF4-FFF2-40B4-BE49-F238E27FC236}">
                <a16:creationId xmlns:a16="http://schemas.microsoft.com/office/drawing/2014/main" id="{40B54553-32CD-3A0B-B754-C9320C9F68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5970" y="3558236"/>
            <a:ext cx="2704909" cy="225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462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8B75A-5DC7-3C45-0C47-BB926C8E0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CD6F9-9419-DC53-6A2A-A1DCD5AE2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006" y="903514"/>
            <a:ext cx="10307194" cy="1121229"/>
          </a:xfrm>
        </p:spPr>
        <p:txBody>
          <a:bodyPr>
            <a:normAutofit/>
          </a:bodyPr>
          <a:lstStyle/>
          <a:p>
            <a:r>
              <a:rPr lang="en-US" b="1" dirty="0"/>
              <a:t>Comparison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FD436-241F-662C-EA0D-1679B79CF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634343"/>
            <a:ext cx="10820400" cy="3584342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FIR Filters</a:t>
            </a:r>
            <a:r>
              <a:rPr lang="en-US" sz="32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Like reading a book from start to finish without looking back.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Slow but steady and reliable.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IIR Filters</a:t>
            </a:r>
            <a:r>
              <a:rPr lang="en-US" sz="32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Like reading a book but constantly revisiting previous pages.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Faster but can get confusing if not careful.</a:t>
            </a:r>
          </a:p>
        </p:txBody>
      </p:sp>
    </p:spTree>
    <p:extLst>
      <p:ext uri="{BB962C8B-B14F-4D97-AF65-F5344CB8AC3E}">
        <p14:creationId xmlns:p14="http://schemas.microsoft.com/office/powerpoint/2010/main" val="736004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33765-0D27-76F4-E10E-71D061B8E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C350E-9F82-681A-8337-4BE9AEC73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006" y="936171"/>
            <a:ext cx="10307194" cy="1121229"/>
          </a:xfrm>
        </p:spPr>
        <p:txBody>
          <a:bodyPr>
            <a:normAutofit/>
          </a:bodyPr>
          <a:lstStyle/>
          <a:p>
            <a:r>
              <a:rPr lang="en-US" b="1" dirty="0"/>
              <a:t>Comparison </a:t>
            </a:r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7A505B6-1F9E-C0BC-ADDA-1CF752D2DA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2878613"/>
              </p:ext>
            </p:extLst>
          </p:nvPr>
        </p:nvGraphicFramePr>
        <p:xfrm>
          <a:off x="685800" y="2057400"/>
          <a:ext cx="10820400" cy="4396928"/>
        </p:xfrm>
        <a:graphic>
          <a:graphicData uri="http://schemas.openxmlformats.org/drawingml/2006/table">
            <a:tbl>
              <a:tblPr/>
              <a:tblGrid>
                <a:gridCol w="3606800">
                  <a:extLst>
                    <a:ext uri="{9D8B030D-6E8A-4147-A177-3AD203B41FA5}">
                      <a16:colId xmlns:a16="http://schemas.microsoft.com/office/drawing/2014/main" val="2166789726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877714009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1854538086"/>
                    </a:ext>
                  </a:extLst>
                </a:gridCol>
              </a:tblGrid>
              <a:tr h="500183">
                <a:tc>
                  <a:txBody>
                    <a:bodyPr/>
                    <a:lstStyle/>
                    <a:p>
                      <a:r>
                        <a:rPr lang="en-GB" sz="2400" b="1"/>
                        <a:t>Feature</a:t>
                      </a:r>
                      <a:endParaRPr lang="en-GB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/>
                        <a:t>FIR Filters</a:t>
                      </a:r>
                      <a:endParaRPr lang="en-GB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/>
                        <a:t>IIR Filters</a:t>
                      </a:r>
                      <a:endParaRPr lang="en-GB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7107033"/>
                  </a:ext>
                </a:extLst>
              </a:tr>
              <a:tr h="500183">
                <a:tc>
                  <a:txBody>
                    <a:bodyPr/>
                    <a:lstStyle/>
                    <a:p>
                      <a:r>
                        <a:rPr lang="en-GB" sz="2400" b="1"/>
                        <a:t>Feedback</a:t>
                      </a:r>
                      <a:endParaRPr lang="en-GB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/>
                        <a:t>No feedback (one-way).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/>
                        <a:t>Uses feedback (loop).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439914"/>
                  </a:ext>
                </a:extLst>
              </a:tr>
              <a:tr h="500183">
                <a:tc>
                  <a:txBody>
                    <a:bodyPr/>
                    <a:lstStyle/>
                    <a:p>
                      <a:r>
                        <a:rPr lang="en-GB" sz="2400" b="1" dirty="0"/>
                        <a:t>Stability</a:t>
                      </a:r>
                      <a:endParaRPr lang="en-GB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Always stable.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/>
                        <a:t>Can be unstable.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492483"/>
                  </a:ext>
                </a:extLst>
              </a:tr>
              <a:tr h="500183">
                <a:tc>
                  <a:txBody>
                    <a:bodyPr/>
                    <a:lstStyle/>
                    <a:p>
                      <a:r>
                        <a:rPr lang="en-GB" sz="2400" b="1"/>
                        <a:t>Speed</a:t>
                      </a:r>
                      <a:endParaRPr lang="en-GB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/>
                        <a:t>Slower (more calculations).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/>
                        <a:t>Faster (fewer calculations).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390660"/>
                  </a:ext>
                </a:extLst>
              </a:tr>
              <a:tr h="875321">
                <a:tc>
                  <a:txBody>
                    <a:bodyPr/>
                    <a:lstStyle/>
                    <a:p>
                      <a:r>
                        <a:rPr lang="en-GB" sz="2400" b="1"/>
                        <a:t>Signal Shape</a:t>
                      </a:r>
                      <a:endParaRPr lang="en-GB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Preserves shape (no distortion).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/>
                        <a:t>May distort shape slightly.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611340"/>
                  </a:ext>
                </a:extLst>
              </a:tr>
              <a:tr h="875321">
                <a:tc>
                  <a:txBody>
                    <a:bodyPr/>
                    <a:lstStyle/>
                    <a:p>
                      <a:r>
                        <a:rPr lang="en-GB" sz="2400" b="1"/>
                        <a:t>Best Use Case</a:t>
                      </a:r>
                      <a:endParaRPr lang="en-GB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/>
                        <a:t>Audio, image processing.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Real-time, low-resource systems.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265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69311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0129D-E576-18C0-E08E-BDC5C8F12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/>
              <a:t>Oversampling and Averaging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DF463-B767-AC3D-49A9-94CA8A7FE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Sampling a signal at a rate much higher than the Nyquist rate.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Reduces noise by spreading it over a wider bandwidth.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Combined with averaging to improve signal-to-noise ratio (SNR).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0" indent="0">
              <a:buNone/>
            </a:pP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37492603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4D72E-1079-3424-E716-58AAFB459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AE092E-B090-DD68-039A-9D7B86B26E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0" y="664028"/>
            <a:ext cx="12114000" cy="4365172"/>
          </a:xfrm>
        </p:spPr>
      </p:pic>
    </p:spTree>
    <p:extLst>
      <p:ext uri="{BB962C8B-B14F-4D97-AF65-F5344CB8AC3E}">
        <p14:creationId xmlns:p14="http://schemas.microsoft.com/office/powerpoint/2010/main" val="33506109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BCF6C-FD73-6816-B8E9-DA77C4D68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96BE6-D3D8-F9E3-F714-8020DE63F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 descr="A diagram of a waveform&#10;&#10;AI-generated content may be incorrect.">
            <a:extLst>
              <a:ext uri="{FF2B5EF4-FFF2-40B4-BE49-F238E27FC236}">
                <a16:creationId xmlns:a16="http://schemas.microsoft.com/office/drawing/2014/main" id="{B0E81F32-3F91-C331-FC20-220F26B06F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6525"/>
            <a:ext cx="12114000" cy="6198961"/>
          </a:xfrm>
        </p:spPr>
      </p:pic>
    </p:spTree>
    <p:extLst>
      <p:ext uri="{BB962C8B-B14F-4D97-AF65-F5344CB8AC3E}">
        <p14:creationId xmlns:p14="http://schemas.microsoft.com/office/powerpoint/2010/main" val="2948050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2320E-7DA2-FC8E-5921-E92FB26EB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Windowing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42670-7901-DFC0-7362-3B0163B96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 technique to reduce spectral leakage in Fourier transforms.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Multiplies the signal by a window function (e.g., Hamming, Hanning).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Tapers the signal at the edges to minimize discontinuities.</a:t>
            </a:r>
          </a:p>
          <a:p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8926343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5AE2F-4E20-0816-3026-301335F9D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579EE-1E27-665E-74E7-2D4D09187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9F503C-3596-310C-21EF-EDB7891D66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0" y="0"/>
            <a:ext cx="12114000" cy="6858000"/>
          </a:xfrm>
        </p:spPr>
      </p:pic>
    </p:spTree>
    <p:extLst>
      <p:ext uri="{BB962C8B-B14F-4D97-AF65-F5344CB8AC3E}">
        <p14:creationId xmlns:p14="http://schemas.microsoft.com/office/powerpoint/2010/main" val="15635435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48DD7-08DA-BC7D-EFC3-FC4E2EA35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01BC6-599F-4343-301E-263482E29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307173"/>
            <a:ext cx="8610600" cy="1293028"/>
          </a:xfrm>
        </p:spPr>
        <p:txBody>
          <a:bodyPr/>
          <a:lstStyle/>
          <a:p>
            <a:r>
              <a:rPr lang="en-GB" b="1" dirty="0"/>
              <a:t>Frequency Bin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04CD0-66EB-20D4-2590-12BE7BCE5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1416936"/>
            <a:ext cx="10820400" cy="4024125"/>
          </a:xfrm>
        </p:spPr>
        <p:txBody>
          <a:bodyPr>
            <a:normAutofit/>
          </a:bodyPr>
          <a:lstStyle/>
          <a:p>
            <a:r>
              <a:rPr lang="en-US" sz="3200" dirty="0"/>
              <a:t>The frequency range and resolution on the frequency axis of a spectrum graph depends on the sampling rate and the size of the data record (the number of acquisition points).</a:t>
            </a:r>
          </a:p>
          <a:p>
            <a:r>
              <a:rPr lang="en-US" sz="3200" dirty="0"/>
              <a:t>The number of frequency points or lines or bands in the power spectrum is N</a:t>
            </a:r>
            <a:r>
              <a:rPr lang="en-US" sz="3200" baseline="-25000" dirty="0"/>
              <a:t>RECORD</a:t>
            </a:r>
            <a:r>
              <a:rPr lang="en-US" sz="3200" dirty="0"/>
              <a:t>/2, where N</a:t>
            </a:r>
            <a:r>
              <a:rPr lang="en-US" sz="3200" baseline="-25000" dirty="0"/>
              <a:t>RECORD</a:t>
            </a:r>
            <a:r>
              <a:rPr lang="en-US" sz="3200" dirty="0"/>
              <a:t> is the number of signal points captured in the time domain.</a:t>
            </a:r>
            <a:endParaRPr lang="en-GB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B9053B-4559-CBE7-16D3-F67834A8A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076" y="5374221"/>
            <a:ext cx="8687846" cy="1176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767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7A1C3-5FE0-DF22-E795-505267292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F39DF-EF83-62FD-9775-EAC84EFDA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B09AA8-8320-4A85-B0B6-E30147FB91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0" y="0"/>
            <a:ext cx="12114000" cy="6858000"/>
          </a:xfrm>
        </p:spPr>
      </p:pic>
    </p:spTree>
    <p:extLst>
      <p:ext uri="{BB962C8B-B14F-4D97-AF65-F5344CB8AC3E}">
        <p14:creationId xmlns:p14="http://schemas.microsoft.com/office/powerpoint/2010/main" val="357056907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D94F7C0-1344-4B3C-AFCB-E7F006BB5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EC584A2-4215-4DB8-AE1F-E3768D77E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6E29B2-6D0B-F94D-670F-11B83C131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764373"/>
            <a:ext cx="3977639" cy="1600200"/>
          </a:xfrm>
        </p:spPr>
        <p:txBody>
          <a:bodyPr anchor="b">
            <a:normAutofit/>
          </a:bodyPr>
          <a:lstStyle/>
          <a:p>
            <a:pPr algn="l"/>
            <a:r>
              <a:rPr lang="en-GB" sz="3200" dirty="0"/>
              <a:t>Digital SIGNALS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C8745F9-D2A7-7E13-FD50-F9DEBEC15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364573"/>
            <a:ext cx="3977639" cy="3854112"/>
          </a:xfrm>
        </p:spPr>
        <p:txBody>
          <a:bodyPr>
            <a:normAutofit/>
          </a:bodyPr>
          <a:lstStyle/>
          <a:p>
            <a:r>
              <a:rPr lang="en-US" sz="2400" dirty="0"/>
              <a:t>PROCESSING AND MAKING THEM USABLE</a:t>
            </a:r>
          </a:p>
        </p:txBody>
      </p:sp>
      <p:pic>
        <p:nvPicPr>
          <p:cNvPr id="5" name="Content Placeholder 4" descr="A cat made of numbers&#10;&#10;AI-generated content may be incorrect.">
            <a:extLst>
              <a:ext uri="{FF2B5EF4-FFF2-40B4-BE49-F238E27FC236}">
                <a16:creationId xmlns:a16="http://schemas.microsoft.com/office/drawing/2014/main" id="{3BE6CC26-6D99-D8B9-35C1-284DF6360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548" y="979609"/>
            <a:ext cx="7661452" cy="5114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6762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67C68-B842-958E-0741-57D85FC6B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395E3-A0B9-9B7D-D539-C8DE3F665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006" y="936171"/>
            <a:ext cx="10307194" cy="1121229"/>
          </a:xfrm>
        </p:spPr>
        <p:txBody>
          <a:bodyPr>
            <a:normAutofit/>
          </a:bodyPr>
          <a:lstStyle/>
          <a:p>
            <a:r>
              <a:rPr lang="en-GB" b="1" dirty="0"/>
              <a:t>Schmitt Triggering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AB269-09C9-282A-8EDA-FACB6D45B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634343"/>
            <a:ext cx="10820400" cy="3584342"/>
          </a:xfrm>
        </p:spPr>
        <p:txBody>
          <a:bodyPr>
            <a:normAutofit/>
          </a:bodyPr>
          <a:lstStyle/>
          <a:p>
            <a:r>
              <a:rPr lang="en-US" sz="3600" b="1" dirty="0"/>
              <a:t>What is a Schmitt Trigger?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A comparator circuit with hysteresis.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Converts noisy or slow-changing signals into clean digital signals.</a:t>
            </a:r>
          </a:p>
        </p:txBody>
      </p:sp>
    </p:spTree>
    <p:extLst>
      <p:ext uri="{BB962C8B-B14F-4D97-AF65-F5344CB8AC3E}">
        <p14:creationId xmlns:p14="http://schemas.microsoft.com/office/powerpoint/2010/main" val="2738225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ounded Rectangle 14">
            <a:extLst>
              <a:ext uri="{FF2B5EF4-FFF2-40B4-BE49-F238E27FC236}">
                <a16:creationId xmlns:a16="http://schemas.microsoft.com/office/drawing/2014/main" id="{1FDFF85F-F105-40D5-9793-90419158C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AB47A4-BA8C-4250-88BD-D49C68C5F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6C8958D-EB99-414F-B735-863B67BB1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4636008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B14645-7DD1-12B0-872F-6ACD31DBA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3687417" cy="1920372"/>
          </a:xfrm>
        </p:spPr>
        <p:txBody>
          <a:bodyPr>
            <a:norm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</a:rPr>
              <a:t>Basic diagram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9E5F3CB-7BDD-4E64-B274-CD900F08C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pic>
        <p:nvPicPr>
          <p:cNvPr id="5" name="Content Placeholder 4" descr="A diagram of a circuit&#10;&#10;AI-generated content may be incorrect.">
            <a:extLst>
              <a:ext uri="{FF2B5EF4-FFF2-40B4-BE49-F238E27FC236}">
                <a16:creationId xmlns:a16="http://schemas.microsoft.com/office/drawing/2014/main" id="{2DE5A430-0328-A8B1-68FE-3D7D00EDD5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9475" y="1665828"/>
            <a:ext cx="6269058" cy="352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6605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16EC7-6E0B-C1A2-F4D1-9561D3969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150A0-4C48-1F28-4AD4-FCC1D09EA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006" y="936171"/>
            <a:ext cx="10307194" cy="1121229"/>
          </a:xfrm>
        </p:spPr>
        <p:txBody>
          <a:bodyPr>
            <a:normAutofit/>
          </a:bodyPr>
          <a:lstStyle/>
          <a:p>
            <a:r>
              <a:rPr lang="en-GB" b="1" dirty="0"/>
              <a:t>How It Works: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EC284-3DAF-4AE3-302A-32E3DC118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634343"/>
            <a:ext cx="10820400" cy="358434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Two threshold voltages: </a:t>
            </a:r>
            <a:r>
              <a:rPr lang="en-US" sz="3200" b="1" dirty="0"/>
              <a:t>Upper Threshold (V₊)</a:t>
            </a:r>
            <a:r>
              <a:rPr lang="en-US" sz="3200" dirty="0"/>
              <a:t> and </a:t>
            </a:r>
            <a:r>
              <a:rPr lang="en-US" sz="3200" b="1" dirty="0"/>
              <a:t>Lower Threshold (V₋)</a:t>
            </a:r>
            <a:r>
              <a:rPr lang="en-US" sz="3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Output switches high when input exceeds V₊.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Output switches low when input falls below V₋.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Hysteresis prevents noise from causing false triggering.</a:t>
            </a:r>
          </a:p>
        </p:txBody>
      </p:sp>
    </p:spTree>
    <p:extLst>
      <p:ext uri="{BB962C8B-B14F-4D97-AF65-F5344CB8AC3E}">
        <p14:creationId xmlns:p14="http://schemas.microsoft.com/office/powerpoint/2010/main" val="9979819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C12D4-FB39-015A-EC31-0AEF90851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DEAE03-E73A-DB56-05E3-38ACADB9E3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7174"/>
          <a:stretch/>
        </p:blipFill>
        <p:spPr>
          <a:xfrm>
            <a:off x="0" y="1055913"/>
            <a:ext cx="12192000" cy="4994417"/>
          </a:xfrm>
        </p:spPr>
      </p:pic>
    </p:spTree>
    <p:extLst>
      <p:ext uri="{BB962C8B-B14F-4D97-AF65-F5344CB8AC3E}">
        <p14:creationId xmlns:p14="http://schemas.microsoft.com/office/powerpoint/2010/main" val="387829006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D94F7C0-1344-4B3C-AFCB-E7F006BB5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EC584A2-4215-4DB8-AE1F-E3768D77E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8F58E7-35B2-C6B3-4969-EF8030CD0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569916"/>
            <a:ext cx="3977639" cy="1600200"/>
          </a:xfrm>
        </p:spPr>
        <p:txBody>
          <a:bodyPr anchor="b">
            <a:normAutofit/>
          </a:bodyPr>
          <a:lstStyle/>
          <a:p>
            <a:pPr algn="l"/>
            <a:r>
              <a:rPr lang="en-GB" sz="3200" dirty="0"/>
              <a:t>You can dedicated ICs</a:t>
            </a:r>
          </a:p>
        </p:txBody>
      </p:sp>
      <p:pic>
        <p:nvPicPr>
          <p:cNvPr id="5" name="Content Placeholder 4" descr="A diagram of a number&#10;&#10;AI-generated content may be incorrect.">
            <a:extLst>
              <a:ext uri="{FF2B5EF4-FFF2-40B4-BE49-F238E27FC236}">
                <a16:creationId xmlns:a16="http://schemas.microsoft.com/office/drawing/2014/main" id="{23F7CB66-6ABB-14DD-CF00-124528F1E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699" y="1310016"/>
            <a:ext cx="6533501" cy="4344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83258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77841-A6E4-341C-D57F-AA8C91858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29977-EECE-56EA-E339-A6E0A4F38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006" y="936171"/>
            <a:ext cx="10307194" cy="1121229"/>
          </a:xfrm>
        </p:spPr>
        <p:txBody>
          <a:bodyPr>
            <a:normAutofit/>
          </a:bodyPr>
          <a:lstStyle/>
          <a:p>
            <a:r>
              <a:rPr lang="en-GB" b="1" dirty="0"/>
              <a:t>Inductor Filtering for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9638E-7A16-46CA-7941-6DE9942CD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2634343"/>
            <a:ext cx="11168743" cy="3584342"/>
          </a:xfrm>
        </p:spPr>
        <p:txBody>
          <a:bodyPr>
            <a:normAutofit/>
          </a:bodyPr>
          <a:lstStyle/>
          <a:p>
            <a:r>
              <a:rPr lang="en-US" sz="3200" dirty="0"/>
              <a:t>Uses inductors to block high-frequency noise while allowing DC or low-frequency signals to pass.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Inductors oppose changes in current.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High-frequency noise is attenuated, while low-frequency signals pass through.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Often used in combination with capacitors (LC filters).</a:t>
            </a:r>
          </a:p>
          <a:p>
            <a:pPr marL="0" indent="0"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20431578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BBB49-08CF-8F41-AE4E-2C2A37CE3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051169-9E17-F755-BBDF-04F5662FEC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595" b="3893"/>
          <a:stretch/>
        </p:blipFill>
        <p:spPr>
          <a:xfrm>
            <a:off x="0" y="291786"/>
            <a:ext cx="12192000" cy="6274427"/>
          </a:xfrm>
        </p:spPr>
      </p:pic>
    </p:spTree>
    <p:extLst>
      <p:ext uri="{BB962C8B-B14F-4D97-AF65-F5344CB8AC3E}">
        <p14:creationId xmlns:p14="http://schemas.microsoft.com/office/powerpoint/2010/main" val="254954982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single-spiral inductor&#10;&#10;AI-generated content may be incorrect.">
            <a:extLst>
              <a:ext uri="{FF2B5EF4-FFF2-40B4-BE49-F238E27FC236}">
                <a16:creationId xmlns:a16="http://schemas.microsoft.com/office/drawing/2014/main" id="{DD8D6A37-6324-AE7C-E516-E3F7E6B6F5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442059"/>
            <a:ext cx="12192000" cy="5493572"/>
          </a:xfrm>
        </p:spPr>
      </p:pic>
    </p:spTree>
    <p:extLst>
      <p:ext uri="{BB962C8B-B14F-4D97-AF65-F5344CB8AC3E}">
        <p14:creationId xmlns:p14="http://schemas.microsoft.com/office/powerpoint/2010/main" val="255914107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DE309-9AD1-1634-C526-E2723FF6E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09D5B-5D37-3CA9-3683-DF7AD8267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006" y="936171"/>
            <a:ext cx="10307194" cy="1121229"/>
          </a:xfrm>
        </p:spPr>
        <p:txBody>
          <a:bodyPr>
            <a:normAutofit/>
          </a:bodyPr>
          <a:lstStyle/>
          <a:p>
            <a:r>
              <a:rPr lang="en-GB" b="1" dirty="0"/>
              <a:t>Capacitor Filtering for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366E5-6C04-8C2E-8343-21D797245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2634343"/>
            <a:ext cx="11168743" cy="358434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4000" dirty="0"/>
              <a:t>Capacitors block DC and low-frequency signals while allowing high-frequency noise to pass.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/>
              <a:t>Placed in parallel with the signal path or power supply lines.</a:t>
            </a:r>
          </a:p>
        </p:txBody>
      </p:sp>
    </p:spTree>
    <p:extLst>
      <p:ext uri="{BB962C8B-B14F-4D97-AF65-F5344CB8AC3E}">
        <p14:creationId xmlns:p14="http://schemas.microsoft.com/office/powerpoint/2010/main" val="309604383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F34A0-2C1B-8F1D-7575-4C578C49E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 descr="A diagram of a circuit&#10;&#10;AI-generated content may be incorrect.">
            <a:extLst>
              <a:ext uri="{FF2B5EF4-FFF2-40B4-BE49-F238E27FC236}">
                <a16:creationId xmlns:a16="http://schemas.microsoft.com/office/drawing/2014/main" id="{A92A7C0A-8B9B-7E43-1752-2913AEED47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307" y="0"/>
            <a:ext cx="11631386" cy="6784975"/>
          </a:xfrm>
        </p:spPr>
      </p:pic>
    </p:spTree>
    <p:extLst>
      <p:ext uri="{BB962C8B-B14F-4D97-AF65-F5344CB8AC3E}">
        <p14:creationId xmlns:p14="http://schemas.microsoft.com/office/powerpoint/2010/main" val="86325105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2D8BC-DF63-CDA3-CF90-0D75D65C6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diagram of a circuit&#10;&#10;AI-generated content may be incorrect.">
            <a:extLst>
              <a:ext uri="{FF2B5EF4-FFF2-40B4-BE49-F238E27FC236}">
                <a16:creationId xmlns:a16="http://schemas.microsoft.com/office/drawing/2014/main" id="{D60D5DB5-20E1-76A7-929E-1BD5EA826C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979" y="937248"/>
            <a:ext cx="11994042" cy="4983503"/>
          </a:xfrm>
        </p:spPr>
      </p:pic>
    </p:spTree>
    <p:extLst>
      <p:ext uri="{BB962C8B-B14F-4D97-AF65-F5344CB8AC3E}">
        <p14:creationId xmlns:p14="http://schemas.microsoft.com/office/powerpoint/2010/main" val="216311051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64B51-BB3F-CD38-DE3F-37244C3A5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58ACC-F301-D4BB-38E9-FF6FC2D9A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006" y="936171"/>
            <a:ext cx="10307194" cy="1121229"/>
          </a:xfrm>
        </p:spPr>
        <p:txBody>
          <a:bodyPr>
            <a:normAutofit/>
          </a:bodyPr>
          <a:lstStyle/>
          <a:p>
            <a:r>
              <a:rPr lang="en-GB" b="1" dirty="0"/>
              <a:t>Impedance Matching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B8B61-08FB-A42B-071D-03EE787BC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2634343"/>
            <a:ext cx="11168743" cy="358434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Ensures maximum power transfer between two circuits by matching their impedances.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Uses transformers, resistors, or LC networks to match source and load impedances.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Prevents signal reflections and losses.</a:t>
            </a:r>
          </a:p>
          <a:p>
            <a:pPr marL="0" indent="0"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72758019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ounded Rectangle 14">
            <a:extLst>
              <a:ext uri="{FF2B5EF4-FFF2-40B4-BE49-F238E27FC236}">
                <a16:creationId xmlns:a16="http://schemas.microsoft.com/office/drawing/2014/main" id="{1FDFF85F-F105-40D5-9793-90419158C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AB47A4-BA8C-4250-88BD-D49C68C5F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6C8958D-EB99-414F-B735-863B67BB1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4636008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A60FAD-0CC1-EEAB-7324-E4F08F389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058" y="1733202"/>
            <a:ext cx="3687417" cy="1920372"/>
          </a:xfrm>
        </p:spPr>
        <p:txBody>
          <a:bodyPr>
            <a:norm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</a:rPr>
              <a:t>Impedance issues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9E5F3CB-7BDD-4E64-B274-CD900F08C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pic>
        <p:nvPicPr>
          <p:cNvPr id="5" name="Content Placeholder 4" descr="A diagram of a graph&#10;&#10;AI-generated content may be incorrect.">
            <a:extLst>
              <a:ext uri="{FF2B5EF4-FFF2-40B4-BE49-F238E27FC236}">
                <a16:creationId xmlns:a16="http://schemas.microsoft.com/office/drawing/2014/main" id="{A11431D0-4A5C-CCC2-6EAF-3392D38264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8799" y="1376084"/>
            <a:ext cx="7093092" cy="402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8079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96B522-2D66-02C0-DD3D-A82C8E180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ounded Rectangle 14">
            <a:extLst>
              <a:ext uri="{FF2B5EF4-FFF2-40B4-BE49-F238E27FC236}">
                <a16:creationId xmlns:a16="http://schemas.microsoft.com/office/drawing/2014/main" id="{7C18E214-0DD4-114B-2CB2-567326921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2E9ACE-A305-398A-C8C8-FB28AFE60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555A527-2263-6E8A-4B90-A63BA1110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4636008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D0C0D3-549E-F510-3A06-D8B357782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058" y="1733202"/>
            <a:ext cx="3687417" cy="1920372"/>
          </a:xfrm>
        </p:spPr>
        <p:txBody>
          <a:bodyPr>
            <a:normAutofit/>
          </a:bodyPr>
          <a:lstStyle/>
          <a:p>
            <a:pPr algn="l"/>
            <a:r>
              <a:rPr lang="en-GB" sz="3600">
                <a:solidFill>
                  <a:schemeClr val="bg1"/>
                </a:solidFill>
              </a:rPr>
              <a:t>Impedance issues</a:t>
            </a:r>
            <a:endParaRPr lang="en-GB" sz="3600" dirty="0">
              <a:solidFill>
                <a:schemeClr val="bg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B01A198-C5A5-D288-B3A4-AC5F10449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pic>
        <p:nvPicPr>
          <p:cNvPr id="5" name="Content Placeholder 4" descr="A diagram of a graph&#10;&#10;AI-generated content may be incorrect.">
            <a:extLst>
              <a:ext uri="{FF2B5EF4-FFF2-40B4-BE49-F238E27FC236}">
                <a16:creationId xmlns:a16="http://schemas.microsoft.com/office/drawing/2014/main" id="{A87842A0-A2D1-FAE3-18C4-90EEA3FB07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8799" y="1376084"/>
            <a:ext cx="7093092" cy="40253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56EC329-7AC8-771C-28E6-ADDA7C4C70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97846"/>
            <a:ext cx="12192000" cy="626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9392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D94F7C0-1344-4B3C-AFCB-E7F006BB5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EC584A2-4215-4DB8-AE1F-E3768D77E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7307551-3B02-57D8-0991-5C1880799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542" y="759338"/>
            <a:ext cx="3977639" cy="1600200"/>
          </a:xfrm>
        </p:spPr>
        <p:txBody>
          <a:bodyPr anchor="b">
            <a:normAutofit/>
          </a:bodyPr>
          <a:lstStyle/>
          <a:p>
            <a:pPr algn="l"/>
            <a:r>
              <a:rPr lang="en-GB" sz="3200" dirty="0"/>
              <a:t>Eye diagrams</a:t>
            </a:r>
          </a:p>
        </p:txBody>
      </p:sp>
      <p:pic>
        <p:nvPicPr>
          <p:cNvPr id="5" name="Content Placeholder 4" descr="A blue lines on a black background&#10;&#10;AI-generated content may be incorrect.">
            <a:extLst>
              <a:ext uri="{FF2B5EF4-FFF2-40B4-BE49-F238E27FC236}">
                <a16:creationId xmlns:a16="http://schemas.microsoft.com/office/drawing/2014/main" id="{1CC7E98B-5B29-E04B-D58B-7C57FF6EC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4126" y="918088"/>
            <a:ext cx="7931304" cy="5591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258190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TC104033937[[fn=Vapor Trail]]</Template>
  <TotalTime>109</TotalTime>
  <Words>1580</Words>
  <Application>Microsoft Office PowerPoint</Application>
  <PresentationFormat>Widescreen</PresentationFormat>
  <Paragraphs>212</Paragraphs>
  <Slides>64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8" baseType="lpstr">
      <vt:lpstr>Arial</vt:lpstr>
      <vt:lpstr>Calibri</vt:lpstr>
      <vt:lpstr>Century Gothic</vt:lpstr>
      <vt:lpstr>Vapor Trail</vt:lpstr>
      <vt:lpstr>Fundamentals of Signal Processing: Analog and Digital Techniques</vt:lpstr>
      <vt:lpstr>Introduction to Signal Processing</vt:lpstr>
      <vt:lpstr>Analog Signal Processing Overview </vt:lpstr>
      <vt:lpstr>PowerPoint Presentation</vt:lpstr>
      <vt:lpstr>PowerPoint Presentation</vt:lpstr>
      <vt:lpstr>PowerPoint Presentation</vt:lpstr>
      <vt:lpstr>FILTERS IN ANALOG SIGNAL PROCESSING</vt:lpstr>
      <vt:lpstr>PowerPoint Presentation</vt:lpstr>
      <vt:lpstr>PowerPoint Presentation</vt:lpstr>
      <vt:lpstr>PowerPoint Presentation</vt:lpstr>
      <vt:lpstr>Low pass and high pass formula</vt:lpstr>
      <vt:lpstr>-3db is when power output is half</vt:lpstr>
      <vt:lpstr>Power halves</vt:lpstr>
      <vt:lpstr>PowerPoint Presentation</vt:lpstr>
      <vt:lpstr>Impedance mismatch</vt:lpstr>
      <vt:lpstr>We need to recover losses</vt:lpstr>
      <vt:lpstr>PowerPoint Presentation</vt:lpstr>
      <vt:lpstr>Unity Voltage Gain Mode</vt:lpstr>
      <vt:lpstr>Why is unity voltage gain useful?</vt:lpstr>
      <vt:lpstr>Sometimes the voltage needs to be reduced</vt:lpstr>
      <vt:lpstr>Opamps can be used for attenuation given the signal fits within the opamp supply voltage rails</vt:lpstr>
      <vt:lpstr>Caveats of Using Op-Amps in Real-World Signal Processing 1</vt:lpstr>
      <vt:lpstr>Caveats of Using Op-Amps in Real-World Signal Processing 2</vt:lpstr>
      <vt:lpstr>Caveats of Using Op-Amps in Real-World Signal Processing 3</vt:lpstr>
      <vt:lpstr>Instrumentation amplifiers are designed to overcome generic opamp caveats</vt:lpstr>
      <vt:lpstr>What is an Instrumentation Amplifier?</vt:lpstr>
      <vt:lpstr>Key Advantages of Instrumentation Amplifiers</vt:lpstr>
      <vt:lpstr>Key Advantages of Instrumentation Amplifiers</vt:lpstr>
      <vt:lpstr>Key Advantages of Instrumentation Amplifiers</vt:lpstr>
      <vt:lpstr>Applications of Instrumentation Amplifiers</vt:lpstr>
      <vt:lpstr>BJT Based amplifiers, attenuators,  filters are available but harder to design so not as common</vt:lpstr>
      <vt:lpstr>Introduction to Digital Signal Processing (DSP)</vt:lpstr>
      <vt:lpstr>DSP FOR MICROPHONE AUDIO PROCESSING EXAMPLE</vt:lpstr>
      <vt:lpstr>Noise Reduction Techniques in DSP</vt:lpstr>
      <vt:lpstr>FIR Filter Diagram</vt:lpstr>
      <vt:lpstr>FIR Filters</vt:lpstr>
      <vt:lpstr>PowerPoint Presentation</vt:lpstr>
      <vt:lpstr>FIR Filters</vt:lpstr>
      <vt:lpstr>FIR vs iir Diagram</vt:lpstr>
      <vt:lpstr>Comparison </vt:lpstr>
      <vt:lpstr>Comparison </vt:lpstr>
      <vt:lpstr>Oversampling and Averaging</vt:lpstr>
      <vt:lpstr>PowerPoint Presentation</vt:lpstr>
      <vt:lpstr>PowerPoint Presentation</vt:lpstr>
      <vt:lpstr>Windowing</vt:lpstr>
      <vt:lpstr>PowerPoint Presentation</vt:lpstr>
      <vt:lpstr>Frequency Bin</vt:lpstr>
      <vt:lpstr>PowerPoint Presentation</vt:lpstr>
      <vt:lpstr>Digital SIGNALS</vt:lpstr>
      <vt:lpstr>Schmitt Triggering</vt:lpstr>
      <vt:lpstr>Basic diagram</vt:lpstr>
      <vt:lpstr>How It Works:</vt:lpstr>
      <vt:lpstr>PowerPoint Presentation</vt:lpstr>
      <vt:lpstr>You can dedicated ICs</vt:lpstr>
      <vt:lpstr>Inductor Filtering for Noise</vt:lpstr>
      <vt:lpstr>PowerPoint Presentation</vt:lpstr>
      <vt:lpstr>PowerPoint Presentation</vt:lpstr>
      <vt:lpstr>Capacitor Filtering for Noise</vt:lpstr>
      <vt:lpstr>PowerPoint Presentation</vt:lpstr>
      <vt:lpstr>PowerPoint Presentation</vt:lpstr>
      <vt:lpstr>Impedance Matching</vt:lpstr>
      <vt:lpstr>Impedance issues</vt:lpstr>
      <vt:lpstr>Impedance issues</vt:lpstr>
      <vt:lpstr>Eye diagrams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Fundamentals of Signal Processing: Analog and Digital Techniques</dc:title>
  <dc:creator>Akbar Qamar</dc:creator>
  <cp:lastModifiedBy>al Qamar, Muhammad</cp:lastModifiedBy>
  <cp:revision>25</cp:revision>
  <dcterms:created xsi:type="dcterms:W3CDTF">2025-02-20T04:08:02Z</dcterms:created>
  <dcterms:modified xsi:type="dcterms:W3CDTF">2025-02-27T05:24:54Z</dcterms:modified>
</cp:coreProperties>
</file>