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0"/>
  </p:notesMasterIdLst>
  <p:handoutMasterIdLst>
    <p:handoutMasterId r:id="rId31"/>
  </p:handoutMasterIdLst>
  <p:sldIdLst>
    <p:sldId id="309" r:id="rId5"/>
    <p:sldId id="1563" r:id="rId6"/>
    <p:sldId id="1656" r:id="rId7"/>
    <p:sldId id="1667" r:id="rId8"/>
    <p:sldId id="1668" r:id="rId9"/>
    <p:sldId id="1657" r:id="rId10"/>
    <p:sldId id="1666" r:id="rId11"/>
    <p:sldId id="1658" r:id="rId12"/>
    <p:sldId id="269" r:id="rId13"/>
    <p:sldId id="261" r:id="rId14"/>
    <p:sldId id="1669" r:id="rId15"/>
    <p:sldId id="1670" r:id="rId16"/>
    <p:sldId id="1660" r:id="rId17"/>
    <p:sldId id="1671" r:id="rId18"/>
    <p:sldId id="1672" r:id="rId19"/>
    <p:sldId id="1673" r:id="rId20"/>
    <p:sldId id="1674" r:id="rId21"/>
    <p:sldId id="1676" r:id="rId22"/>
    <p:sldId id="1675" r:id="rId23"/>
    <p:sldId id="1659" r:id="rId24"/>
    <p:sldId id="1663" r:id="rId25"/>
    <p:sldId id="1661" r:id="rId26"/>
    <p:sldId id="266" r:id="rId27"/>
    <p:sldId id="1664" r:id="rId28"/>
    <p:sldId id="166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E4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BFB072-E6E6-4032-BEBD-3AE88CFACFF0}" v="195" dt="2025-04-02T13:41:48.866"/>
  </p1510:revLst>
</p1510:revInfo>
</file>

<file path=ppt/tableStyles.xml><?xml version="1.0" encoding="utf-8"?>
<a:tblStyleLst xmlns:a="http://schemas.openxmlformats.org/drawingml/2006/main" def="{F5AB1C69-6EDB-4FF4-983F-18BD219EF322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48" autoAdjust="0"/>
  </p:normalViewPr>
  <p:slideViewPr>
    <p:cSldViewPr snapToGrid="0">
      <p:cViewPr varScale="1">
        <p:scale>
          <a:sx n="61" d="100"/>
          <a:sy n="61" d="100"/>
        </p:scale>
        <p:origin x="51" y="8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ea typeface="+mj-lt"/>
                <a:cs typeface="+mj-lt"/>
              </a:rPr>
              <a:t>https://youtu.be/Ia4RV3JYWGg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788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anchor="t">
            <a:normAutofit/>
          </a:bodyPr>
          <a:lstStyle>
            <a:lvl1pPr algn="l">
              <a:defRPr sz="9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91071A-A69E-4756-A27D-7C7C5F9F32BB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0D1C923-C708-4EAA-A92A-FF81A8F7DA0D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74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anchor="t">
            <a:normAutofit/>
          </a:bodyPr>
          <a:lstStyle>
            <a:lvl1pPr algn="l">
              <a:defRPr sz="125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61AAA3-5155-4231-8EEA-4F6426D8887B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87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94E042F-6826-4E41-A6B0-8BF606E4151E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/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3E408205-B154-4943-AEBC-86E16421E5DB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D144122-2A67-493C-895E-2682608B0F6A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7" y="342900"/>
            <a:ext cx="5334000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98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486A74E5-A9C0-4E5C-851E-13F6D920EA1A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84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188DBF3-F598-4A31-8E9B-511F7F0D5E47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9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C7299-89AC-DB5B-B75E-E02A0040A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88DBF3-F598-4A31-8E9B-511F7F0D5E47}" type="datetime1">
              <a:rPr lang="en-US" smtClean="0"/>
              <a:pPr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145AC3-CC88-4C8A-A6CE-8D44921B6A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56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BA22E09C-1954-DBFC-E669-2449D22D2D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312551 w 6714969"/>
              <a:gd name="connsiteY0" fmla="*/ 0 h 6163508"/>
              <a:gd name="connsiteX1" fmla="*/ 6402418 w 6714969"/>
              <a:gd name="connsiteY1" fmla="*/ 0 h 6163508"/>
              <a:gd name="connsiteX2" fmla="*/ 6714969 w 6714969"/>
              <a:gd name="connsiteY2" fmla="*/ 312551 h 6163508"/>
              <a:gd name="connsiteX3" fmla="*/ 6714969 w 6714969"/>
              <a:gd name="connsiteY3" fmla="*/ 5850957 h 6163508"/>
              <a:gd name="connsiteX4" fmla="*/ 6402418 w 6714969"/>
              <a:gd name="connsiteY4" fmla="*/ 6163508 h 6163508"/>
              <a:gd name="connsiteX5" fmla="*/ 312551 w 6714969"/>
              <a:gd name="connsiteY5" fmla="*/ 6163508 h 6163508"/>
              <a:gd name="connsiteX6" fmla="*/ 0 w 6714969"/>
              <a:gd name="connsiteY6" fmla="*/ 5850957 h 6163508"/>
              <a:gd name="connsiteX7" fmla="*/ 0 w 6714969"/>
              <a:gd name="connsiteY7" fmla="*/ 312551 h 6163508"/>
              <a:gd name="connsiteX8" fmla="*/ 312551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312551" y="0"/>
                </a:moveTo>
                <a:lnTo>
                  <a:pt x="6402418" y="0"/>
                </a:lnTo>
                <a:cubicBezTo>
                  <a:pt x="6575035" y="0"/>
                  <a:pt x="6714969" y="139934"/>
                  <a:pt x="6714969" y="312551"/>
                </a:cubicBezTo>
                <a:lnTo>
                  <a:pt x="6714969" y="5850957"/>
                </a:lnTo>
                <a:cubicBezTo>
                  <a:pt x="6714969" y="6023574"/>
                  <a:pt x="6575035" y="6163508"/>
                  <a:pt x="6402418" y="6163508"/>
                </a:cubicBezTo>
                <a:lnTo>
                  <a:pt x="312551" y="6163508"/>
                </a:lnTo>
                <a:cubicBezTo>
                  <a:pt x="139934" y="6163508"/>
                  <a:pt x="0" y="6023574"/>
                  <a:pt x="0" y="5850957"/>
                </a:cubicBezTo>
                <a:lnTo>
                  <a:pt x="0" y="312551"/>
                </a:lnTo>
                <a:cubicBezTo>
                  <a:pt x="0" y="139934"/>
                  <a:pt x="139934" y="0"/>
                  <a:pt x="31255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20FBA-2DD9-4488-808B-852669FDC9B7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906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9D5A0-3316-4C32-929A-0D0DB97D10BB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BBADD7-305F-4EB9-8736-D791FAF7A4D4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913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68" y="1380744"/>
            <a:ext cx="11328844" cy="49011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9238A-C249-43B5-82BC-D29F8CAE992A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46182-1DDF-4ACE-B05D-D855179AB21D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79F24-F3CA-4AD0-8BF8-AB0BBB30EE08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42EAA-E00A-40E8-8E99-2669E0367007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5030-C135-4A24-944D-06B773D2F2E6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54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5E6FB-0D10-49C4-88DE-98215C666BA1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3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242880F-92D7-4796-B72D-6CF83054BAF5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23749-65BA-43BD-B2BF-FF5A4C96AE14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561C12A-E1D5-4BE9-85D9-F221F70F4931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DBE6-5750-4902-BDAA-20F546DD8AD7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1C4331-C33F-4DC1-AB74-C520A718CE2B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4764-83A9-4A81-9507-BED109D81520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2C6C9-D30C-4946-92A4-454A5FC69685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350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79CC6-BB04-42D6-AB0C-BAA184663D94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861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B3D66E4-8050-49E4-B8D2-06214BFB7C0A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7AEA2F-0823-4BD6-88F7-6D0D98F52C93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16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6092A99-204A-46CE-8F70-09D6B2D34877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19413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49EA3-15DE-451B-A24B-ACC8EA0B6D09}" type="datetime1">
              <a:rPr lang="en-US" smtClean="0"/>
              <a:t>4/2/2025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644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43DB-FCC0-4D52-80F2-173D55390D61}" type="datetime1">
              <a:rPr lang="en-US" smtClean="0"/>
              <a:t>4/2/2025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57C7506-9AD1-49AD-BE44-C83E35401EAD}" type="datetime1">
              <a:rPr lang="en-US" smtClean="0"/>
              <a:t>4/2/2025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BF2A-D949-4DFB-9912-9D6234B797F2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3594C-FF61-4FB6-A5E4-597CB7D69CB6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205C6-AA77-4A66-BB27-EE68DDD0D193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5DF3-EEC7-45DF-A943-3E12702079E5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5" y="4989044"/>
            <a:ext cx="11201399" cy="1225296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ctr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ctr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ctr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ctr">
              <a:buNone/>
              <a:defRPr sz="14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7570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7828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9EAFF-A363-4554-A2A5-F61FABD0CE04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776" y="4989044"/>
            <a:ext cx="11201400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228600" indent="0" algn="ctr">
              <a:buNone/>
              <a:defRPr sz="2400"/>
            </a:lvl2pPr>
            <a:lvl3pPr marL="457200" indent="0" algn="ctr">
              <a:buNone/>
              <a:defRPr sz="2000"/>
            </a:lvl3pPr>
            <a:lvl4pPr marL="685800" indent="0" algn="ctr">
              <a:buNone/>
              <a:defRPr sz="1800"/>
            </a:lvl4pPr>
            <a:lvl5pPr marL="914400" indent="0" algn="ctr">
              <a:buNone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0835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603504"/>
            <a:ext cx="11201400" cy="4206240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7950-0717-4110-9557-F08D8A545BF8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4809744"/>
            <a:ext cx="5897880" cy="135331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  <a:lvl2pPr marL="228600" indent="0" algn="l"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2pPr>
            <a:lvl3pPr marL="457200" indent="0" algn="l">
              <a:buNone/>
              <a:defRPr sz="2000">
                <a:solidFill>
                  <a:schemeClr val="tx2">
                    <a:lumMod val="90000"/>
                    <a:lumOff val="10000"/>
                  </a:schemeClr>
                </a:solidFill>
              </a:defRPr>
            </a:lvl3pPr>
            <a:lvl4pPr marL="685800" indent="0" algn="l">
              <a:buNone/>
              <a:defRPr sz="1800">
                <a:solidFill>
                  <a:schemeClr val="tx2">
                    <a:lumMod val="90000"/>
                    <a:lumOff val="10000"/>
                  </a:schemeClr>
                </a:solidFill>
              </a:defRPr>
            </a:lvl4pPr>
            <a:lvl5pPr marL="914400" indent="0" algn="l">
              <a:buNone/>
              <a:defRPr sz="1600">
                <a:solidFill>
                  <a:schemeClr val="tx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0438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F94A-833D-4D19-8ACB-52DAEF08569A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7495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823376"/>
            <a:ext cx="9198864" cy="2875175"/>
          </a:xfrm>
        </p:spPr>
        <p:txBody>
          <a:bodyPr anchor="ctr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C3A70-5484-4418-A739-7B973E09E7E8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276088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28600" indent="0">
              <a:buNone/>
              <a:defRPr sz="20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2pPr>
            <a:lvl3pPr marL="457200" indent="0">
              <a:buNone/>
              <a:defRPr sz="18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3pPr>
            <a:lvl4pPr marL="685800" indent="0">
              <a:buNone/>
              <a:defRPr sz="16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4pPr>
            <a:lvl5pPr marL="914400" indent="0">
              <a:buNone/>
              <a:defRPr sz="14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749805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A9563B-AAD5-FEB6-A529-82D8BF95E524}"/>
              </a:ext>
            </a:extLst>
          </p:cNvPr>
          <p:cNvSpPr/>
          <p:nvPr userDrawn="1"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5064" y="2092751"/>
            <a:ext cx="8695944" cy="2128102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80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960C-742D-4508-821A-E36FD033CDBF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5120640"/>
            <a:ext cx="8695944" cy="62179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dirty="0"/>
            </a:lvl1pPr>
            <a:lvl2pPr marL="228600" indent="0">
              <a:buNone/>
              <a:defRPr lang="en-US" b="1" dirty="0"/>
            </a:lvl2pPr>
            <a:lvl3pPr marL="457200" indent="0">
              <a:buNone/>
              <a:defRPr lang="en-US" b="1" dirty="0"/>
            </a:lvl3pPr>
            <a:lvl4pPr marL="685800" indent="0">
              <a:buNone/>
              <a:defRPr lang="en-US" b="1" dirty="0"/>
            </a:lvl4pPr>
            <a:lvl5pPr marL="914400" indent="0">
              <a:buNone/>
              <a:defRPr lang="en-US" b="1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285905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E0D0A5-9A76-413F-B8E0-5A45841D7E46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75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0AF003-CBE1-47D7-BB91-14D8E3A57039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04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EEC48-96C8-40C8-BC32-68BFC261013A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9F91-8FDB-4AB3-84FB-6B8E68AF702B}" type="datetime1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1D436-D43A-4662-BADB-33E2F793B997}" type="datetime1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C9DBE-31FF-4D71-B719-92EBAC3193CE}" type="datetime1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F576B-5432-44C5-AE72-B8C78722FE99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342901"/>
            <a:ext cx="6785782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6CE1-0051-42BD-BBD3-CB4EC65FC51D}" type="datetime1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04B75-5BA7-423E-A6AE-B3781CB72AA9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1F7B-2472-4057-932A-A13696216B5F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70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8A7B9ABC-2BDA-432C-8D53-84813DB6E36F}" type="datetime1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715" r:id="rId2"/>
    <p:sldLayoutId id="2147483676" r:id="rId3"/>
    <p:sldLayoutId id="2147483712" r:id="rId4"/>
    <p:sldLayoutId id="2147483698" r:id="rId5"/>
    <p:sldLayoutId id="2147483734" r:id="rId6"/>
    <p:sldLayoutId id="2147483736" r:id="rId7"/>
    <p:sldLayoutId id="2147483729" r:id="rId8"/>
    <p:sldLayoutId id="2147483783" r:id="rId9"/>
    <p:sldLayoutId id="2147483716" r:id="rId10"/>
    <p:sldLayoutId id="2147483782" r:id="rId11"/>
    <p:sldLayoutId id="2147483713" r:id="rId12"/>
    <p:sldLayoutId id="2147483732" r:id="rId13"/>
    <p:sldLayoutId id="2147483662" r:id="rId14"/>
    <p:sldLayoutId id="2147483679" r:id="rId15"/>
    <p:sldLayoutId id="2147483680" r:id="rId16"/>
    <p:sldLayoutId id="2147483681" r:id="rId17"/>
    <p:sldLayoutId id="2147483778" r:id="rId18"/>
    <p:sldLayoutId id="2147483777" r:id="rId19"/>
    <p:sldLayoutId id="2147483689" r:id="rId20"/>
    <p:sldLayoutId id="2147483690" r:id="rId21"/>
    <p:sldLayoutId id="2147483707" r:id="rId22"/>
    <p:sldLayoutId id="2147483708" r:id="rId23"/>
    <p:sldLayoutId id="2147483692" r:id="rId24"/>
    <p:sldLayoutId id="2147483691" r:id="rId25"/>
    <p:sldLayoutId id="2147483743" r:id="rId26"/>
    <p:sldLayoutId id="2147483744" r:id="rId27"/>
    <p:sldLayoutId id="2147483694" r:id="rId28"/>
    <p:sldLayoutId id="2147483770" r:id="rId29"/>
    <p:sldLayoutId id="2147483769" r:id="rId30"/>
    <p:sldLayoutId id="2147483771" r:id="rId31"/>
    <p:sldLayoutId id="2147483693" r:id="rId32"/>
    <p:sldLayoutId id="2147483711" r:id="rId33"/>
    <p:sldLayoutId id="2147483672" r:id="rId34"/>
    <p:sldLayoutId id="2147483673" r:id="rId35"/>
    <p:sldLayoutId id="2147483696" r:id="rId36"/>
    <p:sldLayoutId id="2147483780" r:id="rId37"/>
    <p:sldLayoutId id="2147483740" r:id="rId38"/>
    <p:sldLayoutId id="2147483779" r:id="rId39"/>
    <p:sldLayoutId id="2147483776" r:id="rId40"/>
    <p:sldLayoutId id="2147483757" r:id="rId41"/>
    <p:sldLayoutId id="2147483762" r:id="rId42"/>
    <p:sldLayoutId id="2147483764" r:id="rId43"/>
    <p:sldLayoutId id="2147483767" r:id="rId44"/>
    <p:sldLayoutId id="2147483664" r:id="rId45"/>
    <p:sldLayoutId id="2147483665" r:id="rId46"/>
    <p:sldLayoutId id="2147483666" r:id="rId47"/>
    <p:sldLayoutId id="2147483667" r:id="rId48"/>
    <p:sldLayoutId id="2147483668" r:id="rId49"/>
    <p:sldLayoutId id="2147483669" r:id="rId50"/>
    <p:sldLayoutId id="2147483685" r:id="rId51"/>
    <p:sldLayoutId id="2147483730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terlocking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870362" TargetMode="External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s7000.net.ve/2017/07/23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creativecommons.org/licenses/by-sa/3.0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sogrid.org/blog/author/admin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FACAB-959D-812F-8963-C96537ED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E92D4A-2B01-7C79-765D-37A3B9226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>
            <a:normAutofit/>
          </a:bodyPr>
          <a:lstStyle/>
          <a:p>
            <a:r>
              <a:rPr lang="en-US"/>
              <a:t>PLC Introduction 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14E2E02-FD44-8495-42A7-69BFA6085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>
            <a:normAutofit/>
          </a:bodyPr>
          <a:lstStyle/>
          <a:p>
            <a:pPr algn="r"/>
            <a:r>
              <a:rPr lang="en-US"/>
              <a:t>Akbar Q – Mechatronics Engineering Year 1 Semester 2</a:t>
            </a:r>
          </a:p>
        </p:txBody>
      </p:sp>
      <p:pic>
        <p:nvPicPr>
          <p:cNvPr id="5" name="Picture Placeholder 4" descr="4 Examples of PLCs in Industrial Automation">
            <a:extLst>
              <a:ext uri="{FF2B5EF4-FFF2-40B4-BE49-F238E27FC236}">
                <a16:creationId xmlns:a16="http://schemas.microsoft.com/office/drawing/2014/main" id="{78399731-5F97-E9F2-6BCE-D012F2544B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4797" b="14797"/>
          <a:stretch/>
        </p:blipFill>
        <p:spPr>
          <a:xfrm>
            <a:off x="437985" y="339930"/>
            <a:ext cx="11345631" cy="4792771"/>
          </a:xfrm>
        </p:spPr>
      </p:pic>
    </p:spTree>
    <p:extLst>
      <p:ext uri="{BB962C8B-B14F-4D97-AF65-F5344CB8AC3E}">
        <p14:creationId xmlns:p14="http://schemas.microsoft.com/office/powerpoint/2010/main" val="1640834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99EF-994E-2448-D260-6957DB076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7EC32-F483-9CB8-A03D-3BDD4529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3" y="181679"/>
            <a:ext cx="4023360" cy="1636776"/>
          </a:xfrm>
        </p:spPr>
        <p:txBody>
          <a:bodyPr/>
          <a:lstStyle/>
          <a:p>
            <a:r>
              <a:rPr lang="en-US"/>
              <a:t>Core Definition </a:t>
            </a:r>
          </a:p>
        </p:txBody>
      </p:sp>
      <p:pic>
        <p:nvPicPr>
          <p:cNvPr id="4" name="Picture Placeholder 3" descr="PLC Programming Perth | Omron, Allen Bradley, Beckhoff, Codesys, Delta ...">
            <a:extLst>
              <a:ext uri="{FF2B5EF4-FFF2-40B4-BE49-F238E27FC236}">
                <a16:creationId xmlns:a16="http://schemas.microsoft.com/office/drawing/2014/main" id="{D7CFB661-4F9E-1368-0E5F-82003881950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15954" r="15954"/>
          <a:stretch/>
        </p:blipFill>
        <p:spPr>
          <a:xfrm>
            <a:off x="342901" y="345109"/>
            <a:ext cx="6714969" cy="6163508"/>
          </a:xfr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375E5-CCC8-A819-72F8-DE6E01420C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1847629"/>
            <a:ext cx="4201490" cy="441397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sz="2400">
                <a:ea typeface="+mn-lt"/>
                <a:cs typeface="+mn-lt"/>
              </a:rPr>
              <a:t>A digitally operating electronic system designed for industrial environments that uses programmable memory for internal storage of user-oriented instructions to implement specific functions such as logic, sequencing, timing, counting, and arithmetic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03250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E96A91-1631-1D6C-FF50-C75B65DE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92380"/>
            <a:ext cx="6135624" cy="11430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Key Characteristics</a:t>
            </a:r>
            <a:br>
              <a:rPr lang="en-US">
                <a:ea typeface="+mj-lt"/>
                <a:cs typeface="+mj-lt"/>
              </a:rPr>
            </a:br>
            <a:endParaRPr lang="en-US">
              <a:ea typeface="+mj-lt"/>
              <a:cs typeface="+mj-lt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5C0AB1-C3E0-9A6E-F18F-2ACAEB29BF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938151"/>
            <a:ext cx="10816481" cy="538035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 dirty="0"/>
              <a:t>Industrial Hardening</a:t>
            </a:r>
            <a:r>
              <a:rPr lang="en-US" sz="2000" dirty="0"/>
              <a:t>:</a:t>
            </a:r>
          </a:p>
          <a:p>
            <a:r>
              <a:rPr lang="en-US" sz="2000" dirty="0"/>
              <a:t>Conformal-coated PCBs resistant to humidity</a:t>
            </a:r>
          </a:p>
          <a:p>
            <a:r>
              <a:rPr lang="en-US" sz="2000" dirty="0"/>
              <a:t>Wide temperature range operation (-40°C to 70°C for some models)</a:t>
            </a:r>
          </a:p>
          <a:p>
            <a:r>
              <a:rPr lang="en-US" sz="2000" dirty="0"/>
              <a:t>DIN rail mounting with vibration resistance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Deterministic Operation</a:t>
            </a:r>
            <a:r>
              <a:rPr lang="en-US" sz="2000" dirty="0"/>
              <a:t>:</a:t>
            </a:r>
          </a:p>
          <a:p>
            <a:r>
              <a:rPr lang="en-US" sz="2000" dirty="0"/>
              <a:t>Fixed scan cycle architecture</a:t>
            </a:r>
          </a:p>
          <a:p>
            <a:r>
              <a:rPr lang="en-US" sz="2000" dirty="0"/>
              <a:t>Watchdog timers for fault detection</a:t>
            </a:r>
          </a:p>
          <a:p>
            <a:r>
              <a:rPr lang="en-US" sz="2000" dirty="0"/>
              <a:t>&lt;1ms I/O response times in high-speed applications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Modular Design</a:t>
            </a:r>
            <a:r>
              <a:rPr lang="en-US" sz="2000" dirty="0"/>
              <a:t>:</a:t>
            </a:r>
          </a:p>
          <a:p>
            <a:r>
              <a:rPr lang="en-US" sz="2000" dirty="0"/>
              <a:t>Hot-swappable I/O modules</a:t>
            </a:r>
          </a:p>
          <a:p>
            <a:r>
              <a:rPr lang="en-US" sz="2000" dirty="0"/>
              <a:t>Fieldbus backplane communication (e.g., ControlNet, Profibus)</a:t>
            </a:r>
          </a:p>
        </p:txBody>
      </p:sp>
      <p:pic>
        <p:nvPicPr>
          <p:cNvPr id="10" name="Picture Placeholder 9" descr="Premium AI Image | Natural disaster earth extreme environment active ...">
            <a:extLst>
              <a:ext uri="{FF2B5EF4-FFF2-40B4-BE49-F238E27FC236}">
                <a16:creationId xmlns:a16="http://schemas.microsoft.com/office/drawing/2014/main" id="{ACC1B38D-1775-E3D3-01BC-E46CB95705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9515" t="4252" b="4399"/>
          <a:stretch/>
        </p:blipFill>
        <p:spPr>
          <a:xfrm>
            <a:off x="8718966" y="352327"/>
            <a:ext cx="3168846" cy="6165256"/>
          </a:xfrm>
        </p:spPr>
      </p:pic>
    </p:spTree>
    <p:extLst>
      <p:ext uri="{BB962C8B-B14F-4D97-AF65-F5344CB8AC3E}">
        <p14:creationId xmlns:p14="http://schemas.microsoft.com/office/powerpoint/2010/main" val="390127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6A52-36F5-2FEE-00C3-34D8477F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91C048-8D5E-5298-6E05-D473E76EB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" t="152" r="-70" b="8547"/>
          <a:stretch/>
        </p:blipFill>
        <p:spPr>
          <a:xfrm>
            <a:off x="492213" y="-10962"/>
            <a:ext cx="11207573" cy="686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75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41A3-15CA-441C-2AB6-C2CEF5CF6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877F69-B1BE-B6ED-E86B-AE5C572C8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2" b="4022"/>
          <a:stretch/>
        </p:blipFill>
        <p:spPr>
          <a:xfrm>
            <a:off x="492213" y="-10962"/>
            <a:ext cx="11207573" cy="686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04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8D14EC-78B8-4287-8DC4-AECA6B3C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2092751"/>
            <a:ext cx="8695944" cy="2128102"/>
          </a:xfrm>
        </p:spPr>
        <p:txBody>
          <a:bodyPr>
            <a:normAutofit/>
          </a:bodyPr>
          <a:lstStyle/>
          <a:p>
            <a:pPr algn="ctr"/>
            <a:r>
              <a:rPr lang="en-US"/>
              <a:t>“An </a:t>
            </a:r>
            <a:r>
              <a:rPr lang="en-US">
                <a:ea typeface="+mj-lt"/>
                <a:cs typeface="+mj-lt"/>
              </a:rPr>
              <a:t>Evolution from relay panels to modern PLCs</a:t>
            </a:r>
            <a:r>
              <a:rPr lang="en-US"/>
              <a:t>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7E86F-B26E-D14E-303A-541BE17FB10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algn="ctr"/>
            <a:r>
              <a:rPr lang="en-US" sz="3400" b="0"/>
              <a:t>(1968 Bedford Associates Modicon)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22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895CD-9768-AAA6-1059-EF3E49E80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FE79F35-145A-AD3F-D324-F0CD71A75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2911" y="-5482"/>
            <a:ext cx="10451800" cy="686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8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AFC61-58D8-9A41-F18F-40FEBA284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1479833"/>
            <a:ext cx="11573436" cy="3379038"/>
          </a:xfrm>
        </p:spPr>
        <p:txBody>
          <a:bodyPr>
            <a:normAutofit/>
          </a:bodyPr>
          <a:lstStyle/>
          <a:p>
            <a:pPr algn="ctr"/>
            <a:br>
              <a:rPr lang="en-US" sz="4400" dirty="0">
                <a:ea typeface="+mj-lt"/>
                <a:cs typeface="+mj-lt"/>
              </a:rPr>
            </a:br>
            <a:r>
              <a:rPr lang="en-US" sz="4400" dirty="0">
                <a:ea typeface="+mj-lt"/>
                <a:cs typeface="+mj-lt"/>
              </a:rPr>
              <a:t>Relay Logic In Operation</a:t>
            </a:r>
            <a:br>
              <a:rPr lang="en-US" sz="4400" dirty="0">
                <a:ea typeface="+mj-lt"/>
                <a:cs typeface="+mj-lt"/>
              </a:rPr>
            </a:br>
            <a:r>
              <a:rPr lang="en-US" sz="4400" dirty="0">
                <a:ea typeface="+mj-lt"/>
                <a:cs typeface="+mj-lt"/>
              </a:rPr>
              <a:t>_______________________________</a:t>
            </a:r>
            <a:br>
              <a:rPr lang="en-US" sz="4400" dirty="0">
                <a:ea typeface="+mj-lt"/>
                <a:cs typeface="+mj-lt"/>
              </a:rPr>
            </a:br>
            <a:br>
              <a:rPr lang="en-US" sz="4400" dirty="0">
                <a:ea typeface="+mj-lt"/>
                <a:cs typeface="+mj-lt"/>
              </a:rPr>
            </a:br>
            <a:r>
              <a:rPr lang="en-US" sz="4400" dirty="0">
                <a:ea typeface="+mj-lt"/>
                <a:cs typeface="+mj-lt"/>
              </a:rPr>
              <a:t>https://youtu.be/Ia4RV3JYWGg</a:t>
            </a:r>
          </a:p>
        </p:txBody>
      </p:sp>
    </p:spTree>
    <p:extLst>
      <p:ext uri="{BB962C8B-B14F-4D97-AF65-F5344CB8AC3E}">
        <p14:creationId xmlns:p14="http://schemas.microsoft.com/office/powerpoint/2010/main" val="128462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D2400-94AD-31F6-37F1-0D939219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50A7-8097-B5C9-4E58-9ED8D14AD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80"/>
            <a:ext cx="11328845" cy="740664"/>
          </a:xfrm>
        </p:spPr>
        <p:txBody>
          <a:bodyPr>
            <a:normAutofit/>
          </a:bodyPr>
          <a:lstStyle/>
          <a:p>
            <a:r>
              <a:rPr lang="fr-FR" dirty="0" err="1"/>
              <a:t>Microcontrollers</a:t>
            </a:r>
            <a:r>
              <a:rPr lang="fr-FR" dirty="0"/>
              <a:t> vs </a:t>
            </a:r>
            <a:r>
              <a:rPr lang="fr-FR" dirty="0" err="1"/>
              <a:t>PLCs</a:t>
            </a:r>
            <a:r>
              <a:rPr lang="fr-FR" dirty="0"/>
              <a:t> - </a:t>
            </a:r>
            <a:r>
              <a:rPr lang="fr-FR" dirty="0" err="1"/>
              <a:t>Technical</a:t>
            </a:r>
            <a:r>
              <a:rPr lang="fr-FR" dirty="0"/>
              <a:t> </a:t>
            </a:r>
            <a:r>
              <a:rPr lang="fr-FR" dirty="0" err="1"/>
              <a:t>Comparison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705BE0-10C1-CC28-96B8-B99EA398B9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519"/>
          <a:stretch/>
        </p:blipFill>
        <p:spPr>
          <a:xfrm>
            <a:off x="174768" y="1860356"/>
            <a:ext cx="11718178" cy="407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72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B70B6-B9DD-8293-E045-C9E0BE21FE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518" y="340659"/>
            <a:ext cx="11887199" cy="6176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Processing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PLCs: Dedicated real-time OS (e.g., VxWorks)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MCUs: General-purpose OS (e.g., </a:t>
            </a:r>
            <a:r>
              <a:rPr lang="en-GB" sz="2400" dirty="0" err="1"/>
              <a:t>FreeRTOS</a:t>
            </a:r>
            <a:r>
              <a:rPr lang="en-GB" sz="2400" dirty="0"/>
              <a:t>) or bare metal</a:t>
            </a:r>
          </a:p>
          <a:p>
            <a:pPr marL="0" indent="0">
              <a:buNone/>
            </a:pPr>
            <a:r>
              <a:rPr lang="en-US" sz="2400" b="1" dirty="0"/>
              <a:t>Memory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PLCs: ECC RAM with battery backup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MCUs: Non-ECC volatile memory</a:t>
            </a:r>
          </a:p>
          <a:p>
            <a:pPr marL="0" indent="0">
              <a:buNone/>
            </a:pPr>
            <a:r>
              <a:rPr lang="en-US" sz="2400" b="1" dirty="0"/>
              <a:t>Use Case Decision</a:t>
            </a:r>
          </a:p>
          <a:p>
            <a:r>
              <a:rPr lang="en-US" sz="2400" dirty="0"/>
              <a:t>When to choose PLC: Need &gt;50 I/O points, harsh environment, safety-critical</a:t>
            </a:r>
          </a:p>
          <a:p>
            <a:r>
              <a:rPr lang="en-US" sz="2400" dirty="0"/>
              <a:t>When to choose MCU: Prototyping, cost-sensitive, space-constrained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057B-B344-9BA2-FC27-DE9895784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390A92-0362-710D-6A67-382A2E1E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92380"/>
            <a:ext cx="6135624" cy="67719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PLC Hardware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B884DE-44A6-AFD7-C70D-64537877B3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125320"/>
            <a:ext cx="10816481" cy="538035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000" b="1" dirty="0"/>
              <a:t>Processor Unit</a:t>
            </a:r>
            <a:r>
              <a:rPr lang="en-GB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Dual/quad core CPUs (e.g., ARM Cortex-R series)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FPGA co-processors for high-speed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Battery-backed SRAM for program retention</a:t>
            </a:r>
            <a:br>
              <a:rPr lang="en-GB" sz="2000" dirty="0"/>
            </a:br>
            <a:endParaRPr lang="en-GB" sz="2000" dirty="0"/>
          </a:p>
          <a:p>
            <a:r>
              <a:rPr lang="en-GB" sz="2000" b="1" dirty="0"/>
              <a:t>Power Supply Design</a:t>
            </a:r>
            <a:r>
              <a:rPr lang="en-GB" sz="20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85-264VAC input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24VDC output with &lt;1% ripple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 Redundant power supply configurations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FF5048F-E8DE-7293-DDC9-E468CAE56B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867" r="32867"/>
          <a:stretch/>
        </p:blipFill>
        <p:spPr>
          <a:xfrm>
            <a:off x="8718966" y="352327"/>
            <a:ext cx="3168846" cy="6165256"/>
          </a:xfrm>
        </p:spPr>
      </p:pic>
    </p:spTree>
    <p:extLst>
      <p:ext uri="{BB962C8B-B14F-4D97-AF65-F5344CB8AC3E}">
        <p14:creationId xmlns:p14="http://schemas.microsoft.com/office/powerpoint/2010/main" val="833024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70DAD-0D73-C45B-4026-AC093B80D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A11B31-FA08-D74E-F256-0BF2EFFC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92380"/>
            <a:ext cx="6135624" cy="67719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PLC Hardware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83C290-F749-A2B4-5862-5C520EDC278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125320"/>
            <a:ext cx="10816481" cy="538035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200" b="1" dirty="0"/>
              <a:t>I/O Module</a:t>
            </a:r>
            <a:r>
              <a:rPr lang="en-GB" sz="22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b="1" dirty="0"/>
              <a:t>Digital Input</a:t>
            </a:r>
            <a:r>
              <a:rPr lang="en-GB" sz="2200" dirty="0"/>
              <a:t>:</a:t>
            </a:r>
          </a:p>
          <a:p>
            <a:r>
              <a:rPr lang="en-GB" sz="2200" dirty="0"/>
              <a:t>Wetting current requirements (2-5mA typical)</a:t>
            </a:r>
          </a:p>
          <a:p>
            <a:r>
              <a:rPr lang="en-GB" sz="2200" dirty="0"/>
              <a:t>24V DC Typical Operation</a:t>
            </a:r>
          </a:p>
          <a:p>
            <a:r>
              <a:rPr lang="en-GB" sz="2200" dirty="0"/>
              <a:t>Debounce filters (hardware and software)</a:t>
            </a:r>
          </a:p>
          <a:p>
            <a:endParaRPr lang="en-GB" sz="2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200" b="1" dirty="0"/>
              <a:t>Analog Input</a:t>
            </a:r>
            <a:r>
              <a:rPr lang="en-GB" sz="2200" dirty="0"/>
              <a:t>:</a:t>
            </a:r>
          </a:p>
          <a:p>
            <a:r>
              <a:rPr lang="en-GB" sz="2200" dirty="0"/>
              <a:t>16-bit delta-sigma ADCs</a:t>
            </a:r>
          </a:p>
          <a:p>
            <a:r>
              <a:rPr lang="en-GB" sz="2200" dirty="0"/>
              <a:t>Built-in signal conditioning (e.g., Siemens SM331)</a:t>
            </a:r>
          </a:p>
          <a:p>
            <a:r>
              <a:rPr lang="en-GB" sz="2200" dirty="0"/>
              <a:t>0-10V DC and 4-20 mA Typical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8B71D1B-FED8-E3C6-D245-B86C298B7D4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800" r="24800"/>
          <a:stretch/>
        </p:blipFill>
        <p:spPr>
          <a:xfrm>
            <a:off x="8718966" y="352327"/>
            <a:ext cx="3168846" cy="6165256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B61957-75D8-4206-0237-D7568A742048}"/>
              </a:ext>
            </a:extLst>
          </p:cNvPr>
          <p:cNvSpPr txBox="1"/>
          <p:nvPr/>
        </p:nvSpPr>
        <p:spPr>
          <a:xfrm>
            <a:off x="8718966" y="6517583"/>
            <a:ext cx="3168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www.ks7000.net.ve/2017/07/23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sa/3.0/"/>
              </a:rPr>
              <a:t>CC BY-SA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4011452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F26EF-039C-B19F-7E20-BE52FE830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D9EA-6798-B9AF-200E-5303F7366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201400" cy="4206240"/>
          </a:xfrm>
        </p:spPr>
        <p:txBody>
          <a:bodyPr>
            <a:noAutofit/>
          </a:bodyPr>
          <a:lstStyle/>
          <a:p>
            <a:r>
              <a:rPr lang="en-US" sz="12000" dirty="0"/>
              <a:t>4-20mA Input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AF732-AEE4-C89E-C1C6-CFAA827CD2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5024897"/>
            <a:ext cx="5897880" cy="135331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Precision shunt resistor (250Ω ±0.1%)</a:t>
            </a:r>
          </a:p>
          <a:p>
            <a:r>
              <a:rPr lang="en-US" dirty="0"/>
              <a:t>Current-to-voltage conversion</a:t>
            </a:r>
          </a:p>
        </p:txBody>
      </p:sp>
    </p:spTree>
    <p:extLst>
      <p:ext uri="{BB962C8B-B14F-4D97-AF65-F5344CB8AC3E}">
        <p14:creationId xmlns:p14="http://schemas.microsoft.com/office/powerpoint/2010/main" val="3615013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4D0B-BE6C-B00B-C6EA-565CA249D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AI-generated content may be incorrect.">
            <a:extLst>
              <a:ext uri="{FF2B5EF4-FFF2-40B4-BE49-F238E27FC236}">
                <a16:creationId xmlns:a16="http://schemas.microsoft.com/office/drawing/2014/main" id="{A9F144A9-E326-C13F-41E0-D450450F7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668" y="169769"/>
            <a:ext cx="9516955" cy="651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712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9F45-05C9-AAA8-6288-4AA2E3E4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0EB0D-D382-F359-435D-9770B4E5DFC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1" y="430306"/>
            <a:ext cx="11887199" cy="61766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/>
              <a:t>Digital Signal Path:</a:t>
            </a:r>
          </a:p>
          <a:p>
            <a:pPr marL="0" indent="0">
              <a:buNone/>
            </a:pPr>
            <a:r>
              <a:rPr lang="en-US" sz="2400"/>
              <a:t>- Optical isolation (10kV/</a:t>
            </a:r>
            <a:r>
              <a:rPr lang="el-GR" sz="2400"/>
              <a:t>μ</a:t>
            </a:r>
            <a:r>
              <a:rPr lang="en-US" sz="2400"/>
              <a:t>s transient immunity)</a:t>
            </a:r>
          </a:p>
          <a:p>
            <a:pPr marL="0" indent="0">
              <a:buNone/>
            </a:pPr>
            <a:r>
              <a:rPr lang="en-US" sz="2400"/>
              <a:t>- Schmitt trigger inputs</a:t>
            </a:r>
          </a:p>
          <a:p>
            <a:pPr marL="0" indent="0">
              <a:buNone/>
            </a:pPr>
            <a:r>
              <a:rPr lang="en-US" sz="2400"/>
              <a:t>- Surge protection (TVS diodes)</a:t>
            </a:r>
          </a:p>
          <a:p>
            <a:pPr marL="0" indent="0">
              <a:buNone/>
            </a:pPr>
            <a:r>
              <a:rPr lang="en-US" sz="2400"/>
              <a:t>  </a:t>
            </a:r>
          </a:p>
          <a:p>
            <a:pPr marL="0" indent="0">
              <a:buNone/>
            </a:pPr>
            <a:r>
              <a:rPr lang="en-US" sz="2400" b="1"/>
              <a:t>Signal Integrity:  </a:t>
            </a:r>
          </a:p>
          <a:p>
            <a:pPr marL="0" indent="0">
              <a:buNone/>
            </a:pPr>
            <a:r>
              <a:rPr lang="en-US" sz="2400"/>
              <a:t>- Shielded twisted pair requirements</a:t>
            </a:r>
          </a:p>
          <a:p>
            <a:pPr marL="0" indent="0">
              <a:buNone/>
            </a:pPr>
            <a:r>
              <a:rPr lang="en-US" sz="2400"/>
              <a:t>- Ground loop mitigation techniques</a:t>
            </a:r>
          </a:p>
          <a:p>
            <a:pPr marL="0" indent="0">
              <a:buNone/>
            </a:pPr>
            <a:r>
              <a:rPr lang="en-US" sz="2400"/>
              <a:t>- Cable capacitance limitations</a:t>
            </a:r>
          </a:p>
          <a:p>
            <a:pPr marL="0" indent="0">
              <a:buNone/>
            </a:pPr>
            <a:r>
              <a:rPr lang="en-US" sz="2400"/>
              <a:t>  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9" name="Picture Placeholder 9">
            <a:extLst>
              <a:ext uri="{FF2B5EF4-FFF2-40B4-BE49-F238E27FC236}">
                <a16:creationId xmlns:a16="http://schemas.microsoft.com/office/drawing/2014/main" id="{79A39102-0BFC-D70D-11D0-BA4E2A1A1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393" r="21393"/>
          <a:stretch/>
        </p:blipFill>
        <p:spPr>
          <a:xfrm>
            <a:off x="7548282" y="352327"/>
            <a:ext cx="4339530" cy="616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943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215C-DEAC-9B10-BE76-69E397D7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B9DC4B2B-4A60-FC16-F62D-4811370FC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47" y="119622"/>
            <a:ext cx="11019906" cy="673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46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24427-A348-4D2F-1294-D08E6233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F5B749-6F7D-79F7-A30E-68DAC4040DE4}"/>
              </a:ext>
            </a:extLst>
          </p:cNvPr>
          <p:cNvSpPr txBox="1"/>
          <p:nvPr/>
        </p:nvSpPr>
        <p:spPr>
          <a:xfrm>
            <a:off x="546846" y="337153"/>
            <a:ext cx="86240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Protocol Stack Architecture:</a:t>
            </a:r>
          </a:p>
          <a:p>
            <a:endParaRPr lang="en-GB" sz="2400" b="1" dirty="0"/>
          </a:p>
          <a:p>
            <a:r>
              <a:rPr lang="en-GB" sz="2400" dirty="0"/>
              <a:t>Application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Presentation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Session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Transport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Network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Data Link Layer</a:t>
            </a:r>
          </a:p>
          <a:p>
            <a:r>
              <a:rPr lang="en-GB" sz="2400" dirty="0"/>
              <a:t>-----------------</a:t>
            </a:r>
          </a:p>
          <a:p>
            <a:r>
              <a:rPr lang="en-GB" sz="2400" dirty="0"/>
              <a:t>Physical Layer</a:t>
            </a:r>
          </a:p>
        </p:txBody>
      </p:sp>
      <p:pic>
        <p:nvPicPr>
          <p:cNvPr id="7" name="Picture Placeholder 9">
            <a:extLst>
              <a:ext uri="{FF2B5EF4-FFF2-40B4-BE49-F238E27FC236}">
                <a16:creationId xmlns:a16="http://schemas.microsoft.com/office/drawing/2014/main" id="{1BDFF9C4-50B9-A925-D961-F2EBC61DF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9" b="579"/>
          <a:stretch/>
        </p:blipFill>
        <p:spPr>
          <a:xfrm>
            <a:off x="6589059" y="352327"/>
            <a:ext cx="5298753" cy="616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66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D20D4-7ECC-0AB6-A0D0-075E98898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39FF60-F55C-2ED2-CF2F-E649FFB7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0" y="194063"/>
            <a:ext cx="6135624" cy="745771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PLC Programming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08044D-C8CB-7B34-6A0B-483644207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7725"/>
            <a:ext cx="12192000" cy="525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9028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9973-A43F-2E31-EEA3-933C5B9F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0C0F81-C90F-1AD1-9A43-A5C1FC366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51" y="113381"/>
            <a:ext cx="6135624" cy="745771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PLC Programming Environment</a:t>
            </a:r>
          </a:p>
        </p:txBody>
      </p:sp>
      <p:pic>
        <p:nvPicPr>
          <p:cNvPr id="6" name="Picture 5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036E44C6-6D8A-37CF-F6B9-D5589224B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011" y="938151"/>
            <a:ext cx="10067977" cy="580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51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2D12-47D6-0C75-0075-86F584A2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53767-BED4-28A8-F874-32EC6F0D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Practice Ladder Coding</a:t>
            </a:r>
          </a:p>
        </p:txBody>
      </p:sp>
      <p:pic>
        <p:nvPicPr>
          <p:cNvPr id="8" name="Picture 7" descr="A green light on a black background&#10;&#10;AI-generated content may be incorrect.">
            <a:extLst>
              <a:ext uri="{FF2B5EF4-FFF2-40B4-BE49-F238E27FC236}">
                <a16:creationId xmlns:a16="http://schemas.microsoft.com/office/drawing/2014/main" id="{63BAE85E-4A5B-8FF6-BC9B-6606DBB12E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427" y="1378424"/>
            <a:ext cx="6590209" cy="4942657"/>
          </a:xfrm>
          <a:prstGeom prst="rect">
            <a:avLst/>
          </a:prstGeom>
        </p:spPr>
      </p:pic>
      <p:pic>
        <p:nvPicPr>
          <p:cNvPr id="14" name="Picture 13" descr="A ladder on a white background&#10;&#10;AI-generated content may be incorrect.">
            <a:extLst>
              <a:ext uri="{FF2B5EF4-FFF2-40B4-BE49-F238E27FC236}">
                <a16:creationId xmlns:a16="http://schemas.microsoft.com/office/drawing/2014/main" id="{DD14921F-B304-49C0-8BCB-7B81D209D5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310" y="1846863"/>
            <a:ext cx="4589796" cy="45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1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9F63-E4D0-A0A4-0742-1E743CDDB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03" y="272312"/>
            <a:ext cx="9906538" cy="1453896"/>
          </a:xfrm>
        </p:spPr>
        <p:txBody>
          <a:bodyPr/>
          <a:lstStyle/>
          <a:p>
            <a:r>
              <a:rPr lang="en-US" dirty="0"/>
              <a:t>PLC Selection for Mechatronic Projects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5E7653-524E-2770-5B7F-79E001E1A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9612"/>
            <a:ext cx="12192000" cy="557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5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54E0B-F916-F3F6-3D3A-016C7385B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98286-1C14-C9FD-D5C0-2D1BF7E4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/>
          <a:lstStyle/>
          <a:p>
            <a:r>
              <a:rPr lang="en-US"/>
              <a:t>Delivering with impact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DD85F0-A951-6F8F-291B-46A5462D6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429768"/>
            <a:ext cx="7772400" cy="786384"/>
          </a:xfrm>
        </p:spPr>
        <p:txBody>
          <a:bodyPr/>
          <a:lstStyle/>
          <a:p>
            <a:r>
              <a:rPr lang="en-US"/>
              <a:t>Keeping your audience engaged through effective techniques</a:t>
            </a:r>
          </a:p>
        </p:txBody>
      </p:sp>
    </p:spTree>
    <p:extLst>
      <p:ext uri="{BB962C8B-B14F-4D97-AF65-F5344CB8AC3E}">
        <p14:creationId xmlns:p14="http://schemas.microsoft.com/office/powerpoint/2010/main" val="27386504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/>
              <a:t>Delivering with confidence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548640"/>
            <a:ext cx="8266176" cy="5605272"/>
          </a:xfrm>
        </p:spPr>
        <p:txBody>
          <a:bodyPr/>
          <a:lstStyle/>
          <a:p>
            <a:r>
              <a:rPr lang="en-US"/>
              <a:t>Meaningful eye contact, purposeful gestures, and good posture can enhance your message and make it more memorable.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C94B94-A28F-E2C1-29E4-2510982C0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/>
          <a:lstStyle/>
          <a:p>
            <a:r>
              <a:rPr lang="en-US"/>
              <a:t>Conclusion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1ECC70-B6CC-5482-A3F1-C41E6C2EF2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/>
          <a:lstStyle/>
          <a:p>
            <a:r>
              <a:rPr lang="en-US"/>
              <a:t>Start with a hook and a clear purpose. Engage your audience using eye contact, storytelling, and questions. Design slides that enhance your message, not distract. And deliver with confidence. </a:t>
            </a:r>
          </a:p>
        </p:txBody>
      </p:sp>
    </p:spTree>
    <p:extLst>
      <p:ext uri="{BB962C8B-B14F-4D97-AF65-F5344CB8AC3E}">
        <p14:creationId xmlns:p14="http://schemas.microsoft.com/office/powerpoint/2010/main" val="864032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316666-556F-E61C-B685-895CE9AEC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/>
          <a:lstStyle/>
          <a:p>
            <a:r>
              <a:rPr lang="en-US"/>
              <a:t>Q &amp; 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D42E6AB-7B31-6FE7-AEA6-913B09E3C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/>
          <a:lstStyle/>
          <a:p>
            <a:r>
              <a:rPr lang="en-US"/>
              <a:t>How to handle audience questions effectively</a:t>
            </a:r>
          </a:p>
          <a:p>
            <a:endParaRPr lang="en-US"/>
          </a:p>
        </p:txBody>
      </p:sp>
      <p:pic>
        <p:nvPicPr>
          <p:cNvPr id="8" name="Picture Placeholder 7" descr="A boat on the water">
            <a:extLst>
              <a:ext uri="{FF2B5EF4-FFF2-40B4-BE49-F238E27FC236}">
                <a16:creationId xmlns:a16="http://schemas.microsoft.com/office/drawing/2014/main" id="{7902B700-F857-C589-A7F1-5F47B689E1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42901" y="343038"/>
            <a:ext cx="11506200" cy="4792766"/>
          </a:xfrm>
        </p:spPr>
      </p:pic>
    </p:spTree>
    <p:extLst>
      <p:ext uri="{BB962C8B-B14F-4D97-AF65-F5344CB8AC3E}">
        <p14:creationId xmlns:p14="http://schemas.microsoft.com/office/powerpoint/2010/main" val="4120932547"/>
      </p:ext>
    </p:extLst>
  </p:cSld>
  <p:clrMapOvr>
    <a:masterClrMapping/>
  </p:clrMapOvr>
</p:sld>
</file>

<file path=ppt/theme/theme1.xml><?xml version="1.0" encoding="utf-8"?>
<a:theme xmlns:a="http://schemas.openxmlformats.org/drawingml/2006/main" name="DuneVTI">
  <a:themeElements>
    <a:clrScheme name="Dune Palett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_win32_DN_v2" id="{97A7A9A4-5677-45E2-BAC9-3A76DA18A86D}" vid="{E1353FFA-7ECE-4894-957E-EAB589AB12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B1CF90-4325-48B7-84B7-FA4137780E8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30E3E3-D30D-4D0C-B8BA-8E07411E62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2E5260-2832-4BCF-81AB-9742AA229F34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530</Words>
  <Application>Microsoft Office PowerPoint</Application>
  <PresentationFormat>Widescreen</PresentationFormat>
  <Paragraphs>92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Arial</vt:lpstr>
      <vt:lpstr>Neue Haas Grotesk Text Pro</vt:lpstr>
      <vt:lpstr>DuneVTI</vt:lpstr>
      <vt:lpstr>PLC Introduction </vt:lpstr>
      <vt:lpstr>Core Definition </vt:lpstr>
      <vt:lpstr>Key Characteristics </vt:lpstr>
      <vt:lpstr>PowerPoint Presentation</vt:lpstr>
      <vt:lpstr>PowerPoint Presentation</vt:lpstr>
      <vt:lpstr>“An Evolution from relay panels to modern PLCs”</vt:lpstr>
      <vt:lpstr>PowerPoint Presentation</vt:lpstr>
      <vt:lpstr> Relay Logic In Operation _______________________________  https://youtu.be/Ia4RV3JYWGg</vt:lpstr>
      <vt:lpstr>Microcontrollers vs PLCs - Technical Comparison</vt:lpstr>
      <vt:lpstr>PowerPoint Presentation</vt:lpstr>
      <vt:lpstr>PLC Hardware</vt:lpstr>
      <vt:lpstr>PLC Hardware</vt:lpstr>
      <vt:lpstr>4-20mA Input</vt:lpstr>
      <vt:lpstr>PowerPoint Presentation</vt:lpstr>
      <vt:lpstr>PowerPoint Presentation</vt:lpstr>
      <vt:lpstr>PowerPoint Presentation</vt:lpstr>
      <vt:lpstr>PowerPoint Presentation</vt:lpstr>
      <vt:lpstr>PLC Programming</vt:lpstr>
      <vt:lpstr>PLC Programming Environment</vt:lpstr>
      <vt:lpstr>Practice Ladder Coding</vt:lpstr>
      <vt:lpstr>PLC Selection for Mechatronic Projects</vt:lpstr>
      <vt:lpstr>Delivering with impact</vt:lpstr>
      <vt:lpstr>Delivering with confidence </vt:lpstr>
      <vt:lpstr>Conclusion 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Akbar Qamar</cp:lastModifiedBy>
  <cp:revision>10</cp:revision>
  <dcterms:created xsi:type="dcterms:W3CDTF">2025-04-02T13:20:10Z</dcterms:created>
  <dcterms:modified xsi:type="dcterms:W3CDTF">2025-04-02T18:14:08Z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