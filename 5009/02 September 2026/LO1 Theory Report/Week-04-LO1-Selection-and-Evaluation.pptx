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 of 18 | Suggested time: 5 minutes | Criteria: M1 / D1
TEACHING NOTES AND ACTIVITY CUES
1. Reopen the three exact model identities, Week 1 process/I/O baseline, and Week 3 compatibility audit; separate verified facts from unresolved requirements.
2. Provisional vote: choose a candidate only after naming one cited MedPack requirement it meets and one evidence-backed weakness or unknown.
3. Example challenge: a candidate with enough digital points may still be unsuitable if its documented input filter cannot capture the verified pill-sensor pulse.
4. Debrief: a provisional preference is not the M1 justification; the final decision must survive evidence and alternative review.
TEACHING VISUAL
This slide has a reserved image bay. Add the image described below.
OPTIONAL IMAGE PROMPT
Original engineering review scene with three unbranded PLC candidates around a pill-packaging station diagram, one provisional candidate highlighted but an open question still visible,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2 of 18 | Suggested time: 5 minutes | Criteria: M1 / D1
TEACHING NOTES AND ACTIVITY CUES
1. A specification list says what hardware offers; a selection argument explains which MedPack requirement it satisfies and the consequence of that match.
2. Worked structure: requirement -&gt; exact datasheet field/source -&gt; pass/conditional/fail -&gt; operational implication -&gt; remaining condition.
3. Example: “high-speed counter available” is incomplete until the exact input frequency/pulse limits are compared with the sensor’s documented signal and expected maximum rate.
4. Expected answer: each key selection claim needs both source evidence and a because-therefore link to the station.
TEACHING VISUAL
The slide uses an editable application workflow diagram. Keep it unless the prompted image communicates the idea more clearly.
OPTIONAL IMAGE PROMPT
Original technical illustration of a pill sensor requirement connected by a clear evidence chain to a PLC manual field, a pass decision, and a packaging station outcome,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3 of 18 | Suggested time: 5 minutes | Criteria: M1 / D1
TEACHING NOTES AND ACTIVITY CUES
1. P1 evidence investigates MedPack’s process, I/O, performance, environment, safety/reliability, and constraints; P2 compares operational features of at least three manufacturers’ PLCs.
2. M1 moves from comparison to one clearly identified exact model/configuration and justifies its suitability with datasheet evidence, an I/O summary, and a system block diagram.
3. D1 evaluates that selection with balanced trade-offs, alternatives, limitations, risks/mitigations, and a structured evidence-based rationale.
4. Debrief: M1 is not a brand preference and D1 is not extra praise; each higher step adds a distinct kind of evidence while retaining the lower criteria.
TEACHING VISUAL
The slide uses an editable decision method diagram. Keep it unless the prompted image communicates the idea more clearly.
OPTIONAL IMAGE PROMPT
Original ascending evidence-path illustration from a MedPack process map through a three-PLC comparison to one selected controller and a balanced risk/alternative review,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4 of 18 | Suggested time: 12 minutes | Criteria: M1 / D1
TEACHING NOTES AND ACTIVITY CUES
1. Give each MedPack need an ID and measurable condition, then link it to an exact candidate feature, official source/page, pass/conditional/fail status, and application consequence.
2. Worked example: “count every pill event” -&gt; verified sensor pulse limits -&gt; candidate input/filter/counter fields -&gt; manual citation -&gt; acceptance test at the worst agreed event rate.
3. Separate mandatory gates (safety architecture, electrical compatibility, required function) from preferences (extra spare points, familiar software) so a preference cannot hide a failure.
4. Activity answer: an unverified pulse width makes the trace conditional/unknown; request the sensor datasheet or measure the signal before concluding compatibility.
TEACHING VISUAL
The slide uses an editable application workflow diagram. Keep it unless the prompted image communicates the idea more clearly.
OPTIONAL IMAGE PROMPT
Original traceability matrix concept with a pill sensor requirement connected through a PLC input feature and manual page to a test bench, using lines and blank cells without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5 of 18 | Suggested time: 13 minutes | Criteria: M1 / D1
TEACHING NOTES AND ACTIVITY CUES
1. First remove candidates that fail mandatory MedPack gates; only eligible candidates enter preference scoring.
2. Agree criteria and weights before viewing final totals: for example, pulse handling, electrical fit, expansion, support, and lifecycle cost may matter differently to this station.
3. Define a common score rubric with evidence thresholds (such as poor/adequate/strong) and cite the source behind each candidate score; avoid false precision from unsupported decimals.
4. Debrief: explain every weight in terms of consequence, such as count integrity or safe integration; disclose who set the weights and any subjective judgement.
TEACHING VISUAL
The slide uses an editable comparison framework diagram. Keep it unless the prompted image communicates the idea more clearly.
OPTIONAL IMAGE PROMPT
Original engineering decision-matrix illustration with mandatory gate symbols in front of a balanced set of criteria scales for a PLC choice, followed by three generic controller candidates,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6 of 18 | Suggested time: 12 minutes | Criteria: M1 / D1
TEACHING NOTES AND ACTIVITY CUES
1. Mark each matrix input as high/medium/low confidence and trace uncertainty to missing evidence, such as a supplier quote or confirmed pulse-rate requirement.
2. Clearly hypothetical exercise: if two fictional candidates score nearly alike, vary one uncertain preference weight or cost assumption and check whether the winner changes; do not present toy scores as product facts.
3. If the ranking flips, report the decision as sensitive and identify the information or stakeholder decision needed before selection.
4. Expected answer: a stable ranking increases confidence only within the chosen criteria; it does not compensate for an unverified mandatory gate.
TEACHING VISUAL
The slide uses an editable comparison framework diagram. Keep it unless the prompted image communicates the idea more clearly.
OPTIONAL IMAGE PROMPT
Original technical sensitivity-analysis illustration showing two generic PLC candidates on a balance that shifts slightly when a criterion weight changes, with a MedPack station in the background 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7 of 18 | Suggested time: 13 minutes | Criteria: M1 / D1
TEACHING NOTES AND ACTIVITY CUES
1. Build total ownership scope from exact CPU and I/O modules, interfaces, software/licensing, network equipment, engineering/commissioning, training, spares, and expected maintenance.
2. For any price, record supplier/source, quote date, currency, exact configuration, quantity, included/excluded items, tax/shipping, and validity; no undated CPU-only figure proves installed cost.
3. Assess reliability cautiously through documented operating conditions, diagnostics, lifecycle status, service/spares, and support evidence; state what each source cannot establish.
4. MedPack debrief: a lower purchase price may be outweighed by unsupported pulse capture, extra interface hardware, training, or downtime exposure; quantify only with sourced data.
TEACHING VISUAL
The slide uses an editable comparison framework diagram. Keep it unless the prompted image communicates the idea more clearly.
OPTIONAL IMAGE PROMPT
Original engineering lifecycle-cost illustration showing a generic PLC, I/O modules, software workstation, training bench, spare parts, and service visit arranged around a packaging station,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8 of 18 | Suggested time: 10 minutes | Criteria: M1 / D1
TEACHING NOTES AND ACTIVITY CUES
1. Compare the selected exact CPU/configuration with at least one runner-up on digital I/O, relay/output type, expansion, timing/counters, memory/retention, communications, programming/UI, support, and sourced cost.
2. Tie each difference to the MedPack baseline: pulse capture affects count integrity; output type affects actuator interface; expansion affects defined future integration.
3. Explain both the alternative’s strongest advantage and the reason it was not selected, citing exact part numbers and current source pages.
4. Misconception: an alternative is not “worse” overall because it loses one feature; it may be preferable if a changed requirement gives that strength higher importance.
TEACHING VISUAL
The slide uses an editable comparison framework diagram. Keep it unless the prompted image communicates the idea more clearly.
OPTIONAL IMAGE PROMPT
Original side-by-side engineering comparison of a selected generic PLC and a runner-up connected to the same pill sensor and actuator, with distinct module layouts and a neutral balance,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9 of 18 | Suggested time: 15 minutes | Criteria: M1 / D1
TEACHING NOTES AND ACTIVITY CUES
1. Record risk, cause, consequence, evidence/likelihood, mitigation, owner, and residual concern; distinguish confirmed weakness from an uncertainty still awaiting evidence.
2. MedPack examples to test: sensor pulse exceeds ordinary input capability, actuator inrush exceeds an output limit, product reaches end of support, or a partial count is lost at power failure.
3. Include at least one real limitation of the selected model, then propose a proportionate mitigation such as a verified high-speed module, external driver, spare strategy, or documented restart procedure.
4. Debrief: a mitigation reduces risk but may add cost/complexity; retain residual risk and state when redesign or re-selection is required.
TEACHING VISUAL
This slide has a reserved image bay. Add the image described below.
OPTIONAL IMAGE PROMPT
Original risk-review illustration of a pill-packaging cell with visual hazard pathways from sensor pulse, actuator output, support lifecycle, and power loss to mitigations, using symbols only 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10 of 18 | Suggested time: 10 minutes | Criteria: M1 / D1
TEACHING NOTES AND ACTIVITY CUES
1. Relevant topics may include machinery risk assessment (ISO 12100), machine electrical equipment (IEC 60204-1), and safety-related control systems (ISO 13849-1 or IEC 62061); verify current edition, jurisdiction, scope, and site/assessor requirements.
2. Determine required safety performance from the machine risk assessment; a component certificate or safety PLC datasheet does not by itself establish that the complete MedPack machine complies.
3. Keep E-stop/safety-energy control on the validated safety path; an ordinary PLC may display or log status but must not be the sole safety-control route.
4. Pharmaceutical quality-record or validation obligations apply only if the actual site/process requires them; do not infer cleanroom, GxP, or formal validation status from the scenario name.
TEACHING VISUAL
The slide uses an editable safe response path diagram. Keep it unless the prompted image communicates the idea more clearly.
OPTIONAL IMAGE PROMPT
Original accurate machine-safety architecture diagram showing a guarded packaging actuator controlled through a distinct safety-rated path and an ordinary PLC monitoring status, with standards represented by blank reference documents 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11 of 18 | Suggested time: 10 minutes | Criteria: M1 / D1
TEACHING NOTES AND ACTIVITY CUES
1. Use the reasoning sequence: “MedPack requires [measurable need]; exact model [part number/configuration] provides [documented field] (source/page); therefore it meets [condition] because [operational consequence].”
2. Worked generic example: if the verified sensor pulse falls within the candidate counter’s documented limits, cite both source pages and explain how this supports correct pill-count capture.
3. State the module arrangement and any conditions, such as an external actuator driver or a safety-system interface, rather than implying the CPU alone completes the system.
4. Debrief: replace adjectives like “powerful” or “reliable” with a requirement, sourced characteristic, and suitability explanation.
TEACHING VISUAL
The slide uses an editable application workflow diagram. Keep it unless the prompted image communicates the idea more clearly.
OPTIONAL IMAGE PROMPT
Original report-writing illustration with a student linking a pill sensor requirement, an exact generic PLC module, a highlighted manual table, and a packaging outcome using arrows,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12 of 18 | Suggested time: 15 minutes | Criteria: M1 / D1
TEACHING NOTES AND ACTIVITY CUES
1. Use columns for address/tag, device, DI/DO/AI/AO, signal type/range, normal state, selected terminal/module, load/interface, source, and notes/assumptions.
2. Populate Start, Reset, pill sensor, actuator command, buzzer, and safety-system status only as supported by the brief and confirmed design; add optional indicators/feedback only when evidenced.
3. Check total point count, signal type, voltage/current, pulse limits, output grouping, module power, and terminal assignment against actual manuals and device datasheets.
4. Mark safety-related devices and show their validated safety path separately; a standard PLC status input is monitoring, not the safety function.
TEACHING VISUAL
The slide uses an editable signal path diagram. Keep it unless the prompted image communicates the idea more clearly.
OPTIONAL IMAGE PROMPT
Original engineering drawing of a MedPack I/O schedule beside PLC terminal blocks, pill sensor, Start/Reset controls, actuator interface, buzzer, and separate safety circuit, with blank table cells and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13 of 18 | Suggested time: 10 minutes | Criteria: M1 / D1
TEACHING NOTES AND ACTIVITY CUES
1. Draw field devices -&gt; selected CPU and configured local/remote I/O -&gt; load interface -&gt; actuator/buzzer; include sensor signal and any confirmed feedback path.
2. Show control power and load power separately; identify communications only where a specified HMI/SCADA or upstream connection exists, and mark optional future expansion distinctly.
3. Draw the safety system boundary and energy-isolation path independently from standard PLC logic, with any monitoring connection clearly separated.
4. Review against the I/O table: every required tag and interface appears, signal direction is clear, and no unsupported device or network is shown as installed fact.
TEACHING VISUAL
The slide uses an editable signal path diagram. Keep it unless the prompted image communicates the idea more clearly.
OPTIONAL IMAGE PROMPT
Original clean technical block diagram for a pill-counting packaging station showing sensor, PLC CPU and I/O, power supplies, actuator driver, buzzer, optional HMI as a dashed future item, and a separate safety boundary,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14 of 18 | Suggested time: 10 minutes | Criteria: M1 / D1
TEACHING NOTES AND ACTIVITY CUES
1. Structure the evaluation as decision -&gt; strongest requirement-linked evidence -&gt; trade-off -&gt; alternative and why not selected -&gt; limitation/risk -&gt; mitigation -&gt; condition that would change the decision.
2. Example logic: a documented counter feature supports the pill sensor; extra interface hardware may increase installed cost; the runner-up offers easier expansion; confirm sensor rate before final approval.
3. Balance evidence: distinguish sourced product facts, student judgement, hypothetical analysis, and unresolved site/brief questions.
4. Expected D1 conclusion: recommend a specific MedPack configuration conditionally where needed, explain why it is preferable now, and state what new evidence would trigger reconsideration.
TEACHING VISUAL
The slide uses an editable decision method diagram. Keep it unless the prompted image communicates the idea more clearly.
OPTIONAL IMAGE PROMPT
Original balanced technical evaluation illustration with a selected PLC on a scale against a runner-up, supported by a manual, a risk symbol, and a mitigation interface near the pill-packaging station,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15 of 18 | Suggested time: 20 minutes | Criteria: M1 / D1
TEACHING NOTES AND ACTIVITY CUES
1. Design engineer gives a concise recommendation with exact part number, one requirement-to-datasheet chain, I/O summary, and one limitation; peers take maintenance, production/quality, and assessor roles.
2. Maintenance asks about terminal access, manuals, software, spares, and recovery; production asks about target-count integrity and downtime; assessor asks for source pages and criterion evidence.
3. Panel challenge: explain critical fault/safety response, expansion configuration, full installed-cost basis, and why the runner-up is less suitable for this defined application.
4. Debrief: record each unsupported answer as a report action with an owner and evidence source; a confident answer without evidence remains an open issue.
TEACHING VISUAL
This slide has a reserved image bay. Add the image described below.
OPTIONAL IMAGE PROMPT
Original engineering selection-panel scene with a student presenting a generic PLC configuration to maintenance, production, and assessor colleagues beside a pill-packaging station, no visible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16 of 18 | Suggested time: 20 minutes | Criteria: M1 / D1
TEACHING NOTES AND ACTIVITY CUES
1. Red team selects one changed condition: higher verified pill event rate, extra confirmed I/O, different supply, product lifecycle withdrawal, or a documented cost ceiling.
2. Presenter traces the change through affected requirement, exact candidate/module limit, decision status, and likely consequence; do not defend a model that now fails a mandatory gate.
3. Example answer: if new pulse evidence exceeds the documented input capability, propose a verified compatible high-speed input or re-open the shortlist and update cost/risk evidence.
4. Debrief: state whether the choice survives, needs a defined interface/configuration change, or triggers redesign, and record the threshold/source for that decision.
TEACHING VISUAL
The slide uses an editable formative check diagram. Keep it unless the prompted image communicates the idea more clearly.
OPTIONAL IMAGE PROMPT
Original red-team engineering review illustration of a pill-counting station under changed conditions represented by faster sensor pulses, added I/O modules, and a lifecycle warning symbol, with a team evaluating redesign paths,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17 of 18 | Suggested time: 7 minutes | Criteria: M1 / D1
TEACHING NOTES AND ACTIVITY CUES
1. P1 audit: process description from operator start through pill sensing, actuator packaging, buzzer completion/error, E-stop/reset, plus functional requirements and safety/reliability/environment constraints.
2. P2 audit: at least three models/manufacturers; matrix includes digital I/O, relay outputs, expansion, programming, UI, evidence-based reliability, cost, and wiring/installation/documentation/support/training factors.
3. M1/D1 audit: exact chosen model with datasheet evidence, summary I/O table, system block diagram, integration/expansion discussion, alternatives, trade-offs, genuine limitations, risks/mitigations, and structured rationale.
4. Expected action: identify one missing item, source or produce it, and check Harvard references and dated supplier evidence before report submission.
TEACHING VISUAL
The slide uses an editable formative check diagram. Keep it unless the prompted image communicates the idea more clearly.
OPTIONAL IMAGE PROMPT
Original report-evidence audit scene with a process flow, three-controller matrix, selected PLC manual, I/O table, block diagram, and risk worksheet arranged around a packaging station, no readable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Selecting and Evaluating a PLC | Week 04 | LO1
Slide 18 of 18 | Suggested time: 8 minutes | Criteria: M1 / D1
TEACHING NOTES AND ACTIVITY CUES
1. State manufacturer and exact CPU/module configuration; give two requirement-linked reasons with source/page rather than unsupported performance adjectives.
2. Name one meaningful trade-off and one genuine risk with mitigation and residual concern, such as extra interface hardware or uncertain pulse margin.
3. State one fact that could change the recommendation, identify how it will be verified, and explain the condition that would trigger a revised shortlist.
4. Model response structure: “Select [exact model/configuration] for [verified needs]; evidence [sources]; trade-off [cost/complexity]; risk/mitigation [specific]; revisit if [measurable unknown is resolved differently].”
TEACHING VISUAL
The slide uses an editable formative check diagram. Keep it unless the prompted image communicates the idea more clearly.
OPTIONAL IMAGE PROMPT
Original final recommendation scene showing a completed generic PLC selection evidence pack beside a MedPack pill-packaging station, with one selected controller and a documented alternative nearby, no text, labels, numbers, or logos.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Three candidates, one station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Reopen the three exact model identities, Week 1 process/I/O baseline, and Week 3 compatibility audit; separate verified facts from unresolved requirements.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Provisional vote: choose a candidate only after naming one cited MedPack requirement it meets and one evidence-backed weakness or unknown.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Example challenge: a candidate with enough digital points may still be unsuitable if its documented input filter cannot capture the verified pill-sensor pulse.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a provisional preference is not the M1 justification; the final decision must survive evidence and alternative review.</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65E4E"/>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From comparison to a defensible choice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 specification list says what hardware offers; a selection argument explains which MedPack requirement it satisfies and the consequence of that match.</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Worked structure: requirement -&gt; exact datasheet field/source -&gt; pass/conditional/fail -&gt; operational implication -&gt; remaining condition.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Example: “high-speed counter available” is incomplete until the exact input frequency/pulse limits are compared with the sensor’s documented signal and expected maximum rate.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answer: each key selection claim needs both source evidence and a because-therefore link to the station.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APPLICATION WORKFLOW</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3593592"/>
            <a:ext cx="713232" cy="658368"/>
          </a:xfrm>
          <a:prstGeom prst="rect">
            <a:avLst/>
          </a:prstGeom>
          <a:solidFill>
            <a:srgbClr val="F4F8FA"/>
          </a:solidFill>
          <a:ln w="14605">
            <a:solidFill>
              <a:srgbClr val="C65E4E"/>
            </a:solidFill>
            <a:prstDash val="solid"/>
          </a:ln>
        </p:spPr>
      </p:sp>
      <p:sp>
        <p:nvSpPr>
          <p:cNvPr id="31" name="Text 29"/>
          <p:cNvSpPr/>
          <p:nvPr/>
        </p:nvSpPr>
        <p:spPr>
          <a:xfrm>
            <a:off x="8028432"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Requirement</a:t>
            </a:r>
            <a:endParaRPr lang="en-US" sz="950" dirty="0"/>
          </a:p>
        </p:txBody>
      </p:sp>
      <p:sp>
        <p:nvSpPr>
          <p:cNvPr id="32" name="Shape 30"/>
          <p:cNvSpPr/>
          <p:nvPr/>
        </p:nvSpPr>
        <p:spPr>
          <a:xfrm>
            <a:off x="8686800" y="3922776"/>
            <a:ext cx="182880" cy="0"/>
          </a:xfrm>
          <a:prstGeom prst="line">
            <a:avLst/>
          </a:prstGeom>
          <a:noFill/>
          <a:ln w="19050">
            <a:solidFill>
              <a:srgbClr val="C65E4E"/>
            </a:solidFill>
            <a:prstDash val="solid"/>
            <a:tailEnd type="triangle"/>
          </a:ln>
        </p:spPr>
      </p:sp>
      <p:sp>
        <p:nvSpPr>
          <p:cNvPr id="33" name="Shape 31"/>
          <p:cNvSpPr/>
          <p:nvPr/>
        </p:nvSpPr>
        <p:spPr>
          <a:xfrm>
            <a:off x="8897112" y="3593592"/>
            <a:ext cx="713232" cy="658368"/>
          </a:xfrm>
          <a:prstGeom prst="rect">
            <a:avLst/>
          </a:prstGeom>
          <a:solidFill>
            <a:srgbClr val="F4F8FA"/>
          </a:solidFill>
          <a:ln w="14605">
            <a:solidFill>
              <a:srgbClr val="C65E4E"/>
            </a:solidFill>
            <a:prstDash val="solid"/>
          </a:ln>
        </p:spPr>
      </p:sp>
      <p:sp>
        <p:nvSpPr>
          <p:cNvPr id="34" name="Text 32"/>
          <p:cNvSpPr/>
          <p:nvPr/>
        </p:nvSpPr>
        <p:spPr>
          <a:xfrm>
            <a:off x="8970264"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Datasheet</a:t>
            </a:r>
            <a:endParaRPr lang="en-US" sz="950" dirty="0"/>
          </a:p>
        </p:txBody>
      </p:sp>
      <p:sp>
        <p:nvSpPr>
          <p:cNvPr id="35" name="Shape 33"/>
          <p:cNvSpPr/>
          <p:nvPr/>
        </p:nvSpPr>
        <p:spPr>
          <a:xfrm>
            <a:off x="9628632" y="3922776"/>
            <a:ext cx="182880" cy="0"/>
          </a:xfrm>
          <a:prstGeom prst="line">
            <a:avLst/>
          </a:prstGeom>
          <a:noFill/>
          <a:ln w="19050">
            <a:solidFill>
              <a:srgbClr val="C65E4E"/>
            </a:solidFill>
            <a:prstDash val="solid"/>
            <a:tailEnd type="triangle"/>
          </a:ln>
        </p:spPr>
      </p:sp>
      <p:sp>
        <p:nvSpPr>
          <p:cNvPr id="36" name="Shape 34"/>
          <p:cNvSpPr/>
          <p:nvPr/>
        </p:nvSpPr>
        <p:spPr>
          <a:xfrm>
            <a:off x="9838944" y="3593592"/>
            <a:ext cx="713232" cy="658368"/>
          </a:xfrm>
          <a:prstGeom prst="rect">
            <a:avLst/>
          </a:prstGeom>
          <a:solidFill>
            <a:srgbClr val="F4F8FA"/>
          </a:solidFill>
          <a:ln w="14605">
            <a:solidFill>
              <a:srgbClr val="C65E4E"/>
            </a:solidFill>
            <a:prstDash val="solid"/>
          </a:ln>
        </p:spPr>
      </p:sp>
      <p:sp>
        <p:nvSpPr>
          <p:cNvPr id="37" name="Text 35"/>
          <p:cNvSpPr/>
          <p:nvPr/>
        </p:nvSpPr>
        <p:spPr>
          <a:xfrm>
            <a:off x="9912096"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Trade-off</a:t>
            </a:r>
            <a:endParaRPr lang="en-US" sz="950" dirty="0"/>
          </a:p>
        </p:txBody>
      </p:sp>
      <p:sp>
        <p:nvSpPr>
          <p:cNvPr id="38" name="Shape 36"/>
          <p:cNvSpPr/>
          <p:nvPr/>
        </p:nvSpPr>
        <p:spPr>
          <a:xfrm>
            <a:off x="10570464" y="3922776"/>
            <a:ext cx="182880" cy="0"/>
          </a:xfrm>
          <a:prstGeom prst="line">
            <a:avLst/>
          </a:prstGeom>
          <a:noFill/>
          <a:ln w="19050">
            <a:solidFill>
              <a:srgbClr val="C65E4E"/>
            </a:solidFill>
            <a:prstDash val="solid"/>
            <a:tailEnd type="triangle"/>
          </a:ln>
        </p:spPr>
      </p:sp>
      <p:sp>
        <p:nvSpPr>
          <p:cNvPr id="39" name="Shape 37"/>
          <p:cNvSpPr/>
          <p:nvPr/>
        </p:nvSpPr>
        <p:spPr>
          <a:xfrm>
            <a:off x="10780776" y="3593592"/>
            <a:ext cx="713232" cy="658368"/>
          </a:xfrm>
          <a:prstGeom prst="rect">
            <a:avLst/>
          </a:prstGeom>
          <a:solidFill>
            <a:srgbClr val="F4F8FA"/>
          </a:solidFill>
          <a:ln w="14605">
            <a:solidFill>
              <a:srgbClr val="C65E4E"/>
            </a:solidFill>
            <a:prstDash val="solid"/>
          </a:ln>
        </p:spPr>
      </p:sp>
      <p:sp>
        <p:nvSpPr>
          <p:cNvPr id="40" name="Text 38"/>
          <p:cNvSpPr/>
          <p:nvPr/>
        </p:nvSpPr>
        <p:spPr>
          <a:xfrm>
            <a:off x="10853928"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Decision</a:t>
            </a:r>
            <a:endParaRPr lang="en-US" sz="950" dirty="0"/>
          </a:p>
        </p:txBody>
      </p:sp>
      <p:sp>
        <p:nvSpPr>
          <p:cNvPr id="41" name="Text 39"/>
          <p:cNvSpPr/>
          <p:nvPr/>
        </p:nvSpPr>
        <p:spPr>
          <a:xfrm>
            <a:off x="8046720" y="4617720"/>
            <a:ext cx="3154680" cy="566928"/>
          </a:xfrm>
          <a:prstGeom prst="rect">
            <a:avLst/>
          </a:prstGeom>
          <a:noFill/>
          <a:ln/>
        </p:spPr>
        <p:txBody>
          <a:bodyPr wrap="square" lIns="0" tIns="0" rIns="0" bIns="0" rtlCol="0" anchor="ctr">
            <a:normAutofit/>
          </a:bodyPr>
          <a:lstStyle/>
          <a:p>
            <a:pPr algn="ctr" indent="0" marL="0">
              <a:buNone/>
            </a:pPr>
            <a:r>
              <a:rPr lang="en-US" sz="1150" dirty="0">
                <a:solidFill>
                  <a:srgbClr val="334B5C"/>
                </a:solidFill>
                <a:latin typeface="Aptos" pitchFamily="34" charset="0"/>
                <a:ea typeface="Aptos" pitchFamily="34" charset="-122"/>
                <a:cs typeface="Aptos" pitchFamily="34" charset="-120"/>
              </a:rPr>
              <a:t>Trace the requirement from the device to its verified result</a:t>
            </a:r>
            <a:endParaRPr lang="en-US" sz="1150" dirty="0"/>
          </a:p>
        </p:txBody>
      </p:sp>
      <p:sp>
        <p:nvSpPr>
          <p:cNvPr id="42" name="Shape 40"/>
          <p:cNvSpPr/>
          <p:nvPr/>
        </p:nvSpPr>
        <p:spPr>
          <a:xfrm>
            <a:off x="603504" y="6318504"/>
            <a:ext cx="10972800" cy="0"/>
          </a:xfrm>
          <a:prstGeom prst="line">
            <a:avLst/>
          </a:prstGeom>
          <a:noFill/>
          <a:ln w="10160">
            <a:solidFill>
              <a:srgbClr val="D5E0E7"/>
            </a:solidFill>
            <a:prstDash val="solid"/>
          </a:ln>
        </p:spPr>
      </p:sp>
      <p:sp>
        <p:nvSpPr>
          <p:cNvPr id="43" name="Text 4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4" name="Text 4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Criteria ladder: P1/P2 -&gt; M1 -&gt; D1</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P1 evidence investigates MedPack’s process, I/O, performance, environment, safety/reliability, and constraints; P2 compares operational features of at least three manufacturers’ PLCs.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M1 moves from comparison to one clearly identified exact model/configuration and justifies its suitability with datasheet evidence, an I/O summary, and a system block diagram.</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D1 evaluates that selection with balanced trade-offs, alternatives, limitations, risks/mitigations, and a structured evidence-based rationale.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M1 is not a brand preference and D1 is not extra praise; each higher step adds a distinct kind of evidence while retaining the lower criteria.</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DECISION METHOD</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Text 28"/>
          <p:cNvSpPr/>
          <p:nvPr/>
        </p:nvSpPr>
        <p:spPr>
          <a:xfrm>
            <a:off x="8101584" y="2660904"/>
            <a:ext cx="3063240" cy="320040"/>
          </a:xfrm>
          <a:prstGeom prst="rect">
            <a:avLst/>
          </a:prstGeom>
          <a:noFill/>
          <a:ln/>
        </p:spPr>
        <p:txBody>
          <a:bodyPr wrap="square" lIns="0" tIns="0" rIns="0" bIns="0" rtlCol="0" anchor="ctr">
            <a:normAutofit/>
          </a:bodyPr>
          <a:lstStyle/>
          <a:p>
            <a:pPr algn="ctr" indent="0" marL="0">
              <a:buNone/>
            </a:pPr>
            <a:r>
              <a:rPr lang="en-US" sz="920" b="1" dirty="0">
                <a:solidFill>
                  <a:srgbClr val="C65E4E"/>
                </a:solidFill>
                <a:latin typeface="Aptos" pitchFamily="34" charset="0"/>
                <a:ea typeface="Aptos" pitchFamily="34" charset="-122"/>
                <a:cs typeface="Aptos" pitchFamily="34" charset="-120"/>
              </a:rPr>
              <a:t>FIRST: PASS / FAIL MANDATORY GATES</a:t>
            </a:r>
            <a:endParaRPr lang="en-US" sz="920" dirty="0"/>
          </a:p>
        </p:txBody>
      </p:sp>
      <p:sp>
        <p:nvSpPr>
          <p:cNvPr id="31" name="Shape 29"/>
          <p:cNvSpPr/>
          <p:nvPr/>
        </p:nvSpPr>
        <p:spPr>
          <a:xfrm>
            <a:off x="8238744" y="3172968"/>
            <a:ext cx="1298448" cy="438912"/>
          </a:xfrm>
          <a:prstGeom prst="rect">
            <a:avLst/>
          </a:prstGeom>
          <a:solidFill>
            <a:srgbClr val="F4F8FA"/>
          </a:solidFill>
          <a:ln w="14605">
            <a:solidFill>
              <a:srgbClr val="C65E4E"/>
            </a:solidFill>
            <a:prstDash val="solid"/>
          </a:ln>
        </p:spPr>
      </p:sp>
      <p:sp>
        <p:nvSpPr>
          <p:cNvPr id="32" name="Text 30"/>
          <p:cNvSpPr/>
          <p:nvPr/>
        </p:nvSpPr>
        <p:spPr>
          <a:xfrm>
            <a:off x="8311896" y="322783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Electrical fit</a:t>
            </a:r>
            <a:endParaRPr lang="en-US" sz="920" dirty="0"/>
          </a:p>
        </p:txBody>
      </p:sp>
      <p:sp>
        <p:nvSpPr>
          <p:cNvPr id="33" name="Text 31"/>
          <p:cNvSpPr/>
          <p:nvPr/>
        </p:nvSpPr>
        <p:spPr>
          <a:xfrm>
            <a:off x="9793224" y="324612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4" name="Text 32"/>
          <p:cNvSpPr/>
          <p:nvPr/>
        </p:nvSpPr>
        <p:spPr>
          <a:xfrm>
            <a:off x="10323576" y="324612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5" name="Shape 33"/>
          <p:cNvSpPr/>
          <p:nvPr/>
        </p:nvSpPr>
        <p:spPr>
          <a:xfrm>
            <a:off x="8238744" y="3813048"/>
            <a:ext cx="1298448" cy="438912"/>
          </a:xfrm>
          <a:prstGeom prst="rect">
            <a:avLst/>
          </a:prstGeom>
          <a:solidFill>
            <a:srgbClr val="F4F8FA"/>
          </a:solidFill>
          <a:ln w="14605">
            <a:solidFill>
              <a:srgbClr val="C65E4E"/>
            </a:solidFill>
            <a:prstDash val="solid"/>
          </a:ln>
        </p:spPr>
      </p:sp>
      <p:sp>
        <p:nvSpPr>
          <p:cNvPr id="36" name="Text 34"/>
          <p:cNvSpPr/>
          <p:nvPr/>
        </p:nvSpPr>
        <p:spPr>
          <a:xfrm>
            <a:off x="8311896" y="386791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Required I/O</a:t>
            </a:r>
            <a:endParaRPr lang="en-US" sz="920" dirty="0"/>
          </a:p>
        </p:txBody>
      </p:sp>
      <p:sp>
        <p:nvSpPr>
          <p:cNvPr id="37" name="Text 35"/>
          <p:cNvSpPr/>
          <p:nvPr/>
        </p:nvSpPr>
        <p:spPr>
          <a:xfrm>
            <a:off x="9793224" y="388620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8" name="Text 36"/>
          <p:cNvSpPr/>
          <p:nvPr/>
        </p:nvSpPr>
        <p:spPr>
          <a:xfrm>
            <a:off x="10323576" y="388620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9" name="Shape 37"/>
          <p:cNvSpPr/>
          <p:nvPr/>
        </p:nvSpPr>
        <p:spPr>
          <a:xfrm>
            <a:off x="8238744" y="4453128"/>
            <a:ext cx="1298448" cy="438912"/>
          </a:xfrm>
          <a:prstGeom prst="rect">
            <a:avLst/>
          </a:prstGeom>
          <a:solidFill>
            <a:srgbClr val="F4F8FA"/>
          </a:solidFill>
          <a:ln w="14605">
            <a:solidFill>
              <a:srgbClr val="C65E4E"/>
            </a:solidFill>
            <a:prstDash val="solid"/>
          </a:ln>
        </p:spPr>
      </p:sp>
      <p:sp>
        <p:nvSpPr>
          <p:cNvPr id="40" name="Text 38"/>
          <p:cNvSpPr/>
          <p:nvPr/>
        </p:nvSpPr>
        <p:spPr>
          <a:xfrm>
            <a:off x="8311896" y="450799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Safety boundary</a:t>
            </a:r>
            <a:endParaRPr lang="en-US" sz="920" dirty="0"/>
          </a:p>
        </p:txBody>
      </p:sp>
      <p:sp>
        <p:nvSpPr>
          <p:cNvPr id="41" name="Text 39"/>
          <p:cNvSpPr/>
          <p:nvPr/>
        </p:nvSpPr>
        <p:spPr>
          <a:xfrm>
            <a:off x="9793224" y="452628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42" name="Text 40"/>
          <p:cNvSpPr/>
          <p:nvPr/>
        </p:nvSpPr>
        <p:spPr>
          <a:xfrm>
            <a:off x="10323576" y="452628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43" name="Shape 41"/>
          <p:cNvSpPr/>
          <p:nvPr/>
        </p:nvSpPr>
        <p:spPr>
          <a:xfrm>
            <a:off x="8211312" y="5276088"/>
            <a:ext cx="3108960" cy="0"/>
          </a:xfrm>
          <a:prstGeom prst="line">
            <a:avLst/>
          </a:prstGeom>
          <a:noFill/>
          <a:ln w="12700">
            <a:solidFill>
              <a:srgbClr val="D5E0E7"/>
            </a:solidFill>
            <a:prstDash val="solid"/>
          </a:ln>
        </p:spPr>
      </p:sp>
      <p:sp>
        <p:nvSpPr>
          <p:cNvPr id="44" name="Text 42"/>
          <p:cNvSpPr/>
          <p:nvPr/>
        </p:nvSpPr>
        <p:spPr>
          <a:xfrm>
            <a:off x="8156448" y="5404104"/>
            <a:ext cx="3200400" cy="411480"/>
          </a:xfrm>
          <a:prstGeom prst="rect">
            <a:avLst/>
          </a:prstGeom>
          <a:noFill/>
          <a:ln/>
        </p:spPr>
        <p:txBody>
          <a:bodyPr wrap="square" lIns="0" tIns="0" rIns="0" bIns="0" rtlCol="0" anchor="ctr">
            <a:normAutofit/>
          </a:bodyPr>
          <a:lstStyle/>
          <a:p>
            <a:pPr algn="ctr" indent="0" marL="0">
              <a:buNone/>
            </a:pPr>
            <a:r>
              <a:rPr lang="en-US" sz="1020" b="1" dirty="0">
                <a:solidFill>
                  <a:srgbClr val="1B3448"/>
                </a:solidFill>
                <a:latin typeface="Aptos" pitchFamily="34" charset="0"/>
                <a:ea typeface="Aptos" pitchFamily="34" charset="-122"/>
                <a:cs typeface="Aptos" pitchFamily="34" charset="-120"/>
              </a:rPr>
              <a:t>THEN weigh preferences with cited evidence</a:t>
            </a:r>
            <a:endParaRPr lang="en-US" sz="102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Requirements traceability</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Give each MedPack need an ID and measurable condition, then link it to an exact candidate feature, official source/page, pass/conditional/fail status, and application consequence.</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Worked example: “count every pill event” -&gt; verified sensor pulse limits -&gt; candidate input/filter/counter fields -&gt; manual citation -&gt; acceptance test at the worst agreed event rate.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Separate mandatory gates (safety architecture, electrical compatibility, required function) from preferences (extra spare points, familiar software) so a preference cannot hide a failure.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Activity answer: an unverified pulse width makes the trace conditional/unknown; request the sensor datasheet or measure the signal before concluding compatibility.</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APPLICATION WORKFLOW</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3593592"/>
            <a:ext cx="713232" cy="658368"/>
          </a:xfrm>
          <a:prstGeom prst="rect">
            <a:avLst/>
          </a:prstGeom>
          <a:solidFill>
            <a:srgbClr val="F4F8FA"/>
          </a:solidFill>
          <a:ln w="14605">
            <a:solidFill>
              <a:srgbClr val="C65E4E"/>
            </a:solidFill>
            <a:prstDash val="solid"/>
          </a:ln>
        </p:spPr>
      </p:sp>
      <p:sp>
        <p:nvSpPr>
          <p:cNvPr id="31" name="Text 29"/>
          <p:cNvSpPr/>
          <p:nvPr/>
        </p:nvSpPr>
        <p:spPr>
          <a:xfrm>
            <a:off x="8028432"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Application need</a:t>
            </a:r>
            <a:endParaRPr lang="en-US" sz="950" dirty="0"/>
          </a:p>
        </p:txBody>
      </p:sp>
      <p:sp>
        <p:nvSpPr>
          <p:cNvPr id="32" name="Shape 30"/>
          <p:cNvSpPr/>
          <p:nvPr/>
        </p:nvSpPr>
        <p:spPr>
          <a:xfrm>
            <a:off x="8686800" y="3922776"/>
            <a:ext cx="182880" cy="0"/>
          </a:xfrm>
          <a:prstGeom prst="line">
            <a:avLst/>
          </a:prstGeom>
          <a:noFill/>
          <a:ln w="19050">
            <a:solidFill>
              <a:srgbClr val="C65E4E"/>
            </a:solidFill>
            <a:prstDash val="solid"/>
            <a:tailEnd type="triangle"/>
          </a:ln>
        </p:spPr>
      </p:sp>
      <p:sp>
        <p:nvSpPr>
          <p:cNvPr id="33" name="Shape 31"/>
          <p:cNvSpPr/>
          <p:nvPr/>
        </p:nvSpPr>
        <p:spPr>
          <a:xfrm>
            <a:off x="8897112" y="3593592"/>
            <a:ext cx="713232" cy="658368"/>
          </a:xfrm>
          <a:prstGeom prst="rect">
            <a:avLst/>
          </a:prstGeom>
          <a:solidFill>
            <a:srgbClr val="F4F8FA"/>
          </a:solidFill>
          <a:ln w="14605">
            <a:solidFill>
              <a:srgbClr val="C65E4E"/>
            </a:solidFill>
            <a:prstDash val="solid"/>
          </a:ln>
        </p:spPr>
      </p:sp>
      <p:sp>
        <p:nvSpPr>
          <p:cNvPr id="34" name="Text 32"/>
          <p:cNvSpPr/>
          <p:nvPr/>
        </p:nvSpPr>
        <p:spPr>
          <a:xfrm>
            <a:off x="8970264"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PLC feature</a:t>
            </a:r>
            <a:endParaRPr lang="en-US" sz="950" dirty="0"/>
          </a:p>
        </p:txBody>
      </p:sp>
      <p:sp>
        <p:nvSpPr>
          <p:cNvPr id="35" name="Shape 33"/>
          <p:cNvSpPr/>
          <p:nvPr/>
        </p:nvSpPr>
        <p:spPr>
          <a:xfrm>
            <a:off x="9628632" y="3922776"/>
            <a:ext cx="182880" cy="0"/>
          </a:xfrm>
          <a:prstGeom prst="line">
            <a:avLst/>
          </a:prstGeom>
          <a:noFill/>
          <a:ln w="19050">
            <a:solidFill>
              <a:srgbClr val="C65E4E"/>
            </a:solidFill>
            <a:prstDash val="solid"/>
            <a:tailEnd type="triangle"/>
          </a:ln>
        </p:spPr>
      </p:sp>
      <p:sp>
        <p:nvSpPr>
          <p:cNvPr id="36" name="Shape 34"/>
          <p:cNvSpPr/>
          <p:nvPr/>
        </p:nvSpPr>
        <p:spPr>
          <a:xfrm>
            <a:off x="9838944" y="3593592"/>
            <a:ext cx="713232" cy="658368"/>
          </a:xfrm>
          <a:prstGeom prst="rect">
            <a:avLst/>
          </a:prstGeom>
          <a:solidFill>
            <a:srgbClr val="F4F8FA"/>
          </a:solidFill>
          <a:ln w="14605">
            <a:solidFill>
              <a:srgbClr val="C65E4E"/>
            </a:solidFill>
            <a:prstDash val="solid"/>
          </a:ln>
        </p:spPr>
      </p:sp>
      <p:sp>
        <p:nvSpPr>
          <p:cNvPr id="37" name="Text 35"/>
          <p:cNvSpPr/>
          <p:nvPr/>
        </p:nvSpPr>
        <p:spPr>
          <a:xfrm>
            <a:off x="9912096"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System impact</a:t>
            </a:r>
            <a:endParaRPr lang="en-US" sz="950" dirty="0"/>
          </a:p>
        </p:txBody>
      </p:sp>
      <p:sp>
        <p:nvSpPr>
          <p:cNvPr id="38" name="Shape 36"/>
          <p:cNvSpPr/>
          <p:nvPr/>
        </p:nvSpPr>
        <p:spPr>
          <a:xfrm>
            <a:off x="10570464" y="3922776"/>
            <a:ext cx="182880" cy="0"/>
          </a:xfrm>
          <a:prstGeom prst="line">
            <a:avLst/>
          </a:prstGeom>
          <a:noFill/>
          <a:ln w="19050">
            <a:solidFill>
              <a:srgbClr val="C65E4E"/>
            </a:solidFill>
            <a:prstDash val="solid"/>
            <a:tailEnd type="triangle"/>
          </a:ln>
        </p:spPr>
      </p:sp>
      <p:sp>
        <p:nvSpPr>
          <p:cNvPr id="39" name="Shape 37"/>
          <p:cNvSpPr/>
          <p:nvPr/>
        </p:nvSpPr>
        <p:spPr>
          <a:xfrm>
            <a:off x="10780776" y="3593592"/>
            <a:ext cx="713232" cy="658368"/>
          </a:xfrm>
          <a:prstGeom prst="rect">
            <a:avLst/>
          </a:prstGeom>
          <a:solidFill>
            <a:srgbClr val="F4F8FA"/>
          </a:solidFill>
          <a:ln w="14605">
            <a:solidFill>
              <a:srgbClr val="C65E4E"/>
            </a:solidFill>
            <a:prstDash val="solid"/>
          </a:ln>
        </p:spPr>
      </p:sp>
      <p:sp>
        <p:nvSpPr>
          <p:cNvPr id="40" name="Text 38"/>
          <p:cNvSpPr/>
          <p:nvPr/>
        </p:nvSpPr>
        <p:spPr>
          <a:xfrm>
            <a:off x="10853928"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Evidence</a:t>
            </a:r>
            <a:endParaRPr lang="en-US" sz="950" dirty="0"/>
          </a:p>
        </p:txBody>
      </p:sp>
      <p:sp>
        <p:nvSpPr>
          <p:cNvPr id="41" name="Text 39"/>
          <p:cNvSpPr/>
          <p:nvPr/>
        </p:nvSpPr>
        <p:spPr>
          <a:xfrm>
            <a:off x="8046720" y="4617720"/>
            <a:ext cx="3154680" cy="566928"/>
          </a:xfrm>
          <a:prstGeom prst="rect">
            <a:avLst/>
          </a:prstGeom>
          <a:noFill/>
          <a:ln/>
        </p:spPr>
        <p:txBody>
          <a:bodyPr wrap="square" lIns="0" tIns="0" rIns="0" bIns="0" rtlCol="0" anchor="ctr">
            <a:normAutofit/>
          </a:bodyPr>
          <a:lstStyle/>
          <a:p>
            <a:pPr algn="ctr" indent="0" marL="0">
              <a:buNone/>
            </a:pPr>
            <a:r>
              <a:rPr lang="en-US" sz="1150" dirty="0">
                <a:solidFill>
                  <a:srgbClr val="334B5C"/>
                </a:solidFill>
                <a:latin typeface="Aptos" pitchFamily="34" charset="0"/>
                <a:ea typeface="Aptos" pitchFamily="34" charset="-122"/>
                <a:cs typeface="Aptos" pitchFamily="34" charset="-120"/>
              </a:rPr>
              <a:t>Trace the requirement from the device to its verified result</a:t>
            </a:r>
            <a:endParaRPr lang="en-US" sz="1150" dirty="0"/>
          </a:p>
        </p:txBody>
      </p:sp>
      <p:sp>
        <p:nvSpPr>
          <p:cNvPr id="42" name="Shape 40"/>
          <p:cNvSpPr/>
          <p:nvPr/>
        </p:nvSpPr>
        <p:spPr>
          <a:xfrm>
            <a:off x="603504" y="6318504"/>
            <a:ext cx="10972800" cy="0"/>
          </a:xfrm>
          <a:prstGeom prst="line">
            <a:avLst/>
          </a:prstGeom>
          <a:noFill/>
          <a:ln w="10160">
            <a:solidFill>
              <a:srgbClr val="D5E0E7"/>
            </a:solidFill>
            <a:prstDash val="solid"/>
          </a:ln>
        </p:spPr>
      </p:sp>
      <p:sp>
        <p:nvSpPr>
          <p:cNvPr id="43" name="Text 4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4" name="Text 4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Set up a weighted decision matrix</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First remove candidates that fail mandatory MedPack gates; only eligible candidates enter preference scoring.</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Agree criteria and weights before viewing final totals: for example, pulse handling, electrical fit, expansion, support, and lifecycle cost may matter differently to this station.</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Define a common score rubric with evidence thresholds (such as poor/adequate/strong) and cite the source behind each candidate score; avoid false precision from unsupported decimals.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explain every weight in terms of consequence, such as count integrity or safe integration; disclose who set the weights and any subjective judgement.</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1188720" cy="475488"/>
          </a:xfrm>
          <a:prstGeom prst="rect">
            <a:avLst/>
          </a:prstGeom>
          <a:solidFill>
            <a:srgbClr val="C65E4E"/>
          </a:solidFill>
          <a:ln w="10160">
            <a:solidFill>
              <a:srgbClr val="C65E4E"/>
            </a:solidFill>
            <a:prstDash val="solid"/>
          </a:ln>
        </p:spPr>
      </p:sp>
      <p:sp>
        <p:nvSpPr>
          <p:cNvPr id="31" name="Text 29"/>
          <p:cNvSpPr/>
          <p:nvPr/>
        </p:nvSpPr>
        <p:spPr>
          <a:xfrm>
            <a:off x="7955280" y="2651760"/>
            <a:ext cx="1115568" cy="393192"/>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ptos" pitchFamily="34" charset="0"/>
                <a:ea typeface="Aptos" pitchFamily="34" charset="-122"/>
                <a:cs typeface="Aptos" pitchFamily="34" charset="-120"/>
              </a:rPr>
              <a:t>COMPARE</a:t>
            </a:r>
            <a:endParaRPr lang="en-US" sz="850" dirty="0"/>
          </a:p>
        </p:txBody>
      </p:sp>
      <p:sp>
        <p:nvSpPr>
          <p:cNvPr id="32" name="Shape 30"/>
          <p:cNvSpPr/>
          <p:nvPr/>
        </p:nvSpPr>
        <p:spPr>
          <a:xfrm>
            <a:off x="9107424" y="2615184"/>
            <a:ext cx="987552" cy="475488"/>
          </a:xfrm>
          <a:prstGeom prst="rect">
            <a:avLst/>
          </a:prstGeom>
          <a:solidFill>
            <a:srgbClr val="EAF0F3"/>
          </a:solidFill>
          <a:ln w="10160">
            <a:solidFill>
              <a:srgbClr val="C65E4E"/>
            </a:solidFill>
            <a:prstDash val="solid"/>
          </a:ln>
        </p:spPr>
      </p:sp>
      <p:sp>
        <p:nvSpPr>
          <p:cNvPr id="33" name="Text 31"/>
          <p:cNvSpPr/>
          <p:nvPr/>
        </p:nvSpPr>
        <p:spPr>
          <a:xfrm>
            <a:off x="9144000"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A</a:t>
            </a:r>
            <a:endParaRPr lang="en-US" sz="850" dirty="0"/>
          </a:p>
        </p:txBody>
      </p:sp>
      <p:sp>
        <p:nvSpPr>
          <p:cNvPr id="34" name="Shape 32"/>
          <p:cNvSpPr/>
          <p:nvPr/>
        </p:nvSpPr>
        <p:spPr>
          <a:xfrm>
            <a:off x="10094976" y="2615184"/>
            <a:ext cx="987552" cy="475488"/>
          </a:xfrm>
          <a:prstGeom prst="rect">
            <a:avLst/>
          </a:prstGeom>
          <a:solidFill>
            <a:srgbClr val="EAF0F3"/>
          </a:solidFill>
          <a:ln w="10160">
            <a:solidFill>
              <a:srgbClr val="C65E4E"/>
            </a:solidFill>
            <a:prstDash val="solid"/>
          </a:ln>
        </p:spPr>
      </p:sp>
      <p:sp>
        <p:nvSpPr>
          <p:cNvPr id="35" name="Text 33"/>
          <p:cNvSpPr/>
          <p:nvPr/>
        </p:nvSpPr>
        <p:spPr>
          <a:xfrm>
            <a:off x="10131552"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B</a:t>
            </a:r>
            <a:endParaRPr lang="en-US" sz="850" dirty="0"/>
          </a:p>
        </p:txBody>
      </p:sp>
      <p:sp>
        <p:nvSpPr>
          <p:cNvPr id="36" name="Shape 34"/>
          <p:cNvSpPr/>
          <p:nvPr/>
        </p:nvSpPr>
        <p:spPr>
          <a:xfrm>
            <a:off x="7918704" y="3090672"/>
            <a:ext cx="1188720" cy="594360"/>
          </a:xfrm>
          <a:prstGeom prst="rect">
            <a:avLst/>
          </a:prstGeom>
          <a:solidFill>
            <a:srgbClr val="FFFFFF"/>
          </a:solidFill>
          <a:ln w="7620">
            <a:solidFill>
              <a:srgbClr val="D5E0E7"/>
            </a:solidFill>
            <a:prstDash val="solid"/>
          </a:ln>
        </p:spPr>
      </p:sp>
      <p:sp>
        <p:nvSpPr>
          <p:cNvPr id="37" name="Text 35"/>
          <p:cNvSpPr/>
          <p:nvPr/>
        </p:nvSpPr>
        <p:spPr>
          <a:xfrm>
            <a:off x="7964424" y="313639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I/O fit</a:t>
            </a:r>
            <a:endParaRPr lang="en-US" sz="900" dirty="0"/>
          </a:p>
        </p:txBody>
      </p:sp>
      <p:sp>
        <p:nvSpPr>
          <p:cNvPr id="38" name="Shape 36"/>
          <p:cNvSpPr/>
          <p:nvPr/>
        </p:nvSpPr>
        <p:spPr>
          <a:xfrm>
            <a:off x="9107424" y="3090672"/>
            <a:ext cx="987552" cy="594360"/>
          </a:xfrm>
          <a:prstGeom prst="rect">
            <a:avLst/>
          </a:prstGeom>
          <a:solidFill>
            <a:srgbClr val="FFFFFF"/>
          </a:solidFill>
          <a:ln w="7620">
            <a:solidFill>
              <a:srgbClr val="D5E0E7"/>
            </a:solidFill>
            <a:prstDash val="solid"/>
          </a:ln>
        </p:spPr>
      </p:sp>
      <p:sp>
        <p:nvSpPr>
          <p:cNvPr id="39" name="Text 37"/>
          <p:cNvSpPr/>
          <p:nvPr/>
        </p:nvSpPr>
        <p:spPr>
          <a:xfrm>
            <a:off x="9153144"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0" name="Shape 38"/>
          <p:cNvSpPr/>
          <p:nvPr/>
        </p:nvSpPr>
        <p:spPr>
          <a:xfrm>
            <a:off x="10094976" y="3090672"/>
            <a:ext cx="987552" cy="594360"/>
          </a:xfrm>
          <a:prstGeom prst="rect">
            <a:avLst/>
          </a:prstGeom>
          <a:solidFill>
            <a:srgbClr val="FFFFFF"/>
          </a:solidFill>
          <a:ln w="7620">
            <a:solidFill>
              <a:srgbClr val="D5E0E7"/>
            </a:solidFill>
            <a:prstDash val="solid"/>
          </a:ln>
        </p:spPr>
      </p:sp>
      <p:sp>
        <p:nvSpPr>
          <p:cNvPr id="41" name="Text 39"/>
          <p:cNvSpPr/>
          <p:nvPr/>
        </p:nvSpPr>
        <p:spPr>
          <a:xfrm>
            <a:off x="10140696"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2" name="Shape 40"/>
          <p:cNvSpPr/>
          <p:nvPr/>
        </p:nvSpPr>
        <p:spPr>
          <a:xfrm>
            <a:off x="7918704" y="3685032"/>
            <a:ext cx="1188720" cy="594360"/>
          </a:xfrm>
          <a:prstGeom prst="rect">
            <a:avLst/>
          </a:prstGeom>
          <a:solidFill>
            <a:srgbClr val="F6F8FA"/>
          </a:solidFill>
          <a:ln w="7620">
            <a:solidFill>
              <a:srgbClr val="D5E0E7"/>
            </a:solidFill>
            <a:prstDash val="solid"/>
          </a:ln>
        </p:spPr>
      </p:sp>
      <p:sp>
        <p:nvSpPr>
          <p:cNvPr id="43" name="Text 41"/>
          <p:cNvSpPr/>
          <p:nvPr/>
        </p:nvSpPr>
        <p:spPr>
          <a:xfrm>
            <a:off x="7964424" y="373075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Expansion</a:t>
            </a:r>
            <a:endParaRPr lang="en-US" sz="900" dirty="0"/>
          </a:p>
        </p:txBody>
      </p:sp>
      <p:sp>
        <p:nvSpPr>
          <p:cNvPr id="44" name="Shape 42"/>
          <p:cNvSpPr/>
          <p:nvPr/>
        </p:nvSpPr>
        <p:spPr>
          <a:xfrm>
            <a:off x="9107424" y="3685032"/>
            <a:ext cx="987552" cy="594360"/>
          </a:xfrm>
          <a:prstGeom prst="rect">
            <a:avLst/>
          </a:prstGeom>
          <a:solidFill>
            <a:srgbClr val="F6F8FA"/>
          </a:solidFill>
          <a:ln w="7620">
            <a:solidFill>
              <a:srgbClr val="D5E0E7"/>
            </a:solidFill>
            <a:prstDash val="solid"/>
          </a:ln>
        </p:spPr>
      </p:sp>
      <p:sp>
        <p:nvSpPr>
          <p:cNvPr id="45" name="Text 43"/>
          <p:cNvSpPr/>
          <p:nvPr/>
        </p:nvSpPr>
        <p:spPr>
          <a:xfrm>
            <a:off x="9153144"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6" name="Shape 44"/>
          <p:cNvSpPr/>
          <p:nvPr/>
        </p:nvSpPr>
        <p:spPr>
          <a:xfrm>
            <a:off x="10094976" y="3685032"/>
            <a:ext cx="987552" cy="594360"/>
          </a:xfrm>
          <a:prstGeom prst="rect">
            <a:avLst/>
          </a:prstGeom>
          <a:solidFill>
            <a:srgbClr val="F6F8FA"/>
          </a:solidFill>
          <a:ln w="7620">
            <a:solidFill>
              <a:srgbClr val="D5E0E7"/>
            </a:solidFill>
            <a:prstDash val="solid"/>
          </a:ln>
        </p:spPr>
      </p:sp>
      <p:sp>
        <p:nvSpPr>
          <p:cNvPr id="47" name="Text 45"/>
          <p:cNvSpPr/>
          <p:nvPr/>
        </p:nvSpPr>
        <p:spPr>
          <a:xfrm>
            <a:off x="10140696"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8" name="Shape 46"/>
          <p:cNvSpPr/>
          <p:nvPr/>
        </p:nvSpPr>
        <p:spPr>
          <a:xfrm>
            <a:off x="7918704" y="4279392"/>
            <a:ext cx="1188720" cy="594360"/>
          </a:xfrm>
          <a:prstGeom prst="rect">
            <a:avLst/>
          </a:prstGeom>
          <a:solidFill>
            <a:srgbClr val="FFFFFF"/>
          </a:solidFill>
          <a:ln w="7620">
            <a:solidFill>
              <a:srgbClr val="D5E0E7"/>
            </a:solidFill>
            <a:prstDash val="solid"/>
          </a:ln>
        </p:spPr>
      </p:sp>
      <p:sp>
        <p:nvSpPr>
          <p:cNvPr id="49" name="Text 47"/>
          <p:cNvSpPr/>
          <p:nvPr/>
        </p:nvSpPr>
        <p:spPr>
          <a:xfrm>
            <a:off x="7964424" y="432511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Performance</a:t>
            </a:r>
            <a:endParaRPr lang="en-US" sz="900" dirty="0"/>
          </a:p>
        </p:txBody>
      </p:sp>
      <p:sp>
        <p:nvSpPr>
          <p:cNvPr id="50" name="Shape 48"/>
          <p:cNvSpPr/>
          <p:nvPr/>
        </p:nvSpPr>
        <p:spPr>
          <a:xfrm>
            <a:off x="9107424" y="4279392"/>
            <a:ext cx="987552" cy="594360"/>
          </a:xfrm>
          <a:prstGeom prst="rect">
            <a:avLst/>
          </a:prstGeom>
          <a:solidFill>
            <a:srgbClr val="FFFFFF"/>
          </a:solidFill>
          <a:ln w="7620">
            <a:solidFill>
              <a:srgbClr val="D5E0E7"/>
            </a:solidFill>
            <a:prstDash val="solid"/>
          </a:ln>
        </p:spPr>
      </p:sp>
      <p:sp>
        <p:nvSpPr>
          <p:cNvPr id="51" name="Text 49"/>
          <p:cNvSpPr/>
          <p:nvPr/>
        </p:nvSpPr>
        <p:spPr>
          <a:xfrm>
            <a:off x="9153144"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2" name="Shape 50"/>
          <p:cNvSpPr/>
          <p:nvPr/>
        </p:nvSpPr>
        <p:spPr>
          <a:xfrm>
            <a:off x="10094976" y="4279392"/>
            <a:ext cx="987552" cy="594360"/>
          </a:xfrm>
          <a:prstGeom prst="rect">
            <a:avLst/>
          </a:prstGeom>
          <a:solidFill>
            <a:srgbClr val="FFFFFF"/>
          </a:solidFill>
          <a:ln w="7620">
            <a:solidFill>
              <a:srgbClr val="D5E0E7"/>
            </a:solidFill>
            <a:prstDash val="solid"/>
          </a:ln>
        </p:spPr>
      </p:sp>
      <p:sp>
        <p:nvSpPr>
          <p:cNvPr id="53" name="Text 51"/>
          <p:cNvSpPr/>
          <p:nvPr/>
        </p:nvSpPr>
        <p:spPr>
          <a:xfrm>
            <a:off x="10140696"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4" name="Shape 52"/>
          <p:cNvSpPr/>
          <p:nvPr/>
        </p:nvSpPr>
        <p:spPr>
          <a:xfrm>
            <a:off x="7918704" y="4873752"/>
            <a:ext cx="1188720" cy="594360"/>
          </a:xfrm>
          <a:prstGeom prst="rect">
            <a:avLst/>
          </a:prstGeom>
          <a:solidFill>
            <a:srgbClr val="F6F8FA"/>
          </a:solidFill>
          <a:ln w="7620">
            <a:solidFill>
              <a:srgbClr val="D5E0E7"/>
            </a:solidFill>
            <a:prstDash val="solid"/>
          </a:ln>
        </p:spPr>
      </p:sp>
      <p:sp>
        <p:nvSpPr>
          <p:cNvPr id="55" name="Text 53"/>
          <p:cNvSpPr/>
          <p:nvPr/>
        </p:nvSpPr>
        <p:spPr>
          <a:xfrm>
            <a:off x="7964424" y="491947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Support / cost</a:t>
            </a:r>
            <a:endParaRPr lang="en-US" sz="900" dirty="0"/>
          </a:p>
        </p:txBody>
      </p:sp>
      <p:sp>
        <p:nvSpPr>
          <p:cNvPr id="56" name="Shape 54"/>
          <p:cNvSpPr/>
          <p:nvPr/>
        </p:nvSpPr>
        <p:spPr>
          <a:xfrm>
            <a:off x="9107424" y="4873752"/>
            <a:ext cx="987552" cy="594360"/>
          </a:xfrm>
          <a:prstGeom prst="rect">
            <a:avLst/>
          </a:prstGeom>
          <a:solidFill>
            <a:srgbClr val="F6F8FA"/>
          </a:solidFill>
          <a:ln w="7620">
            <a:solidFill>
              <a:srgbClr val="D5E0E7"/>
            </a:solidFill>
            <a:prstDash val="solid"/>
          </a:ln>
        </p:spPr>
      </p:sp>
      <p:sp>
        <p:nvSpPr>
          <p:cNvPr id="57" name="Text 55"/>
          <p:cNvSpPr/>
          <p:nvPr/>
        </p:nvSpPr>
        <p:spPr>
          <a:xfrm>
            <a:off x="9153144"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58" name="Shape 56"/>
          <p:cNvSpPr/>
          <p:nvPr/>
        </p:nvSpPr>
        <p:spPr>
          <a:xfrm>
            <a:off x="10094976" y="4873752"/>
            <a:ext cx="987552" cy="594360"/>
          </a:xfrm>
          <a:prstGeom prst="rect">
            <a:avLst/>
          </a:prstGeom>
          <a:solidFill>
            <a:srgbClr val="F6F8FA"/>
          </a:solidFill>
          <a:ln w="7620">
            <a:solidFill>
              <a:srgbClr val="D5E0E7"/>
            </a:solidFill>
            <a:prstDash val="solid"/>
          </a:ln>
        </p:spPr>
      </p:sp>
      <p:sp>
        <p:nvSpPr>
          <p:cNvPr id="59" name="Text 57"/>
          <p:cNvSpPr/>
          <p:nvPr/>
        </p:nvSpPr>
        <p:spPr>
          <a:xfrm>
            <a:off x="10140696"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60" name="Text 58"/>
          <p:cNvSpPr/>
          <p:nvPr/>
        </p:nvSpPr>
        <p:spPr>
          <a:xfrm>
            <a:off x="7973568" y="5678424"/>
            <a:ext cx="3154680" cy="493776"/>
          </a:xfrm>
          <a:prstGeom prst="rect">
            <a:avLst/>
          </a:prstGeom>
          <a:noFill/>
          <a:ln/>
        </p:spPr>
        <p:txBody>
          <a:bodyPr wrap="square" lIns="0" tIns="0" rIns="0" bIns="0" rtlCol="0" anchor="ctr">
            <a:normAutofit/>
          </a:bodyPr>
          <a:lstStyle/>
          <a:p>
            <a:pPr algn="ctr" indent="0" marL="0">
              <a:buNone/>
            </a:pPr>
            <a:r>
              <a:rPr lang="en-US" sz="920" dirty="0">
                <a:solidFill>
                  <a:srgbClr val="607585"/>
                </a:solidFill>
                <a:latin typeface="Aptos" pitchFamily="34" charset="0"/>
                <a:ea typeface="Aptos" pitchFamily="34" charset="-122"/>
                <a:cs typeface="Aptos" pitchFamily="34" charset="-120"/>
              </a:rPr>
              <a:t>Use exact model manuals; do not infer missing specifications</a:t>
            </a:r>
            <a:endParaRPr lang="en-US" sz="920" dirty="0"/>
          </a:p>
        </p:txBody>
      </p:sp>
      <p:sp>
        <p:nvSpPr>
          <p:cNvPr id="61" name="Shape 59"/>
          <p:cNvSpPr/>
          <p:nvPr/>
        </p:nvSpPr>
        <p:spPr>
          <a:xfrm>
            <a:off x="603504" y="6318504"/>
            <a:ext cx="10972800" cy="0"/>
          </a:xfrm>
          <a:prstGeom prst="line">
            <a:avLst/>
          </a:prstGeom>
          <a:noFill/>
          <a:ln w="10160">
            <a:solidFill>
              <a:srgbClr val="D5E0E7"/>
            </a:solidFill>
            <a:prstDash val="solid"/>
          </a:ln>
        </p:spPr>
      </p:sp>
      <p:sp>
        <p:nvSpPr>
          <p:cNvPr id="62" name="Text 6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63" name="Text 6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Scoring uncertainty and sensitivity</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Mark each matrix input as high/medium/low confidence and trace uncertainty to missing evidence, such as a supplier quote or confirmed pulse-rate requirement.</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Clearly hypothetical exercise: if two fictional candidates score nearly alike, vary one uncertain preference weight or cost assumption and check whether the winner changes; do not present toy scores as product facts.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If the ranking flips, report the decision as sensitive and identify the information or stakeholder decision needed before selection.</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answer: a stable ranking increases confidence only within the chosen criteria; it does not compensate for an unverified mandatory gate.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1188720" cy="475488"/>
          </a:xfrm>
          <a:prstGeom prst="rect">
            <a:avLst/>
          </a:prstGeom>
          <a:solidFill>
            <a:srgbClr val="C65E4E"/>
          </a:solidFill>
          <a:ln w="10160">
            <a:solidFill>
              <a:srgbClr val="C65E4E"/>
            </a:solidFill>
            <a:prstDash val="solid"/>
          </a:ln>
        </p:spPr>
      </p:sp>
      <p:sp>
        <p:nvSpPr>
          <p:cNvPr id="31" name="Text 29"/>
          <p:cNvSpPr/>
          <p:nvPr/>
        </p:nvSpPr>
        <p:spPr>
          <a:xfrm>
            <a:off x="7955280" y="2651760"/>
            <a:ext cx="1115568" cy="393192"/>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ptos" pitchFamily="34" charset="0"/>
                <a:ea typeface="Aptos" pitchFamily="34" charset="-122"/>
                <a:cs typeface="Aptos" pitchFamily="34" charset="-120"/>
              </a:rPr>
              <a:t>COMPARE</a:t>
            </a:r>
            <a:endParaRPr lang="en-US" sz="850" dirty="0"/>
          </a:p>
        </p:txBody>
      </p:sp>
      <p:sp>
        <p:nvSpPr>
          <p:cNvPr id="32" name="Shape 30"/>
          <p:cNvSpPr/>
          <p:nvPr/>
        </p:nvSpPr>
        <p:spPr>
          <a:xfrm>
            <a:off x="9107424" y="2615184"/>
            <a:ext cx="987552" cy="475488"/>
          </a:xfrm>
          <a:prstGeom prst="rect">
            <a:avLst/>
          </a:prstGeom>
          <a:solidFill>
            <a:srgbClr val="EAF0F3"/>
          </a:solidFill>
          <a:ln w="10160">
            <a:solidFill>
              <a:srgbClr val="C65E4E"/>
            </a:solidFill>
            <a:prstDash val="solid"/>
          </a:ln>
        </p:spPr>
      </p:sp>
      <p:sp>
        <p:nvSpPr>
          <p:cNvPr id="33" name="Text 31"/>
          <p:cNvSpPr/>
          <p:nvPr/>
        </p:nvSpPr>
        <p:spPr>
          <a:xfrm>
            <a:off x="9144000"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A</a:t>
            </a:r>
            <a:endParaRPr lang="en-US" sz="850" dirty="0"/>
          </a:p>
        </p:txBody>
      </p:sp>
      <p:sp>
        <p:nvSpPr>
          <p:cNvPr id="34" name="Shape 32"/>
          <p:cNvSpPr/>
          <p:nvPr/>
        </p:nvSpPr>
        <p:spPr>
          <a:xfrm>
            <a:off x="10094976" y="2615184"/>
            <a:ext cx="987552" cy="475488"/>
          </a:xfrm>
          <a:prstGeom prst="rect">
            <a:avLst/>
          </a:prstGeom>
          <a:solidFill>
            <a:srgbClr val="EAF0F3"/>
          </a:solidFill>
          <a:ln w="10160">
            <a:solidFill>
              <a:srgbClr val="C65E4E"/>
            </a:solidFill>
            <a:prstDash val="solid"/>
          </a:ln>
        </p:spPr>
      </p:sp>
      <p:sp>
        <p:nvSpPr>
          <p:cNvPr id="35" name="Text 33"/>
          <p:cNvSpPr/>
          <p:nvPr/>
        </p:nvSpPr>
        <p:spPr>
          <a:xfrm>
            <a:off x="10131552"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B</a:t>
            </a:r>
            <a:endParaRPr lang="en-US" sz="850" dirty="0"/>
          </a:p>
        </p:txBody>
      </p:sp>
      <p:sp>
        <p:nvSpPr>
          <p:cNvPr id="36" name="Shape 34"/>
          <p:cNvSpPr/>
          <p:nvPr/>
        </p:nvSpPr>
        <p:spPr>
          <a:xfrm>
            <a:off x="7918704" y="3090672"/>
            <a:ext cx="1188720" cy="594360"/>
          </a:xfrm>
          <a:prstGeom prst="rect">
            <a:avLst/>
          </a:prstGeom>
          <a:solidFill>
            <a:srgbClr val="FFFFFF"/>
          </a:solidFill>
          <a:ln w="7620">
            <a:solidFill>
              <a:srgbClr val="D5E0E7"/>
            </a:solidFill>
            <a:prstDash val="solid"/>
          </a:ln>
        </p:spPr>
      </p:sp>
      <p:sp>
        <p:nvSpPr>
          <p:cNvPr id="37" name="Text 35"/>
          <p:cNvSpPr/>
          <p:nvPr/>
        </p:nvSpPr>
        <p:spPr>
          <a:xfrm>
            <a:off x="7964424" y="313639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I/O fit</a:t>
            </a:r>
            <a:endParaRPr lang="en-US" sz="900" dirty="0"/>
          </a:p>
        </p:txBody>
      </p:sp>
      <p:sp>
        <p:nvSpPr>
          <p:cNvPr id="38" name="Shape 36"/>
          <p:cNvSpPr/>
          <p:nvPr/>
        </p:nvSpPr>
        <p:spPr>
          <a:xfrm>
            <a:off x="9107424" y="3090672"/>
            <a:ext cx="987552" cy="594360"/>
          </a:xfrm>
          <a:prstGeom prst="rect">
            <a:avLst/>
          </a:prstGeom>
          <a:solidFill>
            <a:srgbClr val="FFFFFF"/>
          </a:solidFill>
          <a:ln w="7620">
            <a:solidFill>
              <a:srgbClr val="D5E0E7"/>
            </a:solidFill>
            <a:prstDash val="solid"/>
          </a:ln>
        </p:spPr>
      </p:sp>
      <p:sp>
        <p:nvSpPr>
          <p:cNvPr id="39" name="Text 37"/>
          <p:cNvSpPr/>
          <p:nvPr/>
        </p:nvSpPr>
        <p:spPr>
          <a:xfrm>
            <a:off x="9153144"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0" name="Shape 38"/>
          <p:cNvSpPr/>
          <p:nvPr/>
        </p:nvSpPr>
        <p:spPr>
          <a:xfrm>
            <a:off x="10094976" y="3090672"/>
            <a:ext cx="987552" cy="594360"/>
          </a:xfrm>
          <a:prstGeom prst="rect">
            <a:avLst/>
          </a:prstGeom>
          <a:solidFill>
            <a:srgbClr val="FFFFFF"/>
          </a:solidFill>
          <a:ln w="7620">
            <a:solidFill>
              <a:srgbClr val="D5E0E7"/>
            </a:solidFill>
            <a:prstDash val="solid"/>
          </a:ln>
        </p:spPr>
      </p:sp>
      <p:sp>
        <p:nvSpPr>
          <p:cNvPr id="41" name="Text 39"/>
          <p:cNvSpPr/>
          <p:nvPr/>
        </p:nvSpPr>
        <p:spPr>
          <a:xfrm>
            <a:off x="10140696"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2" name="Shape 40"/>
          <p:cNvSpPr/>
          <p:nvPr/>
        </p:nvSpPr>
        <p:spPr>
          <a:xfrm>
            <a:off x="7918704" y="3685032"/>
            <a:ext cx="1188720" cy="594360"/>
          </a:xfrm>
          <a:prstGeom prst="rect">
            <a:avLst/>
          </a:prstGeom>
          <a:solidFill>
            <a:srgbClr val="F6F8FA"/>
          </a:solidFill>
          <a:ln w="7620">
            <a:solidFill>
              <a:srgbClr val="D5E0E7"/>
            </a:solidFill>
            <a:prstDash val="solid"/>
          </a:ln>
        </p:spPr>
      </p:sp>
      <p:sp>
        <p:nvSpPr>
          <p:cNvPr id="43" name="Text 41"/>
          <p:cNvSpPr/>
          <p:nvPr/>
        </p:nvSpPr>
        <p:spPr>
          <a:xfrm>
            <a:off x="7964424" y="373075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Expansion</a:t>
            </a:r>
            <a:endParaRPr lang="en-US" sz="900" dirty="0"/>
          </a:p>
        </p:txBody>
      </p:sp>
      <p:sp>
        <p:nvSpPr>
          <p:cNvPr id="44" name="Shape 42"/>
          <p:cNvSpPr/>
          <p:nvPr/>
        </p:nvSpPr>
        <p:spPr>
          <a:xfrm>
            <a:off x="9107424" y="3685032"/>
            <a:ext cx="987552" cy="594360"/>
          </a:xfrm>
          <a:prstGeom prst="rect">
            <a:avLst/>
          </a:prstGeom>
          <a:solidFill>
            <a:srgbClr val="F6F8FA"/>
          </a:solidFill>
          <a:ln w="7620">
            <a:solidFill>
              <a:srgbClr val="D5E0E7"/>
            </a:solidFill>
            <a:prstDash val="solid"/>
          </a:ln>
        </p:spPr>
      </p:sp>
      <p:sp>
        <p:nvSpPr>
          <p:cNvPr id="45" name="Text 43"/>
          <p:cNvSpPr/>
          <p:nvPr/>
        </p:nvSpPr>
        <p:spPr>
          <a:xfrm>
            <a:off x="9153144"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6" name="Shape 44"/>
          <p:cNvSpPr/>
          <p:nvPr/>
        </p:nvSpPr>
        <p:spPr>
          <a:xfrm>
            <a:off x="10094976" y="3685032"/>
            <a:ext cx="987552" cy="594360"/>
          </a:xfrm>
          <a:prstGeom prst="rect">
            <a:avLst/>
          </a:prstGeom>
          <a:solidFill>
            <a:srgbClr val="F6F8FA"/>
          </a:solidFill>
          <a:ln w="7620">
            <a:solidFill>
              <a:srgbClr val="D5E0E7"/>
            </a:solidFill>
            <a:prstDash val="solid"/>
          </a:ln>
        </p:spPr>
      </p:sp>
      <p:sp>
        <p:nvSpPr>
          <p:cNvPr id="47" name="Text 45"/>
          <p:cNvSpPr/>
          <p:nvPr/>
        </p:nvSpPr>
        <p:spPr>
          <a:xfrm>
            <a:off x="10140696"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8" name="Shape 46"/>
          <p:cNvSpPr/>
          <p:nvPr/>
        </p:nvSpPr>
        <p:spPr>
          <a:xfrm>
            <a:off x="7918704" y="4279392"/>
            <a:ext cx="1188720" cy="594360"/>
          </a:xfrm>
          <a:prstGeom prst="rect">
            <a:avLst/>
          </a:prstGeom>
          <a:solidFill>
            <a:srgbClr val="FFFFFF"/>
          </a:solidFill>
          <a:ln w="7620">
            <a:solidFill>
              <a:srgbClr val="D5E0E7"/>
            </a:solidFill>
            <a:prstDash val="solid"/>
          </a:ln>
        </p:spPr>
      </p:sp>
      <p:sp>
        <p:nvSpPr>
          <p:cNvPr id="49" name="Text 47"/>
          <p:cNvSpPr/>
          <p:nvPr/>
        </p:nvSpPr>
        <p:spPr>
          <a:xfrm>
            <a:off x="7964424" y="432511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Performance</a:t>
            </a:r>
            <a:endParaRPr lang="en-US" sz="900" dirty="0"/>
          </a:p>
        </p:txBody>
      </p:sp>
      <p:sp>
        <p:nvSpPr>
          <p:cNvPr id="50" name="Shape 48"/>
          <p:cNvSpPr/>
          <p:nvPr/>
        </p:nvSpPr>
        <p:spPr>
          <a:xfrm>
            <a:off x="9107424" y="4279392"/>
            <a:ext cx="987552" cy="594360"/>
          </a:xfrm>
          <a:prstGeom prst="rect">
            <a:avLst/>
          </a:prstGeom>
          <a:solidFill>
            <a:srgbClr val="FFFFFF"/>
          </a:solidFill>
          <a:ln w="7620">
            <a:solidFill>
              <a:srgbClr val="D5E0E7"/>
            </a:solidFill>
            <a:prstDash val="solid"/>
          </a:ln>
        </p:spPr>
      </p:sp>
      <p:sp>
        <p:nvSpPr>
          <p:cNvPr id="51" name="Text 49"/>
          <p:cNvSpPr/>
          <p:nvPr/>
        </p:nvSpPr>
        <p:spPr>
          <a:xfrm>
            <a:off x="9153144"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2" name="Shape 50"/>
          <p:cNvSpPr/>
          <p:nvPr/>
        </p:nvSpPr>
        <p:spPr>
          <a:xfrm>
            <a:off x="10094976" y="4279392"/>
            <a:ext cx="987552" cy="594360"/>
          </a:xfrm>
          <a:prstGeom prst="rect">
            <a:avLst/>
          </a:prstGeom>
          <a:solidFill>
            <a:srgbClr val="FFFFFF"/>
          </a:solidFill>
          <a:ln w="7620">
            <a:solidFill>
              <a:srgbClr val="D5E0E7"/>
            </a:solidFill>
            <a:prstDash val="solid"/>
          </a:ln>
        </p:spPr>
      </p:sp>
      <p:sp>
        <p:nvSpPr>
          <p:cNvPr id="53" name="Text 51"/>
          <p:cNvSpPr/>
          <p:nvPr/>
        </p:nvSpPr>
        <p:spPr>
          <a:xfrm>
            <a:off x="10140696"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4" name="Shape 52"/>
          <p:cNvSpPr/>
          <p:nvPr/>
        </p:nvSpPr>
        <p:spPr>
          <a:xfrm>
            <a:off x="7918704" y="4873752"/>
            <a:ext cx="1188720" cy="594360"/>
          </a:xfrm>
          <a:prstGeom prst="rect">
            <a:avLst/>
          </a:prstGeom>
          <a:solidFill>
            <a:srgbClr val="F6F8FA"/>
          </a:solidFill>
          <a:ln w="7620">
            <a:solidFill>
              <a:srgbClr val="D5E0E7"/>
            </a:solidFill>
            <a:prstDash val="solid"/>
          </a:ln>
        </p:spPr>
      </p:sp>
      <p:sp>
        <p:nvSpPr>
          <p:cNvPr id="55" name="Text 53"/>
          <p:cNvSpPr/>
          <p:nvPr/>
        </p:nvSpPr>
        <p:spPr>
          <a:xfrm>
            <a:off x="7964424" y="491947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Support / cost</a:t>
            </a:r>
            <a:endParaRPr lang="en-US" sz="900" dirty="0"/>
          </a:p>
        </p:txBody>
      </p:sp>
      <p:sp>
        <p:nvSpPr>
          <p:cNvPr id="56" name="Shape 54"/>
          <p:cNvSpPr/>
          <p:nvPr/>
        </p:nvSpPr>
        <p:spPr>
          <a:xfrm>
            <a:off x="9107424" y="4873752"/>
            <a:ext cx="987552" cy="594360"/>
          </a:xfrm>
          <a:prstGeom prst="rect">
            <a:avLst/>
          </a:prstGeom>
          <a:solidFill>
            <a:srgbClr val="F6F8FA"/>
          </a:solidFill>
          <a:ln w="7620">
            <a:solidFill>
              <a:srgbClr val="D5E0E7"/>
            </a:solidFill>
            <a:prstDash val="solid"/>
          </a:ln>
        </p:spPr>
      </p:sp>
      <p:sp>
        <p:nvSpPr>
          <p:cNvPr id="57" name="Text 55"/>
          <p:cNvSpPr/>
          <p:nvPr/>
        </p:nvSpPr>
        <p:spPr>
          <a:xfrm>
            <a:off x="9153144"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58" name="Shape 56"/>
          <p:cNvSpPr/>
          <p:nvPr/>
        </p:nvSpPr>
        <p:spPr>
          <a:xfrm>
            <a:off x="10094976" y="4873752"/>
            <a:ext cx="987552" cy="594360"/>
          </a:xfrm>
          <a:prstGeom prst="rect">
            <a:avLst/>
          </a:prstGeom>
          <a:solidFill>
            <a:srgbClr val="F6F8FA"/>
          </a:solidFill>
          <a:ln w="7620">
            <a:solidFill>
              <a:srgbClr val="D5E0E7"/>
            </a:solidFill>
            <a:prstDash val="solid"/>
          </a:ln>
        </p:spPr>
      </p:sp>
      <p:sp>
        <p:nvSpPr>
          <p:cNvPr id="59" name="Text 57"/>
          <p:cNvSpPr/>
          <p:nvPr/>
        </p:nvSpPr>
        <p:spPr>
          <a:xfrm>
            <a:off x="10140696"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60" name="Text 58"/>
          <p:cNvSpPr/>
          <p:nvPr/>
        </p:nvSpPr>
        <p:spPr>
          <a:xfrm>
            <a:off x="7973568" y="5678424"/>
            <a:ext cx="3154680" cy="493776"/>
          </a:xfrm>
          <a:prstGeom prst="rect">
            <a:avLst/>
          </a:prstGeom>
          <a:noFill/>
          <a:ln/>
        </p:spPr>
        <p:txBody>
          <a:bodyPr wrap="square" lIns="0" tIns="0" rIns="0" bIns="0" rtlCol="0" anchor="ctr">
            <a:normAutofit/>
          </a:bodyPr>
          <a:lstStyle/>
          <a:p>
            <a:pPr algn="ctr" indent="0" marL="0">
              <a:buNone/>
            </a:pPr>
            <a:r>
              <a:rPr lang="en-US" sz="920" dirty="0">
                <a:solidFill>
                  <a:srgbClr val="607585"/>
                </a:solidFill>
                <a:latin typeface="Aptos" pitchFamily="34" charset="0"/>
                <a:ea typeface="Aptos" pitchFamily="34" charset="-122"/>
                <a:cs typeface="Aptos" pitchFamily="34" charset="-120"/>
              </a:rPr>
              <a:t>Use exact model manuals; do not infer missing specifications</a:t>
            </a:r>
            <a:endParaRPr lang="en-US" sz="920" dirty="0"/>
          </a:p>
        </p:txBody>
      </p:sp>
      <p:sp>
        <p:nvSpPr>
          <p:cNvPr id="61" name="Shape 59"/>
          <p:cNvSpPr/>
          <p:nvPr/>
        </p:nvSpPr>
        <p:spPr>
          <a:xfrm>
            <a:off x="603504" y="6318504"/>
            <a:ext cx="10972800" cy="0"/>
          </a:xfrm>
          <a:prstGeom prst="line">
            <a:avLst/>
          </a:prstGeom>
          <a:noFill/>
          <a:ln w="10160">
            <a:solidFill>
              <a:srgbClr val="D5E0E7"/>
            </a:solidFill>
            <a:prstDash val="solid"/>
          </a:ln>
        </p:spPr>
      </p:sp>
      <p:sp>
        <p:nvSpPr>
          <p:cNvPr id="62" name="Text 6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63" name="Text 6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Use lifecycle cost and support evidence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Build total ownership scope from exact CPU and I/O modules, interfaces, software/licensing, network equipment, engineering/commissioning, training, spares, and expected maintenance.</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For any price, record supplier/source, quote date, currency, exact configuration, quantity, included/excluded items, tax/shipping, and validity; no undated CPU-only figure proves installed cost.</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Assess reliability cautiously through documented operating conditions, diagnostics, lifecycle status, service/spares, and support evidence; state what each source cannot establish.</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MedPack debrief: a lower purchase price may be outweighed by unsupported pulse capture, extra interface hardware, training, or downtime exposure; quantify only with sourced data.</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1188720" cy="475488"/>
          </a:xfrm>
          <a:prstGeom prst="rect">
            <a:avLst/>
          </a:prstGeom>
          <a:solidFill>
            <a:srgbClr val="C65E4E"/>
          </a:solidFill>
          <a:ln w="10160">
            <a:solidFill>
              <a:srgbClr val="C65E4E"/>
            </a:solidFill>
            <a:prstDash val="solid"/>
          </a:ln>
        </p:spPr>
      </p:sp>
      <p:sp>
        <p:nvSpPr>
          <p:cNvPr id="31" name="Text 29"/>
          <p:cNvSpPr/>
          <p:nvPr/>
        </p:nvSpPr>
        <p:spPr>
          <a:xfrm>
            <a:off x="7955280" y="2651760"/>
            <a:ext cx="1115568" cy="393192"/>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ptos" pitchFamily="34" charset="0"/>
                <a:ea typeface="Aptos" pitchFamily="34" charset="-122"/>
                <a:cs typeface="Aptos" pitchFamily="34" charset="-120"/>
              </a:rPr>
              <a:t>COMPARE</a:t>
            </a:r>
            <a:endParaRPr lang="en-US" sz="850" dirty="0"/>
          </a:p>
        </p:txBody>
      </p:sp>
      <p:sp>
        <p:nvSpPr>
          <p:cNvPr id="32" name="Shape 30"/>
          <p:cNvSpPr/>
          <p:nvPr/>
        </p:nvSpPr>
        <p:spPr>
          <a:xfrm>
            <a:off x="9107424" y="2615184"/>
            <a:ext cx="987552" cy="475488"/>
          </a:xfrm>
          <a:prstGeom prst="rect">
            <a:avLst/>
          </a:prstGeom>
          <a:solidFill>
            <a:srgbClr val="EAF0F3"/>
          </a:solidFill>
          <a:ln w="10160">
            <a:solidFill>
              <a:srgbClr val="C65E4E"/>
            </a:solidFill>
            <a:prstDash val="solid"/>
          </a:ln>
        </p:spPr>
      </p:sp>
      <p:sp>
        <p:nvSpPr>
          <p:cNvPr id="33" name="Text 31"/>
          <p:cNvSpPr/>
          <p:nvPr/>
        </p:nvSpPr>
        <p:spPr>
          <a:xfrm>
            <a:off x="9144000"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A</a:t>
            </a:r>
            <a:endParaRPr lang="en-US" sz="850" dirty="0"/>
          </a:p>
        </p:txBody>
      </p:sp>
      <p:sp>
        <p:nvSpPr>
          <p:cNvPr id="34" name="Shape 32"/>
          <p:cNvSpPr/>
          <p:nvPr/>
        </p:nvSpPr>
        <p:spPr>
          <a:xfrm>
            <a:off x="10094976" y="2615184"/>
            <a:ext cx="987552" cy="475488"/>
          </a:xfrm>
          <a:prstGeom prst="rect">
            <a:avLst/>
          </a:prstGeom>
          <a:solidFill>
            <a:srgbClr val="EAF0F3"/>
          </a:solidFill>
          <a:ln w="10160">
            <a:solidFill>
              <a:srgbClr val="C65E4E"/>
            </a:solidFill>
            <a:prstDash val="solid"/>
          </a:ln>
        </p:spPr>
      </p:sp>
      <p:sp>
        <p:nvSpPr>
          <p:cNvPr id="35" name="Text 33"/>
          <p:cNvSpPr/>
          <p:nvPr/>
        </p:nvSpPr>
        <p:spPr>
          <a:xfrm>
            <a:off x="10131552"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B</a:t>
            </a:r>
            <a:endParaRPr lang="en-US" sz="850" dirty="0"/>
          </a:p>
        </p:txBody>
      </p:sp>
      <p:sp>
        <p:nvSpPr>
          <p:cNvPr id="36" name="Shape 34"/>
          <p:cNvSpPr/>
          <p:nvPr/>
        </p:nvSpPr>
        <p:spPr>
          <a:xfrm>
            <a:off x="7918704" y="3090672"/>
            <a:ext cx="1188720" cy="594360"/>
          </a:xfrm>
          <a:prstGeom prst="rect">
            <a:avLst/>
          </a:prstGeom>
          <a:solidFill>
            <a:srgbClr val="FFFFFF"/>
          </a:solidFill>
          <a:ln w="7620">
            <a:solidFill>
              <a:srgbClr val="D5E0E7"/>
            </a:solidFill>
            <a:prstDash val="solid"/>
          </a:ln>
        </p:spPr>
      </p:sp>
      <p:sp>
        <p:nvSpPr>
          <p:cNvPr id="37" name="Text 35"/>
          <p:cNvSpPr/>
          <p:nvPr/>
        </p:nvSpPr>
        <p:spPr>
          <a:xfrm>
            <a:off x="7964424" y="313639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I/O fit</a:t>
            </a:r>
            <a:endParaRPr lang="en-US" sz="900" dirty="0"/>
          </a:p>
        </p:txBody>
      </p:sp>
      <p:sp>
        <p:nvSpPr>
          <p:cNvPr id="38" name="Shape 36"/>
          <p:cNvSpPr/>
          <p:nvPr/>
        </p:nvSpPr>
        <p:spPr>
          <a:xfrm>
            <a:off x="9107424" y="3090672"/>
            <a:ext cx="987552" cy="594360"/>
          </a:xfrm>
          <a:prstGeom prst="rect">
            <a:avLst/>
          </a:prstGeom>
          <a:solidFill>
            <a:srgbClr val="FFFFFF"/>
          </a:solidFill>
          <a:ln w="7620">
            <a:solidFill>
              <a:srgbClr val="D5E0E7"/>
            </a:solidFill>
            <a:prstDash val="solid"/>
          </a:ln>
        </p:spPr>
      </p:sp>
      <p:sp>
        <p:nvSpPr>
          <p:cNvPr id="39" name="Text 37"/>
          <p:cNvSpPr/>
          <p:nvPr/>
        </p:nvSpPr>
        <p:spPr>
          <a:xfrm>
            <a:off x="9153144"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0" name="Shape 38"/>
          <p:cNvSpPr/>
          <p:nvPr/>
        </p:nvSpPr>
        <p:spPr>
          <a:xfrm>
            <a:off x="10094976" y="3090672"/>
            <a:ext cx="987552" cy="594360"/>
          </a:xfrm>
          <a:prstGeom prst="rect">
            <a:avLst/>
          </a:prstGeom>
          <a:solidFill>
            <a:srgbClr val="FFFFFF"/>
          </a:solidFill>
          <a:ln w="7620">
            <a:solidFill>
              <a:srgbClr val="D5E0E7"/>
            </a:solidFill>
            <a:prstDash val="solid"/>
          </a:ln>
        </p:spPr>
      </p:sp>
      <p:sp>
        <p:nvSpPr>
          <p:cNvPr id="41" name="Text 39"/>
          <p:cNvSpPr/>
          <p:nvPr/>
        </p:nvSpPr>
        <p:spPr>
          <a:xfrm>
            <a:off x="10140696"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2" name="Shape 40"/>
          <p:cNvSpPr/>
          <p:nvPr/>
        </p:nvSpPr>
        <p:spPr>
          <a:xfrm>
            <a:off x="7918704" y="3685032"/>
            <a:ext cx="1188720" cy="594360"/>
          </a:xfrm>
          <a:prstGeom prst="rect">
            <a:avLst/>
          </a:prstGeom>
          <a:solidFill>
            <a:srgbClr val="F6F8FA"/>
          </a:solidFill>
          <a:ln w="7620">
            <a:solidFill>
              <a:srgbClr val="D5E0E7"/>
            </a:solidFill>
            <a:prstDash val="solid"/>
          </a:ln>
        </p:spPr>
      </p:sp>
      <p:sp>
        <p:nvSpPr>
          <p:cNvPr id="43" name="Text 41"/>
          <p:cNvSpPr/>
          <p:nvPr/>
        </p:nvSpPr>
        <p:spPr>
          <a:xfrm>
            <a:off x="7964424" y="373075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Expansion</a:t>
            </a:r>
            <a:endParaRPr lang="en-US" sz="900" dirty="0"/>
          </a:p>
        </p:txBody>
      </p:sp>
      <p:sp>
        <p:nvSpPr>
          <p:cNvPr id="44" name="Shape 42"/>
          <p:cNvSpPr/>
          <p:nvPr/>
        </p:nvSpPr>
        <p:spPr>
          <a:xfrm>
            <a:off x="9107424" y="3685032"/>
            <a:ext cx="987552" cy="594360"/>
          </a:xfrm>
          <a:prstGeom prst="rect">
            <a:avLst/>
          </a:prstGeom>
          <a:solidFill>
            <a:srgbClr val="F6F8FA"/>
          </a:solidFill>
          <a:ln w="7620">
            <a:solidFill>
              <a:srgbClr val="D5E0E7"/>
            </a:solidFill>
            <a:prstDash val="solid"/>
          </a:ln>
        </p:spPr>
      </p:sp>
      <p:sp>
        <p:nvSpPr>
          <p:cNvPr id="45" name="Text 43"/>
          <p:cNvSpPr/>
          <p:nvPr/>
        </p:nvSpPr>
        <p:spPr>
          <a:xfrm>
            <a:off x="9153144"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6" name="Shape 44"/>
          <p:cNvSpPr/>
          <p:nvPr/>
        </p:nvSpPr>
        <p:spPr>
          <a:xfrm>
            <a:off x="10094976" y="3685032"/>
            <a:ext cx="987552" cy="594360"/>
          </a:xfrm>
          <a:prstGeom prst="rect">
            <a:avLst/>
          </a:prstGeom>
          <a:solidFill>
            <a:srgbClr val="F6F8FA"/>
          </a:solidFill>
          <a:ln w="7620">
            <a:solidFill>
              <a:srgbClr val="D5E0E7"/>
            </a:solidFill>
            <a:prstDash val="solid"/>
          </a:ln>
        </p:spPr>
      </p:sp>
      <p:sp>
        <p:nvSpPr>
          <p:cNvPr id="47" name="Text 45"/>
          <p:cNvSpPr/>
          <p:nvPr/>
        </p:nvSpPr>
        <p:spPr>
          <a:xfrm>
            <a:off x="10140696"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8" name="Shape 46"/>
          <p:cNvSpPr/>
          <p:nvPr/>
        </p:nvSpPr>
        <p:spPr>
          <a:xfrm>
            <a:off x="7918704" y="4279392"/>
            <a:ext cx="1188720" cy="594360"/>
          </a:xfrm>
          <a:prstGeom prst="rect">
            <a:avLst/>
          </a:prstGeom>
          <a:solidFill>
            <a:srgbClr val="FFFFFF"/>
          </a:solidFill>
          <a:ln w="7620">
            <a:solidFill>
              <a:srgbClr val="D5E0E7"/>
            </a:solidFill>
            <a:prstDash val="solid"/>
          </a:ln>
        </p:spPr>
      </p:sp>
      <p:sp>
        <p:nvSpPr>
          <p:cNvPr id="49" name="Text 47"/>
          <p:cNvSpPr/>
          <p:nvPr/>
        </p:nvSpPr>
        <p:spPr>
          <a:xfrm>
            <a:off x="7964424" y="432511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Performance</a:t>
            </a:r>
            <a:endParaRPr lang="en-US" sz="900" dirty="0"/>
          </a:p>
        </p:txBody>
      </p:sp>
      <p:sp>
        <p:nvSpPr>
          <p:cNvPr id="50" name="Shape 48"/>
          <p:cNvSpPr/>
          <p:nvPr/>
        </p:nvSpPr>
        <p:spPr>
          <a:xfrm>
            <a:off x="9107424" y="4279392"/>
            <a:ext cx="987552" cy="594360"/>
          </a:xfrm>
          <a:prstGeom prst="rect">
            <a:avLst/>
          </a:prstGeom>
          <a:solidFill>
            <a:srgbClr val="FFFFFF"/>
          </a:solidFill>
          <a:ln w="7620">
            <a:solidFill>
              <a:srgbClr val="D5E0E7"/>
            </a:solidFill>
            <a:prstDash val="solid"/>
          </a:ln>
        </p:spPr>
      </p:sp>
      <p:sp>
        <p:nvSpPr>
          <p:cNvPr id="51" name="Text 49"/>
          <p:cNvSpPr/>
          <p:nvPr/>
        </p:nvSpPr>
        <p:spPr>
          <a:xfrm>
            <a:off x="9153144"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2" name="Shape 50"/>
          <p:cNvSpPr/>
          <p:nvPr/>
        </p:nvSpPr>
        <p:spPr>
          <a:xfrm>
            <a:off x="10094976" y="4279392"/>
            <a:ext cx="987552" cy="594360"/>
          </a:xfrm>
          <a:prstGeom prst="rect">
            <a:avLst/>
          </a:prstGeom>
          <a:solidFill>
            <a:srgbClr val="FFFFFF"/>
          </a:solidFill>
          <a:ln w="7620">
            <a:solidFill>
              <a:srgbClr val="D5E0E7"/>
            </a:solidFill>
            <a:prstDash val="solid"/>
          </a:ln>
        </p:spPr>
      </p:sp>
      <p:sp>
        <p:nvSpPr>
          <p:cNvPr id="53" name="Text 51"/>
          <p:cNvSpPr/>
          <p:nvPr/>
        </p:nvSpPr>
        <p:spPr>
          <a:xfrm>
            <a:off x="10140696"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4" name="Shape 52"/>
          <p:cNvSpPr/>
          <p:nvPr/>
        </p:nvSpPr>
        <p:spPr>
          <a:xfrm>
            <a:off x="7918704" y="4873752"/>
            <a:ext cx="1188720" cy="594360"/>
          </a:xfrm>
          <a:prstGeom prst="rect">
            <a:avLst/>
          </a:prstGeom>
          <a:solidFill>
            <a:srgbClr val="F6F8FA"/>
          </a:solidFill>
          <a:ln w="7620">
            <a:solidFill>
              <a:srgbClr val="D5E0E7"/>
            </a:solidFill>
            <a:prstDash val="solid"/>
          </a:ln>
        </p:spPr>
      </p:sp>
      <p:sp>
        <p:nvSpPr>
          <p:cNvPr id="55" name="Text 53"/>
          <p:cNvSpPr/>
          <p:nvPr/>
        </p:nvSpPr>
        <p:spPr>
          <a:xfrm>
            <a:off x="7964424" y="491947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Support / cost</a:t>
            </a:r>
            <a:endParaRPr lang="en-US" sz="900" dirty="0"/>
          </a:p>
        </p:txBody>
      </p:sp>
      <p:sp>
        <p:nvSpPr>
          <p:cNvPr id="56" name="Shape 54"/>
          <p:cNvSpPr/>
          <p:nvPr/>
        </p:nvSpPr>
        <p:spPr>
          <a:xfrm>
            <a:off x="9107424" y="4873752"/>
            <a:ext cx="987552" cy="594360"/>
          </a:xfrm>
          <a:prstGeom prst="rect">
            <a:avLst/>
          </a:prstGeom>
          <a:solidFill>
            <a:srgbClr val="F6F8FA"/>
          </a:solidFill>
          <a:ln w="7620">
            <a:solidFill>
              <a:srgbClr val="D5E0E7"/>
            </a:solidFill>
            <a:prstDash val="solid"/>
          </a:ln>
        </p:spPr>
      </p:sp>
      <p:sp>
        <p:nvSpPr>
          <p:cNvPr id="57" name="Text 55"/>
          <p:cNvSpPr/>
          <p:nvPr/>
        </p:nvSpPr>
        <p:spPr>
          <a:xfrm>
            <a:off x="9153144"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58" name="Shape 56"/>
          <p:cNvSpPr/>
          <p:nvPr/>
        </p:nvSpPr>
        <p:spPr>
          <a:xfrm>
            <a:off x="10094976" y="4873752"/>
            <a:ext cx="987552" cy="594360"/>
          </a:xfrm>
          <a:prstGeom prst="rect">
            <a:avLst/>
          </a:prstGeom>
          <a:solidFill>
            <a:srgbClr val="F6F8FA"/>
          </a:solidFill>
          <a:ln w="7620">
            <a:solidFill>
              <a:srgbClr val="D5E0E7"/>
            </a:solidFill>
            <a:prstDash val="solid"/>
          </a:ln>
        </p:spPr>
      </p:sp>
      <p:sp>
        <p:nvSpPr>
          <p:cNvPr id="59" name="Text 57"/>
          <p:cNvSpPr/>
          <p:nvPr/>
        </p:nvSpPr>
        <p:spPr>
          <a:xfrm>
            <a:off x="10140696"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60" name="Text 58"/>
          <p:cNvSpPr/>
          <p:nvPr/>
        </p:nvSpPr>
        <p:spPr>
          <a:xfrm>
            <a:off x="7973568" y="5678424"/>
            <a:ext cx="3154680" cy="493776"/>
          </a:xfrm>
          <a:prstGeom prst="rect">
            <a:avLst/>
          </a:prstGeom>
          <a:noFill/>
          <a:ln/>
        </p:spPr>
        <p:txBody>
          <a:bodyPr wrap="square" lIns="0" tIns="0" rIns="0" bIns="0" rtlCol="0" anchor="ctr">
            <a:normAutofit/>
          </a:bodyPr>
          <a:lstStyle/>
          <a:p>
            <a:pPr algn="ctr" indent="0" marL="0">
              <a:buNone/>
            </a:pPr>
            <a:r>
              <a:rPr lang="en-US" sz="920" dirty="0">
                <a:solidFill>
                  <a:srgbClr val="607585"/>
                </a:solidFill>
                <a:latin typeface="Aptos" pitchFamily="34" charset="0"/>
                <a:ea typeface="Aptos" pitchFamily="34" charset="-122"/>
                <a:cs typeface="Aptos" pitchFamily="34" charset="-120"/>
              </a:rPr>
              <a:t>Use exact model manuals; do not infer missing specifications</a:t>
            </a:r>
            <a:endParaRPr lang="en-US" sz="920" dirty="0"/>
          </a:p>
        </p:txBody>
      </p:sp>
      <p:sp>
        <p:nvSpPr>
          <p:cNvPr id="61" name="Shape 59"/>
          <p:cNvSpPr/>
          <p:nvPr/>
        </p:nvSpPr>
        <p:spPr>
          <a:xfrm>
            <a:off x="603504" y="6318504"/>
            <a:ext cx="10972800" cy="0"/>
          </a:xfrm>
          <a:prstGeom prst="line">
            <a:avLst/>
          </a:prstGeom>
          <a:noFill/>
          <a:ln w="10160">
            <a:solidFill>
              <a:srgbClr val="D5E0E7"/>
            </a:solidFill>
            <a:prstDash val="solid"/>
          </a:ln>
        </p:spPr>
      </p:sp>
      <p:sp>
        <p:nvSpPr>
          <p:cNvPr id="62" name="Text 6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63" name="Text 6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2800" b="1" dirty="0">
                <a:solidFill>
                  <a:srgbClr val="1B3448"/>
                </a:solidFill>
                <a:latin typeface="Aptos Display" pitchFamily="34" charset="0"/>
                <a:ea typeface="Aptos Display" pitchFamily="34" charset="-122"/>
                <a:cs typeface="Aptos Display" pitchFamily="34" charset="-120"/>
              </a:rPr>
              <a:t>Compare the chosen PLC with alternatives</a:t>
            </a:r>
            <a:endParaRPr lang="en-US" sz="28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Compare the selected exact CPU/configuration with at least one runner-up on digital I/O, relay/output type, expansion, timing/counters, memory/retention, communications, programming/UI, support, and sourced cost.</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Tie each difference to the MedPack baseline: pulse capture affects count integrity; output type affects actuator interface; expansion affects defined future integration.</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Explain both the alternative’s strongest advantage and the reason it was not selected, citing exact part numbers and current source pages.</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Misconception: an alternative is not “worse” overall because it loses one feature; it may be preferable if a changed requirement gives that strength higher importance.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1188720" cy="475488"/>
          </a:xfrm>
          <a:prstGeom prst="rect">
            <a:avLst/>
          </a:prstGeom>
          <a:solidFill>
            <a:srgbClr val="C65E4E"/>
          </a:solidFill>
          <a:ln w="10160">
            <a:solidFill>
              <a:srgbClr val="C65E4E"/>
            </a:solidFill>
            <a:prstDash val="solid"/>
          </a:ln>
        </p:spPr>
      </p:sp>
      <p:sp>
        <p:nvSpPr>
          <p:cNvPr id="31" name="Text 29"/>
          <p:cNvSpPr/>
          <p:nvPr/>
        </p:nvSpPr>
        <p:spPr>
          <a:xfrm>
            <a:off x="7955280" y="2651760"/>
            <a:ext cx="1115568" cy="393192"/>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ptos" pitchFamily="34" charset="0"/>
                <a:ea typeface="Aptos" pitchFamily="34" charset="-122"/>
                <a:cs typeface="Aptos" pitchFamily="34" charset="-120"/>
              </a:rPr>
              <a:t>COMPARE</a:t>
            </a:r>
            <a:endParaRPr lang="en-US" sz="850" dirty="0"/>
          </a:p>
        </p:txBody>
      </p:sp>
      <p:sp>
        <p:nvSpPr>
          <p:cNvPr id="32" name="Shape 30"/>
          <p:cNvSpPr/>
          <p:nvPr/>
        </p:nvSpPr>
        <p:spPr>
          <a:xfrm>
            <a:off x="9107424" y="2615184"/>
            <a:ext cx="987552" cy="475488"/>
          </a:xfrm>
          <a:prstGeom prst="rect">
            <a:avLst/>
          </a:prstGeom>
          <a:solidFill>
            <a:srgbClr val="EAF0F3"/>
          </a:solidFill>
          <a:ln w="10160">
            <a:solidFill>
              <a:srgbClr val="C65E4E"/>
            </a:solidFill>
            <a:prstDash val="solid"/>
          </a:ln>
        </p:spPr>
      </p:sp>
      <p:sp>
        <p:nvSpPr>
          <p:cNvPr id="33" name="Text 31"/>
          <p:cNvSpPr/>
          <p:nvPr/>
        </p:nvSpPr>
        <p:spPr>
          <a:xfrm>
            <a:off x="9144000"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A</a:t>
            </a:r>
            <a:endParaRPr lang="en-US" sz="850" dirty="0"/>
          </a:p>
        </p:txBody>
      </p:sp>
      <p:sp>
        <p:nvSpPr>
          <p:cNvPr id="34" name="Shape 32"/>
          <p:cNvSpPr/>
          <p:nvPr/>
        </p:nvSpPr>
        <p:spPr>
          <a:xfrm>
            <a:off x="10094976" y="2615184"/>
            <a:ext cx="987552" cy="475488"/>
          </a:xfrm>
          <a:prstGeom prst="rect">
            <a:avLst/>
          </a:prstGeom>
          <a:solidFill>
            <a:srgbClr val="EAF0F3"/>
          </a:solidFill>
          <a:ln w="10160">
            <a:solidFill>
              <a:srgbClr val="C65E4E"/>
            </a:solidFill>
            <a:prstDash val="solid"/>
          </a:ln>
        </p:spPr>
      </p:sp>
      <p:sp>
        <p:nvSpPr>
          <p:cNvPr id="35" name="Text 33"/>
          <p:cNvSpPr/>
          <p:nvPr/>
        </p:nvSpPr>
        <p:spPr>
          <a:xfrm>
            <a:off x="10131552"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B</a:t>
            </a:r>
            <a:endParaRPr lang="en-US" sz="850" dirty="0"/>
          </a:p>
        </p:txBody>
      </p:sp>
      <p:sp>
        <p:nvSpPr>
          <p:cNvPr id="36" name="Shape 34"/>
          <p:cNvSpPr/>
          <p:nvPr/>
        </p:nvSpPr>
        <p:spPr>
          <a:xfrm>
            <a:off x="7918704" y="3090672"/>
            <a:ext cx="1188720" cy="594360"/>
          </a:xfrm>
          <a:prstGeom prst="rect">
            <a:avLst/>
          </a:prstGeom>
          <a:solidFill>
            <a:srgbClr val="FFFFFF"/>
          </a:solidFill>
          <a:ln w="7620">
            <a:solidFill>
              <a:srgbClr val="D5E0E7"/>
            </a:solidFill>
            <a:prstDash val="solid"/>
          </a:ln>
        </p:spPr>
      </p:sp>
      <p:sp>
        <p:nvSpPr>
          <p:cNvPr id="37" name="Text 35"/>
          <p:cNvSpPr/>
          <p:nvPr/>
        </p:nvSpPr>
        <p:spPr>
          <a:xfrm>
            <a:off x="7964424" y="313639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I/O fit</a:t>
            </a:r>
            <a:endParaRPr lang="en-US" sz="900" dirty="0"/>
          </a:p>
        </p:txBody>
      </p:sp>
      <p:sp>
        <p:nvSpPr>
          <p:cNvPr id="38" name="Shape 36"/>
          <p:cNvSpPr/>
          <p:nvPr/>
        </p:nvSpPr>
        <p:spPr>
          <a:xfrm>
            <a:off x="9107424" y="3090672"/>
            <a:ext cx="987552" cy="594360"/>
          </a:xfrm>
          <a:prstGeom prst="rect">
            <a:avLst/>
          </a:prstGeom>
          <a:solidFill>
            <a:srgbClr val="FFFFFF"/>
          </a:solidFill>
          <a:ln w="7620">
            <a:solidFill>
              <a:srgbClr val="D5E0E7"/>
            </a:solidFill>
            <a:prstDash val="solid"/>
          </a:ln>
        </p:spPr>
      </p:sp>
      <p:sp>
        <p:nvSpPr>
          <p:cNvPr id="39" name="Text 37"/>
          <p:cNvSpPr/>
          <p:nvPr/>
        </p:nvSpPr>
        <p:spPr>
          <a:xfrm>
            <a:off x="9153144"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0" name="Shape 38"/>
          <p:cNvSpPr/>
          <p:nvPr/>
        </p:nvSpPr>
        <p:spPr>
          <a:xfrm>
            <a:off x="10094976" y="3090672"/>
            <a:ext cx="987552" cy="594360"/>
          </a:xfrm>
          <a:prstGeom prst="rect">
            <a:avLst/>
          </a:prstGeom>
          <a:solidFill>
            <a:srgbClr val="FFFFFF"/>
          </a:solidFill>
          <a:ln w="7620">
            <a:solidFill>
              <a:srgbClr val="D5E0E7"/>
            </a:solidFill>
            <a:prstDash val="solid"/>
          </a:ln>
        </p:spPr>
      </p:sp>
      <p:sp>
        <p:nvSpPr>
          <p:cNvPr id="41" name="Text 39"/>
          <p:cNvSpPr/>
          <p:nvPr/>
        </p:nvSpPr>
        <p:spPr>
          <a:xfrm>
            <a:off x="10140696"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2" name="Shape 40"/>
          <p:cNvSpPr/>
          <p:nvPr/>
        </p:nvSpPr>
        <p:spPr>
          <a:xfrm>
            <a:off x="7918704" y="3685032"/>
            <a:ext cx="1188720" cy="594360"/>
          </a:xfrm>
          <a:prstGeom prst="rect">
            <a:avLst/>
          </a:prstGeom>
          <a:solidFill>
            <a:srgbClr val="F6F8FA"/>
          </a:solidFill>
          <a:ln w="7620">
            <a:solidFill>
              <a:srgbClr val="D5E0E7"/>
            </a:solidFill>
            <a:prstDash val="solid"/>
          </a:ln>
        </p:spPr>
      </p:sp>
      <p:sp>
        <p:nvSpPr>
          <p:cNvPr id="43" name="Text 41"/>
          <p:cNvSpPr/>
          <p:nvPr/>
        </p:nvSpPr>
        <p:spPr>
          <a:xfrm>
            <a:off x="7964424" y="373075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Expansion</a:t>
            </a:r>
            <a:endParaRPr lang="en-US" sz="900" dirty="0"/>
          </a:p>
        </p:txBody>
      </p:sp>
      <p:sp>
        <p:nvSpPr>
          <p:cNvPr id="44" name="Shape 42"/>
          <p:cNvSpPr/>
          <p:nvPr/>
        </p:nvSpPr>
        <p:spPr>
          <a:xfrm>
            <a:off x="9107424" y="3685032"/>
            <a:ext cx="987552" cy="594360"/>
          </a:xfrm>
          <a:prstGeom prst="rect">
            <a:avLst/>
          </a:prstGeom>
          <a:solidFill>
            <a:srgbClr val="F6F8FA"/>
          </a:solidFill>
          <a:ln w="7620">
            <a:solidFill>
              <a:srgbClr val="D5E0E7"/>
            </a:solidFill>
            <a:prstDash val="solid"/>
          </a:ln>
        </p:spPr>
      </p:sp>
      <p:sp>
        <p:nvSpPr>
          <p:cNvPr id="45" name="Text 43"/>
          <p:cNvSpPr/>
          <p:nvPr/>
        </p:nvSpPr>
        <p:spPr>
          <a:xfrm>
            <a:off x="9153144"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6" name="Shape 44"/>
          <p:cNvSpPr/>
          <p:nvPr/>
        </p:nvSpPr>
        <p:spPr>
          <a:xfrm>
            <a:off x="10094976" y="3685032"/>
            <a:ext cx="987552" cy="594360"/>
          </a:xfrm>
          <a:prstGeom prst="rect">
            <a:avLst/>
          </a:prstGeom>
          <a:solidFill>
            <a:srgbClr val="F6F8FA"/>
          </a:solidFill>
          <a:ln w="7620">
            <a:solidFill>
              <a:srgbClr val="D5E0E7"/>
            </a:solidFill>
            <a:prstDash val="solid"/>
          </a:ln>
        </p:spPr>
      </p:sp>
      <p:sp>
        <p:nvSpPr>
          <p:cNvPr id="47" name="Text 45"/>
          <p:cNvSpPr/>
          <p:nvPr/>
        </p:nvSpPr>
        <p:spPr>
          <a:xfrm>
            <a:off x="10140696"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8" name="Shape 46"/>
          <p:cNvSpPr/>
          <p:nvPr/>
        </p:nvSpPr>
        <p:spPr>
          <a:xfrm>
            <a:off x="7918704" y="4279392"/>
            <a:ext cx="1188720" cy="594360"/>
          </a:xfrm>
          <a:prstGeom prst="rect">
            <a:avLst/>
          </a:prstGeom>
          <a:solidFill>
            <a:srgbClr val="FFFFFF"/>
          </a:solidFill>
          <a:ln w="7620">
            <a:solidFill>
              <a:srgbClr val="D5E0E7"/>
            </a:solidFill>
            <a:prstDash val="solid"/>
          </a:ln>
        </p:spPr>
      </p:sp>
      <p:sp>
        <p:nvSpPr>
          <p:cNvPr id="49" name="Text 47"/>
          <p:cNvSpPr/>
          <p:nvPr/>
        </p:nvSpPr>
        <p:spPr>
          <a:xfrm>
            <a:off x="7964424" y="432511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Performance</a:t>
            </a:r>
            <a:endParaRPr lang="en-US" sz="900" dirty="0"/>
          </a:p>
        </p:txBody>
      </p:sp>
      <p:sp>
        <p:nvSpPr>
          <p:cNvPr id="50" name="Shape 48"/>
          <p:cNvSpPr/>
          <p:nvPr/>
        </p:nvSpPr>
        <p:spPr>
          <a:xfrm>
            <a:off x="9107424" y="4279392"/>
            <a:ext cx="987552" cy="594360"/>
          </a:xfrm>
          <a:prstGeom prst="rect">
            <a:avLst/>
          </a:prstGeom>
          <a:solidFill>
            <a:srgbClr val="FFFFFF"/>
          </a:solidFill>
          <a:ln w="7620">
            <a:solidFill>
              <a:srgbClr val="D5E0E7"/>
            </a:solidFill>
            <a:prstDash val="solid"/>
          </a:ln>
        </p:spPr>
      </p:sp>
      <p:sp>
        <p:nvSpPr>
          <p:cNvPr id="51" name="Text 49"/>
          <p:cNvSpPr/>
          <p:nvPr/>
        </p:nvSpPr>
        <p:spPr>
          <a:xfrm>
            <a:off x="9153144"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2" name="Shape 50"/>
          <p:cNvSpPr/>
          <p:nvPr/>
        </p:nvSpPr>
        <p:spPr>
          <a:xfrm>
            <a:off x="10094976" y="4279392"/>
            <a:ext cx="987552" cy="594360"/>
          </a:xfrm>
          <a:prstGeom prst="rect">
            <a:avLst/>
          </a:prstGeom>
          <a:solidFill>
            <a:srgbClr val="FFFFFF"/>
          </a:solidFill>
          <a:ln w="7620">
            <a:solidFill>
              <a:srgbClr val="D5E0E7"/>
            </a:solidFill>
            <a:prstDash val="solid"/>
          </a:ln>
        </p:spPr>
      </p:sp>
      <p:sp>
        <p:nvSpPr>
          <p:cNvPr id="53" name="Text 51"/>
          <p:cNvSpPr/>
          <p:nvPr/>
        </p:nvSpPr>
        <p:spPr>
          <a:xfrm>
            <a:off x="10140696"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4" name="Shape 52"/>
          <p:cNvSpPr/>
          <p:nvPr/>
        </p:nvSpPr>
        <p:spPr>
          <a:xfrm>
            <a:off x="7918704" y="4873752"/>
            <a:ext cx="1188720" cy="594360"/>
          </a:xfrm>
          <a:prstGeom prst="rect">
            <a:avLst/>
          </a:prstGeom>
          <a:solidFill>
            <a:srgbClr val="F6F8FA"/>
          </a:solidFill>
          <a:ln w="7620">
            <a:solidFill>
              <a:srgbClr val="D5E0E7"/>
            </a:solidFill>
            <a:prstDash val="solid"/>
          </a:ln>
        </p:spPr>
      </p:sp>
      <p:sp>
        <p:nvSpPr>
          <p:cNvPr id="55" name="Text 53"/>
          <p:cNvSpPr/>
          <p:nvPr/>
        </p:nvSpPr>
        <p:spPr>
          <a:xfrm>
            <a:off x="7964424" y="491947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Support / cost</a:t>
            </a:r>
            <a:endParaRPr lang="en-US" sz="900" dirty="0"/>
          </a:p>
        </p:txBody>
      </p:sp>
      <p:sp>
        <p:nvSpPr>
          <p:cNvPr id="56" name="Shape 54"/>
          <p:cNvSpPr/>
          <p:nvPr/>
        </p:nvSpPr>
        <p:spPr>
          <a:xfrm>
            <a:off x="9107424" y="4873752"/>
            <a:ext cx="987552" cy="594360"/>
          </a:xfrm>
          <a:prstGeom prst="rect">
            <a:avLst/>
          </a:prstGeom>
          <a:solidFill>
            <a:srgbClr val="F6F8FA"/>
          </a:solidFill>
          <a:ln w="7620">
            <a:solidFill>
              <a:srgbClr val="D5E0E7"/>
            </a:solidFill>
            <a:prstDash val="solid"/>
          </a:ln>
        </p:spPr>
      </p:sp>
      <p:sp>
        <p:nvSpPr>
          <p:cNvPr id="57" name="Text 55"/>
          <p:cNvSpPr/>
          <p:nvPr/>
        </p:nvSpPr>
        <p:spPr>
          <a:xfrm>
            <a:off x="9153144"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58" name="Shape 56"/>
          <p:cNvSpPr/>
          <p:nvPr/>
        </p:nvSpPr>
        <p:spPr>
          <a:xfrm>
            <a:off x="10094976" y="4873752"/>
            <a:ext cx="987552" cy="594360"/>
          </a:xfrm>
          <a:prstGeom prst="rect">
            <a:avLst/>
          </a:prstGeom>
          <a:solidFill>
            <a:srgbClr val="F6F8FA"/>
          </a:solidFill>
          <a:ln w="7620">
            <a:solidFill>
              <a:srgbClr val="D5E0E7"/>
            </a:solidFill>
            <a:prstDash val="solid"/>
          </a:ln>
        </p:spPr>
      </p:sp>
      <p:sp>
        <p:nvSpPr>
          <p:cNvPr id="59" name="Text 57"/>
          <p:cNvSpPr/>
          <p:nvPr/>
        </p:nvSpPr>
        <p:spPr>
          <a:xfrm>
            <a:off x="10140696"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60" name="Text 58"/>
          <p:cNvSpPr/>
          <p:nvPr/>
        </p:nvSpPr>
        <p:spPr>
          <a:xfrm>
            <a:off x="7973568" y="5678424"/>
            <a:ext cx="3154680" cy="493776"/>
          </a:xfrm>
          <a:prstGeom prst="rect">
            <a:avLst/>
          </a:prstGeom>
          <a:noFill/>
          <a:ln/>
        </p:spPr>
        <p:txBody>
          <a:bodyPr wrap="square" lIns="0" tIns="0" rIns="0" bIns="0" rtlCol="0" anchor="ctr">
            <a:normAutofit/>
          </a:bodyPr>
          <a:lstStyle/>
          <a:p>
            <a:pPr algn="ctr" indent="0" marL="0">
              <a:buNone/>
            </a:pPr>
            <a:r>
              <a:rPr lang="en-US" sz="920" dirty="0">
                <a:solidFill>
                  <a:srgbClr val="607585"/>
                </a:solidFill>
                <a:latin typeface="Aptos" pitchFamily="34" charset="0"/>
                <a:ea typeface="Aptos" pitchFamily="34" charset="-122"/>
                <a:cs typeface="Aptos" pitchFamily="34" charset="-120"/>
              </a:rPr>
              <a:t>Use exact model manuals; do not infer missing specifications</a:t>
            </a:r>
            <a:endParaRPr lang="en-US" sz="920" dirty="0"/>
          </a:p>
        </p:txBody>
      </p:sp>
      <p:sp>
        <p:nvSpPr>
          <p:cNvPr id="61" name="Shape 59"/>
          <p:cNvSpPr/>
          <p:nvPr/>
        </p:nvSpPr>
        <p:spPr>
          <a:xfrm>
            <a:off x="603504" y="6318504"/>
            <a:ext cx="10972800" cy="0"/>
          </a:xfrm>
          <a:prstGeom prst="line">
            <a:avLst/>
          </a:prstGeom>
          <a:noFill/>
          <a:ln w="10160">
            <a:solidFill>
              <a:srgbClr val="D5E0E7"/>
            </a:solidFill>
            <a:prstDash val="solid"/>
          </a:ln>
        </p:spPr>
      </p:sp>
      <p:sp>
        <p:nvSpPr>
          <p:cNvPr id="62" name="Text 6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63" name="Text 6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Risks, limitations, and mitigations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Record risk, cause, consequence, evidence/likelihood, mitigation, owner, and residual concern; distinguish confirmed weakness from an uncertainty still awaiting evidence.</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MedPack examples to test: sensor pulse exceeds ordinary input capability, actuator inrush exceeds an output limit, product reaches end of support, or a partial count is lost at power failure.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Include at least one real limitation of the selected model, then propose a proportionate mitigation such as a verified high-speed module, external driver, spare strategy, or documented restart procedure.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a mitigation reduces risk but may add cost/complexity; retain residual risk and state when redesign or re-selection is required.</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65E4E"/>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Standards and safety boundaries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Relevant topics may include machinery risk assessment (ISO 12100), machine electrical equipment (IEC 60204-1), and safety-related control systems (ISO 13849-1 or IEC 62061); verify current edition, jurisdiction, scope, and site/assessor requirements.</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Determine required safety performance from the machine risk assessment; a component certificate or safety PLC datasheet does not by itself establish that the complete MedPack machine complies.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Keep E-stop/safety-energy control on the validated safety path; an ordinary PLC may display or log status but must not be the sole safety-control route.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Pharmaceutical quality-record or validation obligations apply only if the actual site/process requires them; do not infer cleanroom, GxP, or formal validation status from the scenario name.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SAFE RESPONSE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Text 28"/>
          <p:cNvSpPr/>
          <p:nvPr/>
        </p:nvSpPr>
        <p:spPr>
          <a:xfrm>
            <a:off x="8010144" y="2688336"/>
            <a:ext cx="3200400" cy="320040"/>
          </a:xfrm>
          <a:prstGeom prst="rect">
            <a:avLst/>
          </a:prstGeom>
          <a:noFill/>
          <a:ln/>
        </p:spPr>
        <p:txBody>
          <a:bodyPr wrap="square" lIns="0" tIns="0" rIns="0" bIns="0" rtlCol="0" anchor="ctr">
            <a:normAutofit/>
          </a:bodyPr>
          <a:lstStyle/>
          <a:p>
            <a:pPr algn="ctr" indent="0" marL="0">
              <a:buNone/>
            </a:pPr>
            <a:r>
              <a:rPr lang="en-US" sz="900" b="1" dirty="0">
                <a:solidFill>
                  <a:srgbClr val="C65E4E"/>
                </a:solidFill>
                <a:latin typeface="Aptos" pitchFamily="34" charset="0"/>
                <a:ea typeface="Aptos" pitchFamily="34" charset="-122"/>
                <a:cs typeface="Aptos" pitchFamily="34" charset="-120"/>
              </a:rPr>
              <a:t>KEEP THE SAFETY FUNCTION DISTINCT</a:t>
            </a:r>
            <a:endParaRPr lang="en-US" sz="900" dirty="0"/>
          </a:p>
        </p:txBody>
      </p:sp>
      <p:sp>
        <p:nvSpPr>
          <p:cNvPr id="31" name="Shape 29"/>
          <p:cNvSpPr/>
          <p:nvPr/>
        </p:nvSpPr>
        <p:spPr>
          <a:xfrm>
            <a:off x="8055864" y="3328416"/>
            <a:ext cx="841248" cy="658368"/>
          </a:xfrm>
          <a:prstGeom prst="rect">
            <a:avLst/>
          </a:prstGeom>
          <a:solidFill>
            <a:srgbClr val="FBF2F0"/>
          </a:solidFill>
          <a:ln w="14605">
            <a:solidFill>
              <a:srgbClr val="C65E4E"/>
            </a:solidFill>
            <a:prstDash val="solid"/>
          </a:ln>
        </p:spPr>
      </p:sp>
      <p:sp>
        <p:nvSpPr>
          <p:cNvPr id="32" name="Text 30"/>
          <p:cNvSpPr/>
          <p:nvPr/>
        </p:nvSpPr>
        <p:spPr>
          <a:xfrm>
            <a:off x="8129016" y="3383280"/>
            <a:ext cx="694944" cy="54864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E-STOP</a:t>
            </a:r>
            <a:endParaRPr lang="en-US" sz="900" dirty="0"/>
          </a:p>
          <a:p>
            <a:pPr algn="ctr" indent="0" marL="0">
              <a:buNone/>
            </a:pPr>
            <a:r>
              <a:rPr lang="en-US" sz="900" b="1" dirty="0">
                <a:solidFill>
                  <a:srgbClr val="1B3448"/>
                </a:solidFill>
                <a:latin typeface="Aptos" pitchFamily="34" charset="0"/>
                <a:ea typeface="Aptos" pitchFamily="34" charset="-122"/>
                <a:cs typeface="Aptos" pitchFamily="34" charset="-120"/>
              </a:rPr>
              <a:t>DEVICE</a:t>
            </a:r>
            <a:endParaRPr lang="en-US" sz="900" dirty="0"/>
          </a:p>
        </p:txBody>
      </p:sp>
      <p:sp>
        <p:nvSpPr>
          <p:cNvPr id="33" name="Shape 31"/>
          <p:cNvSpPr/>
          <p:nvPr/>
        </p:nvSpPr>
        <p:spPr>
          <a:xfrm>
            <a:off x="9427464" y="3328416"/>
            <a:ext cx="1005840" cy="658368"/>
          </a:xfrm>
          <a:prstGeom prst="rect">
            <a:avLst/>
          </a:prstGeom>
          <a:solidFill>
            <a:srgbClr val="FBF2F0"/>
          </a:solidFill>
          <a:ln w="14605">
            <a:solidFill>
              <a:srgbClr val="C65E4E"/>
            </a:solidFill>
            <a:prstDash val="solid"/>
          </a:ln>
        </p:spPr>
      </p:sp>
      <p:sp>
        <p:nvSpPr>
          <p:cNvPr id="34" name="Text 32"/>
          <p:cNvSpPr/>
          <p:nvPr/>
        </p:nvSpPr>
        <p:spPr>
          <a:xfrm>
            <a:off x="9500616" y="3383280"/>
            <a:ext cx="859536" cy="54864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SAFETY</a:t>
            </a:r>
            <a:endParaRPr lang="en-US" sz="900" dirty="0"/>
          </a:p>
          <a:p>
            <a:pPr algn="ctr" indent="0" marL="0">
              <a:buNone/>
            </a:pPr>
            <a:r>
              <a:rPr lang="en-US" sz="900" b="1" dirty="0">
                <a:solidFill>
                  <a:srgbClr val="1B3448"/>
                </a:solidFill>
                <a:latin typeface="Aptos" pitchFamily="34" charset="0"/>
                <a:ea typeface="Aptos" pitchFamily="34" charset="-122"/>
                <a:cs typeface="Aptos" pitchFamily="34" charset="-120"/>
              </a:rPr>
              <a:t>RELAY / PLC</a:t>
            </a:r>
            <a:endParaRPr lang="en-US" sz="900" dirty="0"/>
          </a:p>
        </p:txBody>
      </p:sp>
      <p:sp>
        <p:nvSpPr>
          <p:cNvPr id="35" name="Shape 33"/>
          <p:cNvSpPr/>
          <p:nvPr/>
        </p:nvSpPr>
        <p:spPr>
          <a:xfrm>
            <a:off x="10799064" y="3328416"/>
            <a:ext cx="786384" cy="658368"/>
          </a:xfrm>
          <a:prstGeom prst="rect">
            <a:avLst/>
          </a:prstGeom>
          <a:solidFill>
            <a:srgbClr val="FBF2F0"/>
          </a:solidFill>
          <a:ln w="14605">
            <a:solidFill>
              <a:srgbClr val="C65E4E"/>
            </a:solidFill>
            <a:prstDash val="solid"/>
          </a:ln>
        </p:spPr>
      </p:sp>
      <p:sp>
        <p:nvSpPr>
          <p:cNvPr id="36" name="Text 34"/>
          <p:cNvSpPr/>
          <p:nvPr/>
        </p:nvSpPr>
        <p:spPr>
          <a:xfrm>
            <a:off x="10872216" y="3383280"/>
            <a:ext cx="640080" cy="548640"/>
          </a:xfrm>
          <a:prstGeom prst="rect">
            <a:avLst/>
          </a:prstGeom>
          <a:noFill/>
          <a:ln/>
        </p:spPr>
        <p:txBody>
          <a:bodyPr wrap="square" lIns="0" tIns="0" rIns="0" bIns="0" rtlCol="0" anchor="ctr">
            <a:normAutofit/>
          </a:bodyPr>
          <a:lstStyle/>
          <a:p>
            <a:pPr algn="ctr" indent="0" marL="0">
              <a:buNone/>
            </a:pPr>
            <a:r>
              <a:rPr lang="en-US" sz="840" b="1" dirty="0">
                <a:solidFill>
                  <a:srgbClr val="1B3448"/>
                </a:solidFill>
                <a:latin typeface="Aptos" pitchFamily="34" charset="0"/>
                <a:ea typeface="Aptos" pitchFamily="34" charset="-122"/>
                <a:cs typeface="Aptos" pitchFamily="34" charset="-120"/>
              </a:rPr>
              <a:t>HAZARDOUS</a:t>
            </a:r>
            <a:endParaRPr lang="en-US" sz="840" dirty="0"/>
          </a:p>
          <a:p>
            <a:pPr algn="ctr" indent="0" marL="0">
              <a:buNone/>
            </a:pPr>
            <a:r>
              <a:rPr lang="en-US" sz="840" b="1" dirty="0">
                <a:solidFill>
                  <a:srgbClr val="1B3448"/>
                </a:solidFill>
                <a:latin typeface="Aptos" pitchFamily="34" charset="0"/>
                <a:ea typeface="Aptos" pitchFamily="34" charset="-122"/>
                <a:cs typeface="Aptos" pitchFamily="34" charset="-120"/>
              </a:rPr>
              <a:t>ENERGY</a:t>
            </a:r>
            <a:endParaRPr lang="en-US" sz="840" dirty="0"/>
          </a:p>
        </p:txBody>
      </p:sp>
      <p:sp>
        <p:nvSpPr>
          <p:cNvPr id="37" name="Shape 35"/>
          <p:cNvSpPr/>
          <p:nvPr/>
        </p:nvSpPr>
        <p:spPr>
          <a:xfrm>
            <a:off x="8915400" y="3657600"/>
            <a:ext cx="448056" cy="0"/>
          </a:xfrm>
          <a:prstGeom prst="line">
            <a:avLst/>
          </a:prstGeom>
          <a:noFill/>
          <a:ln w="22860">
            <a:solidFill>
              <a:srgbClr val="C65E4E"/>
            </a:solidFill>
            <a:prstDash val="solid"/>
            <a:tailEnd type="triangle"/>
          </a:ln>
        </p:spPr>
      </p:sp>
      <p:sp>
        <p:nvSpPr>
          <p:cNvPr id="38" name="Shape 36"/>
          <p:cNvSpPr/>
          <p:nvPr/>
        </p:nvSpPr>
        <p:spPr>
          <a:xfrm>
            <a:off x="10451592" y="3657600"/>
            <a:ext cx="283464" cy="0"/>
          </a:xfrm>
          <a:prstGeom prst="line">
            <a:avLst/>
          </a:prstGeom>
          <a:noFill/>
          <a:ln w="22860">
            <a:solidFill>
              <a:srgbClr val="C65E4E"/>
            </a:solidFill>
            <a:prstDash val="solid"/>
            <a:tailEnd type="triangle"/>
          </a:ln>
        </p:spPr>
      </p:sp>
      <p:sp>
        <p:nvSpPr>
          <p:cNvPr id="39" name="Shape 37"/>
          <p:cNvSpPr/>
          <p:nvPr/>
        </p:nvSpPr>
        <p:spPr>
          <a:xfrm>
            <a:off x="8723376" y="4700016"/>
            <a:ext cx="2423160" cy="530352"/>
          </a:xfrm>
          <a:prstGeom prst="rect">
            <a:avLst/>
          </a:prstGeom>
          <a:solidFill>
            <a:srgbClr val="F4F8FA"/>
          </a:solidFill>
          <a:ln w="14605">
            <a:solidFill>
              <a:srgbClr val="C65E4E"/>
            </a:solidFill>
            <a:prstDash val="solid"/>
          </a:ln>
        </p:spPr>
      </p:sp>
      <p:sp>
        <p:nvSpPr>
          <p:cNvPr id="40" name="Text 38"/>
          <p:cNvSpPr/>
          <p:nvPr/>
        </p:nvSpPr>
        <p:spPr>
          <a:xfrm>
            <a:off x="8796528" y="4754880"/>
            <a:ext cx="2276856" cy="42062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STANDARD PLC: STATUS MONITORING</a:t>
            </a:r>
            <a:endParaRPr lang="en-US" sz="920" dirty="0"/>
          </a:p>
        </p:txBody>
      </p:sp>
      <p:sp>
        <p:nvSpPr>
          <p:cNvPr id="41" name="Shape 39"/>
          <p:cNvSpPr/>
          <p:nvPr/>
        </p:nvSpPr>
        <p:spPr>
          <a:xfrm>
            <a:off x="9930384" y="4041648"/>
            <a:ext cx="0" cy="566928"/>
          </a:xfrm>
          <a:prstGeom prst="line">
            <a:avLst/>
          </a:prstGeom>
          <a:noFill/>
          <a:ln w="13970">
            <a:solidFill>
              <a:srgbClr val="C65E4E"/>
            </a:solidFill>
            <a:prstDash val="solid"/>
            <a:tailEnd type="triangle"/>
          </a:ln>
        </p:spPr>
      </p:sp>
      <p:sp>
        <p:nvSpPr>
          <p:cNvPr id="42" name="Text 40"/>
          <p:cNvSpPr/>
          <p:nvPr/>
        </p:nvSpPr>
        <p:spPr>
          <a:xfrm>
            <a:off x="8156448" y="5468112"/>
            <a:ext cx="3246120" cy="502920"/>
          </a:xfrm>
          <a:prstGeom prst="rect">
            <a:avLst/>
          </a:prstGeom>
          <a:noFill/>
          <a:ln/>
        </p:spPr>
        <p:txBody>
          <a:bodyPr wrap="square" lIns="0" tIns="0" rIns="0" bIns="0" rtlCol="0" anchor="ctr">
            <a:normAutofit/>
          </a:bodyPr>
          <a:lstStyle/>
          <a:p>
            <a:pPr algn="ctr" indent="0" marL="0">
              <a:buNone/>
            </a:pPr>
            <a:r>
              <a:rPr lang="en-US" sz="1010" dirty="0">
                <a:solidFill>
                  <a:srgbClr val="334B5C"/>
                </a:solidFill>
                <a:latin typeface="Aptos" pitchFamily="34" charset="0"/>
                <a:ea typeface="Aptos" pitchFamily="34" charset="-122"/>
                <a:cs typeface="Aptos" pitchFamily="34" charset="-120"/>
              </a:rPr>
              <a:t>Risk assessment defines the required architecture and reset behaviour</a:t>
            </a:r>
            <a:endParaRPr lang="en-US" sz="101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Write the M1 justification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Use the reasoning sequence: “MedPack requires [measurable need]; exact model [part number/configuration] provides [documented field] (source/page); therefore it meets [condition] because [operational consequence].”</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Worked generic example: if the verified sensor pulse falls within the candidate counter’s documented limits, cite both source pages and explain how this supports correct pill-count capture.</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State the module arrangement and any conditions, such as an external actuator driver or a safety-system interface, rather than implying the CPU alone completes the system.</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Debrief: replace adjectives like “powerful” or “reliable” with a requirement, sourced characteristic, and suitability explanation.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APPLICATION WORKFLOW</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3593592"/>
            <a:ext cx="713232" cy="658368"/>
          </a:xfrm>
          <a:prstGeom prst="rect">
            <a:avLst/>
          </a:prstGeom>
          <a:solidFill>
            <a:srgbClr val="F4F8FA"/>
          </a:solidFill>
          <a:ln w="14605">
            <a:solidFill>
              <a:srgbClr val="C65E4E"/>
            </a:solidFill>
            <a:prstDash val="solid"/>
          </a:ln>
        </p:spPr>
      </p:sp>
      <p:sp>
        <p:nvSpPr>
          <p:cNvPr id="31" name="Text 29"/>
          <p:cNvSpPr/>
          <p:nvPr/>
        </p:nvSpPr>
        <p:spPr>
          <a:xfrm>
            <a:off x="8028432"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Application need</a:t>
            </a:r>
            <a:endParaRPr lang="en-US" sz="950" dirty="0"/>
          </a:p>
        </p:txBody>
      </p:sp>
      <p:sp>
        <p:nvSpPr>
          <p:cNvPr id="32" name="Shape 30"/>
          <p:cNvSpPr/>
          <p:nvPr/>
        </p:nvSpPr>
        <p:spPr>
          <a:xfrm>
            <a:off x="8686800" y="3922776"/>
            <a:ext cx="182880" cy="0"/>
          </a:xfrm>
          <a:prstGeom prst="line">
            <a:avLst/>
          </a:prstGeom>
          <a:noFill/>
          <a:ln w="19050">
            <a:solidFill>
              <a:srgbClr val="C65E4E"/>
            </a:solidFill>
            <a:prstDash val="solid"/>
            <a:tailEnd type="triangle"/>
          </a:ln>
        </p:spPr>
      </p:sp>
      <p:sp>
        <p:nvSpPr>
          <p:cNvPr id="33" name="Shape 31"/>
          <p:cNvSpPr/>
          <p:nvPr/>
        </p:nvSpPr>
        <p:spPr>
          <a:xfrm>
            <a:off x="8897112" y="3593592"/>
            <a:ext cx="713232" cy="658368"/>
          </a:xfrm>
          <a:prstGeom prst="rect">
            <a:avLst/>
          </a:prstGeom>
          <a:solidFill>
            <a:srgbClr val="F4F8FA"/>
          </a:solidFill>
          <a:ln w="14605">
            <a:solidFill>
              <a:srgbClr val="C65E4E"/>
            </a:solidFill>
            <a:prstDash val="solid"/>
          </a:ln>
        </p:spPr>
      </p:sp>
      <p:sp>
        <p:nvSpPr>
          <p:cNvPr id="34" name="Text 32"/>
          <p:cNvSpPr/>
          <p:nvPr/>
        </p:nvSpPr>
        <p:spPr>
          <a:xfrm>
            <a:off x="8970264"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PLC feature</a:t>
            </a:r>
            <a:endParaRPr lang="en-US" sz="950" dirty="0"/>
          </a:p>
        </p:txBody>
      </p:sp>
      <p:sp>
        <p:nvSpPr>
          <p:cNvPr id="35" name="Shape 33"/>
          <p:cNvSpPr/>
          <p:nvPr/>
        </p:nvSpPr>
        <p:spPr>
          <a:xfrm>
            <a:off x="9628632" y="3922776"/>
            <a:ext cx="182880" cy="0"/>
          </a:xfrm>
          <a:prstGeom prst="line">
            <a:avLst/>
          </a:prstGeom>
          <a:noFill/>
          <a:ln w="19050">
            <a:solidFill>
              <a:srgbClr val="C65E4E"/>
            </a:solidFill>
            <a:prstDash val="solid"/>
            <a:tailEnd type="triangle"/>
          </a:ln>
        </p:spPr>
      </p:sp>
      <p:sp>
        <p:nvSpPr>
          <p:cNvPr id="36" name="Shape 34"/>
          <p:cNvSpPr/>
          <p:nvPr/>
        </p:nvSpPr>
        <p:spPr>
          <a:xfrm>
            <a:off x="9838944" y="3593592"/>
            <a:ext cx="713232" cy="658368"/>
          </a:xfrm>
          <a:prstGeom prst="rect">
            <a:avLst/>
          </a:prstGeom>
          <a:solidFill>
            <a:srgbClr val="F4F8FA"/>
          </a:solidFill>
          <a:ln w="14605">
            <a:solidFill>
              <a:srgbClr val="C65E4E"/>
            </a:solidFill>
            <a:prstDash val="solid"/>
          </a:ln>
        </p:spPr>
      </p:sp>
      <p:sp>
        <p:nvSpPr>
          <p:cNvPr id="37" name="Text 35"/>
          <p:cNvSpPr/>
          <p:nvPr/>
        </p:nvSpPr>
        <p:spPr>
          <a:xfrm>
            <a:off x="9912096"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System impact</a:t>
            </a:r>
            <a:endParaRPr lang="en-US" sz="950" dirty="0"/>
          </a:p>
        </p:txBody>
      </p:sp>
      <p:sp>
        <p:nvSpPr>
          <p:cNvPr id="38" name="Shape 36"/>
          <p:cNvSpPr/>
          <p:nvPr/>
        </p:nvSpPr>
        <p:spPr>
          <a:xfrm>
            <a:off x="10570464" y="3922776"/>
            <a:ext cx="182880" cy="0"/>
          </a:xfrm>
          <a:prstGeom prst="line">
            <a:avLst/>
          </a:prstGeom>
          <a:noFill/>
          <a:ln w="19050">
            <a:solidFill>
              <a:srgbClr val="C65E4E"/>
            </a:solidFill>
            <a:prstDash val="solid"/>
            <a:tailEnd type="triangle"/>
          </a:ln>
        </p:spPr>
      </p:sp>
      <p:sp>
        <p:nvSpPr>
          <p:cNvPr id="39" name="Shape 37"/>
          <p:cNvSpPr/>
          <p:nvPr/>
        </p:nvSpPr>
        <p:spPr>
          <a:xfrm>
            <a:off x="10780776" y="3593592"/>
            <a:ext cx="713232" cy="658368"/>
          </a:xfrm>
          <a:prstGeom prst="rect">
            <a:avLst/>
          </a:prstGeom>
          <a:solidFill>
            <a:srgbClr val="F4F8FA"/>
          </a:solidFill>
          <a:ln w="14605">
            <a:solidFill>
              <a:srgbClr val="C65E4E"/>
            </a:solidFill>
            <a:prstDash val="solid"/>
          </a:ln>
        </p:spPr>
      </p:sp>
      <p:sp>
        <p:nvSpPr>
          <p:cNvPr id="40" name="Text 38"/>
          <p:cNvSpPr/>
          <p:nvPr/>
        </p:nvSpPr>
        <p:spPr>
          <a:xfrm>
            <a:off x="10853928" y="3648456"/>
            <a:ext cx="566928" cy="548640"/>
          </a:xfrm>
          <a:prstGeom prst="rect">
            <a:avLst/>
          </a:prstGeom>
          <a:noFill/>
          <a:ln/>
        </p:spPr>
        <p:txBody>
          <a:bodyPr wrap="square" lIns="0" tIns="0" rIns="0" bIns="0" rtlCol="0" anchor="ctr">
            <a:normAutofit/>
          </a:bodyPr>
          <a:lstStyle/>
          <a:p>
            <a:pPr algn="ctr" indent="0" marL="0">
              <a:buNone/>
            </a:pPr>
            <a:r>
              <a:rPr lang="en-US" sz="950" b="1" dirty="0">
                <a:solidFill>
                  <a:srgbClr val="1B3448"/>
                </a:solidFill>
                <a:latin typeface="Aptos" pitchFamily="34" charset="0"/>
                <a:ea typeface="Aptos" pitchFamily="34" charset="-122"/>
                <a:cs typeface="Aptos" pitchFamily="34" charset="-120"/>
              </a:rPr>
              <a:t>Evidence</a:t>
            </a:r>
            <a:endParaRPr lang="en-US" sz="950" dirty="0"/>
          </a:p>
        </p:txBody>
      </p:sp>
      <p:sp>
        <p:nvSpPr>
          <p:cNvPr id="41" name="Text 39"/>
          <p:cNvSpPr/>
          <p:nvPr/>
        </p:nvSpPr>
        <p:spPr>
          <a:xfrm>
            <a:off x="8046720" y="4617720"/>
            <a:ext cx="3154680" cy="566928"/>
          </a:xfrm>
          <a:prstGeom prst="rect">
            <a:avLst/>
          </a:prstGeom>
          <a:noFill/>
          <a:ln/>
        </p:spPr>
        <p:txBody>
          <a:bodyPr wrap="square" lIns="0" tIns="0" rIns="0" bIns="0" rtlCol="0" anchor="ctr">
            <a:normAutofit/>
          </a:bodyPr>
          <a:lstStyle/>
          <a:p>
            <a:pPr algn="ctr" indent="0" marL="0">
              <a:buNone/>
            </a:pPr>
            <a:r>
              <a:rPr lang="en-US" sz="1150" dirty="0">
                <a:solidFill>
                  <a:srgbClr val="334B5C"/>
                </a:solidFill>
                <a:latin typeface="Aptos" pitchFamily="34" charset="0"/>
                <a:ea typeface="Aptos" pitchFamily="34" charset="-122"/>
                <a:cs typeface="Aptos" pitchFamily="34" charset="-120"/>
              </a:rPr>
              <a:t>Trace the requirement from the device to its verified result</a:t>
            </a:r>
            <a:endParaRPr lang="en-US" sz="1150" dirty="0"/>
          </a:p>
        </p:txBody>
      </p:sp>
      <p:sp>
        <p:nvSpPr>
          <p:cNvPr id="42" name="Shape 40"/>
          <p:cNvSpPr/>
          <p:nvPr/>
        </p:nvSpPr>
        <p:spPr>
          <a:xfrm>
            <a:off x="603504" y="6318504"/>
            <a:ext cx="10972800" cy="0"/>
          </a:xfrm>
          <a:prstGeom prst="line">
            <a:avLst/>
          </a:prstGeom>
          <a:noFill/>
          <a:ln w="10160">
            <a:solidFill>
              <a:srgbClr val="D5E0E7"/>
            </a:solidFill>
            <a:prstDash val="solid"/>
          </a:ln>
        </p:spPr>
      </p:sp>
      <p:sp>
        <p:nvSpPr>
          <p:cNvPr id="43" name="Text 4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4" name="Text 4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Create the I/O summary table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Use columns for address/tag, device, DI/DO/AI/AO, signal type/range, normal state, selected terminal/module, load/interface, source, and notes/assumptions.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Populate Start, Reset, pill sensor, actuator command, buzzer, and safety-system status only as supported by the brief and confirmed design; add optional indicators/feedback only when evidenced.</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Check total point count, signal type, voltage/current, pulse limits, output grouping, module power, and terminal assignment against actual manuals and device datasheets.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Mark safety-related devices and show their validated safety path separately; a standard PLC status input is monitoring, not the safety function.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SIGNAL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27264" y="3438144"/>
            <a:ext cx="804672" cy="822960"/>
          </a:xfrm>
          <a:prstGeom prst="rect">
            <a:avLst/>
          </a:prstGeom>
          <a:solidFill>
            <a:srgbClr val="F4F8FA"/>
          </a:solidFill>
          <a:ln w="14605">
            <a:solidFill>
              <a:srgbClr val="C65E4E"/>
            </a:solidFill>
            <a:prstDash val="solid"/>
          </a:ln>
        </p:spPr>
      </p:sp>
      <p:sp>
        <p:nvSpPr>
          <p:cNvPr id="31" name="Text 29"/>
          <p:cNvSpPr/>
          <p:nvPr/>
        </p:nvSpPr>
        <p:spPr>
          <a:xfrm>
            <a:off x="7900416" y="3493008"/>
            <a:ext cx="658368" cy="713232"/>
          </a:xfrm>
          <a:prstGeom prst="rect">
            <a:avLst/>
          </a:prstGeom>
          <a:noFill/>
          <a:ln/>
        </p:spPr>
        <p:txBody>
          <a:bodyPr wrap="square" lIns="0" tIns="0" rIns="0" bIns="0" rtlCol="0" anchor="ctr">
            <a:normAutofit/>
          </a:bodyPr>
          <a:lstStyle/>
          <a:p>
            <a:pPr algn="ctr" indent="0" marL="0">
              <a:buNone/>
            </a:pPr>
            <a:r>
              <a:rPr lang="en-US" sz="870" b="1" dirty="0">
                <a:solidFill>
                  <a:srgbClr val="1B3448"/>
                </a:solidFill>
                <a:latin typeface="Aptos" pitchFamily="34" charset="0"/>
                <a:ea typeface="Aptos" pitchFamily="34" charset="-122"/>
                <a:cs typeface="Aptos" pitchFamily="34" charset="-120"/>
              </a:rPr>
              <a:t>SENSOR +</a:t>
            </a:r>
            <a:endParaRPr lang="en-US" sz="870" dirty="0"/>
          </a:p>
          <a:p>
            <a:pPr algn="ctr" indent="0" marL="0">
              <a:buNone/>
            </a:pPr>
            <a:r>
              <a:rPr lang="en-US" sz="870" b="1" dirty="0">
                <a:solidFill>
                  <a:srgbClr val="1B3448"/>
                </a:solidFill>
                <a:latin typeface="Aptos" pitchFamily="34" charset="0"/>
                <a:ea typeface="Aptos" pitchFamily="34" charset="-122"/>
                <a:cs typeface="Aptos" pitchFamily="34" charset="-120"/>
              </a:rPr>
              <a:t>BUTTONS</a:t>
            </a:r>
            <a:endParaRPr lang="en-US" sz="870" dirty="0"/>
          </a:p>
        </p:txBody>
      </p:sp>
      <p:sp>
        <p:nvSpPr>
          <p:cNvPr id="32" name="Shape 30"/>
          <p:cNvSpPr/>
          <p:nvPr/>
        </p:nvSpPr>
        <p:spPr>
          <a:xfrm>
            <a:off x="8833104" y="3438144"/>
            <a:ext cx="685800" cy="822960"/>
          </a:xfrm>
          <a:prstGeom prst="rect">
            <a:avLst/>
          </a:prstGeom>
          <a:solidFill>
            <a:srgbClr val="F4F8FA"/>
          </a:solidFill>
          <a:ln w="14605">
            <a:solidFill>
              <a:srgbClr val="C65E4E"/>
            </a:solidFill>
            <a:prstDash val="solid"/>
          </a:ln>
        </p:spPr>
      </p:sp>
      <p:sp>
        <p:nvSpPr>
          <p:cNvPr id="33" name="Text 31"/>
          <p:cNvSpPr/>
          <p:nvPr/>
        </p:nvSpPr>
        <p:spPr>
          <a:xfrm>
            <a:off x="8906256" y="3493008"/>
            <a:ext cx="539496" cy="713232"/>
          </a:xfrm>
          <a:prstGeom prst="rect">
            <a:avLst/>
          </a:prstGeom>
          <a:noFill/>
          <a:ln/>
        </p:spPr>
        <p:txBody>
          <a:bodyPr wrap="square" lIns="0" tIns="0" rIns="0" bIns="0" rtlCol="0" anchor="ctr">
            <a:normAutofit/>
          </a:bodyPr>
          <a:lstStyle/>
          <a:p>
            <a:pPr algn="ctr" indent="0" marL="0">
              <a:buNone/>
            </a:pPr>
            <a:r>
              <a:rPr lang="en-US" sz="880" b="1" dirty="0">
                <a:solidFill>
                  <a:srgbClr val="1B3448"/>
                </a:solidFill>
                <a:latin typeface="Aptos" pitchFamily="34" charset="0"/>
                <a:ea typeface="Aptos" pitchFamily="34" charset="-122"/>
                <a:cs typeface="Aptos" pitchFamily="34" charset="-120"/>
              </a:rPr>
              <a:t>PLC</a:t>
            </a:r>
            <a:endParaRPr lang="en-US" sz="880" dirty="0"/>
          </a:p>
          <a:p>
            <a:pPr algn="ctr" indent="0" marL="0">
              <a:buNone/>
            </a:pPr>
            <a:r>
              <a:rPr lang="en-US" sz="880" b="1" dirty="0">
                <a:solidFill>
                  <a:srgbClr val="1B3448"/>
                </a:solidFill>
                <a:latin typeface="Aptos" pitchFamily="34" charset="0"/>
                <a:ea typeface="Aptos" pitchFamily="34" charset="-122"/>
                <a:cs typeface="Aptos" pitchFamily="34" charset="-120"/>
              </a:rPr>
              <a:t>INPUTS</a:t>
            </a:r>
            <a:endParaRPr lang="en-US" sz="880" dirty="0"/>
          </a:p>
        </p:txBody>
      </p:sp>
      <p:sp>
        <p:nvSpPr>
          <p:cNvPr id="34" name="Shape 32"/>
          <p:cNvSpPr/>
          <p:nvPr/>
        </p:nvSpPr>
        <p:spPr>
          <a:xfrm>
            <a:off x="9720072" y="3438144"/>
            <a:ext cx="676656" cy="822960"/>
          </a:xfrm>
          <a:prstGeom prst="rect">
            <a:avLst/>
          </a:prstGeom>
          <a:solidFill>
            <a:srgbClr val="EAF3F4"/>
          </a:solidFill>
          <a:ln w="14605">
            <a:solidFill>
              <a:srgbClr val="C65E4E"/>
            </a:solidFill>
            <a:prstDash val="solid"/>
          </a:ln>
        </p:spPr>
      </p:sp>
      <p:sp>
        <p:nvSpPr>
          <p:cNvPr id="35" name="Text 33"/>
          <p:cNvSpPr/>
          <p:nvPr/>
        </p:nvSpPr>
        <p:spPr>
          <a:xfrm>
            <a:off x="9793224" y="3493008"/>
            <a:ext cx="530352" cy="713232"/>
          </a:xfrm>
          <a:prstGeom prst="rect">
            <a:avLst/>
          </a:prstGeom>
          <a:noFill/>
          <a:ln/>
        </p:spPr>
        <p:txBody>
          <a:bodyPr wrap="square" lIns="0" tIns="0" rIns="0" bIns="0" rtlCol="0" anchor="ctr">
            <a:normAutofit/>
          </a:bodyPr>
          <a:lstStyle/>
          <a:p>
            <a:pPr algn="ctr" indent="0" marL="0">
              <a:buNone/>
            </a:pPr>
            <a:r>
              <a:rPr lang="en-US" sz="880" b="1" dirty="0">
                <a:solidFill>
                  <a:srgbClr val="1B3448"/>
                </a:solidFill>
                <a:latin typeface="Aptos" pitchFamily="34" charset="0"/>
                <a:ea typeface="Aptos" pitchFamily="34" charset="-122"/>
                <a:cs typeface="Aptos" pitchFamily="34" charset="-120"/>
              </a:rPr>
              <a:t>CPU</a:t>
            </a:r>
            <a:endParaRPr lang="en-US" sz="880" dirty="0"/>
          </a:p>
          <a:p>
            <a:pPr algn="ctr" indent="0" marL="0">
              <a:buNone/>
            </a:pPr>
            <a:r>
              <a:rPr lang="en-US" sz="880" b="1" dirty="0">
                <a:solidFill>
                  <a:srgbClr val="1B3448"/>
                </a:solidFill>
                <a:latin typeface="Aptos" pitchFamily="34" charset="0"/>
                <a:ea typeface="Aptos" pitchFamily="34" charset="-122"/>
                <a:cs typeface="Aptos" pitchFamily="34" charset="-120"/>
              </a:rPr>
              <a:t>LOGIC</a:t>
            </a:r>
            <a:endParaRPr lang="en-US" sz="880" dirty="0"/>
          </a:p>
        </p:txBody>
      </p:sp>
      <p:sp>
        <p:nvSpPr>
          <p:cNvPr id="36" name="Shape 34"/>
          <p:cNvSpPr/>
          <p:nvPr/>
        </p:nvSpPr>
        <p:spPr>
          <a:xfrm>
            <a:off x="10625328" y="3438144"/>
            <a:ext cx="722376" cy="822960"/>
          </a:xfrm>
          <a:prstGeom prst="rect">
            <a:avLst/>
          </a:prstGeom>
          <a:solidFill>
            <a:srgbClr val="F4F8FA"/>
          </a:solidFill>
          <a:ln w="14605">
            <a:solidFill>
              <a:srgbClr val="C65E4E"/>
            </a:solidFill>
            <a:prstDash val="solid"/>
          </a:ln>
        </p:spPr>
      </p:sp>
      <p:sp>
        <p:nvSpPr>
          <p:cNvPr id="37" name="Text 35"/>
          <p:cNvSpPr/>
          <p:nvPr/>
        </p:nvSpPr>
        <p:spPr>
          <a:xfrm>
            <a:off x="10698480" y="3493008"/>
            <a:ext cx="576072" cy="713232"/>
          </a:xfrm>
          <a:prstGeom prst="rect">
            <a:avLst/>
          </a:prstGeom>
          <a:noFill/>
          <a:ln/>
        </p:spPr>
        <p:txBody>
          <a:bodyPr wrap="square" lIns="0" tIns="0" rIns="0" bIns="0" rtlCol="0" anchor="ctr">
            <a:normAutofit/>
          </a:bodyPr>
          <a:lstStyle/>
          <a:p>
            <a:pPr algn="ctr" indent="0" marL="0">
              <a:buNone/>
            </a:pPr>
            <a:r>
              <a:rPr lang="en-US" sz="820" b="1" dirty="0">
                <a:solidFill>
                  <a:srgbClr val="1B3448"/>
                </a:solidFill>
                <a:latin typeface="Aptos" pitchFamily="34" charset="0"/>
                <a:ea typeface="Aptos" pitchFamily="34" charset="-122"/>
                <a:cs typeface="Aptos" pitchFamily="34" charset="-120"/>
              </a:rPr>
              <a:t>OUTPUT</a:t>
            </a:r>
            <a:endParaRPr lang="en-US" sz="820" dirty="0"/>
          </a:p>
          <a:p>
            <a:pPr algn="ctr" indent="0" marL="0">
              <a:buNone/>
            </a:pPr>
            <a:r>
              <a:rPr lang="en-US" sz="820" b="1" dirty="0">
                <a:solidFill>
                  <a:srgbClr val="1B3448"/>
                </a:solidFill>
                <a:latin typeface="Aptos" pitchFamily="34" charset="0"/>
                <a:ea typeface="Aptos" pitchFamily="34" charset="-122"/>
                <a:cs typeface="Aptos" pitchFamily="34" charset="-120"/>
              </a:rPr>
              <a:t>INTERFACE</a:t>
            </a:r>
            <a:endParaRPr lang="en-US" sz="820" dirty="0"/>
          </a:p>
        </p:txBody>
      </p:sp>
      <p:sp>
        <p:nvSpPr>
          <p:cNvPr id="38" name="Shape 36"/>
          <p:cNvSpPr/>
          <p:nvPr/>
        </p:nvSpPr>
        <p:spPr>
          <a:xfrm>
            <a:off x="8650224" y="3849624"/>
            <a:ext cx="146304" cy="0"/>
          </a:xfrm>
          <a:prstGeom prst="line">
            <a:avLst/>
          </a:prstGeom>
          <a:noFill/>
          <a:ln w="22860">
            <a:solidFill>
              <a:srgbClr val="C65E4E"/>
            </a:solidFill>
            <a:prstDash val="solid"/>
            <a:tailEnd type="triangle"/>
          </a:ln>
        </p:spPr>
      </p:sp>
      <p:sp>
        <p:nvSpPr>
          <p:cNvPr id="39" name="Shape 37"/>
          <p:cNvSpPr/>
          <p:nvPr/>
        </p:nvSpPr>
        <p:spPr>
          <a:xfrm>
            <a:off x="9537192" y="3849624"/>
            <a:ext cx="146304" cy="0"/>
          </a:xfrm>
          <a:prstGeom prst="line">
            <a:avLst/>
          </a:prstGeom>
          <a:noFill/>
          <a:ln w="22860">
            <a:solidFill>
              <a:srgbClr val="C65E4E"/>
            </a:solidFill>
            <a:prstDash val="solid"/>
            <a:tailEnd type="triangle"/>
          </a:ln>
        </p:spPr>
      </p:sp>
      <p:sp>
        <p:nvSpPr>
          <p:cNvPr id="40" name="Shape 38"/>
          <p:cNvSpPr/>
          <p:nvPr/>
        </p:nvSpPr>
        <p:spPr>
          <a:xfrm>
            <a:off x="10415016" y="3849624"/>
            <a:ext cx="173736" cy="0"/>
          </a:xfrm>
          <a:prstGeom prst="line">
            <a:avLst/>
          </a:prstGeom>
          <a:noFill/>
          <a:ln w="22860">
            <a:solidFill>
              <a:srgbClr val="C65E4E"/>
            </a:solidFill>
            <a:prstDash val="solid"/>
            <a:tailEnd type="triangle"/>
          </a:ln>
        </p:spPr>
      </p:sp>
      <p:sp>
        <p:nvSpPr>
          <p:cNvPr id="41" name="Text 39"/>
          <p:cNvSpPr/>
          <p:nvPr/>
        </p:nvSpPr>
        <p:spPr>
          <a:xfrm>
            <a:off x="8101584" y="4599432"/>
            <a:ext cx="2926080" cy="320040"/>
          </a:xfrm>
          <a:prstGeom prst="rect">
            <a:avLst/>
          </a:prstGeom>
          <a:noFill/>
          <a:ln/>
        </p:spPr>
        <p:txBody>
          <a:bodyPr wrap="square" lIns="0" tIns="0" rIns="0" bIns="0" rtlCol="0" anchor="ctr">
            <a:normAutofit/>
          </a:bodyPr>
          <a:lstStyle/>
          <a:p>
            <a:pPr algn="ctr" indent="0" marL="0">
              <a:buNone/>
            </a:pPr>
            <a:r>
              <a:rPr lang="en-US" sz="1000" b="1" dirty="0">
                <a:solidFill>
                  <a:srgbClr val="1B3448"/>
                </a:solidFill>
                <a:latin typeface="Aptos" pitchFamily="34" charset="0"/>
                <a:ea typeface="Aptos" pitchFamily="34" charset="-122"/>
                <a:cs typeface="Aptos" pitchFamily="34" charset="-120"/>
              </a:rPr>
              <a:t>ACTUATOR  /  BUZZER</a:t>
            </a:r>
            <a:endParaRPr lang="en-US" sz="1000" dirty="0"/>
          </a:p>
        </p:txBody>
      </p:sp>
      <p:sp>
        <p:nvSpPr>
          <p:cNvPr id="42" name="Text 40"/>
          <p:cNvSpPr/>
          <p:nvPr/>
        </p:nvSpPr>
        <p:spPr>
          <a:xfrm>
            <a:off x="8046720" y="5129784"/>
            <a:ext cx="3154680" cy="566928"/>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Verify voltage, polarity, load current and channel limits</a:t>
            </a:r>
            <a:endParaRPr lang="en-US" sz="105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Draw the system block diagram</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Draw field devices -&gt; selected CPU and configured local/remote I/O -&gt; load interface -&gt; actuator/buzzer; include sensor signal and any confirmed feedback path.</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Show control power and load power separately; identify communications only where a specified HMI/SCADA or upstream connection exists, and mark optional future expansion distinctly.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Draw the safety system boundary and energy-isolation path independently from standard PLC logic, with any monitoring connection clearly separated.</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Review against the I/O table: every required tag and interface appears, signal direction is clear, and no unsupported device or network is shown as installed fact.</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SIGNAL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27264" y="3438144"/>
            <a:ext cx="804672" cy="822960"/>
          </a:xfrm>
          <a:prstGeom prst="rect">
            <a:avLst/>
          </a:prstGeom>
          <a:solidFill>
            <a:srgbClr val="F4F8FA"/>
          </a:solidFill>
          <a:ln w="14605">
            <a:solidFill>
              <a:srgbClr val="C65E4E"/>
            </a:solidFill>
            <a:prstDash val="solid"/>
          </a:ln>
        </p:spPr>
      </p:sp>
      <p:sp>
        <p:nvSpPr>
          <p:cNvPr id="31" name="Text 29"/>
          <p:cNvSpPr/>
          <p:nvPr/>
        </p:nvSpPr>
        <p:spPr>
          <a:xfrm>
            <a:off x="7900416" y="3493008"/>
            <a:ext cx="658368" cy="713232"/>
          </a:xfrm>
          <a:prstGeom prst="rect">
            <a:avLst/>
          </a:prstGeom>
          <a:noFill/>
          <a:ln/>
        </p:spPr>
        <p:txBody>
          <a:bodyPr wrap="square" lIns="0" tIns="0" rIns="0" bIns="0" rtlCol="0" anchor="ctr">
            <a:normAutofit/>
          </a:bodyPr>
          <a:lstStyle/>
          <a:p>
            <a:pPr algn="ctr" indent="0" marL="0">
              <a:buNone/>
            </a:pPr>
            <a:r>
              <a:rPr lang="en-US" sz="870" b="1" dirty="0">
                <a:solidFill>
                  <a:srgbClr val="1B3448"/>
                </a:solidFill>
                <a:latin typeface="Aptos" pitchFamily="34" charset="0"/>
                <a:ea typeface="Aptos" pitchFamily="34" charset="-122"/>
                <a:cs typeface="Aptos" pitchFamily="34" charset="-120"/>
              </a:rPr>
              <a:t>SENSOR +</a:t>
            </a:r>
            <a:endParaRPr lang="en-US" sz="870" dirty="0"/>
          </a:p>
          <a:p>
            <a:pPr algn="ctr" indent="0" marL="0">
              <a:buNone/>
            </a:pPr>
            <a:r>
              <a:rPr lang="en-US" sz="870" b="1" dirty="0">
                <a:solidFill>
                  <a:srgbClr val="1B3448"/>
                </a:solidFill>
                <a:latin typeface="Aptos" pitchFamily="34" charset="0"/>
                <a:ea typeface="Aptos" pitchFamily="34" charset="-122"/>
                <a:cs typeface="Aptos" pitchFamily="34" charset="-120"/>
              </a:rPr>
              <a:t>BUTTONS</a:t>
            </a:r>
            <a:endParaRPr lang="en-US" sz="870" dirty="0"/>
          </a:p>
        </p:txBody>
      </p:sp>
      <p:sp>
        <p:nvSpPr>
          <p:cNvPr id="32" name="Shape 30"/>
          <p:cNvSpPr/>
          <p:nvPr/>
        </p:nvSpPr>
        <p:spPr>
          <a:xfrm>
            <a:off x="8833104" y="3438144"/>
            <a:ext cx="685800" cy="822960"/>
          </a:xfrm>
          <a:prstGeom prst="rect">
            <a:avLst/>
          </a:prstGeom>
          <a:solidFill>
            <a:srgbClr val="F4F8FA"/>
          </a:solidFill>
          <a:ln w="14605">
            <a:solidFill>
              <a:srgbClr val="C65E4E"/>
            </a:solidFill>
            <a:prstDash val="solid"/>
          </a:ln>
        </p:spPr>
      </p:sp>
      <p:sp>
        <p:nvSpPr>
          <p:cNvPr id="33" name="Text 31"/>
          <p:cNvSpPr/>
          <p:nvPr/>
        </p:nvSpPr>
        <p:spPr>
          <a:xfrm>
            <a:off x="8906256" y="3493008"/>
            <a:ext cx="539496" cy="713232"/>
          </a:xfrm>
          <a:prstGeom prst="rect">
            <a:avLst/>
          </a:prstGeom>
          <a:noFill/>
          <a:ln/>
        </p:spPr>
        <p:txBody>
          <a:bodyPr wrap="square" lIns="0" tIns="0" rIns="0" bIns="0" rtlCol="0" anchor="ctr">
            <a:normAutofit/>
          </a:bodyPr>
          <a:lstStyle/>
          <a:p>
            <a:pPr algn="ctr" indent="0" marL="0">
              <a:buNone/>
            </a:pPr>
            <a:r>
              <a:rPr lang="en-US" sz="880" b="1" dirty="0">
                <a:solidFill>
                  <a:srgbClr val="1B3448"/>
                </a:solidFill>
                <a:latin typeface="Aptos" pitchFamily="34" charset="0"/>
                <a:ea typeface="Aptos" pitchFamily="34" charset="-122"/>
                <a:cs typeface="Aptos" pitchFamily="34" charset="-120"/>
              </a:rPr>
              <a:t>PLC</a:t>
            </a:r>
            <a:endParaRPr lang="en-US" sz="880" dirty="0"/>
          </a:p>
          <a:p>
            <a:pPr algn="ctr" indent="0" marL="0">
              <a:buNone/>
            </a:pPr>
            <a:r>
              <a:rPr lang="en-US" sz="880" b="1" dirty="0">
                <a:solidFill>
                  <a:srgbClr val="1B3448"/>
                </a:solidFill>
                <a:latin typeface="Aptos" pitchFamily="34" charset="0"/>
                <a:ea typeface="Aptos" pitchFamily="34" charset="-122"/>
                <a:cs typeface="Aptos" pitchFamily="34" charset="-120"/>
              </a:rPr>
              <a:t>INPUTS</a:t>
            </a:r>
            <a:endParaRPr lang="en-US" sz="880" dirty="0"/>
          </a:p>
        </p:txBody>
      </p:sp>
      <p:sp>
        <p:nvSpPr>
          <p:cNvPr id="34" name="Shape 32"/>
          <p:cNvSpPr/>
          <p:nvPr/>
        </p:nvSpPr>
        <p:spPr>
          <a:xfrm>
            <a:off x="9720072" y="3438144"/>
            <a:ext cx="676656" cy="822960"/>
          </a:xfrm>
          <a:prstGeom prst="rect">
            <a:avLst/>
          </a:prstGeom>
          <a:solidFill>
            <a:srgbClr val="EAF3F4"/>
          </a:solidFill>
          <a:ln w="14605">
            <a:solidFill>
              <a:srgbClr val="C65E4E"/>
            </a:solidFill>
            <a:prstDash val="solid"/>
          </a:ln>
        </p:spPr>
      </p:sp>
      <p:sp>
        <p:nvSpPr>
          <p:cNvPr id="35" name="Text 33"/>
          <p:cNvSpPr/>
          <p:nvPr/>
        </p:nvSpPr>
        <p:spPr>
          <a:xfrm>
            <a:off x="9793224" y="3493008"/>
            <a:ext cx="530352" cy="713232"/>
          </a:xfrm>
          <a:prstGeom prst="rect">
            <a:avLst/>
          </a:prstGeom>
          <a:noFill/>
          <a:ln/>
        </p:spPr>
        <p:txBody>
          <a:bodyPr wrap="square" lIns="0" tIns="0" rIns="0" bIns="0" rtlCol="0" anchor="ctr">
            <a:normAutofit/>
          </a:bodyPr>
          <a:lstStyle/>
          <a:p>
            <a:pPr algn="ctr" indent="0" marL="0">
              <a:buNone/>
            </a:pPr>
            <a:r>
              <a:rPr lang="en-US" sz="880" b="1" dirty="0">
                <a:solidFill>
                  <a:srgbClr val="1B3448"/>
                </a:solidFill>
                <a:latin typeface="Aptos" pitchFamily="34" charset="0"/>
                <a:ea typeface="Aptos" pitchFamily="34" charset="-122"/>
                <a:cs typeface="Aptos" pitchFamily="34" charset="-120"/>
              </a:rPr>
              <a:t>CPU</a:t>
            </a:r>
            <a:endParaRPr lang="en-US" sz="880" dirty="0"/>
          </a:p>
          <a:p>
            <a:pPr algn="ctr" indent="0" marL="0">
              <a:buNone/>
            </a:pPr>
            <a:r>
              <a:rPr lang="en-US" sz="880" b="1" dirty="0">
                <a:solidFill>
                  <a:srgbClr val="1B3448"/>
                </a:solidFill>
                <a:latin typeface="Aptos" pitchFamily="34" charset="0"/>
                <a:ea typeface="Aptos" pitchFamily="34" charset="-122"/>
                <a:cs typeface="Aptos" pitchFamily="34" charset="-120"/>
              </a:rPr>
              <a:t>LOGIC</a:t>
            </a:r>
            <a:endParaRPr lang="en-US" sz="880" dirty="0"/>
          </a:p>
        </p:txBody>
      </p:sp>
      <p:sp>
        <p:nvSpPr>
          <p:cNvPr id="36" name="Shape 34"/>
          <p:cNvSpPr/>
          <p:nvPr/>
        </p:nvSpPr>
        <p:spPr>
          <a:xfrm>
            <a:off x="10625328" y="3438144"/>
            <a:ext cx="722376" cy="822960"/>
          </a:xfrm>
          <a:prstGeom prst="rect">
            <a:avLst/>
          </a:prstGeom>
          <a:solidFill>
            <a:srgbClr val="F4F8FA"/>
          </a:solidFill>
          <a:ln w="14605">
            <a:solidFill>
              <a:srgbClr val="C65E4E"/>
            </a:solidFill>
            <a:prstDash val="solid"/>
          </a:ln>
        </p:spPr>
      </p:sp>
      <p:sp>
        <p:nvSpPr>
          <p:cNvPr id="37" name="Text 35"/>
          <p:cNvSpPr/>
          <p:nvPr/>
        </p:nvSpPr>
        <p:spPr>
          <a:xfrm>
            <a:off x="10698480" y="3493008"/>
            <a:ext cx="576072" cy="713232"/>
          </a:xfrm>
          <a:prstGeom prst="rect">
            <a:avLst/>
          </a:prstGeom>
          <a:noFill/>
          <a:ln/>
        </p:spPr>
        <p:txBody>
          <a:bodyPr wrap="square" lIns="0" tIns="0" rIns="0" bIns="0" rtlCol="0" anchor="ctr">
            <a:normAutofit/>
          </a:bodyPr>
          <a:lstStyle/>
          <a:p>
            <a:pPr algn="ctr" indent="0" marL="0">
              <a:buNone/>
            </a:pPr>
            <a:r>
              <a:rPr lang="en-US" sz="820" b="1" dirty="0">
                <a:solidFill>
                  <a:srgbClr val="1B3448"/>
                </a:solidFill>
                <a:latin typeface="Aptos" pitchFamily="34" charset="0"/>
                <a:ea typeface="Aptos" pitchFamily="34" charset="-122"/>
                <a:cs typeface="Aptos" pitchFamily="34" charset="-120"/>
              </a:rPr>
              <a:t>OUTPUT</a:t>
            </a:r>
            <a:endParaRPr lang="en-US" sz="820" dirty="0"/>
          </a:p>
          <a:p>
            <a:pPr algn="ctr" indent="0" marL="0">
              <a:buNone/>
            </a:pPr>
            <a:r>
              <a:rPr lang="en-US" sz="820" b="1" dirty="0">
                <a:solidFill>
                  <a:srgbClr val="1B3448"/>
                </a:solidFill>
                <a:latin typeface="Aptos" pitchFamily="34" charset="0"/>
                <a:ea typeface="Aptos" pitchFamily="34" charset="-122"/>
                <a:cs typeface="Aptos" pitchFamily="34" charset="-120"/>
              </a:rPr>
              <a:t>INTERFACE</a:t>
            </a:r>
            <a:endParaRPr lang="en-US" sz="820" dirty="0"/>
          </a:p>
        </p:txBody>
      </p:sp>
      <p:sp>
        <p:nvSpPr>
          <p:cNvPr id="38" name="Shape 36"/>
          <p:cNvSpPr/>
          <p:nvPr/>
        </p:nvSpPr>
        <p:spPr>
          <a:xfrm>
            <a:off x="8650224" y="3849624"/>
            <a:ext cx="146304" cy="0"/>
          </a:xfrm>
          <a:prstGeom prst="line">
            <a:avLst/>
          </a:prstGeom>
          <a:noFill/>
          <a:ln w="22860">
            <a:solidFill>
              <a:srgbClr val="C65E4E"/>
            </a:solidFill>
            <a:prstDash val="solid"/>
            <a:tailEnd type="triangle"/>
          </a:ln>
        </p:spPr>
      </p:sp>
      <p:sp>
        <p:nvSpPr>
          <p:cNvPr id="39" name="Shape 37"/>
          <p:cNvSpPr/>
          <p:nvPr/>
        </p:nvSpPr>
        <p:spPr>
          <a:xfrm>
            <a:off x="9537192" y="3849624"/>
            <a:ext cx="146304" cy="0"/>
          </a:xfrm>
          <a:prstGeom prst="line">
            <a:avLst/>
          </a:prstGeom>
          <a:noFill/>
          <a:ln w="22860">
            <a:solidFill>
              <a:srgbClr val="C65E4E"/>
            </a:solidFill>
            <a:prstDash val="solid"/>
            <a:tailEnd type="triangle"/>
          </a:ln>
        </p:spPr>
      </p:sp>
      <p:sp>
        <p:nvSpPr>
          <p:cNvPr id="40" name="Shape 38"/>
          <p:cNvSpPr/>
          <p:nvPr/>
        </p:nvSpPr>
        <p:spPr>
          <a:xfrm>
            <a:off x="10415016" y="3849624"/>
            <a:ext cx="173736" cy="0"/>
          </a:xfrm>
          <a:prstGeom prst="line">
            <a:avLst/>
          </a:prstGeom>
          <a:noFill/>
          <a:ln w="22860">
            <a:solidFill>
              <a:srgbClr val="C65E4E"/>
            </a:solidFill>
            <a:prstDash val="solid"/>
            <a:tailEnd type="triangle"/>
          </a:ln>
        </p:spPr>
      </p:sp>
      <p:sp>
        <p:nvSpPr>
          <p:cNvPr id="41" name="Text 39"/>
          <p:cNvSpPr/>
          <p:nvPr/>
        </p:nvSpPr>
        <p:spPr>
          <a:xfrm>
            <a:off x="8101584" y="4599432"/>
            <a:ext cx="2926080" cy="320040"/>
          </a:xfrm>
          <a:prstGeom prst="rect">
            <a:avLst/>
          </a:prstGeom>
          <a:noFill/>
          <a:ln/>
        </p:spPr>
        <p:txBody>
          <a:bodyPr wrap="square" lIns="0" tIns="0" rIns="0" bIns="0" rtlCol="0" anchor="ctr">
            <a:normAutofit/>
          </a:bodyPr>
          <a:lstStyle/>
          <a:p>
            <a:pPr algn="ctr" indent="0" marL="0">
              <a:buNone/>
            </a:pPr>
            <a:r>
              <a:rPr lang="en-US" sz="1000" b="1" dirty="0">
                <a:solidFill>
                  <a:srgbClr val="1B3448"/>
                </a:solidFill>
                <a:latin typeface="Aptos" pitchFamily="34" charset="0"/>
                <a:ea typeface="Aptos" pitchFamily="34" charset="-122"/>
                <a:cs typeface="Aptos" pitchFamily="34" charset="-120"/>
              </a:rPr>
              <a:t>ACTUATOR  /  BUZZER</a:t>
            </a:r>
            <a:endParaRPr lang="en-US" sz="1000" dirty="0"/>
          </a:p>
        </p:txBody>
      </p:sp>
      <p:sp>
        <p:nvSpPr>
          <p:cNvPr id="42" name="Text 40"/>
          <p:cNvSpPr/>
          <p:nvPr/>
        </p:nvSpPr>
        <p:spPr>
          <a:xfrm>
            <a:off x="8046720" y="5129784"/>
            <a:ext cx="3154680" cy="566928"/>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Verify voltage, polarity, load current and channel limits</a:t>
            </a:r>
            <a:endParaRPr lang="en-US" sz="105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Draft the D1 evaluation paragraph</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Structure the evaluation as decision -&gt; strongest requirement-linked evidence -&gt; trade-off -&gt; alternative and why not selected -&gt; limitation/risk -&gt; mitigation -&gt; condition that would change the decision.</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Example logic: a documented counter feature supports the pill sensor; extra interface hardware may increase installed cost; the runner-up offers easier expansion; confirm sensor rate before final approval.</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Balance evidence: distinguish sourced product facts, student judgement, hypothetical analysis, and unresolved site/brief questions.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D1 conclusion: recommend a specific MedPack configuration conditionally where needed, explain why it is preferable now, and state what new evidence would trigger reconsideration.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DECISION METHOD</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Text 28"/>
          <p:cNvSpPr/>
          <p:nvPr/>
        </p:nvSpPr>
        <p:spPr>
          <a:xfrm>
            <a:off x="8101584" y="2660904"/>
            <a:ext cx="3063240" cy="320040"/>
          </a:xfrm>
          <a:prstGeom prst="rect">
            <a:avLst/>
          </a:prstGeom>
          <a:noFill/>
          <a:ln/>
        </p:spPr>
        <p:txBody>
          <a:bodyPr wrap="square" lIns="0" tIns="0" rIns="0" bIns="0" rtlCol="0" anchor="ctr">
            <a:normAutofit/>
          </a:bodyPr>
          <a:lstStyle/>
          <a:p>
            <a:pPr algn="ctr" indent="0" marL="0">
              <a:buNone/>
            </a:pPr>
            <a:r>
              <a:rPr lang="en-US" sz="920" b="1" dirty="0">
                <a:solidFill>
                  <a:srgbClr val="C65E4E"/>
                </a:solidFill>
                <a:latin typeface="Aptos" pitchFamily="34" charset="0"/>
                <a:ea typeface="Aptos" pitchFamily="34" charset="-122"/>
                <a:cs typeface="Aptos" pitchFamily="34" charset="-120"/>
              </a:rPr>
              <a:t>FIRST: PASS / FAIL MANDATORY GATES</a:t>
            </a:r>
            <a:endParaRPr lang="en-US" sz="920" dirty="0"/>
          </a:p>
        </p:txBody>
      </p:sp>
      <p:sp>
        <p:nvSpPr>
          <p:cNvPr id="31" name="Shape 29"/>
          <p:cNvSpPr/>
          <p:nvPr/>
        </p:nvSpPr>
        <p:spPr>
          <a:xfrm>
            <a:off x="8238744" y="3172968"/>
            <a:ext cx="1298448" cy="438912"/>
          </a:xfrm>
          <a:prstGeom prst="rect">
            <a:avLst/>
          </a:prstGeom>
          <a:solidFill>
            <a:srgbClr val="F4F8FA"/>
          </a:solidFill>
          <a:ln w="14605">
            <a:solidFill>
              <a:srgbClr val="C65E4E"/>
            </a:solidFill>
            <a:prstDash val="solid"/>
          </a:ln>
        </p:spPr>
      </p:sp>
      <p:sp>
        <p:nvSpPr>
          <p:cNvPr id="32" name="Text 30"/>
          <p:cNvSpPr/>
          <p:nvPr/>
        </p:nvSpPr>
        <p:spPr>
          <a:xfrm>
            <a:off x="8311896" y="322783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Electrical fit</a:t>
            </a:r>
            <a:endParaRPr lang="en-US" sz="920" dirty="0"/>
          </a:p>
        </p:txBody>
      </p:sp>
      <p:sp>
        <p:nvSpPr>
          <p:cNvPr id="33" name="Text 31"/>
          <p:cNvSpPr/>
          <p:nvPr/>
        </p:nvSpPr>
        <p:spPr>
          <a:xfrm>
            <a:off x="9793224" y="324612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4" name="Text 32"/>
          <p:cNvSpPr/>
          <p:nvPr/>
        </p:nvSpPr>
        <p:spPr>
          <a:xfrm>
            <a:off x="10323576" y="324612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5" name="Shape 33"/>
          <p:cNvSpPr/>
          <p:nvPr/>
        </p:nvSpPr>
        <p:spPr>
          <a:xfrm>
            <a:off x="8238744" y="3813048"/>
            <a:ext cx="1298448" cy="438912"/>
          </a:xfrm>
          <a:prstGeom prst="rect">
            <a:avLst/>
          </a:prstGeom>
          <a:solidFill>
            <a:srgbClr val="F4F8FA"/>
          </a:solidFill>
          <a:ln w="14605">
            <a:solidFill>
              <a:srgbClr val="C65E4E"/>
            </a:solidFill>
            <a:prstDash val="solid"/>
          </a:ln>
        </p:spPr>
      </p:sp>
      <p:sp>
        <p:nvSpPr>
          <p:cNvPr id="36" name="Text 34"/>
          <p:cNvSpPr/>
          <p:nvPr/>
        </p:nvSpPr>
        <p:spPr>
          <a:xfrm>
            <a:off x="8311896" y="386791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Required I/O</a:t>
            </a:r>
            <a:endParaRPr lang="en-US" sz="920" dirty="0"/>
          </a:p>
        </p:txBody>
      </p:sp>
      <p:sp>
        <p:nvSpPr>
          <p:cNvPr id="37" name="Text 35"/>
          <p:cNvSpPr/>
          <p:nvPr/>
        </p:nvSpPr>
        <p:spPr>
          <a:xfrm>
            <a:off x="9793224" y="388620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8" name="Text 36"/>
          <p:cNvSpPr/>
          <p:nvPr/>
        </p:nvSpPr>
        <p:spPr>
          <a:xfrm>
            <a:off x="10323576" y="388620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9" name="Shape 37"/>
          <p:cNvSpPr/>
          <p:nvPr/>
        </p:nvSpPr>
        <p:spPr>
          <a:xfrm>
            <a:off x="8238744" y="4453128"/>
            <a:ext cx="1298448" cy="438912"/>
          </a:xfrm>
          <a:prstGeom prst="rect">
            <a:avLst/>
          </a:prstGeom>
          <a:solidFill>
            <a:srgbClr val="F4F8FA"/>
          </a:solidFill>
          <a:ln w="14605">
            <a:solidFill>
              <a:srgbClr val="C65E4E"/>
            </a:solidFill>
            <a:prstDash val="solid"/>
          </a:ln>
        </p:spPr>
      </p:sp>
      <p:sp>
        <p:nvSpPr>
          <p:cNvPr id="40" name="Text 38"/>
          <p:cNvSpPr/>
          <p:nvPr/>
        </p:nvSpPr>
        <p:spPr>
          <a:xfrm>
            <a:off x="8311896" y="450799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Safety boundary</a:t>
            </a:r>
            <a:endParaRPr lang="en-US" sz="920" dirty="0"/>
          </a:p>
        </p:txBody>
      </p:sp>
      <p:sp>
        <p:nvSpPr>
          <p:cNvPr id="41" name="Text 39"/>
          <p:cNvSpPr/>
          <p:nvPr/>
        </p:nvSpPr>
        <p:spPr>
          <a:xfrm>
            <a:off x="9793224" y="452628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42" name="Text 40"/>
          <p:cNvSpPr/>
          <p:nvPr/>
        </p:nvSpPr>
        <p:spPr>
          <a:xfrm>
            <a:off x="10323576" y="452628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43" name="Shape 41"/>
          <p:cNvSpPr/>
          <p:nvPr/>
        </p:nvSpPr>
        <p:spPr>
          <a:xfrm>
            <a:off x="8211312" y="5276088"/>
            <a:ext cx="3108960" cy="0"/>
          </a:xfrm>
          <a:prstGeom prst="line">
            <a:avLst/>
          </a:prstGeom>
          <a:noFill/>
          <a:ln w="12700">
            <a:solidFill>
              <a:srgbClr val="D5E0E7"/>
            </a:solidFill>
            <a:prstDash val="solid"/>
          </a:ln>
        </p:spPr>
      </p:sp>
      <p:sp>
        <p:nvSpPr>
          <p:cNvPr id="44" name="Text 42"/>
          <p:cNvSpPr/>
          <p:nvPr/>
        </p:nvSpPr>
        <p:spPr>
          <a:xfrm>
            <a:off x="8156448" y="5404104"/>
            <a:ext cx="3200400" cy="411480"/>
          </a:xfrm>
          <a:prstGeom prst="rect">
            <a:avLst/>
          </a:prstGeom>
          <a:noFill/>
          <a:ln/>
        </p:spPr>
        <p:txBody>
          <a:bodyPr wrap="square" lIns="0" tIns="0" rIns="0" bIns="0" rtlCol="0" anchor="ctr">
            <a:normAutofit/>
          </a:bodyPr>
          <a:lstStyle/>
          <a:p>
            <a:pPr algn="ctr" indent="0" marL="0">
              <a:buNone/>
            </a:pPr>
            <a:r>
              <a:rPr lang="en-US" sz="1020" b="1" dirty="0">
                <a:solidFill>
                  <a:srgbClr val="1B3448"/>
                </a:solidFill>
                <a:latin typeface="Aptos" pitchFamily="34" charset="0"/>
                <a:ea typeface="Aptos" pitchFamily="34" charset="-122"/>
                <a:cs typeface="Aptos" pitchFamily="34" charset="-120"/>
              </a:rPr>
              <a:t>THEN weigh preferences with cited evidence</a:t>
            </a:r>
            <a:endParaRPr lang="en-US" sz="102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Selection panel simulation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Design engineer gives a concise recommendation with exact part number, one requirement-to-datasheet chain, I/O summary, and one limitation; peers take maintenance, production/quality, and assessor roles.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Maintenance asks about terminal access, manuals, software, spares, and recovery; production asks about target-count integrity and downtime; assessor asks for source pages and criterion evidence.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Panel challenge: explain critical fault/safety response, expansion configuration, full installed-cost basis, and why the runner-up is less suitable for this defined application.</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record each unsupported answer as a report action with an owner and evidence source; a confident answer without evidence remains an open issue.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65E4E"/>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Red-team review</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Red team selects one changed condition: higher verified pill event rate, extra confirmed I/O, different supply, product lifecycle withdrawal, or a documented cost ceiling.</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Presenter traces the change through affected requirement, exact candidate/module limit, decision status, and likely consequence; do not defend a model that now fails a mandatory gate.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Example answer: if new pulse evidence exceeds the documented input capability, propose a verified compatible high-speed input or re-open the shortlist and update cost/risk evidence.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Debrief: state whether the choice survives, needs a defined interface/configuration change, or triggers redesign, and record the threshold/source for that decision.</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65E4E"/>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P1: APPLICATION</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65E4E"/>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P2: COMPARISON</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65E4E"/>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M1: JUSTIFICATION</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65E4E"/>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D1: EVALUATION</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LO1 submission evidence audit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P1 audit: process description from operator start through pill sensing, actuator packaging, buzzer completion/error, E-stop/reset, plus functional requirements and safety/reliability/environment constraints.</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P2 audit: at least three models/manufacturers; matrix includes digital I/O, relay outputs, expansion, programming, UI, evidence-based reliability, cost, and wiring/installation/documentation/support/training factors.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M1/D1 audit: exact chosen model with datasheet evidence, summary I/O table, system block diagram, integration/expansion discussion, alternatives, trade-offs, genuine limitations, risks/mitigations, and structured rationale.</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action: identify one missing item, source or produce it, and check Harvard references and dated supplier evidence before report submission.</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65E4E"/>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P1: APPLICATION</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65E4E"/>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P2: COMPARISON</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65E4E"/>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M1: JUSTIFICATION</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65E4E"/>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D1: EVALUATION</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04    /    LO1</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M1 / D1</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Exit ticket: final recommendation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State manufacturer and exact CPU/module configuration; give two requirement-linked reasons with source/page rather than unsupported performance adjectives.</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Name one meaningful trade-off and one genuine risk with mitigation and residual concern, such as extra interface hardware or uncertain pulse margin.</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State one fact that could change the recommendation, identify how it will be verified, and explain the condition that would trigger a revised shortlist.</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Model response structure: “Select [exact model/configuration] for [verified needs]; evidence [sources]; trade-off [cost/complexity]; risk/mitigation [specific]; revisit if [measurable unknown is resolved differently].”</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65E4E"/>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P1: APPLICATION</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65E4E"/>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P2: COMPARISON</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65E4E"/>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M1: JUSTIFICATION</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65E4E"/>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D1: EVALUATION</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SELECTING AND EVALUATING A PLC</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04: Selecting and Evaluating a PLC</dc:title>
  <dc:subject>LO1 weekly teaching presentation</dc:subject>
  <dc:creator>Unit 5009 Teaching Materials</dc:creator>
  <cp:lastModifiedBy>Unit 5009 Teaching Materials</cp:lastModifiedBy>
  <cp:revision>1</cp:revision>
  <dcterms:created xsi:type="dcterms:W3CDTF">2026-10-13T19:42:18Z</dcterms:created>
  <dcterms:modified xsi:type="dcterms:W3CDTF">2026-10-13T19:42:18Z</dcterms:modified>
</cp:coreProperties>
</file>