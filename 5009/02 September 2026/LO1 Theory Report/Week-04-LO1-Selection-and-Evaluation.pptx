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1 of 18 | Suggested time: 5 minutes | Criteria: M1 / D1
TEACHING NOTES AND ACTIVITY CUES
1. Revisit the three exact candidate PLCs and the Week 1 application constraints.
2. Ask learners to nominate a provisional winner and identify the strongest reason against it.
IMAGE PROMPT
Create an original, technically plausible landscape visual for a vocational engineering presentation about Three candidates, one station. Show: Revisit the three exact candidate PLCs and the Week 1 application constraints. Ask learners to nominate a provisional winner and identify the strongest reason against it..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2 of 18 | Suggested time: 5 minutes | Criteria: M1 / D1
TEACHING NOTES AND ACTIVITY CUES
1. Contrast listing specifications with linking requirements to evidence and operational consequences.
IMAGE PROMPT
Create an original, technically plausible landscape visual for a vocational engineering presentation about From comparison to a defensible choice. Show: Contrast listing specifications with linking requirements to evidence and operational consequences..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3 of 18 | Suggested time: 5 minutes | Criteria: M1 / D1
TEACHING NOTES AND ACTIVITY CUES
1. P1/P2 remain necessary; M1 adds an explicit choice; D1 adds balanced evaluation and valid justification.
IMAGE PROMPT
Create an original, technically plausible landscape visual for a vocational engineering presentation about Criteria ladder: P1/P2 -&gt; M1 -&gt; D1. Show: P1/P2 remain necessary; M1 adds an explicit choice; D1 adds balanced evaluation and valid justification..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4 of 18 | Suggested time: 12 minutes | Criteria: M1 / D1
TEACHING NOTES AND ACTIVITY CUES
1. Demonstrate a traceability chain: requirement ID -&gt; measurable need -&gt; candidate feature -&gt; cited source -&gt; pass/conditional/fail decision.
2. Separate mandatory gates from scored preferences.
IMAGE PROMPT
Create an original, technically plausible landscape visual for a vocational engineering presentation about Requirements traceability. Show: Demonstrate a traceability chain: requirement ID -&gt; measurable need -&gt; candidate feature -&gt; cited source -&gt; pass/conditional/fail decision. Separate mandatory gates from scored preferences..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5 of 18 | Suggested time: 13 minutes | Criteria: M1 / D1
TEACHING NOTES AND ACTIVITY CUES
1. Choose criteria and weights before scoring; explain why weights reflect MedPack consequences.
2. Exclude any candidate that fails a mandatory safety/electrical/functional requirement.
3. Keep scoring definitions consistent, evidence-based, and visible.
IMAGE PROMPT
Create an original, technically plausible landscape visual for a vocational engineering presentation about Set up a weighted decision matrix. Show: Choose criteria and weights before scoring; explain why weights reflect MedPack consequences. Exclude any candidate that fails a mandatory safety/electrical/functional requirement..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6 of 18 | Suggested time: 12 minutes | Criteria: M1 / D1
TEACHING NOTES AND ACTIVITY CUES
1. Label confidence and unknowns; avoid false precision in a subjective score.
2. Recalculate after changing one uncertain weight or requirement.
3. Ask whether the same candidate remains preferred and what that reveals.
IMAGE PROMPT
Create an original, technically plausible landscape visual for a vocational engineering presentation about Scoring uncertainty and sensitivity. Show: Label confidence and unknowns; avoid false precision in a subjective score. Recalculate after changing one uncertain weight or requirement..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7 of 18 | Suggested time: 13 minutes | Criteria: M1 / D1
TEACHING NOTES AND ACTIVITY CUES
1. Compare CPU, I/O modules, software/licensing, network equipment, engineering, training, spares, and expected maintenance.
2. Record dated supplier quote, currency, included hardware, shipping/tax assumptions, and source.
3. Treat reliability claims carefully; use evidence and explicitly state limitations.
IMAGE PROMPT
Create an original, technically plausible landscape visual for a vocational engineering presentation about Use lifecycle cost and support evidence. Show: Compare CPU, I/O modules, software/licensing, network equipment, engineering, training, spares, and expected maintenance. Record dated supplier quote, currency, included hardware, shipping/tax assumptions, and source..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8 of 18 | Suggested time: 10 minutes | Criteria: M1 / D1
TEACHING NOTES AND ACTIVITY CUES
1. Create a direct chosen-versus-runner-up table for I/O, output type, expansion, speed, memory, communications, software, support, and cost.
2. Explain why an alternative's strengths do or do not outweigh its disadvantages for this station.
IMAGE PROMPT
Create an original, technically plausible landscape visual for a vocational engineering presentation about Compare the chosen PLC with alternatives. Show: Create a direct chosen-versus-runner-up table for I/O, output type, expansion, speed, memory, communications, software, support, and cost. Explain why an alternative's strengths do or do not outweigh its disadvantages for this station..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9 of 18 | Suggested time: 15 minutes | Criteria: M1 / D1
TEACHING NOTES AND ACTIVITY CUES
1. Populate risk, consequence, evidence/likelihood, mitigation, owner, and residual concern.
2. Examples to test against evidence: output capacity, pulse handling, support lifecycle, vendor dependence, network requirements, and power-loss recovery.
3. Include at least one genuine limitation of the chosen PLC.
IMAGE PROMPT
Create an original, technically plausible landscape visual for a vocational engineering presentation about Risks, limitations, and mitigations. Show: Populate risk, consequence, evidence/likelihood, mitigation, owner, and residual concern. Examples to test against evidence: output capacity, pulse handling, support lifecycle, vendor dependence, network requirements, and power-loss recovery..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10 of 18 | Suggested time: 10 minutes | Criteria: M1 / D1
TEACHING NOTES AND ACTIVITY CUES
1. Identify standards/regulatory topics relevant to machinery risk, electrical design, functional safety, and pharmaceutical quality records only where applicable.
2. Verify edition and applicability with assessor/site requirements; do not claim certification from a PLC datasheet as proof of machine compliance.
3. Explain the separate safety architecture and the ordinary PLC's monitoring role.
IMAGE PROMPT
Create an original, technically plausible landscape visual for a vocational engineering presentation about Standards and safety boundaries. Show: Identify standards/regulatory topics relevant to machinery risk, electrical design, functional safety, and pharmaceutical quality records only where applicable. Verify edition and applicability with assessor/site requirements; do not claim certification from a PLC datasheet as proof of machine compliance..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11 of 18 | Suggested time: 10 minutes | Criteria: M1 / D1
TEACHING NOTES AND ACTIVITY CUES
1. Use: "The application requires ...; the selected model provides ... (source/page); therefore ...; this is suitable because ... ."
2. Include exact part number, module configuration, evidence, and any condition/assumption.
IMAGE PROMPT
Create an original, technically plausible landscape visual for a vocational engineering presentation about Write the M1 justification. Show: Use: "The application requires ...; the selected model provides ... (source/page); therefore ...; this is suitable because ... ." Include exact part number, module configuration, evidence, and any condition/assumption..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12 of 18 | Suggested time: 15 minutes | Criteria: M1 / D1
TEACHING NOTES AND ACTIVITY CUES
1. Fields: address/tag, device, DI/DO/AI/AO, signal type, normal state/range, selected PLC terminal/module, load/interface, and notes.
2. Check point count and electrical compatibility against actual manuals.
3. Mark safety-related signals and avoid implying standard PLC logic provides the safety function.
IMAGE PROMPT
Create an original, technically plausible landscape visual for a vocational engineering presentation about Create the I/O summary table. Show: Fields: address/tag, device, DI/DO/AI/AO, signal type, normal state/range, selected PLC terminal/module, load/interface, and notes. Check point count and electrical compatibility against actual manuals..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13 of 18 | Suggested time: 10 minutes | Criteria: M1 / D1
TEACHING NOTES AND ACTIVITY CUES
1. Include PLC CPU, local/remote I/O if used, power, sensor, actuator/driver, buzzer, HMI/SCADA interface, and safety-system boundary.
2. Label signal type and communications path; show future expansion separately.
IMAGE PROMPT
Create an original, technically plausible landscape visual for a vocational engineering presentation about Draw the system block diagram. Show: Include PLC CPU, local/remote I/O if used, power, sensor, actuator/driver, buzzer, HMI/SCADA interface, and safety-system boundary. Label signal type and communications path; show future expansion separately..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14 of 18 | Suggested time: 10 minutes | Criteria: M1 / D1
TEACHING NOTES AND ACTIVITY CUES
1. Structure: decision -&gt; strongest evidence -&gt; trade-off -&gt; alternative rejected -&gt; limitation/risk -&gt; mitigation -&gt; condition that could change the decision.
2. Require a scenario-specific conclusion, not a generic endorsement.
IMAGE PROMPT
Create an original, technically plausible landscape visual for a vocational engineering presentation about Draft the D1 evaluation paragraph. Show: Structure: decision -&gt; strongest evidence -&gt; trade-off -&gt; alternative rejected -&gt; limitation/risk -&gt; mitigation -&gt; condition that could change the decision. Require a scenario-specific conclusion, not a generic endorsement..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15 of 18 | Suggested time: 20 minutes | Criteria: M1 / D1
TEACHING NOTES AND ACTIVITY CUES
1. One student presents as design engineer; peers play maintenance, production, and assessor roles.
2. Questions: why this PLC, what happens on the critical fault, how is expansion handled, what is the true installed cost, and why not the runner-up?
3. Record answers that need better evidence.
IMAGE PROMPT
Create an original, technically plausible landscape visual for a vocational engineering presentation about Selection panel simulation. Show: One student presents as design engineer; peers play maintenance, production, and assessor roles. Questions: why this PLC, what happens on the critical fault, how is expansion handled, what is the true installed cost, and why not the runner-up?.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16 of 18 | Suggested time: 20 minutes | Criteria: M1 / D1
TEACHING NOTES AND ACTIVITY CUES
1. Another group tries to invalidate the selection using a plausible changed requirement (higher pulse rate, extra I/O, different supply, discontinued part, or cost limit).
2. Presenter explains whether the selection survives or what condition would trigger redesign.
IMAGE PROMPT
Create an original, technically plausible landscape visual for a vocational engineering presentation about Red-team review. Show: Another group tries to invalidate the selection using a plausible changed requirement (higher pulse rate, extra I/O, different supply, discontinued part, or cost limit). Presenter explains whether the selection survives or what condition would trigger redesign..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17 of 18 | Suggested time: 7 minutes | Criteria: M1 / D1
TEACHING NOTES AND ACTIVITY CUES
1. P1: process and requirements; P2: three-model comparison; M1: chosen PLC, datasheets, I/O table, diagram; D1: balanced trade-offs, alternatives, risks, mitigation, structured rationale.
2. Identify one missing item before report submission.
IMAGE PROMPT
Create an original, technically plausible landscape visual for a vocational engineering presentation about LO1 submission evidence audit. Show: P1: process and requirements; P2: three-model comparison; M1: chosen PLC, datasheets, I/O table, diagram; D1: balanced trade-offs, alternatives, risks, mitigation, structured rationale. Identify one missing item before report submission..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and Evaluating a PLC | Week 04 | LO1
Slide 18 of 18 | Suggested time: 8 minutes | Criteria: M1 / D1
TEACHING NOTES AND ACTIVITY CUES
1. State exact model, two evidence-backed reasons, one trade-off, one risk/mitigation, and one fact that could change the recommendation.
IMAGE PROMPT
Create an original, technically plausible landscape visual for a vocational engineering presentation about Exit ticket: final recommendation. Show: State exact model, two evidence-backed reasons, one trade-off, one risk/mitigation, and one fact that could change the recommendation..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Three candidates, one station</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Revisit the three exact candidate PLCs and the Week 1 application constraints.</a:t>
            </a:r>
            <a:endParaRPr lang="en-US" sz="1650" dirty="0"/>
          </a:p>
        </p:txBody>
      </p:sp>
      <p:sp>
        <p:nvSpPr>
          <p:cNvPr id="13" name="Shape 11"/>
          <p:cNvSpPr/>
          <p:nvPr/>
        </p:nvSpPr>
        <p:spPr>
          <a:xfrm>
            <a:off x="713232" y="2816352"/>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Ask learners to nominate a provisional winner and identify the strongest reason against it.</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Three candidates, one station</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01 / 18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From comparison to a defensible choice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Contrast listing specifications with linking requirements to evidence and operational consequences.</a:t>
            </a:r>
            <a:endParaRPr lang="en-US" sz="1650" dirty="0"/>
          </a:p>
        </p:txBody>
      </p:sp>
      <p:sp>
        <p:nvSpPr>
          <p:cNvPr id="13" name="Shape 11"/>
          <p:cNvSpPr/>
          <p:nvPr/>
        </p:nvSpPr>
        <p:spPr>
          <a:xfrm>
            <a:off x="7644384" y="1746504"/>
            <a:ext cx="3941064" cy="4352544"/>
          </a:xfrm>
          <a:prstGeom prst="rect">
            <a:avLst/>
          </a:prstGeom>
          <a:solidFill>
            <a:srgbClr val="E8EFF3"/>
          </a:solidFill>
          <a:ln w="15240">
            <a:solidFill>
              <a:srgbClr val="C8D5DE"/>
            </a:solidFill>
            <a:prstDash val="solid"/>
          </a:ln>
        </p:spPr>
      </p:sp>
      <p:sp>
        <p:nvSpPr>
          <p:cNvPr id="14" name="Text 12"/>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5" name="Text 13"/>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6" name="Text 14"/>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7" name="Shape 15"/>
          <p:cNvSpPr/>
          <p:nvPr/>
        </p:nvSpPr>
        <p:spPr>
          <a:xfrm>
            <a:off x="7845552" y="5111496"/>
            <a:ext cx="3538728" cy="0"/>
          </a:xfrm>
          <a:prstGeom prst="line">
            <a:avLst/>
          </a:prstGeom>
          <a:noFill/>
          <a:ln w="12700">
            <a:solidFill>
              <a:srgbClr val="C8D5DE"/>
            </a:solidFill>
            <a:prstDash val="solid"/>
          </a:ln>
        </p:spPr>
      </p:sp>
      <p:sp>
        <p:nvSpPr>
          <p:cNvPr id="18" name="Text 16"/>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From comparison to a defensible choice</a:t>
            </a:r>
            <a:endParaRPr lang="en-US" sz="1050" dirty="0"/>
          </a:p>
        </p:txBody>
      </p:sp>
      <p:sp>
        <p:nvSpPr>
          <p:cNvPr id="19" name="Text 17"/>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0" name="Shape 18"/>
          <p:cNvSpPr/>
          <p:nvPr/>
        </p:nvSpPr>
        <p:spPr>
          <a:xfrm>
            <a:off x="603504" y="6318504"/>
            <a:ext cx="10972800" cy="0"/>
          </a:xfrm>
          <a:prstGeom prst="line">
            <a:avLst/>
          </a:prstGeom>
          <a:noFill/>
          <a:ln w="10160">
            <a:solidFill>
              <a:srgbClr val="D5E0E7"/>
            </a:solidFill>
            <a:prstDash val="solid"/>
          </a:ln>
        </p:spPr>
      </p:sp>
      <p:sp>
        <p:nvSpPr>
          <p:cNvPr id="21" name="Text 19"/>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2" name="Text 20"/>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Criteria ladder: P1/P2 -&gt; M1 -&gt; D1</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P1/P2 remain necessary; M1 adds an explicit choice; D1 adds balanced evaluation and valid justification.</a:t>
            </a:r>
            <a:endParaRPr lang="en-US" sz="1650" dirty="0"/>
          </a:p>
        </p:txBody>
      </p:sp>
      <p:sp>
        <p:nvSpPr>
          <p:cNvPr id="13" name="Shape 11"/>
          <p:cNvSpPr/>
          <p:nvPr/>
        </p:nvSpPr>
        <p:spPr>
          <a:xfrm>
            <a:off x="7644384" y="1746504"/>
            <a:ext cx="3941064" cy="4352544"/>
          </a:xfrm>
          <a:prstGeom prst="rect">
            <a:avLst/>
          </a:prstGeom>
          <a:solidFill>
            <a:srgbClr val="E8EFF3"/>
          </a:solidFill>
          <a:ln w="15240">
            <a:solidFill>
              <a:srgbClr val="C8D5DE"/>
            </a:solidFill>
            <a:prstDash val="solid"/>
          </a:ln>
        </p:spPr>
      </p:sp>
      <p:sp>
        <p:nvSpPr>
          <p:cNvPr id="14" name="Text 12"/>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5" name="Text 13"/>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6" name="Text 14"/>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7" name="Shape 15"/>
          <p:cNvSpPr/>
          <p:nvPr/>
        </p:nvSpPr>
        <p:spPr>
          <a:xfrm>
            <a:off x="7845552" y="5111496"/>
            <a:ext cx="3538728" cy="0"/>
          </a:xfrm>
          <a:prstGeom prst="line">
            <a:avLst/>
          </a:prstGeom>
          <a:noFill/>
          <a:ln w="12700">
            <a:solidFill>
              <a:srgbClr val="C8D5DE"/>
            </a:solidFill>
            <a:prstDash val="solid"/>
          </a:ln>
        </p:spPr>
      </p:sp>
      <p:sp>
        <p:nvSpPr>
          <p:cNvPr id="18" name="Text 16"/>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Criteria ladder: P1/P2 -&gt; M1 -&gt; D1</a:t>
            </a:r>
            <a:endParaRPr lang="en-US" sz="1050" dirty="0"/>
          </a:p>
        </p:txBody>
      </p:sp>
      <p:sp>
        <p:nvSpPr>
          <p:cNvPr id="19" name="Text 17"/>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0" name="Shape 18"/>
          <p:cNvSpPr/>
          <p:nvPr/>
        </p:nvSpPr>
        <p:spPr>
          <a:xfrm>
            <a:off x="603504" y="6318504"/>
            <a:ext cx="10972800" cy="0"/>
          </a:xfrm>
          <a:prstGeom prst="line">
            <a:avLst/>
          </a:prstGeom>
          <a:noFill/>
          <a:ln w="10160">
            <a:solidFill>
              <a:srgbClr val="D5E0E7"/>
            </a:solidFill>
            <a:prstDash val="solid"/>
          </a:ln>
        </p:spPr>
      </p:sp>
      <p:sp>
        <p:nvSpPr>
          <p:cNvPr id="21" name="Text 19"/>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2" name="Text 20"/>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12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Requirements traceability</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Demonstrate a traceability chain: requirement ID -&gt; measurable need -&gt; candidate feature -&gt; cited source -&gt; pass/conditional/fail decision.</a:t>
            </a:r>
            <a:endParaRPr lang="en-US" sz="1650" dirty="0"/>
          </a:p>
        </p:txBody>
      </p:sp>
      <p:sp>
        <p:nvSpPr>
          <p:cNvPr id="13" name="Shape 11"/>
          <p:cNvSpPr/>
          <p:nvPr/>
        </p:nvSpPr>
        <p:spPr>
          <a:xfrm>
            <a:off x="713232" y="3054096"/>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944368"/>
            <a:ext cx="6327648" cy="329184"/>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Separate mandatory gates from scored preferences.</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Requirements traceability</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13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Set up a weighted decision matrix</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Choose criteria and weights before scoring; explain why weights reflect MedPack consequences.</a:t>
            </a:r>
            <a:endParaRPr lang="en-US" sz="1650" dirty="0"/>
          </a:p>
        </p:txBody>
      </p:sp>
      <p:sp>
        <p:nvSpPr>
          <p:cNvPr id="13" name="Shape 11"/>
          <p:cNvSpPr/>
          <p:nvPr/>
        </p:nvSpPr>
        <p:spPr>
          <a:xfrm>
            <a:off x="713232" y="2816352"/>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Exclude any candidate that fails a mandatory safety/electrical/functional requirement.</a:t>
            </a:r>
            <a:endParaRPr lang="en-US" sz="1650" dirty="0"/>
          </a:p>
        </p:txBody>
      </p:sp>
      <p:sp>
        <p:nvSpPr>
          <p:cNvPr id="15" name="Shape 13"/>
          <p:cNvSpPr/>
          <p:nvPr/>
        </p:nvSpPr>
        <p:spPr>
          <a:xfrm>
            <a:off x="713232" y="3493008"/>
            <a:ext cx="100584" cy="100584"/>
          </a:xfrm>
          <a:prstGeom prst="ellipse">
            <a:avLst/>
          </a:prstGeom>
          <a:solidFill>
            <a:srgbClr val="C65E4E"/>
          </a:solidFill>
          <a:ln w="12700">
            <a:solidFill>
              <a:srgbClr val="C65E4E">
                <a:alpha val="0"/>
              </a:srgbClr>
            </a:solidFill>
            <a:prstDash val="solid"/>
          </a:ln>
        </p:spPr>
      </p:sp>
      <p:sp>
        <p:nvSpPr>
          <p:cNvPr id="16" name="Text 14"/>
          <p:cNvSpPr/>
          <p:nvPr/>
        </p:nvSpPr>
        <p:spPr>
          <a:xfrm>
            <a:off x="969264" y="3383280"/>
            <a:ext cx="6327648" cy="329184"/>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Keep scoring definitions consistent, evidence-based, and visible.</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Set up a weighted decision matrix</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12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Scoring uncertainty and sensitivity</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Label confidence and unknowns; avoid false precision in a subjective score.</a:t>
            </a:r>
            <a:endParaRPr lang="en-US" sz="1650" dirty="0"/>
          </a:p>
        </p:txBody>
      </p:sp>
      <p:sp>
        <p:nvSpPr>
          <p:cNvPr id="13" name="Shape 11"/>
          <p:cNvSpPr/>
          <p:nvPr/>
        </p:nvSpPr>
        <p:spPr>
          <a:xfrm>
            <a:off x="713232" y="2816352"/>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706624"/>
            <a:ext cx="6327648" cy="329184"/>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Recalculate after changing one uncertain weight or requirement.</a:t>
            </a:r>
            <a:endParaRPr lang="en-US" sz="1650" dirty="0"/>
          </a:p>
        </p:txBody>
      </p:sp>
      <p:sp>
        <p:nvSpPr>
          <p:cNvPr id="15" name="Shape 13"/>
          <p:cNvSpPr/>
          <p:nvPr/>
        </p:nvSpPr>
        <p:spPr>
          <a:xfrm>
            <a:off x="713232" y="3255264"/>
            <a:ext cx="100584" cy="100584"/>
          </a:xfrm>
          <a:prstGeom prst="ellipse">
            <a:avLst/>
          </a:prstGeom>
          <a:solidFill>
            <a:srgbClr val="C65E4E"/>
          </a:solidFill>
          <a:ln w="12700">
            <a:solidFill>
              <a:srgbClr val="C65E4E">
                <a:alpha val="0"/>
              </a:srgbClr>
            </a:solidFill>
            <a:prstDash val="solid"/>
          </a:ln>
        </p:spPr>
      </p:sp>
      <p:sp>
        <p:nvSpPr>
          <p:cNvPr id="16" name="Text 14"/>
          <p:cNvSpPr/>
          <p:nvPr/>
        </p:nvSpPr>
        <p:spPr>
          <a:xfrm>
            <a:off x="969264" y="3145536"/>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Ask whether the same candidate remains preferred and what that reveals.</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Scoring uncertainty and sensitivity</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13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Use lifecycle cost and support evidence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Compare CPU, I/O modules, software/licensing, network equipment, engineering, training, spares, and expected maintenance.</a:t>
            </a:r>
            <a:endParaRPr lang="en-US" sz="1650" dirty="0"/>
          </a:p>
        </p:txBody>
      </p:sp>
      <p:sp>
        <p:nvSpPr>
          <p:cNvPr id="13" name="Shape 11"/>
          <p:cNvSpPr/>
          <p:nvPr/>
        </p:nvSpPr>
        <p:spPr>
          <a:xfrm>
            <a:off x="713232" y="2816352"/>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Record dated supplier quote, currency, included hardware, shipping/tax assumptions, and source.</a:t>
            </a:r>
            <a:endParaRPr lang="en-US" sz="1650" dirty="0"/>
          </a:p>
        </p:txBody>
      </p:sp>
      <p:sp>
        <p:nvSpPr>
          <p:cNvPr id="15" name="Shape 13"/>
          <p:cNvSpPr/>
          <p:nvPr/>
        </p:nvSpPr>
        <p:spPr>
          <a:xfrm>
            <a:off x="713232" y="3493008"/>
            <a:ext cx="100584" cy="100584"/>
          </a:xfrm>
          <a:prstGeom prst="ellipse">
            <a:avLst/>
          </a:prstGeom>
          <a:solidFill>
            <a:srgbClr val="C65E4E"/>
          </a:solidFill>
          <a:ln w="12700">
            <a:solidFill>
              <a:srgbClr val="C65E4E">
                <a:alpha val="0"/>
              </a:srgbClr>
            </a:solidFill>
            <a:prstDash val="solid"/>
          </a:ln>
        </p:spPr>
      </p:sp>
      <p:sp>
        <p:nvSpPr>
          <p:cNvPr id="16" name="Text 14"/>
          <p:cNvSpPr/>
          <p:nvPr/>
        </p:nvSpPr>
        <p:spPr>
          <a:xfrm>
            <a:off x="969264" y="3383280"/>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Treat reliability claims carefully; use evidence and explicitly state limitations.</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Use lifecycle cost and support evidence</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Compare the chosen PLC with alternatives</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Create a direct chosen-versus-runner-up table for I/O, output type, expansion, speed, memory, communications, software, support, and cost.</a:t>
            </a:r>
            <a:endParaRPr lang="en-US" sz="1650" dirty="0"/>
          </a:p>
        </p:txBody>
      </p:sp>
      <p:sp>
        <p:nvSpPr>
          <p:cNvPr id="13" name="Shape 11"/>
          <p:cNvSpPr/>
          <p:nvPr/>
        </p:nvSpPr>
        <p:spPr>
          <a:xfrm>
            <a:off x="713232" y="3054096"/>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9443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Explain why an alternative's strengths do or do not outweigh its disadvantages for this station.</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Compare the chosen PLC with alternatives</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Risks, limitations, and mitigations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Populate risk, consequence, evidence/likelihood, mitigation, owner, and residual concern.</a:t>
            </a:r>
            <a:endParaRPr lang="en-US" sz="1650" dirty="0"/>
          </a:p>
        </p:txBody>
      </p:sp>
      <p:sp>
        <p:nvSpPr>
          <p:cNvPr id="13" name="Shape 11"/>
          <p:cNvSpPr/>
          <p:nvPr/>
        </p:nvSpPr>
        <p:spPr>
          <a:xfrm>
            <a:off x="713232" y="2816352"/>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706624"/>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Examples to test against evidence: output capacity, pulse handling, support lifecycle, vendor dependence, network requirements, and power-loss recovery.</a:t>
            </a:r>
            <a:endParaRPr lang="en-US" sz="1650" dirty="0"/>
          </a:p>
        </p:txBody>
      </p:sp>
      <p:sp>
        <p:nvSpPr>
          <p:cNvPr id="15" name="Shape 13"/>
          <p:cNvSpPr/>
          <p:nvPr/>
        </p:nvSpPr>
        <p:spPr>
          <a:xfrm>
            <a:off x="713232" y="3730752"/>
            <a:ext cx="100584" cy="100584"/>
          </a:xfrm>
          <a:prstGeom prst="ellipse">
            <a:avLst/>
          </a:prstGeom>
          <a:solidFill>
            <a:srgbClr val="C65E4E"/>
          </a:solidFill>
          <a:ln w="12700">
            <a:solidFill>
              <a:srgbClr val="C65E4E">
                <a:alpha val="0"/>
              </a:srgbClr>
            </a:solidFill>
            <a:prstDash val="solid"/>
          </a:ln>
        </p:spPr>
      </p:sp>
      <p:sp>
        <p:nvSpPr>
          <p:cNvPr id="16" name="Text 14"/>
          <p:cNvSpPr/>
          <p:nvPr/>
        </p:nvSpPr>
        <p:spPr>
          <a:xfrm>
            <a:off x="969264" y="3621024"/>
            <a:ext cx="6327648" cy="329184"/>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Include at least one genuine limitation of the chosen PLC.</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Risks, limitations, and mitigations</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Standards and safety boundaries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Identify standards/regulatory topics relevant to machinery risk, electrical design, functional safety, and pharmaceutical quality records only where applicable.</a:t>
            </a:r>
            <a:endParaRPr lang="en-US" sz="1650" dirty="0"/>
          </a:p>
        </p:txBody>
      </p:sp>
      <p:sp>
        <p:nvSpPr>
          <p:cNvPr id="13" name="Shape 11"/>
          <p:cNvSpPr/>
          <p:nvPr/>
        </p:nvSpPr>
        <p:spPr>
          <a:xfrm>
            <a:off x="713232" y="3054096"/>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9443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Verify edition and applicability with assessor/site requirements; do not claim certification from a PLC datasheet as proof of machine compliance.</a:t>
            </a:r>
            <a:endParaRPr lang="en-US" sz="1650" dirty="0"/>
          </a:p>
        </p:txBody>
      </p:sp>
      <p:sp>
        <p:nvSpPr>
          <p:cNvPr id="15" name="Shape 13"/>
          <p:cNvSpPr/>
          <p:nvPr/>
        </p:nvSpPr>
        <p:spPr>
          <a:xfrm>
            <a:off x="713232" y="3968496"/>
            <a:ext cx="100584" cy="100584"/>
          </a:xfrm>
          <a:prstGeom prst="ellipse">
            <a:avLst/>
          </a:prstGeom>
          <a:solidFill>
            <a:srgbClr val="C65E4E"/>
          </a:solidFill>
          <a:ln w="12700">
            <a:solidFill>
              <a:srgbClr val="C65E4E">
                <a:alpha val="0"/>
              </a:srgbClr>
            </a:solidFill>
            <a:prstDash val="solid"/>
          </a:ln>
        </p:spPr>
      </p:sp>
      <p:sp>
        <p:nvSpPr>
          <p:cNvPr id="16" name="Text 14"/>
          <p:cNvSpPr/>
          <p:nvPr/>
        </p:nvSpPr>
        <p:spPr>
          <a:xfrm>
            <a:off x="969264" y="38587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Explain the separate safety architecture and the ordinary PLC's monitoring role.</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Standards and safety boundaries</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Write the M1 justification</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Use: "The application requires ...; the selected model provides ... (source/page); therefore ...; this is suitable because ... ."</a:t>
            </a:r>
            <a:endParaRPr lang="en-US" sz="1650" dirty="0"/>
          </a:p>
        </p:txBody>
      </p:sp>
      <p:sp>
        <p:nvSpPr>
          <p:cNvPr id="13" name="Shape 11"/>
          <p:cNvSpPr/>
          <p:nvPr/>
        </p:nvSpPr>
        <p:spPr>
          <a:xfrm>
            <a:off x="713232" y="2816352"/>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Include exact part number, module configuration, evidence, and any condition/assumption.</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Write the M1 justification</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Create the I/O summary table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Fields: address/tag, device, DI/DO/AI/AO, signal type, normal state/range, selected PLC terminal/module, load/interface, and notes.</a:t>
            </a:r>
            <a:endParaRPr lang="en-US" sz="1650" dirty="0"/>
          </a:p>
        </p:txBody>
      </p:sp>
      <p:sp>
        <p:nvSpPr>
          <p:cNvPr id="13" name="Shape 11"/>
          <p:cNvSpPr/>
          <p:nvPr/>
        </p:nvSpPr>
        <p:spPr>
          <a:xfrm>
            <a:off x="713232" y="2816352"/>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Check point count and electrical compatibility against actual manuals.</a:t>
            </a:r>
            <a:endParaRPr lang="en-US" sz="1650" dirty="0"/>
          </a:p>
        </p:txBody>
      </p:sp>
      <p:sp>
        <p:nvSpPr>
          <p:cNvPr id="15" name="Shape 13"/>
          <p:cNvSpPr/>
          <p:nvPr/>
        </p:nvSpPr>
        <p:spPr>
          <a:xfrm>
            <a:off x="713232" y="3493008"/>
            <a:ext cx="100584" cy="100584"/>
          </a:xfrm>
          <a:prstGeom prst="ellipse">
            <a:avLst/>
          </a:prstGeom>
          <a:solidFill>
            <a:srgbClr val="C65E4E"/>
          </a:solidFill>
          <a:ln w="12700">
            <a:solidFill>
              <a:srgbClr val="C65E4E">
                <a:alpha val="0"/>
              </a:srgbClr>
            </a:solidFill>
            <a:prstDash val="solid"/>
          </a:ln>
        </p:spPr>
      </p:sp>
      <p:sp>
        <p:nvSpPr>
          <p:cNvPr id="16" name="Text 14"/>
          <p:cNvSpPr/>
          <p:nvPr/>
        </p:nvSpPr>
        <p:spPr>
          <a:xfrm>
            <a:off x="969264" y="3383280"/>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Mark safety-related signals and avoid implying standard PLC logic provides the safety function.</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Create the I/O summary table</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Draw the system block diagram</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Include PLC CPU, local/remote I/O if used, power, sensor, actuator/driver, buzzer, HMI/SCADA interface, and safety-system boundary.</a:t>
            </a:r>
            <a:endParaRPr lang="en-US" sz="1650" dirty="0"/>
          </a:p>
        </p:txBody>
      </p:sp>
      <p:sp>
        <p:nvSpPr>
          <p:cNvPr id="13" name="Shape 11"/>
          <p:cNvSpPr/>
          <p:nvPr/>
        </p:nvSpPr>
        <p:spPr>
          <a:xfrm>
            <a:off x="713232" y="2816352"/>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Label signal type and communications path; show future expansion separately.</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Draw the system block diagram</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Draft the D1 evaluation paragraph</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Structure: decision -&gt; strongest evidence -&gt; trade-off -&gt; alternative rejected -&gt; limitation/risk -&gt; mitigation -&gt; condition that could change the decision.</a:t>
            </a:r>
            <a:endParaRPr lang="en-US" sz="1650" dirty="0"/>
          </a:p>
        </p:txBody>
      </p:sp>
      <p:sp>
        <p:nvSpPr>
          <p:cNvPr id="13" name="Shape 11"/>
          <p:cNvSpPr/>
          <p:nvPr/>
        </p:nvSpPr>
        <p:spPr>
          <a:xfrm>
            <a:off x="713232" y="3054096"/>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944368"/>
            <a:ext cx="6327648" cy="329184"/>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Require a scenario-specific conclusion, not a generic endorsement.</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Draft the D1 evaluation paragraph</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20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Selection panel simulation</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One student presents as design engineer; peers play maintenance, production, and assessor roles.</a:t>
            </a:r>
            <a:endParaRPr lang="en-US" sz="1650" dirty="0"/>
          </a:p>
        </p:txBody>
      </p:sp>
      <p:sp>
        <p:nvSpPr>
          <p:cNvPr id="13" name="Shape 11"/>
          <p:cNvSpPr/>
          <p:nvPr/>
        </p:nvSpPr>
        <p:spPr>
          <a:xfrm>
            <a:off x="713232" y="2816352"/>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706624"/>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Questions: why this PLC, what happens on the critical fault, how is expansion handled, what is the true installed cost, and why not the...</a:t>
            </a:r>
            <a:endParaRPr lang="en-US" sz="1650" dirty="0"/>
          </a:p>
        </p:txBody>
      </p:sp>
      <p:sp>
        <p:nvSpPr>
          <p:cNvPr id="15" name="Shape 13"/>
          <p:cNvSpPr/>
          <p:nvPr/>
        </p:nvSpPr>
        <p:spPr>
          <a:xfrm>
            <a:off x="713232" y="3730752"/>
            <a:ext cx="100584" cy="100584"/>
          </a:xfrm>
          <a:prstGeom prst="ellipse">
            <a:avLst/>
          </a:prstGeom>
          <a:solidFill>
            <a:srgbClr val="C65E4E"/>
          </a:solidFill>
          <a:ln w="12700">
            <a:solidFill>
              <a:srgbClr val="C65E4E">
                <a:alpha val="0"/>
              </a:srgbClr>
            </a:solidFill>
            <a:prstDash val="solid"/>
          </a:ln>
        </p:spPr>
      </p:sp>
      <p:sp>
        <p:nvSpPr>
          <p:cNvPr id="16" name="Text 14"/>
          <p:cNvSpPr/>
          <p:nvPr/>
        </p:nvSpPr>
        <p:spPr>
          <a:xfrm>
            <a:off x="969264" y="3621024"/>
            <a:ext cx="6327648" cy="329184"/>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Record answers that need better evidence.</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Selection panel simulation</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20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Red-team review</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Another group tries to invalidate the selection using a plausible changed requirement (higher pulse rate, extra I/O, different supply, discontinued part, or cost limit).</a:t>
            </a:r>
            <a:endParaRPr lang="en-US" sz="1650" dirty="0"/>
          </a:p>
        </p:txBody>
      </p:sp>
      <p:sp>
        <p:nvSpPr>
          <p:cNvPr id="13" name="Shape 11"/>
          <p:cNvSpPr/>
          <p:nvPr/>
        </p:nvSpPr>
        <p:spPr>
          <a:xfrm>
            <a:off x="713232" y="3054096"/>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9443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Presenter explains whether the selection survives or what condition would trigger redesign.</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Red-team review</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7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LO1 submission evidence audit</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P1: process and requirements; P2: three-model comparison; M1: chosen PLC, datasheets, I/O table, diagram; D1: balanced trade-offs, alternatives, risks, mitigation, structured...</a:t>
            </a:r>
            <a:endParaRPr lang="en-US" sz="1650" dirty="0"/>
          </a:p>
        </p:txBody>
      </p:sp>
      <p:sp>
        <p:nvSpPr>
          <p:cNvPr id="13" name="Shape 11"/>
          <p:cNvSpPr/>
          <p:nvPr/>
        </p:nvSpPr>
        <p:spPr>
          <a:xfrm>
            <a:off x="713232" y="3054096"/>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944368"/>
            <a:ext cx="6327648" cy="329184"/>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Identify one missing item before report submission.</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LO1 submission evidence audit</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04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8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M1 / D1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Exit ticket: final recommendation</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State exact model, two evidence-backed reasons, one trade-off, one risk/mitigation, and one fact that could change the recommendation.</a:t>
            </a:r>
            <a:endParaRPr lang="en-US" sz="1650" dirty="0"/>
          </a:p>
        </p:txBody>
      </p:sp>
      <p:sp>
        <p:nvSpPr>
          <p:cNvPr id="13" name="Shape 11"/>
          <p:cNvSpPr/>
          <p:nvPr/>
        </p:nvSpPr>
        <p:spPr>
          <a:xfrm>
            <a:off x="7644384" y="1746504"/>
            <a:ext cx="3941064" cy="4352544"/>
          </a:xfrm>
          <a:prstGeom prst="rect">
            <a:avLst/>
          </a:prstGeom>
          <a:solidFill>
            <a:srgbClr val="E8EFF3"/>
          </a:solidFill>
          <a:ln w="15240">
            <a:solidFill>
              <a:srgbClr val="C8D5DE"/>
            </a:solidFill>
            <a:prstDash val="solid"/>
          </a:ln>
        </p:spPr>
      </p:sp>
      <p:sp>
        <p:nvSpPr>
          <p:cNvPr id="14" name="Text 12"/>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5" name="Text 13"/>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6" name="Text 14"/>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7" name="Shape 15"/>
          <p:cNvSpPr/>
          <p:nvPr/>
        </p:nvSpPr>
        <p:spPr>
          <a:xfrm>
            <a:off x="7845552" y="5111496"/>
            <a:ext cx="3538728" cy="0"/>
          </a:xfrm>
          <a:prstGeom prst="line">
            <a:avLst/>
          </a:prstGeom>
          <a:noFill/>
          <a:ln w="12700">
            <a:solidFill>
              <a:srgbClr val="C8D5DE"/>
            </a:solidFill>
            <a:prstDash val="solid"/>
          </a:ln>
        </p:spPr>
      </p:sp>
      <p:sp>
        <p:nvSpPr>
          <p:cNvPr id="18" name="Text 16"/>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Exit ticket: final recommendation</a:t>
            </a:r>
            <a:endParaRPr lang="en-US" sz="1050" dirty="0"/>
          </a:p>
        </p:txBody>
      </p:sp>
      <p:sp>
        <p:nvSpPr>
          <p:cNvPr id="19" name="Text 17"/>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0" name="Shape 18"/>
          <p:cNvSpPr/>
          <p:nvPr/>
        </p:nvSpPr>
        <p:spPr>
          <a:xfrm>
            <a:off x="603504" y="6318504"/>
            <a:ext cx="10972800" cy="0"/>
          </a:xfrm>
          <a:prstGeom prst="line">
            <a:avLst/>
          </a:prstGeom>
          <a:noFill/>
          <a:ln w="10160">
            <a:solidFill>
              <a:srgbClr val="D5E0E7"/>
            </a:solidFill>
            <a:prstDash val="solid"/>
          </a:ln>
        </p:spPr>
      </p:sp>
      <p:sp>
        <p:nvSpPr>
          <p:cNvPr id="21" name="Text 19"/>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SELECTING AND EVALUATING A PLC</a:t>
            </a:r>
            <a:endParaRPr lang="en-US" sz="800" dirty="0"/>
          </a:p>
        </p:txBody>
      </p:sp>
      <p:sp>
        <p:nvSpPr>
          <p:cNvPr id="22" name="Text 20"/>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Unit 5009</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04: Selecting and Evaluating a PLC</dc:title>
  <dc:subject>LO1 weekly teaching presentation</dc:subject>
  <dc:creator>Unit 5009 Teaching Materials</dc:creator>
  <cp:lastModifiedBy>Unit 5009 Teaching Materials</cp:lastModifiedBy>
  <cp:revision>1</cp:revision>
  <dcterms:created xsi:type="dcterms:W3CDTF">2026-10-13T19:12:29Z</dcterms:created>
  <dcterms:modified xsi:type="dcterms:W3CDTF">2026-10-13T19:12:29Z</dcterms:modified>
</cp:coreProperties>
</file>