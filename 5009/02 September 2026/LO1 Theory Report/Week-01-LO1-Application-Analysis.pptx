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Investigating the MedPack Application | Week 01 | LO1
Slide 1 of 18 | Suggested time: 5 minutes | Criteria: P1
TEACHING NOTES AND ACTIVITY CUES
1. Show a short process image and ask for failure consequences: missed pill, over-count, unexpected actuator, missed alarm.
2. Capture student language; return to it when writing measurable requirements.
IMAGE PROMPT
Create an original, technically plausible landscape visual for a vocational engineering presentation about What can go wrong in a pill-counting station?. Show: Show a short process image and ask for failure consequences: missed pill, over-count, unexpected actuator, missed alarm. Capture student language; return to it when writing measurable requirements..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Investigating the MedPack Application | Week 01 | LO1
Slide 2 of 18 | Suggested time: 5 minutes | Criteria: P1
TEACHING NOTES AND ACTIVITY CUES
1. Introduce operator Start/Reset, emergency stop, pill sensor, actuator, buzzer, and the packaging target.
2. Separate what the brief states from details that still need confirmation.
IMAGE PROMPT
Create an original, technically plausible landscape visual for a vocational engineering presentation about MedPack assignment scenario. Show: Introduce operator Start/Reset, emergency stop, pill sensor, actuator, buzzer, and the packaging target. Separate what the brief states from details that still need confirmation..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Investigating the MedPack Application | Week 01 | LO1
Slide 3 of 18 | Suggested time: 5 minutes | Criteria: P1
TEACHING NOTES AND ACTIVITY CUES
1. Display process, I/O, performance, environment, safety/reliability, maintenance, and integration as investigation headings.
2. Explain that generic PLC facts alone do not demonstrate P1.
IMAGE PROMPT
Create an original, technically plausible landscape visual for a vocational engineering presentation about LO1.P1: what counts as investigating an application?. Show: Display process, I/O, performance, environment, safety/reliability, maintenance, and integration as investigation headings. Explain that generic PLC facts alone do not demonstrate P1..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Investigating the MedPack Application | Week 01 | LO1
Slide 4 of 18 | Suggested time: 12 minutes | Criteria: P1
TEACHING NOTES AND ACTIVITY CUES
1. Map the station boundary, operator, production/quality roles, maintenance, upstream feed, downstream packaging, and panel.
2. Mark every interface as physical, electrical, data, or procedural.
3. Pair prompt: which stakeholder owns the target count and fault-reset policy?
IMAGE PROMPT
Create an original, technically plausible landscape visual for a vocational engineering presentation about Define the system boundary and stakeholders. Show: Map the station boundary, operator, production/quality roles, maintenance, upstream feed, downstream packaging, and panel. Mark every interface as physical, electrical, data, or procedural..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Investigating the MedPack Application | Week 01 | LO1
Slide 5 of 18 | Suggested time: 13 minutes | Criteria: P1
TEACHING NOTES AND ACTIVITY CUES
1. Build the sequence: ready -&gt; start accepted -&gt; count pill events -&gt; compare with target -&gt; actuate/package -&gt; completion signal -&gt; return/await reset.
2. For every transition, record its triggering input, state change, expected output, and timeout if relevant.
3. Visual: state diagram or swimlane, not a paragraph-only slide.
IMAGE PROMPT
Create an original, technically plausible landscape visual for a vocational engineering presentation about Draw the normal operating cycle. Show: Build the sequence: ready -&gt; start accepted -&gt; count pill events -&gt; compare with target -&gt; actuate/package -&gt; completion signal -&gt; return/await reset. For every transition, record its triggering input, state change, expected output, and timeout if relevant..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Investigating the MedPack Application | Week 01 | LO1
Slide 6 of 18 | Suggested time: 12 minutes | Criteria: P1
TEACHING NOTES AND ACTIVITY CUES
1. Explore E-stop during counting, sensor stuck high/low, count timeout, actuator feedback absent, power loss, and reset request.
2. Clarify that the exact fault responses are requirements to agree, not undocumented design choices.
3. Ask what must happen before restart is permitted.
IMAGE PROMPT
Create an original, technically plausible landscape visual for a vocational engineering presentation about Add abnormal and recovery paths. Show: Explore E-stop during counting, sensor stuck high/low, count timeout, actuator feedback absent, power loss, and reset request. Clarify that the exact fault responses are requirements to agree, not undocumented design choices..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Investigating the MedPack Application | Week 01 | LO1
Slide 7 of 18 | Suggested time: 13 minutes | Criteria: P1
TEACHING NOTES AND ACTIVITY CUES
1. Distinguish functional requirements from performance and non-functional requirements.
2. Rewrite "count accurately" into questions about pulse width, event rate, target tolerance, and verification method.
3. Worksheet columns: requirement, measurable acceptance condition, source/owner, priority, open question.
IMAGE PROMPT
Create an original, technically plausible landscape visual for a vocational engineering presentation about Convert needs into testable requirements. Show: Distinguish functional requirements from performance and non-functional requirements. Rewrite "count accurately" into questions about pulse width, event rate, target tolerance, and verification method..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Investigating the MedPack Application | Week 01 | LO1
Slide 8 of 18 | Suggested time: 10 minutes | Criteria: P1
TEACHING NOTES AND ACTIVITY CUES
1. Create a field-device map: pushbuttons, E-stop status feedback, pill sensor, actuator, buzzer, indicator lamps, and any confirmed feedback sensors.
2. Label each signal as digital or analogue; do not assume an unmentioned temperature or process sensor is part of the required station.
3. Introduce 24 V DC as a common example, then require confirmation from the actual hardware.
IMAGE PROMPT
Create an original, technically plausible landscape visual for a vocational engineering presentation about Identify external input and output devices. Show: Create a field-device map: pushbuttons, E-stop status feedback, pill sensor, actuator, buzzer, indicator lamps, and any confirmed feedback sensors. Label each signal as digital or analogue; do not assume an unmentioned temperature or process sensor is part of....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Investigating the MedPack Application | Week 01 | LO1
Slide 9 of 18 | Suggested time: 15 minutes | Criteria: P1
TEACHING NOTES AND ACTIVITY CUES
1. Investigate EMI, cable length/routing, enclosure and panel space, temperature, vibration, moisture/cleaning, service access, and production uptime.
2. Use a fact/assumption/question sorting activity.
3. Treat cleanroom, washdown, or hazardous-area status as questions for the site; do not invent them for MedPack.
IMAGE PROMPT
Create an original, technically plausible landscape visual for a vocational engineering presentation about Environment and operating conditions. Show: Investigate EMI, cable length/routing, enclosure and panel space, temperature, vibration, moisture/cleaning, service access, and production uptime. Use a fact/assumption/question sorting activity..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Investigating the MedPack Application | Week 01 | LO1
Slide 10 of 18 | Suggested time: 10 minutes | Criteria: P1
TEACHING NOTES AND ACTIVITY CUES
1. Identify hazard, consequence, safe-state expectation, fault response, and recovery conditions.
2. Explain that an E-stop safety function needs an appropriate risk-assessed safety design, such as a suitable safety relay or safety-rated controller; an ordinary PLC input alone is not the safety function.
3. Mention that applicable machinery, electrical, and functional-safety requirements must be verified for the actual machine and jurisdiction.
IMAGE PROMPT
Create an original, technically plausible landscape visual for a vocational engineering presentation about Safety and reliability are design inputs. Show: Identify hazard, consequence, safe-state expectation, fault response, and recovery conditions. Explain that an E-stop safety function needs an appropriate risk-assessed safety design, such as a suitable safety relay or safety-rated controller; an ordinary PLC input alone is not....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Investigating the MedPack Application | Week 01 | LO1
Slide 11 of 18 | Suggested time: 10 minutes | Criteria: P1
TEACHING NOTES AND ACTIVITY CUES
1. Table fields: tag, device, DI/AI, signal type/range, normal state, event rate, failure consequence, and unresolved compatibility.
2. Include Start, Reset, E-stop status feedback, and pill sensor as brief-based candidates; mark added devices as assumptions.
IMAGE PROMPT
Create an original, technically plausible landscape visual for a vocational engineering presentation about Draft I/O schedule: inputs. Show: Table fields: tag, device, DI/AI, signal type/range, normal state, event rate, failure consequence, and unresolved compatibility. Include Start, Reset, E-stop status feedback, and pill sensor as brief-based candidates; mark added devices as assumptions..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Investigating the MedPack Application | Week 01 | LO1
Slide 12 of 18 | Suggested time: 15 minutes | Criteria: P1
TEACHING NOTES AND ACTIVITY CUES
1. Add actuator, buzzer, and indicators; record supply, current, inrush, switching frequency, and interface/load details when known.
2. Distinguish a PLC command from the final load-driving device; note where a relay/contactor/driver may be needed.
3. Ask students to flag any signal whose voltage/current is not yet evidenced.
IMAGE PROMPT
Create an original, technically plausible landscape visual for a vocational engineering presentation about Draft I/O schedule: outputs and loads. Show: Add actuator, buzzer, and indicators; record supply, current, inrush, switching frequency, and interface/load details when known. Distinguish a PLC command from the final load-driving device; note where a relay/contactor/driver may be needed..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Investigating the MedPack Application | Week 01 | LO1
Slide 13 of 18 | Suggested time: 10 minutes | Criteria: P1
TEACHING NOTES AND ACTIVITY CUES
1. Teams classify requirements as mandatory, desirable, or unresolved and explain their reasoning.
2. Identify which unknowns could disqualify a PLC later, such as output load rating or pulse capture capability.
IMAGE PROMPT
Create an original, technically plausible landscape visual for a vocational engineering presentation about Prioritise requirements and open questions. Show: Teams classify requirements as mandatory, desirable, or unresolved and explain their reasoning. Identify which unknowns could disqualify a PLC later, such as output load rating or pulse capture capability..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Investigating the MedPack Application | Week 01 | LO1
Slide 14 of 18 | Suggested time: 10 minutes | Criteria: P1
TEACHING NOTES AND ACTIVITY CUES
1. Draw field devices -&gt; PLC I/O -&gt; CPU/logic -&gt; load interface -&gt; actuator/buzzer, with operator interface and safety boundary.
2. Show power and communication lines separately from process signal arrows.
IMAGE PROMPT
Create an original, technically plausible landscape visual for a vocational engineering presentation about Sketch the station block diagram. Show: Draw field devices -&gt; PLC I/O -&gt; CPU/logic -&gt; load interface -&gt; actuator/buzzer, with operator interface and safety boundary. Show power and communication lines separately from process signal arrows..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Investigating the MedPack Application | Week 01 | LO1
Slide 15 of 18 | Suggested time: 20 minutes | Criteria: P1
TEACHING NOTES AND ACTIVITY CUES
1. Groups exchange process and I/O drafts and use the P1 checklist: full cycle, E-stop/reset, constraints, environment, reliability, and structured requirements.
2. Reviewer must mark unsupported assumptions and ask one useful clarification question.
IMAGE PROMPT
Create an original, technically plausible landscape visual for a vocational engineering presentation about Peer review: is the application actually investigated?. Show: Groups exchange process and I/O drafts and use the P1 checklist: full cycle, E-stop/reset, constraints, environment, reliability, and structured requirements. Reviewer must mark unsupported assumptions and ask one useful clarification question..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Investigating the MedPack Application | Week 01 | LO1
Slide 16 of 18 | Suggested time: 20 minutes | Criteria: P1
TEACHING NOTES AND ACTIVITY CUES
1. Groups revise their evidence and give a two-minute summary of the most important selection constraints.
2. Presenter explains why those constraints will affect PLC selection.
IMAGE PROMPT
Create an original, technically plausible landscape visual for a vocational engineering presentation about Revise and defend the requirements baseline. Show: Groups revise their evidence and give a two-minute summary of the most important selection constraints. Presenter explains why those constraints will affect PLC selection..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Investigating the MedPack Application | Week 01 | LO1
Slide 17 of 18 | Suggested time: 7 minutes | Criteria: P1
TEACHING NOTES AND ACTIVITY CUES
1. Short scenario questions: identify a missing process step, classify a signal, and turn a vague requirement into a measurable one.
IMAGE PROMPT
Create an original, technically plausible landscape visual for a vocational engineering presentation about P1 knowledge check. Show: Short scenario questions: identify a missing process step, classify a signal, and turn a vague requirement into a measurable one..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Investigating the MedPack Application | Week 01 | LO1
Slide 18 of 18 | Suggested time: 8 minutes | Criteria: P1
TEACHING NOTES AND ACTIVITY CUES
1. Submit three verified application facts, two questions for the client/assessor, and one risk with a proposed response.
2. Retain the I/O schedule for Weeks 2-4.
IMAGE PROMPT
Create an original, technically plausible landscape visual for a vocational engineering presentation about Exit ticket: three facts, two unknowns, one risk. Show: Submit three verified application facts, two questions for the client/assessor, and one risk with a proposed response. Retain the I/O schedule for Weeks 2-4..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087F8C"/>
          </a:solidFill>
          <a:ln w="12700">
            <a:solidFill>
              <a:srgbClr val="087F8C">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087F8C"/>
                </a:solidFill>
                <a:latin typeface="Aptos" pitchFamily="34" charset="0"/>
                <a:ea typeface="Aptos" pitchFamily="34" charset="-122"/>
                <a:cs typeface="Aptos" pitchFamily="34" charset="-120"/>
              </a:rPr>
              <a:t>UNIT 5009    /    WEEK 01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5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087F8C"/>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087F8C"/>
                </a:solidFill>
                <a:latin typeface="Aptos" pitchFamily="34" charset="0"/>
                <a:ea typeface="Aptos" pitchFamily="34" charset="-122"/>
                <a:cs typeface="Aptos" pitchFamily="34" charset="-120"/>
              </a:rPr>
              <a:t>P1</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2800" b="1" dirty="0">
                <a:solidFill>
                  <a:srgbClr val="1B3448"/>
                </a:solidFill>
                <a:latin typeface="Aptos Display" pitchFamily="34" charset="0"/>
                <a:ea typeface="Aptos Display" pitchFamily="34" charset="-122"/>
                <a:cs typeface="Aptos Display" pitchFamily="34" charset="-120"/>
              </a:rPr>
              <a:t>What can go wrong in a pill-counting station?</a:t>
            </a:r>
            <a:endParaRPr lang="en-US" sz="28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087F8C"/>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087F8C"/>
          </a:solidFill>
          <a:ln w="12700">
            <a:solidFill>
              <a:srgbClr val="087F8C">
                <a:alpha val="0"/>
              </a:srgbClr>
            </a:solidFill>
            <a:prstDash val="solid"/>
          </a:ln>
        </p:spPr>
      </p:sp>
      <p:sp>
        <p:nvSpPr>
          <p:cNvPr id="12" name="Text 10"/>
          <p:cNvSpPr/>
          <p:nvPr/>
        </p:nvSpPr>
        <p:spPr>
          <a:xfrm>
            <a:off x="969264" y="20299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Show a short process image and ask for failure consequences: missed pill, over-count, unexpected actuator, missed alarm.</a:t>
            </a:r>
            <a:endParaRPr lang="en-US" sz="1650" dirty="0"/>
          </a:p>
        </p:txBody>
      </p:sp>
      <p:sp>
        <p:nvSpPr>
          <p:cNvPr id="13" name="Shape 11"/>
          <p:cNvSpPr/>
          <p:nvPr/>
        </p:nvSpPr>
        <p:spPr>
          <a:xfrm>
            <a:off x="713232" y="2816352"/>
            <a:ext cx="100584" cy="100584"/>
          </a:xfrm>
          <a:prstGeom prst="ellipse">
            <a:avLst/>
          </a:prstGeom>
          <a:solidFill>
            <a:srgbClr val="087F8C"/>
          </a:solidFill>
          <a:ln w="12700">
            <a:solidFill>
              <a:srgbClr val="087F8C">
                <a:alpha val="0"/>
              </a:srgbClr>
            </a:solidFill>
            <a:prstDash val="solid"/>
          </a:ln>
        </p:spPr>
      </p:sp>
      <p:sp>
        <p:nvSpPr>
          <p:cNvPr id="14" name="Text 12"/>
          <p:cNvSpPr/>
          <p:nvPr/>
        </p:nvSpPr>
        <p:spPr>
          <a:xfrm>
            <a:off x="969264" y="2706624"/>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Capture student language; return to it when writing measurable requirements.</a:t>
            </a:r>
            <a:endParaRPr lang="en-US" sz="1650" dirty="0"/>
          </a:p>
        </p:txBody>
      </p:sp>
      <p:sp>
        <p:nvSpPr>
          <p:cNvPr id="15" name="Shape 13"/>
          <p:cNvSpPr/>
          <p:nvPr/>
        </p:nvSpPr>
        <p:spPr>
          <a:xfrm>
            <a:off x="7644384" y="1746504"/>
            <a:ext cx="3941064" cy="4352544"/>
          </a:xfrm>
          <a:prstGeom prst="rect">
            <a:avLst/>
          </a:prstGeom>
          <a:solidFill>
            <a:srgbClr val="E8EFF3"/>
          </a:solidFill>
          <a:ln w="15240">
            <a:solidFill>
              <a:srgbClr val="C8D5DE"/>
            </a:solidFill>
            <a:prstDash val="solid"/>
          </a:ln>
        </p:spPr>
      </p:sp>
      <p:sp>
        <p:nvSpPr>
          <p:cNvPr id="16" name="Text 14"/>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087F8C"/>
                </a:solidFill>
                <a:latin typeface="Aptos" pitchFamily="34" charset="0"/>
                <a:ea typeface="Aptos" pitchFamily="34" charset="-122"/>
                <a:cs typeface="Aptos" pitchFamily="34" charset="-120"/>
              </a:rPr>
              <a:t>IMAGE PLACEHOLDER</a:t>
            </a:r>
            <a:endParaRPr lang="en-US" sz="900" dirty="0"/>
          </a:p>
        </p:txBody>
      </p:sp>
      <p:sp>
        <p:nvSpPr>
          <p:cNvPr id="17" name="Text 15"/>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18" name="Text 16"/>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19" name="Shape 17"/>
          <p:cNvSpPr/>
          <p:nvPr/>
        </p:nvSpPr>
        <p:spPr>
          <a:xfrm>
            <a:off x="7845552" y="5111496"/>
            <a:ext cx="3538728" cy="0"/>
          </a:xfrm>
          <a:prstGeom prst="line">
            <a:avLst/>
          </a:prstGeom>
          <a:noFill/>
          <a:ln w="12700">
            <a:solidFill>
              <a:srgbClr val="C8D5DE"/>
            </a:solidFill>
            <a:prstDash val="solid"/>
          </a:ln>
        </p:spPr>
      </p:sp>
      <p:sp>
        <p:nvSpPr>
          <p:cNvPr id="20" name="Text 18"/>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What can go wrong in a pill-counting station?</a:t>
            </a:r>
            <a:endParaRPr lang="en-US" sz="1050" dirty="0"/>
          </a:p>
        </p:txBody>
      </p:sp>
      <p:sp>
        <p:nvSpPr>
          <p:cNvPr id="21" name="Text 19"/>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2" name="Shape 20"/>
          <p:cNvSpPr/>
          <p:nvPr/>
        </p:nvSpPr>
        <p:spPr>
          <a:xfrm>
            <a:off x="603504" y="6318504"/>
            <a:ext cx="10972800" cy="0"/>
          </a:xfrm>
          <a:prstGeom prst="line">
            <a:avLst/>
          </a:prstGeom>
          <a:noFill/>
          <a:ln w="10160">
            <a:solidFill>
              <a:srgbClr val="D5E0E7"/>
            </a:solidFill>
            <a:prstDash val="solid"/>
          </a:ln>
        </p:spPr>
      </p:sp>
      <p:sp>
        <p:nvSpPr>
          <p:cNvPr id="23" name="Text 21"/>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INVESTIGATING THE MEDPACK APPLICATION</a:t>
            </a:r>
            <a:endParaRPr lang="en-US" sz="800" dirty="0"/>
          </a:p>
        </p:txBody>
      </p:sp>
      <p:sp>
        <p:nvSpPr>
          <p:cNvPr id="24" name="Text 22"/>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01 / 18</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087F8C"/>
          </a:solidFill>
          <a:ln w="12700">
            <a:solidFill>
              <a:srgbClr val="087F8C">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087F8C"/>
                </a:solidFill>
                <a:latin typeface="Aptos" pitchFamily="34" charset="0"/>
                <a:ea typeface="Aptos" pitchFamily="34" charset="-122"/>
                <a:cs typeface="Aptos" pitchFamily="34" charset="-120"/>
              </a:rPr>
              <a:t>UNIT 5009    /    WEEK 01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5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087F8C"/>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087F8C"/>
                </a:solidFill>
                <a:latin typeface="Aptos" pitchFamily="34" charset="0"/>
                <a:ea typeface="Aptos" pitchFamily="34" charset="-122"/>
                <a:cs typeface="Aptos" pitchFamily="34" charset="-120"/>
              </a:rPr>
              <a:t>P1</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MedPack assignment scenario</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087F8C"/>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087F8C"/>
          </a:solidFill>
          <a:ln w="12700">
            <a:solidFill>
              <a:srgbClr val="087F8C">
                <a:alpha val="0"/>
              </a:srgbClr>
            </a:solidFill>
            <a:prstDash val="solid"/>
          </a:ln>
        </p:spPr>
      </p:sp>
      <p:sp>
        <p:nvSpPr>
          <p:cNvPr id="12" name="Text 10"/>
          <p:cNvSpPr/>
          <p:nvPr/>
        </p:nvSpPr>
        <p:spPr>
          <a:xfrm>
            <a:off x="969264" y="20299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Introduce operator Start/Reset, emergency stop, pill sensor, actuator, buzzer, and the packaging target.</a:t>
            </a:r>
            <a:endParaRPr lang="en-US" sz="1650" dirty="0"/>
          </a:p>
        </p:txBody>
      </p:sp>
      <p:sp>
        <p:nvSpPr>
          <p:cNvPr id="13" name="Shape 11"/>
          <p:cNvSpPr/>
          <p:nvPr/>
        </p:nvSpPr>
        <p:spPr>
          <a:xfrm>
            <a:off x="713232" y="2816352"/>
            <a:ext cx="100584" cy="100584"/>
          </a:xfrm>
          <a:prstGeom prst="ellipse">
            <a:avLst/>
          </a:prstGeom>
          <a:solidFill>
            <a:srgbClr val="087F8C"/>
          </a:solidFill>
          <a:ln w="12700">
            <a:solidFill>
              <a:srgbClr val="087F8C">
                <a:alpha val="0"/>
              </a:srgbClr>
            </a:solidFill>
            <a:prstDash val="solid"/>
          </a:ln>
        </p:spPr>
      </p:sp>
      <p:sp>
        <p:nvSpPr>
          <p:cNvPr id="14" name="Text 12"/>
          <p:cNvSpPr/>
          <p:nvPr/>
        </p:nvSpPr>
        <p:spPr>
          <a:xfrm>
            <a:off x="969264" y="2706624"/>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Separate what the brief states from details that still need confirmation.</a:t>
            </a:r>
            <a:endParaRPr lang="en-US" sz="1650" dirty="0"/>
          </a:p>
        </p:txBody>
      </p:sp>
      <p:sp>
        <p:nvSpPr>
          <p:cNvPr id="15" name="Shape 13"/>
          <p:cNvSpPr/>
          <p:nvPr/>
        </p:nvSpPr>
        <p:spPr>
          <a:xfrm>
            <a:off x="7644384" y="1746504"/>
            <a:ext cx="3941064" cy="4352544"/>
          </a:xfrm>
          <a:prstGeom prst="rect">
            <a:avLst/>
          </a:prstGeom>
          <a:solidFill>
            <a:srgbClr val="E8EFF3"/>
          </a:solidFill>
          <a:ln w="15240">
            <a:solidFill>
              <a:srgbClr val="C8D5DE"/>
            </a:solidFill>
            <a:prstDash val="solid"/>
          </a:ln>
        </p:spPr>
      </p:sp>
      <p:sp>
        <p:nvSpPr>
          <p:cNvPr id="16" name="Text 14"/>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087F8C"/>
                </a:solidFill>
                <a:latin typeface="Aptos" pitchFamily="34" charset="0"/>
                <a:ea typeface="Aptos" pitchFamily="34" charset="-122"/>
                <a:cs typeface="Aptos" pitchFamily="34" charset="-120"/>
              </a:rPr>
              <a:t>IMAGE PLACEHOLDER</a:t>
            </a:r>
            <a:endParaRPr lang="en-US" sz="900" dirty="0"/>
          </a:p>
        </p:txBody>
      </p:sp>
      <p:sp>
        <p:nvSpPr>
          <p:cNvPr id="17" name="Text 15"/>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18" name="Text 16"/>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19" name="Shape 17"/>
          <p:cNvSpPr/>
          <p:nvPr/>
        </p:nvSpPr>
        <p:spPr>
          <a:xfrm>
            <a:off x="7845552" y="5111496"/>
            <a:ext cx="3538728" cy="0"/>
          </a:xfrm>
          <a:prstGeom prst="line">
            <a:avLst/>
          </a:prstGeom>
          <a:noFill/>
          <a:ln w="12700">
            <a:solidFill>
              <a:srgbClr val="C8D5DE"/>
            </a:solidFill>
            <a:prstDash val="solid"/>
          </a:ln>
        </p:spPr>
      </p:sp>
      <p:sp>
        <p:nvSpPr>
          <p:cNvPr id="20" name="Text 18"/>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MedPack assignment scenario</a:t>
            </a:r>
            <a:endParaRPr lang="en-US" sz="1050" dirty="0"/>
          </a:p>
        </p:txBody>
      </p:sp>
      <p:sp>
        <p:nvSpPr>
          <p:cNvPr id="21" name="Text 19"/>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2" name="Shape 20"/>
          <p:cNvSpPr/>
          <p:nvPr/>
        </p:nvSpPr>
        <p:spPr>
          <a:xfrm>
            <a:off x="603504" y="6318504"/>
            <a:ext cx="10972800" cy="0"/>
          </a:xfrm>
          <a:prstGeom prst="line">
            <a:avLst/>
          </a:prstGeom>
          <a:noFill/>
          <a:ln w="10160">
            <a:solidFill>
              <a:srgbClr val="D5E0E7"/>
            </a:solidFill>
            <a:prstDash val="solid"/>
          </a:ln>
        </p:spPr>
      </p:sp>
      <p:sp>
        <p:nvSpPr>
          <p:cNvPr id="23" name="Text 21"/>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INVESTIGATING THE MEDPACK APPLICATION</a:t>
            </a:r>
            <a:endParaRPr lang="en-US" sz="800" dirty="0"/>
          </a:p>
        </p:txBody>
      </p:sp>
      <p:sp>
        <p:nvSpPr>
          <p:cNvPr id="24" name="Text 22"/>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02 / 18</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087F8C"/>
          </a:solidFill>
          <a:ln w="12700">
            <a:solidFill>
              <a:srgbClr val="087F8C">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087F8C"/>
                </a:solidFill>
                <a:latin typeface="Aptos" pitchFamily="34" charset="0"/>
                <a:ea typeface="Aptos" pitchFamily="34" charset="-122"/>
                <a:cs typeface="Aptos" pitchFamily="34" charset="-120"/>
              </a:rPr>
              <a:t>UNIT 5009    /    WEEK 01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5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087F8C"/>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087F8C"/>
                </a:solidFill>
                <a:latin typeface="Aptos" pitchFamily="34" charset="0"/>
                <a:ea typeface="Aptos" pitchFamily="34" charset="-122"/>
                <a:cs typeface="Aptos" pitchFamily="34" charset="-120"/>
              </a:rPr>
              <a:t>P1</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2800" b="1" dirty="0">
                <a:solidFill>
                  <a:srgbClr val="1B3448"/>
                </a:solidFill>
                <a:latin typeface="Aptos Display" pitchFamily="34" charset="0"/>
                <a:ea typeface="Aptos Display" pitchFamily="34" charset="-122"/>
                <a:cs typeface="Aptos Display" pitchFamily="34" charset="-120"/>
              </a:rPr>
              <a:t>LO1.P1: what counts as investigating an application?</a:t>
            </a:r>
            <a:endParaRPr lang="en-US" sz="28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087F8C"/>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087F8C"/>
          </a:solidFill>
          <a:ln w="12700">
            <a:solidFill>
              <a:srgbClr val="087F8C">
                <a:alpha val="0"/>
              </a:srgbClr>
            </a:solidFill>
            <a:prstDash val="solid"/>
          </a:ln>
        </p:spPr>
      </p:sp>
      <p:sp>
        <p:nvSpPr>
          <p:cNvPr id="12" name="Text 10"/>
          <p:cNvSpPr/>
          <p:nvPr/>
        </p:nvSpPr>
        <p:spPr>
          <a:xfrm>
            <a:off x="969264" y="20299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Display process, I/O, performance, environment, safety/reliability, maintenance, and integration as investigation headings.</a:t>
            </a:r>
            <a:endParaRPr lang="en-US" sz="1650" dirty="0"/>
          </a:p>
        </p:txBody>
      </p:sp>
      <p:sp>
        <p:nvSpPr>
          <p:cNvPr id="13" name="Shape 11"/>
          <p:cNvSpPr/>
          <p:nvPr/>
        </p:nvSpPr>
        <p:spPr>
          <a:xfrm>
            <a:off x="713232" y="2816352"/>
            <a:ext cx="100584" cy="100584"/>
          </a:xfrm>
          <a:prstGeom prst="ellipse">
            <a:avLst/>
          </a:prstGeom>
          <a:solidFill>
            <a:srgbClr val="087F8C"/>
          </a:solidFill>
          <a:ln w="12700">
            <a:solidFill>
              <a:srgbClr val="087F8C">
                <a:alpha val="0"/>
              </a:srgbClr>
            </a:solidFill>
            <a:prstDash val="solid"/>
          </a:ln>
        </p:spPr>
      </p:sp>
      <p:sp>
        <p:nvSpPr>
          <p:cNvPr id="14" name="Text 12"/>
          <p:cNvSpPr/>
          <p:nvPr/>
        </p:nvSpPr>
        <p:spPr>
          <a:xfrm>
            <a:off x="969264" y="2706624"/>
            <a:ext cx="6327648" cy="329184"/>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Explain that generic PLC facts alone do not demonstrate P1.</a:t>
            </a:r>
            <a:endParaRPr lang="en-US" sz="1650" dirty="0"/>
          </a:p>
        </p:txBody>
      </p:sp>
      <p:sp>
        <p:nvSpPr>
          <p:cNvPr id="15" name="Shape 13"/>
          <p:cNvSpPr/>
          <p:nvPr/>
        </p:nvSpPr>
        <p:spPr>
          <a:xfrm>
            <a:off x="7644384" y="1746504"/>
            <a:ext cx="3941064" cy="4352544"/>
          </a:xfrm>
          <a:prstGeom prst="rect">
            <a:avLst/>
          </a:prstGeom>
          <a:solidFill>
            <a:srgbClr val="E8EFF3"/>
          </a:solidFill>
          <a:ln w="15240">
            <a:solidFill>
              <a:srgbClr val="C8D5DE"/>
            </a:solidFill>
            <a:prstDash val="solid"/>
          </a:ln>
        </p:spPr>
      </p:sp>
      <p:sp>
        <p:nvSpPr>
          <p:cNvPr id="16" name="Text 14"/>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087F8C"/>
                </a:solidFill>
                <a:latin typeface="Aptos" pitchFamily="34" charset="0"/>
                <a:ea typeface="Aptos" pitchFamily="34" charset="-122"/>
                <a:cs typeface="Aptos" pitchFamily="34" charset="-120"/>
              </a:rPr>
              <a:t>IMAGE PLACEHOLDER</a:t>
            </a:r>
            <a:endParaRPr lang="en-US" sz="900" dirty="0"/>
          </a:p>
        </p:txBody>
      </p:sp>
      <p:sp>
        <p:nvSpPr>
          <p:cNvPr id="17" name="Text 15"/>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18" name="Text 16"/>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19" name="Shape 17"/>
          <p:cNvSpPr/>
          <p:nvPr/>
        </p:nvSpPr>
        <p:spPr>
          <a:xfrm>
            <a:off x="7845552" y="5111496"/>
            <a:ext cx="3538728" cy="0"/>
          </a:xfrm>
          <a:prstGeom prst="line">
            <a:avLst/>
          </a:prstGeom>
          <a:noFill/>
          <a:ln w="12700">
            <a:solidFill>
              <a:srgbClr val="C8D5DE"/>
            </a:solidFill>
            <a:prstDash val="solid"/>
          </a:ln>
        </p:spPr>
      </p:sp>
      <p:sp>
        <p:nvSpPr>
          <p:cNvPr id="20" name="Text 18"/>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LO1.P1: what counts as investigating an application?</a:t>
            </a:r>
            <a:endParaRPr lang="en-US" sz="1050" dirty="0"/>
          </a:p>
        </p:txBody>
      </p:sp>
      <p:sp>
        <p:nvSpPr>
          <p:cNvPr id="21" name="Text 19"/>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2" name="Shape 20"/>
          <p:cNvSpPr/>
          <p:nvPr/>
        </p:nvSpPr>
        <p:spPr>
          <a:xfrm>
            <a:off x="603504" y="6318504"/>
            <a:ext cx="10972800" cy="0"/>
          </a:xfrm>
          <a:prstGeom prst="line">
            <a:avLst/>
          </a:prstGeom>
          <a:noFill/>
          <a:ln w="10160">
            <a:solidFill>
              <a:srgbClr val="D5E0E7"/>
            </a:solidFill>
            <a:prstDash val="solid"/>
          </a:ln>
        </p:spPr>
      </p:sp>
      <p:sp>
        <p:nvSpPr>
          <p:cNvPr id="23" name="Text 21"/>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INVESTIGATING THE MEDPACK APPLICATION</a:t>
            </a:r>
            <a:endParaRPr lang="en-US" sz="800" dirty="0"/>
          </a:p>
        </p:txBody>
      </p:sp>
      <p:sp>
        <p:nvSpPr>
          <p:cNvPr id="24" name="Text 22"/>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03 / 18</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087F8C"/>
          </a:solidFill>
          <a:ln w="12700">
            <a:solidFill>
              <a:srgbClr val="087F8C">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087F8C"/>
                </a:solidFill>
                <a:latin typeface="Aptos" pitchFamily="34" charset="0"/>
                <a:ea typeface="Aptos" pitchFamily="34" charset="-122"/>
                <a:cs typeface="Aptos" pitchFamily="34" charset="-120"/>
              </a:rPr>
              <a:t>UNIT 5009    /    WEEK 01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12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087F8C"/>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087F8C"/>
                </a:solidFill>
                <a:latin typeface="Aptos" pitchFamily="34" charset="0"/>
                <a:ea typeface="Aptos" pitchFamily="34" charset="-122"/>
                <a:cs typeface="Aptos" pitchFamily="34" charset="-120"/>
              </a:rPr>
              <a:t>P1</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2800" b="1" dirty="0">
                <a:solidFill>
                  <a:srgbClr val="1B3448"/>
                </a:solidFill>
                <a:latin typeface="Aptos Display" pitchFamily="34" charset="0"/>
                <a:ea typeface="Aptos Display" pitchFamily="34" charset="-122"/>
                <a:cs typeface="Aptos Display" pitchFamily="34" charset="-120"/>
              </a:rPr>
              <a:t>Define the system boundary and stakeholders</a:t>
            </a:r>
            <a:endParaRPr lang="en-US" sz="28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087F8C"/>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087F8C"/>
          </a:solidFill>
          <a:ln w="12700">
            <a:solidFill>
              <a:srgbClr val="087F8C">
                <a:alpha val="0"/>
              </a:srgbClr>
            </a:solidFill>
            <a:prstDash val="solid"/>
          </a:ln>
        </p:spPr>
      </p:sp>
      <p:sp>
        <p:nvSpPr>
          <p:cNvPr id="12" name="Text 10"/>
          <p:cNvSpPr/>
          <p:nvPr/>
        </p:nvSpPr>
        <p:spPr>
          <a:xfrm>
            <a:off x="969264" y="20299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Map the station boundary, operator, production/quality roles, maintenance, upstream feed, downstream packaging, and panel.</a:t>
            </a:r>
            <a:endParaRPr lang="en-US" sz="1650" dirty="0"/>
          </a:p>
        </p:txBody>
      </p:sp>
      <p:sp>
        <p:nvSpPr>
          <p:cNvPr id="13" name="Shape 11"/>
          <p:cNvSpPr/>
          <p:nvPr/>
        </p:nvSpPr>
        <p:spPr>
          <a:xfrm>
            <a:off x="713232" y="2816352"/>
            <a:ext cx="100584" cy="100584"/>
          </a:xfrm>
          <a:prstGeom prst="ellipse">
            <a:avLst/>
          </a:prstGeom>
          <a:solidFill>
            <a:srgbClr val="087F8C"/>
          </a:solidFill>
          <a:ln w="12700">
            <a:solidFill>
              <a:srgbClr val="087F8C">
                <a:alpha val="0"/>
              </a:srgbClr>
            </a:solidFill>
            <a:prstDash val="solid"/>
          </a:ln>
        </p:spPr>
      </p:sp>
      <p:sp>
        <p:nvSpPr>
          <p:cNvPr id="14" name="Text 12"/>
          <p:cNvSpPr/>
          <p:nvPr/>
        </p:nvSpPr>
        <p:spPr>
          <a:xfrm>
            <a:off x="969264" y="2706624"/>
            <a:ext cx="6327648" cy="329184"/>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Mark every interface as physical, electrical, data, or procedural.</a:t>
            </a:r>
            <a:endParaRPr lang="en-US" sz="1650" dirty="0"/>
          </a:p>
        </p:txBody>
      </p:sp>
      <p:sp>
        <p:nvSpPr>
          <p:cNvPr id="15" name="Shape 13"/>
          <p:cNvSpPr/>
          <p:nvPr/>
        </p:nvSpPr>
        <p:spPr>
          <a:xfrm>
            <a:off x="713232" y="3255264"/>
            <a:ext cx="100584" cy="100584"/>
          </a:xfrm>
          <a:prstGeom prst="ellipse">
            <a:avLst/>
          </a:prstGeom>
          <a:solidFill>
            <a:srgbClr val="087F8C"/>
          </a:solidFill>
          <a:ln w="12700">
            <a:solidFill>
              <a:srgbClr val="087F8C">
                <a:alpha val="0"/>
              </a:srgbClr>
            </a:solidFill>
            <a:prstDash val="solid"/>
          </a:ln>
        </p:spPr>
      </p:sp>
      <p:sp>
        <p:nvSpPr>
          <p:cNvPr id="16" name="Text 14"/>
          <p:cNvSpPr/>
          <p:nvPr/>
        </p:nvSpPr>
        <p:spPr>
          <a:xfrm>
            <a:off x="969264" y="3145536"/>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Pair prompt: which stakeholder owns the target count and fault-reset policy?</a:t>
            </a:r>
            <a:endParaRPr lang="en-US" sz="1650" dirty="0"/>
          </a:p>
        </p:txBody>
      </p:sp>
      <p:sp>
        <p:nvSpPr>
          <p:cNvPr id="17" name="Shape 15"/>
          <p:cNvSpPr/>
          <p:nvPr/>
        </p:nvSpPr>
        <p:spPr>
          <a:xfrm>
            <a:off x="7644384" y="1746504"/>
            <a:ext cx="3941064" cy="4352544"/>
          </a:xfrm>
          <a:prstGeom prst="rect">
            <a:avLst/>
          </a:prstGeom>
          <a:solidFill>
            <a:srgbClr val="E8EFF3"/>
          </a:solidFill>
          <a:ln w="15240">
            <a:solidFill>
              <a:srgbClr val="C8D5DE"/>
            </a:solidFill>
            <a:prstDash val="solid"/>
          </a:ln>
        </p:spPr>
      </p:sp>
      <p:sp>
        <p:nvSpPr>
          <p:cNvPr id="18" name="Text 16"/>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087F8C"/>
                </a:solidFill>
                <a:latin typeface="Aptos" pitchFamily="34" charset="0"/>
                <a:ea typeface="Aptos" pitchFamily="34" charset="-122"/>
                <a:cs typeface="Aptos" pitchFamily="34" charset="-120"/>
              </a:rPr>
              <a:t>IMAGE PLACEHOLDER</a:t>
            </a:r>
            <a:endParaRPr lang="en-US" sz="900" dirty="0"/>
          </a:p>
        </p:txBody>
      </p:sp>
      <p:sp>
        <p:nvSpPr>
          <p:cNvPr id="19" name="Text 17"/>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20" name="Text 18"/>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21" name="Shape 19"/>
          <p:cNvSpPr/>
          <p:nvPr/>
        </p:nvSpPr>
        <p:spPr>
          <a:xfrm>
            <a:off x="7845552" y="5111496"/>
            <a:ext cx="3538728" cy="0"/>
          </a:xfrm>
          <a:prstGeom prst="line">
            <a:avLst/>
          </a:prstGeom>
          <a:noFill/>
          <a:ln w="12700">
            <a:solidFill>
              <a:srgbClr val="C8D5DE"/>
            </a:solidFill>
            <a:prstDash val="solid"/>
          </a:ln>
        </p:spPr>
      </p:sp>
      <p:sp>
        <p:nvSpPr>
          <p:cNvPr id="22" name="Text 20"/>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Define the system boundary and stakeholders</a:t>
            </a:r>
            <a:endParaRPr lang="en-US" sz="1050" dirty="0"/>
          </a:p>
        </p:txBody>
      </p:sp>
      <p:sp>
        <p:nvSpPr>
          <p:cNvPr id="23" name="Text 21"/>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4" name="Shape 22"/>
          <p:cNvSpPr/>
          <p:nvPr/>
        </p:nvSpPr>
        <p:spPr>
          <a:xfrm>
            <a:off x="603504" y="6318504"/>
            <a:ext cx="10972800" cy="0"/>
          </a:xfrm>
          <a:prstGeom prst="line">
            <a:avLst/>
          </a:prstGeom>
          <a:noFill/>
          <a:ln w="10160">
            <a:solidFill>
              <a:srgbClr val="D5E0E7"/>
            </a:solidFill>
            <a:prstDash val="solid"/>
          </a:ln>
        </p:spPr>
      </p:sp>
      <p:sp>
        <p:nvSpPr>
          <p:cNvPr id="25" name="Text 23"/>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INVESTIGATING THE MEDPACK APPLICATION</a:t>
            </a:r>
            <a:endParaRPr lang="en-US" sz="800" dirty="0"/>
          </a:p>
        </p:txBody>
      </p:sp>
      <p:sp>
        <p:nvSpPr>
          <p:cNvPr id="26" name="Text 24"/>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04 / 18</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087F8C"/>
          </a:solidFill>
          <a:ln w="12700">
            <a:solidFill>
              <a:srgbClr val="087F8C">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087F8C"/>
                </a:solidFill>
                <a:latin typeface="Aptos" pitchFamily="34" charset="0"/>
                <a:ea typeface="Aptos" pitchFamily="34" charset="-122"/>
                <a:cs typeface="Aptos" pitchFamily="34" charset="-120"/>
              </a:rPr>
              <a:t>UNIT 5009    /    WEEK 01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13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087F8C"/>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087F8C"/>
                </a:solidFill>
                <a:latin typeface="Aptos" pitchFamily="34" charset="0"/>
                <a:ea typeface="Aptos" pitchFamily="34" charset="-122"/>
                <a:cs typeface="Aptos" pitchFamily="34" charset="-120"/>
              </a:rPr>
              <a:t>P1</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Draw the normal operating cycle</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087F8C"/>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087F8C"/>
          </a:solidFill>
          <a:ln w="12700">
            <a:solidFill>
              <a:srgbClr val="087F8C">
                <a:alpha val="0"/>
              </a:srgbClr>
            </a:solidFill>
            <a:prstDash val="solid"/>
          </a:ln>
        </p:spPr>
      </p:sp>
      <p:sp>
        <p:nvSpPr>
          <p:cNvPr id="12" name="Text 10"/>
          <p:cNvSpPr/>
          <p:nvPr/>
        </p:nvSpPr>
        <p:spPr>
          <a:xfrm>
            <a:off x="969264" y="2029968"/>
            <a:ext cx="6327648" cy="804672"/>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Build the sequence: ready -&gt; start accepted -&gt; count pill events -&gt; compare with target -&gt; actuate/package -&gt; completion signal -&gt; return/await reset.</a:t>
            </a:r>
            <a:endParaRPr lang="en-US" sz="1650" dirty="0"/>
          </a:p>
        </p:txBody>
      </p:sp>
      <p:sp>
        <p:nvSpPr>
          <p:cNvPr id="13" name="Shape 11"/>
          <p:cNvSpPr/>
          <p:nvPr/>
        </p:nvSpPr>
        <p:spPr>
          <a:xfrm>
            <a:off x="713232" y="3054096"/>
            <a:ext cx="100584" cy="100584"/>
          </a:xfrm>
          <a:prstGeom prst="ellipse">
            <a:avLst/>
          </a:prstGeom>
          <a:solidFill>
            <a:srgbClr val="087F8C"/>
          </a:solidFill>
          <a:ln w="12700">
            <a:solidFill>
              <a:srgbClr val="087F8C">
                <a:alpha val="0"/>
              </a:srgbClr>
            </a:solidFill>
            <a:prstDash val="solid"/>
          </a:ln>
        </p:spPr>
      </p:sp>
      <p:sp>
        <p:nvSpPr>
          <p:cNvPr id="14" name="Text 12"/>
          <p:cNvSpPr/>
          <p:nvPr/>
        </p:nvSpPr>
        <p:spPr>
          <a:xfrm>
            <a:off x="969264" y="29443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For every transition, record its triggering input, state change, expected output, and timeout if relevant.</a:t>
            </a:r>
            <a:endParaRPr lang="en-US" sz="1650" dirty="0"/>
          </a:p>
        </p:txBody>
      </p:sp>
      <p:sp>
        <p:nvSpPr>
          <p:cNvPr id="15" name="Shape 13"/>
          <p:cNvSpPr/>
          <p:nvPr/>
        </p:nvSpPr>
        <p:spPr>
          <a:xfrm>
            <a:off x="713232" y="3730752"/>
            <a:ext cx="100584" cy="100584"/>
          </a:xfrm>
          <a:prstGeom prst="ellipse">
            <a:avLst/>
          </a:prstGeom>
          <a:solidFill>
            <a:srgbClr val="087F8C"/>
          </a:solidFill>
          <a:ln w="12700">
            <a:solidFill>
              <a:srgbClr val="087F8C">
                <a:alpha val="0"/>
              </a:srgbClr>
            </a:solidFill>
            <a:prstDash val="solid"/>
          </a:ln>
        </p:spPr>
      </p:sp>
      <p:sp>
        <p:nvSpPr>
          <p:cNvPr id="16" name="Text 14"/>
          <p:cNvSpPr/>
          <p:nvPr/>
        </p:nvSpPr>
        <p:spPr>
          <a:xfrm>
            <a:off x="969264" y="3621024"/>
            <a:ext cx="6327648" cy="329184"/>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Visual: state diagram or swimlane, not a paragraph-only slide.</a:t>
            </a:r>
            <a:endParaRPr lang="en-US" sz="1650" dirty="0"/>
          </a:p>
        </p:txBody>
      </p:sp>
      <p:sp>
        <p:nvSpPr>
          <p:cNvPr id="17" name="Shape 15"/>
          <p:cNvSpPr/>
          <p:nvPr/>
        </p:nvSpPr>
        <p:spPr>
          <a:xfrm>
            <a:off x="7644384" y="1746504"/>
            <a:ext cx="3941064" cy="4352544"/>
          </a:xfrm>
          <a:prstGeom prst="rect">
            <a:avLst/>
          </a:prstGeom>
          <a:solidFill>
            <a:srgbClr val="E8EFF3"/>
          </a:solidFill>
          <a:ln w="15240">
            <a:solidFill>
              <a:srgbClr val="C8D5DE"/>
            </a:solidFill>
            <a:prstDash val="solid"/>
          </a:ln>
        </p:spPr>
      </p:sp>
      <p:sp>
        <p:nvSpPr>
          <p:cNvPr id="18" name="Text 16"/>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087F8C"/>
                </a:solidFill>
                <a:latin typeface="Aptos" pitchFamily="34" charset="0"/>
                <a:ea typeface="Aptos" pitchFamily="34" charset="-122"/>
                <a:cs typeface="Aptos" pitchFamily="34" charset="-120"/>
              </a:rPr>
              <a:t>IMAGE PLACEHOLDER</a:t>
            </a:r>
            <a:endParaRPr lang="en-US" sz="900" dirty="0"/>
          </a:p>
        </p:txBody>
      </p:sp>
      <p:sp>
        <p:nvSpPr>
          <p:cNvPr id="19" name="Text 17"/>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20" name="Text 18"/>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21" name="Shape 19"/>
          <p:cNvSpPr/>
          <p:nvPr/>
        </p:nvSpPr>
        <p:spPr>
          <a:xfrm>
            <a:off x="7845552" y="5111496"/>
            <a:ext cx="3538728" cy="0"/>
          </a:xfrm>
          <a:prstGeom prst="line">
            <a:avLst/>
          </a:prstGeom>
          <a:noFill/>
          <a:ln w="12700">
            <a:solidFill>
              <a:srgbClr val="C8D5DE"/>
            </a:solidFill>
            <a:prstDash val="solid"/>
          </a:ln>
        </p:spPr>
      </p:sp>
      <p:sp>
        <p:nvSpPr>
          <p:cNvPr id="22" name="Text 20"/>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Draw the normal operating cycle</a:t>
            </a:r>
            <a:endParaRPr lang="en-US" sz="1050" dirty="0"/>
          </a:p>
        </p:txBody>
      </p:sp>
      <p:sp>
        <p:nvSpPr>
          <p:cNvPr id="23" name="Text 21"/>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4" name="Shape 22"/>
          <p:cNvSpPr/>
          <p:nvPr/>
        </p:nvSpPr>
        <p:spPr>
          <a:xfrm>
            <a:off x="603504" y="6318504"/>
            <a:ext cx="10972800" cy="0"/>
          </a:xfrm>
          <a:prstGeom prst="line">
            <a:avLst/>
          </a:prstGeom>
          <a:noFill/>
          <a:ln w="10160">
            <a:solidFill>
              <a:srgbClr val="D5E0E7"/>
            </a:solidFill>
            <a:prstDash val="solid"/>
          </a:ln>
        </p:spPr>
      </p:sp>
      <p:sp>
        <p:nvSpPr>
          <p:cNvPr id="25" name="Text 23"/>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INVESTIGATING THE MEDPACK APPLICATION</a:t>
            </a:r>
            <a:endParaRPr lang="en-US" sz="800" dirty="0"/>
          </a:p>
        </p:txBody>
      </p:sp>
      <p:sp>
        <p:nvSpPr>
          <p:cNvPr id="26" name="Text 24"/>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05 / 18</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087F8C"/>
          </a:solidFill>
          <a:ln w="12700">
            <a:solidFill>
              <a:srgbClr val="087F8C">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087F8C"/>
                </a:solidFill>
                <a:latin typeface="Aptos" pitchFamily="34" charset="0"/>
                <a:ea typeface="Aptos" pitchFamily="34" charset="-122"/>
                <a:cs typeface="Aptos" pitchFamily="34" charset="-120"/>
              </a:rPr>
              <a:t>UNIT 5009    /    WEEK 01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12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087F8C"/>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087F8C"/>
                </a:solidFill>
                <a:latin typeface="Aptos" pitchFamily="34" charset="0"/>
                <a:ea typeface="Aptos" pitchFamily="34" charset="-122"/>
                <a:cs typeface="Aptos" pitchFamily="34" charset="-120"/>
              </a:rPr>
              <a:t>P1</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Add abnormal and recovery paths</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087F8C"/>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087F8C"/>
          </a:solidFill>
          <a:ln w="12700">
            <a:solidFill>
              <a:srgbClr val="087F8C">
                <a:alpha val="0"/>
              </a:srgbClr>
            </a:solidFill>
            <a:prstDash val="solid"/>
          </a:ln>
        </p:spPr>
      </p:sp>
      <p:sp>
        <p:nvSpPr>
          <p:cNvPr id="12" name="Text 10"/>
          <p:cNvSpPr/>
          <p:nvPr/>
        </p:nvSpPr>
        <p:spPr>
          <a:xfrm>
            <a:off x="969264" y="20299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Explore E-stop during counting, sensor stuck high/low, count timeout, actuator feedback absent, power loss, and reset request.</a:t>
            </a:r>
            <a:endParaRPr lang="en-US" sz="1650" dirty="0"/>
          </a:p>
        </p:txBody>
      </p:sp>
      <p:sp>
        <p:nvSpPr>
          <p:cNvPr id="13" name="Shape 11"/>
          <p:cNvSpPr/>
          <p:nvPr/>
        </p:nvSpPr>
        <p:spPr>
          <a:xfrm>
            <a:off x="713232" y="2816352"/>
            <a:ext cx="100584" cy="100584"/>
          </a:xfrm>
          <a:prstGeom prst="ellipse">
            <a:avLst/>
          </a:prstGeom>
          <a:solidFill>
            <a:srgbClr val="087F8C"/>
          </a:solidFill>
          <a:ln w="12700">
            <a:solidFill>
              <a:srgbClr val="087F8C">
                <a:alpha val="0"/>
              </a:srgbClr>
            </a:solidFill>
            <a:prstDash val="solid"/>
          </a:ln>
        </p:spPr>
      </p:sp>
      <p:sp>
        <p:nvSpPr>
          <p:cNvPr id="14" name="Text 12"/>
          <p:cNvSpPr/>
          <p:nvPr/>
        </p:nvSpPr>
        <p:spPr>
          <a:xfrm>
            <a:off x="969264" y="2706624"/>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Clarify that the exact fault responses are requirements to agree, not undocumented design choices.</a:t>
            </a:r>
            <a:endParaRPr lang="en-US" sz="1650" dirty="0"/>
          </a:p>
        </p:txBody>
      </p:sp>
      <p:sp>
        <p:nvSpPr>
          <p:cNvPr id="15" name="Shape 13"/>
          <p:cNvSpPr/>
          <p:nvPr/>
        </p:nvSpPr>
        <p:spPr>
          <a:xfrm>
            <a:off x="713232" y="3493008"/>
            <a:ext cx="100584" cy="100584"/>
          </a:xfrm>
          <a:prstGeom prst="ellipse">
            <a:avLst/>
          </a:prstGeom>
          <a:solidFill>
            <a:srgbClr val="087F8C"/>
          </a:solidFill>
          <a:ln w="12700">
            <a:solidFill>
              <a:srgbClr val="087F8C">
                <a:alpha val="0"/>
              </a:srgbClr>
            </a:solidFill>
            <a:prstDash val="solid"/>
          </a:ln>
        </p:spPr>
      </p:sp>
      <p:sp>
        <p:nvSpPr>
          <p:cNvPr id="16" name="Text 14"/>
          <p:cNvSpPr/>
          <p:nvPr/>
        </p:nvSpPr>
        <p:spPr>
          <a:xfrm>
            <a:off x="969264" y="3383280"/>
            <a:ext cx="6327648" cy="329184"/>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Ask what must happen before restart is permitted.</a:t>
            </a:r>
            <a:endParaRPr lang="en-US" sz="1650" dirty="0"/>
          </a:p>
        </p:txBody>
      </p:sp>
      <p:sp>
        <p:nvSpPr>
          <p:cNvPr id="17" name="Shape 15"/>
          <p:cNvSpPr/>
          <p:nvPr/>
        </p:nvSpPr>
        <p:spPr>
          <a:xfrm>
            <a:off x="7644384" y="1746504"/>
            <a:ext cx="3941064" cy="4352544"/>
          </a:xfrm>
          <a:prstGeom prst="rect">
            <a:avLst/>
          </a:prstGeom>
          <a:solidFill>
            <a:srgbClr val="E8EFF3"/>
          </a:solidFill>
          <a:ln w="15240">
            <a:solidFill>
              <a:srgbClr val="C8D5DE"/>
            </a:solidFill>
            <a:prstDash val="solid"/>
          </a:ln>
        </p:spPr>
      </p:sp>
      <p:sp>
        <p:nvSpPr>
          <p:cNvPr id="18" name="Text 16"/>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087F8C"/>
                </a:solidFill>
                <a:latin typeface="Aptos" pitchFamily="34" charset="0"/>
                <a:ea typeface="Aptos" pitchFamily="34" charset="-122"/>
                <a:cs typeface="Aptos" pitchFamily="34" charset="-120"/>
              </a:rPr>
              <a:t>IMAGE PLACEHOLDER</a:t>
            </a:r>
            <a:endParaRPr lang="en-US" sz="900" dirty="0"/>
          </a:p>
        </p:txBody>
      </p:sp>
      <p:sp>
        <p:nvSpPr>
          <p:cNvPr id="19" name="Text 17"/>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20" name="Text 18"/>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21" name="Shape 19"/>
          <p:cNvSpPr/>
          <p:nvPr/>
        </p:nvSpPr>
        <p:spPr>
          <a:xfrm>
            <a:off x="7845552" y="5111496"/>
            <a:ext cx="3538728" cy="0"/>
          </a:xfrm>
          <a:prstGeom prst="line">
            <a:avLst/>
          </a:prstGeom>
          <a:noFill/>
          <a:ln w="12700">
            <a:solidFill>
              <a:srgbClr val="C8D5DE"/>
            </a:solidFill>
            <a:prstDash val="solid"/>
          </a:ln>
        </p:spPr>
      </p:sp>
      <p:sp>
        <p:nvSpPr>
          <p:cNvPr id="22" name="Text 20"/>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Add abnormal and recovery paths</a:t>
            </a:r>
            <a:endParaRPr lang="en-US" sz="1050" dirty="0"/>
          </a:p>
        </p:txBody>
      </p:sp>
      <p:sp>
        <p:nvSpPr>
          <p:cNvPr id="23" name="Text 21"/>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4" name="Shape 22"/>
          <p:cNvSpPr/>
          <p:nvPr/>
        </p:nvSpPr>
        <p:spPr>
          <a:xfrm>
            <a:off x="603504" y="6318504"/>
            <a:ext cx="10972800" cy="0"/>
          </a:xfrm>
          <a:prstGeom prst="line">
            <a:avLst/>
          </a:prstGeom>
          <a:noFill/>
          <a:ln w="10160">
            <a:solidFill>
              <a:srgbClr val="D5E0E7"/>
            </a:solidFill>
            <a:prstDash val="solid"/>
          </a:ln>
        </p:spPr>
      </p:sp>
      <p:sp>
        <p:nvSpPr>
          <p:cNvPr id="25" name="Text 23"/>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INVESTIGATING THE MEDPACK APPLICATION</a:t>
            </a:r>
            <a:endParaRPr lang="en-US" sz="800" dirty="0"/>
          </a:p>
        </p:txBody>
      </p:sp>
      <p:sp>
        <p:nvSpPr>
          <p:cNvPr id="26" name="Text 24"/>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06 / 18</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087F8C"/>
          </a:solidFill>
          <a:ln w="12700">
            <a:solidFill>
              <a:srgbClr val="087F8C">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087F8C"/>
                </a:solidFill>
                <a:latin typeface="Aptos" pitchFamily="34" charset="0"/>
                <a:ea typeface="Aptos" pitchFamily="34" charset="-122"/>
                <a:cs typeface="Aptos" pitchFamily="34" charset="-120"/>
              </a:rPr>
              <a:t>UNIT 5009    /    WEEK 01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13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087F8C"/>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087F8C"/>
                </a:solidFill>
                <a:latin typeface="Aptos" pitchFamily="34" charset="0"/>
                <a:ea typeface="Aptos" pitchFamily="34" charset="-122"/>
                <a:cs typeface="Aptos" pitchFamily="34" charset="-120"/>
              </a:rPr>
              <a:t>P1</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2800" b="1" dirty="0">
                <a:solidFill>
                  <a:srgbClr val="1B3448"/>
                </a:solidFill>
                <a:latin typeface="Aptos Display" pitchFamily="34" charset="0"/>
                <a:ea typeface="Aptos Display" pitchFamily="34" charset="-122"/>
                <a:cs typeface="Aptos Display" pitchFamily="34" charset="-120"/>
              </a:rPr>
              <a:t>Convert needs into testable requirements</a:t>
            </a:r>
            <a:endParaRPr lang="en-US" sz="28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087F8C"/>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087F8C"/>
          </a:solidFill>
          <a:ln w="12700">
            <a:solidFill>
              <a:srgbClr val="087F8C">
                <a:alpha val="0"/>
              </a:srgbClr>
            </a:solidFill>
            <a:prstDash val="solid"/>
          </a:ln>
        </p:spPr>
      </p:sp>
      <p:sp>
        <p:nvSpPr>
          <p:cNvPr id="12" name="Text 10"/>
          <p:cNvSpPr/>
          <p:nvPr/>
        </p:nvSpPr>
        <p:spPr>
          <a:xfrm>
            <a:off x="969264" y="20299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Distinguish functional requirements from performance and non-functional requirements.</a:t>
            </a:r>
            <a:endParaRPr lang="en-US" sz="1650" dirty="0"/>
          </a:p>
        </p:txBody>
      </p:sp>
      <p:sp>
        <p:nvSpPr>
          <p:cNvPr id="13" name="Shape 11"/>
          <p:cNvSpPr/>
          <p:nvPr/>
        </p:nvSpPr>
        <p:spPr>
          <a:xfrm>
            <a:off x="713232" y="2816352"/>
            <a:ext cx="100584" cy="100584"/>
          </a:xfrm>
          <a:prstGeom prst="ellipse">
            <a:avLst/>
          </a:prstGeom>
          <a:solidFill>
            <a:srgbClr val="087F8C"/>
          </a:solidFill>
          <a:ln w="12700">
            <a:solidFill>
              <a:srgbClr val="087F8C">
                <a:alpha val="0"/>
              </a:srgbClr>
            </a:solidFill>
            <a:prstDash val="solid"/>
          </a:ln>
        </p:spPr>
      </p:sp>
      <p:sp>
        <p:nvSpPr>
          <p:cNvPr id="14" name="Text 12"/>
          <p:cNvSpPr/>
          <p:nvPr/>
        </p:nvSpPr>
        <p:spPr>
          <a:xfrm>
            <a:off x="969264" y="2706624"/>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Rewrite "count accurately" into questions about pulse width, event rate, target tolerance, and verification method.</a:t>
            </a:r>
            <a:endParaRPr lang="en-US" sz="1650" dirty="0"/>
          </a:p>
        </p:txBody>
      </p:sp>
      <p:sp>
        <p:nvSpPr>
          <p:cNvPr id="15" name="Shape 13"/>
          <p:cNvSpPr/>
          <p:nvPr/>
        </p:nvSpPr>
        <p:spPr>
          <a:xfrm>
            <a:off x="713232" y="3493008"/>
            <a:ext cx="100584" cy="100584"/>
          </a:xfrm>
          <a:prstGeom prst="ellipse">
            <a:avLst/>
          </a:prstGeom>
          <a:solidFill>
            <a:srgbClr val="087F8C"/>
          </a:solidFill>
          <a:ln w="12700">
            <a:solidFill>
              <a:srgbClr val="087F8C">
                <a:alpha val="0"/>
              </a:srgbClr>
            </a:solidFill>
            <a:prstDash val="solid"/>
          </a:ln>
        </p:spPr>
      </p:sp>
      <p:sp>
        <p:nvSpPr>
          <p:cNvPr id="16" name="Text 14"/>
          <p:cNvSpPr/>
          <p:nvPr/>
        </p:nvSpPr>
        <p:spPr>
          <a:xfrm>
            <a:off x="969264" y="3383280"/>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Worksheet columns: requirement, measurable acceptance condition, source/owner, priority, open question.</a:t>
            </a:r>
            <a:endParaRPr lang="en-US" sz="1650" dirty="0"/>
          </a:p>
        </p:txBody>
      </p:sp>
      <p:sp>
        <p:nvSpPr>
          <p:cNvPr id="17" name="Shape 15"/>
          <p:cNvSpPr/>
          <p:nvPr/>
        </p:nvSpPr>
        <p:spPr>
          <a:xfrm>
            <a:off x="7644384" y="1746504"/>
            <a:ext cx="3941064" cy="4352544"/>
          </a:xfrm>
          <a:prstGeom prst="rect">
            <a:avLst/>
          </a:prstGeom>
          <a:solidFill>
            <a:srgbClr val="E8EFF3"/>
          </a:solidFill>
          <a:ln w="15240">
            <a:solidFill>
              <a:srgbClr val="C8D5DE"/>
            </a:solidFill>
            <a:prstDash val="solid"/>
          </a:ln>
        </p:spPr>
      </p:sp>
      <p:sp>
        <p:nvSpPr>
          <p:cNvPr id="18" name="Text 16"/>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087F8C"/>
                </a:solidFill>
                <a:latin typeface="Aptos" pitchFamily="34" charset="0"/>
                <a:ea typeface="Aptos" pitchFamily="34" charset="-122"/>
                <a:cs typeface="Aptos" pitchFamily="34" charset="-120"/>
              </a:rPr>
              <a:t>IMAGE PLACEHOLDER</a:t>
            </a:r>
            <a:endParaRPr lang="en-US" sz="900" dirty="0"/>
          </a:p>
        </p:txBody>
      </p:sp>
      <p:sp>
        <p:nvSpPr>
          <p:cNvPr id="19" name="Text 17"/>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20" name="Text 18"/>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21" name="Shape 19"/>
          <p:cNvSpPr/>
          <p:nvPr/>
        </p:nvSpPr>
        <p:spPr>
          <a:xfrm>
            <a:off x="7845552" y="5111496"/>
            <a:ext cx="3538728" cy="0"/>
          </a:xfrm>
          <a:prstGeom prst="line">
            <a:avLst/>
          </a:prstGeom>
          <a:noFill/>
          <a:ln w="12700">
            <a:solidFill>
              <a:srgbClr val="C8D5DE"/>
            </a:solidFill>
            <a:prstDash val="solid"/>
          </a:ln>
        </p:spPr>
      </p:sp>
      <p:sp>
        <p:nvSpPr>
          <p:cNvPr id="22" name="Text 20"/>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Convert needs into testable requirements</a:t>
            </a:r>
            <a:endParaRPr lang="en-US" sz="1050" dirty="0"/>
          </a:p>
        </p:txBody>
      </p:sp>
      <p:sp>
        <p:nvSpPr>
          <p:cNvPr id="23" name="Text 21"/>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4" name="Shape 22"/>
          <p:cNvSpPr/>
          <p:nvPr/>
        </p:nvSpPr>
        <p:spPr>
          <a:xfrm>
            <a:off x="603504" y="6318504"/>
            <a:ext cx="10972800" cy="0"/>
          </a:xfrm>
          <a:prstGeom prst="line">
            <a:avLst/>
          </a:prstGeom>
          <a:noFill/>
          <a:ln w="10160">
            <a:solidFill>
              <a:srgbClr val="D5E0E7"/>
            </a:solidFill>
            <a:prstDash val="solid"/>
          </a:ln>
        </p:spPr>
      </p:sp>
      <p:sp>
        <p:nvSpPr>
          <p:cNvPr id="25" name="Text 23"/>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INVESTIGATING THE MEDPACK APPLICATION</a:t>
            </a:r>
            <a:endParaRPr lang="en-US" sz="800" dirty="0"/>
          </a:p>
        </p:txBody>
      </p:sp>
      <p:sp>
        <p:nvSpPr>
          <p:cNvPr id="26" name="Text 24"/>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07 / 18</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087F8C"/>
          </a:solidFill>
          <a:ln w="12700">
            <a:solidFill>
              <a:srgbClr val="087F8C">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087F8C"/>
                </a:solidFill>
                <a:latin typeface="Aptos" pitchFamily="34" charset="0"/>
                <a:ea typeface="Aptos" pitchFamily="34" charset="-122"/>
                <a:cs typeface="Aptos" pitchFamily="34" charset="-120"/>
              </a:rPr>
              <a:t>UNIT 5009    /    WEEK 01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10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087F8C"/>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087F8C"/>
                </a:solidFill>
                <a:latin typeface="Aptos" pitchFamily="34" charset="0"/>
                <a:ea typeface="Aptos" pitchFamily="34" charset="-122"/>
                <a:cs typeface="Aptos" pitchFamily="34" charset="-120"/>
              </a:rPr>
              <a:t>P1</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2800" b="1" dirty="0">
                <a:solidFill>
                  <a:srgbClr val="1B3448"/>
                </a:solidFill>
                <a:latin typeface="Aptos Display" pitchFamily="34" charset="0"/>
                <a:ea typeface="Aptos Display" pitchFamily="34" charset="-122"/>
                <a:cs typeface="Aptos Display" pitchFamily="34" charset="-120"/>
              </a:rPr>
              <a:t>Identify external input and output devices</a:t>
            </a:r>
            <a:endParaRPr lang="en-US" sz="28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087F8C"/>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087F8C"/>
          </a:solidFill>
          <a:ln w="12700">
            <a:solidFill>
              <a:srgbClr val="087F8C">
                <a:alpha val="0"/>
              </a:srgbClr>
            </a:solidFill>
            <a:prstDash val="solid"/>
          </a:ln>
        </p:spPr>
      </p:sp>
      <p:sp>
        <p:nvSpPr>
          <p:cNvPr id="12" name="Text 10"/>
          <p:cNvSpPr/>
          <p:nvPr/>
        </p:nvSpPr>
        <p:spPr>
          <a:xfrm>
            <a:off x="969264" y="2029968"/>
            <a:ext cx="6327648" cy="804672"/>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Create a field-device map: pushbuttons, E-stop status feedback, pill sensor, actuator, buzzer, indicator lamps, and any confirmed feedback sensors.</a:t>
            </a:r>
            <a:endParaRPr lang="en-US" sz="1650" dirty="0"/>
          </a:p>
        </p:txBody>
      </p:sp>
      <p:sp>
        <p:nvSpPr>
          <p:cNvPr id="13" name="Shape 11"/>
          <p:cNvSpPr/>
          <p:nvPr/>
        </p:nvSpPr>
        <p:spPr>
          <a:xfrm>
            <a:off x="713232" y="3054096"/>
            <a:ext cx="100584" cy="100584"/>
          </a:xfrm>
          <a:prstGeom prst="ellipse">
            <a:avLst/>
          </a:prstGeom>
          <a:solidFill>
            <a:srgbClr val="087F8C"/>
          </a:solidFill>
          <a:ln w="12700">
            <a:solidFill>
              <a:srgbClr val="087F8C">
                <a:alpha val="0"/>
              </a:srgbClr>
            </a:solidFill>
            <a:prstDash val="solid"/>
          </a:ln>
        </p:spPr>
      </p:sp>
      <p:sp>
        <p:nvSpPr>
          <p:cNvPr id="14" name="Text 12"/>
          <p:cNvSpPr/>
          <p:nvPr/>
        </p:nvSpPr>
        <p:spPr>
          <a:xfrm>
            <a:off x="969264" y="2944368"/>
            <a:ext cx="6327648" cy="804672"/>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Label each signal as digital or analogue; do not assume an unmentioned temperature or process sensor is part of the required station.</a:t>
            </a:r>
            <a:endParaRPr lang="en-US" sz="1650" dirty="0"/>
          </a:p>
        </p:txBody>
      </p:sp>
      <p:sp>
        <p:nvSpPr>
          <p:cNvPr id="15" name="Shape 13"/>
          <p:cNvSpPr/>
          <p:nvPr/>
        </p:nvSpPr>
        <p:spPr>
          <a:xfrm>
            <a:off x="713232" y="3968496"/>
            <a:ext cx="100584" cy="100584"/>
          </a:xfrm>
          <a:prstGeom prst="ellipse">
            <a:avLst/>
          </a:prstGeom>
          <a:solidFill>
            <a:srgbClr val="087F8C"/>
          </a:solidFill>
          <a:ln w="12700">
            <a:solidFill>
              <a:srgbClr val="087F8C">
                <a:alpha val="0"/>
              </a:srgbClr>
            </a:solidFill>
            <a:prstDash val="solid"/>
          </a:ln>
        </p:spPr>
      </p:sp>
      <p:sp>
        <p:nvSpPr>
          <p:cNvPr id="16" name="Text 14"/>
          <p:cNvSpPr/>
          <p:nvPr/>
        </p:nvSpPr>
        <p:spPr>
          <a:xfrm>
            <a:off x="969264" y="38587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Introduce 24 V DC as a common example, then require confirmation from the actual hardware.</a:t>
            </a:r>
            <a:endParaRPr lang="en-US" sz="1650" dirty="0"/>
          </a:p>
        </p:txBody>
      </p:sp>
      <p:sp>
        <p:nvSpPr>
          <p:cNvPr id="17" name="Shape 15"/>
          <p:cNvSpPr/>
          <p:nvPr/>
        </p:nvSpPr>
        <p:spPr>
          <a:xfrm>
            <a:off x="7644384" y="1746504"/>
            <a:ext cx="3941064" cy="4352544"/>
          </a:xfrm>
          <a:prstGeom prst="rect">
            <a:avLst/>
          </a:prstGeom>
          <a:solidFill>
            <a:srgbClr val="E8EFF3"/>
          </a:solidFill>
          <a:ln w="15240">
            <a:solidFill>
              <a:srgbClr val="C8D5DE"/>
            </a:solidFill>
            <a:prstDash val="solid"/>
          </a:ln>
        </p:spPr>
      </p:sp>
      <p:sp>
        <p:nvSpPr>
          <p:cNvPr id="18" name="Text 16"/>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087F8C"/>
                </a:solidFill>
                <a:latin typeface="Aptos" pitchFamily="34" charset="0"/>
                <a:ea typeface="Aptos" pitchFamily="34" charset="-122"/>
                <a:cs typeface="Aptos" pitchFamily="34" charset="-120"/>
              </a:rPr>
              <a:t>IMAGE PLACEHOLDER</a:t>
            </a:r>
            <a:endParaRPr lang="en-US" sz="900" dirty="0"/>
          </a:p>
        </p:txBody>
      </p:sp>
      <p:sp>
        <p:nvSpPr>
          <p:cNvPr id="19" name="Text 17"/>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20" name="Text 18"/>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21" name="Shape 19"/>
          <p:cNvSpPr/>
          <p:nvPr/>
        </p:nvSpPr>
        <p:spPr>
          <a:xfrm>
            <a:off x="7845552" y="5111496"/>
            <a:ext cx="3538728" cy="0"/>
          </a:xfrm>
          <a:prstGeom prst="line">
            <a:avLst/>
          </a:prstGeom>
          <a:noFill/>
          <a:ln w="12700">
            <a:solidFill>
              <a:srgbClr val="C8D5DE"/>
            </a:solidFill>
            <a:prstDash val="solid"/>
          </a:ln>
        </p:spPr>
      </p:sp>
      <p:sp>
        <p:nvSpPr>
          <p:cNvPr id="22" name="Text 20"/>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Identify external input and output devices</a:t>
            </a:r>
            <a:endParaRPr lang="en-US" sz="1050" dirty="0"/>
          </a:p>
        </p:txBody>
      </p:sp>
      <p:sp>
        <p:nvSpPr>
          <p:cNvPr id="23" name="Text 21"/>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4" name="Shape 22"/>
          <p:cNvSpPr/>
          <p:nvPr/>
        </p:nvSpPr>
        <p:spPr>
          <a:xfrm>
            <a:off x="603504" y="6318504"/>
            <a:ext cx="10972800" cy="0"/>
          </a:xfrm>
          <a:prstGeom prst="line">
            <a:avLst/>
          </a:prstGeom>
          <a:noFill/>
          <a:ln w="10160">
            <a:solidFill>
              <a:srgbClr val="D5E0E7"/>
            </a:solidFill>
            <a:prstDash val="solid"/>
          </a:ln>
        </p:spPr>
      </p:sp>
      <p:sp>
        <p:nvSpPr>
          <p:cNvPr id="25" name="Text 23"/>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INVESTIGATING THE MEDPACK APPLICATION</a:t>
            </a:r>
            <a:endParaRPr lang="en-US" sz="800" dirty="0"/>
          </a:p>
        </p:txBody>
      </p:sp>
      <p:sp>
        <p:nvSpPr>
          <p:cNvPr id="26" name="Text 24"/>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08 / 18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087F8C"/>
          </a:solidFill>
          <a:ln w="12700">
            <a:solidFill>
              <a:srgbClr val="087F8C">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087F8C"/>
                </a:solidFill>
                <a:latin typeface="Aptos" pitchFamily="34" charset="0"/>
                <a:ea typeface="Aptos" pitchFamily="34" charset="-122"/>
                <a:cs typeface="Aptos" pitchFamily="34" charset="-120"/>
              </a:rPr>
              <a:t>UNIT 5009    /    WEEK 01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15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087F8C"/>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087F8C"/>
                </a:solidFill>
                <a:latin typeface="Aptos" pitchFamily="34" charset="0"/>
                <a:ea typeface="Aptos" pitchFamily="34" charset="-122"/>
                <a:cs typeface="Aptos" pitchFamily="34" charset="-120"/>
              </a:rPr>
              <a:t>P1</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Environment and operating conditions</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087F8C"/>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087F8C"/>
          </a:solidFill>
          <a:ln w="12700">
            <a:solidFill>
              <a:srgbClr val="087F8C">
                <a:alpha val="0"/>
              </a:srgbClr>
            </a:solidFill>
            <a:prstDash val="solid"/>
          </a:ln>
        </p:spPr>
      </p:sp>
      <p:sp>
        <p:nvSpPr>
          <p:cNvPr id="12" name="Text 10"/>
          <p:cNvSpPr/>
          <p:nvPr/>
        </p:nvSpPr>
        <p:spPr>
          <a:xfrm>
            <a:off x="969264" y="2029968"/>
            <a:ext cx="6327648" cy="804672"/>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Investigate EMI, cable length/routing, enclosure and panel space, temperature, vibration, moisture/cleaning, service access, and production uptime.</a:t>
            </a:r>
            <a:endParaRPr lang="en-US" sz="1650" dirty="0"/>
          </a:p>
        </p:txBody>
      </p:sp>
      <p:sp>
        <p:nvSpPr>
          <p:cNvPr id="13" name="Shape 11"/>
          <p:cNvSpPr/>
          <p:nvPr/>
        </p:nvSpPr>
        <p:spPr>
          <a:xfrm>
            <a:off x="713232" y="3054096"/>
            <a:ext cx="100584" cy="100584"/>
          </a:xfrm>
          <a:prstGeom prst="ellipse">
            <a:avLst/>
          </a:prstGeom>
          <a:solidFill>
            <a:srgbClr val="087F8C"/>
          </a:solidFill>
          <a:ln w="12700">
            <a:solidFill>
              <a:srgbClr val="087F8C">
                <a:alpha val="0"/>
              </a:srgbClr>
            </a:solidFill>
            <a:prstDash val="solid"/>
          </a:ln>
        </p:spPr>
      </p:sp>
      <p:sp>
        <p:nvSpPr>
          <p:cNvPr id="14" name="Text 12"/>
          <p:cNvSpPr/>
          <p:nvPr/>
        </p:nvSpPr>
        <p:spPr>
          <a:xfrm>
            <a:off x="969264" y="2944368"/>
            <a:ext cx="6327648" cy="329184"/>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Use a fact/assumption/question sorting activity.</a:t>
            </a:r>
            <a:endParaRPr lang="en-US" sz="1650" dirty="0"/>
          </a:p>
        </p:txBody>
      </p:sp>
      <p:sp>
        <p:nvSpPr>
          <p:cNvPr id="15" name="Shape 13"/>
          <p:cNvSpPr/>
          <p:nvPr/>
        </p:nvSpPr>
        <p:spPr>
          <a:xfrm>
            <a:off x="713232" y="3493008"/>
            <a:ext cx="100584" cy="100584"/>
          </a:xfrm>
          <a:prstGeom prst="ellipse">
            <a:avLst/>
          </a:prstGeom>
          <a:solidFill>
            <a:srgbClr val="087F8C"/>
          </a:solidFill>
          <a:ln w="12700">
            <a:solidFill>
              <a:srgbClr val="087F8C">
                <a:alpha val="0"/>
              </a:srgbClr>
            </a:solidFill>
            <a:prstDash val="solid"/>
          </a:ln>
        </p:spPr>
      </p:sp>
      <p:sp>
        <p:nvSpPr>
          <p:cNvPr id="16" name="Text 14"/>
          <p:cNvSpPr/>
          <p:nvPr/>
        </p:nvSpPr>
        <p:spPr>
          <a:xfrm>
            <a:off x="969264" y="3383280"/>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Treat cleanroom, washdown, or hazardous-area status as questions for the site; do not invent them for MedPack.</a:t>
            </a:r>
            <a:endParaRPr lang="en-US" sz="1650" dirty="0"/>
          </a:p>
        </p:txBody>
      </p:sp>
      <p:sp>
        <p:nvSpPr>
          <p:cNvPr id="17" name="Shape 15"/>
          <p:cNvSpPr/>
          <p:nvPr/>
        </p:nvSpPr>
        <p:spPr>
          <a:xfrm>
            <a:off x="7644384" y="1746504"/>
            <a:ext cx="3941064" cy="4352544"/>
          </a:xfrm>
          <a:prstGeom prst="rect">
            <a:avLst/>
          </a:prstGeom>
          <a:solidFill>
            <a:srgbClr val="E8EFF3"/>
          </a:solidFill>
          <a:ln w="15240">
            <a:solidFill>
              <a:srgbClr val="C8D5DE"/>
            </a:solidFill>
            <a:prstDash val="solid"/>
          </a:ln>
        </p:spPr>
      </p:sp>
      <p:sp>
        <p:nvSpPr>
          <p:cNvPr id="18" name="Text 16"/>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087F8C"/>
                </a:solidFill>
                <a:latin typeface="Aptos" pitchFamily="34" charset="0"/>
                <a:ea typeface="Aptos" pitchFamily="34" charset="-122"/>
                <a:cs typeface="Aptos" pitchFamily="34" charset="-120"/>
              </a:rPr>
              <a:t>IMAGE PLACEHOLDER</a:t>
            </a:r>
            <a:endParaRPr lang="en-US" sz="900" dirty="0"/>
          </a:p>
        </p:txBody>
      </p:sp>
      <p:sp>
        <p:nvSpPr>
          <p:cNvPr id="19" name="Text 17"/>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20" name="Text 18"/>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21" name="Shape 19"/>
          <p:cNvSpPr/>
          <p:nvPr/>
        </p:nvSpPr>
        <p:spPr>
          <a:xfrm>
            <a:off x="7845552" y="5111496"/>
            <a:ext cx="3538728" cy="0"/>
          </a:xfrm>
          <a:prstGeom prst="line">
            <a:avLst/>
          </a:prstGeom>
          <a:noFill/>
          <a:ln w="12700">
            <a:solidFill>
              <a:srgbClr val="C8D5DE"/>
            </a:solidFill>
            <a:prstDash val="solid"/>
          </a:ln>
        </p:spPr>
      </p:sp>
      <p:sp>
        <p:nvSpPr>
          <p:cNvPr id="22" name="Text 20"/>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Environment and operating conditions</a:t>
            </a:r>
            <a:endParaRPr lang="en-US" sz="1050" dirty="0"/>
          </a:p>
        </p:txBody>
      </p:sp>
      <p:sp>
        <p:nvSpPr>
          <p:cNvPr id="23" name="Text 21"/>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4" name="Shape 22"/>
          <p:cNvSpPr/>
          <p:nvPr/>
        </p:nvSpPr>
        <p:spPr>
          <a:xfrm>
            <a:off x="603504" y="6318504"/>
            <a:ext cx="10972800" cy="0"/>
          </a:xfrm>
          <a:prstGeom prst="line">
            <a:avLst/>
          </a:prstGeom>
          <a:noFill/>
          <a:ln w="10160">
            <a:solidFill>
              <a:srgbClr val="D5E0E7"/>
            </a:solidFill>
            <a:prstDash val="solid"/>
          </a:ln>
        </p:spPr>
      </p:sp>
      <p:sp>
        <p:nvSpPr>
          <p:cNvPr id="25" name="Text 23"/>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INVESTIGATING THE MEDPACK APPLICATION</a:t>
            </a:r>
            <a:endParaRPr lang="en-US" sz="800" dirty="0"/>
          </a:p>
        </p:txBody>
      </p:sp>
      <p:sp>
        <p:nvSpPr>
          <p:cNvPr id="26" name="Text 24"/>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09 / 18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087F8C"/>
          </a:solidFill>
          <a:ln w="12700">
            <a:solidFill>
              <a:srgbClr val="087F8C">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087F8C"/>
                </a:solidFill>
                <a:latin typeface="Aptos" pitchFamily="34" charset="0"/>
                <a:ea typeface="Aptos" pitchFamily="34" charset="-122"/>
                <a:cs typeface="Aptos" pitchFamily="34" charset="-120"/>
              </a:rPr>
              <a:t>UNIT 5009    /    WEEK 01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10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087F8C"/>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087F8C"/>
                </a:solidFill>
                <a:latin typeface="Aptos" pitchFamily="34" charset="0"/>
                <a:ea typeface="Aptos" pitchFamily="34" charset="-122"/>
                <a:cs typeface="Aptos" pitchFamily="34" charset="-120"/>
              </a:rPr>
              <a:t>P1</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2800" b="1" dirty="0">
                <a:solidFill>
                  <a:srgbClr val="1B3448"/>
                </a:solidFill>
                <a:latin typeface="Aptos Display" pitchFamily="34" charset="0"/>
                <a:ea typeface="Aptos Display" pitchFamily="34" charset="-122"/>
                <a:cs typeface="Aptos Display" pitchFamily="34" charset="-120"/>
              </a:rPr>
              <a:t>Safety and reliability are design inputs</a:t>
            </a:r>
            <a:endParaRPr lang="en-US" sz="28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087F8C"/>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087F8C"/>
          </a:solidFill>
          <a:ln w="12700">
            <a:solidFill>
              <a:srgbClr val="087F8C">
                <a:alpha val="0"/>
              </a:srgbClr>
            </a:solidFill>
            <a:prstDash val="solid"/>
          </a:ln>
        </p:spPr>
      </p:sp>
      <p:sp>
        <p:nvSpPr>
          <p:cNvPr id="12" name="Text 10"/>
          <p:cNvSpPr/>
          <p:nvPr/>
        </p:nvSpPr>
        <p:spPr>
          <a:xfrm>
            <a:off x="969264" y="20299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Identify hazard, consequence, safe-state expectation, fault response, and recovery conditions.</a:t>
            </a:r>
            <a:endParaRPr lang="en-US" sz="1650" dirty="0"/>
          </a:p>
        </p:txBody>
      </p:sp>
      <p:sp>
        <p:nvSpPr>
          <p:cNvPr id="13" name="Shape 11"/>
          <p:cNvSpPr/>
          <p:nvPr/>
        </p:nvSpPr>
        <p:spPr>
          <a:xfrm>
            <a:off x="713232" y="2816352"/>
            <a:ext cx="100584" cy="100584"/>
          </a:xfrm>
          <a:prstGeom prst="ellipse">
            <a:avLst/>
          </a:prstGeom>
          <a:solidFill>
            <a:srgbClr val="087F8C"/>
          </a:solidFill>
          <a:ln w="12700">
            <a:solidFill>
              <a:srgbClr val="087F8C">
                <a:alpha val="0"/>
              </a:srgbClr>
            </a:solidFill>
            <a:prstDash val="solid"/>
          </a:ln>
        </p:spPr>
      </p:sp>
      <p:sp>
        <p:nvSpPr>
          <p:cNvPr id="14" name="Text 12"/>
          <p:cNvSpPr/>
          <p:nvPr/>
        </p:nvSpPr>
        <p:spPr>
          <a:xfrm>
            <a:off x="969264" y="2706624"/>
            <a:ext cx="6327648" cy="804672"/>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Explain that an E-stop safety function needs an appropriate risk-assessed safety design, such as a suitable safety relay or safety-rated controller; an ordinary PLC...</a:t>
            </a:r>
            <a:endParaRPr lang="en-US" sz="1650" dirty="0"/>
          </a:p>
        </p:txBody>
      </p:sp>
      <p:sp>
        <p:nvSpPr>
          <p:cNvPr id="15" name="Shape 13"/>
          <p:cNvSpPr/>
          <p:nvPr/>
        </p:nvSpPr>
        <p:spPr>
          <a:xfrm>
            <a:off x="713232" y="3730752"/>
            <a:ext cx="100584" cy="100584"/>
          </a:xfrm>
          <a:prstGeom prst="ellipse">
            <a:avLst/>
          </a:prstGeom>
          <a:solidFill>
            <a:srgbClr val="087F8C"/>
          </a:solidFill>
          <a:ln w="12700">
            <a:solidFill>
              <a:srgbClr val="087F8C">
                <a:alpha val="0"/>
              </a:srgbClr>
            </a:solidFill>
            <a:prstDash val="solid"/>
          </a:ln>
        </p:spPr>
      </p:sp>
      <p:sp>
        <p:nvSpPr>
          <p:cNvPr id="16" name="Text 14"/>
          <p:cNvSpPr/>
          <p:nvPr/>
        </p:nvSpPr>
        <p:spPr>
          <a:xfrm>
            <a:off x="969264" y="3621024"/>
            <a:ext cx="6327648" cy="804672"/>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Mention that applicable machinery, electrical, and functional-safety requirements must be verified for the actual machine and jurisdiction.</a:t>
            </a:r>
            <a:endParaRPr lang="en-US" sz="1650" dirty="0"/>
          </a:p>
        </p:txBody>
      </p:sp>
      <p:sp>
        <p:nvSpPr>
          <p:cNvPr id="17" name="Shape 15"/>
          <p:cNvSpPr/>
          <p:nvPr/>
        </p:nvSpPr>
        <p:spPr>
          <a:xfrm>
            <a:off x="7644384" y="1746504"/>
            <a:ext cx="3941064" cy="4352544"/>
          </a:xfrm>
          <a:prstGeom prst="rect">
            <a:avLst/>
          </a:prstGeom>
          <a:solidFill>
            <a:srgbClr val="E8EFF3"/>
          </a:solidFill>
          <a:ln w="15240">
            <a:solidFill>
              <a:srgbClr val="C8D5DE"/>
            </a:solidFill>
            <a:prstDash val="solid"/>
          </a:ln>
        </p:spPr>
      </p:sp>
      <p:sp>
        <p:nvSpPr>
          <p:cNvPr id="18" name="Text 16"/>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087F8C"/>
                </a:solidFill>
                <a:latin typeface="Aptos" pitchFamily="34" charset="0"/>
                <a:ea typeface="Aptos" pitchFamily="34" charset="-122"/>
                <a:cs typeface="Aptos" pitchFamily="34" charset="-120"/>
              </a:rPr>
              <a:t>IMAGE PLACEHOLDER</a:t>
            </a:r>
            <a:endParaRPr lang="en-US" sz="900" dirty="0"/>
          </a:p>
        </p:txBody>
      </p:sp>
      <p:sp>
        <p:nvSpPr>
          <p:cNvPr id="19" name="Text 17"/>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20" name="Text 18"/>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21" name="Shape 19"/>
          <p:cNvSpPr/>
          <p:nvPr/>
        </p:nvSpPr>
        <p:spPr>
          <a:xfrm>
            <a:off x="7845552" y="5111496"/>
            <a:ext cx="3538728" cy="0"/>
          </a:xfrm>
          <a:prstGeom prst="line">
            <a:avLst/>
          </a:prstGeom>
          <a:noFill/>
          <a:ln w="12700">
            <a:solidFill>
              <a:srgbClr val="C8D5DE"/>
            </a:solidFill>
            <a:prstDash val="solid"/>
          </a:ln>
        </p:spPr>
      </p:sp>
      <p:sp>
        <p:nvSpPr>
          <p:cNvPr id="22" name="Text 20"/>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Safety and reliability are design inputs</a:t>
            </a:r>
            <a:endParaRPr lang="en-US" sz="1050" dirty="0"/>
          </a:p>
        </p:txBody>
      </p:sp>
      <p:sp>
        <p:nvSpPr>
          <p:cNvPr id="23" name="Text 21"/>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4" name="Shape 22"/>
          <p:cNvSpPr/>
          <p:nvPr/>
        </p:nvSpPr>
        <p:spPr>
          <a:xfrm>
            <a:off x="603504" y="6318504"/>
            <a:ext cx="10972800" cy="0"/>
          </a:xfrm>
          <a:prstGeom prst="line">
            <a:avLst/>
          </a:prstGeom>
          <a:noFill/>
          <a:ln w="10160">
            <a:solidFill>
              <a:srgbClr val="D5E0E7"/>
            </a:solidFill>
            <a:prstDash val="solid"/>
          </a:ln>
        </p:spPr>
      </p:sp>
      <p:sp>
        <p:nvSpPr>
          <p:cNvPr id="25" name="Text 23"/>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INVESTIGATING THE MEDPACK APPLICATION</a:t>
            </a:r>
            <a:endParaRPr lang="en-US" sz="800" dirty="0"/>
          </a:p>
        </p:txBody>
      </p:sp>
      <p:sp>
        <p:nvSpPr>
          <p:cNvPr id="26" name="Text 24"/>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10 / 18</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087F8C"/>
          </a:solidFill>
          <a:ln w="12700">
            <a:solidFill>
              <a:srgbClr val="087F8C">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087F8C"/>
                </a:solidFill>
                <a:latin typeface="Aptos" pitchFamily="34" charset="0"/>
                <a:ea typeface="Aptos" pitchFamily="34" charset="-122"/>
                <a:cs typeface="Aptos" pitchFamily="34" charset="-120"/>
              </a:rPr>
              <a:t>UNIT 5009    /    WEEK 01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10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087F8C"/>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087F8C"/>
                </a:solidFill>
                <a:latin typeface="Aptos" pitchFamily="34" charset="0"/>
                <a:ea typeface="Aptos" pitchFamily="34" charset="-122"/>
                <a:cs typeface="Aptos" pitchFamily="34" charset="-120"/>
              </a:rPr>
              <a:t>P1</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Draft I/O schedule: inputs</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087F8C"/>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087F8C"/>
          </a:solidFill>
          <a:ln w="12700">
            <a:solidFill>
              <a:srgbClr val="087F8C">
                <a:alpha val="0"/>
              </a:srgbClr>
            </a:solidFill>
            <a:prstDash val="solid"/>
          </a:ln>
        </p:spPr>
      </p:sp>
      <p:sp>
        <p:nvSpPr>
          <p:cNvPr id="12" name="Text 10"/>
          <p:cNvSpPr/>
          <p:nvPr/>
        </p:nvSpPr>
        <p:spPr>
          <a:xfrm>
            <a:off x="969264" y="20299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Table fields: tag, device, DI/AI, signal type/range, normal state, event rate, failure consequence, and unresolved compatibility.</a:t>
            </a:r>
            <a:endParaRPr lang="en-US" sz="1650" dirty="0"/>
          </a:p>
        </p:txBody>
      </p:sp>
      <p:sp>
        <p:nvSpPr>
          <p:cNvPr id="13" name="Shape 11"/>
          <p:cNvSpPr/>
          <p:nvPr/>
        </p:nvSpPr>
        <p:spPr>
          <a:xfrm>
            <a:off x="713232" y="2816352"/>
            <a:ext cx="100584" cy="100584"/>
          </a:xfrm>
          <a:prstGeom prst="ellipse">
            <a:avLst/>
          </a:prstGeom>
          <a:solidFill>
            <a:srgbClr val="087F8C"/>
          </a:solidFill>
          <a:ln w="12700">
            <a:solidFill>
              <a:srgbClr val="087F8C">
                <a:alpha val="0"/>
              </a:srgbClr>
            </a:solidFill>
            <a:prstDash val="solid"/>
          </a:ln>
        </p:spPr>
      </p:sp>
      <p:sp>
        <p:nvSpPr>
          <p:cNvPr id="14" name="Text 12"/>
          <p:cNvSpPr/>
          <p:nvPr/>
        </p:nvSpPr>
        <p:spPr>
          <a:xfrm>
            <a:off x="969264" y="2706624"/>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Include Start, Reset, E-stop status feedback, and pill sensor as brief-based candidates; mark added devices as assumptions.</a:t>
            </a:r>
            <a:endParaRPr lang="en-US" sz="1650" dirty="0"/>
          </a:p>
        </p:txBody>
      </p:sp>
      <p:sp>
        <p:nvSpPr>
          <p:cNvPr id="15" name="Shape 13"/>
          <p:cNvSpPr/>
          <p:nvPr/>
        </p:nvSpPr>
        <p:spPr>
          <a:xfrm>
            <a:off x="7644384" y="1746504"/>
            <a:ext cx="3941064" cy="4352544"/>
          </a:xfrm>
          <a:prstGeom prst="rect">
            <a:avLst/>
          </a:prstGeom>
          <a:solidFill>
            <a:srgbClr val="E8EFF3"/>
          </a:solidFill>
          <a:ln w="15240">
            <a:solidFill>
              <a:srgbClr val="C8D5DE"/>
            </a:solidFill>
            <a:prstDash val="solid"/>
          </a:ln>
        </p:spPr>
      </p:sp>
      <p:sp>
        <p:nvSpPr>
          <p:cNvPr id="16" name="Text 14"/>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087F8C"/>
                </a:solidFill>
                <a:latin typeface="Aptos" pitchFamily="34" charset="0"/>
                <a:ea typeface="Aptos" pitchFamily="34" charset="-122"/>
                <a:cs typeface="Aptos" pitchFamily="34" charset="-120"/>
              </a:rPr>
              <a:t>IMAGE PLACEHOLDER</a:t>
            </a:r>
            <a:endParaRPr lang="en-US" sz="900" dirty="0"/>
          </a:p>
        </p:txBody>
      </p:sp>
      <p:sp>
        <p:nvSpPr>
          <p:cNvPr id="17" name="Text 15"/>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18" name="Text 16"/>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19" name="Shape 17"/>
          <p:cNvSpPr/>
          <p:nvPr/>
        </p:nvSpPr>
        <p:spPr>
          <a:xfrm>
            <a:off x="7845552" y="5111496"/>
            <a:ext cx="3538728" cy="0"/>
          </a:xfrm>
          <a:prstGeom prst="line">
            <a:avLst/>
          </a:prstGeom>
          <a:noFill/>
          <a:ln w="12700">
            <a:solidFill>
              <a:srgbClr val="C8D5DE"/>
            </a:solidFill>
            <a:prstDash val="solid"/>
          </a:ln>
        </p:spPr>
      </p:sp>
      <p:sp>
        <p:nvSpPr>
          <p:cNvPr id="20" name="Text 18"/>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Draft I/O schedule: inputs</a:t>
            </a:r>
            <a:endParaRPr lang="en-US" sz="1050" dirty="0"/>
          </a:p>
        </p:txBody>
      </p:sp>
      <p:sp>
        <p:nvSpPr>
          <p:cNvPr id="21" name="Text 19"/>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2" name="Shape 20"/>
          <p:cNvSpPr/>
          <p:nvPr/>
        </p:nvSpPr>
        <p:spPr>
          <a:xfrm>
            <a:off x="603504" y="6318504"/>
            <a:ext cx="10972800" cy="0"/>
          </a:xfrm>
          <a:prstGeom prst="line">
            <a:avLst/>
          </a:prstGeom>
          <a:noFill/>
          <a:ln w="10160">
            <a:solidFill>
              <a:srgbClr val="D5E0E7"/>
            </a:solidFill>
            <a:prstDash val="solid"/>
          </a:ln>
        </p:spPr>
      </p:sp>
      <p:sp>
        <p:nvSpPr>
          <p:cNvPr id="23" name="Text 21"/>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INVESTIGATING THE MEDPACK APPLICATION</a:t>
            </a:r>
            <a:endParaRPr lang="en-US" sz="800" dirty="0"/>
          </a:p>
        </p:txBody>
      </p:sp>
      <p:sp>
        <p:nvSpPr>
          <p:cNvPr id="24" name="Text 22"/>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11 / 18</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087F8C"/>
          </a:solidFill>
          <a:ln w="12700">
            <a:solidFill>
              <a:srgbClr val="087F8C">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087F8C"/>
                </a:solidFill>
                <a:latin typeface="Aptos" pitchFamily="34" charset="0"/>
                <a:ea typeface="Aptos" pitchFamily="34" charset="-122"/>
                <a:cs typeface="Aptos" pitchFamily="34" charset="-120"/>
              </a:rPr>
              <a:t>UNIT 5009    /    WEEK 01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15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087F8C"/>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087F8C"/>
                </a:solidFill>
                <a:latin typeface="Aptos" pitchFamily="34" charset="0"/>
                <a:ea typeface="Aptos" pitchFamily="34" charset="-122"/>
                <a:cs typeface="Aptos" pitchFamily="34" charset="-120"/>
              </a:rPr>
              <a:t>P1</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Draft I/O schedule: outputs and loads</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087F8C"/>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087F8C"/>
          </a:solidFill>
          <a:ln w="12700">
            <a:solidFill>
              <a:srgbClr val="087F8C">
                <a:alpha val="0"/>
              </a:srgbClr>
            </a:solidFill>
            <a:prstDash val="solid"/>
          </a:ln>
        </p:spPr>
      </p:sp>
      <p:sp>
        <p:nvSpPr>
          <p:cNvPr id="12" name="Text 10"/>
          <p:cNvSpPr/>
          <p:nvPr/>
        </p:nvSpPr>
        <p:spPr>
          <a:xfrm>
            <a:off x="969264" y="20299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Add actuator, buzzer, and indicators; record supply, current, inrush, switching frequency, and interface/load details when known.</a:t>
            </a:r>
            <a:endParaRPr lang="en-US" sz="1650" dirty="0"/>
          </a:p>
        </p:txBody>
      </p:sp>
      <p:sp>
        <p:nvSpPr>
          <p:cNvPr id="13" name="Shape 11"/>
          <p:cNvSpPr/>
          <p:nvPr/>
        </p:nvSpPr>
        <p:spPr>
          <a:xfrm>
            <a:off x="713232" y="2816352"/>
            <a:ext cx="100584" cy="100584"/>
          </a:xfrm>
          <a:prstGeom prst="ellipse">
            <a:avLst/>
          </a:prstGeom>
          <a:solidFill>
            <a:srgbClr val="087F8C"/>
          </a:solidFill>
          <a:ln w="12700">
            <a:solidFill>
              <a:srgbClr val="087F8C">
                <a:alpha val="0"/>
              </a:srgbClr>
            </a:solidFill>
            <a:prstDash val="solid"/>
          </a:ln>
        </p:spPr>
      </p:sp>
      <p:sp>
        <p:nvSpPr>
          <p:cNvPr id="14" name="Text 12"/>
          <p:cNvSpPr/>
          <p:nvPr/>
        </p:nvSpPr>
        <p:spPr>
          <a:xfrm>
            <a:off x="969264" y="2706624"/>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Distinguish a PLC command from the final load-driving device; note where a relay/contactor/driver may be needed.</a:t>
            </a:r>
            <a:endParaRPr lang="en-US" sz="1650" dirty="0"/>
          </a:p>
        </p:txBody>
      </p:sp>
      <p:sp>
        <p:nvSpPr>
          <p:cNvPr id="15" name="Shape 13"/>
          <p:cNvSpPr/>
          <p:nvPr/>
        </p:nvSpPr>
        <p:spPr>
          <a:xfrm>
            <a:off x="713232" y="3493008"/>
            <a:ext cx="100584" cy="100584"/>
          </a:xfrm>
          <a:prstGeom prst="ellipse">
            <a:avLst/>
          </a:prstGeom>
          <a:solidFill>
            <a:srgbClr val="087F8C"/>
          </a:solidFill>
          <a:ln w="12700">
            <a:solidFill>
              <a:srgbClr val="087F8C">
                <a:alpha val="0"/>
              </a:srgbClr>
            </a:solidFill>
            <a:prstDash val="solid"/>
          </a:ln>
        </p:spPr>
      </p:sp>
      <p:sp>
        <p:nvSpPr>
          <p:cNvPr id="16" name="Text 14"/>
          <p:cNvSpPr/>
          <p:nvPr/>
        </p:nvSpPr>
        <p:spPr>
          <a:xfrm>
            <a:off x="969264" y="3383280"/>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Ask students to flag any signal whose voltage/current is not yet evidenced.</a:t>
            </a:r>
            <a:endParaRPr lang="en-US" sz="1650" dirty="0"/>
          </a:p>
        </p:txBody>
      </p:sp>
      <p:sp>
        <p:nvSpPr>
          <p:cNvPr id="17" name="Shape 15"/>
          <p:cNvSpPr/>
          <p:nvPr/>
        </p:nvSpPr>
        <p:spPr>
          <a:xfrm>
            <a:off x="7644384" y="1746504"/>
            <a:ext cx="3941064" cy="4352544"/>
          </a:xfrm>
          <a:prstGeom prst="rect">
            <a:avLst/>
          </a:prstGeom>
          <a:solidFill>
            <a:srgbClr val="E8EFF3"/>
          </a:solidFill>
          <a:ln w="15240">
            <a:solidFill>
              <a:srgbClr val="C8D5DE"/>
            </a:solidFill>
            <a:prstDash val="solid"/>
          </a:ln>
        </p:spPr>
      </p:sp>
      <p:sp>
        <p:nvSpPr>
          <p:cNvPr id="18" name="Text 16"/>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087F8C"/>
                </a:solidFill>
                <a:latin typeface="Aptos" pitchFamily="34" charset="0"/>
                <a:ea typeface="Aptos" pitchFamily="34" charset="-122"/>
                <a:cs typeface="Aptos" pitchFamily="34" charset="-120"/>
              </a:rPr>
              <a:t>IMAGE PLACEHOLDER</a:t>
            </a:r>
            <a:endParaRPr lang="en-US" sz="900" dirty="0"/>
          </a:p>
        </p:txBody>
      </p:sp>
      <p:sp>
        <p:nvSpPr>
          <p:cNvPr id="19" name="Text 17"/>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20" name="Text 18"/>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21" name="Shape 19"/>
          <p:cNvSpPr/>
          <p:nvPr/>
        </p:nvSpPr>
        <p:spPr>
          <a:xfrm>
            <a:off x="7845552" y="5111496"/>
            <a:ext cx="3538728" cy="0"/>
          </a:xfrm>
          <a:prstGeom prst="line">
            <a:avLst/>
          </a:prstGeom>
          <a:noFill/>
          <a:ln w="12700">
            <a:solidFill>
              <a:srgbClr val="C8D5DE"/>
            </a:solidFill>
            <a:prstDash val="solid"/>
          </a:ln>
        </p:spPr>
      </p:sp>
      <p:sp>
        <p:nvSpPr>
          <p:cNvPr id="22" name="Text 20"/>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Draft I/O schedule: outputs and loads</a:t>
            </a:r>
            <a:endParaRPr lang="en-US" sz="1050" dirty="0"/>
          </a:p>
        </p:txBody>
      </p:sp>
      <p:sp>
        <p:nvSpPr>
          <p:cNvPr id="23" name="Text 21"/>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4" name="Shape 22"/>
          <p:cNvSpPr/>
          <p:nvPr/>
        </p:nvSpPr>
        <p:spPr>
          <a:xfrm>
            <a:off x="603504" y="6318504"/>
            <a:ext cx="10972800" cy="0"/>
          </a:xfrm>
          <a:prstGeom prst="line">
            <a:avLst/>
          </a:prstGeom>
          <a:noFill/>
          <a:ln w="10160">
            <a:solidFill>
              <a:srgbClr val="D5E0E7"/>
            </a:solidFill>
            <a:prstDash val="solid"/>
          </a:ln>
        </p:spPr>
      </p:sp>
      <p:sp>
        <p:nvSpPr>
          <p:cNvPr id="25" name="Text 23"/>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INVESTIGATING THE MEDPACK APPLICATION</a:t>
            </a:r>
            <a:endParaRPr lang="en-US" sz="800" dirty="0"/>
          </a:p>
        </p:txBody>
      </p:sp>
      <p:sp>
        <p:nvSpPr>
          <p:cNvPr id="26" name="Text 24"/>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12 / 18</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087F8C"/>
          </a:solidFill>
          <a:ln w="12700">
            <a:solidFill>
              <a:srgbClr val="087F8C">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087F8C"/>
                </a:solidFill>
                <a:latin typeface="Aptos" pitchFamily="34" charset="0"/>
                <a:ea typeface="Aptos" pitchFamily="34" charset="-122"/>
                <a:cs typeface="Aptos" pitchFamily="34" charset="-120"/>
              </a:rPr>
              <a:t>UNIT 5009    /    WEEK 01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10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087F8C"/>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087F8C"/>
                </a:solidFill>
                <a:latin typeface="Aptos" pitchFamily="34" charset="0"/>
                <a:ea typeface="Aptos" pitchFamily="34" charset="-122"/>
                <a:cs typeface="Aptos" pitchFamily="34" charset="-120"/>
              </a:rPr>
              <a:t>P1</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2800" b="1" dirty="0">
                <a:solidFill>
                  <a:srgbClr val="1B3448"/>
                </a:solidFill>
                <a:latin typeface="Aptos Display" pitchFamily="34" charset="0"/>
                <a:ea typeface="Aptos Display" pitchFamily="34" charset="-122"/>
                <a:cs typeface="Aptos Display" pitchFamily="34" charset="-120"/>
              </a:rPr>
              <a:t>Prioritise requirements and open questions</a:t>
            </a:r>
            <a:endParaRPr lang="en-US" sz="28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087F8C"/>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087F8C"/>
          </a:solidFill>
          <a:ln w="12700">
            <a:solidFill>
              <a:srgbClr val="087F8C">
                <a:alpha val="0"/>
              </a:srgbClr>
            </a:solidFill>
            <a:prstDash val="solid"/>
          </a:ln>
        </p:spPr>
      </p:sp>
      <p:sp>
        <p:nvSpPr>
          <p:cNvPr id="12" name="Text 10"/>
          <p:cNvSpPr/>
          <p:nvPr/>
        </p:nvSpPr>
        <p:spPr>
          <a:xfrm>
            <a:off x="969264" y="20299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Teams classify requirements as mandatory, desirable, or unresolved and explain their reasoning.</a:t>
            </a:r>
            <a:endParaRPr lang="en-US" sz="1650" dirty="0"/>
          </a:p>
        </p:txBody>
      </p:sp>
      <p:sp>
        <p:nvSpPr>
          <p:cNvPr id="13" name="Shape 11"/>
          <p:cNvSpPr/>
          <p:nvPr/>
        </p:nvSpPr>
        <p:spPr>
          <a:xfrm>
            <a:off x="713232" y="2816352"/>
            <a:ext cx="100584" cy="100584"/>
          </a:xfrm>
          <a:prstGeom prst="ellipse">
            <a:avLst/>
          </a:prstGeom>
          <a:solidFill>
            <a:srgbClr val="087F8C"/>
          </a:solidFill>
          <a:ln w="12700">
            <a:solidFill>
              <a:srgbClr val="087F8C">
                <a:alpha val="0"/>
              </a:srgbClr>
            </a:solidFill>
            <a:prstDash val="solid"/>
          </a:ln>
        </p:spPr>
      </p:sp>
      <p:sp>
        <p:nvSpPr>
          <p:cNvPr id="14" name="Text 12"/>
          <p:cNvSpPr/>
          <p:nvPr/>
        </p:nvSpPr>
        <p:spPr>
          <a:xfrm>
            <a:off x="969264" y="2706624"/>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Identify which unknowns could disqualify a PLC later, such as output load rating or pulse capture capability.</a:t>
            </a:r>
            <a:endParaRPr lang="en-US" sz="1650" dirty="0"/>
          </a:p>
        </p:txBody>
      </p:sp>
      <p:sp>
        <p:nvSpPr>
          <p:cNvPr id="15" name="Shape 13"/>
          <p:cNvSpPr/>
          <p:nvPr/>
        </p:nvSpPr>
        <p:spPr>
          <a:xfrm>
            <a:off x="7644384" y="1746504"/>
            <a:ext cx="3941064" cy="4352544"/>
          </a:xfrm>
          <a:prstGeom prst="rect">
            <a:avLst/>
          </a:prstGeom>
          <a:solidFill>
            <a:srgbClr val="E8EFF3"/>
          </a:solidFill>
          <a:ln w="15240">
            <a:solidFill>
              <a:srgbClr val="C8D5DE"/>
            </a:solidFill>
            <a:prstDash val="solid"/>
          </a:ln>
        </p:spPr>
      </p:sp>
      <p:sp>
        <p:nvSpPr>
          <p:cNvPr id="16" name="Text 14"/>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087F8C"/>
                </a:solidFill>
                <a:latin typeface="Aptos" pitchFamily="34" charset="0"/>
                <a:ea typeface="Aptos" pitchFamily="34" charset="-122"/>
                <a:cs typeface="Aptos" pitchFamily="34" charset="-120"/>
              </a:rPr>
              <a:t>IMAGE PLACEHOLDER</a:t>
            </a:r>
            <a:endParaRPr lang="en-US" sz="900" dirty="0"/>
          </a:p>
        </p:txBody>
      </p:sp>
      <p:sp>
        <p:nvSpPr>
          <p:cNvPr id="17" name="Text 15"/>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18" name="Text 16"/>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19" name="Shape 17"/>
          <p:cNvSpPr/>
          <p:nvPr/>
        </p:nvSpPr>
        <p:spPr>
          <a:xfrm>
            <a:off x="7845552" y="5111496"/>
            <a:ext cx="3538728" cy="0"/>
          </a:xfrm>
          <a:prstGeom prst="line">
            <a:avLst/>
          </a:prstGeom>
          <a:noFill/>
          <a:ln w="12700">
            <a:solidFill>
              <a:srgbClr val="C8D5DE"/>
            </a:solidFill>
            <a:prstDash val="solid"/>
          </a:ln>
        </p:spPr>
      </p:sp>
      <p:sp>
        <p:nvSpPr>
          <p:cNvPr id="20" name="Text 18"/>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Prioritise requirements and open questions</a:t>
            </a:r>
            <a:endParaRPr lang="en-US" sz="1050" dirty="0"/>
          </a:p>
        </p:txBody>
      </p:sp>
      <p:sp>
        <p:nvSpPr>
          <p:cNvPr id="21" name="Text 19"/>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2" name="Shape 20"/>
          <p:cNvSpPr/>
          <p:nvPr/>
        </p:nvSpPr>
        <p:spPr>
          <a:xfrm>
            <a:off x="603504" y="6318504"/>
            <a:ext cx="10972800" cy="0"/>
          </a:xfrm>
          <a:prstGeom prst="line">
            <a:avLst/>
          </a:prstGeom>
          <a:noFill/>
          <a:ln w="10160">
            <a:solidFill>
              <a:srgbClr val="D5E0E7"/>
            </a:solidFill>
            <a:prstDash val="solid"/>
          </a:ln>
        </p:spPr>
      </p:sp>
      <p:sp>
        <p:nvSpPr>
          <p:cNvPr id="23" name="Text 21"/>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INVESTIGATING THE MEDPACK APPLICATION</a:t>
            </a:r>
            <a:endParaRPr lang="en-US" sz="800" dirty="0"/>
          </a:p>
        </p:txBody>
      </p:sp>
      <p:sp>
        <p:nvSpPr>
          <p:cNvPr id="24" name="Text 22"/>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13 / 18</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087F8C"/>
          </a:solidFill>
          <a:ln w="12700">
            <a:solidFill>
              <a:srgbClr val="087F8C">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087F8C"/>
                </a:solidFill>
                <a:latin typeface="Aptos" pitchFamily="34" charset="0"/>
                <a:ea typeface="Aptos" pitchFamily="34" charset="-122"/>
                <a:cs typeface="Aptos" pitchFamily="34" charset="-120"/>
              </a:rPr>
              <a:t>UNIT 5009    /    WEEK 01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10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087F8C"/>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087F8C"/>
                </a:solidFill>
                <a:latin typeface="Aptos" pitchFamily="34" charset="0"/>
                <a:ea typeface="Aptos" pitchFamily="34" charset="-122"/>
                <a:cs typeface="Aptos" pitchFamily="34" charset="-120"/>
              </a:rPr>
              <a:t>P1</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Sketch the station block diagram</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087F8C"/>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087F8C"/>
          </a:solidFill>
          <a:ln w="12700">
            <a:solidFill>
              <a:srgbClr val="087F8C">
                <a:alpha val="0"/>
              </a:srgbClr>
            </a:solidFill>
            <a:prstDash val="solid"/>
          </a:ln>
        </p:spPr>
      </p:sp>
      <p:sp>
        <p:nvSpPr>
          <p:cNvPr id="12" name="Text 10"/>
          <p:cNvSpPr/>
          <p:nvPr/>
        </p:nvSpPr>
        <p:spPr>
          <a:xfrm>
            <a:off x="969264" y="20299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Draw field devices -&gt; PLC I/O -&gt; CPU/logic -&gt; load interface -&gt; actuator/buzzer, with operator interface and safety boundary.</a:t>
            </a:r>
            <a:endParaRPr lang="en-US" sz="1650" dirty="0"/>
          </a:p>
        </p:txBody>
      </p:sp>
      <p:sp>
        <p:nvSpPr>
          <p:cNvPr id="13" name="Shape 11"/>
          <p:cNvSpPr/>
          <p:nvPr/>
        </p:nvSpPr>
        <p:spPr>
          <a:xfrm>
            <a:off x="713232" y="2816352"/>
            <a:ext cx="100584" cy="100584"/>
          </a:xfrm>
          <a:prstGeom prst="ellipse">
            <a:avLst/>
          </a:prstGeom>
          <a:solidFill>
            <a:srgbClr val="087F8C"/>
          </a:solidFill>
          <a:ln w="12700">
            <a:solidFill>
              <a:srgbClr val="087F8C">
                <a:alpha val="0"/>
              </a:srgbClr>
            </a:solidFill>
            <a:prstDash val="solid"/>
          </a:ln>
        </p:spPr>
      </p:sp>
      <p:sp>
        <p:nvSpPr>
          <p:cNvPr id="14" name="Text 12"/>
          <p:cNvSpPr/>
          <p:nvPr/>
        </p:nvSpPr>
        <p:spPr>
          <a:xfrm>
            <a:off x="969264" y="2706624"/>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Show power and communication lines separately from process signal arrows.</a:t>
            </a:r>
            <a:endParaRPr lang="en-US" sz="1650" dirty="0"/>
          </a:p>
        </p:txBody>
      </p:sp>
      <p:sp>
        <p:nvSpPr>
          <p:cNvPr id="15" name="Shape 13"/>
          <p:cNvSpPr/>
          <p:nvPr/>
        </p:nvSpPr>
        <p:spPr>
          <a:xfrm>
            <a:off x="7644384" y="1746504"/>
            <a:ext cx="3941064" cy="4352544"/>
          </a:xfrm>
          <a:prstGeom prst="rect">
            <a:avLst/>
          </a:prstGeom>
          <a:solidFill>
            <a:srgbClr val="E8EFF3"/>
          </a:solidFill>
          <a:ln w="15240">
            <a:solidFill>
              <a:srgbClr val="C8D5DE"/>
            </a:solidFill>
            <a:prstDash val="solid"/>
          </a:ln>
        </p:spPr>
      </p:sp>
      <p:sp>
        <p:nvSpPr>
          <p:cNvPr id="16" name="Text 14"/>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087F8C"/>
                </a:solidFill>
                <a:latin typeface="Aptos" pitchFamily="34" charset="0"/>
                <a:ea typeface="Aptos" pitchFamily="34" charset="-122"/>
                <a:cs typeface="Aptos" pitchFamily="34" charset="-120"/>
              </a:rPr>
              <a:t>IMAGE PLACEHOLDER</a:t>
            </a:r>
            <a:endParaRPr lang="en-US" sz="900" dirty="0"/>
          </a:p>
        </p:txBody>
      </p:sp>
      <p:sp>
        <p:nvSpPr>
          <p:cNvPr id="17" name="Text 15"/>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18" name="Text 16"/>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19" name="Shape 17"/>
          <p:cNvSpPr/>
          <p:nvPr/>
        </p:nvSpPr>
        <p:spPr>
          <a:xfrm>
            <a:off x="7845552" y="5111496"/>
            <a:ext cx="3538728" cy="0"/>
          </a:xfrm>
          <a:prstGeom prst="line">
            <a:avLst/>
          </a:prstGeom>
          <a:noFill/>
          <a:ln w="12700">
            <a:solidFill>
              <a:srgbClr val="C8D5DE"/>
            </a:solidFill>
            <a:prstDash val="solid"/>
          </a:ln>
        </p:spPr>
      </p:sp>
      <p:sp>
        <p:nvSpPr>
          <p:cNvPr id="20" name="Text 18"/>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Sketch the station block diagram</a:t>
            </a:r>
            <a:endParaRPr lang="en-US" sz="1050" dirty="0"/>
          </a:p>
        </p:txBody>
      </p:sp>
      <p:sp>
        <p:nvSpPr>
          <p:cNvPr id="21" name="Text 19"/>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2" name="Shape 20"/>
          <p:cNvSpPr/>
          <p:nvPr/>
        </p:nvSpPr>
        <p:spPr>
          <a:xfrm>
            <a:off x="603504" y="6318504"/>
            <a:ext cx="10972800" cy="0"/>
          </a:xfrm>
          <a:prstGeom prst="line">
            <a:avLst/>
          </a:prstGeom>
          <a:noFill/>
          <a:ln w="10160">
            <a:solidFill>
              <a:srgbClr val="D5E0E7"/>
            </a:solidFill>
            <a:prstDash val="solid"/>
          </a:ln>
        </p:spPr>
      </p:sp>
      <p:sp>
        <p:nvSpPr>
          <p:cNvPr id="23" name="Text 21"/>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INVESTIGATING THE MEDPACK APPLICATION</a:t>
            </a:r>
            <a:endParaRPr lang="en-US" sz="800" dirty="0"/>
          </a:p>
        </p:txBody>
      </p:sp>
      <p:sp>
        <p:nvSpPr>
          <p:cNvPr id="24" name="Text 22"/>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14 / 18</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087F8C"/>
          </a:solidFill>
          <a:ln w="12700">
            <a:solidFill>
              <a:srgbClr val="087F8C">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087F8C"/>
                </a:solidFill>
                <a:latin typeface="Aptos" pitchFamily="34" charset="0"/>
                <a:ea typeface="Aptos" pitchFamily="34" charset="-122"/>
                <a:cs typeface="Aptos" pitchFamily="34" charset="-120"/>
              </a:rPr>
              <a:t>UNIT 5009    /    WEEK 01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20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087F8C"/>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087F8C"/>
                </a:solidFill>
                <a:latin typeface="Aptos" pitchFamily="34" charset="0"/>
                <a:ea typeface="Aptos" pitchFamily="34" charset="-122"/>
                <a:cs typeface="Aptos" pitchFamily="34" charset="-120"/>
              </a:rPr>
              <a:t>P1</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2500" b="1" dirty="0">
                <a:solidFill>
                  <a:srgbClr val="1B3448"/>
                </a:solidFill>
                <a:latin typeface="Aptos Display" pitchFamily="34" charset="0"/>
                <a:ea typeface="Aptos Display" pitchFamily="34" charset="-122"/>
                <a:cs typeface="Aptos Display" pitchFamily="34" charset="-120"/>
              </a:rPr>
              <a:t>Peer review: is the application actually investigated?</a:t>
            </a:r>
            <a:endParaRPr lang="en-US" sz="25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087F8C"/>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087F8C"/>
          </a:solidFill>
          <a:ln w="12700">
            <a:solidFill>
              <a:srgbClr val="087F8C">
                <a:alpha val="0"/>
              </a:srgbClr>
            </a:solidFill>
            <a:prstDash val="solid"/>
          </a:ln>
        </p:spPr>
      </p:sp>
      <p:sp>
        <p:nvSpPr>
          <p:cNvPr id="12" name="Text 10"/>
          <p:cNvSpPr/>
          <p:nvPr/>
        </p:nvSpPr>
        <p:spPr>
          <a:xfrm>
            <a:off x="969264" y="2029968"/>
            <a:ext cx="6327648" cy="804672"/>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Groups exchange process and I/O drafts and use the P1 checklist: full cycle, E-stop/reset, constraints, environment, reliability, and structured requirements.</a:t>
            </a:r>
            <a:endParaRPr lang="en-US" sz="1650" dirty="0"/>
          </a:p>
        </p:txBody>
      </p:sp>
      <p:sp>
        <p:nvSpPr>
          <p:cNvPr id="13" name="Shape 11"/>
          <p:cNvSpPr/>
          <p:nvPr/>
        </p:nvSpPr>
        <p:spPr>
          <a:xfrm>
            <a:off x="713232" y="3054096"/>
            <a:ext cx="100584" cy="100584"/>
          </a:xfrm>
          <a:prstGeom prst="ellipse">
            <a:avLst/>
          </a:prstGeom>
          <a:solidFill>
            <a:srgbClr val="087F8C"/>
          </a:solidFill>
          <a:ln w="12700">
            <a:solidFill>
              <a:srgbClr val="087F8C">
                <a:alpha val="0"/>
              </a:srgbClr>
            </a:solidFill>
            <a:prstDash val="solid"/>
          </a:ln>
        </p:spPr>
      </p:sp>
      <p:sp>
        <p:nvSpPr>
          <p:cNvPr id="14" name="Text 12"/>
          <p:cNvSpPr/>
          <p:nvPr/>
        </p:nvSpPr>
        <p:spPr>
          <a:xfrm>
            <a:off x="969264" y="29443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Reviewer must mark unsupported assumptions and ask one useful clarification question.</a:t>
            </a:r>
            <a:endParaRPr lang="en-US" sz="1650" dirty="0"/>
          </a:p>
        </p:txBody>
      </p:sp>
      <p:sp>
        <p:nvSpPr>
          <p:cNvPr id="15" name="Shape 13"/>
          <p:cNvSpPr/>
          <p:nvPr/>
        </p:nvSpPr>
        <p:spPr>
          <a:xfrm>
            <a:off x="7644384" y="1746504"/>
            <a:ext cx="3941064" cy="4352544"/>
          </a:xfrm>
          <a:prstGeom prst="rect">
            <a:avLst/>
          </a:prstGeom>
          <a:solidFill>
            <a:srgbClr val="E8EFF3"/>
          </a:solidFill>
          <a:ln w="15240">
            <a:solidFill>
              <a:srgbClr val="C8D5DE"/>
            </a:solidFill>
            <a:prstDash val="solid"/>
          </a:ln>
        </p:spPr>
      </p:sp>
      <p:sp>
        <p:nvSpPr>
          <p:cNvPr id="16" name="Text 14"/>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087F8C"/>
                </a:solidFill>
                <a:latin typeface="Aptos" pitchFamily="34" charset="0"/>
                <a:ea typeface="Aptos" pitchFamily="34" charset="-122"/>
                <a:cs typeface="Aptos" pitchFamily="34" charset="-120"/>
              </a:rPr>
              <a:t>IMAGE PLACEHOLDER</a:t>
            </a:r>
            <a:endParaRPr lang="en-US" sz="900" dirty="0"/>
          </a:p>
        </p:txBody>
      </p:sp>
      <p:sp>
        <p:nvSpPr>
          <p:cNvPr id="17" name="Text 15"/>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18" name="Text 16"/>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19" name="Shape 17"/>
          <p:cNvSpPr/>
          <p:nvPr/>
        </p:nvSpPr>
        <p:spPr>
          <a:xfrm>
            <a:off x="7845552" y="5111496"/>
            <a:ext cx="3538728" cy="0"/>
          </a:xfrm>
          <a:prstGeom prst="line">
            <a:avLst/>
          </a:prstGeom>
          <a:noFill/>
          <a:ln w="12700">
            <a:solidFill>
              <a:srgbClr val="C8D5DE"/>
            </a:solidFill>
            <a:prstDash val="solid"/>
          </a:ln>
        </p:spPr>
      </p:sp>
      <p:sp>
        <p:nvSpPr>
          <p:cNvPr id="20" name="Text 18"/>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Peer review: is the application actually investigated?</a:t>
            </a:r>
            <a:endParaRPr lang="en-US" sz="1050" dirty="0"/>
          </a:p>
        </p:txBody>
      </p:sp>
      <p:sp>
        <p:nvSpPr>
          <p:cNvPr id="21" name="Text 19"/>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2" name="Shape 20"/>
          <p:cNvSpPr/>
          <p:nvPr/>
        </p:nvSpPr>
        <p:spPr>
          <a:xfrm>
            <a:off x="603504" y="6318504"/>
            <a:ext cx="10972800" cy="0"/>
          </a:xfrm>
          <a:prstGeom prst="line">
            <a:avLst/>
          </a:prstGeom>
          <a:noFill/>
          <a:ln w="10160">
            <a:solidFill>
              <a:srgbClr val="D5E0E7"/>
            </a:solidFill>
            <a:prstDash val="solid"/>
          </a:ln>
        </p:spPr>
      </p:sp>
      <p:sp>
        <p:nvSpPr>
          <p:cNvPr id="23" name="Text 21"/>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INVESTIGATING THE MEDPACK APPLICATION</a:t>
            </a:r>
            <a:endParaRPr lang="en-US" sz="800" dirty="0"/>
          </a:p>
        </p:txBody>
      </p:sp>
      <p:sp>
        <p:nvSpPr>
          <p:cNvPr id="24" name="Text 22"/>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15 / 18</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087F8C"/>
          </a:solidFill>
          <a:ln w="12700">
            <a:solidFill>
              <a:srgbClr val="087F8C">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087F8C"/>
                </a:solidFill>
                <a:latin typeface="Aptos" pitchFamily="34" charset="0"/>
                <a:ea typeface="Aptos" pitchFamily="34" charset="-122"/>
                <a:cs typeface="Aptos" pitchFamily="34" charset="-120"/>
              </a:rPr>
              <a:t>UNIT 5009    /    WEEK 01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20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087F8C"/>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087F8C"/>
                </a:solidFill>
                <a:latin typeface="Aptos" pitchFamily="34" charset="0"/>
                <a:ea typeface="Aptos" pitchFamily="34" charset="-122"/>
                <a:cs typeface="Aptos" pitchFamily="34" charset="-120"/>
              </a:rPr>
              <a:t>P1</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2800" b="1" dirty="0">
                <a:solidFill>
                  <a:srgbClr val="1B3448"/>
                </a:solidFill>
                <a:latin typeface="Aptos Display" pitchFamily="34" charset="0"/>
                <a:ea typeface="Aptos Display" pitchFamily="34" charset="-122"/>
                <a:cs typeface="Aptos Display" pitchFamily="34" charset="-120"/>
              </a:rPr>
              <a:t>Revise and defend the requirements baseline</a:t>
            </a:r>
            <a:endParaRPr lang="en-US" sz="28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087F8C"/>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087F8C"/>
          </a:solidFill>
          <a:ln w="12700">
            <a:solidFill>
              <a:srgbClr val="087F8C">
                <a:alpha val="0"/>
              </a:srgbClr>
            </a:solidFill>
            <a:prstDash val="solid"/>
          </a:ln>
        </p:spPr>
      </p:sp>
      <p:sp>
        <p:nvSpPr>
          <p:cNvPr id="12" name="Text 10"/>
          <p:cNvSpPr/>
          <p:nvPr/>
        </p:nvSpPr>
        <p:spPr>
          <a:xfrm>
            <a:off x="969264" y="20299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Groups revise their evidence and give a two-minute summary of the most important selection constraints.</a:t>
            </a:r>
            <a:endParaRPr lang="en-US" sz="1650" dirty="0"/>
          </a:p>
        </p:txBody>
      </p:sp>
      <p:sp>
        <p:nvSpPr>
          <p:cNvPr id="13" name="Shape 11"/>
          <p:cNvSpPr/>
          <p:nvPr/>
        </p:nvSpPr>
        <p:spPr>
          <a:xfrm>
            <a:off x="713232" y="2816352"/>
            <a:ext cx="100584" cy="100584"/>
          </a:xfrm>
          <a:prstGeom prst="ellipse">
            <a:avLst/>
          </a:prstGeom>
          <a:solidFill>
            <a:srgbClr val="087F8C"/>
          </a:solidFill>
          <a:ln w="12700">
            <a:solidFill>
              <a:srgbClr val="087F8C">
                <a:alpha val="0"/>
              </a:srgbClr>
            </a:solidFill>
            <a:prstDash val="solid"/>
          </a:ln>
        </p:spPr>
      </p:sp>
      <p:sp>
        <p:nvSpPr>
          <p:cNvPr id="14" name="Text 12"/>
          <p:cNvSpPr/>
          <p:nvPr/>
        </p:nvSpPr>
        <p:spPr>
          <a:xfrm>
            <a:off x="969264" y="2706624"/>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Presenter explains why those constraints will affect PLC selection.</a:t>
            </a:r>
            <a:endParaRPr lang="en-US" sz="1650" dirty="0"/>
          </a:p>
        </p:txBody>
      </p:sp>
      <p:sp>
        <p:nvSpPr>
          <p:cNvPr id="15" name="Shape 13"/>
          <p:cNvSpPr/>
          <p:nvPr/>
        </p:nvSpPr>
        <p:spPr>
          <a:xfrm>
            <a:off x="7644384" y="1746504"/>
            <a:ext cx="3941064" cy="4352544"/>
          </a:xfrm>
          <a:prstGeom prst="rect">
            <a:avLst/>
          </a:prstGeom>
          <a:solidFill>
            <a:srgbClr val="E8EFF3"/>
          </a:solidFill>
          <a:ln w="15240">
            <a:solidFill>
              <a:srgbClr val="C8D5DE"/>
            </a:solidFill>
            <a:prstDash val="solid"/>
          </a:ln>
        </p:spPr>
      </p:sp>
      <p:sp>
        <p:nvSpPr>
          <p:cNvPr id="16" name="Text 14"/>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087F8C"/>
                </a:solidFill>
                <a:latin typeface="Aptos" pitchFamily="34" charset="0"/>
                <a:ea typeface="Aptos" pitchFamily="34" charset="-122"/>
                <a:cs typeface="Aptos" pitchFamily="34" charset="-120"/>
              </a:rPr>
              <a:t>IMAGE PLACEHOLDER</a:t>
            </a:r>
            <a:endParaRPr lang="en-US" sz="900" dirty="0"/>
          </a:p>
        </p:txBody>
      </p:sp>
      <p:sp>
        <p:nvSpPr>
          <p:cNvPr id="17" name="Text 15"/>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18" name="Text 16"/>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19" name="Shape 17"/>
          <p:cNvSpPr/>
          <p:nvPr/>
        </p:nvSpPr>
        <p:spPr>
          <a:xfrm>
            <a:off x="7845552" y="5111496"/>
            <a:ext cx="3538728" cy="0"/>
          </a:xfrm>
          <a:prstGeom prst="line">
            <a:avLst/>
          </a:prstGeom>
          <a:noFill/>
          <a:ln w="12700">
            <a:solidFill>
              <a:srgbClr val="C8D5DE"/>
            </a:solidFill>
            <a:prstDash val="solid"/>
          </a:ln>
        </p:spPr>
      </p:sp>
      <p:sp>
        <p:nvSpPr>
          <p:cNvPr id="20" name="Text 18"/>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Revise and defend the requirements baseline</a:t>
            </a:r>
            <a:endParaRPr lang="en-US" sz="1050" dirty="0"/>
          </a:p>
        </p:txBody>
      </p:sp>
      <p:sp>
        <p:nvSpPr>
          <p:cNvPr id="21" name="Text 19"/>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2" name="Shape 20"/>
          <p:cNvSpPr/>
          <p:nvPr/>
        </p:nvSpPr>
        <p:spPr>
          <a:xfrm>
            <a:off x="603504" y="6318504"/>
            <a:ext cx="10972800" cy="0"/>
          </a:xfrm>
          <a:prstGeom prst="line">
            <a:avLst/>
          </a:prstGeom>
          <a:noFill/>
          <a:ln w="10160">
            <a:solidFill>
              <a:srgbClr val="D5E0E7"/>
            </a:solidFill>
            <a:prstDash val="solid"/>
          </a:ln>
        </p:spPr>
      </p:sp>
      <p:sp>
        <p:nvSpPr>
          <p:cNvPr id="23" name="Text 21"/>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INVESTIGATING THE MEDPACK APPLICATION</a:t>
            </a:r>
            <a:endParaRPr lang="en-US" sz="800" dirty="0"/>
          </a:p>
        </p:txBody>
      </p:sp>
      <p:sp>
        <p:nvSpPr>
          <p:cNvPr id="24" name="Text 22"/>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16 / 18</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087F8C"/>
          </a:solidFill>
          <a:ln w="12700">
            <a:solidFill>
              <a:srgbClr val="087F8C">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087F8C"/>
                </a:solidFill>
                <a:latin typeface="Aptos" pitchFamily="34" charset="0"/>
                <a:ea typeface="Aptos" pitchFamily="34" charset="-122"/>
                <a:cs typeface="Aptos" pitchFamily="34" charset="-120"/>
              </a:rPr>
              <a:t>UNIT 5009    /    WEEK 01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7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087F8C"/>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087F8C"/>
                </a:solidFill>
                <a:latin typeface="Aptos" pitchFamily="34" charset="0"/>
                <a:ea typeface="Aptos" pitchFamily="34" charset="-122"/>
                <a:cs typeface="Aptos" pitchFamily="34" charset="-120"/>
              </a:rPr>
              <a:t>P1</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P1 knowledge check</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087F8C"/>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087F8C"/>
          </a:solidFill>
          <a:ln w="12700">
            <a:solidFill>
              <a:srgbClr val="087F8C">
                <a:alpha val="0"/>
              </a:srgbClr>
            </a:solidFill>
            <a:prstDash val="solid"/>
          </a:ln>
        </p:spPr>
      </p:sp>
      <p:sp>
        <p:nvSpPr>
          <p:cNvPr id="12" name="Text 10"/>
          <p:cNvSpPr/>
          <p:nvPr/>
        </p:nvSpPr>
        <p:spPr>
          <a:xfrm>
            <a:off x="969264" y="20299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Short scenario questions: identify a missing process step, classify a signal, and turn a vague requirement into a measurable one.</a:t>
            </a:r>
            <a:endParaRPr lang="en-US" sz="1650" dirty="0"/>
          </a:p>
        </p:txBody>
      </p:sp>
      <p:sp>
        <p:nvSpPr>
          <p:cNvPr id="13" name="Shape 11"/>
          <p:cNvSpPr/>
          <p:nvPr/>
        </p:nvSpPr>
        <p:spPr>
          <a:xfrm>
            <a:off x="7644384" y="1746504"/>
            <a:ext cx="3941064" cy="4352544"/>
          </a:xfrm>
          <a:prstGeom prst="rect">
            <a:avLst/>
          </a:prstGeom>
          <a:solidFill>
            <a:srgbClr val="E8EFF3"/>
          </a:solidFill>
          <a:ln w="15240">
            <a:solidFill>
              <a:srgbClr val="C8D5DE"/>
            </a:solidFill>
            <a:prstDash val="solid"/>
          </a:ln>
        </p:spPr>
      </p:sp>
      <p:sp>
        <p:nvSpPr>
          <p:cNvPr id="14" name="Text 12"/>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087F8C"/>
                </a:solidFill>
                <a:latin typeface="Aptos" pitchFamily="34" charset="0"/>
                <a:ea typeface="Aptos" pitchFamily="34" charset="-122"/>
                <a:cs typeface="Aptos" pitchFamily="34" charset="-120"/>
              </a:rPr>
              <a:t>IMAGE PLACEHOLDER</a:t>
            </a:r>
            <a:endParaRPr lang="en-US" sz="900" dirty="0"/>
          </a:p>
        </p:txBody>
      </p:sp>
      <p:sp>
        <p:nvSpPr>
          <p:cNvPr id="15" name="Text 13"/>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16" name="Text 14"/>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17" name="Shape 15"/>
          <p:cNvSpPr/>
          <p:nvPr/>
        </p:nvSpPr>
        <p:spPr>
          <a:xfrm>
            <a:off x="7845552" y="5111496"/>
            <a:ext cx="3538728" cy="0"/>
          </a:xfrm>
          <a:prstGeom prst="line">
            <a:avLst/>
          </a:prstGeom>
          <a:noFill/>
          <a:ln w="12700">
            <a:solidFill>
              <a:srgbClr val="C8D5DE"/>
            </a:solidFill>
            <a:prstDash val="solid"/>
          </a:ln>
        </p:spPr>
      </p:sp>
      <p:sp>
        <p:nvSpPr>
          <p:cNvPr id="18" name="Text 16"/>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P1 knowledge check</a:t>
            </a:r>
            <a:endParaRPr lang="en-US" sz="1050" dirty="0"/>
          </a:p>
        </p:txBody>
      </p:sp>
      <p:sp>
        <p:nvSpPr>
          <p:cNvPr id="19" name="Text 17"/>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0" name="Shape 18"/>
          <p:cNvSpPr/>
          <p:nvPr/>
        </p:nvSpPr>
        <p:spPr>
          <a:xfrm>
            <a:off x="603504" y="6318504"/>
            <a:ext cx="10972800" cy="0"/>
          </a:xfrm>
          <a:prstGeom prst="line">
            <a:avLst/>
          </a:prstGeom>
          <a:noFill/>
          <a:ln w="10160">
            <a:solidFill>
              <a:srgbClr val="D5E0E7"/>
            </a:solidFill>
            <a:prstDash val="solid"/>
          </a:ln>
        </p:spPr>
      </p:sp>
      <p:sp>
        <p:nvSpPr>
          <p:cNvPr id="21" name="Text 19"/>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INVESTIGATING THE MEDPACK APPLICATION</a:t>
            </a:r>
            <a:endParaRPr lang="en-US" sz="800" dirty="0"/>
          </a:p>
        </p:txBody>
      </p:sp>
      <p:sp>
        <p:nvSpPr>
          <p:cNvPr id="22" name="Text 20"/>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17 / 18</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087F8C"/>
          </a:solidFill>
          <a:ln w="12700">
            <a:solidFill>
              <a:srgbClr val="087F8C">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087F8C"/>
                </a:solidFill>
                <a:latin typeface="Aptos" pitchFamily="34" charset="0"/>
                <a:ea typeface="Aptos" pitchFamily="34" charset="-122"/>
                <a:cs typeface="Aptos" pitchFamily="34" charset="-120"/>
              </a:rPr>
              <a:t>UNIT 5009    /    WEEK 01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8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087F8C"/>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087F8C"/>
                </a:solidFill>
                <a:latin typeface="Aptos" pitchFamily="34" charset="0"/>
                <a:ea typeface="Aptos" pitchFamily="34" charset="-122"/>
                <a:cs typeface="Aptos" pitchFamily="34" charset="-120"/>
              </a:rPr>
              <a:t>P1</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2800" b="1" dirty="0">
                <a:solidFill>
                  <a:srgbClr val="1B3448"/>
                </a:solidFill>
                <a:latin typeface="Aptos Display" pitchFamily="34" charset="0"/>
                <a:ea typeface="Aptos Display" pitchFamily="34" charset="-122"/>
                <a:cs typeface="Aptos Display" pitchFamily="34" charset="-120"/>
              </a:rPr>
              <a:t>Exit ticket: three facts, two unknowns, one risk</a:t>
            </a:r>
            <a:endParaRPr lang="en-US" sz="28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087F8C"/>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087F8C"/>
          </a:solidFill>
          <a:ln w="12700">
            <a:solidFill>
              <a:srgbClr val="087F8C">
                <a:alpha val="0"/>
              </a:srgbClr>
            </a:solidFill>
            <a:prstDash val="solid"/>
          </a:ln>
        </p:spPr>
      </p:sp>
      <p:sp>
        <p:nvSpPr>
          <p:cNvPr id="12" name="Text 10"/>
          <p:cNvSpPr/>
          <p:nvPr/>
        </p:nvSpPr>
        <p:spPr>
          <a:xfrm>
            <a:off x="969264" y="20299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Submit three verified application facts, two questions for the client/assessor, and one risk with a proposed response.</a:t>
            </a:r>
            <a:endParaRPr lang="en-US" sz="1650" dirty="0"/>
          </a:p>
        </p:txBody>
      </p:sp>
      <p:sp>
        <p:nvSpPr>
          <p:cNvPr id="13" name="Shape 11"/>
          <p:cNvSpPr/>
          <p:nvPr/>
        </p:nvSpPr>
        <p:spPr>
          <a:xfrm>
            <a:off x="713232" y="2816352"/>
            <a:ext cx="100584" cy="100584"/>
          </a:xfrm>
          <a:prstGeom prst="ellipse">
            <a:avLst/>
          </a:prstGeom>
          <a:solidFill>
            <a:srgbClr val="087F8C"/>
          </a:solidFill>
          <a:ln w="12700">
            <a:solidFill>
              <a:srgbClr val="087F8C">
                <a:alpha val="0"/>
              </a:srgbClr>
            </a:solidFill>
            <a:prstDash val="solid"/>
          </a:ln>
        </p:spPr>
      </p:sp>
      <p:sp>
        <p:nvSpPr>
          <p:cNvPr id="14" name="Text 12"/>
          <p:cNvSpPr/>
          <p:nvPr/>
        </p:nvSpPr>
        <p:spPr>
          <a:xfrm>
            <a:off x="969264" y="2706624"/>
            <a:ext cx="6327648" cy="329184"/>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Retain the I/O schedule for Weeks 2-4.</a:t>
            </a:r>
            <a:endParaRPr lang="en-US" sz="1650" dirty="0"/>
          </a:p>
        </p:txBody>
      </p:sp>
      <p:sp>
        <p:nvSpPr>
          <p:cNvPr id="15" name="Shape 13"/>
          <p:cNvSpPr/>
          <p:nvPr/>
        </p:nvSpPr>
        <p:spPr>
          <a:xfrm>
            <a:off x="7644384" y="1746504"/>
            <a:ext cx="3941064" cy="4352544"/>
          </a:xfrm>
          <a:prstGeom prst="rect">
            <a:avLst/>
          </a:prstGeom>
          <a:solidFill>
            <a:srgbClr val="E8EFF3"/>
          </a:solidFill>
          <a:ln w="15240">
            <a:solidFill>
              <a:srgbClr val="C8D5DE"/>
            </a:solidFill>
            <a:prstDash val="solid"/>
          </a:ln>
        </p:spPr>
      </p:sp>
      <p:sp>
        <p:nvSpPr>
          <p:cNvPr id="16" name="Text 14"/>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087F8C"/>
                </a:solidFill>
                <a:latin typeface="Aptos" pitchFamily="34" charset="0"/>
                <a:ea typeface="Aptos" pitchFamily="34" charset="-122"/>
                <a:cs typeface="Aptos" pitchFamily="34" charset="-120"/>
              </a:rPr>
              <a:t>IMAGE PLACEHOLDER</a:t>
            </a:r>
            <a:endParaRPr lang="en-US" sz="900" dirty="0"/>
          </a:p>
        </p:txBody>
      </p:sp>
      <p:sp>
        <p:nvSpPr>
          <p:cNvPr id="17" name="Text 15"/>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18" name="Text 16"/>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19" name="Shape 17"/>
          <p:cNvSpPr/>
          <p:nvPr/>
        </p:nvSpPr>
        <p:spPr>
          <a:xfrm>
            <a:off x="7845552" y="5111496"/>
            <a:ext cx="3538728" cy="0"/>
          </a:xfrm>
          <a:prstGeom prst="line">
            <a:avLst/>
          </a:prstGeom>
          <a:noFill/>
          <a:ln w="12700">
            <a:solidFill>
              <a:srgbClr val="C8D5DE"/>
            </a:solidFill>
            <a:prstDash val="solid"/>
          </a:ln>
        </p:spPr>
      </p:sp>
      <p:sp>
        <p:nvSpPr>
          <p:cNvPr id="20" name="Text 18"/>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Exit ticket: three facts, two unknowns, one risk</a:t>
            </a:r>
            <a:endParaRPr lang="en-US" sz="1050" dirty="0"/>
          </a:p>
        </p:txBody>
      </p:sp>
      <p:sp>
        <p:nvSpPr>
          <p:cNvPr id="21" name="Text 19"/>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2" name="Shape 20"/>
          <p:cNvSpPr/>
          <p:nvPr/>
        </p:nvSpPr>
        <p:spPr>
          <a:xfrm>
            <a:off x="603504" y="6318504"/>
            <a:ext cx="10972800" cy="0"/>
          </a:xfrm>
          <a:prstGeom prst="line">
            <a:avLst/>
          </a:prstGeom>
          <a:noFill/>
          <a:ln w="10160">
            <a:solidFill>
              <a:srgbClr val="D5E0E7"/>
            </a:solidFill>
            <a:prstDash val="solid"/>
          </a:ln>
        </p:spPr>
      </p:sp>
      <p:sp>
        <p:nvSpPr>
          <p:cNvPr id="23" name="Text 21"/>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INVESTIGATING THE MEDPACK APPLICATION</a:t>
            </a:r>
            <a:endParaRPr lang="en-US" sz="800" dirty="0"/>
          </a:p>
        </p:txBody>
      </p:sp>
      <p:sp>
        <p:nvSpPr>
          <p:cNvPr id="24" name="Text 22"/>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18 / 18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Unit 5009</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01: Investigating the MedPack Application</dc:title>
  <dc:subject>LO1 weekly teaching presentation</dc:subject>
  <dc:creator>Unit 5009 Teaching Materials</dc:creator>
  <cp:lastModifiedBy>Unit 5009 Teaching Materials</cp:lastModifiedBy>
  <cp:revision>1</cp:revision>
  <dcterms:created xsi:type="dcterms:W3CDTF">2026-10-13T19:12:29Z</dcterms:created>
  <dcterms:modified xsi:type="dcterms:W3CDTF">2026-10-13T19:12:29Z</dcterms:modified>
</cp:coreProperties>
</file>