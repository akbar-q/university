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1 of 18 | Suggested time: 5 minutes | Criteria: P2
TEACHING NOTES AND ACTIVITY CUES
1. Classify “pill sensor and actuator are in the brief” as stated, “input must capture the sensor pulse” as a derived requirement, and “sensor is 24 V DC” as unverified.
2. Add two more checks: target count is a stated process need; actuator current and whether it fires per pill or per pack still require evidence.
3. Expected debrief: only sourced facts become baseline requirements; unknown electrical values must become shortlist questions, not guessed PLC specs.
4. Keep the revised Week 1 process diagram and I/O schedule visible as the shared MedPack reference for today.
TEACHING VISUAL
This slide has a reserved image bay. Add the image described below.
OPTIONAL IMAGE PROMPT
Original engineering whiteboard scene with a pill sensor, actuator, and three visual evidence groups represented by a document, a logical arrow, and a question symbol,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2 of 18 | Suggested time: 5 minutes | Criteria: P2
TEACHING NOTES AND ACTIVITY CUES
1. A PLC architecture is the physical and functional arrangement of CPU, I/O, power, communications, and expansion; it determines how a control system is assembled and maintained.
2. MedPack may suit a compact local controller if its verified I/O and timing needs are modest; a multi-station line may need distributed I/O and networked coordination.
3. Compare I/O location, expansion, performance, panel space, environment, lifecycle, engineering effort, and local support rather than assuming “bigger is better.”
4. Expected answer: choose architecture from requirements and interfaces; machine size alone is not enough to decide.
TEACHING VISUAL
The slide uses an editable plc architecture classes diagram. Keep it unless the prompted image communicates the idea more clearly.
OPTIONAL IMAGE PROMPT
Original side-by-side technical illustration comparing a compact single-panel pill packaging cell with a distributed multi-station production line, accurate PLC cabinets and I/O locations,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3 of 18 | Suggested time: 5 minutes | Criteria: P2
TEACHING NOTES AND ACTIVITY CUES
1. LO1.P2 requires comparison of operational features and characteristics across PLCs from several manufacturers; the assignment expects at least three exact models/manufacturers.
2. The matrix must cover digital I/O, relay-output provision, expansion, programming, user interface/diagnostics, reliability evidence, cost, and practical wiring/support factors.
3. A brand statement such as “brand X is more reliable” is not evidence; record the exact CPU part number, source document, revision/date, and relevant table or page.
4. Debrief: if a feature or price cannot be verified, write “unknown” and state how to obtain comparable evidence.
TEACHING VISUAL
The slide uses an editable formative check diagram. Keep it unless the prompted image communicates the idea more clearly.
OPTIONAL IMAGE PROMPT
Original technical comparison workspace with three distinct unbranded PLC controllers, open hardware manuals, a blank comparison matrix, and source markers,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4 of 18 | Suggested time: 12 minutes | Criteria: P2
TEACHING NOTES AND ACTIVITY CUES
1. Compact/micro PLCs commonly combine CPU and some I/O in one housing; this can reduce wiring and panel footprint for a self-contained machine such as one MedPack station.
2. Integrated I/O can constrain the mix of digital/analogue points or output types, so count the actual requirements and spare capacity before choosing a unit.
3. Compare exact onboard DI/DO type and count, analogue capability, communication ports/protocols, expansion method, operating conditions, and engineering software.
4. Misconception: “micro” is not a universal performance class; the manual for the exact CPU decides what it can do.
TEACHING VISUAL
The slide uses an editable plc architecture classes diagram. Keep it unless the prompted image communicates the idea more clearly.
OPTIONAL IMAGE PROMPT
Original close-up technical photograph-style image of a compact PLC mounted in a small control panel beside pill-sensor and actuator terminal wiring, with realistic but unbranded components and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5 of 18 | Suggested time: 13 minutes | Criteria: P2
TEACHING NOTES AND ACTIVITY CUES
1. A modular PLC separates CPU, power, and selectable I/O/communication modules; a rack/backplane provides the local module connection, while remote I/O places modules closer to field devices.
2. This architecture can fit MedPack line growth or specialised interfaces, but every module adds wiring, configuration, power demand, panel space, spares, and documentation to maintain.
3. Motion, redundancy, process functions, and distributed-I/O capacity are model-specific options; verify supported modules, firmware, network limits, and system configuration in official manuals.
4. “PAC” is a vendor/category label with overlapping PLC features; compare the actual functions and lifecycle factors, not the name on the product page.
TEACHING VISUAL
The slide uses an editable plc architecture classes diagram. Keep it unless the prompted image communicates the idea more clearly.
OPTIONAL IMAGE PROMPT
Original technical cutaway illustration of a modular PLC rack with CPU, power supply, digital I/O, communication module, and remote I/O near a packaging station,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6 of 18 | Suggested time: 12 minutes | Criteria: P2
TEACHING NOTES AND ACTIVITY CUES
1. A safety PLC/controller and its approved safety I/O implement specified safety functions only within their certified configuration, limits, and validated application; ordinary PLC logic is not a substitute.
2. A safety relay may suit a simpler safety function; a safety PLC may support more complex logic/diagnostics. Risk assessment determines the needed architecture and performance, not convenience.
3. For MedPack, establish hazards, required safe state, reset/restart behaviour, required PL/SIL where applicable, device compatibility, validation, and proof-test/maintenance duties with competent persons.
4. Debrief: an ordinary PLC may monitor a safety-system status contact, but that status path does not perform or certify the E-stop function.
TEACHING VISUAL
The slide uses an editable safe response path diagram. Keep it unless the prompted image communicates the idea more clearly.
OPTIONAL IMAGE PROMPT
Original accurate safety-system diagram showing an emergency-stop device connected through a separate safety-rated control path to machine energy isolation, with a standard PLC monitoring status on an isolated side path,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7 of 18 | Suggested time: 13 minutes | Criteria: P2
TEACHING NOTES AND ACTIVITY CUES
1. Case 1, one self-contained MedPack station: compact PLC is a starting hypothesis if I/O, pulse capture, safety architecture, and communications all fit.
2. Case 2, multiple stations with field devices spread across a plant: modular controller and remote I/O may reduce long home-run wiring; verify network behaviour and diagnostics.
3. Case 3, remote pump station or process skid: environment, analogue instrumentation, communications, and service access may outweigh physical size; no class wins without stated constraints.
4. Team debrief: place each case by I/O distribution, motion/process needs, growth, and support; name one missing requirement that could change each choice.
TEACHING VISUAL
The slide uses an editable plc architecture classes diagram. Keep it unless the prompted image communicates the idea more clearly.
OPTIONAL IMAGE PROMPT
Original engineering infographic illustration placing a single packaging station, a distributed factory line, a remote pump site, and a process skid along axes represented by physical distance and system complexity,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8 of 18 | Suggested time: 10 minutes | Criteria: P2
TEACHING NOTES AND ACTIVITY CUES
1. Research starting points include Siemens SIMATIC S7-1200/S7-1500, Rockwell Automation Micro800/CompactLogix, Schneider Electric Modicon M221/M241, Mitsubishi MELSEC FX, Omron CP/NX, and AutomationDirect CLICK/Do-more.
2. Families span different capacities and generations; select an exact current CPU part number and compatible I/O configuration before entering a claim in the MedPack matrix.
3. Regional availability, firmware, model suffixes, documentation revisions, software terms, and support channels can differ; confirm each from current official sources.
4. Expected practice: sample more than three candidates initially, then retain at least three genuinely comparable models from distinct manufacturers without assuming a winner.
TEACHING VISUAL
This slide has a reserved image bay. Add the image described below.
OPTIONAL IMAGE PROMPT
Original tabletop product-research scene with several unbranded PLC form factors, a laptop displaying abstract product-page shapes, and official manuals, no visible brands,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9 of 18 | Suggested time: 15 minutes | Criteria: P2
TEACHING NOTES AND ACTIVITY CUES
1. Compare engineering software by supported languages/standards for the specific model, license and renewal terms, simulation/online functions, diagnostics, version compatibility, and HMI/network integration.
2. Review maintenance evidence: manuals, wiring examples, troubleshooting tools, training availability, local technical support, spare access, and product lifecycle notices.
3. MedPack example: familiar software may reduce training effort, but that does not prove hardware reliability; document the basis and separate it from technical suitability.
4. Expected answer: lifecycle costs can differ through licenses, engineering time, training, commissioning, spares, downtime exposure, and support even when headline CPU features look similar.
TEACHING VISUAL
The slide uses an editable comparison framework diagram. Keep it unless the prompted image communicates the idea more clearly.
OPTIONAL IMAGE PROMPT
Original engineering workstation scene showing a technician diagnosing a PLC connected to a pill-packaging line, with a laptop, paper manual, spare module, and training bench, no visible screen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10 of 18 | Suggested time: 10 minutes | Criteria: P2
TEACHING NOTES AND ACTIVITY CUES
1. Start from the Week 1 I/O and constraints, then shortlist at least three exact models from separate manufacturers in a similar application class where possible.
2. Apply mandatory pass/fail/unknown gates for required I/O type/count, sensor pulse capture, output electrical compatibility, safety-system boundary, communications, environment, and supportability.
3. Exclude a candidate only for a documented failure; keep unknowns visible and assign an evidence source rather than treating them as passes.
4. Debrief: price and familiarity can inform later preference scoring but cannot rescue a candidate that fails a mandatory application requirement.
TEACHING VISUAL
The slide uses an editable comparison framework diagram. Keep it unless the prompted image communicates the idea more clearly.
OPTIONAL IMAGE PROMPT
Original selection funnel diagram with three different PLC candidates passing through clearly separated technical requirement gates for I/O, electrical compatibility, timing, safety, and support, using symbols only and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11 of 18 | Suggested time: 10 minutes | Criteria: P2
TEACHING NOTES AND ACTIVITY CUES
1. Record manufacturer, complete CPU catalogue/part number, suffixes, supply variant, embedded I/O configuration, output type, ports, and supported firmware where the vendor specifies them.
2. Match the data to the correct hardware manual/datasheet revision and note date, page/table, regional variant, and any required module configuration.
3. Worked check: a family page describes several CPUs; a claimed relay output is valid only if the exact selected CPU or configured module explicitly lists that output type.
4. Misconception: a shared family name does not mean all variants have identical I/O, communications, or performance.
TEACHING VISUAL
The slide uses an editable comparison framework diagram. Keep it unless the prompted image communicates the idea more clearly.
OPTIONAL IMAGE PROMPT
Original macro technical image of a generic PLC nameplate and matching product manual page beside two visually similar CPU variants, with all markings abstracted and unreadable,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12 of 18 | Suggested time: 15 minutes | Criteria: P2
TEACHING NOTES AND ACTIVITY CUES
1. Compare exact digital input/output count and electrical type, relay-output count/type, analogue I/O, built-in versus expansion points, compatible modules, and remote-I/O options.
2. For communications, record physical port type, supported protocols, role/client limits, topology or node limits, and required option modules only where the official documentation states them.
3. Use a source cell for every numeric or protocol claim: exact part number, document/revision, page/table; write “not specified” rather than estimating.
4. MedPack check: a sufficient point count is not enough if the sensor input lacks the required event capture or the actuator output has an incompatible electrical type.
TEACHING VISUAL
The slide uses an editable comparison framework diagram. Keep it unless the prompted image communicates the idea more clearly.
OPTIONAL IMAGE PROMPT
Original technical comparison graphic showing three PLCs with different digital/analogue I/O modules, relay terminals, Ethernet/serial ports, and a remote-I/O island,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13 of 18 | Suggested time: 10 minutes | Criteria: P2
TEACHING NOTES AND ACTIVITY CUES
1. Record the manufacturer’s defined performance metric and test conditions, high-speed counter/capture capability and limits, task behaviour, memory categories, timers/counters, diagnostics, and any local display/indicators.
2. Compare online monitoring, simulation, fault tracing, program backup/restore, and HMI workflow as documented for the exact CPU/software versions.
3. Scan-time numbers are comparable only when workload, configuration, I/O update, and measurement conditions align; they are not automatically the sensor-to-actuator response time.
4. Expected conclusion for MedPack: pulse width, input filter, counter frequency, I/O update, and output response may matter more than a broad CPU speed claim.
TEACHING VISUAL
The slide uses an editable comparison framework diagram. Keep it unless the prompted image communicates the idea more clearly.
OPTIONAL IMAGE PROMPT
Original timing-and-diagnostics illustration of a pill sensor pulse entering a PLC, a diagnostic laptop observing the signal, and an actuator output timeline shown as graphical traces without scales or text, no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14 of 18 | Suggested time: 10 minutes | Criteria: P2
TEACHING NOTES AND ACTIVITY CUES
1. Inspect terminal type, wiring access, module removal, footprint, heat/spacing guidance, required accessories, installation effort, documentation quality, and troubleshooting workflow.
2. Record support and lifecycle evidence: regional service, training resources, spare availability, firmware/security notices where relevant, and published product status; avoid unsupported reliability rankings.
3. For cost, cite a dated supplier quote with currency, exact configuration, included modules/software, quantity, tax/shipping assumptions, and whether engineering/training/spares are excluded.
4. Debrief: compare like-for-like installed scope; a CPU-only price is not comparable with a complete MedPack controller configuration.
TEACHING VISUAL
The slide uses an editable comparison framework diagram. Keep it unless the prompted image communicates the idea more clearly.
OPTIONAL IMAGE PROMPT
Original realistic control-panel installation scene comparing terminal access, module spacing, wiring routes, service documentation, and spare modules for two generic PLC assemblies,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15 of 18 | Suggested time: 20 minutes | Criteria: P2
TEACHING NOTES AND ACTIVITY CUES
1. Teams fill three columns for exact models from distinct manufacturers and cite each source against digital I/O, relay outputs, expansion, software/programming, UI/diagnostics, reliability evidence, cost, and practical support.
2. Start with a worked blank row: “pill sensor input” -&gt; exact input type and filter/counter details -&gt; manual page -&gt; meets/unknown against the verified sensor requirements.
3. Use “unknown” for unavailable fields and name the next evidence source, such as a hardware manual, vendor support response, or dated supplier quote.
4. Teacher check: stop any unsupported numeric ratings, prices, or reliability claims; the comparison should be traceable before it is persuasive.
TEACHING VISUAL
This slide has a reserved image bay. Add the image described below.
OPTIONAL IMAGE PROMPT
Original collaborative engineering workshop with three generic PLC units, official manuals, and a large blank comparison matrix being filled with source tabs, no readable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16 of 18 | Suggested time: 20 minutes | Criteria: P2
TEACHING NOTES AND ACTIVITY CUES
1. Swap matrices and audit exact part-number match, source revision/date, like-for-like configuration, consistent units, and direct relevance to MedPack requirements.
2. Peer test: trace one relay-output or I/O claim back to the cited table; if it describes another CPU variant, mark the comparison row unsupported.
3. Each team reports one meaningful documented difference and one unfair or incomplete dimension; for example, cost cannot be compared until software and included modules align.
4. Debrief: a fair comparison can conclude “not yet known”; explain what evidence would make the dimension comparable.
TEACHING VISUAL
The slide uses an editable formative check diagram. Keep it unless the prompted image communicates the idea more clearly.
OPTIONAL IMAGE PROMPT
Original peer-review scene with two students cross-checking a generic PLC data table against open manuals and hardware modules, one unsupported row visibly flagged with a blank marker,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17 of 18 | Suggested time: 7 minutes | Criteria: P2
TEACHING NOTES AND ACTIVITY CUES
1. Confirm at least three exact PLC models from distinct manufacturers and a matrix covering digital I/O, relay outputs, expansion, programming, UI/diagnostics, reliability evidence, cost, wiring, installation, documentation, support, and training.
2. Check citations identify the exact hardware and current source; verify that prices include comparable configuration and a date/currency/source.
3. Replace “more reliable” with evidence such as documented diagnostics, lifecycle status, operating limits, support/spare evidence, and the limits of that evidence.
4. Expected P2 evidence: balanced application-linked differences, not a winner chosen from brand reputation or a single attractive feature.
TEACHING VISUAL
The slide uses an editable formative check diagram. Keep it unless the prompted image communicates the idea more clearly.
OPTIONAL IMAGE PROMPT
Original checklist review illustration with three generic PLCs, a magnifying glass over a manual, a cost quotation sheet, and wiring/support icons, all paper blank of writing,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Types, Applications, and Manufacturers | Week 02 | LO1
Slide 18 of 18 | Suggested time: 8 minutes | Criteria: P2
TEACHING NOTES AND ACTIVITY CUES
1. State one documented difference between two exact candidates and connect it to a MedPack need, for example verified high-speed input support against the pill sensor’s documented pulse limits.
2. Give the exact source identity and page/table; do not report a model rating or price from memory or a family-level summary.
3. Name one unresolved fact that could change the shortlist, such as actuator inrush, required safety architecture, or a current like-for-like installed quote.
4. Carry the matrix and source log into Week 3, where electrical and timing compatibility will be tested in detail.
TEACHING VISUAL
The slide uses an editable formative check diagram. Keep it unless the prompted image communicates the idea more clearly.
OPTIONAL IMAGE PROMPT
Original technical exit-ticket scene with a pill sensor, two generic PLC candidates, an open manual, and a visible unresolved-question symbol on a blank notecard,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Week 1 retrieval: requirement or assumption?</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Classify “pill sensor and actuator are in the brief” as stated, “input must capture the sensor pulse” as a derived requirement, and “sensor is 24 V DC” as unverified.</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Add two more checks: target count is a stated process need; actuator current and whether it fires per pill or per pack still require evidence.</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debrief: only sourced facts become baseline requirements; unknown electrical values must become shortlist questions, not guessed PLC specs.</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Keep the revised Week 1 process diagram and I/O schedule visible as the shared MedPack reference for today.</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SUGGESTED VISUAL</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82128" y="2432304"/>
            <a:ext cx="3483864" cy="3447288"/>
          </a:xfrm>
          <a:prstGeom prst="rect">
            <a:avLst/>
          </a:prstGeom>
          <a:solidFill>
            <a:srgbClr val="E8EFF3"/>
          </a:solidFill>
          <a:ln w="13970">
            <a:solidFill>
              <a:srgbClr val="AFC1CD"/>
            </a:solidFill>
            <a:prstDash val="solid"/>
          </a:ln>
        </p:spPr>
      </p:sp>
      <p:sp>
        <p:nvSpPr>
          <p:cNvPr id="31" name="Text 29"/>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58B28"/>
                </a:solidFill>
                <a:latin typeface="Aptos Display" pitchFamily="34" charset="0"/>
                <a:ea typeface="Aptos Display" pitchFamily="34" charset="-122"/>
                <a:cs typeface="Aptos Display" pitchFamily="34" charset="-120"/>
              </a:rPr>
              <a:t>IMAGE SPACE</a:t>
            </a:r>
            <a:endParaRPr lang="en-US" sz="1800" dirty="0"/>
          </a:p>
        </p:txBody>
      </p:sp>
      <p:sp>
        <p:nvSpPr>
          <p:cNvPr id="32" name="Text 30"/>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33" name="Shape 31"/>
          <p:cNvSpPr/>
          <p:nvPr/>
        </p:nvSpPr>
        <p:spPr>
          <a:xfrm>
            <a:off x="603504" y="6318504"/>
            <a:ext cx="10972800" cy="0"/>
          </a:xfrm>
          <a:prstGeom prst="line">
            <a:avLst/>
          </a:prstGeom>
          <a:noFill/>
          <a:ln w="10160">
            <a:solidFill>
              <a:srgbClr val="D5E0E7"/>
            </a:solidFill>
            <a:prstDash val="solid"/>
          </a:ln>
        </p:spPr>
      </p:sp>
      <p:sp>
        <p:nvSpPr>
          <p:cNvPr id="34" name="Text 3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35" name="Text 3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01 / 18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Why PLCs come in different forms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 PLC architecture is the physical and functional arrangement of CPU, I/O, power, communications, and expansion; it determines how a control system is assembled and maintained.</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MedPack may suit a compact local controller if its verified I/O and timing needs are modest; a multi-station line may need distributed I/O and networked coordination.</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Compare I/O location, expansion, performance, panel space, environment, lifecycle, engineering effort, and local support rather than assuming “bigger is better.”</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answer: choose architecture from requirements and interfaces; machine size alone is not enough to decide.</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PLC ARCHITECTURE CLASSES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36992" y="2578608"/>
            <a:ext cx="3383280" cy="630936"/>
          </a:xfrm>
          <a:prstGeom prst="rect">
            <a:avLst/>
          </a:prstGeom>
          <a:solidFill>
            <a:srgbClr val="EAF3F4"/>
          </a:solidFill>
          <a:ln w="10160">
            <a:solidFill>
              <a:srgbClr val="D5E0E7"/>
            </a:solidFill>
            <a:prstDash val="solid"/>
          </a:ln>
        </p:spPr>
      </p:sp>
      <p:sp>
        <p:nvSpPr>
          <p:cNvPr id="31" name="Text 29"/>
          <p:cNvSpPr/>
          <p:nvPr/>
        </p:nvSpPr>
        <p:spPr>
          <a:xfrm>
            <a:off x="8046720" y="2670048"/>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MICRO / COMPACT</a:t>
            </a:r>
            <a:endParaRPr lang="en-US" sz="820" dirty="0"/>
          </a:p>
        </p:txBody>
      </p:sp>
      <p:sp>
        <p:nvSpPr>
          <p:cNvPr id="32" name="Text 30"/>
          <p:cNvSpPr/>
          <p:nvPr/>
        </p:nvSpPr>
        <p:spPr>
          <a:xfrm>
            <a:off x="9125712" y="2642616"/>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Integrated CPU and I/O; often suits a stand-alone machine</a:t>
            </a:r>
            <a:endParaRPr lang="en-US" sz="850" dirty="0"/>
          </a:p>
        </p:txBody>
      </p:sp>
      <p:sp>
        <p:nvSpPr>
          <p:cNvPr id="33" name="Shape 31"/>
          <p:cNvSpPr/>
          <p:nvPr/>
        </p:nvSpPr>
        <p:spPr>
          <a:xfrm>
            <a:off x="7936992" y="3383280"/>
            <a:ext cx="3383280" cy="630936"/>
          </a:xfrm>
          <a:prstGeom prst="rect">
            <a:avLst/>
          </a:prstGeom>
          <a:solidFill>
            <a:srgbClr val="F6F8FA"/>
          </a:solidFill>
          <a:ln w="10160">
            <a:solidFill>
              <a:srgbClr val="D5E0E7"/>
            </a:solidFill>
            <a:prstDash val="solid"/>
          </a:ln>
        </p:spPr>
      </p:sp>
      <p:sp>
        <p:nvSpPr>
          <p:cNvPr id="34" name="Text 32"/>
          <p:cNvSpPr/>
          <p:nvPr/>
        </p:nvSpPr>
        <p:spPr>
          <a:xfrm>
            <a:off x="8046720" y="3474720"/>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MODULAR</a:t>
            </a:r>
            <a:endParaRPr lang="en-US" sz="820" dirty="0"/>
          </a:p>
        </p:txBody>
      </p:sp>
      <p:sp>
        <p:nvSpPr>
          <p:cNvPr id="35" name="Text 33"/>
          <p:cNvSpPr/>
          <p:nvPr/>
        </p:nvSpPr>
        <p:spPr>
          <a:xfrm>
            <a:off x="9125712" y="3447288"/>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Selectable I/O and communication modules; grows with the application</a:t>
            </a:r>
            <a:endParaRPr lang="en-US" sz="850" dirty="0"/>
          </a:p>
        </p:txBody>
      </p:sp>
      <p:sp>
        <p:nvSpPr>
          <p:cNvPr id="36" name="Shape 34"/>
          <p:cNvSpPr/>
          <p:nvPr/>
        </p:nvSpPr>
        <p:spPr>
          <a:xfrm>
            <a:off x="7936992" y="4187952"/>
            <a:ext cx="3383280" cy="630936"/>
          </a:xfrm>
          <a:prstGeom prst="rect">
            <a:avLst/>
          </a:prstGeom>
          <a:solidFill>
            <a:srgbClr val="EAF3F4"/>
          </a:solidFill>
          <a:ln w="10160">
            <a:solidFill>
              <a:srgbClr val="D5E0E7"/>
            </a:solidFill>
            <a:prstDash val="solid"/>
          </a:ln>
        </p:spPr>
      </p:sp>
      <p:sp>
        <p:nvSpPr>
          <p:cNvPr id="37" name="Text 35"/>
          <p:cNvSpPr/>
          <p:nvPr/>
        </p:nvSpPr>
        <p:spPr>
          <a:xfrm>
            <a:off x="8046720" y="4279392"/>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RACK / PAC</a:t>
            </a:r>
            <a:endParaRPr lang="en-US" sz="820" dirty="0"/>
          </a:p>
        </p:txBody>
      </p:sp>
      <p:sp>
        <p:nvSpPr>
          <p:cNvPr id="38" name="Text 36"/>
          <p:cNvSpPr/>
          <p:nvPr/>
        </p:nvSpPr>
        <p:spPr>
          <a:xfrm>
            <a:off x="9125712" y="4251960"/>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Larger modular systems; may suit distributed or complex control</a:t>
            </a:r>
            <a:endParaRPr lang="en-US" sz="850" dirty="0"/>
          </a:p>
        </p:txBody>
      </p:sp>
      <p:sp>
        <p:nvSpPr>
          <p:cNvPr id="39" name="Shape 37"/>
          <p:cNvSpPr/>
          <p:nvPr/>
        </p:nvSpPr>
        <p:spPr>
          <a:xfrm>
            <a:off x="7936992" y="4992624"/>
            <a:ext cx="3383280" cy="630936"/>
          </a:xfrm>
          <a:prstGeom prst="rect">
            <a:avLst/>
          </a:prstGeom>
          <a:solidFill>
            <a:srgbClr val="FBF2F0"/>
          </a:solidFill>
          <a:ln w="13970">
            <a:solidFill>
              <a:srgbClr val="C65E4E"/>
            </a:solidFill>
            <a:prstDash val="solid"/>
          </a:ln>
        </p:spPr>
      </p:sp>
      <p:sp>
        <p:nvSpPr>
          <p:cNvPr id="40" name="Text 38"/>
          <p:cNvSpPr/>
          <p:nvPr/>
        </p:nvSpPr>
        <p:spPr>
          <a:xfrm>
            <a:off x="8046720" y="5084064"/>
            <a:ext cx="1051560" cy="182880"/>
          </a:xfrm>
          <a:prstGeom prst="rect">
            <a:avLst/>
          </a:prstGeom>
          <a:noFill/>
          <a:ln/>
        </p:spPr>
        <p:txBody>
          <a:bodyPr wrap="square" lIns="0" tIns="0" rIns="0" bIns="0" rtlCol="0" anchor="ctr"/>
          <a:lstStyle/>
          <a:p>
            <a:pPr indent="0" marL="0">
              <a:buNone/>
            </a:pPr>
            <a:r>
              <a:rPr lang="en-US" sz="820" b="1" dirty="0">
                <a:solidFill>
                  <a:srgbClr val="C65E4E"/>
                </a:solidFill>
                <a:latin typeface="Aptos" pitchFamily="34" charset="0"/>
                <a:ea typeface="Aptos" pitchFamily="34" charset="-122"/>
                <a:cs typeface="Aptos" pitchFamily="34" charset="-120"/>
              </a:rPr>
              <a:t>SAFETY PLC</a:t>
            </a:r>
            <a:endParaRPr lang="en-US" sz="820" dirty="0"/>
          </a:p>
        </p:txBody>
      </p:sp>
      <p:sp>
        <p:nvSpPr>
          <p:cNvPr id="41" name="Text 39"/>
          <p:cNvSpPr/>
          <p:nvPr/>
        </p:nvSpPr>
        <p:spPr>
          <a:xfrm>
            <a:off x="9125712" y="5056632"/>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Safety-rated functions require risk assessment and validation</a:t>
            </a:r>
            <a:endParaRPr lang="en-US" sz="850" dirty="0"/>
          </a:p>
        </p:txBody>
      </p:sp>
      <p:sp>
        <p:nvSpPr>
          <p:cNvPr id="42" name="Text 40"/>
          <p:cNvSpPr/>
          <p:nvPr/>
        </p:nvSpPr>
        <p:spPr>
          <a:xfrm>
            <a:off x="8028432" y="5596128"/>
            <a:ext cx="3200400" cy="365760"/>
          </a:xfrm>
          <a:prstGeom prst="rect">
            <a:avLst/>
          </a:prstGeom>
          <a:noFill/>
          <a:ln/>
        </p:spPr>
        <p:txBody>
          <a:bodyPr wrap="square" lIns="0" tIns="0" rIns="0" bIns="0" rtlCol="0" anchor="ctr">
            <a:normAutofit/>
          </a:bodyPr>
          <a:lstStyle/>
          <a:p>
            <a:pPr algn="ctr" indent="0" marL="0">
              <a:buNone/>
            </a:pPr>
            <a:r>
              <a:rPr lang="en-US" sz="880" dirty="0">
                <a:solidFill>
                  <a:srgbClr val="607585"/>
                </a:solidFill>
                <a:latin typeface="Aptos" pitchFamily="34" charset="0"/>
                <a:ea typeface="Aptos" pitchFamily="34" charset="-122"/>
                <a:cs typeface="Aptos" pitchFamily="34" charset="-120"/>
              </a:rPr>
              <a:t>Form factor is a starting point; verify exact CPU and module features</a:t>
            </a:r>
            <a:endParaRPr lang="en-US" sz="88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LO1.P2 and the evidence standard</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LO1.P2 requires comparison of operational features and characteristics across PLCs from several manufacturers; the assignment expects at least three exact models/manufacturers.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The matrix must cover digital I/O, relay-output provision, expansion, programming, user interface/diagnostics, reliability evidence, cost, and practical wiring/support factors.</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 brand statement such as “brand X is more reliable” is not evidence; record the exact CPU part number, source document, revision/date, and relevant table or page.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Debrief: if a feature or price cannot be verified, write “unknown” and state how to obtain comparable evidence.</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FORMATIVE CHECK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138160" y="2697480"/>
            <a:ext cx="256032" cy="256032"/>
          </a:xfrm>
          <a:prstGeom prst="rect">
            <a:avLst/>
          </a:prstGeom>
          <a:solidFill>
            <a:srgbClr val="FFFFFF"/>
          </a:solidFill>
          <a:ln w="17780">
            <a:solidFill>
              <a:srgbClr val="C58B28"/>
            </a:solidFill>
            <a:prstDash val="solid"/>
          </a:ln>
        </p:spPr>
      </p:sp>
      <p:sp>
        <p:nvSpPr>
          <p:cNvPr id="31" name="Text 29"/>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01</a:t>
            </a:r>
            <a:endParaRPr lang="en-US" sz="800" dirty="0"/>
          </a:p>
        </p:txBody>
      </p:sp>
      <p:sp>
        <p:nvSpPr>
          <p:cNvPr id="32" name="Text 30"/>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EXACT MODEL</a:t>
            </a:r>
            <a:endParaRPr lang="en-US" sz="1000" dirty="0"/>
          </a:p>
        </p:txBody>
      </p:sp>
      <p:sp>
        <p:nvSpPr>
          <p:cNvPr id="33" name="Shape 31"/>
          <p:cNvSpPr/>
          <p:nvPr/>
        </p:nvSpPr>
        <p:spPr>
          <a:xfrm>
            <a:off x="8558784" y="3163824"/>
            <a:ext cx="2542032" cy="0"/>
          </a:xfrm>
          <a:prstGeom prst="line">
            <a:avLst/>
          </a:prstGeom>
          <a:noFill/>
          <a:ln w="8890">
            <a:solidFill>
              <a:srgbClr val="D5E0E7"/>
            </a:solidFill>
            <a:prstDash val="solid"/>
          </a:ln>
        </p:spPr>
      </p:sp>
      <p:sp>
        <p:nvSpPr>
          <p:cNvPr id="34" name="Shape 32"/>
          <p:cNvSpPr/>
          <p:nvPr/>
        </p:nvSpPr>
        <p:spPr>
          <a:xfrm>
            <a:off x="8138160" y="3447288"/>
            <a:ext cx="256032" cy="256032"/>
          </a:xfrm>
          <a:prstGeom prst="rect">
            <a:avLst/>
          </a:prstGeom>
          <a:solidFill>
            <a:srgbClr val="FFFFFF"/>
          </a:solidFill>
          <a:ln w="17780">
            <a:solidFill>
              <a:srgbClr val="C58B28"/>
            </a:solidFill>
            <a:prstDash val="solid"/>
          </a:ln>
        </p:spPr>
      </p:sp>
      <p:sp>
        <p:nvSpPr>
          <p:cNvPr id="35" name="Text 33"/>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02</a:t>
            </a:r>
            <a:endParaRPr lang="en-US" sz="800" dirty="0"/>
          </a:p>
        </p:txBody>
      </p:sp>
      <p:sp>
        <p:nvSpPr>
          <p:cNvPr id="36" name="Text 34"/>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TECHNICAL SPECS</a:t>
            </a:r>
            <a:endParaRPr lang="en-US" sz="1000" dirty="0"/>
          </a:p>
        </p:txBody>
      </p:sp>
      <p:sp>
        <p:nvSpPr>
          <p:cNvPr id="37" name="Shape 35"/>
          <p:cNvSpPr/>
          <p:nvPr/>
        </p:nvSpPr>
        <p:spPr>
          <a:xfrm>
            <a:off x="8558784" y="3913632"/>
            <a:ext cx="2542032" cy="0"/>
          </a:xfrm>
          <a:prstGeom prst="line">
            <a:avLst/>
          </a:prstGeom>
          <a:noFill/>
          <a:ln w="8890">
            <a:solidFill>
              <a:srgbClr val="D5E0E7"/>
            </a:solidFill>
            <a:prstDash val="solid"/>
          </a:ln>
        </p:spPr>
      </p:sp>
      <p:sp>
        <p:nvSpPr>
          <p:cNvPr id="38" name="Shape 36"/>
          <p:cNvSpPr/>
          <p:nvPr/>
        </p:nvSpPr>
        <p:spPr>
          <a:xfrm>
            <a:off x="8138160" y="4197096"/>
            <a:ext cx="256032" cy="256032"/>
          </a:xfrm>
          <a:prstGeom prst="rect">
            <a:avLst/>
          </a:prstGeom>
          <a:solidFill>
            <a:srgbClr val="FFFFFF"/>
          </a:solidFill>
          <a:ln w="17780">
            <a:solidFill>
              <a:srgbClr val="C58B28"/>
            </a:solidFill>
            <a:prstDash val="solid"/>
          </a:ln>
        </p:spPr>
      </p:sp>
      <p:sp>
        <p:nvSpPr>
          <p:cNvPr id="39" name="Text 37"/>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03</a:t>
            </a:r>
            <a:endParaRPr lang="en-US" sz="800" dirty="0"/>
          </a:p>
        </p:txBody>
      </p:sp>
      <p:sp>
        <p:nvSpPr>
          <p:cNvPr id="40" name="Text 38"/>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PRACTICAL SUPPORT</a:t>
            </a:r>
            <a:endParaRPr lang="en-US" sz="1000" dirty="0"/>
          </a:p>
        </p:txBody>
      </p:sp>
      <p:sp>
        <p:nvSpPr>
          <p:cNvPr id="41" name="Shape 39"/>
          <p:cNvSpPr/>
          <p:nvPr/>
        </p:nvSpPr>
        <p:spPr>
          <a:xfrm>
            <a:off x="8558784" y="4663440"/>
            <a:ext cx="2542032" cy="0"/>
          </a:xfrm>
          <a:prstGeom prst="line">
            <a:avLst/>
          </a:prstGeom>
          <a:noFill/>
          <a:ln w="8890">
            <a:solidFill>
              <a:srgbClr val="D5E0E7"/>
            </a:solidFill>
            <a:prstDash val="solid"/>
          </a:ln>
        </p:spPr>
      </p:sp>
      <p:sp>
        <p:nvSpPr>
          <p:cNvPr id="42" name="Shape 40"/>
          <p:cNvSpPr/>
          <p:nvPr/>
        </p:nvSpPr>
        <p:spPr>
          <a:xfrm>
            <a:off x="8138160" y="4946904"/>
            <a:ext cx="256032" cy="256032"/>
          </a:xfrm>
          <a:prstGeom prst="rect">
            <a:avLst/>
          </a:prstGeom>
          <a:solidFill>
            <a:srgbClr val="FFFFFF"/>
          </a:solidFill>
          <a:ln w="17780">
            <a:solidFill>
              <a:srgbClr val="C58B28"/>
            </a:solidFill>
            <a:prstDash val="solid"/>
          </a:ln>
        </p:spPr>
      </p:sp>
      <p:sp>
        <p:nvSpPr>
          <p:cNvPr id="43" name="Text 41"/>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04</a:t>
            </a:r>
            <a:endParaRPr lang="en-US" sz="800" dirty="0"/>
          </a:p>
        </p:txBody>
      </p:sp>
      <p:sp>
        <p:nvSpPr>
          <p:cNvPr id="44" name="Text 42"/>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CITED EVIDENCE</a:t>
            </a:r>
            <a:endParaRPr lang="en-US" sz="100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Compact and micro PLCs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Compact/micro PLCs commonly combine CPU and some I/O in one housing; this can reduce wiring and panel footprint for a self-contained machine such as one MedPack station.</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Integrated I/O can constrain the mix of digital/analogue points or output types, so count the actual requirements and spare capacity before choosing a unit.</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Compare exact onboard DI/DO type and count, analogue capability, communication ports/protocols, expansion method, operating conditions, and engineering software.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Misconception: “micro” is not a universal performance class; the manual for the exact CPU decides what it can do.</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PLC ARCHITECTURE CLASSES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36992" y="2578608"/>
            <a:ext cx="3383280" cy="630936"/>
          </a:xfrm>
          <a:prstGeom prst="rect">
            <a:avLst/>
          </a:prstGeom>
          <a:solidFill>
            <a:srgbClr val="EAF3F4"/>
          </a:solidFill>
          <a:ln w="10160">
            <a:solidFill>
              <a:srgbClr val="D5E0E7"/>
            </a:solidFill>
            <a:prstDash val="solid"/>
          </a:ln>
        </p:spPr>
      </p:sp>
      <p:sp>
        <p:nvSpPr>
          <p:cNvPr id="31" name="Text 29"/>
          <p:cNvSpPr/>
          <p:nvPr/>
        </p:nvSpPr>
        <p:spPr>
          <a:xfrm>
            <a:off x="8046720" y="2670048"/>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MICRO / COMPACT</a:t>
            </a:r>
            <a:endParaRPr lang="en-US" sz="820" dirty="0"/>
          </a:p>
        </p:txBody>
      </p:sp>
      <p:sp>
        <p:nvSpPr>
          <p:cNvPr id="32" name="Text 30"/>
          <p:cNvSpPr/>
          <p:nvPr/>
        </p:nvSpPr>
        <p:spPr>
          <a:xfrm>
            <a:off x="9125712" y="2642616"/>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Integrated CPU and I/O; often suits a stand-alone machine</a:t>
            </a:r>
            <a:endParaRPr lang="en-US" sz="850" dirty="0"/>
          </a:p>
        </p:txBody>
      </p:sp>
      <p:sp>
        <p:nvSpPr>
          <p:cNvPr id="33" name="Shape 31"/>
          <p:cNvSpPr/>
          <p:nvPr/>
        </p:nvSpPr>
        <p:spPr>
          <a:xfrm>
            <a:off x="7936992" y="3383280"/>
            <a:ext cx="3383280" cy="630936"/>
          </a:xfrm>
          <a:prstGeom prst="rect">
            <a:avLst/>
          </a:prstGeom>
          <a:solidFill>
            <a:srgbClr val="F6F8FA"/>
          </a:solidFill>
          <a:ln w="10160">
            <a:solidFill>
              <a:srgbClr val="D5E0E7"/>
            </a:solidFill>
            <a:prstDash val="solid"/>
          </a:ln>
        </p:spPr>
      </p:sp>
      <p:sp>
        <p:nvSpPr>
          <p:cNvPr id="34" name="Text 32"/>
          <p:cNvSpPr/>
          <p:nvPr/>
        </p:nvSpPr>
        <p:spPr>
          <a:xfrm>
            <a:off x="8046720" y="3474720"/>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MODULAR</a:t>
            </a:r>
            <a:endParaRPr lang="en-US" sz="820" dirty="0"/>
          </a:p>
        </p:txBody>
      </p:sp>
      <p:sp>
        <p:nvSpPr>
          <p:cNvPr id="35" name="Text 33"/>
          <p:cNvSpPr/>
          <p:nvPr/>
        </p:nvSpPr>
        <p:spPr>
          <a:xfrm>
            <a:off x="9125712" y="3447288"/>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Selectable I/O and communication modules; grows with the application</a:t>
            </a:r>
            <a:endParaRPr lang="en-US" sz="850" dirty="0"/>
          </a:p>
        </p:txBody>
      </p:sp>
      <p:sp>
        <p:nvSpPr>
          <p:cNvPr id="36" name="Shape 34"/>
          <p:cNvSpPr/>
          <p:nvPr/>
        </p:nvSpPr>
        <p:spPr>
          <a:xfrm>
            <a:off x="7936992" y="4187952"/>
            <a:ext cx="3383280" cy="630936"/>
          </a:xfrm>
          <a:prstGeom prst="rect">
            <a:avLst/>
          </a:prstGeom>
          <a:solidFill>
            <a:srgbClr val="EAF3F4"/>
          </a:solidFill>
          <a:ln w="10160">
            <a:solidFill>
              <a:srgbClr val="D5E0E7"/>
            </a:solidFill>
            <a:prstDash val="solid"/>
          </a:ln>
        </p:spPr>
      </p:sp>
      <p:sp>
        <p:nvSpPr>
          <p:cNvPr id="37" name="Text 35"/>
          <p:cNvSpPr/>
          <p:nvPr/>
        </p:nvSpPr>
        <p:spPr>
          <a:xfrm>
            <a:off x="8046720" y="4279392"/>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RACK / PAC</a:t>
            </a:r>
            <a:endParaRPr lang="en-US" sz="820" dirty="0"/>
          </a:p>
        </p:txBody>
      </p:sp>
      <p:sp>
        <p:nvSpPr>
          <p:cNvPr id="38" name="Text 36"/>
          <p:cNvSpPr/>
          <p:nvPr/>
        </p:nvSpPr>
        <p:spPr>
          <a:xfrm>
            <a:off x="9125712" y="4251960"/>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Larger modular systems; may suit distributed or complex control</a:t>
            </a:r>
            <a:endParaRPr lang="en-US" sz="850" dirty="0"/>
          </a:p>
        </p:txBody>
      </p:sp>
      <p:sp>
        <p:nvSpPr>
          <p:cNvPr id="39" name="Shape 37"/>
          <p:cNvSpPr/>
          <p:nvPr/>
        </p:nvSpPr>
        <p:spPr>
          <a:xfrm>
            <a:off x="7936992" y="4992624"/>
            <a:ext cx="3383280" cy="630936"/>
          </a:xfrm>
          <a:prstGeom prst="rect">
            <a:avLst/>
          </a:prstGeom>
          <a:solidFill>
            <a:srgbClr val="FBF2F0"/>
          </a:solidFill>
          <a:ln w="13970">
            <a:solidFill>
              <a:srgbClr val="C65E4E"/>
            </a:solidFill>
            <a:prstDash val="solid"/>
          </a:ln>
        </p:spPr>
      </p:sp>
      <p:sp>
        <p:nvSpPr>
          <p:cNvPr id="40" name="Text 38"/>
          <p:cNvSpPr/>
          <p:nvPr/>
        </p:nvSpPr>
        <p:spPr>
          <a:xfrm>
            <a:off x="8046720" y="5084064"/>
            <a:ext cx="1051560" cy="182880"/>
          </a:xfrm>
          <a:prstGeom prst="rect">
            <a:avLst/>
          </a:prstGeom>
          <a:noFill/>
          <a:ln/>
        </p:spPr>
        <p:txBody>
          <a:bodyPr wrap="square" lIns="0" tIns="0" rIns="0" bIns="0" rtlCol="0" anchor="ctr"/>
          <a:lstStyle/>
          <a:p>
            <a:pPr indent="0" marL="0">
              <a:buNone/>
            </a:pPr>
            <a:r>
              <a:rPr lang="en-US" sz="820" b="1" dirty="0">
                <a:solidFill>
                  <a:srgbClr val="C65E4E"/>
                </a:solidFill>
                <a:latin typeface="Aptos" pitchFamily="34" charset="0"/>
                <a:ea typeface="Aptos" pitchFamily="34" charset="-122"/>
                <a:cs typeface="Aptos" pitchFamily="34" charset="-120"/>
              </a:rPr>
              <a:t>SAFETY PLC</a:t>
            </a:r>
            <a:endParaRPr lang="en-US" sz="820" dirty="0"/>
          </a:p>
        </p:txBody>
      </p:sp>
      <p:sp>
        <p:nvSpPr>
          <p:cNvPr id="41" name="Text 39"/>
          <p:cNvSpPr/>
          <p:nvPr/>
        </p:nvSpPr>
        <p:spPr>
          <a:xfrm>
            <a:off x="9125712" y="5056632"/>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Safety-rated functions require risk assessment and validation</a:t>
            </a:r>
            <a:endParaRPr lang="en-US" sz="850" dirty="0"/>
          </a:p>
        </p:txBody>
      </p:sp>
      <p:sp>
        <p:nvSpPr>
          <p:cNvPr id="42" name="Text 40"/>
          <p:cNvSpPr/>
          <p:nvPr/>
        </p:nvSpPr>
        <p:spPr>
          <a:xfrm>
            <a:off x="8028432" y="5596128"/>
            <a:ext cx="3200400" cy="365760"/>
          </a:xfrm>
          <a:prstGeom prst="rect">
            <a:avLst/>
          </a:prstGeom>
          <a:noFill/>
          <a:ln/>
        </p:spPr>
        <p:txBody>
          <a:bodyPr wrap="square" lIns="0" tIns="0" rIns="0" bIns="0" rtlCol="0" anchor="ctr">
            <a:normAutofit/>
          </a:bodyPr>
          <a:lstStyle/>
          <a:p>
            <a:pPr algn="ctr" indent="0" marL="0">
              <a:buNone/>
            </a:pPr>
            <a:r>
              <a:rPr lang="en-US" sz="880" dirty="0">
                <a:solidFill>
                  <a:srgbClr val="607585"/>
                </a:solidFill>
                <a:latin typeface="Aptos" pitchFamily="34" charset="0"/>
                <a:ea typeface="Aptos" pitchFamily="34" charset="-122"/>
                <a:cs typeface="Aptos" pitchFamily="34" charset="-120"/>
              </a:rPr>
              <a:t>Form factor is a starting point; verify exact CPU and module features</a:t>
            </a:r>
            <a:endParaRPr lang="en-US" sz="88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Modular, rack-based PLCs, and PACs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 modular PLC separates CPU, power, and selectable I/O/communication modules; a rack/backplane provides the local module connection, while remote I/O places modules closer to field devices.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This architecture can fit MedPack line growth or specialised interfaces, but every module adds wiring, configuration, power demand, panel space, spares, and documentation to maintain.</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Motion, redundancy, process functions, and distributed-I/O capacity are model-specific options; verify supported modules, firmware, network limits, and system configuration in official manuals.</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“PAC” is a vendor/category label with overlapping PLC features; compare the actual functions and lifecycle factors, not the name on the product page.</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PLC ARCHITECTURE CLASSES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36992" y="2578608"/>
            <a:ext cx="3383280" cy="630936"/>
          </a:xfrm>
          <a:prstGeom prst="rect">
            <a:avLst/>
          </a:prstGeom>
          <a:solidFill>
            <a:srgbClr val="EAF3F4"/>
          </a:solidFill>
          <a:ln w="10160">
            <a:solidFill>
              <a:srgbClr val="D5E0E7"/>
            </a:solidFill>
            <a:prstDash val="solid"/>
          </a:ln>
        </p:spPr>
      </p:sp>
      <p:sp>
        <p:nvSpPr>
          <p:cNvPr id="31" name="Text 29"/>
          <p:cNvSpPr/>
          <p:nvPr/>
        </p:nvSpPr>
        <p:spPr>
          <a:xfrm>
            <a:off x="8046720" y="2670048"/>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MICRO / COMPACT</a:t>
            </a:r>
            <a:endParaRPr lang="en-US" sz="820" dirty="0"/>
          </a:p>
        </p:txBody>
      </p:sp>
      <p:sp>
        <p:nvSpPr>
          <p:cNvPr id="32" name="Text 30"/>
          <p:cNvSpPr/>
          <p:nvPr/>
        </p:nvSpPr>
        <p:spPr>
          <a:xfrm>
            <a:off x="9125712" y="2642616"/>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Integrated CPU and I/O; often suits a stand-alone machine</a:t>
            </a:r>
            <a:endParaRPr lang="en-US" sz="850" dirty="0"/>
          </a:p>
        </p:txBody>
      </p:sp>
      <p:sp>
        <p:nvSpPr>
          <p:cNvPr id="33" name="Shape 31"/>
          <p:cNvSpPr/>
          <p:nvPr/>
        </p:nvSpPr>
        <p:spPr>
          <a:xfrm>
            <a:off x="7936992" y="3383280"/>
            <a:ext cx="3383280" cy="630936"/>
          </a:xfrm>
          <a:prstGeom prst="rect">
            <a:avLst/>
          </a:prstGeom>
          <a:solidFill>
            <a:srgbClr val="F6F8FA"/>
          </a:solidFill>
          <a:ln w="10160">
            <a:solidFill>
              <a:srgbClr val="D5E0E7"/>
            </a:solidFill>
            <a:prstDash val="solid"/>
          </a:ln>
        </p:spPr>
      </p:sp>
      <p:sp>
        <p:nvSpPr>
          <p:cNvPr id="34" name="Text 32"/>
          <p:cNvSpPr/>
          <p:nvPr/>
        </p:nvSpPr>
        <p:spPr>
          <a:xfrm>
            <a:off x="8046720" y="3474720"/>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MODULAR</a:t>
            </a:r>
            <a:endParaRPr lang="en-US" sz="820" dirty="0"/>
          </a:p>
        </p:txBody>
      </p:sp>
      <p:sp>
        <p:nvSpPr>
          <p:cNvPr id="35" name="Text 33"/>
          <p:cNvSpPr/>
          <p:nvPr/>
        </p:nvSpPr>
        <p:spPr>
          <a:xfrm>
            <a:off x="9125712" y="3447288"/>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Selectable I/O and communication modules; grows with the application</a:t>
            </a:r>
            <a:endParaRPr lang="en-US" sz="850" dirty="0"/>
          </a:p>
        </p:txBody>
      </p:sp>
      <p:sp>
        <p:nvSpPr>
          <p:cNvPr id="36" name="Shape 34"/>
          <p:cNvSpPr/>
          <p:nvPr/>
        </p:nvSpPr>
        <p:spPr>
          <a:xfrm>
            <a:off x="7936992" y="4187952"/>
            <a:ext cx="3383280" cy="630936"/>
          </a:xfrm>
          <a:prstGeom prst="rect">
            <a:avLst/>
          </a:prstGeom>
          <a:solidFill>
            <a:srgbClr val="EAF3F4"/>
          </a:solidFill>
          <a:ln w="10160">
            <a:solidFill>
              <a:srgbClr val="D5E0E7"/>
            </a:solidFill>
            <a:prstDash val="solid"/>
          </a:ln>
        </p:spPr>
      </p:sp>
      <p:sp>
        <p:nvSpPr>
          <p:cNvPr id="37" name="Text 35"/>
          <p:cNvSpPr/>
          <p:nvPr/>
        </p:nvSpPr>
        <p:spPr>
          <a:xfrm>
            <a:off x="8046720" y="4279392"/>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RACK / PAC</a:t>
            </a:r>
            <a:endParaRPr lang="en-US" sz="820" dirty="0"/>
          </a:p>
        </p:txBody>
      </p:sp>
      <p:sp>
        <p:nvSpPr>
          <p:cNvPr id="38" name="Text 36"/>
          <p:cNvSpPr/>
          <p:nvPr/>
        </p:nvSpPr>
        <p:spPr>
          <a:xfrm>
            <a:off x="9125712" y="4251960"/>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Larger modular systems; may suit distributed or complex control</a:t>
            </a:r>
            <a:endParaRPr lang="en-US" sz="850" dirty="0"/>
          </a:p>
        </p:txBody>
      </p:sp>
      <p:sp>
        <p:nvSpPr>
          <p:cNvPr id="39" name="Shape 37"/>
          <p:cNvSpPr/>
          <p:nvPr/>
        </p:nvSpPr>
        <p:spPr>
          <a:xfrm>
            <a:off x="7936992" y="4992624"/>
            <a:ext cx="3383280" cy="630936"/>
          </a:xfrm>
          <a:prstGeom prst="rect">
            <a:avLst/>
          </a:prstGeom>
          <a:solidFill>
            <a:srgbClr val="FBF2F0"/>
          </a:solidFill>
          <a:ln w="13970">
            <a:solidFill>
              <a:srgbClr val="C65E4E"/>
            </a:solidFill>
            <a:prstDash val="solid"/>
          </a:ln>
        </p:spPr>
      </p:sp>
      <p:sp>
        <p:nvSpPr>
          <p:cNvPr id="40" name="Text 38"/>
          <p:cNvSpPr/>
          <p:nvPr/>
        </p:nvSpPr>
        <p:spPr>
          <a:xfrm>
            <a:off x="8046720" y="5084064"/>
            <a:ext cx="1051560" cy="182880"/>
          </a:xfrm>
          <a:prstGeom prst="rect">
            <a:avLst/>
          </a:prstGeom>
          <a:noFill/>
          <a:ln/>
        </p:spPr>
        <p:txBody>
          <a:bodyPr wrap="square" lIns="0" tIns="0" rIns="0" bIns="0" rtlCol="0" anchor="ctr"/>
          <a:lstStyle/>
          <a:p>
            <a:pPr indent="0" marL="0">
              <a:buNone/>
            </a:pPr>
            <a:r>
              <a:rPr lang="en-US" sz="820" b="1" dirty="0">
                <a:solidFill>
                  <a:srgbClr val="C65E4E"/>
                </a:solidFill>
                <a:latin typeface="Aptos" pitchFamily="34" charset="0"/>
                <a:ea typeface="Aptos" pitchFamily="34" charset="-122"/>
                <a:cs typeface="Aptos" pitchFamily="34" charset="-120"/>
              </a:rPr>
              <a:t>SAFETY PLC</a:t>
            </a:r>
            <a:endParaRPr lang="en-US" sz="820" dirty="0"/>
          </a:p>
        </p:txBody>
      </p:sp>
      <p:sp>
        <p:nvSpPr>
          <p:cNvPr id="41" name="Text 39"/>
          <p:cNvSpPr/>
          <p:nvPr/>
        </p:nvSpPr>
        <p:spPr>
          <a:xfrm>
            <a:off x="9125712" y="5056632"/>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Safety-rated functions require risk assessment and validation</a:t>
            </a:r>
            <a:endParaRPr lang="en-US" sz="850" dirty="0"/>
          </a:p>
        </p:txBody>
      </p:sp>
      <p:sp>
        <p:nvSpPr>
          <p:cNvPr id="42" name="Text 40"/>
          <p:cNvSpPr/>
          <p:nvPr/>
        </p:nvSpPr>
        <p:spPr>
          <a:xfrm>
            <a:off x="8028432" y="5596128"/>
            <a:ext cx="3200400" cy="365760"/>
          </a:xfrm>
          <a:prstGeom prst="rect">
            <a:avLst/>
          </a:prstGeom>
          <a:noFill/>
          <a:ln/>
        </p:spPr>
        <p:txBody>
          <a:bodyPr wrap="square" lIns="0" tIns="0" rIns="0" bIns="0" rtlCol="0" anchor="ctr">
            <a:normAutofit/>
          </a:bodyPr>
          <a:lstStyle/>
          <a:p>
            <a:pPr algn="ctr" indent="0" marL="0">
              <a:buNone/>
            </a:pPr>
            <a:r>
              <a:rPr lang="en-US" sz="880" dirty="0">
                <a:solidFill>
                  <a:srgbClr val="607585"/>
                </a:solidFill>
                <a:latin typeface="Aptos" pitchFamily="34" charset="0"/>
                <a:ea typeface="Aptos" pitchFamily="34" charset="-122"/>
                <a:cs typeface="Aptos" pitchFamily="34" charset="-120"/>
              </a:rPr>
              <a:t>Form factor is a starting point; verify exact CPU and module features</a:t>
            </a:r>
            <a:endParaRPr lang="en-US" sz="88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Safety PLCs and safety systems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A safety PLC/controller and its approved safety I/O implement specified safety functions only within their certified configuration, limits, and validated application; ordinary PLC logic is not a substitute.</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A safety relay may suit a simpler safety function; a safety PLC may support more complex logic/diagnostics. Risk assessment determines the needed architecture and performance, not convenience.</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For MedPack, establish hazards, required safe state, reset/restart behaviour, required PL/SIL where applicable, device compatibility, validation, and proof-test/maintenance duties with competent persons.</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Debrief: an ordinary PLC may monitor a safety-system status contact, but that status path does not perform or certify the E-stop function.</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SAFE RESPONSE PATH</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Text 28"/>
          <p:cNvSpPr/>
          <p:nvPr/>
        </p:nvSpPr>
        <p:spPr>
          <a:xfrm>
            <a:off x="8010144" y="2688336"/>
            <a:ext cx="3200400" cy="320040"/>
          </a:xfrm>
          <a:prstGeom prst="rect">
            <a:avLst/>
          </a:prstGeom>
          <a:noFill/>
          <a:ln/>
        </p:spPr>
        <p:txBody>
          <a:bodyPr wrap="square" lIns="0" tIns="0" rIns="0" bIns="0" rtlCol="0" anchor="ctr">
            <a:normAutofit/>
          </a:bodyPr>
          <a:lstStyle/>
          <a:p>
            <a:pPr algn="ctr" indent="0" marL="0">
              <a:buNone/>
            </a:pPr>
            <a:r>
              <a:rPr lang="en-US" sz="900" b="1" dirty="0">
                <a:solidFill>
                  <a:srgbClr val="C65E4E"/>
                </a:solidFill>
                <a:latin typeface="Aptos" pitchFamily="34" charset="0"/>
                <a:ea typeface="Aptos" pitchFamily="34" charset="-122"/>
                <a:cs typeface="Aptos" pitchFamily="34" charset="-120"/>
              </a:rPr>
              <a:t>KEEP THE SAFETY FUNCTION DISTINCT</a:t>
            </a:r>
            <a:endParaRPr lang="en-US" sz="900" dirty="0"/>
          </a:p>
        </p:txBody>
      </p:sp>
      <p:sp>
        <p:nvSpPr>
          <p:cNvPr id="31" name="Shape 29"/>
          <p:cNvSpPr/>
          <p:nvPr/>
        </p:nvSpPr>
        <p:spPr>
          <a:xfrm>
            <a:off x="8055864" y="3328416"/>
            <a:ext cx="841248" cy="658368"/>
          </a:xfrm>
          <a:prstGeom prst="rect">
            <a:avLst/>
          </a:prstGeom>
          <a:solidFill>
            <a:srgbClr val="FBF2F0"/>
          </a:solidFill>
          <a:ln w="14605">
            <a:solidFill>
              <a:srgbClr val="C65E4E"/>
            </a:solidFill>
            <a:prstDash val="solid"/>
          </a:ln>
        </p:spPr>
      </p:sp>
      <p:sp>
        <p:nvSpPr>
          <p:cNvPr id="32" name="Text 30"/>
          <p:cNvSpPr/>
          <p:nvPr/>
        </p:nvSpPr>
        <p:spPr>
          <a:xfrm>
            <a:off x="8129016" y="3383280"/>
            <a:ext cx="694944" cy="54864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E-STOP</a:t>
            </a:r>
            <a:endParaRPr lang="en-US" sz="900" dirty="0"/>
          </a:p>
          <a:p>
            <a:pPr algn="ctr" indent="0" marL="0">
              <a:buNone/>
            </a:pPr>
            <a:r>
              <a:rPr lang="en-US" sz="900" b="1" dirty="0">
                <a:solidFill>
                  <a:srgbClr val="1B3448"/>
                </a:solidFill>
                <a:latin typeface="Aptos" pitchFamily="34" charset="0"/>
                <a:ea typeface="Aptos" pitchFamily="34" charset="-122"/>
                <a:cs typeface="Aptos" pitchFamily="34" charset="-120"/>
              </a:rPr>
              <a:t>DEVICE</a:t>
            </a:r>
            <a:endParaRPr lang="en-US" sz="900" dirty="0"/>
          </a:p>
        </p:txBody>
      </p:sp>
      <p:sp>
        <p:nvSpPr>
          <p:cNvPr id="33" name="Shape 31"/>
          <p:cNvSpPr/>
          <p:nvPr/>
        </p:nvSpPr>
        <p:spPr>
          <a:xfrm>
            <a:off x="9427464" y="3328416"/>
            <a:ext cx="1005840" cy="658368"/>
          </a:xfrm>
          <a:prstGeom prst="rect">
            <a:avLst/>
          </a:prstGeom>
          <a:solidFill>
            <a:srgbClr val="FBF2F0"/>
          </a:solidFill>
          <a:ln w="14605">
            <a:solidFill>
              <a:srgbClr val="C65E4E"/>
            </a:solidFill>
            <a:prstDash val="solid"/>
          </a:ln>
        </p:spPr>
      </p:sp>
      <p:sp>
        <p:nvSpPr>
          <p:cNvPr id="34" name="Text 32"/>
          <p:cNvSpPr/>
          <p:nvPr/>
        </p:nvSpPr>
        <p:spPr>
          <a:xfrm>
            <a:off x="9500616" y="3383280"/>
            <a:ext cx="859536" cy="54864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SAFETY</a:t>
            </a:r>
            <a:endParaRPr lang="en-US" sz="900" dirty="0"/>
          </a:p>
          <a:p>
            <a:pPr algn="ctr" indent="0" marL="0">
              <a:buNone/>
            </a:pPr>
            <a:r>
              <a:rPr lang="en-US" sz="900" b="1" dirty="0">
                <a:solidFill>
                  <a:srgbClr val="1B3448"/>
                </a:solidFill>
                <a:latin typeface="Aptos" pitchFamily="34" charset="0"/>
                <a:ea typeface="Aptos" pitchFamily="34" charset="-122"/>
                <a:cs typeface="Aptos" pitchFamily="34" charset="-120"/>
              </a:rPr>
              <a:t>RELAY / PLC</a:t>
            </a:r>
            <a:endParaRPr lang="en-US" sz="900" dirty="0"/>
          </a:p>
        </p:txBody>
      </p:sp>
      <p:sp>
        <p:nvSpPr>
          <p:cNvPr id="35" name="Shape 33"/>
          <p:cNvSpPr/>
          <p:nvPr/>
        </p:nvSpPr>
        <p:spPr>
          <a:xfrm>
            <a:off x="10799064" y="3328416"/>
            <a:ext cx="786384" cy="658368"/>
          </a:xfrm>
          <a:prstGeom prst="rect">
            <a:avLst/>
          </a:prstGeom>
          <a:solidFill>
            <a:srgbClr val="FBF2F0"/>
          </a:solidFill>
          <a:ln w="14605">
            <a:solidFill>
              <a:srgbClr val="C65E4E"/>
            </a:solidFill>
            <a:prstDash val="solid"/>
          </a:ln>
        </p:spPr>
      </p:sp>
      <p:sp>
        <p:nvSpPr>
          <p:cNvPr id="36" name="Text 34"/>
          <p:cNvSpPr/>
          <p:nvPr/>
        </p:nvSpPr>
        <p:spPr>
          <a:xfrm>
            <a:off x="10872216" y="3383280"/>
            <a:ext cx="640080" cy="548640"/>
          </a:xfrm>
          <a:prstGeom prst="rect">
            <a:avLst/>
          </a:prstGeom>
          <a:noFill/>
          <a:ln/>
        </p:spPr>
        <p:txBody>
          <a:bodyPr wrap="square" lIns="0" tIns="0" rIns="0" bIns="0" rtlCol="0" anchor="ctr">
            <a:normAutofit/>
          </a:bodyPr>
          <a:lstStyle/>
          <a:p>
            <a:pPr algn="ctr" indent="0" marL="0">
              <a:buNone/>
            </a:pPr>
            <a:r>
              <a:rPr lang="en-US" sz="840" b="1" dirty="0">
                <a:solidFill>
                  <a:srgbClr val="1B3448"/>
                </a:solidFill>
                <a:latin typeface="Aptos" pitchFamily="34" charset="0"/>
                <a:ea typeface="Aptos" pitchFamily="34" charset="-122"/>
                <a:cs typeface="Aptos" pitchFamily="34" charset="-120"/>
              </a:rPr>
              <a:t>HAZARDOUS</a:t>
            </a:r>
            <a:endParaRPr lang="en-US" sz="840" dirty="0"/>
          </a:p>
          <a:p>
            <a:pPr algn="ctr" indent="0" marL="0">
              <a:buNone/>
            </a:pPr>
            <a:r>
              <a:rPr lang="en-US" sz="840" b="1" dirty="0">
                <a:solidFill>
                  <a:srgbClr val="1B3448"/>
                </a:solidFill>
                <a:latin typeface="Aptos" pitchFamily="34" charset="0"/>
                <a:ea typeface="Aptos" pitchFamily="34" charset="-122"/>
                <a:cs typeface="Aptos" pitchFamily="34" charset="-120"/>
              </a:rPr>
              <a:t>ENERGY</a:t>
            </a:r>
            <a:endParaRPr lang="en-US" sz="840" dirty="0"/>
          </a:p>
        </p:txBody>
      </p:sp>
      <p:sp>
        <p:nvSpPr>
          <p:cNvPr id="37" name="Shape 35"/>
          <p:cNvSpPr/>
          <p:nvPr/>
        </p:nvSpPr>
        <p:spPr>
          <a:xfrm>
            <a:off x="8915400" y="3657600"/>
            <a:ext cx="448056" cy="0"/>
          </a:xfrm>
          <a:prstGeom prst="line">
            <a:avLst/>
          </a:prstGeom>
          <a:noFill/>
          <a:ln w="22860">
            <a:solidFill>
              <a:srgbClr val="C65E4E"/>
            </a:solidFill>
            <a:prstDash val="solid"/>
            <a:tailEnd type="triangle"/>
          </a:ln>
        </p:spPr>
      </p:sp>
      <p:sp>
        <p:nvSpPr>
          <p:cNvPr id="38" name="Shape 36"/>
          <p:cNvSpPr/>
          <p:nvPr/>
        </p:nvSpPr>
        <p:spPr>
          <a:xfrm>
            <a:off x="10451592" y="3657600"/>
            <a:ext cx="283464" cy="0"/>
          </a:xfrm>
          <a:prstGeom prst="line">
            <a:avLst/>
          </a:prstGeom>
          <a:noFill/>
          <a:ln w="22860">
            <a:solidFill>
              <a:srgbClr val="C65E4E"/>
            </a:solidFill>
            <a:prstDash val="solid"/>
            <a:tailEnd type="triangle"/>
          </a:ln>
        </p:spPr>
      </p:sp>
      <p:sp>
        <p:nvSpPr>
          <p:cNvPr id="39" name="Shape 37"/>
          <p:cNvSpPr/>
          <p:nvPr/>
        </p:nvSpPr>
        <p:spPr>
          <a:xfrm>
            <a:off x="8723376" y="4700016"/>
            <a:ext cx="2423160" cy="530352"/>
          </a:xfrm>
          <a:prstGeom prst="rect">
            <a:avLst/>
          </a:prstGeom>
          <a:solidFill>
            <a:srgbClr val="F4F8FA"/>
          </a:solidFill>
          <a:ln w="14605">
            <a:solidFill>
              <a:srgbClr val="C58B28"/>
            </a:solidFill>
            <a:prstDash val="solid"/>
          </a:ln>
        </p:spPr>
      </p:sp>
      <p:sp>
        <p:nvSpPr>
          <p:cNvPr id="40" name="Text 38"/>
          <p:cNvSpPr/>
          <p:nvPr/>
        </p:nvSpPr>
        <p:spPr>
          <a:xfrm>
            <a:off x="8796528" y="4754880"/>
            <a:ext cx="2276856" cy="42062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STANDARD PLC: STATUS MONITORING</a:t>
            </a:r>
            <a:endParaRPr lang="en-US" sz="920" dirty="0"/>
          </a:p>
        </p:txBody>
      </p:sp>
      <p:sp>
        <p:nvSpPr>
          <p:cNvPr id="41" name="Shape 39"/>
          <p:cNvSpPr/>
          <p:nvPr/>
        </p:nvSpPr>
        <p:spPr>
          <a:xfrm>
            <a:off x="9930384" y="4041648"/>
            <a:ext cx="0" cy="566928"/>
          </a:xfrm>
          <a:prstGeom prst="line">
            <a:avLst/>
          </a:prstGeom>
          <a:noFill/>
          <a:ln w="13970">
            <a:solidFill>
              <a:srgbClr val="C58B28"/>
            </a:solidFill>
            <a:prstDash val="solid"/>
            <a:tailEnd type="triangle"/>
          </a:ln>
        </p:spPr>
      </p:sp>
      <p:sp>
        <p:nvSpPr>
          <p:cNvPr id="42" name="Text 40"/>
          <p:cNvSpPr/>
          <p:nvPr/>
        </p:nvSpPr>
        <p:spPr>
          <a:xfrm>
            <a:off x="8156448" y="5468112"/>
            <a:ext cx="3246120" cy="502920"/>
          </a:xfrm>
          <a:prstGeom prst="rect">
            <a:avLst/>
          </a:prstGeom>
          <a:noFill/>
          <a:ln/>
        </p:spPr>
        <p:txBody>
          <a:bodyPr wrap="square" lIns="0" tIns="0" rIns="0" bIns="0" rtlCol="0" anchor="ctr">
            <a:normAutofit/>
          </a:bodyPr>
          <a:lstStyle/>
          <a:p>
            <a:pPr algn="ctr" indent="0" marL="0">
              <a:buNone/>
            </a:pPr>
            <a:r>
              <a:rPr lang="en-US" sz="1010" dirty="0">
                <a:solidFill>
                  <a:srgbClr val="334B5C"/>
                </a:solidFill>
                <a:latin typeface="Aptos" pitchFamily="34" charset="0"/>
                <a:ea typeface="Aptos" pitchFamily="34" charset="-122"/>
                <a:cs typeface="Aptos" pitchFamily="34" charset="-120"/>
              </a:rPr>
              <a:t>Risk assessment defines the required architecture and reset behaviour</a:t>
            </a:r>
            <a:endParaRPr lang="en-US" sz="101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Match PLC class to application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Case 1, one self-contained MedPack station: compact PLC is a starting hypothesis if I/O, pulse capture, safety architecture, and communications all fit.</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Case 2, multiple stations with field devices spread across a plant: modular controller and remote I/O may reduce long home-run wiring; verify network behaviour and diagnostics.</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Case 3, remote pump station or process skid: environment, analogue instrumentation, communications, and service access may outweigh physical size; no class wins without stated constraints.</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Team debrief: place each case by I/O distribution, motion/process needs, growth, and support; name one missing requirement that could change each choice.</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PLC ARCHITECTURE CLASSES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36992" y="2578608"/>
            <a:ext cx="3383280" cy="630936"/>
          </a:xfrm>
          <a:prstGeom prst="rect">
            <a:avLst/>
          </a:prstGeom>
          <a:solidFill>
            <a:srgbClr val="EAF3F4"/>
          </a:solidFill>
          <a:ln w="10160">
            <a:solidFill>
              <a:srgbClr val="D5E0E7"/>
            </a:solidFill>
            <a:prstDash val="solid"/>
          </a:ln>
        </p:spPr>
      </p:sp>
      <p:sp>
        <p:nvSpPr>
          <p:cNvPr id="31" name="Text 29"/>
          <p:cNvSpPr/>
          <p:nvPr/>
        </p:nvSpPr>
        <p:spPr>
          <a:xfrm>
            <a:off x="8046720" y="2670048"/>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MICRO / COMPACT</a:t>
            </a:r>
            <a:endParaRPr lang="en-US" sz="820" dirty="0"/>
          </a:p>
        </p:txBody>
      </p:sp>
      <p:sp>
        <p:nvSpPr>
          <p:cNvPr id="32" name="Text 30"/>
          <p:cNvSpPr/>
          <p:nvPr/>
        </p:nvSpPr>
        <p:spPr>
          <a:xfrm>
            <a:off x="9125712" y="2642616"/>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Integrated CPU and I/O; often suits a stand-alone machine</a:t>
            </a:r>
            <a:endParaRPr lang="en-US" sz="850" dirty="0"/>
          </a:p>
        </p:txBody>
      </p:sp>
      <p:sp>
        <p:nvSpPr>
          <p:cNvPr id="33" name="Shape 31"/>
          <p:cNvSpPr/>
          <p:nvPr/>
        </p:nvSpPr>
        <p:spPr>
          <a:xfrm>
            <a:off x="7936992" y="3383280"/>
            <a:ext cx="3383280" cy="630936"/>
          </a:xfrm>
          <a:prstGeom prst="rect">
            <a:avLst/>
          </a:prstGeom>
          <a:solidFill>
            <a:srgbClr val="F6F8FA"/>
          </a:solidFill>
          <a:ln w="10160">
            <a:solidFill>
              <a:srgbClr val="D5E0E7"/>
            </a:solidFill>
            <a:prstDash val="solid"/>
          </a:ln>
        </p:spPr>
      </p:sp>
      <p:sp>
        <p:nvSpPr>
          <p:cNvPr id="34" name="Text 32"/>
          <p:cNvSpPr/>
          <p:nvPr/>
        </p:nvSpPr>
        <p:spPr>
          <a:xfrm>
            <a:off x="8046720" y="3474720"/>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MODULAR</a:t>
            </a:r>
            <a:endParaRPr lang="en-US" sz="820" dirty="0"/>
          </a:p>
        </p:txBody>
      </p:sp>
      <p:sp>
        <p:nvSpPr>
          <p:cNvPr id="35" name="Text 33"/>
          <p:cNvSpPr/>
          <p:nvPr/>
        </p:nvSpPr>
        <p:spPr>
          <a:xfrm>
            <a:off x="9125712" y="3447288"/>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Selectable I/O and communication modules; grows with the application</a:t>
            </a:r>
            <a:endParaRPr lang="en-US" sz="850" dirty="0"/>
          </a:p>
        </p:txBody>
      </p:sp>
      <p:sp>
        <p:nvSpPr>
          <p:cNvPr id="36" name="Shape 34"/>
          <p:cNvSpPr/>
          <p:nvPr/>
        </p:nvSpPr>
        <p:spPr>
          <a:xfrm>
            <a:off x="7936992" y="4187952"/>
            <a:ext cx="3383280" cy="630936"/>
          </a:xfrm>
          <a:prstGeom prst="rect">
            <a:avLst/>
          </a:prstGeom>
          <a:solidFill>
            <a:srgbClr val="EAF3F4"/>
          </a:solidFill>
          <a:ln w="10160">
            <a:solidFill>
              <a:srgbClr val="D5E0E7"/>
            </a:solidFill>
            <a:prstDash val="solid"/>
          </a:ln>
        </p:spPr>
      </p:sp>
      <p:sp>
        <p:nvSpPr>
          <p:cNvPr id="37" name="Text 35"/>
          <p:cNvSpPr/>
          <p:nvPr/>
        </p:nvSpPr>
        <p:spPr>
          <a:xfrm>
            <a:off x="8046720" y="4279392"/>
            <a:ext cx="1051560" cy="182880"/>
          </a:xfrm>
          <a:prstGeom prst="rect">
            <a:avLst/>
          </a:prstGeom>
          <a:noFill/>
          <a:ln/>
        </p:spPr>
        <p:txBody>
          <a:bodyPr wrap="square" lIns="0" tIns="0" rIns="0" bIns="0" rtlCol="0" anchor="ctr"/>
          <a:lstStyle/>
          <a:p>
            <a:pPr indent="0" marL="0">
              <a:buNone/>
            </a:pPr>
            <a:r>
              <a:rPr lang="en-US" sz="820" b="1" dirty="0">
                <a:solidFill>
                  <a:srgbClr val="C58B28"/>
                </a:solidFill>
                <a:latin typeface="Aptos" pitchFamily="34" charset="0"/>
                <a:ea typeface="Aptos" pitchFamily="34" charset="-122"/>
                <a:cs typeface="Aptos" pitchFamily="34" charset="-120"/>
              </a:rPr>
              <a:t>RACK / PAC</a:t>
            </a:r>
            <a:endParaRPr lang="en-US" sz="820" dirty="0"/>
          </a:p>
        </p:txBody>
      </p:sp>
      <p:sp>
        <p:nvSpPr>
          <p:cNvPr id="38" name="Text 36"/>
          <p:cNvSpPr/>
          <p:nvPr/>
        </p:nvSpPr>
        <p:spPr>
          <a:xfrm>
            <a:off x="9125712" y="4251960"/>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Larger modular systems; may suit distributed or complex control</a:t>
            </a:r>
            <a:endParaRPr lang="en-US" sz="850" dirty="0"/>
          </a:p>
        </p:txBody>
      </p:sp>
      <p:sp>
        <p:nvSpPr>
          <p:cNvPr id="39" name="Shape 37"/>
          <p:cNvSpPr/>
          <p:nvPr/>
        </p:nvSpPr>
        <p:spPr>
          <a:xfrm>
            <a:off x="7936992" y="4992624"/>
            <a:ext cx="3383280" cy="630936"/>
          </a:xfrm>
          <a:prstGeom prst="rect">
            <a:avLst/>
          </a:prstGeom>
          <a:solidFill>
            <a:srgbClr val="FBF2F0"/>
          </a:solidFill>
          <a:ln w="13970">
            <a:solidFill>
              <a:srgbClr val="C65E4E"/>
            </a:solidFill>
            <a:prstDash val="solid"/>
          </a:ln>
        </p:spPr>
      </p:sp>
      <p:sp>
        <p:nvSpPr>
          <p:cNvPr id="40" name="Text 38"/>
          <p:cNvSpPr/>
          <p:nvPr/>
        </p:nvSpPr>
        <p:spPr>
          <a:xfrm>
            <a:off x="8046720" y="5084064"/>
            <a:ext cx="1051560" cy="182880"/>
          </a:xfrm>
          <a:prstGeom prst="rect">
            <a:avLst/>
          </a:prstGeom>
          <a:noFill/>
          <a:ln/>
        </p:spPr>
        <p:txBody>
          <a:bodyPr wrap="square" lIns="0" tIns="0" rIns="0" bIns="0" rtlCol="0" anchor="ctr"/>
          <a:lstStyle/>
          <a:p>
            <a:pPr indent="0" marL="0">
              <a:buNone/>
            </a:pPr>
            <a:r>
              <a:rPr lang="en-US" sz="820" b="1" dirty="0">
                <a:solidFill>
                  <a:srgbClr val="C65E4E"/>
                </a:solidFill>
                <a:latin typeface="Aptos" pitchFamily="34" charset="0"/>
                <a:ea typeface="Aptos" pitchFamily="34" charset="-122"/>
                <a:cs typeface="Aptos" pitchFamily="34" charset="-120"/>
              </a:rPr>
              <a:t>SAFETY PLC</a:t>
            </a:r>
            <a:endParaRPr lang="en-US" sz="820" dirty="0"/>
          </a:p>
        </p:txBody>
      </p:sp>
      <p:sp>
        <p:nvSpPr>
          <p:cNvPr id="41" name="Text 39"/>
          <p:cNvSpPr/>
          <p:nvPr/>
        </p:nvSpPr>
        <p:spPr>
          <a:xfrm>
            <a:off x="9125712" y="5056632"/>
            <a:ext cx="2057400" cy="484632"/>
          </a:xfrm>
          <a:prstGeom prst="rect">
            <a:avLst/>
          </a:prstGeom>
          <a:noFill/>
          <a:ln/>
        </p:spPr>
        <p:txBody>
          <a:bodyPr wrap="square" lIns="0" tIns="0" rIns="0" bIns="0" rtlCol="0" anchor="ctr">
            <a:normAutofit/>
          </a:bodyPr>
          <a:lstStyle/>
          <a:p>
            <a:pPr indent="0" marL="0">
              <a:buNone/>
            </a:pPr>
            <a:r>
              <a:rPr lang="en-US" sz="850" dirty="0">
                <a:solidFill>
                  <a:srgbClr val="334B5C"/>
                </a:solidFill>
                <a:latin typeface="Aptos" pitchFamily="34" charset="0"/>
                <a:ea typeface="Aptos" pitchFamily="34" charset="-122"/>
                <a:cs typeface="Aptos" pitchFamily="34" charset="-120"/>
              </a:rPr>
              <a:t>Safety-rated functions require risk assessment and validation</a:t>
            </a:r>
            <a:endParaRPr lang="en-US" sz="850" dirty="0"/>
          </a:p>
        </p:txBody>
      </p:sp>
      <p:sp>
        <p:nvSpPr>
          <p:cNvPr id="42" name="Text 40"/>
          <p:cNvSpPr/>
          <p:nvPr/>
        </p:nvSpPr>
        <p:spPr>
          <a:xfrm>
            <a:off x="8028432" y="5596128"/>
            <a:ext cx="3200400" cy="365760"/>
          </a:xfrm>
          <a:prstGeom prst="rect">
            <a:avLst/>
          </a:prstGeom>
          <a:noFill/>
          <a:ln/>
        </p:spPr>
        <p:txBody>
          <a:bodyPr wrap="square" lIns="0" tIns="0" rIns="0" bIns="0" rtlCol="0" anchor="ctr">
            <a:normAutofit/>
          </a:bodyPr>
          <a:lstStyle/>
          <a:p>
            <a:pPr algn="ctr" indent="0" marL="0">
              <a:buNone/>
            </a:pPr>
            <a:r>
              <a:rPr lang="en-US" sz="880" dirty="0">
                <a:solidFill>
                  <a:srgbClr val="607585"/>
                </a:solidFill>
                <a:latin typeface="Aptos" pitchFamily="34" charset="0"/>
                <a:ea typeface="Aptos" pitchFamily="34" charset="-122"/>
                <a:cs typeface="Aptos" pitchFamily="34" charset="-120"/>
              </a:rPr>
              <a:t>Form factor is a starting point; verify exact CPU and module features</a:t>
            </a:r>
            <a:endParaRPr lang="en-US" sz="88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Manufacturer landscape: research candidates</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Research starting points include Siemens SIMATIC S7-1200/S7-1500, Rockwell Automation Micro800/CompactLogix, Schneider Electric Modicon M221/M241, Mitsubishi MELSEC FX, Omron CP/NX, and AutomationDirect CLICK/Do-more.</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Families span different capacities and generations; select an exact current CPU part number and compatible I/O configuration before entering a claim in the MedPack matrix.</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Regional availability, firmware, model suffixes, documentation revisions, software terms, and support channels can differ; confirm each from current official sources.</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practice: sample more than three candidates initially, then retain at least three genuinely comparable models from distinct manufacturers without assuming a winner.</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SUGGESTED VISUAL</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82128" y="2432304"/>
            <a:ext cx="3483864" cy="3447288"/>
          </a:xfrm>
          <a:prstGeom prst="rect">
            <a:avLst/>
          </a:prstGeom>
          <a:solidFill>
            <a:srgbClr val="E8EFF3"/>
          </a:solidFill>
          <a:ln w="13970">
            <a:solidFill>
              <a:srgbClr val="AFC1CD"/>
            </a:solidFill>
            <a:prstDash val="solid"/>
          </a:ln>
        </p:spPr>
      </p:sp>
      <p:sp>
        <p:nvSpPr>
          <p:cNvPr id="31" name="Text 29"/>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58B28"/>
                </a:solidFill>
                <a:latin typeface="Aptos Display" pitchFamily="34" charset="0"/>
                <a:ea typeface="Aptos Display" pitchFamily="34" charset="-122"/>
                <a:cs typeface="Aptos Display" pitchFamily="34" charset="-120"/>
              </a:rPr>
              <a:t>IMAGE SPACE</a:t>
            </a:r>
            <a:endParaRPr lang="en-US" sz="1800" dirty="0"/>
          </a:p>
        </p:txBody>
      </p:sp>
      <p:sp>
        <p:nvSpPr>
          <p:cNvPr id="32" name="Text 30"/>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33" name="Shape 31"/>
          <p:cNvSpPr/>
          <p:nvPr/>
        </p:nvSpPr>
        <p:spPr>
          <a:xfrm>
            <a:off x="603504" y="6318504"/>
            <a:ext cx="10972800" cy="0"/>
          </a:xfrm>
          <a:prstGeom prst="line">
            <a:avLst/>
          </a:prstGeom>
          <a:noFill/>
          <a:ln w="10160">
            <a:solidFill>
              <a:srgbClr val="D5E0E7"/>
            </a:solidFill>
            <a:prstDash val="solid"/>
          </a:ln>
        </p:spPr>
      </p:sp>
      <p:sp>
        <p:nvSpPr>
          <p:cNvPr id="34" name="Text 3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35" name="Text 3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Programming and support ecosystems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Compare engineering software by supported languages/standards for the specific model, license and renewal terms, simulation/online functions, diagnostics, version compatibility, and HMI/network integration.</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Review maintenance evidence: manuals, wiring examples, troubleshooting tools, training availability, local technical support, spare access, and product lifecycle notices.</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MedPack example: familiar software may reduce training effort, but that does not prove hardware reliability; document the basis and separate it from technical suitability.</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answer: lifecycle costs can differ through licenses, engineering time, training, commissioning, spares, downtime exposure, and support even when headline CPU features look similar.</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COMPARISON FRAMEWORK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15184"/>
            <a:ext cx="3383280" cy="694944"/>
          </a:xfrm>
          <a:prstGeom prst="rect">
            <a:avLst/>
          </a:prstGeom>
          <a:solidFill>
            <a:srgbClr val="F6F8FA"/>
          </a:solidFill>
          <a:ln w="10160">
            <a:solidFill>
              <a:srgbClr val="D5E0E7"/>
            </a:solidFill>
            <a:prstDash val="solid"/>
          </a:ln>
        </p:spPr>
      </p:sp>
      <p:sp>
        <p:nvSpPr>
          <p:cNvPr id="31" name="Text 29"/>
          <p:cNvSpPr/>
          <p:nvPr/>
        </p:nvSpPr>
        <p:spPr>
          <a:xfrm>
            <a:off x="8046720" y="2706624"/>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SIEMENS</a:t>
            </a:r>
            <a:endParaRPr lang="en-US" sz="820" dirty="0"/>
          </a:p>
        </p:txBody>
      </p:sp>
      <p:sp>
        <p:nvSpPr>
          <p:cNvPr id="32" name="Text 30"/>
          <p:cNvSpPr/>
          <p:nvPr/>
        </p:nvSpPr>
        <p:spPr>
          <a:xfrm>
            <a:off x="8979408" y="2688336"/>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S7-1200 / S7-1500</a:t>
            </a:r>
            <a:endParaRPr lang="en-US" sz="930" dirty="0"/>
          </a:p>
        </p:txBody>
      </p:sp>
      <p:sp>
        <p:nvSpPr>
          <p:cNvPr id="33" name="Text 31"/>
          <p:cNvSpPr/>
          <p:nvPr/>
        </p:nvSpPr>
        <p:spPr>
          <a:xfrm>
            <a:off x="8046720" y="2999232"/>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4" name="Shape 32"/>
          <p:cNvSpPr/>
          <p:nvPr/>
        </p:nvSpPr>
        <p:spPr>
          <a:xfrm>
            <a:off x="7918704" y="3474720"/>
            <a:ext cx="3383280" cy="694944"/>
          </a:xfrm>
          <a:prstGeom prst="rect">
            <a:avLst/>
          </a:prstGeom>
          <a:solidFill>
            <a:srgbClr val="EAF3F4"/>
          </a:solidFill>
          <a:ln w="10160">
            <a:solidFill>
              <a:srgbClr val="D5E0E7"/>
            </a:solidFill>
            <a:prstDash val="solid"/>
          </a:ln>
        </p:spPr>
      </p:sp>
      <p:sp>
        <p:nvSpPr>
          <p:cNvPr id="35" name="Text 33"/>
          <p:cNvSpPr/>
          <p:nvPr/>
        </p:nvSpPr>
        <p:spPr>
          <a:xfrm>
            <a:off x="8046720" y="3566160"/>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ROCKWELL</a:t>
            </a:r>
            <a:endParaRPr lang="en-US" sz="820" dirty="0"/>
          </a:p>
        </p:txBody>
      </p:sp>
      <p:sp>
        <p:nvSpPr>
          <p:cNvPr id="36" name="Text 34"/>
          <p:cNvSpPr/>
          <p:nvPr/>
        </p:nvSpPr>
        <p:spPr>
          <a:xfrm>
            <a:off x="8979408" y="3547872"/>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Micro800 / CompactLogix</a:t>
            </a:r>
            <a:endParaRPr lang="en-US" sz="930" dirty="0"/>
          </a:p>
        </p:txBody>
      </p:sp>
      <p:sp>
        <p:nvSpPr>
          <p:cNvPr id="37" name="Text 35"/>
          <p:cNvSpPr/>
          <p:nvPr/>
        </p:nvSpPr>
        <p:spPr>
          <a:xfrm>
            <a:off x="8046720" y="3858768"/>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8" name="Shape 36"/>
          <p:cNvSpPr/>
          <p:nvPr/>
        </p:nvSpPr>
        <p:spPr>
          <a:xfrm>
            <a:off x="7918704" y="4334256"/>
            <a:ext cx="3383280" cy="694944"/>
          </a:xfrm>
          <a:prstGeom prst="rect">
            <a:avLst/>
          </a:prstGeom>
          <a:solidFill>
            <a:srgbClr val="F6F8FA"/>
          </a:solidFill>
          <a:ln w="10160">
            <a:solidFill>
              <a:srgbClr val="D5E0E7"/>
            </a:solidFill>
            <a:prstDash val="solid"/>
          </a:ln>
        </p:spPr>
      </p:sp>
      <p:sp>
        <p:nvSpPr>
          <p:cNvPr id="39" name="Text 37"/>
          <p:cNvSpPr/>
          <p:nvPr/>
        </p:nvSpPr>
        <p:spPr>
          <a:xfrm>
            <a:off x="8046720" y="4425696"/>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SCHNEIDER</a:t>
            </a:r>
            <a:endParaRPr lang="en-US" sz="820" dirty="0"/>
          </a:p>
        </p:txBody>
      </p:sp>
      <p:sp>
        <p:nvSpPr>
          <p:cNvPr id="40" name="Text 38"/>
          <p:cNvSpPr/>
          <p:nvPr/>
        </p:nvSpPr>
        <p:spPr>
          <a:xfrm>
            <a:off x="8979408" y="4407408"/>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Modicon M2xx</a:t>
            </a:r>
            <a:endParaRPr lang="en-US" sz="930" dirty="0"/>
          </a:p>
        </p:txBody>
      </p:sp>
      <p:sp>
        <p:nvSpPr>
          <p:cNvPr id="41" name="Text 39"/>
          <p:cNvSpPr/>
          <p:nvPr/>
        </p:nvSpPr>
        <p:spPr>
          <a:xfrm>
            <a:off x="8046720" y="4718304"/>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42" name="Text 40"/>
          <p:cNvSpPr/>
          <p:nvPr/>
        </p:nvSpPr>
        <p:spPr>
          <a:xfrm>
            <a:off x="8010144" y="5358384"/>
            <a:ext cx="3200400" cy="429768"/>
          </a:xfrm>
          <a:prstGeom prst="rect">
            <a:avLst/>
          </a:prstGeom>
          <a:noFill/>
          <a:ln/>
        </p:spPr>
        <p:txBody>
          <a:bodyPr wrap="square" lIns="0" tIns="0" rIns="0" bIns="0" rtlCol="0" anchor="ctr">
            <a:normAutofit/>
          </a:bodyPr>
          <a:lstStyle/>
          <a:p>
            <a:pPr algn="ctr" indent="0" marL="0">
              <a:buNone/>
            </a:pPr>
            <a:r>
              <a:rPr lang="en-US" sz="940" dirty="0">
                <a:solidFill>
                  <a:srgbClr val="607585"/>
                </a:solidFill>
                <a:latin typeface="Aptos" pitchFamily="34" charset="0"/>
                <a:ea typeface="Aptos" pitchFamily="34" charset="-122"/>
                <a:cs typeface="Aptos" pitchFamily="34" charset="-120"/>
              </a:rPr>
              <a:t>Families are research leads, not a preselected winner</a:t>
            </a:r>
            <a:endParaRPr lang="en-US" sz="94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Build a fair shortlist</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Start from the Week 1 I/O and constraints, then shortlist at least three exact models from separate manufacturers in a similar application class where possible.</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Apply mandatory pass/fail/unknown gates for required I/O type/count, sensor pulse capture, output electrical compatibility, safety-system boundary, communications, environment, and supportability.</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Exclude a candidate only for a documented failure; keep unknowns visible and assign an evidence source rather than treating them as passes.</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Debrief: price and familiarity can inform later preference scoring but cannot rescue a candidate that fails a mandatory application requirement.</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COMPARISON FRAMEWORK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15184"/>
            <a:ext cx="3383280" cy="694944"/>
          </a:xfrm>
          <a:prstGeom prst="rect">
            <a:avLst/>
          </a:prstGeom>
          <a:solidFill>
            <a:srgbClr val="F6F8FA"/>
          </a:solidFill>
          <a:ln w="10160">
            <a:solidFill>
              <a:srgbClr val="D5E0E7"/>
            </a:solidFill>
            <a:prstDash val="solid"/>
          </a:ln>
        </p:spPr>
      </p:sp>
      <p:sp>
        <p:nvSpPr>
          <p:cNvPr id="31" name="Text 29"/>
          <p:cNvSpPr/>
          <p:nvPr/>
        </p:nvSpPr>
        <p:spPr>
          <a:xfrm>
            <a:off x="8046720" y="2706624"/>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SIEMENS</a:t>
            </a:r>
            <a:endParaRPr lang="en-US" sz="820" dirty="0"/>
          </a:p>
        </p:txBody>
      </p:sp>
      <p:sp>
        <p:nvSpPr>
          <p:cNvPr id="32" name="Text 30"/>
          <p:cNvSpPr/>
          <p:nvPr/>
        </p:nvSpPr>
        <p:spPr>
          <a:xfrm>
            <a:off x="8979408" y="2688336"/>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S7-1200 / S7-1500</a:t>
            </a:r>
            <a:endParaRPr lang="en-US" sz="930" dirty="0"/>
          </a:p>
        </p:txBody>
      </p:sp>
      <p:sp>
        <p:nvSpPr>
          <p:cNvPr id="33" name="Text 31"/>
          <p:cNvSpPr/>
          <p:nvPr/>
        </p:nvSpPr>
        <p:spPr>
          <a:xfrm>
            <a:off x="8046720" y="2999232"/>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4" name="Shape 32"/>
          <p:cNvSpPr/>
          <p:nvPr/>
        </p:nvSpPr>
        <p:spPr>
          <a:xfrm>
            <a:off x="7918704" y="3474720"/>
            <a:ext cx="3383280" cy="694944"/>
          </a:xfrm>
          <a:prstGeom prst="rect">
            <a:avLst/>
          </a:prstGeom>
          <a:solidFill>
            <a:srgbClr val="EAF3F4"/>
          </a:solidFill>
          <a:ln w="10160">
            <a:solidFill>
              <a:srgbClr val="D5E0E7"/>
            </a:solidFill>
            <a:prstDash val="solid"/>
          </a:ln>
        </p:spPr>
      </p:sp>
      <p:sp>
        <p:nvSpPr>
          <p:cNvPr id="35" name="Text 33"/>
          <p:cNvSpPr/>
          <p:nvPr/>
        </p:nvSpPr>
        <p:spPr>
          <a:xfrm>
            <a:off x="8046720" y="3566160"/>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ROCKWELL</a:t>
            </a:r>
            <a:endParaRPr lang="en-US" sz="820" dirty="0"/>
          </a:p>
        </p:txBody>
      </p:sp>
      <p:sp>
        <p:nvSpPr>
          <p:cNvPr id="36" name="Text 34"/>
          <p:cNvSpPr/>
          <p:nvPr/>
        </p:nvSpPr>
        <p:spPr>
          <a:xfrm>
            <a:off x="8979408" y="3547872"/>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Micro800 / CompactLogix</a:t>
            </a:r>
            <a:endParaRPr lang="en-US" sz="930" dirty="0"/>
          </a:p>
        </p:txBody>
      </p:sp>
      <p:sp>
        <p:nvSpPr>
          <p:cNvPr id="37" name="Text 35"/>
          <p:cNvSpPr/>
          <p:nvPr/>
        </p:nvSpPr>
        <p:spPr>
          <a:xfrm>
            <a:off x="8046720" y="3858768"/>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8" name="Shape 36"/>
          <p:cNvSpPr/>
          <p:nvPr/>
        </p:nvSpPr>
        <p:spPr>
          <a:xfrm>
            <a:off x="7918704" y="4334256"/>
            <a:ext cx="3383280" cy="694944"/>
          </a:xfrm>
          <a:prstGeom prst="rect">
            <a:avLst/>
          </a:prstGeom>
          <a:solidFill>
            <a:srgbClr val="F6F8FA"/>
          </a:solidFill>
          <a:ln w="10160">
            <a:solidFill>
              <a:srgbClr val="D5E0E7"/>
            </a:solidFill>
            <a:prstDash val="solid"/>
          </a:ln>
        </p:spPr>
      </p:sp>
      <p:sp>
        <p:nvSpPr>
          <p:cNvPr id="39" name="Text 37"/>
          <p:cNvSpPr/>
          <p:nvPr/>
        </p:nvSpPr>
        <p:spPr>
          <a:xfrm>
            <a:off x="8046720" y="4425696"/>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SCHNEIDER</a:t>
            </a:r>
            <a:endParaRPr lang="en-US" sz="820" dirty="0"/>
          </a:p>
        </p:txBody>
      </p:sp>
      <p:sp>
        <p:nvSpPr>
          <p:cNvPr id="40" name="Text 38"/>
          <p:cNvSpPr/>
          <p:nvPr/>
        </p:nvSpPr>
        <p:spPr>
          <a:xfrm>
            <a:off x="8979408" y="4407408"/>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Modicon M2xx</a:t>
            </a:r>
            <a:endParaRPr lang="en-US" sz="930" dirty="0"/>
          </a:p>
        </p:txBody>
      </p:sp>
      <p:sp>
        <p:nvSpPr>
          <p:cNvPr id="41" name="Text 39"/>
          <p:cNvSpPr/>
          <p:nvPr/>
        </p:nvSpPr>
        <p:spPr>
          <a:xfrm>
            <a:off x="8046720" y="4718304"/>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42" name="Text 40"/>
          <p:cNvSpPr/>
          <p:nvPr/>
        </p:nvSpPr>
        <p:spPr>
          <a:xfrm>
            <a:off x="8010144" y="5358384"/>
            <a:ext cx="3200400" cy="429768"/>
          </a:xfrm>
          <a:prstGeom prst="rect">
            <a:avLst/>
          </a:prstGeom>
          <a:noFill/>
          <a:ln/>
        </p:spPr>
        <p:txBody>
          <a:bodyPr wrap="square" lIns="0" tIns="0" rIns="0" bIns="0" rtlCol="0" anchor="ctr">
            <a:normAutofit/>
          </a:bodyPr>
          <a:lstStyle/>
          <a:p>
            <a:pPr algn="ctr" indent="0" marL="0">
              <a:buNone/>
            </a:pPr>
            <a:r>
              <a:rPr lang="en-US" sz="940" dirty="0">
                <a:solidFill>
                  <a:srgbClr val="607585"/>
                </a:solidFill>
                <a:latin typeface="Aptos" pitchFamily="34" charset="0"/>
                <a:ea typeface="Aptos" pitchFamily="34" charset="-122"/>
                <a:cs typeface="Aptos" pitchFamily="34" charset="-120"/>
              </a:rPr>
              <a:t>Families are research leads, not a preselected winner</a:t>
            </a:r>
            <a:endParaRPr lang="en-US" sz="94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Find the exact hardware identity</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Record manufacturer, complete CPU catalogue/part number, suffixes, supply variant, embedded I/O configuration, output type, ports, and supported firmware where the vendor specifies them.</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Match the data to the correct hardware manual/datasheet revision and note date, page/table, regional variant, and any required module configuration.</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Worked check: a family page describes several CPUs; a claimed relay output is valid only if the exact selected CPU or configured module explicitly lists that output type.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Misconception: a shared family name does not mean all variants have identical I/O, communications, or performance.</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COMPARISON FRAMEWORK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15184"/>
            <a:ext cx="3383280" cy="694944"/>
          </a:xfrm>
          <a:prstGeom prst="rect">
            <a:avLst/>
          </a:prstGeom>
          <a:solidFill>
            <a:srgbClr val="F6F8FA"/>
          </a:solidFill>
          <a:ln w="10160">
            <a:solidFill>
              <a:srgbClr val="D5E0E7"/>
            </a:solidFill>
            <a:prstDash val="solid"/>
          </a:ln>
        </p:spPr>
      </p:sp>
      <p:sp>
        <p:nvSpPr>
          <p:cNvPr id="31" name="Text 29"/>
          <p:cNvSpPr/>
          <p:nvPr/>
        </p:nvSpPr>
        <p:spPr>
          <a:xfrm>
            <a:off x="8046720" y="2706624"/>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SIEMENS</a:t>
            </a:r>
            <a:endParaRPr lang="en-US" sz="820" dirty="0"/>
          </a:p>
        </p:txBody>
      </p:sp>
      <p:sp>
        <p:nvSpPr>
          <p:cNvPr id="32" name="Text 30"/>
          <p:cNvSpPr/>
          <p:nvPr/>
        </p:nvSpPr>
        <p:spPr>
          <a:xfrm>
            <a:off x="8979408" y="2688336"/>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S7-1200 / S7-1500</a:t>
            </a:r>
            <a:endParaRPr lang="en-US" sz="930" dirty="0"/>
          </a:p>
        </p:txBody>
      </p:sp>
      <p:sp>
        <p:nvSpPr>
          <p:cNvPr id="33" name="Text 31"/>
          <p:cNvSpPr/>
          <p:nvPr/>
        </p:nvSpPr>
        <p:spPr>
          <a:xfrm>
            <a:off x="8046720" y="2999232"/>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4" name="Shape 32"/>
          <p:cNvSpPr/>
          <p:nvPr/>
        </p:nvSpPr>
        <p:spPr>
          <a:xfrm>
            <a:off x="7918704" y="3474720"/>
            <a:ext cx="3383280" cy="694944"/>
          </a:xfrm>
          <a:prstGeom prst="rect">
            <a:avLst/>
          </a:prstGeom>
          <a:solidFill>
            <a:srgbClr val="EAF3F4"/>
          </a:solidFill>
          <a:ln w="10160">
            <a:solidFill>
              <a:srgbClr val="D5E0E7"/>
            </a:solidFill>
            <a:prstDash val="solid"/>
          </a:ln>
        </p:spPr>
      </p:sp>
      <p:sp>
        <p:nvSpPr>
          <p:cNvPr id="35" name="Text 33"/>
          <p:cNvSpPr/>
          <p:nvPr/>
        </p:nvSpPr>
        <p:spPr>
          <a:xfrm>
            <a:off x="8046720" y="3566160"/>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ROCKWELL</a:t>
            </a:r>
            <a:endParaRPr lang="en-US" sz="820" dirty="0"/>
          </a:p>
        </p:txBody>
      </p:sp>
      <p:sp>
        <p:nvSpPr>
          <p:cNvPr id="36" name="Text 34"/>
          <p:cNvSpPr/>
          <p:nvPr/>
        </p:nvSpPr>
        <p:spPr>
          <a:xfrm>
            <a:off x="8979408" y="3547872"/>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Micro800 / CompactLogix</a:t>
            </a:r>
            <a:endParaRPr lang="en-US" sz="930" dirty="0"/>
          </a:p>
        </p:txBody>
      </p:sp>
      <p:sp>
        <p:nvSpPr>
          <p:cNvPr id="37" name="Text 35"/>
          <p:cNvSpPr/>
          <p:nvPr/>
        </p:nvSpPr>
        <p:spPr>
          <a:xfrm>
            <a:off x="8046720" y="3858768"/>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8" name="Shape 36"/>
          <p:cNvSpPr/>
          <p:nvPr/>
        </p:nvSpPr>
        <p:spPr>
          <a:xfrm>
            <a:off x="7918704" y="4334256"/>
            <a:ext cx="3383280" cy="694944"/>
          </a:xfrm>
          <a:prstGeom prst="rect">
            <a:avLst/>
          </a:prstGeom>
          <a:solidFill>
            <a:srgbClr val="F6F8FA"/>
          </a:solidFill>
          <a:ln w="10160">
            <a:solidFill>
              <a:srgbClr val="D5E0E7"/>
            </a:solidFill>
            <a:prstDash val="solid"/>
          </a:ln>
        </p:spPr>
      </p:sp>
      <p:sp>
        <p:nvSpPr>
          <p:cNvPr id="39" name="Text 37"/>
          <p:cNvSpPr/>
          <p:nvPr/>
        </p:nvSpPr>
        <p:spPr>
          <a:xfrm>
            <a:off x="8046720" y="4425696"/>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SCHNEIDER</a:t>
            </a:r>
            <a:endParaRPr lang="en-US" sz="820" dirty="0"/>
          </a:p>
        </p:txBody>
      </p:sp>
      <p:sp>
        <p:nvSpPr>
          <p:cNvPr id="40" name="Text 38"/>
          <p:cNvSpPr/>
          <p:nvPr/>
        </p:nvSpPr>
        <p:spPr>
          <a:xfrm>
            <a:off x="8979408" y="4407408"/>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Modicon M2xx</a:t>
            </a:r>
            <a:endParaRPr lang="en-US" sz="930" dirty="0"/>
          </a:p>
        </p:txBody>
      </p:sp>
      <p:sp>
        <p:nvSpPr>
          <p:cNvPr id="41" name="Text 39"/>
          <p:cNvSpPr/>
          <p:nvPr/>
        </p:nvSpPr>
        <p:spPr>
          <a:xfrm>
            <a:off x="8046720" y="4718304"/>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42" name="Text 40"/>
          <p:cNvSpPr/>
          <p:nvPr/>
        </p:nvSpPr>
        <p:spPr>
          <a:xfrm>
            <a:off x="8010144" y="5358384"/>
            <a:ext cx="3200400" cy="429768"/>
          </a:xfrm>
          <a:prstGeom prst="rect">
            <a:avLst/>
          </a:prstGeom>
          <a:noFill/>
          <a:ln/>
        </p:spPr>
        <p:txBody>
          <a:bodyPr wrap="square" lIns="0" tIns="0" rIns="0" bIns="0" rtlCol="0" anchor="ctr">
            <a:normAutofit/>
          </a:bodyPr>
          <a:lstStyle/>
          <a:p>
            <a:pPr algn="ctr" indent="0" marL="0">
              <a:buNone/>
            </a:pPr>
            <a:r>
              <a:rPr lang="en-US" sz="940" dirty="0">
                <a:solidFill>
                  <a:srgbClr val="607585"/>
                </a:solidFill>
                <a:latin typeface="Aptos" pitchFamily="34" charset="0"/>
                <a:ea typeface="Aptos" pitchFamily="34" charset="-122"/>
                <a:cs typeface="Aptos" pitchFamily="34" charset="-120"/>
              </a:rPr>
              <a:t>Families are research leads, not a preselected winner</a:t>
            </a:r>
            <a:endParaRPr lang="en-US" sz="94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Compare I/O, expansion, and communications</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Compare exact digital input/output count and electrical type, relay-output count/type, analogue I/O, built-in versus expansion points, compatible modules, and remote-I/O options.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For communications, record physical port type, supported protocols, role/client limits, topology or node limits, and required option modules only where the official documentation states them.</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Use a source cell for every numeric or protocol claim: exact part number, document/revision, page/table; write “not specified” rather than estimating.</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MedPack check: a sufficient point count is not enough if the sensor input lacks the required event capture or the actuator output has an incompatible electrical type.</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COMPARISON FRAMEWORK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15184"/>
            <a:ext cx="3383280" cy="694944"/>
          </a:xfrm>
          <a:prstGeom prst="rect">
            <a:avLst/>
          </a:prstGeom>
          <a:solidFill>
            <a:srgbClr val="F6F8FA"/>
          </a:solidFill>
          <a:ln w="10160">
            <a:solidFill>
              <a:srgbClr val="D5E0E7"/>
            </a:solidFill>
            <a:prstDash val="solid"/>
          </a:ln>
        </p:spPr>
      </p:sp>
      <p:sp>
        <p:nvSpPr>
          <p:cNvPr id="31" name="Text 29"/>
          <p:cNvSpPr/>
          <p:nvPr/>
        </p:nvSpPr>
        <p:spPr>
          <a:xfrm>
            <a:off x="8046720" y="2706624"/>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SIEMENS</a:t>
            </a:r>
            <a:endParaRPr lang="en-US" sz="820" dirty="0"/>
          </a:p>
        </p:txBody>
      </p:sp>
      <p:sp>
        <p:nvSpPr>
          <p:cNvPr id="32" name="Text 30"/>
          <p:cNvSpPr/>
          <p:nvPr/>
        </p:nvSpPr>
        <p:spPr>
          <a:xfrm>
            <a:off x="8979408" y="2688336"/>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S7-1200 / S7-1500</a:t>
            </a:r>
            <a:endParaRPr lang="en-US" sz="930" dirty="0"/>
          </a:p>
        </p:txBody>
      </p:sp>
      <p:sp>
        <p:nvSpPr>
          <p:cNvPr id="33" name="Text 31"/>
          <p:cNvSpPr/>
          <p:nvPr/>
        </p:nvSpPr>
        <p:spPr>
          <a:xfrm>
            <a:off x="8046720" y="2999232"/>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4" name="Shape 32"/>
          <p:cNvSpPr/>
          <p:nvPr/>
        </p:nvSpPr>
        <p:spPr>
          <a:xfrm>
            <a:off x="7918704" y="3474720"/>
            <a:ext cx="3383280" cy="694944"/>
          </a:xfrm>
          <a:prstGeom prst="rect">
            <a:avLst/>
          </a:prstGeom>
          <a:solidFill>
            <a:srgbClr val="EAF3F4"/>
          </a:solidFill>
          <a:ln w="10160">
            <a:solidFill>
              <a:srgbClr val="D5E0E7"/>
            </a:solidFill>
            <a:prstDash val="solid"/>
          </a:ln>
        </p:spPr>
      </p:sp>
      <p:sp>
        <p:nvSpPr>
          <p:cNvPr id="35" name="Text 33"/>
          <p:cNvSpPr/>
          <p:nvPr/>
        </p:nvSpPr>
        <p:spPr>
          <a:xfrm>
            <a:off x="8046720" y="3566160"/>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ROCKWELL</a:t>
            </a:r>
            <a:endParaRPr lang="en-US" sz="820" dirty="0"/>
          </a:p>
        </p:txBody>
      </p:sp>
      <p:sp>
        <p:nvSpPr>
          <p:cNvPr id="36" name="Text 34"/>
          <p:cNvSpPr/>
          <p:nvPr/>
        </p:nvSpPr>
        <p:spPr>
          <a:xfrm>
            <a:off x="8979408" y="3547872"/>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Micro800 / CompactLogix</a:t>
            </a:r>
            <a:endParaRPr lang="en-US" sz="930" dirty="0"/>
          </a:p>
        </p:txBody>
      </p:sp>
      <p:sp>
        <p:nvSpPr>
          <p:cNvPr id="37" name="Text 35"/>
          <p:cNvSpPr/>
          <p:nvPr/>
        </p:nvSpPr>
        <p:spPr>
          <a:xfrm>
            <a:off x="8046720" y="3858768"/>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8" name="Shape 36"/>
          <p:cNvSpPr/>
          <p:nvPr/>
        </p:nvSpPr>
        <p:spPr>
          <a:xfrm>
            <a:off x="7918704" y="4334256"/>
            <a:ext cx="3383280" cy="694944"/>
          </a:xfrm>
          <a:prstGeom prst="rect">
            <a:avLst/>
          </a:prstGeom>
          <a:solidFill>
            <a:srgbClr val="F6F8FA"/>
          </a:solidFill>
          <a:ln w="10160">
            <a:solidFill>
              <a:srgbClr val="D5E0E7"/>
            </a:solidFill>
            <a:prstDash val="solid"/>
          </a:ln>
        </p:spPr>
      </p:sp>
      <p:sp>
        <p:nvSpPr>
          <p:cNvPr id="39" name="Text 37"/>
          <p:cNvSpPr/>
          <p:nvPr/>
        </p:nvSpPr>
        <p:spPr>
          <a:xfrm>
            <a:off x="8046720" y="4425696"/>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SCHNEIDER</a:t>
            </a:r>
            <a:endParaRPr lang="en-US" sz="820" dirty="0"/>
          </a:p>
        </p:txBody>
      </p:sp>
      <p:sp>
        <p:nvSpPr>
          <p:cNvPr id="40" name="Text 38"/>
          <p:cNvSpPr/>
          <p:nvPr/>
        </p:nvSpPr>
        <p:spPr>
          <a:xfrm>
            <a:off x="8979408" y="4407408"/>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Modicon M2xx</a:t>
            </a:r>
            <a:endParaRPr lang="en-US" sz="930" dirty="0"/>
          </a:p>
        </p:txBody>
      </p:sp>
      <p:sp>
        <p:nvSpPr>
          <p:cNvPr id="41" name="Text 39"/>
          <p:cNvSpPr/>
          <p:nvPr/>
        </p:nvSpPr>
        <p:spPr>
          <a:xfrm>
            <a:off x="8046720" y="4718304"/>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42" name="Text 40"/>
          <p:cNvSpPr/>
          <p:nvPr/>
        </p:nvSpPr>
        <p:spPr>
          <a:xfrm>
            <a:off x="8010144" y="5358384"/>
            <a:ext cx="3200400" cy="429768"/>
          </a:xfrm>
          <a:prstGeom prst="rect">
            <a:avLst/>
          </a:prstGeom>
          <a:noFill/>
          <a:ln/>
        </p:spPr>
        <p:txBody>
          <a:bodyPr wrap="square" lIns="0" tIns="0" rIns="0" bIns="0" rtlCol="0" anchor="ctr">
            <a:normAutofit/>
          </a:bodyPr>
          <a:lstStyle/>
          <a:p>
            <a:pPr algn="ctr" indent="0" marL="0">
              <a:buNone/>
            </a:pPr>
            <a:r>
              <a:rPr lang="en-US" sz="940" dirty="0">
                <a:solidFill>
                  <a:srgbClr val="607585"/>
                </a:solidFill>
                <a:latin typeface="Aptos" pitchFamily="34" charset="0"/>
                <a:ea typeface="Aptos" pitchFamily="34" charset="-122"/>
                <a:cs typeface="Aptos" pitchFamily="34" charset="-120"/>
              </a:rPr>
              <a:t>Families are research leads, not a preselected winner</a:t>
            </a:r>
            <a:endParaRPr lang="en-US" sz="94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Compare performance and user-facing features</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Record the manufacturer’s defined performance metric and test conditions, high-speed counter/capture capability and limits, task behaviour, memory categories, timers/counters, diagnostics, and any local display/indicators.</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Compare online monitoring, simulation, fault tracing, program backup/restore, and HMI workflow as documented for the exact CPU/software versions.</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Scan-time numbers are comparable only when workload, configuration, I/O update, and measurement conditions align; they are not automatically the sensor-to-actuator response time.</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conclusion for MedPack: pulse width, input filter, counter frequency, I/O update, and output response may matter more than a broad CPU speed claim.</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COMPARISON FRAMEWORK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15184"/>
            <a:ext cx="3383280" cy="694944"/>
          </a:xfrm>
          <a:prstGeom prst="rect">
            <a:avLst/>
          </a:prstGeom>
          <a:solidFill>
            <a:srgbClr val="F6F8FA"/>
          </a:solidFill>
          <a:ln w="10160">
            <a:solidFill>
              <a:srgbClr val="D5E0E7"/>
            </a:solidFill>
            <a:prstDash val="solid"/>
          </a:ln>
        </p:spPr>
      </p:sp>
      <p:sp>
        <p:nvSpPr>
          <p:cNvPr id="31" name="Text 29"/>
          <p:cNvSpPr/>
          <p:nvPr/>
        </p:nvSpPr>
        <p:spPr>
          <a:xfrm>
            <a:off x="8046720" y="2706624"/>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SIEMENS</a:t>
            </a:r>
            <a:endParaRPr lang="en-US" sz="820" dirty="0"/>
          </a:p>
        </p:txBody>
      </p:sp>
      <p:sp>
        <p:nvSpPr>
          <p:cNvPr id="32" name="Text 30"/>
          <p:cNvSpPr/>
          <p:nvPr/>
        </p:nvSpPr>
        <p:spPr>
          <a:xfrm>
            <a:off x="8979408" y="2688336"/>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S7-1200 / S7-1500</a:t>
            </a:r>
            <a:endParaRPr lang="en-US" sz="930" dirty="0"/>
          </a:p>
        </p:txBody>
      </p:sp>
      <p:sp>
        <p:nvSpPr>
          <p:cNvPr id="33" name="Text 31"/>
          <p:cNvSpPr/>
          <p:nvPr/>
        </p:nvSpPr>
        <p:spPr>
          <a:xfrm>
            <a:off x="8046720" y="2999232"/>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4" name="Shape 32"/>
          <p:cNvSpPr/>
          <p:nvPr/>
        </p:nvSpPr>
        <p:spPr>
          <a:xfrm>
            <a:off x="7918704" y="3474720"/>
            <a:ext cx="3383280" cy="694944"/>
          </a:xfrm>
          <a:prstGeom prst="rect">
            <a:avLst/>
          </a:prstGeom>
          <a:solidFill>
            <a:srgbClr val="EAF3F4"/>
          </a:solidFill>
          <a:ln w="10160">
            <a:solidFill>
              <a:srgbClr val="D5E0E7"/>
            </a:solidFill>
            <a:prstDash val="solid"/>
          </a:ln>
        </p:spPr>
      </p:sp>
      <p:sp>
        <p:nvSpPr>
          <p:cNvPr id="35" name="Text 33"/>
          <p:cNvSpPr/>
          <p:nvPr/>
        </p:nvSpPr>
        <p:spPr>
          <a:xfrm>
            <a:off x="8046720" y="3566160"/>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ROCKWELL</a:t>
            </a:r>
            <a:endParaRPr lang="en-US" sz="820" dirty="0"/>
          </a:p>
        </p:txBody>
      </p:sp>
      <p:sp>
        <p:nvSpPr>
          <p:cNvPr id="36" name="Text 34"/>
          <p:cNvSpPr/>
          <p:nvPr/>
        </p:nvSpPr>
        <p:spPr>
          <a:xfrm>
            <a:off x="8979408" y="3547872"/>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Micro800 / CompactLogix</a:t>
            </a:r>
            <a:endParaRPr lang="en-US" sz="930" dirty="0"/>
          </a:p>
        </p:txBody>
      </p:sp>
      <p:sp>
        <p:nvSpPr>
          <p:cNvPr id="37" name="Text 35"/>
          <p:cNvSpPr/>
          <p:nvPr/>
        </p:nvSpPr>
        <p:spPr>
          <a:xfrm>
            <a:off x="8046720" y="3858768"/>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8" name="Shape 36"/>
          <p:cNvSpPr/>
          <p:nvPr/>
        </p:nvSpPr>
        <p:spPr>
          <a:xfrm>
            <a:off x="7918704" y="4334256"/>
            <a:ext cx="3383280" cy="694944"/>
          </a:xfrm>
          <a:prstGeom prst="rect">
            <a:avLst/>
          </a:prstGeom>
          <a:solidFill>
            <a:srgbClr val="F6F8FA"/>
          </a:solidFill>
          <a:ln w="10160">
            <a:solidFill>
              <a:srgbClr val="D5E0E7"/>
            </a:solidFill>
            <a:prstDash val="solid"/>
          </a:ln>
        </p:spPr>
      </p:sp>
      <p:sp>
        <p:nvSpPr>
          <p:cNvPr id="39" name="Text 37"/>
          <p:cNvSpPr/>
          <p:nvPr/>
        </p:nvSpPr>
        <p:spPr>
          <a:xfrm>
            <a:off x="8046720" y="4425696"/>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SCHNEIDER</a:t>
            </a:r>
            <a:endParaRPr lang="en-US" sz="820" dirty="0"/>
          </a:p>
        </p:txBody>
      </p:sp>
      <p:sp>
        <p:nvSpPr>
          <p:cNvPr id="40" name="Text 38"/>
          <p:cNvSpPr/>
          <p:nvPr/>
        </p:nvSpPr>
        <p:spPr>
          <a:xfrm>
            <a:off x="8979408" y="4407408"/>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Modicon M2xx</a:t>
            </a:r>
            <a:endParaRPr lang="en-US" sz="930" dirty="0"/>
          </a:p>
        </p:txBody>
      </p:sp>
      <p:sp>
        <p:nvSpPr>
          <p:cNvPr id="41" name="Text 39"/>
          <p:cNvSpPr/>
          <p:nvPr/>
        </p:nvSpPr>
        <p:spPr>
          <a:xfrm>
            <a:off x="8046720" y="4718304"/>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42" name="Text 40"/>
          <p:cNvSpPr/>
          <p:nvPr/>
        </p:nvSpPr>
        <p:spPr>
          <a:xfrm>
            <a:off x="8010144" y="5358384"/>
            <a:ext cx="3200400" cy="429768"/>
          </a:xfrm>
          <a:prstGeom prst="rect">
            <a:avLst/>
          </a:prstGeom>
          <a:noFill/>
          <a:ln/>
        </p:spPr>
        <p:txBody>
          <a:bodyPr wrap="square" lIns="0" tIns="0" rIns="0" bIns="0" rtlCol="0" anchor="ctr">
            <a:normAutofit/>
          </a:bodyPr>
          <a:lstStyle/>
          <a:p>
            <a:pPr algn="ctr" indent="0" marL="0">
              <a:buNone/>
            </a:pPr>
            <a:r>
              <a:rPr lang="en-US" sz="940" dirty="0">
                <a:solidFill>
                  <a:srgbClr val="607585"/>
                </a:solidFill>
                <a:latin typeface="Aptos" pitchFamily="34" charset="0"/>
                <a:ea typeface="Aptos" pitchFamily="34" charset="-122"/>
                <a:cs typeface="Aptos" pitchFamily="34" charset="-120"/>
              </a:rPr>
              <a:t>Families are research leads, not a preselected winner</a:t>
            </a:r>
            <a:endParaRPr lang="en-US" sz="94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Compare practical ownership factors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Inspect terminal type, wiring access, module removal, footprint, heat/spacing guidance, required accessories, installation effort, documentation quality, and troubleshooting workflow.</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Record support and lifecycle evidence: regional service, training resources, spare availability, firmware/security notices where relevant, and published product status; avoid unsupported reliability rankings.</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For cost, cite a dated supplier quote with currency, exact configuration, included modules/software, quantity, tax/shipping assumptions, and whether engineering/training/spares are excluded.</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Debrief: compare like-for-like installed scope; a CPU-only price is not comparable with a complete MedPack controller configuration.</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COMPARISON FRAMEWORK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15184"/>
            <a:ext cx="3383280" cy="694944"/>
          </a:xfrm>
          <a:prstGeom prst="rect">
            <a:avLst/>
          </a:prstGeom>
          <a:solidFill>
            <a:srgbClr val="F6F8FA"/>
          </a:solidFill>
          <a:ln w="10160">
            <a:solidFill>
              <a:srgbClr val="D5E0E7"/>
            </a:solidFill>
            <a:prstDash val="solid"/>
          </a:ln>
        </p:spPr>
      </p:sp>
      <p:sp>
        <p:nvSpPr>
          <p:cNvPr id="31" name="Text 29"/>
          <p:cNvSpPr/>
          <p:nvPr/>
        </p:nvSpPr>
        <p:spPr>
          <a:xfrm>
            <a:off x="8046720" y="2706624"/>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SIEMENS</a:t>
            </a:r>
            <a:endParaRPr lang="en-US" sz="820" dirty="0"/>
          </a:p>
        </p:txBody>
      </p:sp>
      <p:sp>
        <p:nvSpPr>
          <p:cNvPr id="32" name="Text 30"/>
          <p:cNvSpPr/>
          <p:nvPr/>
        </p:nvSpPr>
        <p:spPr>
          <a:xfrm>
            <a:off x="8979408" y="2688336"/>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S7-1200 / S7-1500</a:t>
            </a:r>
            <a:endParaRPr lang="en-US" sz="930" dirty="0"/>
          </a:p>
        </p:txBody>
      </p:sp>
      <p:sp>
        <p:nvSpPr>
          <p:cNvPr id="33" name="Text 31"/>
          <p:cNvSpPr/>
          <p:nvPr/>
        </p:nvSpPr>
        <p:spPr>
          <a:xfrm>
            <a:off x="8046720" y="2999232"/>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4" name="Shape 32"/>
          <p:cNvSpPr/>
          <p:nvPr/>
        </p:nvSpPr>
        <p:spPr>
          <a:xfrm>
            <a:off x="7918704" y="3474720"/>
            <a:ext cx="3383280" cy="694944"/>
          </a:xfrm>
          <a:prstGeom prst="rect">
            <a:avLst/>
          </a:prstGeom>
          <a:solidFill>
            <a:srgbClr val="EAF3F4"/>
          </a:solidFill>
          <a:ln w="10160">
            <a:solidFill>
              <a:srgbClr val="D5E0E7"/>
            </a:solidFill>
            <a:prstDash val="solid"/>
          </a:ln>
        </p:spPr>
      </p:sp>
      <p:sp>
        <p:nvSpPr>
          <p:cNvPr id="35" name="Text 33"/>
          <p:cNvSpPr/>
          <p:nvPr/>
        </p:nvSpPr>
        <p:spPr>
          <a:xfrm>
            <a:off x="8046720" y="3566160"/>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ROCKWELL</a:t>
            </a:r>
            <a:endParaRPr lang="en-US" sz="820" dirty="0"/>
          </a:p>
        </p:txBody>
      </p:sp>
      <p:sp>
        <p:nvSpPr>
          <p:cNvPr id="36" name="Text 34"/>
          <p:cNvSpPr/>
          <p:nvPr/>
        </p:nvSpPr>
        <p:spPr>
          <a:xfrm>
            <a:off x="8979408" y="3547872"/>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Micro800 / CompactLogix</a:t>
            </a:r>
            <a:endParaRPr lang="en-US" sz="930" dirty="0"/>
          </a:p>
        </p:txBody>
      </p:sp>
      <p:sp>
        <p:nvSpPr>
          <p:cNvPr id="37" name="Text 35"/>
          <p:cNvSpPr/>
          <p:nvPr/>
        </p:nvSpPr>
        <p:spPr>
          <a:xfrm>
            <a:off x="8046720" y="3858768"/>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38" name="Shape 36"/>
          <p:cNvSpPr/>
          <p:nvPr/>
        </p:nvSpPr>
        <p:spPr>
          <a:xfrm>
            <a:off x="7918704" y="4334256"/>
            <a:ext cx="3383280" cy="694944"/>
          </a:xfrm>
          <a:prstGeom prst="rect">
            <a:avLst/>
          </a:prstGeom>
          <a:solidFill>
            <a:srgbClr val="F6F8FA"/>
          </a:solidFill>
          <a:ln w="10160">
            <a:solidFill>
              <a:srgbClr val="D5E0E7"/>
            </a:solidFill>
            <a:prstDash val="solid"/>
          </a:ln>
        </p:spPr>
      </p:sp>
      <p:sp>
        <p:nvSpPr>
          <p:cNvPr id="39" name="Text 37"/>
          <p:cNvSpPr/>
          <p:nvPr/>
        </p:nvSpPr>
        <p:spPr>
          <a:xfrm>
            <a:off x="8046720" y="4425696"/>
            <a:ext cx="941832" cy="173736"/>
          </a:xfrm>
          <a:prstGeom prst="rect">
            <a:avLst/>
          </a:prstGeom>
          <a:noFill/>
          <a:ln/>
        </p:spPr>
        <p:txBody>
          <a:bodyPr wrap="square" lIns="0" tIns="0" rIns="0" bIns="0" rtlCol="0" anchor="ctr"/>
          <a:lstStyle/>
          <a:p>
            <a:pPr indent="0" marL="0">
              <a:buNone/>
            </a:pPr>
            <a:r>
              <a:rPr lang="en-US" sz="820" b="1" spc="40" kern="0" dirty="0">
                <a:solidFill>
                  <a:srgbClr val="C58B28"/>
                </a:solidFill>
                <a:latin typeface="Aptos" pitchFamily="34" charset="0"/>
                <a:ea typeface="Aptos" pitchFamily="34" charset="-122"/>
                <a:cs typeface="Aptos" pitchFamily="34" charset="-120"/>
              </a:rPr>
              <a:t>SCHNEIDER</a:t>
            </a:r>
            <a:endParaRPr lang="en-US" sz="820" dirty="0"/>
          </a:p>
        </p:txBody>
      </p:sp>
      <p:sp>
        <p:nvSpPr>
          <p:cNvPr id="40" name="Text 38"/>
          <p:cNvSpPr/>
          <p:nvPr/>
        </p:nvSpPr>
        <p:spPr>
          <a:xfrm>
            <a:off x="8979408" y="4407408"/>
            <a:ext cx="2157984" cy="219456"/>
          </a:xfrm>
          <a:prstGeom prst="rect">
            <a:avLst/>
          </a:prstGeom>
          <a:noFill/>
          <a:ln/>
        </p:spPr>
        <p:txBody>
          <a:bodyPr wrap="square" lIns="0" tIns="0" rIns="0" bIns="0" rtlCol="0" anchor="ctr">
            <a:normAutofit/>
          </a:bodyPr>
          <a:lstStyle/>
          <a:p>
            <a:pPr indent="0" marL="0">
              <a:buNone/>
            </a:pPr>
            <a:r>
              <a:rPr lang="en-US" sz="930" b="1" dirty="0">
                <a:solidFill>
                  <a:srgbClr val="1B3448"/>
                </a:solidFill>
                <a:latin typeface="Aptos" pitchFamily="34" charset="0"/>
                <a:ea typeface="Aptos" pitchFamily="34" charset="-122"/>
                <a:cs typeface="Aptos" pitchFamily="34" charset="-120"/>
              </a:rPr>
              <a:t>Modicon M2xx</a:t>
            </a:r>
            <a:endParaRPr lang="en-US" sz="930" dirty="0"/>
          </a:p>
        </p:txBody>
      </p:sp>
      <p:sp>
        <p:nvSpPr>
          <p:cNvPr id="41" name="Text 39"/>
          <p:cNvSpPr/>
          <p:nvPr/>
        </p:nvSpPr>
        <p:spPr>
          <a:xfrm>
            <a:off x="8046720" y="4718304"/>
            <a:ext cx="3127248" cy="201168"/>
          </a:xfrm>
          <a:prstGeom prst="rect">
            <a:avLst/>
          </a:prstGeom>
          <a:noFill/>
          <a:ln/>
        </p:spPr>
        <p:txBody>
          <a:bodyPr wrap="square" lIns="0" tIns="0" rIns="0" bIns="0" rtlCol="0" anchor="ctr">
            <a:normAutofit/>
          </a:bodyPr>
          <a:lstStyle/>
          <a:p>
            <a:pPr indent="0" marL="0">
              <a:buNone/>
            </a:pPr>
            <a:r>
              <a:rPr lang="en-US" sz="820" dirty="0">
                <a:solidFill>
                  <a:srgbClr val="607585"/>
                </a:solidFill>
                <a:latin typeface="Aptos" pitchFamily="34" charset="0"/>
                <a:ea typeface="Aptos" pitchFamily="34" charset="-122"/>
                <a:cs typeface="Aptos" pitchFamily="34" charset="-120"/>
              </a:rPr>
              <a:t>Compare exact CPU, I/O variant, expansion, software and local support</a:t>
            </a:r>
            <a:endParaRPr lang="en-US" sz="820" dirty="0"/>
          </a:p>
        </p:txBody>
      </p:sp>
      <p:sp>
        <p:nvSpPr>
          <p:cNvPr id="42" name="Text 40"/>
          <p:cNvSpPr/>
          <p:nvPr/>
        </p:nvSpPr>
        <p:spPr>
          <a:xfrm>
            <a:off x="8010144" y="5358384"/>
            <a:ext cx="3200400" cy="429768"/>
          </a:xfrm>
          <a:prstGeom prst="rect">
            <a:avLst/>
          </a:prstGeom>
          <a:noFill/>
          <a:ln/>
        </p:spPr>
        <p:txBody>
          <a:bodyPr wrap="square" lIns="0" tIns="0" rIns="0" bIns="0" rtlCol="0" anchor="ctr">
            <a:normAutofit/>
          </a:bodyPr>
          <a:lstStyle/>
          <a:p>
            <a:pPr algn="ctr" indent="0" marL="0">
              <a:buNone/>
            </a:pPr>
            <a:r>
              <a:rPr lang="en-US" sz="940" dirty="0">
                <a:solidFill>
                  <a:srgbClr val="607585"/>
                </a:solidFill>
                <a:latin typeface="Aptos" pitchFamily="34" charset="0"/>
                <a:ea typeface="Aptos" pitchFamily="34" charset="-122"/>
                <a:cs typeface="Aptos" pitchFamily="34" charset="-120"/>
              </a:rPr>
              <a:t>Families are research leads, not a preselected winner</a:t>
            </a:r>
            <a:endParaRPr lang="en-US" sz="94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Three-manufacturer comparison sprint</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Teams fill three columns for exact models from distinct manufacturers and cite each source against digital I/O, relay outputs, expansion, software/programming, UI/diagnostics, reliability evidence, cost, and practical support.</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Start with a worked blank row: “pill sensor input” -&gt; exact input type and filter/counter details -&gt; manual page -&gt; meets/unknown against the verified sensor requirements.</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Use “unknown” for unavailable fields and name the next evidence source, such as a hardware manual, vendor support response, or dated supplier quote.</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Teacher check: stop any unsupported numeric ratings, prices, or reliability claims; the comparison should be traceable before it is persuasive.</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SUGGESTED VISUAL</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82128" y="2432304"/>
            <a:ext cx="3483864" cy="3447288"/>
          </a:xfrm>
          <a:prstGeom prst="rect">
            <a:avLst/>
          </a:prstGeom>
          <a:solidFill>
            <a:srgbClr val="E8EFF3"/>
          </a:solidFill>
          <a:ln w="13970">
            <a:solidFill>
              <a:srgbClr val="AFC1CD"/>
            </a:solidFill>
            <a:prstDash val="solid"/>
          </a:ln>
        </p:spPr>
      </p:sp>
      <p:sp>
        <p:nvSpPr>
          <p:cNvPr id="31" name="Text 29"/>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58B28"/>
                </a:solidFill>
                <a:latin typeface="Aptos Display" pitchFamily="34" charset="0"/>
                <a:ea typeface="Aptos Display" pitchFamily="34" charset="-122"/>
                <a:cs typeface="Aptos Display" pitchFamily="34" charset="-120"/>
              </a:rPr>
              <a:t>IMAGE SPACE</a:t>
            </a:r>
            <a:endParaRPr lang="en-US" sz="1800" dirty="0"/>
          </a:p>
        </p:txBody>
      </p:sp>
      <p:sp>
        <p:nvSpPr>
          <p:cNvPr id="32" name="Text 30"/>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33" name="Shape 31"/>
          <p:cNvSpPr/>
          <p:nvPr/>
        </p:nvSpPr>
        <p:spPr>
          <a:xfrm>
            <a:off x="603504" y="6318504"/>
            <a:ext cx="10972800" cy="0"/>
          </a:xfrm>
          <a:prstGeom prst="line">
            <a:avLst/>
          </a:prstGeom>
          <a:noFill/>
          <a:ln w="10160">
            <a:solidFill>
              <a:srgbClr val="D5E0E7"/>
            </a:solidFill>
            <a:prstDash val="solid"/>
          </a:ln>
        </p:spPr>
      </p:sp>
      <p:sp>
        <p:nvSpPr>
          <p:cNvPr id="34" name="Text 3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35" name="Text 3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Defend the quality of the comparison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Swap matrices and audit exact part-number match, source revision/date, like-for-like configuration, consistent units, and direct relevance to MedPack requirements.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Peer test: trace one relay-output or I/O claim back to the cited table; if it describes another CPU variant, mark the comparison row unsupported.</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Each team reports one meaningful documented difference and one unfair or incomplete dimension; for example, cost cannot be compared until software and included modules align.</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Debrief: a fair comparison can conclude “not yet known”; explain what evidence would make the dimension comparable.</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FORMATIVE CHECK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138160" y="2697480"/>
            <a:ext cx="256032" cy="256032"/>
          </a:xfrm>
          <a:prstGeom prst="rect">
            <a:avLst/>
          </a:prstGeom>
          <a:solidFill>
            <a:srgbClr val="FFFFFF"/>
          </a:solidFill>
          <a:ln w="17780">
            <a:solidFill>
              <a:srgbClr val="C58B28"/>
            </a:solidFill>
            <a:prstDash val="solid"/>
          </a:ln>
        </p:spPr>
      </p:sp>
      <p:sp>
        <p:nvSpPr>
          <p:cNvPr id="31" name="Text 29"/>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01</a:t>
            </a:r>
            <a:endParaRPr lang="en-US" sz="800" dirty="0"/>
          </a:p>
        </p:txBody>
      </p:sp>
      <p:sp>
        <p:nvSpPr>
          <p:cNvPr id="32" name="Text 30"/>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EXACT MODEL</a:t>
            </a:r>
            <a:endParaRPr lang="en-US" sz="1000" dirty="0"/>
          </a:p>
        </p:txBody>
      </p:sp>
      <p:sp>
        <p:nvSpPr>
          <p:cNvPr id="33" name="Shape 31"/>
          <p:cNvSpPr/>
          <p:nvPr/>
        </p:nvSpPr>
        <p:spPr>
          <a:xfrm>
            <a:off x="8558784" y="3163824"/>
            <a:ext cx="2542032" cy="0"/>
          </a:xfrm>
          <a:prstGeom prst="line">
            <a:avLst/>
          </a:prstGeom>
          <a:noFill/>
          <a:ln w="8890">
            <a:solidFill>
              <a:srgbClr val="D5E0E7"/>
            </a:solidFill>
            <a:prstDash val="solid"/>
          </a:ln>
        </p:spPr>
      </p:sp>
      <p:sp>
        <p:nvSpPr>
          <p:cNvPr id="34" name="Shape 32"/>
          <p:cNvSpPr/>
          <p:nvPr/>
        </p:nvSpPr>
        <p:spPr>
          <a:xfrm>
            <a:off x="8138160" y="3447288"/>
            <a:ext cx="256032" cy="256032"/>
          </a:xfrm>
          <a:prstGeom prst="rect">
            <a:avLst/>
          </a:prstGeom>
          <a:solidFill>
            <a:srgbClr val="FFFFFF"/>
          </a:solidFill>
          <a:ln w="17780">
            <a:solidFill>
              <a:srgbClr val="C58B28"/>
            </a:solidFill>
            <a:prstDash val="solid"/>
          </a:ln>
        </p:spPr>
      </p:sp>
      <p:sp>
        <p:nvSpPr>
          <p:cNvPr id="35" name="Text 33"/>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02</a:t>
            </a:r>
            <a:endParaRPr lang="en-US" sz="800" dirty="0"/>
          </a:p>
        </p:txBody>
      </p:sp>
      <p:sp>
        <p:nvSpPr>
          <p:cNvPr id="36" name="Text 34"/>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TECHNICAL SPECS</a:t>
            </a:r>
            <a:endParaRPr lang="en-US" sz="1000" dirty="0"/>
          </a:p>
        </p:txBody>
      </p:sp>
      <p:sp>
        <p:nvSpPr>
          <p:cNvPr id="37" name="Shape 35"/>
          <p:cNvSpPr/>
          <p:nvPr/>
        </p:nvSpPr>
        <p:spPr>
          <a:xfrm>
            <a:off x="8558784" y="3913632"/>
            <a:ext cx="2542032" cy="0"/>
          </a:xfrm>
          <a:prstGeom prst="line">
            <a:avLst/>
          </a:prstGeom>
          <a:noFill/>
          <a:ln w="8890">
            <a:solidFill>
              <a:srgbClr val="D5E0E7"/>
            </a:solidFill>
            <a:prstDash val="solid"/>
          </a:ln>
        </p:spPr>
      </p:sp>
      <p:sp>
        <p:nvSpPr>
          <p:cNvPr id="38" name="Shape 36"/>
          <p:cNvSpPr/>
          <p:nvPr/>
        </p:nvSpPr>
        <p:spPr>
          <a:xfrm>
            <a:off x="8138160" y="4197096"/>
            <a:ext cx="256032" cy="256032"/>
          </a:xfrm>
          <a:prstGeom prst="rect">
            <a:avLst/>
          </a:prstGeom>
          <a:solidFill>
            <a:srgbClr val="FFFFFF"/>
          </a:solidFill>
          <a:ln w="17780">
            <a:solidFill>
              <a:srgbClr val="C58B28"/>
            </a:solidFill>
            <a:prstDash val="solid"/>
          </a:ln>
        </p:spPr>
      </p:sp>
      <p:sp>
        <p:nvSpPr>
          <p:cNvPr id="39" name="Text 37"/>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03</a:t>
            </a:r>
            <a:endParaRPr lang="en-US" sz="800" dirty="0"/>
          </a:p>
        </p:txBody>
      </p:sp>
      <p:sp>
        <p:nvSpPr>
          <p:cNvPr id="40" name="Text 38"/>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PRACTICAL SUPPORT</a:t>
            </a:r>
            <a:endParaRPr lang="en-US" sz="1000" dirty="0"/>
          </a:p>
        </p:txBody>
      </p:sp>
      <p:sp>
        <p:nvSpPr>
          <p:cNvPr id="41" name="Shape 39"/>
          <p:cNvSpPr/>
          <p:nvPr/>
        </p:nvSpPr>
        <p:spPr>
          <a:xfrm>
            <a:off x="8558784" y="4663440"/>
            <a:ext cx="2542032" cy="0"/>
          </a:xfrm>
          <a:prstGeom prst="line">
            <a:avLst/>
          </a:prstGeom>
          <a:noFill/>
          <a:ln w="8890">
            <a:solidFill>
              <a:srgbClr val="D5E0E7"/>
            </a:solidFill>
            <a:prstDash val="solid"/>
          </a:ln>
        </p:spPr>
      </p:sp>
      <p:sp>
        <p:nvSpPr>
          <p:cNvPr id="42" name="Shape 40"/>
          <p:cNvSpPr/>
          <p:nvPr/>
        </p:nvSpPr>
        <p:spPr>
          <a:xfrm>
            <a:off x="8138160" y="4946904"/>
            <a:ext cx="256032" cy="256032"/>
          </a:xfrm>
          <a:prstGeom prst="rect">
            <a:avLst/>
          </a:prstGeom>
          <a:solidFill>
            <a:srgbClr val="FFFFFF"/>
          </a:solidFill>
          <a:ln w="17780">
            <a:solidFill>
              <a:srgbClr val="C58B28"/>
            </a:solidFill>
            <a:prstDash val="solid"/>
          </a:ln>
        </p:spPr>
      </p:sp>
      <p:sp>
        <p:nvSpPr>
          <p:cNvPr id="43" name="Text 41"/>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04</a:t>
            </a:r>
            <a:endParaRPr lang="en-US" sz="800" dirty="0"/>
          </a:p>
        </p:txBody>
      </p:sp>
      <p:sp>
        <p:nvSpPr>
          <p:cNvPr id="44" name="Text 42"/>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CITED EVIDENCE</a:t>
            </a:r>
            <a:endParaRPr lang="en-US" sz="100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7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P2 checklist: has a real comparison been made?</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Confirm at least three exact PLC models from distinct manufacturers and a matrix covering digital I/O, relay outputs, expansion, programming, UI/diagnostics, reliability evidence, cost, wiring, installation, documentation, support, and training.</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Check citations identify the exact hardware and current source; verify that prices include comparable configuration and a date/currency/source.</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Replace “more reliable” with evidence such as documented diagnostics, lifecycle status, operating limits, support/spare evidence, and the limits of that evidence.</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P2 evidence: balanced application-linked differences, not a winner chosen from brand reputation or a single attractive feature.</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FORMATIVE CHECK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138160" y="2697480"/>
            <a:ext cx="256032" cy="256032"/>
          </a:xfrm>
          <a:prstGeom prst="rect">
            <a:avLst/>
          </a:prstGeom>
          <a:solidFill>
            <a:srgbClr val="FFFFFF"/>
          </a:solidFill>
          <a:ln w="17780">
            <a:solidFill>
              <a:srgbClr val="C58B28"/>
            </a:solidFill>
            <a:prstDash val="solid"/>
          </a:ln>
        </p:spPr>
      </p:sp>
      <p:sp>
        <p:nvSpPr>
          <p:cNvPr id="31" name="Text 29"/>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01</a:t>
            </a:r>
            <a:endParaRPr lang="en-US" sz="800" dirty="0"/>
          </a:p>
        </p:txBody>
      </p:sp>
      <p:sp>
        <p:nvSpPr>
          <p:cNvPr id="32" name="Text 30"/>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EXACT MODEL</a:t>
            </a:r>
            <a:endParaRPr lang="en-US" sz="1000" dirty="0"/>
          </a:p>
        </p:txBody>
      </p:sp>
      <p:sp>
        <p:nvSpPr>
          <p:cNvPr id="33" name="Shape 31"/>
          <p:cNvSpPr/>
          <p:nvPr/>
        </p:nvSpPr>
        <p:spPr>
          <a:xfrm>
            <a:off x="8558784" y="3163824"/>
            <a:ext cx="2542032" cy="0"/>
          </a:xfrm>
          <a:prstGeom prst="line">
            <a:avLst/>
          </a:prstGeom>
          <a:noFill/>
          <a:ln w="8890">
            <a:solidFill>
              <a:srgbClr val="D5E0E7"/>
            </a:solidFill>
            <a:prstDash val="solid"/>
          </a:ln>
        </p:spPr>
      </p:sp>
      <p:sp>
        <p:nvSpPr>
          <p:cNvPr id="34" name="Shape 32"/>
          <p:cNvSpPr/>
          <p:nvPr/>
        </p:nvSpPr>
        <p:spPr>
          <a:xfrm>
            <a:off x="8138160" y="3447288"/>
            <a:ext cx="256032" cy="256032"/>
          </a:xfrm>
          <a:prstGeom prst="rect">
            <a:avLst/>
          </a:prstGeom>
          <a:solidFill>
            <a:srgbClr val="FFFFFF"/>
          </a:solidFill>
          <a:ln w="17780">
            <a:solidFill>
              <a:srgbClr val="C58B28"/>
            </a:solidFill>
            <a:prstDash val="solid"/>
          </a:ln>
        </p:spPr>
      </p:sp>
      <p:sp>
        <p:nvSpPr>
          <p:cNvPr id="35" name="Text 33"/>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02</a:t>
            </a:r>
            <a:endParaRPr lang="en-US" sz="800" dirty="0"/>
          </a:p>
        </p:txBody>
      </p:sp>
      <p:sp>
        <p:nvSpPr>
          <p:cNvPr id="36" name="Text 34"/>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TECHNICAL SPECS</a:t>
            </a:r>
            <a:endParaRPr lang="en-US" sz="1000" dirty="0"/>
          </a:p>
        </p:txBody>
      </p:sp>
      <p:sp>
        <p:nvSpPr>
          <p:cNvPr id="37" name="Shape 35"/>
          <p:cNvSpPr/>
          <p:nvPr/>
        </p:nvSpPr>
        <p:spPr>
          <a:xfrm>
            <a:off x="8558784" y="3913632"/>
            <a:ext cx="2542032" cy="0"/>
          </a:xfrm>
          <a:prstGeom prst="line">
            <a:avLst/>
          </a:prstGeom>
          <a:noFill/>
          <a:ln w="8890">
            <a:solidFill>
              <a:srgbClr val="D5E0E7"/>
            </a:solidFill>
            <a:prstDash val="solid"/>
          </a:ln>
        </p:spPr>
      </p:sp>
      <p:sp>
        <p:nvSpPr>
          <p:cNvPr id="38" name="Shape 36"/>
          <p:cNvSpPr/>
          <p:nvPr/>
        </p:nvSpPr>
        <p:spPr>
          <a:xfrm>
            <a:off x="8138160" y="4197096"/>
            <a:ext cx="256032" cy="256032"/>
          </a:xfrm>
          <a:prstGeom prst="rect">
            <a:avLst/>
          </a:prstGeom>
          <a:solidFill>
            <a:srgbClr val="FFFFFF"/>
          </a:solidFill>
          <a:ln w="17780">
            <a:solidFill>
              <a:srgbClr val="C58B28"/>
            </a:solidFill>
            <a:prstDash val="solid"/>
          </a:ln>
        </p:spPr>
      </p:sp>
      <p:sp>
        <p:nvSpPr>
          <p:cNvPr id="39" name="Text 37"/>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03</a:t>
            </a:r>
            <a:endParaRPr lang="en-US" sz="800" dirty="0"/>
          </a:p>
        </p:txBody>
      </p:sp>
      <p:sp>
        <p:nvSpPr>
          <p:cNvPr id="40" name="Text 38"/>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PRACTICAL SUPPORT</a:t>
            </a:r>
            <a:endParaRPr lang="en-US" sz="1000" dirty="0"/>
          </a:p>
        </p:txBody>
      </p:sp>
      <p:sp>
        <p:nvSpPr>
          <p:cNvPr id="41" name="Shape 39"/>
          <p:cNvSpPr/>
          <p:nvPr/>
        </p:nvSpPr>
        <p:spPr>
          <a:xfrm>
            <a:off x="8558784" y="4663440"/>
            <a:ext cx="2542032" cy="0"/>
          </a:xfrm>
          <a:prstGeom prst="line">
            <a:avLst/>
          </a:prstGeom>
          <a:noFill/>
          <a:ln w="8890">
            <a:solidFill>
              <a:srgbClr val="D5E0E7"/>
            </a:solidFill>
            <a:prstDash val="solid"/>
          </a:ln>
        </p:spPr>
      </p:sp>
      <p:sp>
        <p:nvSpPr>
          <p:cNvPr id="42" name="Shape 40"/>
          <p:cNvSpPr/>
          <p:nvPr/>
        </p:nvSpPr>
        <p:spPr>
          <a:xfrm>
            <a:off x="8138160" y="4946904"/>
            <a:ext cx="256032" cy="256032"/>
          </a:xfrm>
          <a:prstGeom prst="rect">
            <a:avLst/>
          </a:prstGeom>
          <a:solidFill>
            <a:srgbClr val="FFFFFF"/>
          </a:solidFill>
          <a:ln w="17780">
            <a:solidFill>
              <a:srgbClr val="C58B28"/>
            </a:solidFill>
            <a:prstDash val="solid"/>
          </a:ln>
        </p:spPr>
      </p:sp>
      <p:sp>
        <p:nvSpPr>
          <p:cNvPr id="43" name="Text 41"/>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04</a:t>
            </a:r>
            <a:endParaRPr lang="en-US" sz="800" dirty="0"/>
          </a:p>
        </p:txBody>
      </p:sp>
      <p:sp>
        <p:nvSpPr>
          <p:cNvPr id="44" name="Text 42"/>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CITED EVIDENCE</a:t>
            </a:r>
            <a:endParaRPr lang="en-US" sz="100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58B28"/>
          </a:solidFill>
          <a:ln w="12700">
            <a:solidFill>
              <a:srgbClr val="C58B28">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58B28"/>
                </a:solidFill>
                <a:latin typeface="Aptos" pitchFamily="34" charset="0"/>
                <a:ea typeface="Aptos" pitchFamily="34" charset="-122"/>
                <a:cs typeface="Aptos" pitchFamily="34" charset="-120"/>
              </a:rPr>
              <a:t>UNIT 5009    /    WEEK 02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8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58B28"/>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58B28"/>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500" b="1" dirty="0">
                <a:solidFill>
                  <a:srgbClr val="1B3448"/>
                </a:solidFill>
                <a:latin typeface="Aptos Display" pitchFamily="34" charset="0"/>
                <a:ea typeface="Aptos Display" pitchFamily="34" charset="-122"/>
                <a:cs typeface="Aptos Display" pitchFamily="34" charset="-120"/>
              </a:rPr>
              <a:t>Exit ticket: strongest differentiator and missing fact</a:t>
            </a:r>
            <a:endParaRPr lang="en-US" sz="25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58B28"/>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58B28"/>
          </a:solidFill>
          <a:ln w="12700">
            <a:solidFill>
              <a:srgbClr val="C58B28">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State one documented difference between two exact candidates and connect it to a MedPack need, for example verified high-speed input support against the pill sensor’s documented pulse limits.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58B28"/>
          </a:solidFill>
          <a:ln w="12700">
            <a:solidFill>
              <a:srgbClr val="C58B28">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Give the exact source identity and page/table; do not report a model rating or price from memory or a family-level summary.</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58B28"/>
          </a:solidFill>
          <a:ln w="12700">
            <a:solidFill>
              <a:srgbClr val="C58B28">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Name one unresolved fact that could change the shortlist, such as actuator inrush, required safety architecture, or a current like-for-like installed quote.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58B28"/>
          </a:solidFill>
          <a:ln w="12700">
            <a:solidFill>
              <a:srgbClr val="C58B28">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58B28"/>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Carry the matrix and source log into Week 3, where electrical and timing compatibility will be tested in detail.</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58B28"/>
                </a:solidFill>
                <a:latin typeface="Aptos" pitchFamily="34" charset="0"/>
                <a:ea typeface="Aptos" pitchFamily="34" charset="-122"/>
                <a:cs typeface="Aptos" pitchFamily="34" charset="-120"/>
              </a:rPr>
              <a:t>FORMATIVE CHECK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138160" y="2697480"/>
            <a:ext cx="256032" cy="256032"/>
          </a:xfrm>
          <a:prstGeom prst="rect">
            <a:avLst/>
          </a:prstGeom>
          <a:solidFill>
            <a:srgbClr val="FFFFFF"/>
          </a:solidFill>
          <a:ln w="17780">
            <a:solidFill>
              <a:srgbClr val="C58B28"/>
            </a:solidFill>
            <a:prstDash val="solid"/>
          </a:ln>
        </p:spPr>
      </p:sp>
      <p:sp>
        <p:nvSpPr>
          <p:cNvPr id="31" name="Text 29"/>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01</a:t>
            </a:r>
            <a:endParaRPr lang="en-US" sz="800" dirty="0"/>
          </a:p>
        </p:txBody>
      </p:sp>
      <p:sp>
        <p:nvSpPr>
          <p:cNvPr id="32" name="Text 30"/>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EXACT MODEL</a:t>
            </a:r>
            <a:endParaRPr lang="en-US" sz="1000" dirty="0"/>
          </a:p>
        </p:txBody>
      </p:sp>
      <p:sp>
        <p:nvSpPr>
          <p:cNvPr id="33" name="Shape 31"/>
          <p:cNvSpPr/>
          <p:nvPr/>
        </p:nvSpPr>
        <p:spPr>
          <a:xfrm>
            <a:off x="8558784" y="3163824"/>
            <a:ext cx="2542032" cy="0"/>
          </a:xfrm>
          <a:prstGeom prst="line">
            <a:avLst/>
          </a:prstGeom>
          <a:noFill/>
          <a:ln w="8890">
            <a:solidFill>
              <a:srgbClr val="D5E0E7"/>
            </a:solidFill>
            <a:prstDash val="solid"/>
          </a:ln>
        </p:spPr>
      </p:sp>
      <p:sp>
        <p:nvSpPr>
          <p:cNvPr id="34" name="Shape 32"/>
          <p:cNvSpPr/>
          <p:nvPr/>
        </p:nvSpPr>
        <p:spPr>
          <a:xfrm>
            <a:off x="8138160" y="3447288"/>
            <a:ext cx="256032" cy="256032"/>
          </a:xfrm>
          <a:prstGeom prst="rect">
            <a:avLst/>
          </a:prstGeom>
          <a:solidFill>
            <a:srgbClr val="FFFFFF"/>
          </a:solidFill>
          <a:ln w="17780">
            <a:solidFill>
              <a:srgbClr val="C58B28"/>
            </a:solidFill>
            <a:prstDash val="solid"/>
          </a:ln>
        </p:spPr>
      </p:sp>
      <p:sp>
        <p:nvSpPr>
          <p:cNvPr id="35" name="Text 33"/>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02</a:t>
            </a:r>
            <a:endParaRPr lang="en-US" sz="800" dirty="0"/>
          </a:p>
        </p:txBody>
      </p:sp>
      <p:sp>
        <p:nvSpPr>
          <p:cNvPr id="36" name="Text 34"/>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TECHNICAL SPECS</a:t>
            </a:r>
            <a:endParaRPr lang="en-US" sz="1000" dirty="0"/>
          </a:p>
        </p:txBody>
      </p:sp>
      <p:sp>
        <p:nvSpPr>
          <p:cNvPr id="37" name="Shape 35"/>
          <p:cNvSpPr/>
          <p:nvPr/>
        </p:nvSpPr>
        <p:spPr>
          <a:xfrm>
            <a:off x="8558784" y="3913632"/>
            <a:ext cx="2542032" cy="0"/>
          </a:xfrm>
          <a:prstGeom prst="line">
            <a:avLst/>
          </a:prstGeom>
          <a:noFill/>
          <a:ln w="8890">
            <a:solidFill>
              <a:srgbClr val="D5E0E7"/>
            </a:solidFill>
            <a:prstDash val="solid"/>
          </a:ln>
        </p:spPr>
      </p:sp>
      <p:sp>
        <p:nvSpPr>
          <p:cNvPr id="38" name="Shape 36"/>
          <p:cNvSpPr/>
          <p:nvPr/>
        </p:nvSpPr>
        <p:spPr>
          <a:xfrm>
            <a:off x="8138160" y="4197096"/>
            <a:ext cx="256032" cy="256032"/>
          </a:xfrm>
          <a:prstGeom prst="rect">
            <a:avLst/>
          </a:prstGeom>
          <a:solidFill>
            <a:srgbClr val="FFFFFF"/>
          </a:solidFill>
          <a:ln w="17780">
            <a:solidFill>
              <a:srgbClr val="C58B28"/>
            </a:solidFill>
            <a:prstDash val="solid"/>
          </a:ln>
        </p:spPr>
      </p:sp>
      <p:sp>
        <p:nvSpPr>
          <p:cNvPr id="39" name="Text 37"/>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03</a:t>
            </a:r>
            <a:endParaRPr lang="en-US" sz="800" dirty="0"/>
          </a:p>
        </p:txBody>
      </p:sp>
      <p:sp>
        <p:nvSpPr>
          <p:cNvPr id="40" name="Text 38"/>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PRACTICAL SUPPORT</a:t>
            </a:r>
            <a:endParaRPr lang="en-US" sz="1000" dirty="0"/>
          </a:p>
        </p:txBody>
      </p:sp>
      <p:sp>
        <p:nvSpPr>
          <p:cNvPr id="41" name="Shape 39"/>
          <p:cNvSpPr/>
          <p:nvPr/>
        </p:nvSpPr>
        <p:spPr>
          <a:xfrm>
            <a:off x="8558784" y="4663440"/>
            <a:ext cx="2542032" cy="0"/>
          </a:xfrm>
          <a:prstGeom prst="line">
            <a:avLst/>
          </a:prstGeom>
          <a:noFill/>
          <a:ln w="8890">
            <a:solidFill>
              <a:srgbClr val="D5E0E7"/>
            </a:solidFill>
            <a:prstDash val="solid"/>
          </a:ln>
        </p:spPr>
      </p:sp>
      <p:sp>
        <p:nvSpPr>
          <p:cNvPr id="42" name="Shape 40"/>
          <p:cNvSpPr/>
          <p:nvPr/>
        </p:nvSpPr>
        <p:spPr>
          <a:xfrm>
            <a:off x="8138160" y="4946904"/>
            <a:ext cx="256032" cy="256032"/>
          </a:xfrm>
          <a:prstGeom prst="rect">
            <a:avLst/>
          </a:prstGeom>
          <a:solidFill>
            <a:srgbClr val="FFFFFF"/>
          </a:solidFill>
          <a:ln w="17780">
            <a:solidFill>
              <a:srgbClr val="C58B28"/>
            </a:solidFill>
            <a:prstDash val="solid"/>
          </a:ln>
        </p:spPr>
      </p:sp>
      <p:sp>
        <p:nvSpPr>
          <p:cNvPr id="43" name="Text 41"/>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58B28"/>
                </a:solidFill>
                <a:latin typeface="Aptos" pitchFamily="34" charset="0"/>
                <a:ea typeface="Aptos" pitchFamily="34" charset="-122"/>
                <a:cs typeface="Aptos" pitchFamily="34" charset="-120"/>
              </a:rPr>
              <a:t>04</a:t>
            </a:r>
            <a:endParaRPr lang="en-US" sz="800" dirty="0"/>
          </a:p>
        </p:txBody>
      </p:sp>
      <p:sp>
        <p:nvSpPr>
          <p:cNvPr id="44" name="Text 42"/>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CITED EVIDENCE</a:t>
            </a:r>
            <a:endParaRPr lang="en-US" sz="100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TYPES, APPLICATIONS, AND MANUFACTURERS</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Unit 5009</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02: PLC Types, Applications, and Manufacturers</dc:title>
  <dc:subject>LO1 weekly teaching presentation</dc:subject>
  <dc:creator>Unit 5009 Teaching Materials</dc:creator>
  <cp:lastModifiedBy>Unit 5009 Teaching Materials</cp:lastModifiedBy>
  <cp:revision>1</cp:revision>
  <dcterms:created xsi:type="dcterms:W3CDTF">2026-10-13T19:42:18Z</dcterms:created>
  <dcterms:modified xsi:type="dcterms:W3CDTF">2026-10-13T19:42:18Z</dcterms:modified>
</cp:coreProperties>
</file>