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 of 18 | Suggested time: 5 minutes | Criteria: P2
TEACHING NOTES AND ACTIVITY CUES
1. Display five statements about MedPack; learners classify each as brief-stated, derived requirement, or unverified assumption.
2. Reuse the corrected application baseline, not an imagined specification.
IMAGE PROMPT
Create an original, technically plausible landscape visual for a vocational engineering presentation about Week 1 retrieval: requirement or assumption?. Show: Display five statements about MedPack; learners classify each as brief-stated, derived requirement, or unverified assumption. Reuse the corrected application baseline, not an imagined specification..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2 of 18 | Suggested time: 5 minutes | Criteria: P2
TEACHING NOTES AND ACTIVITY CUES
1. Ask why a small machine and a distributed process plant might need different controller architectures.
2. Introduce cost, I/O layout, expansion, performance, environment, lifecycle, and support as comparison dimensions.
IMAGE PROMPT
Create an original, technically plausible landscape visual for a vocational engineering presentation about Why PLCs come in different forms. Show: Ask why a small machine and a distributed process plant might need different controller architectures. Introduce cost, I/O layout, expansion, performance, environment, lifecycle, and support as comparison dimensions..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3 of 18 | Suggested time: 5 minutes | Criteria: P2
TEACHING NOTES AND ACTIVITY CUES
1. State the requirement: compare at least three models/manufacturers using technical and practical evidence.
2. Explain exact model numbers and current official manuals matter more than brand-level claims.
IMAGE PROMPT
Create an original, technically plausible landscape visual for a vocational engineering presentation about LO1.P2 and the evidence standard. Show: State the requirement: compare at least three models/manufacturers using technical and practical evidence. Explain exact model numbers and current official manuals matter more than brand-level claims..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4 of 18 | Suggested time: 12 minutes | Criteria: P2
TEACHING NOTES AND ACTIVITY CUES
1. Cover integrated CPU and I/O, small footprint, typical machine-control uses, and limits on expansion or distributed architecture.
2. Compare what to verify: onboard I/O types, communication ports, expansion method, and programming environment.
IMAGE PROMPT
Create an original, technically plausible landscape visual for a vocational engineering presentation about Compact and micro PLCs. Show: Cover integrated CPU and I/O, small footprint, typical machine-control uses, and limits on expansion or distributed architecture. Compare what to verify: onboard I/O types, communication ports, expansion method, and programming environment..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5 of 18 | Suggested time: 13 minutes | Criteria: P2
TEACHING NOTES AND ACTIVITY CUES
1. Explain CPU plus selectable modules, rack/backplane concepts, distributed I/O, redundancy/motion/process options where supported, and system growth.
2. Discuss engineering complexity, panel footprint, cost, and maintenance trade-offs.
3. Clarify that PAC/PLC categories overlap in vendor marketing and do not replace checking the actual feature set.
IMAGE PROMPT
Create an original, technically plausible landscape visual for a vocational engineering presentation about Modular, rack-based PLCs, and PACs. Show: Explain CPU plus selectable modules, rack/backplane concepts, distributed I/O, redundancy/motion/process options where supported, and system growth. Discuss engineering complexity, panel footprint, cost, and maintenance trade-offs..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6 of 18 | Suggested time: 12 minutes | Criteria: P2
TEACHING NOTES AND ACTIVITY CUES
1. Explain safety-rated controllers/modules and certified safety functions at a high level; distinguish ordinary process control from safety functions.
2. Compare safety relay and safety PLC architectures as design options, not as interchangeable by default.
3. Ask what risk assessment, required performance level, diagnostics, validation, and reset behaviour would need to be established.
IMAGE PROMPT
Create an original, technically plausible landscape visual for a vocational engineering presentation about Safety PLCs and safety systems. Show: Explain safety-rated controllers/modules and certified safety functions at a high level; distinguish ordinary process control from safety functions. Compare safety relay and safety PLC architectures as design options, not as interchangeable by default..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7 of 18 | Suggested time: 13 minutes | Criteria: P2
TEACHING NOTES AND ACTIVITY CUES
1. Consider standalone packaging station, multi-station production line, remote pump station, and process skid.
2. Teams identify the likely controller class and the requirements that could change the answer.
3. Visual: application scale against I/O distribution, motion, and lifecycle needs.
IMAGE PROMPT
Create an original, technically plausible landscape visual for a vocational engineering presentation about Match PLC class to application. Show: Consider standalone packaging station, multi-station production line, remote pump station, and process skid. Teams identify the likely controller class and the requirements that could change the answer..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8 of 18 | Suggested time: 10 minutes | Criteria: P2
TEACHING NOTES AND ACTIVITY CUES
1. Introduce example families as research starting points: Siemens SIMATIC S7-1200/S7-1500; Rockwell Automation Micro800/CompactLogix; Schneider Electric Modicon M221/M241; Mitsubishi MELSEC FX; Omron CP/NX; AutomationDirect CLICK/Do-more.
2. Make clear exact family variants and availability differ by region and date; no family is selected in advance.
IMAGE PROMPT
Create an original, technically plausible landscape visual for a vocational engineering presentation about Manufacturer landscape: research candidates. Show: Introduce example families as research starting points: Siemens SIMATIC S7-1200/S7-1500; Rockwell Automation Micro800/CompactLogix; Schneider Electric Modicon M221/M241; Mitsubishi MELSEC FX; Omron CP/NX; AutomationDirect CLICK/Do-more. Make clear exact family variants and availability differ by region and....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9 of 18 | Suggested time: 15 minutes | Criteria: P2
TEACHING NOTES AND ACTIVITY CUES
1. Compare programming tools, IEC 61131-3 language support where applicable, licensing, simulation, diagnostics, HMI integration, documentation, training, and local support.
2. Consider staff familiarity and maintainability without turning them into unsupported reliability claims.
3. Prompt: how can two technically similar PLCs have different lifecycle costs?
IMAGE PROMPT
Create an original, technically plausible landscape visual for a vocational engineering presentation about Programming and support ecosystems. Show: Compare programming tools, IEC 61131-3 language support where applicable, licensing, simulation, diagnostics, HMI integration, documentation, training, and local support. Consider staff familiarity and maintainability without turning them into unsupported reliability claims..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10 of 18 | Suggested time: 10 minutes | Criteria: P2
TEACHING NOTES AND ACTIVITY CUES
1. Select at least three models from different manufacturers in a comparable class.
2. Apply mandatory gates first: required I/O, electrical ratings, safety architecture, communications, environment, and supportability.
3. Use the Week 1 requirement list; do not shortlist based only on price or familiarity.
IMAGE PROMPT
Create an original, technically plausible landscape visual for a vocational engineering presentation about Build a fair shortlist. Show: Select at least three models from different manufacturers in a comparable class. Apply mandatory gates first: required I/O, electrical ratings, safety architecture, communications, environment, and supportability..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11 of 18 | Suggested time: 10 minutes | Criteria: P2
TEACHING NOTES AND ACTIVITY CUES
1. Read the CPU and I/O part number, suffixes, supply variant, output type, included ports, firmware, and document revision.
2. Explain why a product-family page is not enough to prove an individual CPU's capabilities.
IMAGE PROMPT
Create an original, technically plausible landscape visual for a vocational engineering presentation about Find the exact hardware identity. Show: Read the CPU and I/O part number, suffixes, supply variant, output type, included ports, firmware, and document revision. Explain why a product-family page is not enough to prove an individual CPU's capabilities..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12 of 18 | Suggested time: 15 minutes | Criteria: P2
TEACHING NOTES AND ACTIVITY CUES
1. Matrix fields: DI/DO count and type; relay outputs; analogue support; expansion modules; remote I/O; Ethernet/serial ports; supported protocols; maximum system size where specified.
2. Cite page/table for each number and mark unavailable information explicitly.
IMAGE PROMPT
Create an original, technically plausible landscape visual for a vocational engineering presentation about Compare I/O, expansion, and communications. Show: Matrix fields: DI/DO count and type; relay outputs; analogue support; expansion modules; remote I/O; Ethernet/serial ports; supported protocols; maximum system size where specified. Cite page/table for each number and mark unavailable information explicitly..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13 of 18 | Suggested time: 10 minutes | Criteria: P2
TEACHING NOTES AND ACTIVITY CUES
1. Identify scan/performance information, high-speed counter inputs, memory, timers/counters, diagnostics, display/indicators, online monitoring, simulation, and engineering workflow.
2. Explain that scan-time claims need comparable conditions and may not predict complete application response.
IMAGE PROMPT
Create an original, technically plausible landscape visual for a vocational engineering presentation about Compare performance and user-facing features. Show: Identify scan/performance information, high-speed counter inputs, memory, timers/counters, diagnostics, display/indicators, online monitoring, simulation, and engineering workflow. Explain that scan-time claims need comparable conditions and may not predict complete application response..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14 of 18 | Suggested time: 10 minutes | Criteria: P2
TEACHING NOTES AND ACTIVITY CUES
1. Evaluate installation/wiring, terminal style, panel footprint, documentation, troubleshooting, vendor lifecycle notices, training, spare availability, and dated pricing.
2. Price source record: supplier, date, currency, included modules/software, and tax/shipping assumptions.
IMAGE PROMPT
Create an original, technically plausible landscape visual for a vocational engineering presentation about Compare practical ownership factors. Show: Evaluate installation/wiring, terminal style, panel footprint, documentation, troubleshooting, vendor lifecycle notices, training, spare availability, and dated pricing. Price source record: supplier, date, currency, included modules/software, and tax/shipping assumptions..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15 of 18 | Suggested time: 20 minutes | Criteria: P2
TEACHING NOTES AND ACTIVITY CUES
1. Teams populate a minimum comparison matrix for three exact models from separate manufacturers.
2. Required fields: I/O, relay outputs, expansion, programming, UI/diagnostics, reliability evidence, cost, and practical support.
3. If data is unavailable, record the gap and how it could be resolved; do not invent a value.
IMAGE PROMPT
Create an original, technically plausible landscape visual for a vocational engineering presentation about Three-manufacturer comparison sprint. Show: Teams populate a minimum comparison matrix for three exact models from separate manufacturers. Required fields: I/O, relay outputs, expansion, programming, UI/diagnostics, reliability evidence, cost, and practical support..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16 of 18 | Suggested time: 20 minutes | Criteria: P2
TEACHING NOTES AND ACTIVITY CUES
1. Teams swap matrices and check whether evidence is current, comparable, and application-related.
2. Each group explains one meaningful difference and one dimension that cannot yet be fairly compared.
IMAGE PROMPT
Create an original, technically plausible landscape visual for a vocational engineering presentation about Defend the quality of the comparison. Show: Teams swap matrices and check whether evidence is current, comparable, and application-related. Each group explains one meaningful difference and one dimension that cannot yet be fairly compared..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17 of 18 | Suggested time: 7 minutes | Criteria: P2
TEACHING NOTES AND ACTIVITY CUES
1. Check three manufacturers/models, required technical attributes, practical factors, citations, and balanced discussion.
2. Point out unsupported labels such as "more reliable" or "best value" without a defined evidence basis.
IMAGE PROMPT
Create an original, technically plausible landscape visual for a vocational engineering presentation about P2 checklist: has a real comparison been made?. Show: Check three manufacturers/models, required technical attributes, practical factors, citations, and balanced discussion. Point out unsupported labels such as "more reliable" or "best value" without a defined evidence basis..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PLC Types, Applications, and Manufacturers | Week 02 | LO1
Slide 18 of 18 | Suggested time: 8 minutes | Criteria: P2
TEACHING NOTES AND ACTIVITY CUES
1. Name one candidate difference relevant to MedPack, cite its evidence, and identify one missing fact that could affect selection.
IMAGE PROMPT
Create an original, technically plausible landscape visual for a vocational engineering presentation about Exit ticket: strongest differentiator and missing fact. Show: Name one candidate difference relevant to MedPack, cite its evidence, and identify one missing fact that could affect selection.. Use an editorial technical-illustration style with accurate industrial components, a clean pale background, and restrained navy, teal, and muted amber accents. Compose the subject clearly for a right-side image panel. Do not include text, labels, numbers, logos, watermarks, or branded equipment.
IMAGE PLACEMENT
Replace the labelled image placeholder on the right with the generated or selected visual. Keep the title and key ideas unobstructed.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Week 1 retrieval: requirement or assumption?</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Display five statements about MedPack; learners classify each as brief-stated, derived requirement, or unverified assumption.</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Reuse the corrected application baseline, not an imagined specification.</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Week 1 retrieval: requirement or assumption?</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Why PLCs come in different forms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Ask why a small machine and a distributed process plant might need different controller architectures.</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Introduce cost, I/O layout, expansion, performance, environment, lifecycle, and support as comparison dimensions.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Why PLCs come in different forms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LO1.P2 and the evidence standard</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State the requirement: compare at least three models/manufacturers using technical and practical evidence.</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exact model numbers and current official manuals matter more than brand-level claims.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LO1.P2 and the evidence standard</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Compact and micro PLCs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Cover integrated CPU and I/O, small footprint, typical machine-control uses, and limits on expansion or distributed architecture.</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Compare what to verify: onboard I/O types, communication ports, expansion method, and programming environment.</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Compact and micro PLCs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Modular, rack-based PLCs, and PACs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CPU plus selectable modules, rack/backplane concepts, distributed I/O, redundancy/motion/process options where supported, and system growth.</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Discuss engineering complexity, panel footprint, cost, and maintenance trade-offs.</a:t>
            </a:r>
            <a:endParaRPr lang="en-US" sz="1650" dirty="0"/>
          </a:p>
        </p:txBody>
      </p:sp>
      <p:sp>
        <p:nvSpPr>
          <p:cNvPr id="15" name="Shape 13"/>
          <p:cNvSpPr/>
          <p:nvPr/>
        </p:nvSpPr>
        <p:spPr>
          <a:xfrm>
            <a:off x="713232" y="3730752"/>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6210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Clarify that PAC/PLC categories overlap in vendor marketing and do not replace checking the actual feature set.</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Modular, rack-based PLCs, and PACs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Safety PLCs and safety systems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safety-rated controllers/modules and certified safety functions at a high level; distinguish ordinary process control from safety functions.</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Compare safety relay and safety PLC architectures as design options, not as interchangeable by default.</a:t>
            </a:r>
            <a:endParaRPr lang="en-US" sz="1650" dirty="0"/>
          </a:p>
        </p:txBody>
      </p:sp>
      <p:sp>
        <p:nvSpPr>
          <p:cNvPr id="15" name="Shape 13"/>
          <p:cNvSpPr/>
          <p:nvPr/>
        </p:nvSpPr>
        <p:spPr>
          <a:xfrm>
            <a:off x="713232" y="3730752"/>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6210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Ask what risk assessment, required performance level, diagnostics, validation, and reset behaviour would need to be established.</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Safety PLCs and safety systems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Match PLC class to application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Consider standalone packaging station, multi-station production line, remote pump station, and process skid.</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Teams identify the likely controller class and the requirements that could change the answer.</a:t>
            </a:r>
            <a:endParaRPr lang="en-US" sz="1650" dirty="0"/>
          </a:p>
        </p:txBody>
      </p:sp>
      <p:sp>
        <p:nvSpPr>
          <p:cNvPr id="15" name="Shape 13"/>
          <p:cNvSpPr/>
          <p:nvPr/>
        </p:nvSpPr>
        <p:spPr>
          <a:xfrm>
            <a:off x="713232" y="3493008"/>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Visual: application scale against I/O distribution, motion, and lifecycle needs.</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Match PLC class to application</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Manufacturer landscape: research candidates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Introduce example families as research starting points: Siemens SIMATIC S7-1200/S7-1500; Rockwell Automation Micro800/CompactLogix; Schneider Electric Modicon M221/M241; Mitsu...</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Make clear exact family variants and availability differ by region and date; no family is selected in advance.</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Manufacturer landscape: research candidates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Programming and support ecosystems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Compare programming tools, IEC 61131-3 language support where applicable, licensing, simulation, diagnostics, HMI integration, documentation, training, and local support.</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Consider staff familiarity and maintainability without turning them into unsupported reliability claims.</a:t>
            </a:r>
            <a:endParaRPr lang="en-US" sz="1650" dirty="0"/>
          </a:p>
        </p:txBody>
      </p:sp>
      <p:sp>
        <p:nvSpPr>
          <p:cNvPr id="15" name="Shape 13"/>
          <p:cNvSpPr/>
          <p:nvPr/>
        </p:nvSpPr>
        <p:spPr>
          <a:xfrm>
            <a:off x="713232" y="3730752"/>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6210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Prompt: how can two technically similar PLCs have different lifecycle costs?</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Programming and support ecosystems</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Build a fair shortlist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Select at least three models from different manufacturers in a comparable class.</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Apply mandatory gates first: required I/O, electrical ratings, safety architecture, communications, environment, and supportability.</a:t>
            </a:r>
            <a:endParaRPr lang="en-US" sz="1650" dirty="0"/>
          </a:p>
        </p:txBody>
      </p:sp>
      <p:sp>
        <p:nvSpPr>
          <p:cNvPr id="15" name="Shape 13"/>
          <p:cNvSpPr/>
          <p:nvPr/>
        </p:nvSpPr>
        <p:spPr>
          <a:xfrm>
            <a:off x="713232" y="3493008"/>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Use the Week 1 requirement list; do not shortlist based only on price or familiarity.</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Build a fair shortlist</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Find the exact hardware identity</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Read the CPU and I/O part number, suffixes, supply variant, output type, included ports, firmware, and document revision.</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why a product-family page is not enough to prove an individual CPU's capabilities.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Find the exact hardware identity</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Compare I/O, expansion, and communications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Matrix fields: DI/DO count and type; relay outputs; analogue support; expansion modules; remote I/O; Ethernet/serial ports; supported protocols; maximum system size where spec...</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Cite page/table for each number and mark unavailable information explicitly.</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Compare I/O, expansion, and communications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Compare performance and user-facing features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Identify scan/performance information, high-speed counter inputs, memory, timers/counters, diagnostics, display/indicators, online monitoring, simulation, and engineering work...</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Explain that scan-time claims need comparable conditions and may not predict complete application response.</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Compare performance and user-facing features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Compare practical ownership factors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804672"/>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Evaluate installation/wiring, terminal style, panel footprint, documentation, troubleshooting, vendor lifecycle notices, training, spare availability, and dated pricing.</a:t>
            </a:r>
            <a:endParaRPr lang="en-US" sz="1650" dirty="0"/>
          </a:p>
        </p:txBody>
      </p:sp>
      <p:sp>
        <p:nvSpPr>
          <p:cNvPr id="13" name="Shape 11"/>
          <p:cNvSpPr/>
          <p:nvPr/>
        </p:nvSpPr>
        <p:spPr>
          <a:xfrm>
            <a:off x="713232" y="3054096"/>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9443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Price source record: supplier, date, currency, included modules/software, and tax/shipping assumptions.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Compare practical ownership factors</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Three-manufacturer comparison sprint</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Teams populate a minimum comparison matrix for three exact models from separate manufacturers.</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Required fields: I/O, relay outputs, expansion, programming, UI/diagnostics, reliability evidence, cost, and practical support.</a:t>
            </a:r>
            <a:endParaRPr lang="en-US" sz="1650" dirty="0"/>
          </a:p>
        </p:txBody>
      </p:sp>
      <p:sp>
        <p:nvSpPr>
          <p:cNvPr id="15" name="Shape 13"/>
          <p:cNvSpPr/>
          <p:nvPr/>
        </p:nvSpPr>
        <p:spPr>
          <a:xfrm>
            <a:off x="713232" y="3493008"/>
            <a:ext cx="100584" cy="100584"/>
          </a:xfrm>
          <a:prstGeom prst="ellipse">
            <a:avLst/>
          </a:prstGeom>
          <a:solidFill>
            <a:srgbClr val="C58B28"/>
          </a:solidFill>
          <a:ln w="12700">
            <a:solidFill>
              <a:srgbClr val="C58B28">
                <a:alpha val="0"/>
              </a:srgbClr>
            </a:solidFill>
            <a:prstDash val="solid"/>
          </a:ln>
        </p:spPr>
      </p:sp>
      <p:sp>
        <p:nvSpPr>
          <p:cNvPr id="16" name="Text 14"/>
          <p:cNvSpPr/>
          <p:nvPr/>
        </p:nvSpPr>
        <p:spPr>
          <a:xfrm>
            <a:off x="969264" y="3383280"/>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If data is unavailable, record the gap and how it could be resolved; do not invent a value.</a:t>
            </a:r>
            <a:endParaRPr lang="en-US" sz="1650" dirty="0"/>
          </a:p>
        </p:txBody>
      </p:sp>
      <p:sp>
        <p:nvSpPr>
          <p:cNvPr id="17" name="Shape 15"/>
          <p:cNvSpPr/>
          <p:nvPr/>
        </p:nvSpPr>
        <p:spPr>
          <a:xfrm>
            <a:off x="7644384" y="1746504"/>
            <a:ext cx="3941064" cy="4352544"/>
          </a:xfrm>
          <a:prstGeom prst="rect">
            <a:avLst/>
          </a:prstGeom>
          <a:solidFill>
            <a:srgbClr val="E8EFF3"/>
          </a:solidFill>
          <a:ln w="15240">
            <a:solidFill>
              <a:srgbClr val="C8D5DE"/>
            </a:solidFill>
            <a:prstDash val="solid"/>
          </a:ln>
        </p:spPr>
      </p:sp>
      <p:sp>
        <p:nvSpPr>
          <p:cNvPr id="18" name="Text 16"/>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9" name="Text 17"/>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20" name="Text 18"/>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21" name="Shape 19"/>
          <p:cNvSpPr/>
          <p:nvPr/>
        </p:nvSpPr>
        <p:spPr>
          <a:xfrm>
            <a:off x="7845552" y="5111496"/>
            <a:ext cx="3538728" cy="0"/>
          </a:xfrm>
          <a:prstGeom prst="line">
            <a:avLst/>
          </a:prstGeom>
          <a:noFill/>
          <a:ln w="12700">
            <a:solidFill>
              <a:srgbClr val="C8D5DE"/>
            </a:solidFill>
            <a:prstDash val="solid"/>
          </a:ln>
        </p:spPr>
      </p:sp>
      <p:sp>
        <p:nvSpPr>
          <p:cNvPr id="22" name="Text 20"/>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Three-manufacturer comparison sprint</a:t>
            </a:r>
            <a:endParaRPr lang="en-US" sz="1050" dirty="0"/>
          </a:p>
        </p:txBody>
      </p:sp>
      <p:sp>
        <p:nvSpPr>
          <p:cNvPr id="23" name="Text 21"/>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4" name="Shape 22"/>
          <p:cNvSpPr/>
          <p:nvPr/>
        </p:nvSpPr>
        <p:spPr>
          <a:xfrm>
            <a:off x="603504" y="6318504"/>
            <a:ext cx="10972800" cy="0"/>
          </a:xfrm>
          <a:prstGeom prst="line">
            <a:avLst/>
          </a:prstGeom>
          <a:noFill/>
          <a:ln w="10160">
            <a:solidFill>
              <a:srgbClr val="D5E0E7"/>
            </a:solidFill>
            <a:prstDash val="solid"/>
          </a:ln>
        </p:spPr>
      </p:sp>
      <p:sp>
        <p:nvSpPr>
          <p:cNvPr id="25" name="Text 23"/>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6" name="Text 24"/>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Defend the quality of the comparison</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Teams swap matrices and check whether evidence is current, comparable, and application-related.</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Each group explains one meaningful difference and one dimension that cannot yet be fairly compared.</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Defend the quality of the comparison</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7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P2 checklist: has a real comparison been made?</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Check three manufacturers/models, required technical attributes, practical factors, citations, and balanced discussion.</a:t>
            </a:r>
            <a:endParaRPr lang="en-US" sz="1650" dirty="0"/>
          </a:p>
        </p:txBody>
      </p:sp>
      <p:sp>
        <p:nvSpPr>
          <p:cNvPr id="13" name="Shape 11"/>
          <p:cNvSpPr/>
          <p:nvPr/>
        </p:nvSpPr>
        <p:spPr>
          <a:xfrm>
            <a:off x="713232" y="2816352"/>
            <a:ext cx="100584" cy="100584"/>
          </a:xfrm>
          <a:prstGeom prst="ellipse">
            <a:avLst/>
          </a:prstGeom>
          <a:solidFill>
            <a:srgbClr val="C58B28"/>
          </a:solidFill>
          <a:ln w="12700">
            <a:solidFill>
              <a:srgbClr val="C58B28">
                <a:alpha val="0"/>
              </a:srgbClr>
            </a:solidFill>
            <a:prstDash val="solid"/>
          </a:ln>
        </p:spPr>
      </p:sp>
      <p:sp>
        <p:nvSpPr>
          <p:cNvPr id="14" name="Text 12"/>
          <p:cNvSpPr/>
          <p:nvPr/>
        </p:nvSpPr>
        <p:spPr>
          <a:xfrm>
            <a:off x="969264" y="2706624"/>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Point out unsupported labels such as "more reliable" or "best value" without a defined evidence basis.</a:t>
            </a:r>
            <a:endParaRPr lang="en-US" sz="1650" dirty="0"/>
          </a:p>
        </p:txBody>
      </p:sp>
      <p:sp>
        <p:nvSpPr>
          <p:cNvPr id="15" name="Shape 13"/>
          <p:cNvSpPr/>
          <p:nvPr/>
        </p:nvSpPr>
        <p:spPr>
          <a:xfrm>
            <a:off x="7644384" y="1746504"/>
            <a:ext cx="3941064" cy="4352544"/>
          </a:xfrm>
          <a:prstGeom prst="rect">
            <a:avLst/>
          </a:prstGeom>
          <a:solidFill>
            <a:srgbClr val="E8EFF3"/>
          </a:solidFill>
          <a:ln w="15240">
            <a:solidFill>
              <a:srgbClr val="C8D5DE"/>
            </a:solidFill>
            <a:prstDash val="solid"/>
          </a:ln>
        </p:spPr>
      </p:sp>
      <p:sp>
        <p:nvSpPr>
          <p:cNvPr id="16" name="Text 14"/>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7" name="Text 15"/>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8" name="Text 16"/>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9" name="Shape 17"/>
          <p:cNvSpPr/>
          <p:nvPr/>
        </p:nvSpPr>
        <p:spPr>
          <a:xfrm>
            <a:off x="7845552" y="5111496"/>
            <a:ext cx="3538728" cy="0"/>
          </a:xfrm>
          <a:prstGeom prst="line">
            <a:avLst/>
          </a:prstGeom>
          <a:noFill/>
          <a:ln w="12700">
            <a:solidFill>
              <a:srgbClr val="C8D5DE"/>
            </a:solidFill>
            <a:prstDash val="solid"/>
          </a:ln>
        </p:spPr>
      </p:sp>
      <p:sp>
        <p:nvSpPr>
          <p:cNvPr id="20" name="Text 18"/>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P2 checklist: has a real comparison been made?</a:t>
            </a:r>
            <a:endParaRPr lang="en-US" sz="1050" dirty="0"/>
          </a:p>
        </p:txBody>
      </p:sp>
      <p:sp>
        <p:nvSpPr>
          <p:cNvPr id="21" name="Text 19"/>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2" name="Shape 20"/>
          <p:cNvSpPr/>
          <p:nvPr/>
        </p:nvSpPr>
        <p:spPr>
          <a:xfrm>
            <a:off x="603504" y="6318504"/>
            <a:ext cx="10972800" cy="0"/>
          </a:xfrm>
          <a:prstGeom prst="line">
            <a:avLst/>
          </a:prstGeom>
          <a:noFill/>
          <a:ln w="10160">
            <a:solidFill>
              <a:srgbClr val="D5E0E7"/>
            </a:solidFill>
            <a:prstDash val="solid"/>
          </a:ln>
        </p:spPr>
      </p:sp>
      <p:sp>
        <p:nvSpPr>
          <p:cNvPr id="23" name="Text 2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4" name="Text 2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C58B28"/>
          </a:solidFill>
          <a:ln w="12700">
            <a:solidFill>
              <a:srgbClr val="C58B28">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C58B28"/>
                </a:solidFill>
                <a:latin typeface="Aptos" pitchFamily="34" charset="0"/>
                <a:ea typeface="Aptos" pitchFamily="34" charset="-122"/>
                <a:cs typeface="Aptos" pitchFamily="34" charset="-120"/>
              </a:rPr>
              <a:t>UNIT 5009    /    WEEK 02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8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C58B28"/>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C58B28"/>
                </a:solidFill>
                <a:latin typeface="Aptos" pitchFamily="34" charset="0"/>
                <a:ea typeface="Aptos" pitchFamily="34" charset="-122"/>
                <a:cs typeface="Aptos" pitchFamily="34" charset="-120"/>
              </a:rPr>
              <a:t>P2</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500" b="1" dirty="0">
                <a:solidFill>
                  <a:srgbClr val="1B3448"/>
                </a:solidFill>
                <a:latin typeface="Aptos Display" pitchFamily="34" charset="0"/>
                <a:ea typeface="Aptos Display" pitchFamily="34" charset="-122"/>
                <a:cs typeface="Aptos Display" pitchFamily="34" charset="-120"/>
              </a:rPr>
              <a:t>Exit ticket: strongest differentiator and missing fact</a:t>
            </a:r>
            <a:endParaRPr lang="en-US" sz="25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76656" y="1719072"/>
            <a:ext cx="1828800" cy="210312"/>
          </a:xfrm>
          <a:prstGeom prst="rect">
            <a:avLst/>
          </a:prstGeom>
          <a:noFill/>
          <a:ln/>
        </p:spPr>
        <p:txBody>
          <a:bodyPr wrap="square" lIns="0" tIns="0" rIns="0" bIns="0" rtlCol="0" anchor="ctr"/>
          <a:lstStyle/>
          <a:p>
            <a:pPr indent="0" marL="0">
              <a:buNone/>
            </a:pPr>
            <a:r>
              <a:rPr lang="en-US" sz="900" b="1" spc="100" kern="0" dirty="0">
                <a:solidFill>
                  <a:srgbClr val="C58B28"/>
                </a:solidFill>
                <a:latin typeface="Aptos" pitchFamily="34" charset="0"/>
                <a:ea typeface="Aptos" pitchFamily="34" charset="-122"/>
                <a:cs typeface="Aptos" pitchFamily="34" charset="-120"/>
              </a:rPr>
              <a:t>KEY IDEAS</a:t>
            </a:r>
            <a:endParaRPr lang="en-US" sz="900" dirty="0"/>
          </a:p>
        </p:txBody>
      </p:sp>
      <p:sp>
        <p:nvSpPr>
          <p:cNvPr id="11" name="Shape 9"/>
          <p:cNvSpPr/>
          <p:nvPr/>
        </p:nvSpPr>
        <p:spPr>
          <a:xfrm>
            <a:off x="713232" y="2139696"/>
            <a:ext cx="100584" cy="100584"/>
          </a:xfrm>
          <a:prstGeom prst="ellipse">
            <a:avLst/>
          </a:prstGeom>
          <a:solidFill>
            <a:srgbClr val="C58B28"/>
          </a:solidFill>
          <a:ln w="12700">
            <a:solidFill>
              <a:srgbClr val="C58B28">
                <a:alpha val="0"/>
              </a:srgbClr>
            </a:solidFill>
            <a:prstDash val="solid"/>
          </a:ln>
        </p:spPr>
      </p:sp>
      <p:sp>
        <p:nvSpPr>
          <p:cNvPr id="12" name="Text 10"/>
          <p:cNvSpPr/>
          <p:nvPr/>
        </p:nvSpPr>
        <p:spPr>
          <a:xfrm>
            <a:off x="969264" y="2029968"/>
            <a:ext cx="6327648" cy="566928"/>
          </a:xfrm>
          <a:prstGeom prst="rect">
            <a:avLst/>
          </a:prstGeom>
          <a:noFill/>
          <a:ln/>
        </p:spPr>
        <p:txBody>
          <a:bodyPr wrap="square" lIns="0" tIns="0" rIns="0" bIns="0" rtlCol="0" anchor="t">
            <a:normAutofit/>
          </a:bodyPr>
          <a:lstStyle/>
          <a:p>
            <a:pPr indent="0" marL="0">
              <a:buNone/>
            </a:pPr>
            <a:r>
              <a:rPr lang="en-US" sz="1650" dirty="0">
                <a:solidFill>
                  <a:srgbClr val="334B5C"/>
                </a:solidFill>
                <a:latin typeface="Aptos" pitchFamily="34" charset="0"/>
                <a:ea typeface="Aptos" pitchFamily="34" charset="-122"/>
                <a:cs typeface="Aptos" pitchFamily="34" charset="-120"/>
              </a:rPr>
              <a:t>Name one candidate difference relevant to MedPack, cite its evidence, and identify one missing fact that could affect selection.</a:t>
            </a:r>
            <a:endParaRPr lang="en-US" sz="1650" dirty="0"/>
          </a:p>
        </p:txBody>
      </p:sp>
      <p:sp>
        <p:nvSpPr>
          <p:cNvPr id="13" name="Shape 11"/>
          <p:cNvSpPr/>
          <p:nvPr/>
        </p:nvSpPr>
        <p:spPr>
          <a:xfrm>
            <a:off x="7644384" y="1746504"/>
            <a:ext cx="3941064" cy="4352544"/>
          </a:xfrm>
          <a:prstGeom prst="rect">
            <a:avLst/>
          </a:prstGeom>
          <a:solidFill>
            <a:srgbClr val="E8EFF3"/>
          </a:solidFill>
          <a:ln w="15240">
            <a:solidFill>
              <a:srgbClr val="C8D5DE"/>
            </a:solidFill>
            <a:prstDash val="solid"/>
          </a:ln>
        </p:spPr>
      </p:sp>
      <p:sp>
        <p:nvSpPr>
          <p:cNvPr id="14" name="Text 12"/>
          <p:cNvSpPr/>
          <p:nvPr/>
        </p:nvSpPr>
        <p:spPr>
          <a:xfrm>
            <a:off x="7845552" y="1911096"/>
            <a:ext cx="3538728" cy="246888"/>
          </a:xfrm>
          <a:prstGeom prst="rect">
            <a:avLst/>
          </a:prstGeom>
          <a:noFill/>
          <a:ln/>
        </p:spPr>
        <p:txBody>
          <a:bodyPr wrap="square" lIns="0" tIns="0" rIns="0" bIns="0" rtlCol="0" anchor="ctr"/>
          <a:lstStyle/>
          <a:p>
            <a:pPr indent="0" marL="0">
              <a:buNone/>
            </a:pPr>
            <a:r>
              <a:rPr lang="en-US" sz="900" b="1" spc="80" kern="0" dirty="0">
                <a:solidFill>
                  <a:srgbClr val="C58B28"/>
                </a:solidFill>
                <a:latin typeface="Aptos" pitchFamily="34" charset="0"/>
                <a:ea typeface="Aptos" pitchFamily="34" charset="-122"/>
                <a:cs typeface="Aptos" pitchFamily="34" charset="-120"/>
              </a:rPr>
              <a:t>IMAGE PLACEHOLDER</a:t>
            </a:r>
            <a:endParaRPr lang="en-US" sz="900" dirty="0"/>
          </a:p>
        </p:txBody>
      </p:sp>
      <p:sp>
        <p:nvSpPr>
          <p:cNvPr id="15" name="Text 13"/>
          <p:cNvSpPr/>
          <p:nvPr/>
        </p:nvSpPr>
        <p:spPr>
          <a:xfrm>
            <a:off x="7900416" y="3072384"/>
            <a:ext cx="3429000" cy="347472"/>
          </a:xfrm>
          <a:prstGeom prst="rect">
            <a:avLst/>
          </a:prstGeom>
          <a:noFill/>
          <a:ln/>
        </p:spPr>
        <p:txBody>
          <a:bodyPr wrap="square" lIns="0" tIns="0" rIns="0" bIns="0" rtlCol="0" anchor="ctr"/>
          <a:lstStyle/>
          <a:p>
            <a:pPr algn="ctr" indent="0" marL="0">
              <a:buNone/>
            </a:pPr>
            <a:r>
              <a:rPr lang="en-US" sz="1700" b="1" dirty="0">
                <a:solidFill>
                  <a:srgbClr val="7A8F9D"/>
                </a:solidFill>
                <a:latin typeface="Aptos Display" pitchFamily="34" charset="0"/>
                <a:ea typeface="Aptos Display" pitchFamily="34" charset="-122"/>
                <a:cs typeface="Aptos Display" pitchFamily="34" charset="-120"/>
              </a:rPr>
              <a:t>ADD PHOTO OR DIAGRAM</a:t>
            </a:r>
            <a:endParaRPr lang="en-US" sz="1700" dirty="0"/>
          </a:p>
        </p:txBody>
      </p:sp>
      <p:sp>
        <p:nvSpPr>
          <p:cNvPr id="16" name="Text 14"/>
          <p:cNvSpPr/>
          <p:nvPr/>
        </p:nvSpPr>
        <p:spPr>
          <a:xfrm>
            <a:off x="7900416" y="3465576"/>
            <a:ext cx="3429000" cy="301752"/>
          </a:xfrm>
          <a:prstGeom prst="rect">
            <a:avLst/>
          </a:prstGeom>
          <a:noFill/>
          <a:ln/>
        </p:spPr>
        <p:txBody>
          <a:bodyPr wrap="square" lIns="0" tIns="0" rIns="0" bIns="0" rtlCol="0" anchor="ctr"/>
          <a:lstStyle/>
          <a:p>
            <a:pPr algn="ctr" indent="0" marL="0">
              <a:buNone/>
            </a:pPr>
            <a:r>
              <a:rPr lang="en-US" sz="1150" dirty="0">
                <a:solidFill>
                  <a:srgbClr val="607585"/>
                </a:solidFill>
                <a:latin typeface="Aptos" pitchFamily="34" charset="0"/>
                <a:ea typeface="Aptos" pitchFamily="34" charset="-122"/>
                <a:cs typeface="Aptos" pitchFamily="34" charset="-120"/>
              </a:rPr>
              <a:t>Leave this area open for the final visual</a:t>
            </a:r>
            <a:endParaRPr lang="en-US" sz="1150" dirty="0"/>
          </a:p>
        </p:txBody>
      </p:sp>
      <p:sp>
        <p:nvSpPr>
          <p:cNvPr id="17" name="Shape 15"/>
          <p:cNvSpPr/>
          <p:nvPr/>
        </p:nvSpPr>
        <p:spPr>
          <a:xfrm>
            <a:off x="7845552" y="5111496"/>
            <a:ext cx="3538728" cy="0"/>
          </a:xfrm>
          <a:prstGeom prst="line">
            <a:avLst/>
          </a:prstGeom>
          <a:noFill/>
          <a:ln w="12700">
            <a:solidFill>
              <a:srgbClr val="C8D5DE"/>
            </a:solidFill>
            <a:prstDash val="solid"/>
          </a:ln>
        </p:spPr>
      </p:sp>
      <p:sp>
        <p:nvSpPr>
          <p:cNvPr id="18" name="Text 16"/>
          <p:cNvSpPr/>
          <p:nvPr/>
        </p:nvSpPr>
        <p:spPr>
          <a:xfrm>
            <a:off x="7845552" y="5239512"/>
            <a:ext cx="3538728" cy="384048"/>
          </a:xfrm>
          <a:prstGeom prst="rect">
            <a:avLst/>
          </a:prstGeom>
          <a:noFill/>
          <a:ln/>
        </p:spPr>
        <p:txBody>
          <a:bodyPr wrap="square" lIns="0" tIns="0" rIns="0" bIns="0" rtlCol="0" anchor="ctr"/>
          <a:lstStyle/>
          <a:p>
            <a:pPr indent="0" marL="0">
              <a:buNone/>
            </a:pPr>
            <a:r>
              <a:rPr lang="en-US" sz="1050" b="1" dirty="0">
                <a:solidFill>
                  <a:srgbClr val="1B3448"/>
                </a:solidFill>
                <a:latin typeface="Aptos" pitchFamily="34" charset="0"/>
                <a:ea typeface="Aptos" pitchFamily="34" charset="-122"/>
                <a:cs typeface="Aptos" pitchFamily="34" charset="-120"/>
              </a:rPr>
              <a:t>VISUAL BRIEF  /  Exit ticket: strongest differentiator and missing fact</a:t>
            </a:r>
            <a:endParaRPr lang="en-US" sz="1050" dirty="0"/>
          </a:p>
        </p:txBody>
      </p:sp>
      <p:sp>
        <p:nvSpPr>
          <p:cNvPr id="19" name="Text 17"/>
          <p:cNvSpPr/>
          <p:nvPr/>
        </p:nvSpPr>
        <p:spPr>
          <a:xfrm>
            <a:off x="7845552" y="5650992"/>
            <a:ext cx="3538728" cy="265176"/>
          </a:xfrm>
          <a:prstGeom prst="rect">
            <a:avLst/>
          </a:prstGeom>
          <a:noFill/>
          <a:ln/>
        </p:spPr>
        <p:txBody>
          <a:bodyPr wrap="square" lIns="0" tIns="0" rIns="0" bIns="0" rtlCol="0" anchor="ctr"/>
          <a:lstStyle/>
          <a:p>
            <a:pPr indent="0" marL="0">
              <a:buNone/>
            </a:pPr>
            <a:r>
              <a:rPr lang="en-US" sz="900" dirty="0">
                <a:solidFill>
                  <a:srgbClr val="607585"/>
                </a:solidFill>
                <a:latin typeface="Aptos" pitchFamily="34" charset="0"/>
                <a:ea typeface="Aptos" pitchFamily="34" charset="-122"/>
                <a:cs typeface="Aptos" pitchFamily="34" charset="-120"/>
              </a:rPr>
              <a:t>Full image-generation prompt is in this slide's speaker notes.</a:t>
            </a:r>
            <a:endParaRPr lang="en-US" sz="900" dirty="0"/>
          </a:p>
        </p:txBody>
      </p:sp>
      <p:sp>
        <p:nvSpPr>
          <p:cNvPr id="20" name="Shape 18"/>
          <p:cNvSpPr/>
          <p:nvPr/>
        </p:nvSpPr>
        <p:spPr>
          <a:xfrm>
            <a:off x="603504" y="6318504"/>
            <a:ext cx="10972800" cy="0"/>
          </a:xfrm>
          <a:prstGeom prst="line">
            <a:avLst/>
          </a:prstGeom>
          <a:noFill/>
          <a:ln w="10160">
            <a:solidFill>
              <a:srgbClr val="D5E0E7"/>
            </a:solidFill>
            <a:prstDash val="solid"/>
          </a:ln>
        </p:spPr>
      </p:sp>
      <p:sp>
        <p:nvSpPr>
          <p:cNvPr id="21" name="Text 19"/>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PLC TYPES, APPLICATIONS, AND MANUFACTURERS</a:t>
            </a:r>
            <a:endParaRPr lang="en-US" sz="800" dirty="0"/>
          </a:p>
        </p:txBody>
      </p:sp>
      <p:sp>
        <p:nvSpPr>
          <p:cNvPr id="22" name="Text 20"/>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Unit 5009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02: PLC Types, Applications, and Manufacturers</dc:title>
  <dc:subject>LO1 weekly teaching presentation</dc:subject>
  <dc:creator>Unit 5009 Teaching Materials</dc:creator>
  <cp:lastModifiedBy>Unit 5009 Teaching Materials</cp:lastModifiedBy>
  <cp:revision>1</cp:revision>
  <dcterms:created xsi:type="dcterms:W3CDTF">2026-10-13T19:12:29Z</dcterms:created>
  <dcterms:modified xsi:type="dcterms:W3CDTF">2026-10-13T19:12:29Z</dcterms:modified>
</cp:coreProperties>
</file>