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PLC Specifications and I/O Modules | Week 03 | LO1
Slide 1 of 18 | Suggested time: 5 minutes | Criteria: P2
TEACHING NOTES AND ACTIVITY CUES
1. Present claims such as "more memory means faster," "relay output handles any load," and "highest scan speed always wins."
2. Learners mark true/false/depends and justify the "depends" cases.
IMAGE PROMPT
Create an original, technically plausible landscape visual for a vocational engineering presentation about Specification myth-buster. Show: Present claims such as "more memory means faster," "relay output handles any load," and "highest scan speed always wins." Learners mark true/false/depends and justify the "depends" cases.. Use an editorial technical-illustration style with accurate industrial components, a clean pale background, and restrained navy, teal, and muted amber accents. Compose the subject clearly for a right-side image panel. Do not include text, labels, numbers, logos, watermarks, or branded equipment.
IMAGE PLACEMENT
Replace the labelled image placeholder on the right with the generated or selected visual. Keep the title and key ideas unobstructed.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PLC Specifications and I/O Modules | Week 03 | LO1
Slide 2 of 18 | Suggested time: 5 minutes | Criteria: P2
TEACHING NOTES AND ACTIVITY CUES
1. Display Week 2 matrices and identify missing electrical/performance evidence.
2. Select two gaps to investigate during the session.
IMAGE PROMPT
Create an original, technically plausible landscape visual for a vocational engineering presentation about Revisit the three candidate PLCs. Show: Display Week 2 matrices and identify missing electrical/performance evidence. Select two gaps to investigate during the session.. Use an editorial technical-illustration style with accurate industrial components, a clean pale background, and restrained navy, teal, and muted amber accents. Compose the subject clearly for a right-side image panel. Do not include text, labels, numbers, logos, watermarks, or branded equipment.
IMAGE PLACEMENT
Replace the labelled image placeholder on the right with the generated or selected visual. Keep the title and key ideas unobstructed.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PLC Specifications and I/O Modules | Week 03 | LO1
Slide 3 of 18 | Suggested time: 5 minutes | Criteria: P2
TEACHING NOTES AND ACTIVITY CUES
1. Frame every number as requirement -&gt; specification -&gt; system consequence -&gt; verification.
IMAGE PROMPT
Create an original, technically plausible landscape visual for a vocational engineering presentation about Specification-to-application chain. Show: Frame every number as requirement -&gt; specification -&gt; system consequence -&gt; verification.. Use an editorial technical-illustration style with accurate industrial components, a clean pale background, and restrained navy, teal, and muted amber accents. Compose the subject clearly for a right-side image panel. Do not include text, labels, numbers, logos, watermarks, or branded equipment.
IMAGE PLACEMENT
Replace the labelled image placeholder on the right with the generated or selected visual. Keep the title and key ideas unobstructed.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PLC Specifications and I/O Modules | Week 03 | LO1
Slide 4 of 18 | Suggested time: 12 minutes | Criteria: P2
TEACHING NOTES AND ACTIVITY CUES
1. Explain a typical input update, logic execution, output update, and communications sequence; note exact behaviour differs by architecture/configuration.
2. Distinguish scan time, task period, I/O refresh, and end-to-end response time.
3. Use a timing diagram for sensor transition to actuator output.
IMAGE PROMPT
Create an original, technically plausible landscape visual for a vocational engineering presentation about PLC scan and response timing. Show: Explain a typical input update, logic execution, output update, and communications sequence; note exact behaviour differs by architecture/configuration. Distinguish scan time, task period, I/O refresh, and end-to-end response time.. Use an editorial technical-illustration style with accurate industrial components, a clean pale background, and restrained navy, teal, and muted amber accents. Compose the subject clearly for a right-side image panel. Do not include text, labels, numbers, logos, watermarks, or branded equipment.
IMAGE PLACEMENT
Replace the labelled image placeholder on the right with the generated or selected visual. Keep the title and key ideas unobstructed.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PLC Specifications and I/O Modules | Week 03 | LO1
Slide 5 of 18 | Suggested time: 13 minutes | Criteria: P2
TEACHING NOTES AND ACTIVITY CUES
1. Compare CPU performance, worst-case/task timing, high-speed counter frequency, input filter, remote-I/O update, and output switching limits.
2. Relate these to pill pulse width and maximum event rate; test whether normal input scanning can reliably see each event.
3. Explain that a high-speed counter or capture input may be required if pulses are too short/fast.
IMAGE PROMPT
Create an original, technically plausible landscape visual for a vocational engineering presentation about Speed and pulse-event capture. Show: Compare CPU performance, worst-case/task timing, high-speed counter frequency, input filter, remote-I/O update, and output switching limits. Relate these to pill pulse width and maximum event rate; test whether normal input scanning can reliably see each event.. Use an editorial technical-illustration style with accurate industrial components, a clean pale background, and restrained navy, teal, and muted amber accents. Compose the subject clearly for a right-side image panel. Do not include text, labels, numbers, logos, watermarks, or branded equipment.
IMAGE PLACEMENT
Replace the labelled image placeholder on the right with the generated or selected visual. Keep the title and key ideas unobstructed.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PLC Specifications and I/O Modules | Week 03 | LO1
Slide 6 of 18 | Suggested time: 12 minutes | Criteria: P2
TEACHING NOTES AND ACTIVITY CUES
1. Read PLC supply range, digital input thresholds/current, output voltage/current, per-point/group limits, isolation, and temperature derating.
2. Include load inrush, inductive loads, wiring/common arrangements, fusing, and power budgeting.
3. Worked example: compare a hypothetical actuator coil nameplate and relay-module rating; list all missing assumptions before approval.
IMAGE PROMPT
Create an original, technically plausible landscape visual for a vocational engineering presentation about Voltage and current compatibility. Show: Read PLC supply range, digital input thresholds/current, output voltage/current, per-point/group limits, isolation, and temperature derating. Include load inrush, inductive loads, wiring/common arrangements, fusing, and power budgeting.. Use an editorial technical-illustration style with accurate industrial components, a clean pale background, and restrained navy, teal, and muted amber accents. Compose the subject clearly for a right-side image panel. Do not include text, labels, numbers, logos, watermarks, or branded equipment.
IMAGE PLACEMENT
Replace the labelled image placeholder on the right with the generated or selected visual. Keep the title and key ideas unobstructed.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PLC Specifications and I/O Modules | Week 03 | LO1
Slide 7 of 18 | Suggested time: 13 minutes | Criteria: P2
TEACHING NOTES AND ACTIVITY CUES
1. Distinguish program memory, data/work memory, retentive memory, removable storage, and event logging.
2. Check ambient temperature, vibration, EMC, enclosure, firmware lifecycle, backup/restore, and replacement availability.
3. Decide what count/state should survive power loss and what reset policy applies.
IMAGE PROMPT
Create an original, technically plausible landscape visual for a vocational engineering presentation about Memory, retention, environment, and lifecycle. Show: Distinguish program memory, data/work memory, retentive memory, removable storage, and event logging. Check ambient temperature, vibration, EMC, enclosure, firmware lifecycle, backup/restore, and replacement availability.. Use an editorial technical-illustration style with accurate industrial components, a clean pale background, and restrained navy, teal, and muted amber accents. Compose the subject clearly for a right-side image panel. Do not include text, labels, numbers, logos, watermarks, or branded equipment.
IMAGE PLACEMENT
Replace the labelled image placeholder on the right with the generated or selected visual. Keep the title and key ideas unobstructed.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PLC Specifications and I/O Modules | Week 03 | LO1
Slide 8 of 18 | Suggested time: 10 minutes | Criteria: P2
TEACHING NOTES AND ACTIVITY CUES
1. Mechanical contacts; AC/DC use only within stated ratings; contact life, switching frequency, isolation details, and load category.
2. Check inductive inrush and suppression guidance; a nameplate current rating alone is insufficient.
3. Discuss when an interposing relay/contactor is appropriate.
IMAGE PROMPT
Create an original, technically plausible landscape visual for a vocational engineering presentation about Relay outputs. Show: Mechanical contacts; AC/DC use only within stated ratings; contact life, switching frequency, isolation details, and load category. Check inductive inrush and suppression guidance; a nameplate current rating alone is insufficient.. Use an editorial technical-illustration style with accurate industrial components, a clean pale background, and restrained navy, teal, and muted amber accents. Compose the subject clearly for a right-side image panel. Do not include text, labels, numbers, logos, watermarks, or branded equipment.
IMAGE PLACEMENT
Replace the labelled image placeholder on the right with the generated or selected visual. Keep the title and key ideas unobstructed.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PLC Specifications and I/O Modules | Week 03 | LO1
Slide 9 of 18 | Suggested time: 15 minutes | Criteria: P2
TEACHING NOTES AND ACTIVITY CUES
1. Triac: AC switching, leakage current, minimum load and off-state behaviour; generally not for DC loads.
2. Transistor: DC switching, source/sink polarity, leakage, channel/group limits, and high-speed capability where rated.
3. Compare switching rate, life, electrical compatibility, and likely interface for a buzzer/actuator.
IMAGE PROMPT
Create an original, technically plausible landscape visual for a vocational engineering presentation about Triac and transistor outputs. Show: Triac: AC switching, leakage current, minimum load and off-state behaviour; generally not for DC loads. Transistor: DC switching, source/sink polarity, leakage, channel/group limits, and high-speed capability where rated.. Use an editorial technical-illustration style with accurate industrial components, a clean pale background, and restrained navy, teal, and muted amber accents. Compose the subject clearly for a right-side image panel. Do not include text, labels, numbers, logos, watermarks, or branded equipment.
IMAGE PLACEMENT
Replace the labelled image placeholder on the right with the generated or selected visual. Keep the title and key ideas unobstructed.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PLC Specifications and I/O Modules | Week 03 | LO1
Slide 10 of 18 | Suggested time: 10 minutes | Criteria: P2
TEACHING NOTES AND ACTIVITY CUES
1. Explain sensor signal conditioning, analogue-to-digital conversion, raw count, configured range, scaling, filtering, update time, and isolation.
2. Contrast resolution with accuracy, repeatability, and total measurement uncertainty.
3. Identify ADC input versus DAC/analogue output direction.
IMAGE PROMPT
Create an original, technically plausible landscape visual for a vocational engineering presentation about Analogue input modules and ADC. Show: Explain sensor signal conditioning, analogue-to-digital conversion, raw count, configured range, scaling, filtering, update time, and isolation. Contrast resolution with accuracy, repeatability, and total measurement uncertainty.. Use an editorial technical-illustration style with accurate industrial components, a clean pale background, and restrained navy, teal, and muted amber accents. Compose the subject clearly for a right-side image panel. Do not include text, labels, numbers, logos, watermarks, or branded equipment.
IMAGE PLACEMENT
Replace the labelled image placeholder on the right with the generated or selected visual. Keep the title and key ideas unobstructed.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PLC Specifications and I/O Modules | Week 03 | LO1
Slide 11 of 18 | Suggested time: 10 minutes | Criteria: P2
TEACHING NOTES AND ACTIVITY CUES
1. Locate operating conditions, per-channel/group ratings, load type, isolation, derating, and wiring limits in an official manual.
2. Students cite page/table and record the exact part number and document revision.
IMAGE PROMPT
Create an original, technically plausible landscape visual for a vocational engineering presentation about Read the electrical ratings table. Show: Locate operating conditions, per-channel/group ratings, load type, isolation, derating, and wiring limits in an official manual. Students cite page/table and record the exact part number and document revision.. Use an editorial technical-illustration style with accurate industrial components, a clean pale background, and restrained navy, teal, and muted amber accents. Compose the subject clearly for a right-side image panel. Do not include text, labels, numbers, logos, watermarks, or branded equipment.
IMAGE PLACEMENT
Replace the labelled image placeholder on the right with the generated or selected visual. Keep the title and key ideas unobstructed.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PLC Specifications and I/O Modules | Week 03 | LO1
Slide 12 of 18 | Suggested time: 15 minutes | Criteria: P2
TEACHING NOTES AND ACTIVITY CUES
1. Four cases: infrequent AC load, frequent DC switching, fast DC pulse output, and a load above a candidate channel rating.
2. Match relay/triac/transistor/external interface and state required safeguards.
3. Make clear no module choice is valid until supply, current, inrush, frequency, and environment are verified.
IMAGE PROMPT
Create an original, technically plausible landscape visual for a vocational engineering presentation about Select an output interface for stated loads. Show: Four cases: infrequent AC load, frequent DC switching, fast DC pulse output, and a load above a candidate channel rating. Match relay/triac/transistor/external interface and state required safeguards.. Use an editorial technical-illustration style with accurate industrial components, a clean pale background, and restrained navy, teal, and muted amber accents. Compose the subject clearly for a right-side image panel. Do not include text, labels, numbers, logos, watermarks, or branded equipment.
IMAGE PLACEMENT
Replace the labelled image placeholder on the right with the generated or selected visual. Keep the title and key ideas unobstructed.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PLC Specifications and I/O Modules | Week 03 | LO1
Slide 13 of 18 | Suggested time: 10 minutes | Criteria: P2
TEACHING NOTES AND ACTIVITY CUES
1. Compare a 0-10 V device with a 4-20 mA device and the candidate module's configured range.
2. Calculate engineering-unit scaling from a clearly supplied hypothetical range.
3. Discuss wire fault clues, resolution, accuracy, update rate, and isolation.
IMAGE PROMPT
Create an original, technically plausible landscape visual for a vocational engineering presentation about Select an analogue input for an instrument. Show: Compare a 0-10 V device with a 4-20 mA device and the candidate module's configured range. Calculate engineering-unit scaling from a clearly supplied hypothetical range.. Use an editorial technical-illustration style with accurate industrial components, a clean pale background, and restrained navy, teal, and muted amber accents. Compose the subject clearly for a right-side image panel. Do not include text, labels, numbers, logos, watermarks, or branded equipment.
IMAGE PLACEMENT
Replace the labelled image placeholder on the right with the generated or selected visual. Keep the title and key ideas unobstructed.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PLC Specifications and I/O Modules | Week 03 | LO1
Slide 14 of 18 | Suggested time: 10 minutes | Criteria: P2
TEACHING NOTES AND ACTIVITY CUES
1. Count local and remote I/O; check compatible expansion, module order, power capacity, network nodes, and spare capacity rationale.
2. Add required modules and interfaces to the MedPack block diagram.
IMAGE PROMPT
Create an original, technically plausible landscape visual for a vocational engineering presentation about Expansion and system architecture. Show: Count local and remote I/O; check compatible expansion, module order, power capacity, network nodes, and spare capacity rationale. Add required modules and interfaces to the MedPack block diagram.. Use an editorial technical-illustration style with accurate industrial components, a clean pale background, and restrained navy, teal, and muted amber accents. Compose the subject clearly for a right-side image panel. Do not include text, labels, numbers, logos, watermarks, or branded equipment.
IMAGE PLACEMENT
Replace the labelled image placeholder on the right with the generated or selected visual. Keep the title and key ideas unobstructed.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PLC Specifications and I/O Modules | Week 03 | LO1
Slide 15 of 18 | Suggested time: 20 minutes | Criteria: P2
TEACHING NOTES AND ACTIVITY CUES
1. Teams audit all three PLC candidates against mandatory I/O and electrical requirements.
2. Use pass/fail/unknown; a failed mandatory voltage/current/safety requirement cannot be hidden in a weighted average.
IMAGE PROMPT
Create an original, technically plausible landscape visual for a vocational engineering presentation about Candidate-by-candidate compatibility audit. Show: Teams audit all three PLC candidates against mandatory I/O and electrical requirements. Use pass/fail/unknown; a failed mandatory voltage/current/safety requirement cannot be hidden in a weighted average.. Use an editorial technical-illustration style with accurate industrial components, a clean pale background, and restrained navy, teal, and muted amber accents. Compose the subject clearly for a right-side image panel. Do not include text, labels, numbers, logos, watermarks, or branded equipment.
IMAGE PLACEMENT
Replace the labelled image placeholder on the right with the generated or selected visual. Keep the title and key ideas unobstructed.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PLC Specifications and I/O Modules | Week 03 | LO1
Slide 16 of 18 | Suggested time: 20 minutes | Criteria: P2
TEACHING NOTES AND ACTIVITY CUES
1. Teams exchange one claim and locate the supporting manual page.
2. Correct false equivalences: resolution/accuracy, scan time/response, relay rating/load category, and output current/usable group current.
IMAGE PROMPT
Create an original, technically plausible landscape visual for a vocational engineering presentation about Datasheet evidence clinic. Show: Teams exchange one claim and locate the supporting manual page. Correct false equivalences: resolution/accuracy, scan time/response, relay rating/load category, and output current/usable group current.. Use an editorial technical-illustration style with accurate industrial components, a clean pale background, and restrained navy, teal, and muted amber accents. Compose the subject clearly for a right-side image panel. Do not include text, labels, numbers, logos, watermarks, or branded equipment.
IMAGE PLACEMENT
Replace the labelled image placeholder on the right with the generated or selected visual. Keep the title and key ideas unobstructed.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PLC Specifications and I/O Modules | Week 03 | LO1
Slide 17 of 18 | Suggested time: 7 minutes | Criteria: P2
TEACHING NOTES AND ACTIVITY CUES
1. Add speed, voltage/current, memory, and module details with citations or mark unknown.
2. Identify which candidate feature matters most to the station and why.
IMAGE PROMPT
Create an original, technically plausible landscape visual for a vocational engineering presentation about Update the P2 comparison matrix. Show: Add speed, voltage/current, memory, and module details with citations or mark unknown. Identify which candidate feature matters most to the station and why.. Use an editorial technical-illustration style with accurate industrial components, a clean pale background, and restrained navy, teal, and muted amber accents. Compose the subject clearly for a right-side image panel. Do not include text, labels, numbers, logos, watermarks, or branded equipment.
IMAGE PLACEMENT
Replace the labelled image placeholder on the right with the generated or selected visual. Keep the title and key ideas unobstructed.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PLC Specifications and I/O Modules | Week 03 | LO1
Slide 18 of 18 | Suggested time: 8 minutes | Criteria: P2
TEACHING NOTES AND ACTIVITY CUES
1. Given one sensor and one load specification, state whether a candidate PLC is compatible, what evidence supports the judgement, and what still needs checking.
IMAGE PROMPT
Create an original, technically plausible landscape visual for a vocational engineering presentation about Exit ticket: compatibility judgement. Show: Given one sensor and one load specification, state whether a candidate PLC is compatible, what evidence supports the judgement, and what still needs checking.. Use an editorial technical-illustration style with accurate industrial components, a clean pale background, and restrained navy, teal, and muted amber accents. Compose the subject clearly for a right-side image panel. Do not include text, labels, numbers, logos, watermarks, or branded equipment.
IMAGE PLACEMENT
Replace the labelled image placeholder on the right with the generated or selected visual. Keep the title and key ideas unobstructed.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3F7394"/>
          </a:solidFill>
          <a:ln w="12700">
            <a:solidFill>
              <a:srgbClr val="3F7394">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3F7394"/>
                </a:solidFill>
                <a:latin typeface="Aptos" pitchFamily="34" charset="0"/>
                <a:ea typeface="Aptos" pitchFamily="34" charset="-122"/>
                <a:cs typeface="Aptos" pitchFamily="34" charset="-120"/>
              </a:rPr>
              <a:t>UNIT 5009    /    WEEK 03    /    LO1</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5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3F7394"/>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3F7394"/>
                </a:solidFill>
                <a:latin typeface="Aptos" pitchFamily="34" charset="0"/>
                <a:ea typeface="Aptos" pitchFamily="34" charset="-122"/>
                <a:cs typeface="Aptos" pitchFamily="34" charset="-120"/>
              </a:rPr>
              <a:t>P2</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Specification myth-buster</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76656" y="1719072"/>
            <a:ext cx="1828800" cy="210312"/>
          </a:xfrm>
          <a:prstGeom prst="rect">
            <a:avLst/>
          </a:prstGeom>
          <a:noFill/>
          <a:ln/>
        </p:spPr>
        <p:txBody>
          <a:bodyPr wrap="square" lIns="0" tIns="0" rIns="0" bIns="0" rtlCol="0" anchor="ctr"/>
          <a:lstStyle/>
          <a:p>
            <a:pPr indent="0" marL="0">
              <a:buNone/>
            </a:pPr>
            <a:r>
              <a:rPr lang="en-US" sz="900" b="1" spc="100" kern="0" dirty="0">
                <a:solidFill>
                  <a:srgbClr val="3F7394"/>
                </a:solidFill>
                <a:latin typeface="Aptos" pitchFamily="34" charset="0"/>
                <a:ea typeface="Aptos" pitchFamily="34" charset="-122"/>
                <a:cs typeface="Aptos" pitchFamily="34" charset="-120"/>
              </a:rPr>
              <a:t>KEY IDEAS</a:t>
            </a:r>
            <a:endParaRPr lang="en-US" sz="900" dirty="0"/>
          </a:p>
        </p:txBody>
      </p:sp>
      <p:sp>
        <p:nvSpPr>
          <p:cNvPr id="11" name="Shape 9"/>
          <p:cNvSpPr/>
          <p:nvPr/>
        </p:nvSpPr>
        <p:spPr>
          <a:xfrm>
            <a:off x="713232" y="2139696"/>
            <a:ext cx="100584" cy="100584"/>
          </a:xfrm>
          <a:prstGeom prst="ellipse">
            <a:avLst/>
          </a:prstGeom>
          <a:solidFill>
            <a:srgbClr val="3F7394"/>
          </a:solidFill>
          <a:ln w="12700">
            <a:solidFill>
              <a:srgbClr val="3F7394">
                <a:alpha val="0"/>
              </a:srgbClr>
            </a:solidFill>
            <a:prstDash val="solid"/>
          </a:ln>
        </p:spPr>
      </p:sp>
      <p:sp>
        <p:nvSpPr>
          <p:cNvPr id="12" name="Text 10"/>
          <p:cNvSpPr/>
          <p:nvPr/>
        </p:nvSpPr>
        <p:spPr>
          <a:xfrm>
            <a:off x="969264" y="2029968"/>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Present claims such as "more memory means faster," "relay output handles any load," and "highest scan speed always wins."</a:t>
            </a:r>
            <a:endParaRPr lang="en-US" sz="1650" dirty="0"/>
          </a:p>
        </p:txBody>
      </p:sp>
      <p:sp>
        <p:nvSpPr>
          <p:cNvPr id="13" name="Shape 11"/>
          <p:cNvSpPr/>
          <p:nvPr/>
        </p:nvSpPr>
        <p:spPr>
          <a:xfrm>
            <a:off x="713232" y="2816352"/>
            <a:ext cx="100584" cy="100584"/>
          </a:xfrm>
          <a:prstGeom prst="ellipse">
            <a:avLst/>
          </a:prstGeom>
          <a:solidFill>
            <a:srgbClr val="3F7394"/>
          </a:solidFill>
          <a:ln w="12700">
            <a:solidFill>
              <a:srgbClr val="3F7394">
                <a:alpha val="0"/>
              </a:srgbClr>
            </a:solidFill>
            <a:prstDash val="solid"/>
          </a:ln>
        </p:spPr>
      </p:sp>
      <p:sp>
        <p:nvSpPr>
          <p:cNvPr id="14" name="Text 12"/>
          <p:cNvSpPr/>
          <p:nvPr/>
        </p:nvSpPr>
        <p:spPr>
          <a:xfrm>
            <a:off x="969264" y="2706624"/>
            <a:ext cx="6327648" cy="329184"/>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Learners mark true/false/depends and justify the "depends" cases.</a:t>
            </a:r>
            <a:endParaRPr lang="en-US" sz="1650" dirty="0"/>
          </a:p>
        </p:txBody>
      </p:sp>
      <p:sp>
        <p:nvSpPr>
          <p:cNvPr id="15" name="Shape 13"/>
          <p:cNvSpPr/>
          <p:nvPr/>
        </p:nvSpPr>
        <p:spPr>
          <a:xfrm>
            <a:off x="7644384" y="1746504"/>
            <a:ext cx="3941064" cy="4352544"/>
          </a:xfrm>
          <a:prstGeom prst="rect">
            <a:avLst/>
          </a:prstGeom>
          <a:solidFill>
            <a:srgbClr val="E8EFF3"/>
          </a:solidFill>
          <a:ln w="15240">
            <a:solidFill>
              <a:srgbClr val="C8D5DE"/>
            </a:solidFill>
            <a:prstDash val="solid"/>
          </a:ln>
        </p:spPr>
      </p:sp>
      <p:sp>
        <p:nvSpPr>
          <p:cNvPr id="16" name="Text 14"/>
          <p:cNvSpPr/>
          <p:nvPr/>
        </p:nvSpPr>
        <p:spPr>
          <a:xfrm>
            <a:off x="7845552" y="1911096"/>
            <a:ext cx="3538728" cy="246888"/>
          </a:xfrm>
          <a:prstGeom prst="rect">
            <a:avLst/>
          </a:prstGeom>
          <a:noFill/>
          <a:ln/>
        </p:spPr>
        <p:txBody>
          <a:bodyPr wrap="square" lIns="0" tIns="0" rIns="0" bIns="0" rtlCol="0" anchor="ctr"/>
          <a:lstStyle/>
          <a:p>
            <a:pPr indent="0" marL="0">
              <a:buNone/>
            </a:pPr>
            <a:r>
              <a:rPr lang="en-US" sz="900" b="1" spc="80" kern="0" dirty="0">
                <a:solidFill>
                  <a:srgbClr val="3F7394"/>
                </a:solidFill>
                <a:latin typeface="Aptos" pitchFamily="34" charset="0"/>
                <a:ea typeface="Aptos" pitchFamily="34" charset="-122"/>
                <a:cs typeface="Aptos" pitchFamily="34" charset="-120"/>
              </a:rPr>
              <a:t>IMAGE PLACEHOLDER</a:t>
            </a:r>
            <a:endParaRPr lang="en-US" sz="900" dirty="0"/>
          </a:p>
        </p:txBody>
      </p:sp>
      <p:sp>
        <p:nvSpPr>
          <p:cNvPr id="17" name="Text 15"/>
          <p:cNvSpPr/>
          <p:nvPr/>
        </p:nvSpPr>
        <p:spPr>
          <a:xfrm>
            <a:off x="7900416" y="3072384"/>
            <a:ext cx="3429000" cy="347472"/>
          </a:xfrm>
          <a:prstGeom prst="rect">
            <a:avLst/>
          </a:prstGeom>
          <a:noFill/>
          <a:ln/>
        </p:spPr>
        <p:txBody>
          <a:bodyPr wrap="square" lIns="0" tIns="0" rIns="0" bIns="0" rtlCol="0" anchor="ctr"/>
          <a:lstStyle/>
          <a:p>
            <a:pPr algn="ctr" indent="0" marL="0">
              <a:buNone/>
            </a:pPr>
            <a:r>
              <a:rPr lang="en-US" sz="1700" b="1" dirty="0">
                <a:solidFill>
                  <a:srgbClr val="7A8F9D"/>
                </a:solidFill>
                <a:latin typeface="Aptos Display" pitchFamily="34" charset="0"/>
                <a:ea typeface="Aptos Display" pitchFamily="34" charset="-122"/>
                <a:cs typeface="Aptos Display" pitchFamily="34" charset="-120"/>
              </a:rPr>
              <a:t>ADD PHOTO OR DIAGRAM</a:t>
            </a:r>
            <a:endParaRPr lang="en-US" sz="1700" dirty="0"/>
          </a:p>
        </p:txBody>
      </p:sp>
      <p:sp>
        <p:nvSpPr>
          <p:cNvPr id="18" name="Text 16"/>
          <p:cNvSpPr/>
          <p:nvPr/>
        </p:nvSpPr>
        <p:spPr>
          <a:xfrm>
            <a:off x="7900416" y="3465576"/>
            <a:ext cx="3429000" cy="301752"/>
          </a:xfrm>
          <a:prstGeom prst="rect">
            <a:avLst/>
          </a:prstGeom>
          <a:noFill/>
          <a:ln/>
        </p:spPr>
        <p:txBody>
          <a:bodyPr wrap="square" lIns="0" tIns="0" rIns="0" bIns="0" rtlCol="0" anchor="ctr"/>
          <a:lstStyle/>
          <a:p>
            <a:pPr algn="ctr" indent="0" marL="0">
              <a:buNone/>
            </a:pPr>
            <a:r>
              <a:rPr lang="en-US" sz="1150" dirty="0">
                <a:solidFill>
                  <a:srgbClr val="607585"/>
                </a:solidFill>
                <a:latin typeface="Aptos" pitchFamily="34" charset="0"/>
                <a:ea typeface="Aptos" pitchFamily="34" charset="-122"/>
                <a:cs typeface="Aptos" pitchFamily="34" charset="-120"/>
              </a:rPr>
              <a:t>Leave this area open for the final visual</a:t>
            </a:r>
            <a:endParaRPr lang="en-US" sz="1150" dirty="0"/>
          </a:p>
        </p:txBody>
      </p:sp>
      <p:sp>
        <p:nvSpPr>
          <p:cNvPr id="19" name="Shape 17"/>
          <p:cNvSpPr/>
          <p:nvPr/>
        </p:nvSpPr>
        <p:spPr>
          <a:xfrm>
            <a:off x="7845552" y="5111496"/>
            <a:ext cx="3538728" cy="0"/>
          </a:xfrm>
          <a:prstGeom prst="line">
            <a:avLst/>
          </a:prstGeom>
          <a:noFill/>
          <a:ln w="12700">
            <a:solidFill>
              <a:srgbClr val="C8D5DE"/>
            </a:solidFill>
            <a:prstDash val="solid"/>
          </a:ln>
        </p:spPr>
      </p:sp>
      <p:sp>
        <p:nvSpPr>
          <p:cNvPr id="20" name="Text 18"/>
          <p:cNvSpPr/>
          <p:nvPr/>
        </p:nvSpPr>
        <p:spPr>
          <a:xfrm>
            <a:off x="7845552" y="5239512"/>
            <a:ext cx="3538728" cy="384048"/>
          </a:xfrm>
          <a:prstGeom prst="rect">
            <a:avLst/>
          </a:prstGeom>
          <a:noFill/>
          <a:ln/>
        </p:spPr>
        <p:txBody>
          <a:bodyPr wrap="square" lIns="0" tIns="0" rIns="0" bIns="0" rtlCol="0" anchor="ctr"/>
          <a:lstStyle/>
          <a:p>
            <a:pPr indent="0" marL="0">
              <a:buNone/>
            </a:pPr>
            <a:r>
              <a:rPr lang="en-US" sz="1050" b="1" dirty="0">
                <a:solidFill>
                  <a:srgbClr val="1B3448"/>
                </a:solidFill>
                <a:latin typeface="Aptos" pitchFamily="34" charset="0"/>
                <a:ea typeface="Aptos" pitchFamily="34" charset="-122"/>
                <a:cs typeface="Aptos" pitchFamily="34" charset="-120"/>
              </a:rPr>
              <a:t>VISUAL BRIEF  /  Specification myth-buster</a:t>
            </a:r>
            <a:endParaRPr lang="en-US" sz="1050" dirty="0"/>
          </a:p>
        </p:txBody>
      </p:sp>
      <p:sp>
        <p:nvSpPr>
          <p:cNvPr id="21" name="Text 19"/>
          <p:cNvSpPr/>
          <p:nvPr/>
        </p:nvSpPr>
        <p:spPr>
          <a:xfrm>
            <a:off x="7845552" y="5650992"/>
            <a:ext cx="3538728" cy="265176"/>
          </a:xfrm>
          <a:prstGeom prst="rect">
            <a:avLst/>
          </a:prstGeom>
          <a:noFill/>
          <a:ln/>
        </p:spPr>
        <p:txBody>
          <a:bodyPr wrap="square" lIns="0" tIns="0" rIns="0" bIns="0" rtlCol="0" anchor="ctr"/>
          <a:lstStyle/>
          <a:p>
            <a:pPr indent="0" marL="0">
              <a:buNone/>
            </a:pPr>
            <a:r>
              <a:rPr lang="en-US" sz="900" dirty="0">
                <a:solidFill>
                  <a:srgbClr val="607585"/>
                </a:solidFill>
                <a:latin typeface="Aptos" pitchFamily="34" charset="0"/>
                <a:ea typeface="Aptos" pitchFamily="34" charset="-122"/>
                <a:cs typeface="Aptos" pitchFamily="34" charset="-120"/>
              </a:rPr>
              <a:t>Full image-generation prompt is in this slide's speaker notes.</a:t>
            </a:r>
            <a:endParaRPr lang="en-US" sz="900" dirty="0"/>
          </a:p>
        </p:txBody>
      </p:sp>
      <p:sp>
        <p:nvSpPr>
          <p:cNvPr id="22" name="Shape 20"/>
          <p:cNvSpPr/>
          <p:nvPr/>
        </p:nvSpPr>
        <p:spPr>
          <a:xfrm>
            <a:off x="603504" y="6318504"/>
            <a:ext cx="10972800" cy="0"/>
          </a:xfrm>
          <a:prstGeom prst="line">
            <a:avLst/>
          </a:prstGeom>
          <a:noFill/>
          <a:ln w="10160">
            <a:solidFill>
              <a:srgbClr val="D5E0E7"/>
            </a:solidFill>
            <a:prstDash val="solid"/>
          </a:ln>
        </p:spPr>
      </p:sp>
      <p:sp>
        <p:nvSpPr>
          <p:cNvPr id="23" name="Text 21"/>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PLC SPECIFICATIONS AND I/O MODULES</a:t>
            </a:r>
            <a:endParaRPr lang="en-US" sz="800" dirty="0"/>
          </a:p>
        </p:txBody>
      </p:sp>
      <p:sp>
        <p:nvSpPr>
          <p:cNvPr id="24" name="Text 22"/>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01 / 18</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3F7394"/>
          </a:solidFill>
          <a:ln w="12700">
            <a:solidFill>
              <a:srgbClr val="3F7394">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3F7394"/>
                </a:solidFill>
                <a:latin typeface="Aptos" pitchFamily="34" charset="0"/>
                <a:ea typeface="Aptos" pitchFamily="34" charset="-122"/>
                <a:cs typeface="Aptos" pitchFamily="34" charset="-120"/>
              </a:rPr>
              <a:t>UNIT 5009    /    WEEK 03    /    LO1</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5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3F7394"/>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3F7394"/>
                </a:solidFill>
                <a:latin typeface="Aptos" pitchFamily="34" charset="0"/>
                <a:ea typeface="Aptos" pitchFamily="34" charset="-122"/>
                <a:cs typeface="Aptos" pitchFamily="34" charset="-120"/>
              </a:rPr>
              <a:t>P2</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Revisit the three candidate PLCs</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76656" y="1719072"/>
            <a:ext cx="1828800" cy="210312"/>
          </a:xfrm>
          <a:prstGeom prst="rect">
            <a:avLst/>
          </a:prstGeom>
          <a:noFill/>
          <a:ln/>
        </p:spPr>
        <p:txBody>
          <a:bodyPr wrap="square" lIns="0" tIns="0" rIns="0" bIns="0" rtlCol="0" anchor="ctr"/>
          <a:lstStyle/>
          <a:p>
            <a:pPr indent="0" marL="0">
              <a:buNone/>
            </a:pPr>
            <a:r>
              <a:rPr lang="en-US" sz="900" b="1" spc="100" kern="0" dirty="0">
                <a:solidFill>
                  <a:srgbClr val="3F7394"/>
                </a:solidFill>
                <a:latin typeface="Aptos" pitchFamily="34" charset="0"/>
                <a:ea typeface="Aptos" pitchFamily="34" charset="-122"/>
                <a:cs typeface="Aptos" pitchFamily="34" charset="-120"/>
              </a:rPr>
              <a:t>KEY IDEAS</a:t>
            </a:r>
            <a:endParaRPr lang="en-US" sz="900" dirty="0"/>
          </a:p>
        </p:txBody>
      </p:sp>
      <p:sp>
        <p:nvSpPr>
          <p:cNvPr id="11" name="Shape 9"/>
          <p:cNvSpPr/>
          <p:nvPr/>
        </p:nvSpPr>
        <p:spPr>
          <a:xfrm>
            <a:off x="713232" y="2139696"/>
            <a:ext cx="100584" cy="100584"/>
          </a:xfrm>
          <a:prstGeom prst="ellipse">
            <a:avLst/>
          </a:prstGeom>
          <a:solidFill>
            <a:srgbClr val="3F7394"/>
          </a:solidFill>
          <a:ln w="12700">
            <a:solidFill>
              <a:srgbClr val="3F7394">
                <a:alpha val="0"/>
              </a:srgbClr>
            </a:solidFill>
            <a:prstDash val="solid"/>
          </a:ln>
        </p:spPr>
      </p:sp>
      <p:sp>
        <p:nvSpPr>
          <p:cNvPr id="12" name="Text 10"/>
          <p:cNvSpPr/>
          <p:nvPr/>
        </p:nvSpPr>
        <p:spPr>
          <a:xfrm>
            <a:off x="969264" y="2029968"/>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Display Week 2 matrices and identify missing electrical/performance evidence.</a:t>
            </a:r>
            <a:endParaRPr lang="en-US" sz="1650" dirty="0"/>
          </a:p>
        </p:txBody>
      </p:sp>
      <p:sp>
        <p:nvSpPr>
          <p:cNvPr id="13" name="Shape 11"/>
          <p:cNvSpPr/>
          <p:nvPr/>
        </p:nvSpPr>
        <p:spPr>
          <a:xfrm>
            <a:off x="713232" y="2816352"/>
            <a:ext cx="100584" cy="100584"/>
          </a:xfrm>
          <a:prstGeom prst="ellipse">
            <a:avLst/>
          </a:prstGeom>
          <a:solidFill>
            <a:srgbClr val="3F7394"/>
          </a:solidFill>
          <a:ln w="12700">
            <a:solidFill>
              <a:srgbClr val="3F7394">
                <a:alpha val="0"/>
              </a:srgbClr>
            </a:solidFill>
            <a:prstDash val="solid"/>
          </a:ln>
        </p:spPr>
      </p:sp>
      <p:sp>
        <p:nvSpPr>
          <p:cNvPr id="14" name="Text 12"/>
          <p:cNvSpPr/>
          <p:nvPr/>
        </p:nvSpPr>
        <p:spPr>
          <a:xfrm>
            <a:off x="969264" y="2706624"/>
            <a:ext cx="6327648" cy="329184"/>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Select two gaps to investigate during the session.</a:t>
            </a:r>
            <a:endParaRPr lang="en-US" sz="1650" dirty="0"/>
          </a:p>
        </p:txBody>
      </p:sp>
      <p:sp>
        <p:nvSpPr>
          <p:cNvPr id="15" name="Shape 13"/>
          <p:cNvSpPr/>
          <p:nvPr/>
        </p:nvSpPr>
        <p:spPr>
          <a:xfrm>
            <a:off x="7644384" y="1746504"/>
            <a:ext cx="3941064" cy="4352544"/>
          </a:xfrm>
          <a:prstGeom prst="rect">
            <a:avLst/>
          </a:prstGeom>
          <a:solidFill>
            <a:srgbClr val="E8EFF3"/>
          </a:solidFill>
          <a:ln w="15240">
            <a:solidFill>
              <a:srgbClr val="C8D5DE"/>
            </a:solidFill>
            <a:prstDash val="solid"/>
          </a:ln>
        </p:spPr>
      </p:sp>
      <p:sp>
        <p:nvSpPr>
          <p:cNvPr id="16" name="Text 14"/>
          <p:cNvSpPr/>
          <p:nvPr/>
        </p:nvSpPr>
        <p:spPr>
          <a:xfrm>
            <a:off x="7845552" y="1911096"/>
            <a:ext cx="3538728" cy="246888"/>
          </a:xfrm>
          <a:prstGeom prst="rect">
            <a:avLst/>
          </a:prstGeom>
          <a:noFill/>
          <a:ln/>
        </p:spPr>
        <p:txBody>
          <a:bodyPr wrap="square" lIns="0" tIns="0" rIns="0" bIns="0" rtlCol="0" anchor="ctr"/>
          <a:lstStyle/>
          <a:p>
            <a:pPr indent="0" marL="0">
              <a:buNone/>
            </a:pPr>
            <a:r>
              <a:rPr lang="en-US" sz="900" b="1" spc="80" kern="0" dirty="0">
                <a:solidFill>
                  <a:srgbClr val="3F7394"/>
                </a:solidFill>
                <a:latin typeface="Aptos" pitchFamily="34" charset="0"/>
                <a:ea typeface="Aptos" pitchFamily="34" charset="-122"/>
                <a:cs typeface="Aptos" pitchFamily="34" charset="-120"/>
              </a:rPr>
              <a:t>IMAGE PLACEHOLDER</a:t>
            </a:r>
            <a:endParaRPr lang="en-US" sz="900" dirty="0"/>
          </a:p>
        </p:txBody>
      </p:sp>
      <p:sp>
        <p:nvSpPr>
          <p:cNvPr id="17" name="Text 15"/>
          <p:cNvSpPr/>
          <p:nvPr/>
        </p:nvSpPr>
        <p:spPr>
          <a:xfrm>
            <a:off x="7900416" y="3072384"/>
            <a:ext cx="3429000" cy="347472"/>
          </a:xfrm>
          <a:prstGeom prst="rect">
            <a:avLst/>
          </a:prstGeom>
          <a:noFill/>
          <a:ln/>
        </p:spPr>
        <p:txBody>
          <a:bodyPr wrap="square" lIns="0" tIns="0" rIns="0" bIns="0" rtlCol="0" anchor="ctr"/>
          <a:lstStyle/>
          <a:p>
            <a:pPr algn="ctr" indent="0" marL="0">
              <a:buNone/>
            </a:pPr>
            <a:r>
              <a:rPr lang="en-US" sz="1700" b="1" dirty="0">
                <a:solidFill>
                  <a:srgbClr val="7A8F9D"/>
                </a:solidFill>
                <a:latin typeface="Aptos Display" pitchFamily="34" charset="0"/>
                <a:ea typeface="Aptos Display" pitchFamily="34" charset="-122"/>
                <a:cs typeface="Aptos Display" pitchFamily="34" charset="-120"/>
              </a:rPr>
              <a:t>ADD PHOTO OR DIAGRAM</a:t>
            </a:r>
            <a:endParaRPr lang="en-US" sz="1700" dirty="0"/>
          </a:p>
        </p:txBody>
      </p:sp>
      <p:sp>
        <p:nvSpPr>
          <p:cNvPr id="18" name="Text 16"/>
          <p:cNvSpPr/>
          <p:nvPr/>
        </p:nvSpPr>
        <p:spPr>
          <a:xfrm>
            <a:off x="7900416" y="3465576"/>
            <a:ext cx="3429000" cy="301752"/>
          </a:xfrm>
          <a:prstGeom prst="rect">
            <a:avLst/>
          </a:prstGeom>
          <a:noFill/>
          <a:ln/>
        </p:spPr>
        <p:txBody>
          <a:bodyPr wrap="square" lIns="0" tIns="0" rIns="0" bIns="0" rtlCol="0" anchor="ctr"/>
          <a:lstStyle/>
          <a:p>
            <a:pPr algn="ctr" indent="0" marL="0">
              <a:buNone/>
            </a:pPr>
            <a:r>
              <a:rPr lang="en-US" sz="1150" dirty="0">
                <a:solidFill>
                  <a:srgbClr val="607585"/>
                </a:solidFill>
                <a:latin typeface="Aptos" pitchFamily="34" charset="0"/>
                <a:ea typeface="Aptos" pitchFamily="34" charset="-122"/>
                <a:cs typeface="Aptos" pitchFamily="34" charset="-120"/>
              </a:rPr>
              <a:t>Leave this area open for the final visual</a:t>
            </a:r>
            <a:endParaRPr lang="en-US" sz="1150" dirty="0"/>
          </a:p>
        </p:txBody>
      </p:sp>
      <p:sp>
        <p:nvSpPr>
          <p:cNvPr id="19" name="Shape 17"/>
          <p:cNvSpPr/>
          <p:nvPr/>
        </p:nvSpPr>
        <p:spPr>
          <a:xfrm>
            <a:off x="7845552" y="5111496"/>
            <a:ext cx="3538728" cy="0"/>
          </a:xfrm>
          <a:prstGeom prst="line">
            <a:avLst/>
          </a:prstGeom>
          <a:noFill/>
          <a:ln w="12700">
            <a:solidFill>
              <a:srgbClr val="C8D5DE"/>
            </a:solidFill>
            <a:prstDash val="solid"/>
          </a:ln>
        </p:spPr>
      </p:sp>
      <p:sp>
        <p:nvSpPr>
          <p:cNvPr id="20" name="Text 18"/>
          <p:cNvSpPr/>
          <p:nvPr/>
        </p:nvSpPr>
        <p:spPr>
          <a:xfrm>
            <a:off x="7845552" y="5239512"/>
            <a:ext cx="3538728" cy="384048"/>
          </a:xfrm>
          <a:prstGeom prst="rect">
            <a:avLst/>
          </a:prstGeom>
          <a:noFill/>
          <a:ln/>
        </p:spPr>
        <p:txBody>
          <a:bodyPr wrap="square" lIns="0" tIns="0" rIns="0" bIns="0" rtlCol="0" anchor="ctr"/>
          <a:lstStyle/>
          <a:p>
            <a:pPr indent="0" marL="0">
              <a:buNone/>
            </a:pPr>
            <a:r>
              <a:rPr lang="en-US" sz="1050" b="1" dirty="0">
                <a:solidFill>
                  <a:srgbClr val="1B3448"/>
                </a:solidFill>
                <a:latin typeface="Aptos" pitchFamily="34" charset="0"/>
                <a:ea typeface="Aptos" pitchFamily="34" charset="-122"/>
                <a:cs typeface="Aptos" pitchFamily="34" charset="-120"/>
              </a:rPr>
              <a:t>VISUAL BRIEF  /  Revisit the three candidate PLCs</a:t>
            </a:r>
            <a:endParaRPr lang="en-US" sz="1050" dirty="0"/>
          </a:p>
        </p:txBody>
      </p:sp>
      <p:sp>
        <p:nvSpPr>
          <p:cNvPr id="21" name="Text 19"/>
          <p:cNvSpPr/>
          <p:nvPr/>
        </p:nvSpPr>
        <p:spPr>
          <a:xfrm>
            <a:off x="7845552" y="5650992"/>
            <a:ext cx="3538728" cy="265176"/>
          </a:xfrm>
          <a:prstGeom prst="rect">
            <a:avLst/>
          </a:prstGeom>
          <a:noFill/>
          <a:ln/>
        </p:spPr>
        <p:txBody>
          <a:bodyPr wrap="square" lIns="0" tIns="0" rIns="0" bIns="0" rtlCol="0" anchor="ctr"/>
          <a:lstStyle/>
          <a:p>
            <a:pPr indent="0" marL="0">
              <a:buNone/>
            </a:pPr>
            <a:r>
              <a:rPr lang="en-US" sz="900" dirty="0">
                <a:solidFill>
                  <a:srgbClr val="607585"/>
                </a:solidFill>
                <a:latin typeface="Aptos" pitchFamily="34" charset="0"/>
                <a:ea typeface="Aptos" pitchFamily="34" charset="-122"/>
                <a:cs typeface="Aptos" pitchFamily="34" charset="-120"/>
              </a:rPr>
              <a:t>Full image-generation prompt is in this slide's speaker notes.</a:t>
            </a:r>
            <a:endParaRPr lang="en-US" sz="900" dirty="0"/>
          </a:p>
        </p:txBody>
      </p:sp>
      <p:sp>
        <p:nvSpPr>
          <p:cNvPr id="22" name="Shape 20"/>
          <p:cNvSpPr/>
          <p:nvPr/>
        </p:nvSpPr>
        <p:spPr>
          <a:xfrm>
            <a:off x="603504" y="6318504"/>
            <a:ext cx="10972800" cy="0"/>
          </a:xfrm>
          <a:prstGeom prst="line">
            <a:avLst/>
          </a:prstGeom>
          <a:noFill/>
          <a:ln w="10160">
            <a:solidFill>
              <a:srgbClr val="D5E0E7"/>
            </a:solidFill>
            <a:prstDash val="solid"/>
          </a:ln>
        </p:spPr>
      </p:sp>
      <p:sp>
        <p:nvSpPr>
          <p:cNvPr id="23" name="Text 21"/>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PLC SPECIFICATIONS AND I/O MODULES</a:t>
            </a:r>
            <a:endParaRPr lang="en-US" sz="800" dirty="0"/>
          </a:p>
        </p:txBody>
      </p:sp>
      <p:sp>
        <p:nvSpPr>
          <p:cNvPr id="24" name="Text 22"/>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02 / 18</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3F7394"/>
          </a:solidFill>
          <a:ln w="12700">
            <a:solidFill>
              <a:srgbClr val="3F7394">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3F7394"/>
                </a:solidFill>
                <a:latin typeface="Aptos" pitchFamily="34" charset="0"/>
                <a:ea typeface="Aptos" pitchFamily="34" charset="-122"/>
                <a:cs typeface="Aptos" pitchFamily="34" charset="-120"/>
              </a:rPr>
              <a:t>UNIT 5009    /    WEEK 03    /    LO1</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5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3F7394"/>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3F7394"/>
                </a:solidFill>
                <a:latin typeface="Aptos" pitchFamily="34" charset="0"/>
                <a:ea typeface="Aptos" pitchFamily="34" charset="-122"/>
                <a:cs typeface="Aptos" pitchFamily="34" charset="-120"/>
              </a:rPr>
              <a:t>P2</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Specification-to-application chain</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76656" y="1719072"/>
            <a:ext cx="1828800" cy="210312"/>
          </a:xfrm>
          <a:prstGeom prst="rect">
            <a:avLst/>
          </a:prstGeom>
          <a:noFill/>
          <a:ln/>
        </p:spPr>
        <p:txBody>
          <a:bodyPr wrap="square" lIns="0" tIns="0" rIns="0" bIns="0" rtlCol="0" anchor="ctr"/>
          <a:lstStyle/>
          <a:p>
            <a:pPr indent="0" marL="0">
              <a:buNone/>
            </a:pPr>
            <a:r>
              <a:rPr lang="en-US" sz="900" b="1" spc="100" kern="0" dirty="0">
                <a:solidFill>
                  <a:srgbClr val="3F7394"/>
                </a:solidFill>
                <a:latin typeface="Aptos" pitchFamily="34" charset="0"/>
                <a:ea typeface="Aptos" pitchFamily="34" charset="-122"/>
                <a:cs typeface="Aptos" pitchFamily="34" charset="-120"/>
              </a:rPr>
              <a:t>KEY IDEAS</a:t>
            </a:r>
            <a:endParaRPr lang="en-US" sz="900" dirty="0"/>
          </a:p>
        </p:txBody>
      </p:sp>
      <p:sp>
        <p:nvSpPr>
          <p:cNvPr id="11" name="Shape 9"/>
          <p:cNvSpPr/>
          <p:nvPr/>
        </p:nvSpPr>
        <p:spPr>
          <a:xfrm>
            <a:off x="713232" y="2139696"/>
            <a:ext cx="100584" cy="100584"/>
          </a:xfrm>
          <a:prstGeom prst="ellipse">
            <a:avLst/>
          </a:prstGeom>
          <a:solidFill>
            <a:srgbClr val="3F7394"/>
          </a:solidFill>
          <a:ln w="12700">
            <a:solidFill>
              <a:srgbClr val="3F7394">
                <a:alpha val="0"/>
              </a:srgbClr>
            </a:solidFill>
            <a:prstDash val="solid"/>
          </a:ln>
        </p:spPr>
      </p:sp>
      <p:sp>
        <p:nvSpPr>
          <p:cNvPr id="12" name="Text 10"/>
          <p:cNvSpPr/>
          <p:nvPr/>
        </p:nvSpPr>
        <p:spPr>
          <a:xfrm>
            <a:off x="969264" y="2029968"/>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Frame every number as requirement -&gt; specification -&gt; system consequence -&gt; verification.</a:t>
            </a:r>
            <a:endParaRPr lang="en-US" sz="1650" dirty="0"/>
          </a:p>
        </p:txBody>
      </p:sp>
      <p:sp>
        <p:nvSpPr>
          <p:cNvPr id="13" name="Shape 11"/>
          <p:cNvSpPr/>
          <p:nvPr/>
        </p:nvSpPr>
        <p:spPr>
          <a:xfrm>
            <a:off x="7644384" y="1746504"/>
            <a:ext cx="3941064" cy="4352544"/>
          </a:xfrm>
          <a:prstGeom prst="rect">
            <a:avLst/>
          </a:prstGeom>
          <a:solidFill>
            <a:srgbClr val="E8EFF3"/>
          </a:solidFill>
          <a:ln w="15240">
            <a:solidFill>
              <a:srgbClr val="C8D5DE"/>
            </a:solidFill>
            <a:prstDash val="solid"/>
          </a:ln>
        </p:spPr>
      </p:sp>
      <p:sp>
        <p:nvSpPr>
          <p:cNvPr id="14" name="Text 12"/>
          <p:cNvSpPr/>
          <p:nvPr/>
        </p:nvSpPr>
        <p:spPr>
          <a:xfrm>
            <a:off x="7845552" y="1911096"/>
            <a:ext cx="3538728" cy="246888"/>
          </a:xfrm>
          <a:prstGeom prst="rect">
            <a:avLst/>
          </a:prstGeom>
          <a:noFill/>
          <a:ln/>
        </p:spPr>
        <p:txBody>
          <a:bodyPr wrap="square" lIns="0" tIns="0" rIns="0" bIns="0" rtlCol="0" anchor="ctr"/>
          <a:lstStyle/>
          <a:p>
            <a:pPr indent="0" marL="0">
              <a:buNone/>
            </a:pPr>
            <a:r>
              <a:rPr lang="en-US" sz="900" b="1" spc="80" kern="0" dirty="0">
                <a:solidFill>
                  <a:srgbClr val="3F7394"/>
                </a:solidFill>
                <a:latin typeface="Aptos" pitchFamily="34" charset="0"/>
                <a:ea typeface="Aptos" pitchFamily="34" charset="-122"/>
                <a:cs typeface="Aptos" pitchFamily="34" charset="-120"/>
              </a:rPr>
              <a:t>IMAGE PLACEHOLDER</a:t>
            </a:r>
            <a:endParaRPr lang="en-US" sz="900" dirty="0"/>
          </a:p>
        </p:txBody>
      </p:sp>
      <p:sp>
        <p:nvSpPr>
          <p:cNvPr id="15" name="Text 13"/>
          <p:cNvSpPr/>
          <p:nvPr/>
        </p:nvSpPr>
        <p:spPr>
          <a:xfrm>
            <a:off x="7900416" y="3072384"/>
            <a:ext cx="3429000" cy="347472"/>
          </a:xfrm>
          <a:prstGeom prst="rect">
            <a:avLst/>
          </a:prstGeom>
          <a:noFill/>
          <a:ln/>
        </p:spPr>
        <p:txBody>
          <a:bodyPr wrap="square" lIns="0" tIns="0" rIns="0" bIns="0" rtlCol="0" anchor="ctr"/>
          <a:lstStyle/>
          <a:p>
            <a:pPr algn="ctr" indent="0" marL="0">
              <a:buNone/>
            </a:pPr>
            <a:r>
              <a:rPr lang="en-US" sz="1700" b="1" dirty="0">
                <a:solidFill>
                  <a:srgbClr val="7A8F9D"/>
                </a:solidFill>
                <a:latin typeface="Aptos Display" pitchFamily="34" charset="0"/>
                <a:ea typeface="Aptos Display" pitchFamily="34" charset="-122"/>
                <a:cs typeface="Aptos Display" pitchFamily="34" charset="-120"/>
              </a:rPr>
              <a:t>ADD PHOTO OR DIAGRAM</a:t>
            </a:r>
            <a:endParaRPr lang="en-US" sz="1700" dirty="0"/>
          </a:p>
        </p:txBody>
      </p:sp>
      <p:sp>
        <p:nvSpPr>
          <p:cNvPr id="16" name="Text 14"/>
          <p:cNvSpPr/>
          <p:nvPr/>
        </p:nvSpPr>
        <p:spPr>
          <a:xfrm>
            <a:off x="7900416" y="3465576"/>
            <a:ext cx="3429000" cy="301752"/>
          </a:xfrm>
          <a:prstGeom prst="rect">
            <a:avLst/>
          </a:prstGeom>
          <a:noFill/>
          <a:ln/>
        </p:spPr>
        <p:txBody>
          <a:bodyPr wrap="square" lIns="0" tIns="0" rIns="0" bIns="0" rtlCol="0" anchor="ctr"/>
          <a:lstStyle/>
          <a:p>
            <a:pPr algn="ctr" indent="0" marL="0">
              <a:buNone/>
            </a:pPr>
            <a:r>
              <a:rPr lang="en-US" sz="1150" dirty="0">
                <a:solidFill>
                  <a:srgbClr val="607585"/>
                </a:solidFill>
                <a:latin typeface="Aptos" pitchFamily="34" charset="0"/>
                <a:ea typeface="Aptos" pitchFamily="34" charset="-122"/>
                <a:cs typeface="Aptos" pitchFamily="34" charset="-120"/>
              </a:rPr>
              <a:t>Leave this area open for the final visual</a:t>
            </a:r>
            <a:endParaRPr lang="en-US" sz="1150" dirty="0"/>
          </a:p>
        </p:txBody>
      </p:sp>
      <p:sp>
        <p:nvSpPr>
          <p:cNvPr id="17" name="Shape 15"/>
          <p:cNvSpPr/>
          <p:nvPr/>
        </p:nvSpPr>
        <p:spPr>
          <a:xfrm>
            <a:off x="7845552" y="5111496"/>
            <a:ext cx="3538728" cy="0"/>
          </a:xfrm>
          <a:prstGeom prst="line">
            <a:avLst/>
          </a:prstGeom>
          <a:noFill/>
          <a:ln w="12700">
            <a:solidFill>
              <a:srgbClr val="C8D5DE"/>
            </a:solidFill>
            <a:prstDash val="solid"/>
          </a:ln>
        </p:spPr>
      </p:sp>
      <p:sp>
        <p:nvSpPr>
          <p:cNvPr id="18" name="Text 16"/>
          <p:cNvSpPr/>
          <p:nvPr/>
        </p:nvSpPr>
        <p:spPr>
          <a:xfrm>
            <a:off x="7845552" y="5239512"/>
            <a:ext cx="3538728" cy="384048"/>
          </a:xfrm>
          <a:prstGeom prst="rect">
            <a:avLst/>
          </a:prstGeom>
          <a:noFill/>
          <a:ln/>
        </p:spPr>
        <p:txBody>
          <a:bodyPr wrap="square" lIns="0" tIns="0" rIns="0" bIns="0" rtlCol="0" anchor="ctr"/>
          <a:lstStyle/>
          <a:p>
            <a:pPr indent="0" marL="0">
              <a:buNone/>
            </a:pPr>
            <a:r>
              <a:rPr lang="en-US" sz="1050" b="1" dirty="0">
                <a:solidFill>
                  <a:srgbClr val="1B3448"/>
                </a:solidFill>
                <a:latin typeface="Aptos" pitchFamily="34" charset="0"/>
                <a:ea typeface="Aptos" pitchFamily="34" charset="-122"/>
                <a:cs typeface="Aptos" pitchFamily="34" charset="-120"/>
              </a:rPr>
              <a:t>VISUAL BRIEF  /  Specification-to-application chain</a:t>
            </a:r>
            <a:endParaRPr lang="en-US" sz="1050" dirty="0"/>
          </a:p>
        </p:txBody>
      </p:sp>
      <p:sp>
        <p:nvSpPr>
          <p:cNvPr id="19" name="Text 17"/>
          <p:cNvSpPr/>
          <p:nvPr/>
        </p:nvSpPr>
        <p:spPr>
          <a:xfrm>
            <a:off x="7845552" y="5650992"/>
            <a:ext cx="3538728" cy="265176"/>
          </a:xfrm>
          <a:prstGeom prst="rect">
            <a:avLst/>
          </a:prstGeom>
          <a:noFill/>
          <a:ln/>
        </p:spPr>
        <p:txBody>
          <a:bodyPr wrap="square" lIns="0" tIns="0" rIns="0" bIns="0" rtlCol="0" anchor="ctr"/>
          <a:lstStyle/>
          <a:p>
            <a:pPr indent="0" marL="0">
              <a:buNone/>
            </a:pPr>
            <a:r>
              <a:rPr lang="en-US" sz="900" dirty="0">
                <a:solidFill>
                  <a:srgbClr val="607585"/>
                </a:solidFill>
                <a:latin typeface="Aptos" pitchFamily="34" charset="0"/>
                <a:ea typeface="Aptos" pitchFamily="34" charset="-122"/>
                <a:cs typeface="Aptos" pitchFamily="34" charset="-120"/>
              </a:rPr>
              <a:t>Full image-generation prompt is in this slide's speaker notes.</a:t>
            </a:r>
            <a:endParaRPr lang="en-US" sz="900" dirty="0"/>
          </a:p>
        </p:txBody>
      </p:sp>
      <p:sp>
        <p:nvSpPr>
          <p:cNvPr id="20" name="Shape 18"/>
          <p:cNvSpPr/>
          <p:nvPr/>
        </p:nvSpPr>
        <p:spPr>
          <a:xfrm>
            <a:off x="603504" y="6318504"/>
            <a:ext cx="10972800" cy="0"/>
          </a:xfrm>
          <a:prstGeom prst="line">
            <a:avLst/>
          </a:prstGeom>
          <a:noFill/>
          <a:ln w="10160">
            <a:solidFill>
              <a:srgbClr val="D5E0E7"/>
            </a:solidFill>
            <a:prstDash val="solid"/>
          </a:ln>
        </p:spPr>
      </p:sp>
      <p:sp>
        <p:nvSpPr>
          <p:cNvPr id="21" name="Text 19"/>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PLC SPECIFICATIONS AND I/O MODULES</a:t>
            </a:r>
            <a:endParaRPr lang="en-US" sz="800" dirty="0"/>
          </a:p>
        </p:txBody>
      </p:sp>
      <p:sp>
        <p:nvSpPr>
          <p:cNvPr id="22" name="Text 20"/>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03 / 18</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3F7394"/>
          </a:solidFill>
          <a:ln w="12700">
            <a:solidFill>
              <a:srgbClr val="3F7394">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3F7394"/>
                </a:solidFill>
                <a:latin typeface="Aptos" pitchFamily="34" charset="0"/>
                <a:ea typeface="Aptos" pitchFamily="34" charset="-122"/>
                <a:cs typeface="Aptos" pitchFamily="34" charset="-120"/>
              </a:rPr>
              <a:t>UNIT 5009    /    WEEK 03    /    LO1</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12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3F7394"/>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3F7394"/>
                </a:solidFill>
                <a:latin typeface="Aptos" pitchFamily="34" charset="0"/>
                <a:ea typeface="Aptos" pitchFamily="34" charset="-122"/>
                <a:cs typeface="Aptos" pitchFamily="34" charset="-120"/>
              </a:rPr>
              <a:t>P2</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PLC scan and response timing</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76656" y="1719072"/>
            <a:ext cx="1828800" cy="210312"/>
          </a:xfrm>
          <a:prstGeom prst="rect">
            <a:avLst/>
          </a:prstGeom>
          <a:noFill/>
          <a:ln/>
        </p:spPr>
        <p:txBody>
          <a:bodyPr wrap="square" lIns="0" tIns="0" rIns="0" bIns="0" rtlCol="0" anchor="ctr"/>
          <a:lstStyle/>
          <a:p>
            <a:pPr indent="0" marL="0">
              <a:buNone/>
            </a:pPr>
            <a:r>
              <a:rPr lang="en-US" sz="900" b="1" spc="100" kern="0" dirty="0">
                <a:solidFill>
                  <a:srgbClr val="3F7394"/>
                </a:solidFill>
                <a:latin typeface="Aptos" pitchFamily="34" charset="0"/>
                <a:ea typeface="Aptos" pitchFamily="34" charset="-122"/>
                <a:cs typeface="Aptos" pitchFamily="34" charset="-120"/>
              </a:rPr>
              <a:t>KEY IDEAS</a:t>
            </a:r>
            <a:endParaRPr lang="en-US" sz="900" dirty="0"/>
          </a:p>
        </p:txBody>
      </p:sp>
      <p:sp>
        <p:nvSpPr>
          <p:cNvPr id="11" name="Shape 9"/>
          <p:cNvSpPr/>
          <p:nvPr/>
        </p:nvSpPr>
        <p:spPr>
          <a:xfrm>
            <a:off x="713232" y="2139696"/>
            <a:ext cx="100584" cy="100584"/>
          </a:xfrm>
          <a:prstGeom prst="ellipse">
            <a:avLst/>
          </a:prstGeom>
          <a:solidFill>
            <a:srgbClr val="3F7394"/>
          </a:solidFill>
          <a:ln w="12700">
            <a:solidFill>
              <a:srgbClr val="3F7394">
                <a:alpha val="0"/>
              </a:srgbClr>
            </a:solidFill>
            <a:prstDash val="solid"/>
          </a:ln>
        </p:spPr>
      </p:sp>
      <p:sp>
        <p:nvSpPr>
          <p:cNvPr id="12" name="Text 10"/>
          <p:cNvSpPr/>
          <p:nvPr/>
        </p:nvSpPr>
        <p:spPr>
          <a:xfrm>
            <a:off x="969264" y="2029968"/>
            <a:ext cx="6327648" cy="804672"/>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Explain a typical input update, logic execution, output update, and communications sequence; note exact behaviour differs by architecture/configuration.</a:t>
            </a:r>
            <a:endParaRPr lang="en-US" sz="1650" dirty="0"/>
          </a:p>
        </p:txBody>
      </p:sp>
      <p:sp>
        <p:nvSpPr>
          <p:cNvPr id="13" name="Shape 11"/>
          <p:cNvSpPr/>
          <p:nvPr/>
        </p:nvSpPr>
        <p:spPr>
          <a:xfrm>
            <a:off x="713232" y="3054096"/>
            <a:ext cx="100584" cy="100584"/>
          </a:xfrm>
          <a:prstGeom prst="ellipse">
            <a:avLst/>
          </a:prstGeom>
          <a:solidFill>
            <a:srgbClr val="3F7394"/>
          </a:solidFill>
          <a:ln w="12700">
            <a:solidFill>
              <a:srgbClr val="3F7394">
                <a:alpha val="0"/>
              </a:srgbClr>
            </a:solidFill>
            <a:prstDash val="solid"/>
          </a:ln>
        </p:spPr>
      </p:sp>
      <p:sp>
        <p:nvSpPr>
          <p:cNvPr id="14" name="Text 12"/>
          <p:cNvSpPr/>
          <p:nvPr/>
        </p:nvSpPr>
        <p:spPr>
          <a:xfrm>
            <a:off x="969264" y="2944368"/>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Distinguish scan time, task period, I/O refresh, and end-to-end response time.</a:t>
            </a:r>
            <a:endParaRPr lang="en-US" sz="1650" dirty="0"/>
          </a:p>
        </p:txBody>
      </p:sp>
      <p:sp>
        <p:nvSpPr>
          <p:cNvPr id="15" name="Shape 13"/>
          <p:cNvSpPr/>
          <p:nvPr/>
        </p:nvSpPr>
        <p:spPr>
          <a:xfrm>
            <a:off x="713232" y="3730752"/>
            <a:ext cx="100584" cy="100584"/>
          </a:xfrm>
          <a:prstGeom prst="ellipse">
            <a:avLst/>
          </a:prstGeom>
          <a:solidFill>
            <a:srgbClr val="3F7394"/>
          </a:solidFill>
          <a:ln w="12700">
            <a:solidFill>
              <a:srgbClr val="3F7394">
                <a:alpha val="0"/>
              </a:srgbClr>
            </a:solidFill>
            <a:prstDash val="solid"/>
          </a:ln>
        </p:spPr>
      </p:sp>
      <p:sp>
        <p:nvSpPr>
          <p:cNvPr id="16" name="Text 14"/>
          <p:cNvSpPr/>
          <p:nvPr/>
        </p:nvSpPr>
        <p:spPr>
          <a:xfrm>
            <a:off x="969264" y="3621024"/>
            <a:ext cx="6327648" cy="329184"/>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Use a timing diagram for sensor transition to actuator output.</a:t>
            </a:r>
            <a:endParaRPr lang="en-US" sz="1650" dirty="0"/>
          </a:p>
        </p:txBody>
      </p:sp>
      <p:sp>
        <p:nvSpPr>
          <p:cNvPr id="17" name="Shape 15"/>
          <p:cNvSpPr/>
          <p:nvPr/>
        </p:nvSpPr>
        <p:spPr>
          <a:xfrm>
            <a:off x="7644384" y="1746504"/>
            <a:ext cx="3941064" cy="4352544"/>
          </a:xfrm>
          <a:prstGeom prst="rect">
            <a:avLst/>
          </a:prstGeom>
          <a:solidFill>
            <a:srgbClr val="E8EFF3"/>
          </a:solidFill>
          <a:ln w="15240">
            <a:solidFill>
              <a:srgbClr val="C8D5DE"/>
            </a:solidFill>
            <a:prstDash val="solid"/>
          </a:ln>
        </p:spPr>
      </p:sp>
      <p:sp>
        <p:nvSpPr>
          <p:cNvPr id="18" name="Text 16"/>
          <p:cNvSpPr/>
          <p:nvPr/>
        </p:nvSpPr>
        <p:spPr>
          <a:xfrm>
            <a:off x="7845552" y="1911096"/>
            <a:ext cx="3538728" cy="246888"/>
          </a:xfrm>
          <a:prstGeom prst="rect">
            <a:avLst/>
          </a:prstGeom>
          <a:noFill/>
          <a:ln/>
        </p:spPr>
        <p:txBody>
          <a:bodyPr wrap="square" lIns="0" tIns="0" rIns="0" bIns="0" rtlCol="0" anchor="ctr"/>
          <a:lstStyle/>
          <a:p>
            <a:pPr indent="0" marL="0">
              <a:buNone/>
            </a:pPr>
            <a:r>
              <a:rPr lang="en-US" sz="900" b="1" spc="80" kern="0" dirty="0">
                <a:solidFill>
                  <a:srgbClr val="3F7394"/>
                </a:solidFill>
                <a:latin typeface="Aptos" pitchFamily="34" charset="0"/>
                <a:ea typeface="Aptos" pitchFamily="34" charset="-122"/>
                <a:cs typeface="Aptos" pitchFamily="34" charset="-120"/>
              </a:rPr>
              <a:t>IMAGE PLACEHOLDER</a:t>
            </a:r>
            <a:endParaRPr lang="en-US" sz="900" dirty="0"/>
          </a:p>
        </p:txBody>
      </p:sp>
      <p:sp>
        <p:nvSpPr>
          <p:cNvPr id="19" name="Text 17"/>
          <p:cNvSpPr/>
          <p:nvPr/>
        </p:nvSpPr>
        <p:spPr>
          <a:xfrm>
            <a:off x="7900416" y="3072384"/>
            <a:ext cx="3429000" cy="347472"/>
          </a:xfrm>
          <a:prstGeom prst="rect">
            <a:avLst/>
          </a:prstGeom>
          <a:noFill/>
          <a:ln/>
        </p:spPr>
        <p:txBody>
          <a:bodyPr wrap="square" lIns="0" tIns="0" rIns="0" bIns="0" rtlCol="0" anchor="ctr"/>
          <a:lstStyle/>
          <a:p>
            <a:pPr algn="ctr" indent="0" marL="0">
              <a:buNone/>
            </a:pPr>
            <a:r>
              <a:rPr lang="en-US" sz="1700" b="1" dirty="0">
                <a:solidFill>
                  <a:srgbClr val="7A8F9D"/>
                </a:solidFill>
                <a:latin typeface="Aptos Display" pitchFamily="34" charset="0"/>
                <a:ea typeface="Aptos Display" pitchFamily="34" charset="-122"/>
                <a:cs typeface="Aptos Display" pitchFamily="34" charset="-120"/>
              </a:rPr>
              <a:t>ADD PHOTO OR DIAGRAM</a:t>
            </a:r>
            <a:endParaRPr lang="en-US" sz="1700" dirty="0"/>
          </a:p>
        </p:txBody>
      </p:sp>
      <p:sp>
        <p:nvSpPr>
          <p:cNvPr id="20" name="Text 18"/>
          <p:cNvSpPr/>
          <p:nvPr/>
        </p:nvSpPr>
        <p:spPr>
          <a:xfrm>
            <a:off x="7900416" y="3465576"/>
            <a:ext cx="3429000" cy="301752"/>
          </a:xfrm>
          <a:prstGeom prst="rect">
            <a:avLst/>
          </a:prstGeom>
          <a:noFill/>
          <a:ln/>
        </p:spPr>
        <p:txBody>
          <a:bodyPr wrap="square" lIns="0" tIns="0" rIns="0" bIns="0" rtlCol="0" anchor="ctr"/>
          <a:lstStyle/>
          <a:p>
            <a:pPr algn="ctr" indent="0" marL="0">
              <a:buNone/>
            </a:pPr>
            <a:r>
              <a:rPr lang="en-US" sz="1150" dirty="0">
                <a:solidFill>
                  <a:srgbClr val="607585"/>
                </a:solidFill>
                <a:latin typeface="Aptos" pitchFamily="34" charset="0"/>
                <a:ea typeface="Aptos" pitchFamily="34" charset="-122"/>
                <a:cs typeface="Aptos" pitchFamily="34" charset="-120"/>
              </a:rPr>
              <a:t>Leave this area open for the final visual</a:t>
            </a:r>
            <a:endParaRPr lang="en-US" sz="1150" dirty="0"/>
          </a:p>
        </p:txBody>
      </p:sp>
      <p:sp>
        <p:nvSpPr>
          <p:cNvPr id="21" name="Shape 19"/>
          <p:cNvSpPr/>
          <p:nvPr/>
        </p:nvSpPr>
        <p:spPr>
          <a:xfrm>
            <a:off x="7845552" y="5111496"/>
            <a:ext cx="3538728" cy="0"/>
          </a:xfrm>
          <a:prstGeom prst="line">
            <a:avLst/>
          </a:prstGeom>
          <a:noFill/>
          <a:ln w="12700">
            <a:solidFill>
              <a:srgbClr val="C8D5DE"/>
            </a:solidFill>
            <a:prstDash val="solid"/>
          </a:ln>
        </p:spPr>
      </p:sp>
      <p:sp>
        <p:nvSpPr>
          <p:cNvPr id="22" name="Text 20"/>
          <p:cNvSpPr/>
          <p:nvPr/>
        </p:nvSpPr>
        <p:spPr>
          <a:xfrm>
            <a:off x="7845552" y="5239512"/>
            <a:ext cx="3538728" cy="384048"/>
          </a:xfrm>
          <a:prstGeom prst="rect">
            <a:avLst/>
          </a:prstGeom>
          <a:noFill/>
          <a:ln/>
        </p:spPr>
        <p:txBody>
          <a:bodyPr wrap="square" lIns="0" tIns="0" rIns="0" bIns="0" rtlCol="0" anchor="ctr"/>
          <a:lstStyle/>
          <a:p>
            <a:pPr indent="0" marL="0">
              <a:buNone/>
            </a:pPr>
            <a:r>
              <a:rPr lang="en-US" sz="1050" b="1" dirty="0">
                <a:solidFill>
                  <a:srgbClr val="1B3448"/>
                </a:solidFill>
                <a:latin typeface="Aptos" pitchFamily="34" charset="0"/>
                <a:ea typeface="Aptos" pitchFamily="34" charset="-122"/>
                <a:cs typeface="Aptos" pitchFamily="34" charset="-120"/>
              </a:rPr>
              <a:t>VISUAL BRIEF  /  PLC scan and response timing</a:t>
            </a:r>
            <a:endParaRPr lang="en-US" sz="1050" dirty="0"/>
          </a:p>
        </p:txBody>
      </p:sp>
      <p:sp>
        <p:nvSpPr>
          <p:cNvPr id="23" name="Text 21"/>
          <p:cNvSpPr/>
          <p:nvPr/>
        </p:nvSpPr>
        <p:spPr>
          <a:xfrm>
            <a:off x="7845552" y="5650992"/>
            <a:ext cx="3538728" cy="265176"/>
          </a:xfrm>
          <a:prstGeom prst="rect">
            <a:avLst/>
          </a:prstGeom>
          <a:noFill/>
          <a:ln/>
        </p:spPr>
        <p:txBody>
          <a:bodyPr wrap="square" lIns="0" tIns="0" rIns="0" bIns="0" rtlCol="0" anchor="ctr"/>
          <a:lstStyle/>
          <a:p>
            <a:pPr indent="0" marL="0">
              <a:buNone/>
            </a:pPr>
            <a:r>
              <a:rPr lang="en-US" sz="900" dirty="0">
                <a:solidFill>
                  <a:srgbClr val="607585"/>
                </a:solidFill>
                <a:latin typeface="Aptos" pitchFamily="34" charset="0"/>
                <a:ea typeface="Aptos" pitchFamily="34" charset="-122"/>
                <a:cs typeface="Aptos" pitchFamily="34" charset="-120"/>
              </a:rPr>
              <a:t>Full image-generation prompt is in this slide's speaker notes.</a:t>
            </a:r>
            <a:endParaRPr lang="en-US" sz="900" dirty="0"/>
          </a:p>
        </p:txBody>
      </p:sp>
      <p:sp>
        <p:nvSpPr>
          <p:cNvPr id="24" name="Shape 22"/>
          <p:cNvSpPr/>
          <p:nvPr/>
        </p:nvSpPr>
        <p:spPr>
          <a:xfrm>
            <a:off x="603504" y="6318504"/>
            <a:ext cx="10972800" cy="0"/>
          </a:xfrm>
          <a:prstGeom prst="line">
            <a:avLst/>
          </a:prstGeom>
          <a:noFill/>
          <a:ln w="10160">
            <a:solidFill>
              <a:srgbClr val="D5E0E7"/>
            </a:solidFill>
            <a:prstDash val="solid"/>
          </a:ln>
        </p:spPr>
      </p:sp>
      <p:sp>
        <p:nvSpPr>
          <p:cNvPr id="25" name="Text 23"/>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PLC SPECIFICATIONS AND I/O MODULES</a:t>
            </a:r>
            <a:endParaRPr lang="en-US" sz="800" dirty="0"/>
          </a:p>
        </p:txBody>
      </p:sp>
      <p:sp>
        <p:nvSpPr>
          <p:cNvPr id="26" name="Text 24"/>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04 / 18</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3F7394"/>
          </a:solidFill>
          <a:ln w="12700">
            <a:solidFill>
              <a:srgbClr val="3F7394">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3F7394"/>
                </a:solidFill>
                <a:latin typeface="Aptos" pitchFamily="34" charset="0"/>
                <a:ea typeface="Aptos" pitchFamily="34" charset="-122"/>
                <a:cs typeface="Aptos" pitchFamily="34" charset="-120"/>
              </a:rPr>
              <a:t>UNIT 5009    /    WEEK 03    /    LO1</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13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3F7394"/>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3F7394"/>
                </a:solidFill>
                <a:latin typeface="Aptos" pitchFamily="34" charset="0"/>
                <a:ea typeface="Aptos" pitchFamily="34" charset="-122"/>
                <a:cs typeface="Aptos" pitchFamily="34" charset="-120"/>
              </a:rPr>
              <a:t>P2</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Speed and pulse-event capture</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76656" y="1719072"/>
            <a:ext cx="1828800" cy="210312"/>
          </a:xfrm>
          <a:prstGeom prst="rect">
            <a:avLst/>
          </a:prstGeom>
          <a:noFill/>
          <a:ln/>
        </p:spPr>
        <p:txBody>
          <a:bodyPr wrap="square" lIns="0" tIns="0" rIns="0" bIns="0" rtlCol="0" anchor="ctr"/>
          <a:lstStyle/>
          <a:p>
            <a:pPr indent="0" marL="0">
              <a:buNone/>
            </a:pPr>
            <a:r>
              <a:rPr lang="en-US" sz="900" b="1" spc="100" kern="0" dirty="0">
                <a:solidFill>
                  <a:srgbClr val="3F7394"/>
                </a:solidFill>
                <a:latin typeface="Aptos" pitchFamily="34" charset="0"/>
                <a:ea typeface="Aptos" pitchFamily="34" charset="-122"/>
                <a:cs typeface="Aptos" pitchFamily="34" charset="-120"/>
              </a:rPr>
              <a:t>KEY IDEAS</a:t>
            </a:r>
            <a:endParaRPr lang="en-US" sz="900" dirty="0"/>
          </a:p>
        </p:txBody>
      </p:sp>
      <p:sp>
        <p:nvSpPr>
          <p:cNvPr id="11" name="Shape 9"/>
          <p:cNvSpPr/>
          <p:nvPr/>
        </p:nvSpPr>
        <p:spPr>
          <a:xfrm>
            <a:off x="713232" y="2139696"/>
            <a:ext cx="100584" cy="100584"/>
          </a:xfrm>
          <a:prstGeom prst="ellipse">
            <a:avLst/>
          </a:prstGeom>
          <a:solidFill>
            <a:srgbClr val="3F7394"/>
          </a:solidFill>
          <a:ln w="12700">
            <a:solidFill>
              <a:srgbClr val="3F7394">
                <a:alpha val="0"/>
              </a:srgbClr>
            </a:solidFill>
            <a:prstDash val="solid"/>
          </a:ln>
        </p:spPr>
      </p:sp>
      <p:sp>
        <p:nvSpPr>
          <p:cNvPr id="12" name="Text 10"/>
          <p:cNvSpPr/>
          <p:nvPr/>
        </p:nvSpPr>
        <p:spPr>
          <a:xfrm>
            <a:off x="969264" y="2029968"/>
            <a:ext cx="6327648" cy="804672"/>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Compare CPU performance, worst-case/task timing, high-speed counter frequency, input filter, remote-I/O update, and output switching limits.</a:t>
            </a:r>
            <a:endParaRPr lang="en-US" sz="1650" dirty="0"/>
          </a:p>
        </p:txBody>
      </p:sp>
      <p:sp>
        <p:nvSpPr>
          <p:cNvPr id="13" name="Shape 11"/>
          <p:cNvSpPr/>
          <p:nvPr/>
        </p:nvSpPr>
        <p:spPr>
          <a:xfrm>
            <a:off x="713232" y="3054096"/>
            <a:ext cx="100584" cy="100584"/>
          </a:xfrm>
          <a:prstGeom prst="ellipse">
            <a:avLst/>
          </a:prstGeom>
          <a:solidFill>
            <a:srgbClr val="3F7394"/>
          </a:solidFill>
          <a:ln w="12700">
            <a:solidFill>
              <a:srgbClr val="3F7394">
                <a:alpha val="0"/>
              </a:srgbClr>
            </a:solidFill>
            <a:prstDash val="solid"/>
          </a:ln>
        </p:spPr>
      </p:sp>
      <p:sp>
        <p:nvSpPr>
          <p:cNvPr id="14" name="Text 12"/>
          <p:cNvSpPr/>
          <p:nvPr/>
        </p:nvSpPr>
        <p:spPr>
          <a:xfrm>
            <a:off x="969264" y="2944368"/>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Relate these to pill pulse width and maximum event rate; test whether normal input scanning can reliably see each event.</a:t>
            </a:r>
            <a:endParaRPr lang="en-US" sz="1650" dirty="0"/>
          </a:p>
        </p:txBody>
      </p:sp>
      <p:sp>
        <p:nvSpPr>
          <p:cNvPr id="15" name="Shape 13"/>
          <p:cNvSpPr/>
          <p:nvPr/>
        </p:nvSpPr>
        <p:spPr>
          <a:xfrm>
            <a:off x="713232" y="3730752"/>
            <a:ext cx="100584" cy="100584"/>
          </a:xfrm>
          <a:prstGeom prst="ellipse">
            <a:avLst/>
          </a:prstGeom>
          <a:solidFill>
            <a:srgbClr val="3F7394"/>
          </a:solidFill>
          <a:ln w="12700">
            <a:solidFill>
              <a:srgbClr val="3F7394">
                <a:alpha val="0"/>
              </a:srgbClr>
            </a:solidFill>
            <a:prstDash val="solid"/>
          </a:ln>
        </p:spPr>
      </p:sp>
      <p:sp>
        <p:nvSpPr>
          <p:cNvPr id="16" name="Text 14"/>
          <p:cNvSpPr/>
          <p:nvPr/>
        </p:nvSpPr>
        <p:spPr>
          <a:xfrm>
            <a:off x="969264" y="3621024"/>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Explain that a high-speed counter or capture input may be required if pulses are too short/fast.</a:t>
            </a:r>
            <a:endParaRPr lang="en-US" sz="1650" dirty="0"/>
          </a:p>
        </p:txBody>
      </p:sp>
      <p:sp>
        <p:nvSpPr>
          <p:cNvPr id="17" name="Shape 15"/>
          <p:cNvSpPr/>
          <p:nvPr/>
        </p:nvSpPr>
        <p:spPr>
          <a:xfrm>
            <a:off x="7644384" y="1746504"/>
            <a:ext cx="3941064" cy="4352544"/>
          </a:xfrm>
          <a:prstGeom prst="rect">
            <a:avLst/>
          </a:prstGeom>
          <a:solidFill>
            <a:srgbClr val="E8EFF3"/>
          </a:solidFill>
          <a:ln w="15240">
            <a:solidFill>
              <a:srgbClr val="C8D5DE"/>
            </a:solidFill>
            <a:prstDash val="solid"/>
          </a:ln>
        </p:spPr>
      </p:sp>
      <p:sp>
        <p:nvSpPr>
          <p:cNvPr id="18" name="Text 16"/>
          <p:cNvSpPr/>
          <p:nvPr/>
        </p:nvSpPr>
        <p:spPr>
          <a:xfrm>
            <a:off x="7845552" y="1911096"/>
            <a:ext cx="3538728" cy="246888"/>
          </a:xfrm>
          <a:prstGeom prst="rect">
            <a:avLst/>
          </a:prstGeom>
          <a:noFill/>
          <a:ln/>
        </p:spPr>
        <p:txBody>
          <a:bodyPr wrap="square" lIns="0" tIns="0" rIns="0" bIns="0" rtlCol="0" anchor="ctr"/>
          <a:lstStyle/>
          <a:p>
            <a:pPr indent="0" marL="0">
              <a:buNone/>
            </a:pPr>
            <a:r>
              <a:rPr lang="en-US" sz="900" b="1" spc="80" kern="0" dirty="0">
                <a:solidFill>
                  <a:srgbClr val="3F7394"/>
                </a:solidFill>
                <a:latin typeface="Aptos" pitchFamily="34" charset="0"/>
                <a:ea typeface="Aptos" pitchFamily="34" charset="-122"/>
                <a:cs typeface="Aptos" pitchFamily="34" charset="-120"/>
              </a:rPr>
              <a:t>IMAGE PLACEHOLDER</a:t>
            </a:r>
            <a:endParaRPr lang="en-US" sz="900" dirty="0"/>
          </a:p>
        </p:txBody>
      </p:sp>
      <p:sp>
        <p:nvSpPr>
          <p:cNvPr id="19" name="Text 17"/>
          <p:cNvSpPr/>
          <p:nvPr/>
        </p:nvSpPr>
        <p:spPr>
          <a:xfrm>
            <a:off x="7900416" y="3072384"/>
            <a:ext cx="3429000" cy="347472"/>
          </a:xfrm>
          <a:prstGeom prst="rect">
            <a:avLst/>
          </a:prstGeom>
          <a:noFill/>
          <a:ln/>
        </p:spPr>
        <p:txBody>
          <a:bodyPr wrap="square" lIns="0" tIns="0" rIns="0" bIns="0" rtlCol="0" anchor="ctr"/>
          <a:lstStyle/>
          <a:p>
            <a:pPr algn="ctr" indent="0" marL="0">
              <a:buNone/>
            </a:pPr>
            <a:r>
              <a:rPr lang="en-US" sz="1700" b="1" dirty="0">
                <a:solidFill>
                  <a:srgbClr val="7A8F9D"/>
                </a:solidFill>
                <a:latin typeface="Aptos Display" pitchFamily="34" charset="0"/>
                <a:ea typeface="Aptos Display" pitchFamily="34" charset="-122"/>
                <a:cs typeface="Aptos Display" pitchFamily="34" charset="-120"/>
              </a:rPr>
              <a:t>ADD PHOTO OR DIAGRAM</a:t>
            </a:r>
            <a:endParaRPr lang="en-US" sz="1700" dirty="0"/>
          </a:p>
        </p:txBody>
      </p:sp>
      <p:sp>
        <p:nvSpPr>
          <p:cNvPr id="20" name="Text 18"/>
          <p:cNvSpPr/>
          <p:nvPr/>
        </p:nvSpPr>
        <p:spPr>
          <a:xfrm>
            <a:off x="7900416" y="3465576"/>
            <a:ext cx="3429000" cy="301752"/>
          </a:xfrm>
          <a:prstGeom prst="rect">
            <a:avLst/>
          </a:prstGeom>
          <a:noFill/>
          <a:ln/>
        </p:spPr>
        <p:txBody>
          <a:bodyPr wrap="square" lIns="0" tIns="0" rIns="0" bIns="0" rtlCol="0" anchor="ctr"/>
          <a:lstStyle/>
          <a:p>
            <a:pPr algn="ctr" indent="0" marL="0">
              <a:buNone/>
            </a:pPr>
            <a:r>
              <a:rPr lang="en-US" sz="1150" dirty="0">
                <a:solidFill>
                  <a:srgbClr val="607585"/>
                </a:solidFill>
                <a:latin typeface="Aptos" pitchFamily="34" charset="0"/>
                <a:ea typeface="Aptos" pitchFamily="34" charset="-122"/>
                <a:cs typeface="Aptos" pitchFamily="34" charset="-120"/>
              </a:rPr>
              <a:t>Leave this area open for the final visual</a:t>
            </a:r>
            <a:endParaRPr lang="en-US" sz="1150" dirty="0"/>
          </a:p>
        </p:txBody>
      </p:sp>
      <p:sp>
        <p:nvSpPr>
          <p:cNvPr id="21" name="Shape 19"/>
          <p:cNvSpPr/>
          <p:nvPr/>
        </p:nvSpPr>
        <p:spPr>
          <a:xfrm>
            <a:off x="7845552" y="5111496"/>
            <a:ext cx="3538728" cy="0"/>
          </a:xfrm>
          <a:prstGeom prst="line">
            <a:avLst/>
          </a:prstGeom>
          <a:noFill/>
          <a:ln w="12700">
            <a:solidFill>
              <a:srgbClr val="C8D5DE"/>
            </a:solidFill>
            <a:prstDash val="solid"/>
          </a:ln>
        </p:spPr>
      </p:sp>
      <p:sp>
        <p:nvSpPr>
          <p:cNvPr id="22" name="Text 20"/>
          <p:cNvSpPr/>
          <p:nvPr/>
        </p:nvSpPr>
        <p:spPr>
          <a:xfrm>
            <a:off x="7845552" y="5239512"/>
            <a:ext cx="3538728" cy="384048"/>
          </a:xfrm>
          <a:prstGeom prst="rect">
            <a:avLst/>
          </a:prstGeom>
          <a:noFill/>
          <a:ln/>
        </p:spPr>
        <p:txBody>
          <a:bodyPr wrap="square" lIns="0" tIns="0" rIns="0" bIns="0" rtlCol="0" anchor="ctr"/>
          <a:lstStyle/>
          <a:p>
            <a:pPr indent="0" marL="0">
              <a:buNone/>
            </a:pPr>
            <a:r>
              <a:rPr lang="en-US" sz="1050" b="1" dirty="0">
                <a:solidFill>
                  <a:srgbClr val="1B3448"/>
                </a:solidFill>
                <a:latin typeface="Aptos" pitchFamily="34" charset="0"/>
                <a:ea typeface="Aptos" pitchFamily="34" charset="-122"/>
                <a:cs typeface="Aptos" pitchFamily="34" charset="-120"/>
              </a:rPr>
              <a:t>VISUAL BRIEF  /  Speed and pulse-event capture</a:t>
            </a:r>
            <a:endParaRPr lang="en-US" sz="1050" dirty="0"/>
          </a:p>
        </p:txBody>
      </p:sp>
      <p:sp>
        <p:nvSpPr>
          <p:cNvPr id="23" name="Text 21"/>
          <p:cNvSpPr/>
          <p:nvPr/>
        </p:nvSpPr>
        <p:spPr>
          <a:xfrm>
            <a:off x="7845552" y="5650992"/>
            <a:ext cx="3538728" cy="265176"/>
          </a:xfrm>
          <a:prstGeom prst="rect">
            <a:avLst/>
          </a:prstGeom>
          <a:noFill/>
          <a:ln/>
        </p:spPr>
        <p:txBody>
          <a:bodyPr wrap="square" lIns="0" tIns="0" rIns="0" bIns="0" rtlCol="0" anchor="ctr"/>
          <a:lstStyle/>
          <a:p>
            <a:pPr indent="0" marL="0">
              <a:buNone/>
            </a:pPr>
            <a:r>
              <a:rPr lang="en-US" sz="900" dirty="0">
                <a:solidFill>
                  <a:srgbClr val="607585"/>
                </a:solidFill>
                <a:latin typeface="Aptos" pitchFamily="34" charset="0"/>
                <a:ea typeface="Aptos" pitchFamily="34" charset="-122"/>
                <a:cs typeface="Aptos" pitchFamily="34" charset="-120"/>
              </a:rPr>
              <a:t>Full image-generation prompt is in this slide's speaker notes.</a:t>
            </a:r>
            <a:endParaRPr lang="en-US" sz="900" dirty="0"/>
          </a:p>
        </p:txBody>
      </p:sp>
      <p:sp>
        <p:nvSpPr>
          <p:cNvPr id="24" name="Shape 22"/>
          <p:cNvSpPr/>
          <p:nvPr/>
        </p:nvSpPr>
        <p:spPr>
          <a:xfrm>
            <a:off x="603504" y="6318504"/>
            <a:ext cx="10972800" cy="0"/>
          </a:xfrm>
          <a:prstGeom prst="line">
            <a:avLst/>
          </a:prstGeom>
          <a:noFill/>
          <a:ln w="10160">
            <a:solidFill>
              <a:srgbClr val="D5E0E7"/>
            </a:solidFill>
            <a:prstDash val="solid"/>
          </a:ln>
        </p:spPr>
      </p:sp>
      <p:sp>
        <p:nvSpPr>
          <p:cNvPr id="25" name="Text 23"/>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PLC SPECIFICATIONS AND I/O MODULES</a:t>
            </a:r>
            <a:endParaRPr lang="en-US" sz="800" dirty="0"/>
          </a:p>
        </p:txBody>
      </p:sp>
      <p:sp>
        <p:nvSpPr>
          <p:cNvPr id="26" name="Text 24"/>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05 / 18</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3F7394"/>
          </a:solidFill>
          <a:ln w="12700">
            <a:solidFill>
              <a:srgbClr val="3F7394">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3F7394"/>
                </a:solidFill>
                <a:latin typeface="Aptos" pitchFamily="34" charset="0"/>
                <a:ea typeface="Aptos" pitchFamily="34" charset="-122"/>
                <a:cs typeface="Aptos" pitchFamily="34" charset="-120"/>
              </a:rPr>
              <a:t>UNIT 5009    /    WEEK 03    /    LO1</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12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3F7394"/>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3F7394"/>
                </a:solidFill>
                <a:latin typeface="Aptos" pitchFamily="34" charset="0"/>
                <a:ea typeface="Aptos" pitchFamily="34" charset="-122"/>
                <a:cs typeface="Aptos" pitchFamily="34" charset="-120"/>
              </a:rPr>
              <a:t>P2</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Voltage and current compatibility</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76656" y="1719072"/>
            <a:ext cx="1828800" cy="210312"/>
          </a:xfrm>
          <a:prstGeom prst="rect">
            <a:avLst/>
          </a:prstGeom>
          <a:noFill/>
          <a:ln/>
        </p:spPr>
        <p:txBody>
          <a:bodyPr wrap="square" lIns="0" tIns="0" rIns="0" bIns="0" rtlCol="0" anchor="ctr"/>
          <a:lstStyle/>
          <a:p>
            <a:pPr indent="0" marL="0">
              <a:buNone/>
            </a:pPr>
            <a:r>
              <a:rPr lang="en-US" sz="900" b="1" spc="100" kern="0" dirty="0">
                <a:solidFill>
                  <a:srgbClr val="3F7394"/>
                </a:solidFill>
                <a:latin typeface="Aptos" pitchFamily="34" charset="0"/>
                <a:ea typeface="Aptos" pitchFamily="34" charset="-122"/>
                <a:cs typeface="Aptos" pitchFamily="34" charset="-120"/>
              </a:rPr>
              <a:t>KEY IDEAS</a:t>
            </a:r>
            <a:endParaRPr lang="en-US" sz="900" dirty="0"/>
          </a:p>
        </p:txBody>
      </p:sp>
      <p:sp>
        <p:nvSpPr>
          <p:cNvPr id="11" name="Shape 9"/>
          <p:cNvSpPr/>
          <p:nvPr/>
        </p:nvSpPr>
        <p:spPr>
          <a:xfrm>
            <a:off x="713232" y="2139696"/>
            <a:ext cx="100584" cy="100584"/>
          </a:xfrm>
          <a:prstGeom prst="ellipse">
            <a:avLst/>
          </a:prstGeom>
          <a:solidFill>
            <a:srgbClr val="3F7394"/>
          </a:solidFill>
          <a:ln w="12700">
            <a:solidFill>
              <a:srgbClr val="3F7394">
                <a:alpha val="0"/>
              </a:srgbClr>
            </a:solidFill>
            <a:prstDash val="solid"/>
          </a:ln>
        </p:spPr>
      </p:sp>
      <p:sp>
        <p:nvSpPr>
          <p:cNvPr id="12" name="Text 10"/>
          <p:cNvSpPr/>
          <p:nvPr/>
        </p:nvSpPr>
        <p:spPr>
          <a:xfrm>
            <a:off x="969264" y="2029968"/>
            <a:ext cx="6327648" cy="804672"/>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Read PLC supply range, digital input thresholds/current, output voltage/current, per-point/group limits, isolation, and temperature derating.</a:t>
            </a:r>
            <a:endParaRPr lang="en-US" sz="1650" dirty="0"/>
          </a:p>
        </p:txBody>
      </p:sp>
      <p:sp>
        <p:nvSpPr>
          <p:cNvPr id="13" name="Shape 11"/>
          <p:cNvSpPr/>
          <p:nvPr/>
        </p:nvSpPr>
        <p:spPr>
          <a:xfrm>
            <a:off x="713232" y="3054096"/>
            <a:ext cx="100584" cy="100584"/>
          </a:xfrm>
          <a:prstGeom prst="ellipse">
            <a:avLst/>
          </a:prstGeom>
          <a:solidFill>
            <a:srgbClr val="3F7394"/>
          </a:solidFill>
          <a:ln w="12700">
            <a:solidFill>
              <a:srgbClr val="3F7394">
                <a:alpha val="0"/>
              </a:srgbClr>
            </a:solidFill>
            <a:prstDash val="solid"/>
          </a:ln>
        </p:spPr>
      </p:sp>
      <p:sp>
        <p:nvSpPr>
          <p:cNvPr id="14" name="Text 12"/>
          <p:cNvSpPr/>
          <p:nvPr/>
        </p:nvSpPr>
        <p:spPr>
          <a:xfrm>
            <a:off x="969264" y="2944368"/>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Include load inrush, inductive loads, wiring/common arrangements, fusing, and power budgeting.</a:t>
            </a:r>
            <a:endParaRPr lang="en-US" sz="1650" dirty="0"/>
          </a:p>
        </p:txBody>
      </p:sp>
      <p:sp>
        <p:nvSpPr>
          <p:cNvPr id="15" name="Shape 13"/>
          <p:cNvSpPr/>
          <p:nvPr/>
        </p:nvSpPr>
        <p:spPr>
          <a:xfrm>
            <a:off x="713232" y="3730752"/>
            <a:ext cx="100584" cy="100584"/>
          </a:xfrm>
          <a:prstGeom prst="ellipse">
            <a:avLst/>
          </a:prstGeom>
          <a:solidFill>
            <a:srgbClr val="3F7394"/>
          </a:solidFill>
          <a:ln w="12700">
            <a:solidFill>
              <a:srgbClr val="3F7394">
                <a:alpha val="0"/>
              </a:srgbClr>
            </a:solidFill>
            <a:prstDash val="solid"/>
          </a:ln>
        </p:spPr>
      </p:sp>
      <p:sp>
        <p:nvSpPr>
          <p:cNvPr id="16" name="Text 14"/>
          <p:cNvSpPr/>
          <p:nvPr/>
        </p:nvSpPr>
        <p:spPr>
          <a:xfrm>
            <a:off x="969264" y="3621024"/>
            <a:ext cx="6327648" cy="804672"/>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Worked example: compare a hypothetical actuator coil nameplate and relay-module rating; list all missing assumptions before approval.</a:t>
            </a:r>
            <a:endParaRPr lang="en-US" sz="1650" dirty="0"/>
          </a:p>
        </p:txBody>
      </p:sp>
      <p:sp>
        <p:nvSpPr>
          <p:cNvPr id="17" name="Shape 15"/>
          <p:cNvSpPr/>
          <p:nvPr/>
        </p:nvSpPr>
        <p:spPr>
          <a:xfrm>
            <a:off x="7644384" y="1746504"/>
            <a:ext cx="3941064" cy="4352544"/>
          </a:xfrm>
          <a:prstGeom prst="rect">
            <a:avLst/>
          </a:prstGeom>
          <a:solidFill>
            <a:srgbClr val="E8EFF3"/>
          </a:solidFill>
          <a:ln w="15240">
            <a:solidFill>
              <a:srgbClr val="C8D5DE"/>
            </a:solidFill>
            <a:prstDash val="solid"/>
          </a:ln>
        </p:spPr>
      </p:sp>
      <p:sp>
        <p:nvSpPr>
          <p:cNvPr id="18" name="Text 16"/>
          <p:cNvSpPr/>
          <p:nvPr/>
        </p:nvSpPr>
        <p:spPr>
          <a:xfrm>
            <a:off x="7845552" y="1911096"/>
            <a:ext cx="3538728" cy="246888"/>
          </a:xfrm>
          <a:prstGeom prst="rect">
            <a:avLst/>
          </a:prstGeom>
          <a:noFill/>
          <a:ln/>
        </p:spPr>
        <p:txBody>
          <a:bodyPr wrap="square" lIns="0" tIns="0" rIns="0" bIns="0" rtlCol="0" anchor="ctr"/>
          <a:lstStyle/>
          <a:p>
            <a:pPr indent="0" marL="0">
              <a:buNone/>
            </a:pPr>
            <a:r>
              <a:rPr lang="en-US" sz="900" b="1" spc="80" kern="0" dirty="0">
                <a:solidFill>
                  <a:srgbClr val="3F7394"/>
                </a:solidFill>
                <a:latin typeface="Aptos" pitchFamily="34" charset="0"/>
                <a:ea typeface="Aptos" pitchFamily="34" charset="-122"/>
                <a:cs typeface="Aptos" pitchFamily="34" charset="-120"/>
              </a:rPr>
              <a:t>IMAGE PLACEHOLDER</a:t>
            </a:r>
            <a:endParaRPr lang="en-US" sz="900" dirty="0"/>
          </a:p>
        </p:txBody>
      </p:sp>
      <p:sp>
        <p:nvSpPr>
          <p:cNvPr id="19" name="Text 17"/>
          <p:cNvSpPr/>
          <p:nvPr/>
        </p:nvSpPr>
        <p:spPr>
          <a:xfrm>
            <a:off x="7900416" y="3072384"/>
            <a:ext cx="3429000" cy="347472"/>
          </a:xfrm>
          <a:prstGeom prst="rect">
            <a:avLst/>
          </a:prstGeom>
          <a:noFill/>
          <a:ln/>
        </p:spPr>
        <p:txBody>
          <a:bodyPr wrap="square" lIns="0" tIns="0" rIns="0" bIns="0" rtlCol="0" anchor="ctr"/>
          <a:lstStyle/>
          <a:p>
            <a:pPr algn="ctr" indent="0" marL="0">
              <a:buNone/>
            </a:pPr>
            <a:r>
              <a:rPr lang="en-US" sz="1700" b="1" dirty="0">
                <a:solidFill>
                  <a:srgbClr val="7A8F9D"/>
                </a:solidFill>
                <a:latin typeface="Aptos Display" pitchFamily="34" charset="0"/>
                <a:ea typeface="Aptos Display" pitchFamily="34" charset="-122"/>
                <a:cs typeface="Aptos Display" pitchFamily="34" charset="-120"/>
              </a:rPr>
              <a:t>ADD PHOTO OR DIAGRAM</a:t>
            </a:r>
            <a:endParaRPr lang="en-US" sz="1700" dirty="0"/>
          </a:p>
        </p:txBody>
      </p:sp>
      <p:sp>
        <p:nvSpPr>
          <p:cNvPr id="20" name="Text 18"/>
          <p:cNvSpPr/>
          <p:nvPr/>
        </p:nvSpPr>
        <p:spPr>
          <a:xfrm>
            <a:off x="7900416" y="3465576"/>
            <a:ext cx="3429000" cy="301752"/>
          </a:xfrm>
          <a:prstGeom prst="rect">
            <a:avLst/>
          </a:prstGeom>
          <a:noFill/>
          <a:ln/>
        </p:spPr>
        <p:txBody>
          <a:bodyPr wrap="square" lIns="0" tIns="0" rIns="0" bIns="0" rtlCol="0" anchor="ctr"/>
          <a:lstStyle/>
          <a:p>
            <a:pPr algn="ctr" indent="0" marL="0">
              <a:buNone/>
            </a:pPr>
            <a:r>
              <a:rPr lang="en-US" sz="1150" dirty="0">
                <a:solidFill>
                  <a:srgbClr val="607585"/>
                </a:solidFill>
                <a:latin typeface="Aptos" pitchFamily="34" charset="0"/>
                <a:ea typeface="Aptos" pitchFamily="34" charset="-122"/>
                <a:cs typeface="Aptos" pitchFamily="34" charset="-120"/>
              </a:rPr>
              <a:t>Leave this area open for the final visual</a:t>
            </a:r>
            <a:endParaRPr lang="en-US" sz="1150" dirty="0"/>
          </a:p>
        </p:txBody>
      </p:sp>
      <p:sp>
        <p:nvSpPr>
          <p:cNvPr id="21" name="Shape 19"/>
          <p:cNvSpPr/>
          <p:nvPr/>
        </p:nvSpPr>
        <p:spPr>
          <a:xfrm>
            <a:off x="7845552" y="5111496"/>
            <a:ext cx="3538728" cy="0"/>
          </a:xfrm>
          <a:prstGeom prst="line">
            <a:avLst/>
          </a:prstGeom>
          <a:noFill/>
          <a:ln w="12700">
            <a:solidFill>
              <a:srgbClr val="C8D5DE"/>
            </a:solidFill>
            <a:prstDash val="solid"/>
          </a:ln>
        </p:spPr>
      </p:sp>
      <p:sp>
        <p:nvSpPr>
          <p:cNvPr id="22" name="Text 20"/>
          <p:cNvSpPr/>
          <p:nvPr/>
        </p:nvSpPr>
        <p:spPr>
          <a:xfrm>
            <a:off x="7845552" y="5239512"/>
            <a:ext cx="3538728" cy="384048"/>
          </a:xfrm>
          <a:prstGeom prst="rect">
            <a:avLst/>
          </a:prstGeom>
          <a:noFill/>
          <a:ln/>
        </p:spPr>
        <p:txBody>
          <a:bodyPr wrap="square" lIns="0" tIns="0" rIns="0" bIns="0" rtlCol="0" anchor="ctr"/>
          <a:lstStyle/>
          <a:p>
            <a:pPr indent="0" marL="0">
              <a:buNone/>
            </a:pPr>
            <a:r>
              <a:rPr lang="en-US" sz="1050" b="1" dirty="0">
                <a:solidFill>
                  <a:srgbClr val="1B3448"/>
                </a:solidFill>
                <a:latin typeface="Aptos" pitchFamily="34" charset="0"/>
                <a:ea typeface="Aptos" pitchFamily="34" charset="-122"/>
                <a:cs typeface="Aptos" pitchFamily="34" charset="-120"/>
              </a:rPr>
              <a:t>VISUAL BRIEF  /  Voltage and current compatibility</a:t>
            </a:r>
            <a:endParaRPr lang="en-US" sz="1050" dirty="0"/>
          </a:p>
        </p:txBody>
      </p:sp>
      <p:sp>
        <p:nvSpPr>
          <p:cNvPr id="23" name="Text 21"/>
          <p:cNvSpPr/>
          <p:nvPr/>
        </p:nvSpPr>
        <p:spPr>
          <a:xfrm>
            <a:off x="7845552" y="5650992"/>
            <a:ext cx="3538728" cy="265176"/>
          </a:xfrm>
          <a:prstGeom prst="rect">
            <a:avLst/>
          </a:prstGeom>
          <a:noFill/>
          <a:ln/>
        </p:spPr>
        <p:txBody>
          <a:bodyPr wrap="square" lIns="0" tIns="0" rIns="0" bIns="0" rtlCol="0" anchor="ctr"/>
          <a:lstStyle/>
          <a:p>
            <a:pPr indent="0" marL="0">
              <a:buNone/>
            </a:pPr>
            <a:r>
              <a:rPr lang="en-US" sz="900" dirty="0">
                <a:solidFill>
                  <a:srgbClr val="607585"/>
                </a:solidFill>
                <a:latin typeface="Aptos" pitchFamily="34" charset="0"/>
                <a:ea typeface="Aptos" pitchFamily="34" charset="-122"/>
                <a:cs typeface="Aptos" pitchFamily="34" charset="-120"/>
              </a:rPr>
              <a:t>Full image-generation prompt is in this slide's speaker notes.</a:t>
            </a:r>
            <a:endParaRPr lang="en-US" sz="900" dirty="0"/>
          </a:p>
        </p:txBody>
      </p:sp>
      <p:sp>
        <p:nvSpPr>
          <p:cNvPr id="24" name="Shape 22"/>
          <p:cNvSpPr/>
          <p:nvPr/>
        </p:nvSpPr>
        <p:spPr>
          <a:xfrm>
            <a:off x="603504" y="6318504"/>
            <a:ext cx="10972800" cy="0"/>
          </a:xfrm>
          <a:prstGeom prst="line">
            <a:avLst/>
          </a:prstGeom>
          <a:noFill/>
          <a:ln w="10160">
            <a:solidFill>
              <a:srgbClr val="D5E0E7"/>
            </a:solidFill>
            <a:prstDash val="solid"/>
          </a:ln>
        </p:spPr>
      </p:sp>
      <p:sp>
        <p:nvSpPr>
          <p:cNvPr id="25" name="Text 23"/>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PLC SPECIFICATIONS AND I/O MODULES</a:t>
            </a:r>
            <a:endParaRPr lang="en-US" sz="800" dirty="0"/>
          </a:p>
        </p:txBody>
      </p:sp>
      <p:sp>
        <p:nvSpPr>
          <p:cNvPr id="26" name="Text 24"/>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06 / 18</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3F7394"/>
          </a:solidFill>
          <a:ln w="12700">
            <a:solidFill>
              <a:srgbClr val="3F7394">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3F7394"/>
                </a:solidFill>
                <a:latin typeface="Aptos" pitchFamily="34" charset="0"/>
                <a:ea typeface="Aptos" pitchFamily="34" charset="-122"/>
                <a:cs typeface="Aptos" pitchFamily="34" charset="-120"/>
              </a:rPr>
              <a:t>UNIT 5009    /    WEEK 03    /    LO1</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13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3F7394"/>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3F7394"/>
                </a:solidFill>
                <a:latin typeface="Aptos" pitchFamily="34" charset="0"/>
                <a:ea typeface="Aptos" pitchFamily="34" charset="-122"/>
                <a:cs typeface="Aptos" pitchFamily="34" charset="-120"/>
              </a:rPr>
              <a:t>P2</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2800" b="1" dirty="0">
                <a:solidFill>
                  <a:srgbClr val="1B3448"/>
                </a:solidFill>
                <a:latin typeface="Aptos Display" pitchFamily="34" charset="0"/>
                <a:ea typeface="Aptos Display" pitchFamily="34" charset="-122"/>
                <a:cs typeface="Aptos Display" pitchFamily="34" charset="-120"/>
              </a:rPr>
              <a:t>Memory, retention, environment, and lifecycle</a:t>
            </a:r>
            <a:endParaRPr lang="en-US" sz="28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76656" y="1719072"/>
            <a:ext cx="1828800" cy="210312"/>
          </a:xfrm>
          <a:prstGeom prst="rect">
            <a:avLst/>
          </a:prstGeom>
          <a:noFill/>
          <a:ln/>
        </p:spPr>
        <p:txBody>
          <a:bodyPr wrap="square" lIns="0" tIns="0" rIns="0" bIns="0" rtlCol="0" anchor="ctr"/>
          <a:lstStyle/>
          <a:p>
            <a:pPr indent="0" marL="0">
              <a:buNone/>
            </a:pPr>
            <a:r>
              <a:rPr lang="en-US" sz="900" b="1" spc="100" kern="0" dirty="0">
                <a:solidFill>
                  <a:srgbClr val="3F7394"/>
                </a:solidFill>
                <a:latin typeface="Aptos" pitchFamily="34" charset="0"/>
                <a:ea typeface="Aptos" pitchFamily="34" charset="-122"/>
                <a:cs typeface="Aptos" pitchFamily="34" charset="-120"/>
              </a:rPr>
              <a:t>KEY IDEAS</a:t>
            </a:r>
            <a:endParaRPr lang="en-US" sz="900" dirty="0"/>
          </a:p>
        </p:txBody>
      </p:sp>
      <p:sp>
        <p:nvSpPr>
          <p:cNvPr id="11" name="Shape 9"/>
          <p:cNvSpPr/>
          <p:nvPr/>
        </p:nvSpPr>
        <p:spPr>
          <a:xfrm>
            <a:off x="713232" y="2139696"/>
            <a:ext cx="100584" cy="100584"/>
          </a:xfrm>
          <a:prstGeom prst="ellipse">
            <a:avLst/>
          </a:prstGeom>
          <a:solidFill>
            <a:srgbClr val="3F7394"/>
          </a:solidFill>
          <a:ln w="12700">
            <a:solidFill>
              <a:srgbClr val="3F7394">
                <a:alpha val="0"/>
              </a:srgbClr>
            </a:solidFill>
            <a:prstDash val="solid"/>
          </a:ln>
        </p:spPr>
      </p:sp>
      <p:sp>
        <p:nvSpPr>
          <p:cNvPr id="12" name="Text 10"/>
          <p:cNvSpPr/>
          <p:nvPr/>
        </p:nvSpPr>
        <p:spPr>
          <a:xfrm>
            <a:off x="969264" y="2029968"/>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Distinguish program memory, data/work memory, retentive memory, removable storage, and event logging.</a:t>
            </a:r>
            <a:endParaRPr lang="en-US" sz="1650" dirty="0"/>
          </a:p>
        </p:txBody>
      </p:sp>
      <p:sp>
        <p:nvSpPr>
          <p:cNvPr id="13" name="Shape 11"/>
          <p:cNvSpPr/>
          <p:nvPr/>
        </p:nvSpPr>
        <p:spPr>
          <a:xfrm>
            <a:off x="713232" y="2816352"/>
            <a:ext cx="100584" cy="100584"/>
          </a:xfrm>
          <a:prstGeom prst="ellipse">
            <a:avLst/>
          </a:prstGeom>
          <a:solidFill>
            <a:srgbClr val="3F7394"/>
          </a:solidFill>
          <a:ln w="12700">
            <a:solidFill>
              <a:srgbClr val="3F7394">
                <a:alpha val="0"/>
              </a:srgbClr>
            </a:solidFill>
            <a:prstDash val="solid"/>
          </a:ln>
        </p:spPr>
      </p:sp>
      <p:sp>
        <p:nvSpPr>
          <p:cNvPr id="14" name="Text 12"/>
          <p:cNvSpPr/>
          <p:nvPr/>
        </p:nvSpPr>
        <p:spPr>
          <a:xfrm>
            <a:off x="969264" y="2706624"/>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Check ambient temperature, vibration, EMC, enclosure, firmware lifecycle, backup/restore, and replacement availability.</a:t>
            </a:r>
            <a:endParaRPr lang="en-US" sz="1650" dirty="0"/>
          </a:p>
        </p:txBody>
      </p:sp>
      <p:sp>
        <p:nvSpPr>
          <p:cNvPr id="15" name="Shape 13"/>
          <p:cNvSpPr/>
          <p:nvPr/>
        </p:nvSpPr>
        <p:spPr>
          <a:xfrm>
            <a:off x="713232" y="3493008"/>
            <a:ext cx="100584" cy="100584"/>
          </a:xfrm>
          <a:prstGeom prst="ellipse">
            <a:avLst/>
          </a:prstGeom>
          <a:solidFill>
            <a:srgbClr val="3F7394"/>
          </a:solidFill>
          <a:ln w="12700">
            <a:solidFill>
              <a:srgbClr val="3F7394">
                <a:alpha val="0"/>
              </a:srgbClr>
            </a:solidFill>
            <a:prstDash val="solid"/>
          </a:ln>
        </p:spPr>
      </p:sp>
      <p:sp>
        <p:nvSpPr>
          <p:cNvPr id="16" name="Text 14"/>
          <p:cNvSpPr/>
          <p:nvPr/>
        </p:nvSpPr>
        <p:spPr>
          <a:xfrm>
            <a:off x="969264" y="3383280"/>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Decide what count/state should survive power loss and what reset policy applies.</a:t>
            </a:r>
            <a:endParaRPr lang="en-US" sz="1650" dirty="0"/>
          </a:p>
        </p:txBody>
      </p:sp>
      <p:sp>
        <p:nvSpPr>
          <p:cNvPr id="17" name="Shape 15"/>
          <p:cNvSpPr/>
          <p:nvPr/>
        </p:nvSpPr>
        <p:spPr>
          <a:xfrm>
            <a:off x="7644384" y="1746504"/>
            <a:ext cx="3941064" cy="4352544"/>
          </a:xfrm>
          <a:prstGeom prst="rect">
            <a:avLst/>
          </a:prstGeom>
          <a:solidFill>
            <a:srgbClr val="E8EFF3"/>
          </a:solidFill>
          <a:ln w="15240">
            <a:solidFill>
              <a:srgbClr val="C8D5DE"/>
            </a:solidFill>
            <a:prstDash val="solid"/>
          </a:ln>
        </p:spPr>
      </p:sp>
      <p:sp>
        <p:nvSpPr>
          <p:cNvPr id="18" name="Text 16"/>
          <p:cNvSpPr/>
          <p:nvPr/>
        </p:nvSpPr>
        <p:spPr>
          <a:xfrm>
            <a:off x="7845552" y="1911096"/>
            <a:ext cx="3538728" cy="246888"/>
          </a:xfrm>
          <a:prstGeom prst="rect">
            <a:avLst/>
          </a:prstGeom>
          <a:noFill/>
          <a:ln/>
        </p:spPr>
        <p:txBody>
          <a:bodyPr wrap="square" lIns="0" tIns="0" rIns="0" bIns="0" rtlCol="0" anchor="ctr"/>
          <a:lstStyle/>
          <a:p>
            <a:pPr indent="0" marL="0">
              <a:buNone/>
            </a:pPr>
            <a:r>
              <a:rPr lang="en-US" sz="900" b="1" spc="80" kern="0" dirty="0">
                <a:solidFill>
                  <a:srgbClr val="3F7394"/>
                </a:solidFill>
                <a:latin typeface="Aptos" pitchFamily="34" charset="0"/>
                <a:ea typeface="Aptos" pitchFamily="34" charset="-122"/>
                <a:cs typeface="Aptos" pitchFamily="34" charset="-120"/>
              </a:rPr>
              <a:t>IMAGE PLACEHOLDER</a:t>
            </a:r>
            <a:endParaRPr lang="en-US" sz="900" dirty="0"/>
          </a:p>
        </p:txBody>
      </p:sp>
      <p:sp>
        <p:nvSpPr>
          <p:cNvPr id="19" name="Text 17"/>
          <p:cNvSpPr/>
          <p:nvPr/>
        </p:nvSpPr>
        <p:spPr>
          <a:xfrm>
            <a:off x="7900416" y="3072384"/>
            <a:ext cx="3429000" cy="347472"/>
          </a:xfrm>
          <a:prstGeom prst="rect">
            <a:avLst/>
          </a:prstGeom>
          <a:noFill/>
          <a:ln/>
        </p:spPr>
        <p:txBody>
          <a:bodyPr wrap="square" lIns="0" tIns="0" rIns="0" bIns="0" rtlCol="0" anchor="ctr"/>
          <a:lstStyle/>
          <a:p>
            <a:pPr algn="ctr" indent="0" marL="0">
              <a:buNone/>
            </a:pPr>
            <a:r>
              <a:rPr lang="en-US" sz="1700" b="1" dirty="0">
                <a:solidFill>
                  <a:srgbClr val="7A8F9D"/>
                </a:solidFill>
                <a:latin typeface="Aptos Display" pitchFamily="34" charset="0"/>
                <a:ea typeface="Aptos Display" pitchFamily="34" charset="-122"/>
                <a:cs typeface="Aptos Display" pitchFamily="34" charset="-120"/>
              </a:rPr>
              <a:t>ADD PHOTO OR DIAGRAM</a:t>
            </a:r>
            <a:endParaRPr lang="en-US" sz="1700" dirty="0"/>
          </a:p>
        </p:txBody>
      </p:sp>
      <p:sp>
        <p:nvSpPr>
          <p:cNvPr id="20" name="Text 18"/>
          <p:cNvSpPr/>
          <p:nvPr/>
        </p:nvSpPr>
        <p:spPr>
          <a:xfrm>
            <a:off x="7900416" y="3465576"/>
            <a:ext cx="3429000" cy="301752"/>
          </a:xfrm>
          <a:prstGeom prst="rect">
            <a:avLst/>
          </a:prstGeom>
          <a:noFill/>
          <a:ln/>
        </p:spPr>
        <p:txBody>
          <a:bodyPr wrap="square" lIns="0" tIns="0" rIns="0" bIns="0" rtlCol="0" anchor="ctr"/>
          <a:lstStyle/>
          <a:p>
            <a:pPr algn="ctr" indent="0" marL="0">
              <a:buNone/>
            </a:pPr>
            <a:r>
              <a:rPr lang="en-US" sz="1150" dirty="0">
                <a:solidFill>
                  <a:srgbClr val="607585"/>
                </a:solidFill>
                <a:latin typeface="Aptos" pitchFamily="34" charset="0"/>
                <a:ea typeface="Aptos" pitchFamily="34" charset="-122"/>
                <a:cs typeface="Aptos" pitchFamily="34" charset="-120"/>
              </a:rPr>
              <a:t>Leave this area open for the final visual</a:t>
            </a:r>
            <a:endParaRPr lang="en-US" sz="1150" dirty="0"/>
          </a:p>
        </p:txBody>
      </p:sp>
      <p:sp>
        <p:nvSpPr>
          <p:cNvPr id="21" name="Shape 19"/>
          <p:cNvSpPr/>
          <p:nvPr/>
        </p:nvSpPr>
        <p:spPr>
          <a:xfrm>
            <a:off x="7845552" y="5111496"/>
            <a:ext cx="3538728" cy="0"/>
          </a:xfrm>
          <a:prstGeom prst="line">
            <a:avLst/>
          </a:prstGeom>
          <a:noFill/>
          <a:ln w="12700">
            <a:solidFill>
              <a:srgbClr val="C8D5DE"/>
            </a:solidFill>
            <a:prstDash val="solid"/>
          </a:ln>
        </p:spPr>
      </p:sp>
      <p:sp>
        <p:nvSpPr>
          <p:cNvPr id="22" name="Text 20"/>
          <p:cNvSpPr/>
          <p:nvPr/>
        </p:nvSpPr>
        <p:spPr>
          <a:xfrm>
            <a:off x="7845552" y="5239512"/>
            <a:ext cx="3538728" cy="384048"/>
          </a:xfrm>
          <a:prstGeom prst="rect">
            <a:avLst/>
          </a:prstGeom>
          <a:noFill/>
          <a:ln/>
        </p:spPr>
        <p:txBody>
          <a:bodyPr wrap="square" lIns="0" tIns="0" rIns="0" bIns="0" rtlCol="0" anchor="ctr"/>
          <a:lstStyle/>
          <a:p>
            <a:pPr indent="0" marL="0">
              <a:buNone/>
            </a:pPr>
            <a:r>
              <a:rPr lang="en-US" sz="1050" b="1" dirty="0">
                <a:solidFill>
                  <a:srgbClr val="1B3448"/>
                </a:solidFill>
                <a:latin typeface="Aptos" pitchFamily="34" charset="0"/>
                <a:ea typeface="Aptos" pitchFamily="34" charset="-122"/>
                <a:cs typeface="Aptos" pitchFamily="34" charset="-120"/>
              </a:rPr>
              <a:t>VISUAL BRIEF  /  Memory, retention, environment, and lifecycle</a:t>
            </a:r>
            <a:endParaRPr lang="en-US" sz="1050" dirty="0"/>
          </a:p>
        </p:txBody>
      </p:sp>
      <p:sp>
        <p:nvSpPr>
          <p:cNvPr id="23" name="Text 21"/>
          <p:cNvSpPr/>
          <p:nvPr/>
        </p:nvSpPr>
        <p:spPr>
          <a:xfrm>
            <a:off x="7845552" y="5650992"/>
            <a:ext cx="3538728" cy="265176"/>
          </a:xfrm>
          <a:prstGeom prst="rect">
            <a:avLst/>
          </a:prstGeom>
          <a:noFill/>
          <a:ln/>
        </p:spPr>
        <p:txBody>
          <a:bodyPr wrap="square" lIns="0" tIns="0" rIns="0" bIns="0" rtlCol="0" anchor="ctr"/>
          <a:lstStyle/>
          <a:p>
            <a:pPr indent="0" marL="0">
              <a:buNone/>
            </a:pPr>
            <a:r>
              <a:rPr lang="en-US" sz="900" dirty="0">
                <a:solidFill>
                  <a:srgbClr val="607585"/>
                </a:solidFill>
                <a:latin typeface="Aptos" pitchFamily="34" charset="0"/>
                <a:ea typeface="Aptos" pitchFamily="34" charset="-122"/>
                <a:cs typeface="Aptos" pitchFamily="34" charset="-120"/>
              </a:rPr>
              <a:t>Full image-generation prompt is in this slide's speaker notes.</a:t>
            </a:r>
            <a:endParaRPr lang="en-US" sz="900" dirty="0"/>
          </a:p>
        </p:txBody>
      </p:sp>
      <p:sp>
        <p:nvSpPr>
          <p:cNvPr id="24" name="Shape 22"/>
          <p:cNvSpPr/>
          <p:nvPr/>
        </p:nvSpPr>
        <p:spPr>
          <a:xfrm>
            <a:off x="603504" y="6318504"/>
            <a:ext cx="10972800" cy="0"/>
          </a:xfrm>
          <a:prstGeom prst="line">
            <a:avLst/>
          </a:prstGeom>
          <a:noFill/>
          <a:ln w="10160">
            <a:solidFill>
              <a:srgbClr val="D5E0E7"/>
            </a:solidFill>
            <a:prstDash val="solid"/>
          </a:ln>
        </p:spPr>
      </p:sp>
      <p:sp>
        <p:nvSpPr>
          <p:cNvPr id="25" name="Text 23"/>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PLC SPECIFICATIONS AND I/O MODULES</a:t>
            </a:r>
            <a:endParaRPr lang="en-US" sz="800" dirty="0"/>
          </a:p>
        </p:txBody>
      </p:sp>
      <p:sp>
        <p:nvSpPr>
          <p:cNvPr id="26" name="Text 24"/>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07 / 18</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3F7394"/>
          </a:solidFill>
          <a:ln w="12700">
            <a:solidFill>
              <a:srgbClr val="3F7394">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3F7394"/>
                </a:solidFill>
                <a:latin typeface="Aptos" pitchFamily="34" charset="0"/>
                <a:ea typeface="Aptos" pitchFamily="34" charset="-122"/>
                <a:cs typeface="Aptos" pitchFamily="34" charset="-120"/>
              </a:rPr>
              <a:t>UNIT 5009    /    WEEK 03    /    LO1</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10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3F7394"/>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3F7394"/>
                </a:solidFill>
                <a:latin typeface="Aptos" pitchFamily="34" charset="0"/>
                <a:ea typeface="Aptos" pitchFamily="34" charset="-122"/>
                <a:cs typeface="Aptos" pitchFamily="34" charset="-120"/>
              </a:rPr>
              <a:t>P2</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Relay outputs</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76656" y="1719072"/>
            <a:ext cx="1828800" cy="210312"/>
          </a:xfrm>
          <a:prstGeom prst="rect">
            <a:avLst/>
          </a:prstGeom>
          <a:noFill/>
          <a:ln/>
        </p:spPr>
        <p:txBody>
          <a:bodyPr wrap="square" lIns="0" tIns="0" rIns="0" bIns="0" rtlCol="0" anchor="ctr"/>
          <a:lstStyle/>
          <a:p>
            <a:pPr indent="0" marL="0">
              <a:buNone/>
            </a:pPr>
            <a:r>
              <a:rPr lang="en-US" sz="900" b="1" spc="100" kern="0" dirty="0">
                <a:solidFill>
                  <a:srgbClr val="3F7394"/>
                </a:solidFill>
                <a:latin typeface="Aptos" pitchFamily="34" charset="0"/>
                <a:ea typeface="Aptos" pitchFamily="34" charset="-122"/>
                <a:cs typeface="Aptos" pitchFamily="34" charset="-120"/>
              </a:rPr>
              <a:t>KEY IDEAS</a:t>
            </a:r>
            <a:endParaRPr lang="en-US" sz="900" dirty="0"/>
          </a:p>
        </p:txBody>
      </p:sp>
      <p:sp>
        <p:nvSpPr>
          <p:cNvPr id="11" name="Shape 9"/>
          <p:cNvSpPr/>
          <p:nvPr/>
        </p:nvSpPr>
        <p:spPr>
          <a:xfrm>
            <a:off x="713232" y="2139696"/>
            <a:ext cx="100584" cy="100584"/>
          </a:xfrm>
          <a:prstGeom prst="ellipse">
            <a:avLst/>
          </a:prstGeom>
          <a:solidFill>
            <a:srgbClr val="3F7394"/>
          </a:solidFill>
          <a:ln w="12700">
            <a:solidFill>
              <a:srgbClr val="3F7394">
                <a:alpha val="0"/>
              </a:srgbClr>
            </a:solidFill>
            <a:prstDash val="solid"/>
          </a:ln>
        </p:spPr>
      </p:sp>
      <p:sp>
        <p:nvSpPr>
          <p:cNvPr id="12" name="Text 10"/>
          <p:cNvSpPr/>
          <p:nvPr/>
        </p:nvSpPr>
        <p:spPr>
          <a:xfrm>
            <a:off x="969264" y="2029968"/>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Mechanical contacts; AC/DC use only within stated ratings; contact life, switching frequency, isolation details, and load category.</a:t>
            </a:r>
            <a:endParaRPr lang="en-US" sz="1650" dirty="0"/>
          </a:p>
        </p:txBody>
      </p:sp>
      <p:sp>
        <p:nvSpPr>
          <p:cNvPr id="13" name="Shape 11"/>
          <p:cNvSpPr/>
          <p:nvPr/>
        </p:nvSpPr>
        <p:spPr>
          <a:xfrm>
            <a:off x="713232" y="2816352"/>
            <a:ext cx="100584" cy="100584"/>
          </a:xfrm>
          <a:prstGeom prst="ellipse">
            <a:avLst/>
          </a:prstGeom>
          <a:solidFill>
            <a:srgbClr val="3F7394"/>
          </a:solidFill>
          <a:ln w="12700">
            <a:solidFill>
              <a:srgbClr val="3F7394">
                <a:alpha val="0"/>
              </a:srgbClr>
            </a:solidFill>
            <a:prstDash val="solid"/>
          </a:ln>
        </p:spPr>
      </p:sp>
      <p:sp>
        <p:nvSpPr>
          <p:cNvPr id="14" name="Text 12"/>
          <p:cNvSpPr/>
          <p:nvPr/>
        </p:nvSpPr>
        <p:spPr>
          <a:xfrm>
            <a:off x="969264" y="2706624"/>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Check inductive inrush and suppression guidance; a nameplate current rating alone is insufficient.</a:t>
            </a:r>
            <a:endParaRPr lang="en-US" sz="1650" dirty="0"/>
          </a:p>
        </p:txBody>
      </p:sp>
      <p:sp>
        <p:nvSpPr>
          <p:cNvPr id="15" name="Shape 13"/>
          <p:cNvSpPr/>
          <p:nvPr/>
        </p:nvSpPr>
        <p:spPr>
          <a:xfrm>
            <a:off x="713232" y="3493008"/>
            <a:ext cx="100584" cy="100584"/>
          </a:xfrm>
          <a:prstGeom prst="ellipse">
            <a:avLst/>
          </a:prstGeom>
          <a:solidFill>
            <a:srgbClr val="3F7394"/>
          </a:solidFill>
          <a:ln w="12700">
            <a:solidFill>
              <a:srgbClr val="3F7394">
                <a:alpha val="0"/>
              </a:srgbClr>
            </a:solidFill>
            <a:prstDash val="solid"/>
          </a:ln>
        </p:spPr>
      </p:sp>
      <p:sp>
        <p:nvSpPr>
          <p:cNvPr id="16" name="Text 14"/>
          <p:cNvSpPr/>
          <p:nvPr/>
        </p:nvSpPr>
        <p:spPr>
          <a:xfrm>
            <a:off x="969264" y="3383280"/>
            <a:ext cx="6327648" cy="329184"/>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Discuss when an interposing relay/contactor is appropriate.</a:t>
            </a:r>
            <a:endParaRPr lang="en-US" sz="1650" dirty="0"/>
          </a:p>
        </p:txBody>
      </p:sp>
      <p:sp>
        <p:nvSpPr>
          <p:cNvPr id="17" name="Shape 15"/>
          <p:cNvSpPr/>
          <p:nvPr/>
        </p:nvSpPr>
        <p:spPr>
          <a:xfrm>
            <a:off x="7644384" y="1746504"/>
            <a:ext cx="3941064" cy="4352544"/>
          </a:xfrm>
          <a:prstGeom prst="rect">
            <a:avLst/>
          </a:prstGeom>
          <a:solidFill>
            <a:srgbClr val="E8EFF3"/>
          </a:solidFill>
          <a:ln w="15240">
            <a:solidFill>
              <a:srgbClr val="C8D5DE"/>
            </a:solidFill>
            <a:prstDash val="solid"/>
          </a:ln>
        </p:spPr>
      </p:sp>
      <p:sp>
        <p:nvSpPr>
          <p:cNvPr id="18" name="Text 16"/>
          <p:cNvSpPr/>
          <p:nvPr/>
        </p:nvSpPr>
        <p:spPr>
          <a:xfrm>
            <a:off x="7845552" y="1911096"/>
            <a:ext cx="3538728" cy="246888"/>
          </a:xfrm>
          <a:prstGeom prst="rect">
            <a:avLst/>
          </a:prstGeom>
          <a:noFill/>
          <a:ln/>
        </p:spPr>
        <p:txBody>
          <a:bodyPr wrap="square" lIns="0" tIns="0" rIns="0" bIns="0" rtlCol="0" anchor="ctr"/>
          <a:lstStyle/>
          <a:p>
            <a:pPr indent="0" marL="0">
              <a:buNone/>
            </a:pPr>
            <a:r>
              <a:rPr lang="en-US" sz="900" b="1" spc="80" kern="0" dirty="0">
                <a:solidFill>
                  <a:srgbClr val="3F7394"/>
                </a:solidFill>
                <a:latin typeface="Aptos" pitchFamily="34" charset="0"/>
                <a:ea typeface="Aptos" pitchFamily="34" charset="-122"/>
                <a:cs typeface="Aptos" pitchFamily="34" charset="-120"/>
              </a:rPr>
              <a:t>IMAGE PLACEHOLDER</a:t>
            </a:r>
            <a:endParaRPr lang="en-US" sz="900" dirty="0"/>
          </a:p>
        </p:txBody>
      </p:sp>
      <p:sp>
        <p:nvSpPr>
          <p:cNvPr id="19" name="Text 17"/>
          <p:cNvSpPr/>
          <p:nvPr/>
        </p:nvSpPr>
        <p:spPr>
          <a:xfrm>
            <a:off x="7900416" y="3072384"/>
            <a:ext cx="3429000" cy="347472"/>
          </a:xfrm>
          <a:prstGeom prst="rect">
            <a:avLst/>
          </a:prstGeom>
          <a:noFill/>
          <a:ln/>
        </p:spPr>
        <p:txBody>
          <a:bodyPr wrap="square" lIns="0" tIns="0" rIns="0" bIns="0" rtlCol="0" anchor="ctr"/>
          <a:lstStyle/>
          <a:p>
            <a:pPr algn="ctr" indent="0" marL="0">
              <a:buNone/>
            </a:pPr>
            <a:r>
              <a:rPr lang="en-US" sz="1700" b="1" dirty="0">
                <a:solidFill>
                  <a:srgbClr val="7A8F9D"/>
                </a:solidFill>
                <a:latin typeface="Aptos Display" pitchFamily="34" charset="0"/>
                <a:ea typeface="Aptos Display" pitchFamily="34" charset="-122"/>
                <a:cs typeface="Aptos Display" pitchFamily="34" charset="-120"/>
              </a:rPr>
              <a:t>ADD PHOTO OR DIAGRAM</a:t>
            </a:r>
            <a:endParaRPr lang="en-US" sz="1700" dirty="0"/>
          </a:p>
        </p:txBody>
      </p:sp>
      <p:sp>
        <p:nvSpPr>
          <p:cNvPr id="20" name="Text 18"/>
          <p:cNvSpPr/>
          <p:nvPr/>
        </p:nvSpPr>
        <p:spPr>
          <a:xfrm>
            <a:off x="7900416" y="3465576"/>
            <a:ext cx="3429000" cy="301752"/>
          </a:xfrm>
          <a:prstGeom prst="rect">
            <a:avLst/>
          </a:prstGeom>
          <a:noFill/>
          <a:ln/>
        </p:spPr>
        <p:txBody>
          <a:bodyPr wrap="square" lIns="0" tIns="0" rIns="0" bIns="0" rtlCol="0" anchor="ctr"/>
          <a:lstStyle/>
          <a:p>
            <a:pPr algn="ctr" indent="0" marL="0">
              <a:buNone/>
            </a:pPr>
            <a:r>
              <a:rPr lang="en-US" sz="1150" dirty="0">
                <a:solidFill>
                  <a:srgbClr val="607585"/>
                </a:solidFill>
                <a:latin typeface="Aptos" pitchFamily="34" charset="0"/>
                <a:ea typeface="Aptos" pitchFamily="34" charset="-122"/>
                <a:cs typeface="Aptos" pitchFamily="34" charset="-120"/>
              </a:rPr>
              <a:t>Leave this area open for the final visual</a:t>
            </a:r>
            <a:endParaRPr lang="en-US" sz="1150" dirty="0"/>
          </a:p>
        </p:txBody>
      </p:sp>
      <p:sp>
        <p:nvSpPr>
          <p:cNvPr id="21" name="Shape 19"/>
          <p:cNvSpPr/>
          <p:nvPr/>
        </p:nvSpPr>
        <p:spPr>
          <a:xfrm>
            <a:off x="7845552" y="5111496"/>
            <a:ext cx="3538728" cy="0"/>
          </a:xfrm>
          <a:prstGeom prst="line">
            <a:avLst/>
          </a:prstGeom>
          <a:noFill/>
          <a:ln w="12700">
            <a:solidFill>
              <a:srgbClr val="C8D5DE"/>
            </a:solidFill>
            <a:prstDash val="solid"/>
          </a:ln>
        </p:spPr>
      </p:sp>
      <p:sp>
        <p:nvSpPr>
          <p:cNvPr id="22" name="Text 20"/>
          <p:cNvSpPr/>
          <p:nvPr/>
        </p:nvSpPr>
        <p:spPr>
          <a:xfrm>
            <a:off x="7845552" y="5239512"/>
            <a:ext cx="3538728" cy="384048"/>
          </a:xfrm>
          <a:prstGeom prst="rect">
            <a:avLst/>
          </a:prstGeom>
          <a:noFill/>
          <a:ln/>
        </p:spPr>
        <p:txBody>
          <a:bodyPr wrap="square" lIns="0" tIns="0" rIns="0" bIns="0" rtlCol="0" anchor="ctr"/>
          <a:lstStyle/>
          <a:p>
            <a:pPr indent="0" marL="0">
              <a:buNone/>
            </a:pPr>
            <a:r>
              <a:rPr lang="en-US" sz="1050" b="1" dirty="0">
                <a:solidFill>
                  <a:srgbClr val="1B3448"/>
                </a:solidFill>
                <a:latin typeface="Aptos" pitchFamily="34" charset="0"/>
                <a:ea typeface="Aptos" pitchFamily="34" charset="-122"/>
                <a:cs typeface="Aptos" pitchFamily="34" charset="-120"/>
              </a:rPr>
              <a:t>VISUAL BRIEF  /  Relay outputs</a:t>
            </a:r>
            <a:endParaRPr lang="en-US" sz="1050" dirty="0"/>
          </a:p>
        </p:txBody>
      </p:sp>
      <p:sp>
        <p:nvSpPr>
          <p:cNvPr id="23" name="Text 21"/>
          <p:cNvSpPr/>
          <p:nvPr/>
        </p:nvSpPr>
        <p:spPr>
          <a:xfrm>
            <a:off x="7845552" y="5650992"/>
            <a:ext cx="3538728" cy="265176"/>
          </a:xfrm>
          <a:prstGeom prst="rect">
            <a:avLst/>
          </a:prstGeom>
          <a:noFill/>
          <a:ln/>
        </p:spPr>
        <p:txBody>
          <a:bodyPr wrap="square" lIns="0" tIns="0" rIns="0" bIns="0" rtlCol="0" anchor="ctr"/>
          <a:lstStyle/>
          <a:p>
            <a:pPr indent="0" marL="0">
              <a:buNone/>
            </a:pPr>
            <a:r>
              <a:rPr lang="en-US" sz="900" dirty="0">
                <a:solidFill>
                  <a:srgbClr val="607585"/>
                </a:solidFill>
                <a:latin typeface="Aptos" pitchFamily="34" charset="0"/>
                <a:ea typeface="Aptos" pitchFamily="34" charset="-122"/>
                <a:cs typeface="Aptos" pitchFamily="34" charset="-120"/>
              </a:rPr>
              <a:t>Full image-generation prompt is in this slide's speaker notes.</a:t>
            </a:r>
            <a:endParaRPr lang="en-US" sz="900" dirty="0"/>
          </a:p>
        </p:txBody>
      </p:sp>
      <p:sp>
        <p:nvSpPr>
          <p:cNvPr id="24" name="Shape 22"/>
          <p:cNvSpPr/>
          <p:nvPr/>
        </p:nvSpPr>
        <p:spPr>
          <a:xfrm>
            <a:off x="603504" y="6318504"/>
            <a:ext cx="10972800" cy="0"/>
          </a:xfrm>
          <a:prstGeom prst="line">
            <a:avLst/>
          </a:prstGeom>
          <a:noFill/>
          <a:ln w="10160">
            <a:solidFill>
              <a:srgbClr val="D5E0E7"/>
            </a:solidFill>
            <a:prstDash val="solid"/>
          </a:ln>
        </p:spPr>
      </p:sp>
      <p:sp>
        <p:nvSpPr>
          <p:cNvPr id="25" name="Text 23"/>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PLC SPECIFICATIONS AND I/O MODULES</a:t>
            </a:r>
            <a:endParaRPr lang="en-US" sz="800" dirty="0"/>
          </a:p>
        </p:txBody>
      </p:sp>
      <p:sp>
        <p:nvSpPr>
          <p:cNvPr id="26" name="Text 24"/>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08 / 18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3F7394"/>
          </a:solidFill>
          <a:ln w="12700">
            <a:solidFill>
              <a:srgbClr val="3F7394">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3F7394"/>
                </a:solidFill>
                <a:latin typeface="Aptos" pitchFamily="34" charset="0"/>
                <a:ea typeface="Aptos" pitchFamily="34" charset="-122"/>
                <a:cs typeface="Aptos" pitchFamily="34" charset="-120"/>
              </a:rPr>
              <a:t>UNIT 5009    /    WEEK 03    /    LO1</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15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3F7394"/>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3F7394"/>
                </a:solidFill>
                <a:latin typeface="Aptos" pitchFamily="34" charset="0"/>
                <a:ea typeface="Aptos" pitchFamily="34" charset="-122"/>
                <a:cs typeface="Aptos" pitchFamily="34" charset="-120"/>
              </a:rPr>
              <a:t>P2</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Triac and transistor outputs</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76656" y="1719072"/>
            <a:ext cx="1828800" cy="210312"/>
          </a:xfrm>
          <a:prstGeom prst="rect">
            <a:avLst/>
          </a:prstGeom>
          <a:noFill/>
          <a:ln/>
        </p:spPr>
        <p:txBody>
          <a:bodyPr wrap="square" lIns="0" tIns="0" rIns="0" bIns="0" rtlCol="0" anchor="ctr"/>
          <a:lstStyle/>
          <a:p>
            <a:pPr indent="0" marL="0">
              <a:buNone/>
            </a:pPr>
            <a:r>
              <a:rPr lang="en-US" sz="900" b="1" spc="100" kern="0" dirty="0">
                <a:solidFill>
                  <a:srgbClr val="3F7394"/>
                </a:solidFill>
                <a:latin typeface="Aptos" pitchFamily="34" charset="0"/>
                <a:ea typeface="Aptos" pitchFamily="34" charset="-122"/>
                <a:cs typeface="Aptos" pitchFamily="34" charset="-120"/>
              </a:rPr>
              <a:t>KEY IDEAS</a:t>
            </a:r>
            <a:endParaRPr lang="en-US" sz="900" dirty="0"/>
          </a:p>
        </p:txBody>
      </p:sp>
      <p:sp>
        <p:nvSpPr>
          <p:cNvPr id="11" name="Shape 9"/>
          <p:cNvSpPr/>
          <p:nvPr/>
        </p:nvSpPr>
        <p:spPr>
          <a:xfrm>
            <a:off x="713232" y="2139696"/>
            <a:ext cx="100584" cy="100584"/>
          </a:xfrm>
          <a:prstGeom prst="ellipse">
            <a:avLst/>
          </a:prstGeom>
          <a:solidFill>
            <a:srgbClr val="3F7394"/>
          </a:solidFill>
          <a:ln w="12700">
            <a:solidFill>
              <a:srgbClr val="3F7394">
                <a:alpha val="0"/>
              </a:srgbClr>
            </a:solidFill>
            <a:prstDash val="solid"/>
          </a:ln>
        </p:spPr>
      </p:sp>
      <p:sp>
        <p:nvSpPr>
          <p:cNvPr id="12" name="Text 10"/>
          <p:cNvSpPr/>
          <p:nvPr/>
        </p:nvSpPr>
        <p:spPr>
          <a:xfrm>
            <a:off x="969264" y="2029968"/>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Triac: AC switching, leakage current, minimum load and off-state behaviour; generally not for DC loads.</a:t>
            </a:r>
            <a:endParaRPr lang="en-US" sz="1650" dirty="0"/>
          </a:p>
        </p:txBody>
      </p:sp>
      <p:sp>
        <p:nvSpPr>
          <p:cNvPr id="13" name="Shape 11"/>
          <p:cNvSpPr/>
          <p:nvPr/>
        </p:nvSpPr>
        <p:spPr>
          <a:xfrm>
            <a:off x="713232" y="2816352"/>
            <a:ext cx="100584" cy="100584"/>
          </a:xfrm>
          <a:prstGeom prst="ellipse">
            <a:avLst/>
          </a:prstGeom>
          <a:solidFill>
            <a:srgbClr val="3F7394"/>
          </a:solidFill>
          <a:ln w="12700">
            <a:solidFill>
              <a:srgbClr val="3F7394">
                <a:alpha val="0"/>
              </a:srgbClr>
            </a:solidFill>
            <a:prstDash val="solid"/>
          </a:ln>
        </p:spPr>
      </p:sp>
      <p:sp>
        <p:nvSpPr>
          <p:cNvPr id="14" name="Text 12"/>
          <p:cNvSpPr/>
          <p:nvPr/>
        </p:nvSpPr>
        <p:spPr>
          <a:xfrm>
            <a:off x="969264" y="2706624"/>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Transistor: DC switching, source/sink polarity, leakage, channel/group limits, and high-speed capability where rated.</a:t>
            </a:r>
            <a:endParaRPr lang="en-US" sz="1650" dirty="0"/>
          </a:p>
        </p:txBody>
      </p:sp>
      <p:sp>
        <p:nvSpPr>
          <p:cNvPr id="15" name="Shape 13"/>
          <p:cNvSpPr/>
          <p:nvPr/>
        </p:nvSpPr>
        <p:spPr>
          <a:xfrm>
            <a:off x="713232" y="3493008"/>
            <a:ext cx="100584" cy="100584"/>
          </a:xfrm>
          <a:prstGeom prst="ellipse">
            <a:avLst/>
          </a:prstGeom>
          <a:solidFill>
            <a:srgbClr val="3F7394"/>
          </a:solidFill>
          <a:ln w="12700">
            <a:solidFill>
              <a:srgbClr val="3F7394">
                <a:alpha val="0"/>
              </a:srgbClr>
            </a:solidFill>
            <a:prstDash val="solid"/>
          </a:ln>
        </p:spPr>
      </p:sp>
      <p:sp>
        <p:nvSpPr>
          <p:cNvPr id="16" name="Text 14"/>
          <p:cNvSpPr/>
          <p:nvPr/>
        </p:nvSpPr>
        <p:spPr>
          <a:xfrm>
            <a:off x="969264" y="3383280"/>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Compare switching rate, life, electrical compatibility, and likely interface for a buzzer/actuator.</a:t>
            </a:r>
            <a:endParaRPr lang="en-US" sz="1650" dirty="0"/>
          </a:p>
        </p:txBody>
      </p:sp>
      <p:sp>
        <p:nvSpPr>
          <p:cNvPr id="17" name="Shape 15"/>
          <p:cNvSpPr/>
          <p:nvPr/>
        </p:nvSpPr>
        <p:spPr>
          <a:xfrm>
            <a:off x="7644384" y="1746504"/>
            <a:ext cx="3941064" cy="4352544"/>
          </a:xfrm>
          <a:prstGeom prst="rect">
            <a:avLst/>
          </a:prstGeom>
          <a:solidFill>
            <a:srgbClr val="E8EFF3"/>
          </a:solidFill>
          <a:ln w="15240">
            <a:solidFill>
              <a:srgbClr val="C8D5DE"/>
            </a:solidFill>
            <a:prstDash val="solid"/>
          </a:ln>
        </p:spPr>
      </p:sp>
      <p:sp>
        <p:nvSpPr>
          <p:cNvPr id="18" name="Text 16"/>
          <p:cNvSpPr/>
          <p:nvPr/>
        </p:nvSpPr>
        <p:spPr>
          <a:xfrm>
            <a:off x="7845552" y="1911096"/>
            <a:ext cx="3538728" cy="246888"/>
          </a:xfrm>
          <a:prstGeom prst="rect">
            <a:avLst/>
          </a:prstGeom>
          <a:noFill/>
          <a:ln/>
        </p:spPr>
        <p:txBody>
          <a:bodyPr wrap="square" lIns="0" tIns="0" rIns="0" bIns="0" rtlCol="0" anchor="ctr"/>
          <a:lstStyle/>
          <a:p>
            <a:pPr indent="0" marL="0">
              <a:buNone/>
            </a:pPr>
            <a:r>
              <a:rPr lang="en-US" sz="900" b="1" spc="80" kern="0" dirty="0">
                <a:solidFill>
                  <a:srgbClr val="3F7394"/>
                </a:solidFill>
                <a:latin typeface="Aptos" pitchFamily="34" charset="0"/>
                <a:ea typeface="Aptos" pitchFamily="34" charset="-122"/>
                <a:cs typeface="Aptos" pitchFamily="34" charset="-120"/>
              </a:rPr>
              <a:t>IMAGE PLACEHOLDER</a:t>
            </a:r>
            <a:endParaRPr lang="en-US" sz="900" dirty="0"/>
          </a:p>
        </p:txBody>
      </p:sp>
      <p:sp>
        <p:nvSpPr>
          <p:cNvPr id="19" name="Text 17"/>
          <p:cNvSpPr/>
          <p:nvPr/>
        </p:nvSpPr>
        <p:spPr>
          <a:xfrm>
            <a:off x="7900416" y="3072384"/>
            <a:ext cx="3429000" cy="347472"/>
          </a:xfrm>
          <a:prstGeom prst="rect">
            <a:avLst/>
          </a:prstGeom>
          <a:noFill/>
          <a:ln/>
        </p:spPr>
        <p:txBody>
          <a:bodyPr wrap="square" lIns="0" tIns="0" rIns="0" bIns="0" rtlCol="0" anchor="ctr"/>
          <a:lstStyle/>
          <a:p>
            <a:pPr algn="ctr" indent="0" marL="0">
              <a:buNone/>
            </a:pPr>
            <a:r>
              <a:rPr lang="en-US" sz="1700" b="1" dirty="0">
                <a:solidFill>
                  <a:srgbClr val="7A8F9D"/>
                </a:solidFill>
                <a:latin typeface="Aptos Display" pitchFamily="34" charset="0"/>
                <a:ea typeface="Aptos Display" pitchFamily="34" charset="-122"/>
                <a:cs typeface="Aptos Display" pitchFamily="34" charset="-120"/>
              </a:rPr>
              <a:t>ADD PHOTO OR DIAGRAM</a:t>
            </a:r>
            <a:endParaRPr lang="en-US" sz="1700" dirty="0"/>
          </a:p>
        </p:txBody>
      </p:sp>
      <p:sp>
        <p:nvSpPr>
          <p:cNvPr id="20" name="Text 18"/>
          <p:cNvSpPr/>
          <p:nvPr/>
        </p:nvSpPr>
        <p:spPr>
          <a:xfrm>
            <a:off x="7900416" y="3465576"/>
            <a:ext cx="3429000" cy="301752"/>
          </a:xfrm>
          <a:prstGeom prst="rect">
            <a:avLst/>
          </a:prstGeom>
          <a:noFill/>
          <a:ln/>
        </p:spPr>
        <p:txBody>
          <a:bodyPr wrap="square" lIns="0" tIns="0" rIns="0" bIns="0" rtlCol="0" anchor="ctr"/>
          <a:lstStyle/>
          <a:p>
            <a:pPr algn="ctr" indent="0" marL="0">
              <a:buNone/>
            </a:pPr>
            <a:r>
              <a:rPr lang="en-US" sz="1150" dirty="0">
                <a:solidFill>
                  <a:srgbClr val="607585"/>
                </a:solidFill>
                <a:latin typeface="Aptos" pitchFamily="34" charset="0"/>
                <a:ea typeface="Aptos" pitchFamily="34" charset="-122"/>
                <a:cs typeface="Aptos" pitchFamily="34" charset="-120"/>
              </a:rPr>
              <a:t>Leave this area open for the final visual</a:t>
            </a:r>
            <a:endParaRPr lang="en-US" sz="1150" dirty="0"/>
          </a:p>
        </p:txBody>
      </p:sp>
      <p:sp>
        <p:nvSpPr>
          <p:cNvPr id="21" name="Shape 19"/>
          <p:cNvSpPr/>
          <p:nvPr/>
        </p:nvSpPr>
        <p:spPr>
          <a:xfrm>
            <a:off x="7845552" y="5111496"/>
            <a:ext cx="3538728" cy="0"/>
          </a:xfrm>
          <a:prstGeom prst="line">
            <a:avLst/>
          </a:prstGeom>
          <a:noFill/>
          <a:ln w="12700">
            <a:solidFill>
              <a:srgbClr val="C8D5DE"/>
            </a:solidFill>
            <a:prstDash val="solid"/>
          </a:ln>
        </p:spPr>
      </p:sp>
      <p:sp>
        <p:nvSpPr>
          <p:cNvPr id="22" name="Text 20"/>
          <p:cNvSpPr/>
          <p:nvPr/>
        </p:nvSpPr>
        <p:spPr>
          <a:xfrm>
            <a:off x="7845552" y="5239512"/>
            <a:ext cx="3538728" cy="384048"/>
          </a:xfrm>
          <a:prstGeom prst="rect">
            <a:avLst/>
          </a:prstGeom>
          <a:noFill/>
          <a:ln/>
        </p:spPr>
        <p:txBody>
          <a:bodyPr wrap="square" lIns="0" tIns="0" rIns="0" bIns="0" rtlCol="0" anchor="ctr"/>
          <a:lstStyle/>
          <a:p>
            <a:pPr indent="0" marL="0">
              <a:buNone/>
            </a:pPr>
            <a:r>
              <a:rPr lang="en-US" sz="1050" b="1" dirty="0">
                <a:solidFill>
                  <a:srgbClr val="1B3448"/>
                </a:solidFill>
                <a:latin typeface="Aptos" pitchFamily="34" charset="0"/>
                <a:ea typeface="Aptos" pitchFamily="34" charset="-122"/>
                <a:cs typeface="Aptos" pitchFamily="34" charset="-120"/>
              </a:rPr>
              <a:t>VISUAL BRIEF  /  Triac and transistor outputs</a:t>
            </a:r>
            <a:endParaRPr lang="en-US" sz="1050" dirty="0"/>
          </a:p>
        </p:txBody>
      </p:sp>
      <p:sp>
        <p:nvSpPr>
          <p:cNvPr id="23" name="Text 21"/>
          <p:cNvSpPr/>
          <p:nvPr/>
        </p:nvSpPr>
        <p:spPr>
          <a:xfrm>
            <a:off x="7845552" y="5650992"/>
            <a:ext cx="3538728" cy="265176"/>
          </a:xfrm>
          <a:prstGeom prst="rect">
            <a:avLst/>
          </a:prstGeom>
          <a:noFill/>
          <a:ln/>
        </p:spPr>
        <p:txBody>
          <a:bodyPr wrap="square" lIns="0" tIns="0" rIns="0" bIns="0" rtlCol="0" anchor="ctr"/>
          <a:lstStyle/>
          <a:p>
            <a:pPr indent="0" marL="0">
              <a:buNone/>
            </a:pPr>
            <a:r>
              <a:rPr lang="en-US" sz="900" dirty="0">
                <a:solidFill>
                  <a:srgbClr val="607585"/>
                </a:solidFill>
                <a:latin typeface="Aptos" pitchFamily="34" charset="0"/>
                <a:ea typeface="Aptos" pitchFamily="34" charset="-122"/>
                <a:cs typeface="Aptos" pitchFamily="34" charset="-120"/>
              </a:rPr>
              <a:t>Full image-generation prompt is in this slide's speaker notes.</a:t>
            </a:r>
            <a:endParaRPr lang="en-US" sz="900" dirty="0"/>
          </a:p>
        </p:txBody>
      </p:sp>
      <p:sp>
        <p:nvSpPr>
          <p:cNvPr id="24" name="Shape 22"/>
          <p:cNvSpPr/>
          <p:nvPr/>
        </p:nvSpPr>
        <p:spPr>
          <a:xfrm>
            <a:off x="603504" y="6318504"/>
            <a:ext cx="10972800" cy="0"/>
          </a:xfrm>
          <a:prstGeom prst="line">
            <a:avLst/>
          </a:prstGeom>
          <a:noFill/>
          <a:ln w="10160">
            <a:solidFill>
              <a:srgbClr val="D5E0E7"/>
            </a:solidFill>
            <a:prstDash val="solid"/>
          </a:ln>
        </p:spPr>
      </p:sp>
      <p:sp>
        <p:nvSpPr>
          <p:cNvPr id="25" name="Text 23"/>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PLC SPECIFICATIONS AND I/O MODULES</a:t>
            </a:r>
            <a:endParaRPr lang="en-US" sz="800" dirty="0"/>
          </a:p>
        </p:txBody>
      </p:sp>
      <p:sp>
        <p:nvSpPr>
          <p:cNvPr id="26" name="Text 24"/>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09 / 18</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3F7394"/>
          </a:solidFill>
          <a:ln w="12700">
            <a:solidFill>
              <a:srgbClr val="3F7394">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3F7394"/>
                </a:solidFill>
                <a:latin typeface="Aptos" pitchFamily="34" charset="0"/>
                <a:ea typeface="Aptos" pitchFamily="34" charset="-122"/>
                <a:cs typeface="Aptos" pitchFamily="34" charset="-120"/>
              </a:rPr>
              <a:t>UNIT 5009    /    WEEK 03    /    LO1</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10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3F7394"/>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3F7394"/>
                </a:solidFill>
                <a:latin typeface="Aptos" pitchFamily="34" charset="0"/>
                <a:ea typeface="Aptos" pitchFamily="34" charset="-122"/>
                <a:cs typeface="Aptos" pitchFamily="34" charset="-120"/>
              </a:rPr>
              <a:t>P2</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Analogue input modules and ADC</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76656" y="1719072"/>
            <a:ext cx="1828800" cy="210312"/>
          </a:xfrm>
          <a:prstGeom prst="rect">
            <a:avLst/>
          </a:prstGeom>
          <a:noFill/>
          <a:ln/>
        </p:spPr>
        <p:txBody>
          <a:bodyPr wrap="square" lIns="0" tIns="0" rIns="0" bIns="0" rtlCol="0" anchor="ctr"/>
          <a:lstStyle/>
          <a:p>
            <a:pPr indent="0" marL="0">
              <a:buNone/>
            </a:pPr>
            <a:r>
              <a:rPr lang="en-US" sz="900" b="1" spc="100" kern="0" dirty="0">
                <a:solidFill>
                  <a:srgbClr val="3F7394"/>
                </a:solidFill>
                <a:latin typeface="Aptos" pitchFamily="34" charset="0"/>
                <a:ea typeface="Aptos" pitchFamily="34" charset="-122"/>
                <a:cs typeface="Aptos" pitchFamily="34" charset="-120"/>
              </a:rPr>
              <a:t>KEY IDEAS</a:t>
            </a:r>
            <a:endParaRPr lang="en-US" sz="900" dirty="0"/>
          </a:p>
        </p:txBody>
      </p:sp>
      <p:sp>
        <p:nvSpPr>
          <p:cNvPr id="11" name="Shape 9"/>
          <p:cNvSpPr/>
          <p:nvPr/>
        </p:nvSpPr>
        <p:spPr>
          <a:xfrm>
            <a:off x="713232" y="2139696"/>
            <a:ext cx="100584" cy="100584"/>
          </a:xfrm>
          <a:prstGeom prst="ellipse">
            <a:avLst/>
          </a:prstGeom>
          <a:solidFill>
            <a:srgbClr val="3F7394"/>
          </a:solidFill>
          <a:ln w="12700">
            <a:solidFill>
              <a:srgbClr val="3F7394">
                <a:alpha val="0"/>
              </a:srgbClr>
            </a:solidFill>
            <a:prstDash val="solid"/>
          </a:ln>
        </p:spPr>
      </p:sp>
      <p:sp>
        <p:nvSpPr>
          <p:cNvPr id="12" name="Text 10"/>
          <p:cNvSpPr/>
          <p:nvPr/>
        </p:nvSpPr>
        <p:spPr>
          <a:xfrm>
            <a:off x="969264" y="2029968"/>
            <a:ext cx="6327648" cy="804672"/>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Explain sensor signal conditioning, analogue-to-digital conversion, raw count, configured range, scaling, filtering, update time, and isolation.</a:t>
            </a:r>
            <a:endParaRPr lang="en-US" sz="1650" dirty="0"/>
          </a:p>
        </p:txBody>
      </p:sp>
      <p:sp>
        <p:nvSpPr>
          <p:cNvPr id="13" name="Shape 11"/>
          <p:cNvSpPr/>
          <p:nvPr/>
        </p:nvSpPr>
        <p:spPr>
          <a:xfrm>
            <a:off x="713232" y="3054096"/>
            <a:ext cx="100584" cy="100584"/>
          </a:xfrm>
          <a:prstGeom prst="ellipse">
            <a:avLst/>
          </a:prstGeom>
          <a:solidFill>
            <a:srgbClr val="3F7394"/>
          </a:solidFill>
          <a:ln w="12700">
            <a:solidFill>
              <a:srgbClr val="3F7394">
                <a:alpha val="0"/>
              </a:srgbClr>
            </a:solidFill>
            <a:prstDash val="solid"/>
          </a:ln>
        </p:spPr>
      </p:sp>
      <p:sp>
        <p:nvSpPr>
          <p:cNvPr id="14" name="Text 12"/>
          <p:cNvSpPr/>
          <p:nvPr/>
        </p:nvSpPr>
        <p:spPr>
          <a:xfrm>
            <a:off x="969264" y="2944368"/>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Contrast resolution with accuracy, repeatability, and total measurement uncertainty.</a:t>
            </a:r>
            <a:endParaRPr lang="en-US" sz="1650" dirty="0"/>
          </a:p>
        </p:txBody>
      </p:sp>
      <p:sp>
        <p:nvSpPr>
          <p:cNvPr id="15" name="Shape 13"/>
          <p:cNvSpPr/>
          <p:nvPr/>
        </p:nvSpPr>
        <p:spPr>
          <a:xfrm>
            <a:off x="713232" y="3730752"/>
            <a:ext cx="100584" cy="100584"/>
          </a:xfrm>
          <a:prstGeom prst="ellipse">
            <a:avLst/>
          </a:prstGeom>
          <a:solidFill>
            <a:srgbClr val="3F7394"/>
          </a:solidFill>
          <a:ln w="12700">
            <a:solidFill>
              <a:srgbClr val="3F7394">
                <a:alpha val="0"/>
              </a:srgbClr>
            </a:solidFill>
            <a:prstDash val="solid"/>
          </a:ln>
        </p:spPr>
      </p:sp>
      <p:sp>
        <p:nvSpPr>
          <p:cNvPr id="16" name="Text 14"/>
          <p:cNvSpPr/>
          <p:nvPr/>
        </p:nvSpPr>
        <p:spPr>
          <a:xfrm>
            <a:off x="969264" y="3621024"/>
            <a:ext cx="6327648" cy="329184"/>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Identify ADC input versus DAC/analogue output direction.</a:t>
            </a:r>
            <a:endParaRPr lang="en-US" sz="1650" dirty="0"/>
          </a:p>
        </p:txBody>
      </p:sp>
      <p:sp>
        <p:nvSpPr>
          <p:cNvPr id="17" name="Shape 15"/>
          <p:cNvSpPr/>
          <p:nvPr/>
        </p:nvSpPr>
        <p:spPr>
          <a:xfrm>
            <a:off x="7644384" y="1746504"/>
            <a:ext cx="3941064" cy="4352544"/>
          </a:xfrm>
          <a:prstGeom prst="rect">
            <a:avLst/>
          </a:prstGeom>
          <a:solidFill>
            <a:srgbClr val="E8EFF3"/>
          </a:solidFill>
          <a:ln w="15240">
            <a:solidFill>
              <a:srgbClr val="C8D5DE"/>
            </a:solidFill>
            <a:prstDash val="solid"/>
          </a:ln>
        </p:spPr>
      </p:sp>
      <p:sp>
        <p:nvSpPr>
          <p:cNvPr id="18" name="Text 16"/>
          <p:cNvSpPr/>
          <p:nvPr/>
        </p:nvSpPr>
        <p:spPr>
          <a:xfrm>
            <a:off x="7845552" y="1911096"/>
            <a:ext cx="3538728" cy="246888"/>
          </a:xfrm>
          <a:prstGeom prst="rect">
            <a:avLst/>
          </a:prstGeom>
          <a:noFill/>
          <a:ln/>
        </p:spPr>
        <p:txBody>
          <a:bodyPr wrap="square" lIns="0" tIns="0" rIns="0" bIns="0" rtlCol="0" anchor="ctr"/>
          <a:lstStyle/>
          <a:p>
            <a:pPr indent="0" marL="0">
              <a:buNone/>
            </a:pPr>
            <a:r>
              <a:rPr lang="en-US" sz="900" b="1" spc="80" kern="0" dirty="0">
                <a:solidFill>
                  <a:srgbClr val="3F7394"/>
                </a:solidFill>
                <a:latin typeface="Aptos" pitchFamily="34" charset="0"/>
                <a:ea typeface="Aptos" pitchFamily="34" charset="-122"/>
                <a:cs typeface="Aptos" pitchFamily="34" charset="-120"/>
              </a:rPr>
              <a:t>IMAGE PLACEHOLDER</a:t>
            </a:r>
            <a:endParaRPr lang="en-US" sz="900" dirty="0"/>
          </a:p>
        </p:txBody>
      </p:sp>
      <p:sp>
        <p:nvSpPr>
          <p:cNvPr id="19" name="Text 17"/>
          <p:cNvSpPr/>
          <p:nvPr/>
        </p:nvSpPr>
        <p:spPr>
          <a:xfrm>
            <a:off x="7900416" y="3072384"/>
            <a:ext cx="3429000" cy="347472"/>
          </a:xfrm>
          <a:prstGeom prst="rect">
            <a:avLst/>
          </a:prstGeom>
          <a:noFill/>
          <a:ln/>
        </p:spPr>
        <p:txBody>
          <a:bodyPr wrap="square" lIns="0" tIns="0" rIns="0" bIns="0" rtlCol="0" anchor="ctr"/>
          <a:lstStyle/>
          <a:p>
            <a:pPr algn="ctr" indent="0" marL="0">
              <a:buNone/>
            </a:pPr>
            <a:r>
              <a:rPr lang="en-US" sz="1700" b="1" dirty="0">
                <a:solidFill>
                  <a:srgbClr val="7A8F9D"/>
                </a:solidFill>
                <a:latin typeface="Aptos Display" pitchFamily="34" charset="0"/>
                <a:ea typeface="Aptos Display" pitchFamily="34" charset="-122"/>
                <a:cs typeface="Aptos Display" pitchFamily="34" charset="-120"/>
              </a:rPr>
              <a:t>ADD PHOTO OR DIAGRAM</a:t>
            </a:r>
            <a:endParaRPr lang="en-US" sz="1700" dirty="0"/>
          </a:p>
        </p:txBody>
      </p:sp>
      <p:sp>
        <p:nvSpPr>
          <p:cNvPr id="20" name="Text 18"/>
          <p:cNvSpPr/>
          <p:nvPr/>
        </p:nvSpPr>
        <p:spPr>
          <a:xfrm>
            <a:off x="7900416" y="3465576"/>
            <a:ext cx="3429000" cy="301752"/>
          </a:xfrm>
          <a:prstGeom prst="rect">
            <a:avLst/>
          </a:prstGeom>
          <a:noFill/>
          <a:ln/>
        </p:spPr>
        <p:txBody>
          <a:bodyPr wrap="square" lIns="0" tIns="0" rIns="0" bIns="0" rtlCol="0" anchor="ctr"/>
          <a:lstStyle/>
          <a:p>
            <a:pPr algn="ctr" indent="0" marL="0">
              <a:buNone/>
            </a:pPr>
            <a:r>
              <a:rPr lang="en-US" sz="1150" dirty="0">
                <a:solidFill>
                  <a:srgbClr val="607585"/>
                </a:solidFill>
                <a:latin typeface="Aptos" pitchFamily="34" charset="0"/>
                <a:ea typeface="Aptos" pitchFamily="34" charset="-122"/>
                <a:cs typeface="Aptos" pitchFamily="34" charset="-120"/>
              </a:rPr>
              <a:t>Leave this area open for the final visual</a:t>
            </a:r>
            <a:endParaRPr lang="en-US" sz="1150" dirty="0"/>
          </a:p>
        </p:txBody>
      </p:sp>
      <p:sp>
        <p:nvSpPr>
          <p:cNvPr id="21" name="Shape 19"/>
          <p:cNvSpPr/>
          <p:nvPr/>
        </p:nvSpPr>
        <p:spPr>
          <a:xfrm>
            <a:off x="7845552" y="5111496"/>
            <a:ext cx="3538728" cy="0"/>
          </a:xfrm>
          <a:prstGeom prst="line">
            <a:avLst/>
          </a:prstGeom>
          <a:noFill/>
          <a:ln w="12700">
            <a:solidFill>
              <a:srgbClr val="C8D5DE"/>
            </a:solidFill>
            <a:prstDash val="solid"/>
          </a:ln>
        </p:spPr>
      </p:sp>
      <p:sp>
        <p:nvSpPr>
          <p:cNvPr id="22" name="Text 20"/>
          <p:cNvSpPr/>
          <p:nvPr/>
        </p:nvSpPr>
        <p:spPr>
          <a:xfrm>
            <a:off x="7845552" y="5239512"/>
            <a:ext cx="3538728" cy="384048"/>
          </a:xfrm>
          <a:prstGeom prst="rect">
            <a:avLst/>
          </a:prstGeom>
          <a:noFill/>
          <a:ln/>
        </p:spPr>
        <p:txBody>
          <a:bodyPr wrap="square" lIns="0" tIns="0" rIns="0" bIns="0" rtlCol="0" anchor="ctr"/>
          <a:lstStyle/>
          <a:p>
            <a:pPr indent="0" marL="0">
              <a:buNone/>
            </a:pPr>
            <a:r>
              <a:rPr lang="en-US" sz="1050" b="1" dirty="0">
                <a:solidFill>
                  <a:srgbClr val="1B3448"/>
                </a:solidFill>
                <a:latin typeface="Aptos" pitchFamily="34" charset="0"/>
                <a:ea typeface="Aptos" pitchFamily="34" charset="-122"/>
                <a:cs typeface="Aptos" pitchFamily="34" charset="-120"/>
              </a:rPr>
              <a:t>VISUAL BRIEF  /  Analogue input modules and ADC</a:t>
            </a:r>
            <a:endParaRPr lang="en-US" sz="1050" dirty="0"/>
          </a:p>
        </p:txBody>
      </p:sp>
      <p:sp>
        <p:nvSpPr>
          <p:cNvPr id="23" name="Text 21"/>
          <p:cNvSpPr/>
          <p:nvPr/>
        </p:nvSpPr>
        <p:spPr>
          <a:xfrm>
            <a:off x="7845552" y="5650992"/>
            <a:ext cx="3538728" cy="265176"/>
          </a:xfrm>
          <a:prstGeom prst="rect">
            <a:avLst/>
          </a:prstGeom>
          <a:noFill/>
          <a:ln/>
        </p:spPr>
        <p:txBody>
          <a:bodyPr wrap="square" lIns="0" tIns="0" rIns="0" bIns="0" rtlCol="0" anchor="ctr"/>
          <a:lstStyle/>
          <a:p>
            <a:pPr indent="0" marL="0">
              <a:buNone/>
            </a:pPr>
            <a:r>
              <a:rPr lang="en-US" sz="900" dirty="0">
                <a:solidFill>
                  <a:srgbClr val="607585"/>
                </a:solidFill>
                <a:latin typeface="Aptos" pitchFamily="34" charset="0"/>
                <a:ea typeface="Aptos" pitchFamily="34" charset="-122"/>
                <a:cs typeface="Aptos" pitchFamily="34" charset="-120"/>
              </a:rPr>
              <a:t>Full image-generation prompt is in this slide's speaker notes.</a:t>
            </a:r>
            <a:endParaRPr lang="en-US" sz="900" dirty="0"/>
          </a:p>
        </p:txBody>
      </p:sp>
      <p:sp>
        <p:nvSpPr>
          <p:cNvPr id="24" name="Shape 22"/>
          <p:cNvSpPr/>
          <p:nvPr/>
        </p:nvSpPr>
        <p:spPr>
          <a:xfrm>
            <a:off x="603504" y="6318504"/>
            <a:ext cx="10972800" cy="0"/>
          </a:xfrm>
          <a:prstGeom prst="line">
            <a:avLst/>
          </a:prstGeom>
          <a:noFill/>
          <a:ln w="10160">
            <a:solidFill>
              <a:srgbClr val="D5E0E7"/>
            </a:solidFill>
            <a:prstDash val="solid"/>
          </a:ln>
        </p:spPr>
      </p:sp>
      <p:sp>
        <p:nvSpPr>
          <p:cNvPr id="25" name="Text 23"/>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PLC SPECIFICATIONS AND I/O MODULES</a:t>
            </a:r>
            <a:endParaRPr lang="en-US" sz="800" dirty="0"/>
          </a:p>
        </p:txBody>
      </p:sp>
      <p:sp>
        <p:nvSpPr>
          <p:cNvPr id="26" name="Text 24"/>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10 / 18</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3F7394"/>
          </a:solidFill>
          <a:ln w="12700">
            <a:solidFill>
              <a:srgbClr val="3F7394">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3F7394"/>
                </a:solidFill>
                <a:latin typeface="Aptos" pitchFamily="34" charset="0"/>
                <a:ea typeface="Aptos" pitchFamily="34" charset="-122"/>
                <a:cs typeface="Aptos" pitchFamily="34" charset="-120"/>
              </a:rPr>
              <a:t>UNIT 5009    /    WEEK 03    /    LO1</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10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3F7394"/>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3F7394"/>
                </a:solidFill>
                <a:latin typeface="Aptos" pitchFamily="34" charset="0"/>
                <a:ea typeface="Aptos" pitchFamily="34" charset="-122"/>
                <a:cs typeface="Aptos" pitchFamily="34" charset="-120"/>
              </a:rPr>
              <a:t>P2</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Read the electrical ratings table</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76656" y="1719072"/>
            <a:ext cx="1828800" cy="210312"/>
          </a:xfrm>
          <a:prstGeom prst="rect">
            <a:avLst/>
          </a:prstGeom>
          <a:noFill/>
          <a:ln/>
        </p:spPr>
        <p:txBody>
          <a:bodyPr wrap="square" lIns="0" tIns="0" rIns="0" bIns="0" rtlCol="0" anchor="ctr"/>
          <a:lstStyle/>
          <a:p>
            <a:pPr indent="0" marL="0">
              <a:buNone/>
            </a:pPr>
            <a:r>
              <a:rPr lang="en-US" sz="900" b="1" spc="100" kern="0" dirty="0">
                <a:solidFill>
                  <a:srgbClr val="3F7394"/>
                </a:solidFill>
                <a:latin typeface="Aptos" pitchFamily="34" charset="0"/>
                <a:ea typeface="Aptos" pitchFamily="34" charset="-122"/>
                <a:cs typeface="Aptos" pitchFamily="34" charset="-120"/>
              </a:rPr>
              <a:t>KEY IDEAS</a:t>
            </a:r>
            <a:endParaRPr lang="en-US" sz="900" dirty="0"/>
          </a:p>
        </p:txBody>
      </p:sp>
      <p:sp>
        <p:nvSpPr>
          <p:cNvPr id="11" name="Shape 9"/>
          <p:cNvSpPr/>
          <p:nvPr/>
        </p:nvSpPr>
        <p:spPr>
          <a:xfrm>
            <a:off x="713232" y="2139696"/>
            <a:ext cx="100584" cy="100584"/>
          </a:xfrm>
          <a:prstGeom prst="ellipse">
            <a:avLst/>
          </a:prstGeom>
          <a:solidFill>
            <a:srgbClr val="3F7394"/>
          </a:solidFill>
          <a:ln w="12700">
            <a:solidFill>
              <a:srgbClr val="3F7394">
                <a:alpha val="0"/>
              </a:srgbClr>
            </a:solidFill>
            <a:prstDash val="solid"/>
          </a:ln>
        </p:spPr>
      </p:sp>
      <p:sp>
        <p:nvSpPr>
          <p:cNvPr id="12" name="Text 10"/>
          <p:cNvSpPr/>
          <p:nvPr/>
        </p:nvSpPr>
        <p:spPr>
          <a:xfrm>
            <a:off x="969264" y="2029968"/>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Locate operating conditions, per-channel/group ratings, load type, isolation, derating, and wiring limits in an official manual.</a:t>
            </a:r>
            <a:endParaRPr lang="en-US" sz="1650" dirty="0"/>
          </a:p>
        </p:txBody>
      </p:sp>
      <p:sp>
        <p:nvSpPr>
          <p:cNvPr id="13" name="Shape 11"/>
          <p:cNvSpPr/>
          <p:nvPr/>
        </p:nvSpPr>
        <p:spPr>
          <a:xfrm>
            <a:off x="713232" y="2816352"/>
            <a:ext cx="100584" cy="100584"/>
          </a:xfrm>
          <a:prstGeom prst="ellipse">
            <a:avLst/>
          </a:prstGeom>
          <a:solidFill>
            <a:srgbClr val="3F7394"/>
          </a:solidFill>
          <a:ln w="12700">
            <a:solidFill>
              <a:srgbClr val="3F7394">
                <a:alpha val="0"/>
              </a:srgbClr>
            </a:solidFill>
            <a:prstDash val="solid"/>
          </a:ln>
        </p:spPr>
      </p:sp>
      <p:sp>
        <p:nvSpPr>
          <p:cNvPr id="14" name="Text 12"/>
          <p:cNvSpPr/>
          <p:nvPr/>
        </p:nvSpPr>
        <p:spPr>
          <a:xfrm>
            <a:off x="969264" y="2706624"/>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Students cite page/table and record the exact part number and document revision.</a:t>
            </a:r>
            <a:endParaRPr lang="en-US" sz="1650" dirty="0"/>
          </a:p>
        </p:txBody>
      </p:sp>
      <p:sp>
        <p:nvSpPr>
          <p:cNvPr id="15" name="Shape 13"/>
          <p:cNvSpPr/>
          <p:nvPr/>
        </p:nvSpPr>
        <p:spPr>
          <a:xfrm>
            <a:off x="7644384" y="1746504"/>
            <a:ext cx="3941064" cy="4352544"/>
          </a:xfrm>
          <a:prstGeom prst="rect">
            <a:avLst/>
          </a:prstGeom>
          <a:solidFill>
            <a:srgbClr val="E8EFF3"/>
          </a:solidFill>
          <a:ln w="15240">
            <a:solidFill>
              <a:srgbClr val="C8D5DE"/>
            </a:solidFill>
            <a:prstDash val="solid"/>
          </a:ln>
        </p:spPr>
      </p:sp>
      <p:sp>
        <p:nvSpPr>
          <p:cNvPr id="16" name="Text 14"/>
          <p:cNvSpPr/>
          <p:nvPr/>
        </p:nvSpPr>
        <p:spPr>
          <a:xfrm>
            <a:off x="7845552" y="1911096"/>
            <a:ext cx="3538728" cy="246888"/>
          </a:xfrm>
          <a:prstGeom prst="rect">
            <a:avLst/>
          </a:prstGeom>
          <a:noFill/>
          <a:ln/>
        </p:spPr>
        <p:txBody>
          <a:bodyPr wrap="square" lIns="0" tIns="0" rIns="0" bIns="0" rtlCol="0" anchor="ctr"/>
          <a:lstStyle/>
          <a:p>
            <a:pPr indent="0" marL="0">
              <a:buNone/>
            </a:pPr>
            <a:r>
              <a:rPr lang="en-US" sz="900" b="1" spc="80" kern="0" dirty="0">
                <a:solidFill>
                  <a:srgbClr val="3F7394"/>
                </a:solidFill>
                <a:latin typeface="Aptos" pitchFamily="34" charset="0"/>
                <a:ea typeface="Aptos" pitchFamily="34" charset="-122"/>
                <a:cs typeface="Aptos" pitchFamily="34" charset="-120"/>
              </a:rPr>
              <a:t>IMAGE PLACEHOLDER</a:t>
            </a:r>
            <a:endParaRPr lang="en-US" sz="900" dirty="0"/>
          </a:p>
        </p:txBody>
      </p:sp>
      <p:sp>
        <p:nvSpPr>
          <p:cNvPr id="17" name="Text 15"/>
          <p:cNvSpPr/>
          <p:nvPr/>
        </p:nvSpPr>
        <p:spPr>
          <a:xfrm>
            <a:off x="7900416" y="3072384"/>
            <a:ext cx="3429000" cy="347472"/>
          </a:xfrm>
          <a:prstGeom prst="rect">
            <a:avLst/>
          </a:prstGeom>
          <a:noFill/>
          <a:ln/>
        </p:spPr>
        <p:txBody>
          <a:bodyPr wrap="square" lIns="0" tIns="0" rIns="0" bIns="0" rtlCol="0" anchor="ctr"/>
          <a:lstStyle/>
          <a:p>
            <a:pPr algn="ctr" indent="0" marL="0">
              <a:buNone/>
            </a:pPr>
            <a:r>
              <a:rPr lang="en-US" sz="1700" b="1" dirty="0">
                <a:solidFill>
                  <a:srgbClr val="7A8F9D"/>
                </a:solidFill>
                <a:latin typeface="Aptos Display" pitchFamily="34" charset="0"/>
                <a:ea typeface="Aptos Display" pitchFamily="34" charset="-122"/>
                <a:cs typeface="Aptos Display" pitchFamily="34" charset="-120"/>
              </a:rPr>
              <a:t>ADD PHOTO OR DIAGRAM</a:t>
            </a:r>
            <a:endParaRPr lang="en-US" sz="1700" dirty="0"/>
          </a:p>
        </p:txBody>
      </p:sp>
      <p:sp>
        <p:nvSpPr>
          <p:cNvPr id="18" name="Text 16"/>
          <p:cNvSpPr/>
          <p:nvPr/>
        </p:nvSpPr>
        <p:spPr>
          <a:xfrm>
            <a:off x="7900416" y="3465576"/>
            <a:ext cx="3429000" cy="301752"/>
          </a:xfrm>
          <a:prstGeom prst="rect">
            <a:avLst/>
          </a:prstGeom>
          <a:noFill/>
          <a:ln/>
        </p:spPr>
        <p:txBody>
          <a:bodyPr wrap="square" lIns="0" tIns="0" rIns="0" bIns="0" rtlCol="0" anchor="ctr"/>
          <a:lstStyle/>
          <a:p>
            <a:pPr algn="ctr" indent="0" marL="0">
              <a:buNone/>
            </a:pPr>
            <a:r>
              <a:rPr lang="en-US" sz="1150" dirty="0">
                <a:solidFill>
                  <a:srgbClr val="607585"/>
                </a:solidFill>
                <a:latin typeface="Aptos" pitchFamily="34" charset="0"/>
                <a:ea typeface="Aptos" pitchFamily="34" charset="-122"/>
                <a:cs typeface="Aptos" pitchFamily="34" charset="-120"/>
              </a:rPr>
              <a:t>Leave this area open for the final visual</a:t>
            </a:r>
            <a:endParaRPr lang="en-US" sz="1150" dirty="0"/>
          </a:p>
        </p:txBody>
      </p:sp>
      <p:sp>
        <p:nvSpPr>
          <p:cNvPr id="19" name="Shape 17"/>
          <p:cNvSpPr/>
          <p:nvPr/>
        </p:nvSpPr>
        <p:spPr>
          <a:xfrm>
            <a:off x="7845552" y="5111496"/>
            <a:ext cx="3538728" cy="0"/>
          </a:xfrm>
          <a:prstGeom prst="line">
            <a:avLst/>
          </a:prstGeom>
          <a:noFill/>
          <a:ln w="12700">
            <a:solidFill>
              <a:srgbClr val="C8D5DE"/>
            </a:solidFill>
            <a:prstDash val="solid"/>
          </a:ln>
        </p:spPr>
      </p:sp>
      <p:sp>
        <p:nvSpPr>
          <p:cNvPr id="20" name="Text 18"/>
          <p:cNvSpPr/>
          <p:nvPr/>
        </p:nvSpPr>
        <p:spPr>
          <a:xfrm>
            <a:off x="7845552" y="5239512"/>
            <a:ext cx="3538728" cy="384048"/>
          </a:xfrm>
          <a:prstGeom prst="rect">
            <a:avLst/>
          </a:prstGeom>
          <a:noFill/>
          <a:ln/>
        </p:spPr>
        <p:txBody>
          <a:bodyPr wrap="square" lIns="0" tIns="0" rIns="0" bIns="0" rtlCol="0" anchor="ctr"/>
          <a:lstStyle/>
          <a:p>
            <a:pPr indent="0" marL="0">
              <a:buNone/>
            </a:pPr>
            <a:r>
              <a:rPr lang="en-US" sz="1050" b="1" dirty="0">
                <a:solidFill>
                  <a:srgbClr val="1B3448"/>
                </a:solidFill>
                <a:latin typeface="Aptos" pitchFamily="34" charset="0"/>
                <a:ea typeface="Aptos" pitchFamily="34" charset="-122"/>
                <a:cs typeface="Aptos" pitchFamily="34" charset="-120"/>
              </a:rPr>
              <a:t>VISUAL BRIEF  /  Read the electrical ratings table</a:t>
            </a:r>
            <a:endParaRPr lang="en-US" sz="1050" dirty="0"/>
          </a:p>
        </p:txBody>
      </p:sp>
      <p:sp>
        <p:nvSpPr>
          <p:cNvPr id="21" name="Text 19"/>
          <p:cNvSpPr/>
          <p:nvPr/>
        </p:nvSpPr>
        <p:spPr>
          <a:xfrm>
            <a:off x="7845552" y="5650992"/>
            <a:ext cx="3538728" cy="265176"/>
          </a:xfrm>
          <a:prstGeom prst="rect">
            <a:avLst/>
          </a:prstGeom>
          <a:noFill/>
          <a:ln/>
        </p:spPr>
        <p:txBody>
          <a:bodyPr wrap="square" lIns="0" tIns="0" rIns="0" bIns="0" rtlCol="0" anchor="ctr"/>
          <a:lstStyle/>
          <a:p>
            <a:pPr indent="0" marL="0">
              <a:buNone/>
            </a:pPr>
            <a:r>
              <a:rPr lang="en-US" sz="900" dirty="0">
                <a:solidFill>
                  <a:srgbClr val="607585"/>
                </a:solidFill>
                <a:latin typeface="Aptos" pitchFamily="34" charset="0"/>
                <a:ea typeface="Aptos" pitchFamily="34" charset="-122"/>
                <a:cs typeface="Aptos" pitchFamily="34" charset="-120"/>
              </a:rPr>
              <a:t>Full image-generation prompt is in this slide's speaker notes.</a:t>
            </a:r>
            <a:endParaRPr lang="en-US" sz="900" dirty="0"/>
          </a:p>
        </p:txBody>
      </p:sp>
      <p:sp>
        <p:nvSpPr>
          <p:cNvPr id="22" name="Shape 20"/>
          <p:cNvSpPr/>
          <p:nvPr/>
        </p:nvSpPr>
        <p:spPr>
          <a:xfrm>
            <a:off x="603504" y="6318504"/>
            <a:ext cx="10972800" cy="0"/>
          </a:xfrm>
          <a:prstGeom prst="line">
            <a:avLst/>
          </a:prstGeom>
          <a:noFill/>
          <a:ln w="10160">
            <a:solidFill>
              <a:srgbClr val="D5E0E7"/>
            </a:solidFill>
            <a:prstDash val="solid"/>
          </a:ln>
        </p:spPr>
      </p:sp>
      <p:sp>
        <p:nvSpPr>
          <p:cNvPr id="23" name="Text 21"/>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PLC SPECIFICATIONS AND I/O MODULES</a:t>
            </a:r>
            <a:endParaRPr lang="en-US" sz="800" dirty="0"/>
          </a:p>
        </p:txBody>
      </p:sp>
      <p:sp>
        <p:nvSpPr>
          <p:cNvPr id="24" name="Text 22"/>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11 / 18</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3F7394"/>
          </a:solidFill>
          <a:ln w="12700">
            <a:solidFill>
              <a:srgbClr val="3F7394">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3F7394"/>
                </a:solidFill>
                <a:latin typeface="Aptos" pitchFamily="34" charset="0"/>
                <a:ea typeface="Aptos" pitchFamily="34" charset="-122"/>
                <a:cs typeface="Aptos" pitchFamily="34" charset="-120"/>
              </a:rPr>
              <a:t>UNIT 5009    /    WEEK 03    /    LO1</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15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3F7394"/>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3F7394"/>
                </a:solidFill>
                <a:latin typeface="Aptos" pitchFamily="34" charset="0"/>
                <a:ea typeface="Aptos" pitchFamily="34" charset="-122"/>
                <a:cs typeface="Aptos" pitchFamily="34" charset="-120"/>
              </a:rPr>
              <a:t>P2</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2800" b="1" dirty="0">
                <a:solidFill>
                  <a:srgbClr val="1B3448"/>
                </a:solidFill>
                <a:latin typeface="Aptos Display" pitchFamily="34" charset="0"/>
                <a:ea typeface="Aptos Display" pitchFamily="34" charset="-122"/>
                <a:cs typeface="Aptos Display" pitchFamily="34" charset="-120"/>
              </a:rPr>
              <a:t>Select an output interface for stated loads</a:t>
            </a:r>
            <a:endParaRPr lang="en-US" sz="28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76656" y="1719072"/>
            <a:ext cx="1828800" cy="210312"/>
          </a:xfrm>
          <a:prstGeom prst="rect">
            <a:avLst/>
          </a:prstGeom>
          <a:noFill/>
          <a:ln/>
        </p:spPr>
        <p:txBody>
          <a:bodyPr wrap="square" lIns="0" tIns="0" rIns="0" bIns="0" rtlCol="0" anchor="ctr"/>
          <a:lstStyle/>
          <a:p>
            <a:pPr indent="0" marL="0">
              <a:buNone/>
            </a:pPr>
            <a:r>
              <a:rPr lang="en-US" sz="900" b="1" spc="100" kern="0" dirty="0">
                <a:solidFill>
                  <a:srgbClr val="3F7394"/>
                </a:solidFill>
                <a:latin typeface="Aptos" pitchFamily="34" charset="0"/>
                <a:ea typeface="Aptos" pitchFamily="34" charset="-122"/>
                <a:cs typeface="Aptos" pitchFamily="34" charset="-120"/>
              </a:rPr>
              <a:t>KEY IDEAS</a:t>
            </a:r>
            <a:endParaRPr lang="en-US" sz="900" dirty="0"/>
          </a:p>
        </p:txBody>
      </p:sp>
      <p:sp>
        <p:nvSpPr>
          <p:cNvPr id="11" name="Shape 9"/>
          <p:cNvSpPr/>
          <p:nvPr/>
        </p:nvSpPr>
        <p:spPr>
          <a:xfrm>
            <a:off x="713232" y="2139696"/>
            <a:ext cx="100584" cy="100584"/>
          </a:xfrm>
          <a:prstGeom prst="ellipse">
            <a:avLst/>
          </a:prstGeom>
          <a:solidFill>
            <a:srgbClr val="3F7394"/>
          </a:solidFill>
          <a:ln w="12700">
            <a:solidFill>
              <a:srgbClr val="3F7394">
                <a:alpha val="0"/>
              </a:srgbClr>
            </a:solidFill>
            <a:prstDash val="solid"/>
          </a:ln>
        </p:spPr>
      </p:sp>
      <p:sp>
        <p:nvSpPr>
          <p:cNvPr id="12" name="Text 10"/>
          <p:cNvSpPr/>
          <p:nvPr/>
        </p:nvSpPr>
        <p:spPr>
          <a:xfrm>
            <a:off x="969264" y="2029968"/>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Four cases: infrequent AC load, frequent DC switching, fast DC pulse output, and a load above a candidate channel rating.</a:t>
            </a:r>
            <a:endParaRPr lang="en-US" sz="1650" dirty="0"/>
          </a:p>
        </p:txBody>
      </p:sp>
      <p:sp>
        <p:nvSpPr>
          <p:cNvPr id="13" name="Shape 11"/>
          <p:cNvSpPr/>
          <p:nvPr/>
        </p:nvSpPr>
        <p:spPr>
          <a:xfrm>
            <a:off x="713232" y="2816352"/>
            <a:ext cx="100584" cy="100584"/>
          </a:xfrm>
          <a:prstGeom prst="ellipse">
            <a:avLst/>
          </a:prstGeom>
          <a:solidFill>
            <a:srgbClr val="3F7394"/>
          </a:solidFill>
          <a:ln w="12700">
            <a:solidFill>
              <a:srgbClr val="3F7394">
                <a:alpha val="0"/>
              </a:srgbClr>
            </a:solidFill>
            <a:prstDash val="solid"/>
          </a:ln>
        </p:spPr>
      </p:sp>
      <p:sp>
        <p:nvSpPr>
          <p:cNvPr id="14" name="Text 12"/>
          <p:cNvSpPr/>
          <p:nvPr/>
        </p:nvSpPr>
        <p:spPr>
          <a:xfrm>
            <a:off x="969264" y="2706624"/>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Match relay/triac/transistor/external interface and state required safeguards.</a:t>
            </a:r>
            <a:endParaRPr lang="en-US" sz="1650" dirty="0"/>
          </a:p>
        </p:txBody>
      </p:sp>
      <p:sp>
        <p:nvSpPr>
          <p:cNvPr id="15" name="Shape 13"/>
          <p:cNvSpPr/>
          <p:nvPr/>
        </p:nvSpPr>
        <p:spPr>
          <a:xfrm>
            <a:off x="713232" y="3493008"/>
            <a:ext cx="100584" cy="100584"/>
          </a:xfrm>
          <a:prstGeom prst="ellipse">
            <a:avLst/>
          </a:prstGeom>
          <a:solidFill>
            <a:srgbClr val="3F7394"/>
          </a:solidFill>
          <a:ln w="12700">
            <a:solidFill>
              <a:srgbClr val="3F7394">
                <a:alpha val="0"/>
              </a:srgbClr>
            </a:solidFill>
            <a:prstDash val="solid"/>
          </a:ln>
        </p:spPr>
      </p:sp>
      <p:sp>
        <p:nvSpPr>
          <p:cNvPr id="16" name="Text 14"/>
          <p:cNvSpPr/>
          <p:nvPr/>
        </p:nvSpPr>
        <p:spPr>
          <a:xfrm>
            <a:off x="969264" y="3383280"/>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Make clear no module choice is valid until supply, current, inrush, frequency, and environment are verified.</a:t>
            </a:r>
            <a:endParaRPr lang="en-US" sz="1650" dirty="0"/>
          </a:p>
        </p:txBody>
      </p:sp>
      <p:sp>
        <p:nvSpPr>
          <p:cNvPr id="17" name="Shape 15"/>
          <p:cNvSpPr/>
          <p:nvPr/>
        </p:nvSpPr>
        <p:spPr>
          <a:xfrm>
            <a:off x="7644384" y="1746504"/>
            <a:ext cx="3941064" cy="4352544"/>
          </a:xfrm>
          <a:prstGeom prst="rect">
            <a:avLst/>
          </a:prstGeom>
          <a:solidFill>
            <a:srgbClr val="E8EFF3"/>
          </a:solidFill>
          <a:ln w="15240">
            <a:solidFill>
              <a:srgbClr val="C8D5DE"/>
            </a:solidFill>
            <a:prstDash val="solid"/>
          </a:ln>
        </p:spPr>
      </p:sp>
      <p:sp>
        <p:nvSpPr>
          <p:cNvPr id="18" name="Text 16"/>
          <p:cNvSpPr/>
          <p:nvPr/>
        </p:nvSpPr>
        <p:spPr>
          <a:xfrm>
            <a:off x="7845552" y="1911096"/>
            <a:ext cx="3538728" cy="246888"/>
          </a:xfrm>
          <a:prstGeom prst="rect">
            <a:avLst/>
          </a:prstGeom>
          <a:noFill/>
          <a:ln/>
        </p:spPr>
        <p:txBody>
          <a:bodyPr wrap="square" lIns="0" tIns="0" rIns="0" bIns="0" rtlCol="0" anchor="ctr"/>
          <a:lstStyle/>
          <a:p>
            <a:pPr indent="0" marL="0">
              <a:buNone/>
            </a:pPr>
            <a:r>
              <a:rPr lang="en-US" sz="900" b="1" spc="80" kern="0" dirty="0">
                <a:solidFill>
                  <a:srgbClr val="3F7394"/>
                </a:solidFill>
                <a:latin typeface="Aptos" pitchFamily="34" charset="0"/>
                <a:ea typeface="Aptos" pitchFamily="34" charset="-122"/>
                <a:cs typeface="Aptos" pitchFamily="34" charset="-120"/>
              </a:rPr>
              <a:t>IMAGE PLACEHOLDER</a:t>
            </a:r>
            <a:endParaRPr lang="en-US" sz="900" dirty="0"/>
          </a:p>
        </p:txBody>
      </p:sp>
      <p:sp>
        <p:nvSpPr>
          <p:cNvPr id="19" name="Text 17"/>
          <p:cNvSpPr/>
          <p:nvPr/>
        </p:nvSpPr>
        <p:spPr>
          <a:xfrm>
            <a:off x="7900416" y="3072384"/>
            <a:ext cx="3429000" cy="347472"/>
          </a:xfrm>
          <a:prstGeom prst="rect">
            <a:avLst/>
          </a:prstGeom>
          <a:noFill/>
          <a:ln/>
        </p:spPr>
        <p:txBody>
          <a:bodyPr wrap="square" lIns="0" tIns="0" rIns="0" bIns="0" rtlCol="0" anchor="ctr"/>
          <a:lstStyle/>
          <a:p>
            <a:pPr algn="ctr" indent="0" marL="0">
              <a:buNone/>
            </a:pPr>
            <a:r>
              <a:rPr lang="en-US" sz="1700" b="1" dirty="0">
                <a:solidFill>
                  <a:srgbClr val="7A8F9D"/>
                </a:solidFill>
                <a:latin typeface="Aptos Display" pitchFamily="34" charset="0"/>
                <a:ea typeface="Aptos Display" pitchFamily="34" charset="-122"/>
                <a:cs typeface="Aptos Display" pitchFamily="34" charset="-120"/>
              </a:rPr>
              <a:t>ADD PHOTO OR DIAGRAM</a:t>
            </a:r>
            <a:endParaRPr lang="en-US" sz="1700" dirty="0"/>
          </a:p>
        </p:txBody>
      </p:sp>
      <p:sp>
        <p:nvSpPr>
          <p:cNvPr id="20" name="Text 18"/>
          <p:cNvSpPr/>
          <p:nvPr/>
        </p:nvSpPr>
        <p:spPr>
          <a:xfrm>
            <a:off x="7900416" y="3465576"/>
            <a:ext cx="3429000" cy="301752"/>
          </a:xfrm>
          <a:prstGeom prst="rect">
            <a:avLst/>
          </a:prstGeom>
          <a:noFill/>
          <a:ln/>
        </p:spPr>
        <p:txBody>
          <a:bodyPr wrap="square" lIns="0" tIns="0" rIns="0" bIns="0" rtlCol="0" anchor="ctr"/>
          <a:lstStyle/>
          <a:p>
            <a:pPr algn="ctr" indent="0" marL="0">
              <a:buNone/>
            </a:pPr>
            <a:r>
              <a:rPr lang="en-US" sz="1150" dirty="0">
                <a:solidFill>
                  <a:srgbClr val="607585"/>
                </a:solidFill>
                <a:latin typeface="Aptos" pitchFamily="34" charset="0"/>
                <a:ea typeface="Aptos" pitchFamily="34" charset="-122"/>
                <a:cs typeface="Aptos" pitchFamily="34" charset="-120"/>
              </a:rPr>
              <a:t>Leave this area open for the final visual</a:t>
            </a:r>
            <a:endParaRPr lang="en-US" sz="1150" dirty="0"/>
          </a:p>
        </p:txBody>
      </p:sp>
      <p:sp>
        <p:nvSpPr>
          <p:cNvPr id="21" name="Shape 19"/>
          <p:cNvSpPr/>
          <p:nvPr/>
        </p:nvSpPr>
        <p:spPr>
          <a:xfrm>
            <a:off x="7845552" y="5111496"/>
            <a:ext cx="3538728" cy="0"/>
          </a:xfrm>
          <a:prstGeom prst="line">
            <a:avLst/>
          </a:prstGeom>
          <a:noFill/>
          <a:ln w="12700">
            <a:solidFill>
              <a:srgbClr val="C8D5DE"/>
            </a:solidFill>
            <a:prstDash val="solid"/>
          </a:ln>
        </p:spPr>
      </p:sp>
      <p:sp>
        <p:nvSpPr>
          <p:cNvPr id="22" name="Text 20"/>
          <p:cNvSpPr/>
          <p:nvPr/>
        </p:nvSpPr>
        <p:spPr>
          <a:xfrm>
            <a:off x="7845552" y="5239512"/>
            <a:ext cx="3538728" cy="384048"/>
          </a:xfrm>
          <a:prstGeom prst="rect">
            <a:avLst/>
          </a:prstGeom>
          <a:noFill/>
          <a:ln/>
        </p:spPr>
        <p:txBody>
          <a:bodyPr wrap="square" lIns="0" tIns="0" rIns="0" bIns="0" rtlCol="0" anchor="ctr"/>
          <a:lstStyle/>
          <a:p>
            <a:pPr indent="0" marL="0">
              <a:buNone/>
            </a:pPr>
            <a:r>
              <a:rPr lang="en-US" sz="1050" b="1" dirty="0">
                <a:solidFill>
                  <a:srgbClr val="1B3448"/>
                </a:solidFill>
                <a:latin typeface="Aptos" pitchFamily="34" charset="0"/>
                <a:ea typeface="Aptos" pitchFamily="34" charset="-122"/>
                <a:cs typeface="Aptos" pitchFamily="34" charset="-120"/>
              </a:rPr>
              <a:t>VISUAL BRIEF  /  Select an output interface for stated loads</a:t>
            </a:r>
            <a:endParaRPr lang="en-US" sz="1050" dirty="0"/>
          </a:p>
        </p:txBody>
      </p:sp>
      <p:sp>
        <p:nvSpPr>
          <p:cNvPr id="23" name="Text 21"/>
          <p:cNvSpPr/>
          <p:nvPr/>
        </p:nvSpPr>
        <p:spPr>
          <a:xfrm>
            <a:off x="7845552" y="5650992"/>
            <a:ext cx="3538728" cy="265176"/>
          </a:xfrm>
          <a:prstGeom prst="rect">
            <a:avLst/>
          </a:prstGeom>
          <a:noFill/>
          <a:ln/>
        </p:spPr>
        <p:txBody>
          <a:bodyPr wrap="square" lIns="0" tIns="0" rIns="0" bIns="0" rtlCol="0" anchor="ctr"/>
          <a:lstStyle/>
          <a:p>
            <a:pPr indent="0" marL="0">
              <a:buNone/>
            </a:pPr>
            <a:r>
              <a:rPr lang="en-US" sz="900" dirty="0">
                <a:solidFill>
                  <a:srgbClr val="607585"/>
                </a:solidFill>
                <a:latin typeface="Aptos" pitchFamily="34" charset="0"/>
                <a:ea typeface="Aptos" pitchFamily="34" charset="-122"/>
                <a:cs typeface="Aptos" pitchFamily="34" charset="-120"/>
              </a:rPr>
              <a:t>Full image-generation prompt is in this slide's speaker notes.</a:t>
            </a:r>
            <a:endParaRPr lang="en-US" sz="900" dirty="0"/>
          </a:p>
        </p:txBody>
      </p:sp>
      <p:sp>
        <p:nvSpPr>
          <p:cNvPr id="24" name="Shape 22"/>
          <p:cNvSpPr/>
          <p:nvPr/>
        </p:nvSpPr>
        <p:spPr>
          <a:xfrm>
            <a:off x="603504" y="6318504"/>
            <a:ext cx="10972800" cy="0"/>
          </a:xfrm>
          <a:prstGeom prst="line">
            <a:avLst/>
          </a:prstGeom>
          <a:noFill/>
          <a:ln w="10160">
            <a:solidFill>
              <a:srgbClr val="D5E0E7"/>
            </a:solidFill>
            <a:prstDash val="solid"/>
          </a:ln>
        </p:spPr>
      </p:sp>
      <p:sp>
        <p:nvSpPr>
          <p:cNvPr id="25" name="Text 23"/>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PLC SPECIFICATIONS AND I/O MODULES</a:t>
            </a:r>
            <a:endParaRPr lang="en-US" sz="800" dirty="0"/>
          </a:p>
        </p:txBody>
      </p:sp>
      <p:sp>
        <p:nvSpPr>
          <p:cNvPr id="26" name="Text 24"/>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12 / 18</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3F7394"/>
          </a:solidFill>
          <a:ln w="12700">
            <a:solidFill>
              <a:srgbClr val="3F7394">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3F7394"/>
                </a:solidFill>
                <a:latin typeface="Aptos" pitchFamily="34" charset="0"/>
                <a:ea typeface="Aptos" pitchFamily="34" charset="-122"/>
                <a:cs typeface="Aptos" pitchFamily="34" charset="-120"/>
              </a:rPr>
              <a:t>UNIT 5009    /    WEEK 03    /    LO1</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10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3F7394"/>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3F7394"/>
                </a:solidFill>
                <a:latin typeface="Aptos" pitchFamily="34" charset="0"/>
                <a:ea typeface="Aptos" pitchFamily="34" charset="-122"/>
                <a:cs typeface="Aptos" pitchFamily="34" charset="-120"/>
              </a:rPr>
              <a:t>P2</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2800" b="1" dirty="0">
                <a:solidFill>
                  <a:srgbClr val="1B3448"/>
                </a:solidFill>
                <a:latin typeface="Aptos Display" pitchFamily="34" charset="0"/>
                <a:ea typeface="Aptos Display" pitchFamily="34" charset="-122"/>
                <a:cs typeface="Aptos Display" pitchFamily="34" charset="-120"/>
              </a:rPr>
              <a:t>Select an analogue input for an instrument</a:t>
            </a:r>
            <a:endParaRPr lang="en-US" sz="28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76656" y="1719072"/>
            <a:ext cx="1828800" cy="210312"/>
          </a:xfrm>
          <a:prstGeom prst="rect">
            <a:avLst/>
          </a:prstGeom>
          <a:noFill/>
          <a:ln/>
        </p:spPr>
        <p:txBody>
          <a:bodyPr wrap="square" lIns="0" tIns="0" rIns="0" bIns="0" rtlCol="0" anchor="ctr"/>
          <a:lstStyle/>
          <a:p>
            <a:pPr indent="0" marL="0">
              <a:buNone/>
            </a:pPr>
            <a:r>
              <a:rPr lang="en-US" sz="900" b="1" spc="100" kern="0" dirty="0">
                <a:solidFill>
                  <a:srgbClr val="3F7394"/>
                </a:solidFill>
                <a:latin typeface="Aptos" pitchFamily="34" charset="0"/>
                <a:ea typeface="Aptos" pitchFamily="34" charset="-122"/>
                <a:cs typeface="Aptos" pitchFamily="34" charset="-120"/>
              </a:rPr>
              <a:t>KEY IDEAS</a:t>
            </a:r>
            <a:endParaRPr lang="en-US" sz="900" dirty="0"/>
          </a:p>
        </p:txBody>
      </p:sp>
      <p:sp>
        <p:nvSpPr>
          <p:cNvPr id="11" name="Shape 9"/>
          <p:cNvSpPr/>
          <p:nvPr/>
        </p:nvSpPr>
        <p:spPr>
          <a:xfrm>
            <a:off x="713232" y="2139696"/>
            <a:ext cx="100584" cy="100584"/>
          </a:xfrm>
          <a:prstGeom prst="ellipse">
            <a:avLst/>
          </a:prstGeom>
          <a:solidFill>
            <a:srgbClr val="3F7394"/>
          </a:solidFill>
          <a:ln w="12700">
            <a:solidFill>
              <a:srgbClr val="3F7394">
                <a:alpha val="0"/>
              </a:srgbClr>
            </a:solidFill>
            <a:prstDash val="solid"/>
          </a:ln>
        </p:spPr>
      </p:sp>
      <p:sp>
        <p:nvSpPr>
          <p:cNvPr id="12" name="Text 10"/>
          <p:cNvSpPr/>
          <p:nvPr/>
        </p:nvSpPr>
        <p:spPr>
          <a:xfrm>
            <a:off x="969264" y="2029968"/>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Compare a 0-10 V device with a 4-20 mA device and the candidate module's configured range.</a:t>
            </a:r>
            <a:endParaRPr lang="en-US" sz="1650" dirty="0"/>
          </a:p>
        </p:txBody>
      </p:sp>
      <p:sp>
        <p:nvSpPr>
          <p:cNvPr id="13" name="Shape 11"/>
          <p:cNvSpPr/>
          <p:nvPr/>
        </p:nvSpPr>
        <p:spPr>
          <a:xfrm>
            <a:off x="713232" y="2816352"/>
            <a:ext cx="100584" cy="100584"/>
          </a:xfrm>
          <a:prstGeom prst="ellipse">
            <a:avLst/>
          </a:prstGeom>
          <a:solidFill>
            <a:srgbClr val="3F7394"/>
          </a:solidFill>
          <a:ln w="12700">
            <a:solidFill>
              <a:srgbClr val="3F7394">
                <a:alpha val="0"/>
              </a:srgbClr>
            </a:solidFill>
            <a:prstDash val="solid"/>
          </a:ln>
        </p:spPr>
      </p:sp>
      <p:sp>
        <p:nvSpPr>
          <p:cNvPr id="14" name="Text 12"/>
          <p:cNvSpPr/>
          <p:nvPr/>
        </p:nvSpPr>
        <p:spPr>
          <a:xfrm>
            <a:off x="969264" y="2706624"/>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Calculate engineering-unit scaling from a clearly supplied hypothetical range.</a:t>
            </a:r>
            <a:endParaRPr lang="en-US" sz="1650" dirty="0"/>
          </a:p>
        </p:txBody>
      </p:sp>
      <p:sp>
        <p:nvSpPr>
          <p:cNvPr id="15" name="Shape 13"/>
          <p:cNvSpPr/>
          <p:nvPr/>
        </p:nvSpPr>
        <p:spPr>
          <a:xfrm>
            <a:off x="713232" y="3493008"/>
            <a:ext cx="100584" cy="100584"/>
          </a:xfrm>
          <a:prstGeom prst="ellipse">
            <a:avLst/>
          </a:prstGeom>
          <a:solidFill>
            <a:srgbClr val="3F7394"/>
          </a:solidFill>
          <a:ln w="12700">
            <a:solidFill>
              <a:srgbClr val="3F7394">
                <a:alpha val="0"/>
              </a:srgbClr>
            </a:solidFill>
            <a:prstDash val="solid"/>
          </a:ln>
        </p:spPr>
      </p:sp>
      <p:sp>
        <p:nvSpPr>
          <p:cNvPr id="16" name="Text 14"/>
          <p:cNvSpPr/>
          <p:nvPr/>
        </p:nvSpPr>
        <p:spPr>
          <a:xfrm>
            <a:off x="969264" y="3383280"/>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Discuss wire fault clues, resolution, accuracy, update rate, and isolation.</a:t>
            </a:r>
            <a:endParaRPr lang="en-US" sz="1650" dirty="0"/>
          </a:p>
        </p:txBody>
      </p:sp>
      <p:sp>
        <p:nvSpPr>
          <p:cNvPr id="17" name="Shape 15"/>
          <p:cNvSpPr/>
          <p:nvPr/>
        </p:nvSpPr>
        <p:spPr>
          <a:xfrm>
            <a:off x="7644384" y="1746504"/>
            <a:ext cx="3941064" cy="4352544"/>
          </a:xfrm>
          <a:prstGeom prst="rect">
            <a:avLst/>
          </a:prstGeom>
          <a:solidFill>
            <a:srgbClr val="E8EFF3"/>
          </a:solidFill>
          <a:ln w="15240">
            <a:solidFill>
              <a:srgbClr val="C8D5DE"/>
            </a:solidFill>
            <a:prstDash val="solid"/>
          </a:ln>
        </p:spPr>
      </p:sp>
      <p:sp>
        <p:nvSpPr>
          <p:cNvPr id="18" name="Text 16"/>
          <p:cNvSpPr/>
          <p:nvPr/>
        </p:nvSpPr>
        <p:spPr>
          <a:xfrm>
            <a:off x="7845552" y="1911096"/>
            <a:ext cx="3538728" cy="246888"/>
          </a:xfrm>
          <a:prstGeom prst="rect">
            <a:avLst/>
          </a:prstGeom>
          <a:noFill/>
          <a:ln/>
        </p:spPr>
        <p:txBody>
          <a:bodyPr wrap="square" lIns="0" tIns="0" rIns="0" bIns="0" rtlCol="0" anchor="ctr"/>
          <a:lstStyle/>
          <a:p>
            <a:pPr indent="0" marL="0">
              <a:buNone/>
            </a:pPr>
            <a:r>
              <a:rPr lang="en-US" sz="900" b="1" spc="80" kern="0" dirty="0">
                <a:solidFill>
                  <a:srgbClr val="3F7394"/>
                </a:solidFill>
                <a:latin typeface="Aptos" pitchFamily="34" charset="0"/>
                <a:ea typeface="Aptos" pitchFamily="34" charset="-122"/>
                <a:cs typeface="Aptos" pitchFamily="34" charset="-120"/>
              </a:rPr>
              <a:t>IMAGE PLACEHOLDER</a:t>
            </a:r>
            <a:endParaRPr lang="en-US" sz="900" dirty="0"/>
          </a:p>
        </p:txBody>
      </p:sp>
      <p:sp>
        <p:nvSpPr>
          <p:cNvPr id="19" name="Text 17"/>
          <p:cNvSpPr/>
          <p:nvPr/>
        </p:nvSpPr>
        <p:spPr>
          <a:xfrm>
            <a:off x="7900416" y="3072384"/>
            <a:ext cx="3429000" cy="347472"/>
          </a:xfrm>
          <a:prstGeom prst="rect">
            <a:avLst/>
          </a:prstGeom>
          <a:noFill/>
          <a:ln/>
        </p:spPr>
        <p:txBody>
          <a:bodyPr wrap="square" lIns="0" tIns="0" rIns="0" bIns="0" rtlCol="0" anchor="ctr"/>
          <a:lstStyle/>
          <a:p>
            <a:pPr algn="ctr" indent="0" marL="0">
              <a:buNone/>
            </a:pPr>
            <a:r>
              <a:rPr lang="en-US" sz="1700" b="1" dirty="0">
                <a:solidFill>
                  <a:srgbClr val="7A8F9D"/>
                </a:solidFill>
                <a:latin typeface="Aptos Display" pitchFamily="34" charset="0"/>
                <a:ea typeface="Aptos Display" pitchFamily="34" charset="-122"/>
                <a:cs typeface="Aptos Display" pitchFamily="34" charset="-120"/>
              </a:rPr>
              <a:t>ADD PHOTO OR DIAGRAM</a:t>
            </a:r>
            <a:endParaRPr lang="en-US" sz="1700" dirty="0"/>
          </a:p>
        </p:txBody>
      </p:sp>
      <p:sp>
        <p:nvSpPr>
          <p:cNvPr id="20" name="Text 18"/>
          <p:cNvSpPr/>
          <p:nvPr/>
        </p:nvSpPr>
        <p:spPr>
          <a:xfrm>
            <a:off x="7900416" y="3465576"/>
            <a:ext cx="3429000" cy="301752"/>
          </a:xfrm>
          <a:prstGeom prst="rect">
            <a:avLst/>
          </a:prstGeom>
          <a:noFill/>
          <a:ln/>
        </p:spPr>
        <p:txBody>
          <a:bodyPr wrap="square" lIns="0" tIns="0" rIns="0" bIns="0" rtlCol="0" anchor="ctr"/>
          <a:lstStyle/>
          <a:p>
            <a:pPr algn="ctr" indent="0" marL="0">
              <a:buNone/>
            </a:pPr>
            <a:r>
              <a:rPr lang="en-US" sz="1150" dirty="0">
                <a:solidFill>
                  <a:srgbClr val="607585"/>
                </a:solidFill>
                <a:latin typeface="Aptos" pitchFamily="34" charset="0"/>
                <a:ea typeface="Aptos" pitchFamily="34" charset="-122"/>
                <a:cs typeface="Aptos" pitchFamily="34" charset="-120"/>
              </a:rPr>
              <a:t>Leave this area open for the final visual</a:t>
            </a:r>
            <a:endParaRPr lang="en-US" sz="1150" dirty="0"/>
          </a:p>
        </p:txBody>
      </p:sp>
      <p:sp>
        <p:nvSpPr>
          <p:cNvPr id="21" name="Shape 19"/>
          <p:cNvSpPr/>
          <p:nvPr/>
        </p:nvSpPr>
        <p:spPr>
          <a:xfrm>
            <a:off x="7845552" y="5111496"/>
            <a:ext cx="3538728" cy="0"/>
          </a:xfrm>
          <a:prstGeom prst="line">
            <a:avLst/>
          </a:prstGeom>
          <a:noFill/>
          <a:ln w="12700">
            <a:solidFill>
              <a:srgbClr val="C8D5DE"/>
            </a:solidFill>
            <a:prstDash val="solid"/>
          </a:ln>
        </p:spPr>
      </p:sp>
      <p:sp>
        <p:nvSpPr>
          <p:cNvPr id="22" name="Text 20"/>
          <p:cNvSpPr/>
          <p:nvPr/>
        </p:nvSpPr>
        <p:spPr>
          <a:xfrm>
            <a:off x="7845552" y="5239512"/>
            <a:ext cx="3538728" cy="384048"/>
          </a:xfrm>
          <a:prstGeom prst="rect">
            <a:avLst/>
          </a:prstGeom>
          <a:noFill/>
          <a:ln/>
        </p:spPr>
        <p:txBody>
          <a:bodyPr wrap="square" lIns="0" tIns="0" rIns="0" bIns="0" rtlCol="0" anchor="ctr"/>
          <a:lstStyle/>
          <a:p>
            <a:pPr indent="0" marL="0">
              <a:buNone/>
            </a:pPr>
            <a:r>
              <a:rPr lang="en-US" sz="1050" b="1" dirty="0">
                <a:solidFill>
                  <a:srgbClr val="1B3448"/>
                </a:solidFill>
                <a:latin typeface="Aptos" pitchFamily="34" charset="0"/>
                <a:ea typeface="Aptos" pitchFamily="34" charset="-122"/>
                <a:cs typeface="Aptos" pitchFamily="34" charset="-120"/>
              </a:rPr>
              <a:t>VISUAL BRIEF  /  Select an analogue input for an instrument</a:t>
            </a:r>
            <a:endParaRPr lang="en-US" sz="1050" dirty="0"/>
          </a:p>
        </p:txBody>
      </p:sp>
      <p:sp>
        <p:nvSpPr>
          <p:cNvPr id="23" name="Text 21"/>
          <p:cNvSpPr/>
          <p:nvPr/>
        </p:nvSpPr>
        <p:spPr>
          <a:xfrm>
            <a:off x="7845552" y="5650992"/>
            <a:ext cx="3538728" cy="265176"/>
          </a:xfrm>
          <a:prstGeom prst="rect">
            <a:avLst/>
          </a:prstGeom>
          <a:noFill/>
          <a:ln/>
        </p:spPr>
        <p:txBody>
          <a:bodyPr wrap="square" lIns="0" tIns="0" rIns="0" bIns="0" rtlCol="0" anchor="ctr"/>
          <a:lstStyle/>
          <a:p>
            <a:pPr indent="0" marL="0">
              <a:buNone/>
            </a:pPr>
            <a:r>
              <a:rPr lang="en-US" sz="900" dirty="0">
                <a:solidFill>
                  <a:srgbClr val="607585"/>
                </a:solidFill>
                <a:latin typeface="Aptos" pitchFamily="34" charset="0"/>
                <a:ea typeface="Aptos" pitchFamily="34" charset="-122"/>
                <a:cs typeface="Aptos" pitchFamily="34" charset="-120"/>
              </a:rPr>
              <a:t>Full image-generation prompt is in this slide's speaker notes.</a:t>
            </a:r>
            <a:endParaRPr lang="en-US" sz="900" dirty="0"/>
          </a:p>
        </p:txBody>
      </p:sp>
      <p:sp>
        <p:nvSpPr>
          <p:cNvPr id="24" name="Shape 22"/>
          <p:cNvSpPr/>
          <p:nvPr/>
        </p:nvSpPr>
        <p:spPr>
          <a:xfrm>
            <a:off x="603504" y="6318504"/>
            <a:ext cx="10972800" cy="0"/>
          </a:xfrm>
          <a:prstGeom prst="line">
            <a:avLst/>
          </a:prstGeom>
          <a:noFill/>
          <a:ln w="10160">
            <a:solidFill>
              <a:srgbClr val="D5E0E7"/>
            </a:solidFill>
            <a:prstDash val="solid"/>
          </a:ln>
        </p:spPr>
      </p:sp>
      <p:sp>
        <p:nvSpPr>
          <p:cNvPr id="25" name="Text 23"/>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PLC SPECIFICATIONS AND I/O MODULES</a:t>
            </a:r>
            <a:endParaRPr lang="en-US" sz="800" dirty="0"/>
          </a:p>
        </p:txBody>
      </p:sp>
      <p:sp>
        <p:nvSpPr>
          <p:cNvPr id="26" name="Text 24"/>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13 / 18</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3F7394"/>
          </a:solidFill>
          <a:ln w="12700">
            <a:solidFill>
              <a:srgbClr val="3F7394">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3F7394"/>
                </a:solidFill>
                <a:latin typeface="Aptos" pitchFamily="34" charset="0"/>
                <a:ea typeface="Aptos" pitchFamily="34" charset="-122"/>
                <a:cs typeface="Aptos" pitchFamily="34" charset="-120"/>
              </a:rPr>
              <a:t>UNIT 5009    /    WEEK 03    /    LO1</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10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3F7394"/>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3F7394"/>
                </a:solidFill>
                <a:latin typeface="Aptos" pitchFamily="34" charset="0"/>
                <a:ea typeface="Aptos" pitchFamily="34" charset="-122"/>
                <a:cs typeface="Aptos" pitchFamily="34" charset="-120"/>
              </a:rPr>
              <a:t>P2</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Expansion and system architecture</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76656" y="1719072"/>
            <a:ext cx="1828800" cy="210312"/>
          </a:xfrm>
          <a:prstGeom prst="rect">
            <a:avLst/>
          </a:prstGeom>
          <a:noFill/>
          <a:ln/>
        </p:spPr>
        <p:txBody>
          <a:bodyPr wrap="square" lIns="0" tIns="0" rIns="0" bIns="0" rtlCol="0" anchor="ctr"/>
          <a:lstStyle/>
          <a:p>
            <a:pPr indent="0" marL="0">
              <a:buNone/>
            </a:pPr>
            <a:r>
              <a:rPr lang="en-US" sz="900" b="1" spc="100" kern="0" dirty="0">
                <a:solidFill>
                  <a:srgbClr val="3F7394"/>
                </a:solidFill>
                <a:latin typeface="Aptos" pitchFamily="34" charset="0"/>
                <a:ea typeface="Aptos" pitchFamily="34" charset="-122"/>
                <a:cs typeface="Aptos" pitchFamily="34" charset="-120"/>
              </a:rPr>
              <a:t>KEY IDEAS</a:t>
            </a:r>
            <a:endParaRPr lang="en-US" sz="900" dirty="0"/>
          </a:p>
        </p:txBody>
      </p:sp>
      <p:sp>
        <p:nvSpPr>
          <p:cNvPr id="11" name="Shape 9"/>
          <p:cNvSpPr/>
          <p:nvPr/>
        </p:nvSpPr>
        <p:spPr>
          <a:xfrm>
            <a:off x="713232" y="2139696"/>
            <a:ext cx="100584" cy="100584"/>
          </a:xfrm>
          <a:prstGeom prst="ellipse">
            <a:avLst/>
          </a:prstGeom>
          <a:solidFill>
            <a:srgbClr val="3F7394"/>
          </a:solidFill>
          <a:ln w="12700">
            <a:solidFill>
              <a:srgbClr val="3F7394">
                <a:alpha val="0"/>
              </a:srgbClr>
            </a:solidFill>
            <a:prstDash val="solid"/>
          </a:ln>
        </p:spPr>
      </p:sp>
      <p:sp>
        <p:nvSpPr>
          <p:cNvPr id="12" name="Text 10"/>
          <p:cNvSpPr/>
          <p:nvPr/>
        </p:nvSpPr>
        <p:spPr>
          <a:xfrm>
            <a:off x="969264" y="2029968"/>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Count local and remote I/O; check compatible expansion, module order, power capacity, network nodes, and spare capacity rationale.</a:t>
            </a:r>
            <a:endParaRPr lang="en-US" sz="1650" dirty="0"/>
          </a:p>
        </p:txBody>
      </p:sp>
      <p:sp>
        <p:nvSpPr>
          <p:cNvPr id="13" name="Shape 11"/>
          <p:cNvSpPr/>
          <p:nvPr/>
        </p:nvSpPr>
        <p:spPr>
          <a:xfrm>
            <a:off x="713232" y="2816352"/>
            <a:ext cx="100584" cy="100584"/>
          </a:xfrm>
          <a:prstGeom prst="ellipse">
            <a:avLst/>
          </a:prstGeom>
          <a:solidFill>
            <a:srgbClr val="3F7394"/>
          </a:solidFill>
          <a:ln w="12700">
            <a:solidFill>
              <a:srgbClr val="3F7394">
                <a:alpha val="0"/>
              </a:srgbClr>
            </a:solidFill>
            <a:prstDash val="solid"/>
          </a:ln>
        </p:spPr>
      </p:sp>
      <p:sp>
        <p:nvSpPr>
          <p:cNvPr id="14" name="Text 12"/>
          <p:cNvSpPr/>
          <p:nvPr/>
        </p:nvSpPr>
        <p:spPr>
          <a:xfrm>
            <a:off x="969264" y="2706624"/>
            <a:ext cx="6327648" cy="329184"/>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Add required modules and interfaces to the MedPack block diagram.</a:t>
            </a:r>
            <a:endParaRPr lang="en-US" sz="1650" dirty="0"/>
          </a:p>
        </p:txBody>
      </p:sp>
      <p:sp>
        <p:nvSpPr>
          <p:cNvPr id="15" name="Shape 13"/>
          <p:cNvSpPr/>
          <p:nvPr/>
        </p:nvSpPr>
        <p:spPr>
          <a:xfrm>
            <a:off x="7644384" y="1746504"/>
            <a:ext cx="3941064" cy="4352544"/>
          </a:xfrm>
          <a:prstGeom prst="rect">
            <a:avLst/>
          </a:prstGeom>
          <a:solidFill>
            <a:srgbClr val="E8EFF3"/>
          </a:solidFill>
          <a:ln w="15240">
            <a:solidFill>
              <a:srgbClr val="C8D5DE"/>
            </a:solidFill>
            <a:prstDash val="solid"/>
          </a:ln>
        </p:spPr>
      </p:sp>
      <p:sp>
        <p:nvSpPr>
          <p:cNvPr id="16" name="Text 14"/>
          <p:cNvSpPr/>
          <p:nvPr/>
        </p:nvSpPr>
        <p:spPr>
          <a:xfrm>
            <a:off x="7845552" y="1911096"/>
            <a:ext cx="3538728" cy="246888"/>
          </a:xfrm>
          <a:prstGeom prst="rect">
            <a:avLst/>
          </a:prstGeom>
          <a:noFill/>
          <a:ln/>
        </p:spPr>
        <p:txBody>
          <a:bodyPr wrap="square" lIns="0" tIns="0" rIns="0" bIns="0" rtlCol="0" anchor="ctr"/>
          <a:lstStyle/>
          <a:p>
            <a:pPr indent="0" marL="0">
              <a:buNone/>
            </a:pPr>
            <a:r>
              <a:rPr lang="en-US" sz="900" b="1" spc="80" kern="0" dirty="0">
                <a:solidFill>
                  <a:srgbClr val="3F7394"/>
                </a:solidFill>
                <a:latin typeface="Aptos" pitchFamily="34" charset="0"/>
                <a:ea typeface="Aptos" pitchFamily="34" charset="-122"/>
                <a:cs typeface="Aptos" pitchFamily="34" charset="-120"/>
              </a:rPr>
              <a:t>IMAGE PLACEHOLDER</a:t>
            </a:r>
            <a:endParaRPr lang="en-US" sz="900" dirty="0"/>
          </a:p>
        </p:txBody>
      </p:sp>
      <p:sp>
        <p:nvSpPr>
          <p:cNvPr id="17" name="Text 15"/>
          <p:cNvSpPr/>
          <p:nvPr/>
        </p:nvSpPr>
        <p:spPr>
          <a:xfrm>
            <a:off x="7900416" y="3072384"/>
            <a:ext cx="3429000" cy="347472"/>
          </a:xfrm>
          <a:prstGeom prst="rect">
            <a:avLst/>
          </a:prstGeom>
          <a:noFill/>
          <a:ln/>
        </p:spPr>
        <p:txBody>
          <a:bodyPr wrap="square" lIns="0" tIns="0" rIns="0" bIns="0" rtlCol="0" anchor="ctr"/>
          <a:lstStyle/>
          <a:p>
            <a:pPr algn="ctr" indent="0" marL="0">
              <a:buNone/>
            </a:pPr>
            <a:r>
              <a:rPr lang="en-US" sz="1700" b="1" dirty="0">
                <a:solidFill>
                  <a:srgbClr val="7A8F9D"/>
                </a:solidFill>
                <a:latin typeface="Aptos Display" pitchFamily="34" charset="0"/>
                <a:ea typeface="Aptos Display" pitchFamily="34" charset="-122"/>
                <a:cs typeface="Aptos Display" pitchFamily="34" charset="-120"/>
              </a:rPr>
              <a:t>ADD PHOTO OR DIAGRAM</a:t>
            </a:r>
            <a:endParaRPr lang="en-US" sz="1700" dirty="0"/>
          </a:p>
        </p:txBody>
      </p:sp>
      <p:sp>
        <p:nvSpPr>
          <p:cNvPr id="18" name="Text 16"/>
          <p:cNvSpPr/>
          <p:nvPr/>
        </p:nvSpPr>
        <p:spPr>
          <a:xfrm>
            <a:off x="7900416" y="3465576"/>
            <a:ext cx="3429000" cy="301752"/>
          </a:xfrm>
          <a:prstGeom prst="rect">
            <a:avLst/>
          </a:prstGeom>
          <a:noFill/>
          <a:ln/>
        </p:spPr>
        <p:txBody>
          <a:bodyPr wrap="square" lIns="0" tIns="0" rIns="0" bIns="0" rtlCol="0" anchor="ctr"/>
          <a:lstStyle/>
          <a:p>
            <a:pPr algn="ctr" indent="0" marL="0">
              <a:buNone/>
            </a:pPr>
            <a:r>
              <a:rPr lang="en-US" sz="1150" dirty="0">
                <a:solidFill>
                  <a:srgbClr val="607585"/>
                </a:solidFill>
                <a:latin typeface="Aptos" pitchFamily="34" charset="0"/>
                <a:ea typeface="Aptos" pitchFamily="34" charset="-122"/>
                <a:cs typeface="Aptos" pitchFamily="34" charset="-120"/>
              </a:rPr>
              <a:t>Leave this area open for the final visual</a:t>
            </a:r>
            <a:endParaRPr lang="en-US" sz="1150" dirty="0"/>
          </a:p>
        </p:txBody>
      </p:sp>
      <p:sp>
        <p:nvSpPr>
          <p:cNvPr id="19" name="Shape 17"/>
          <p:cNvSpPr/>
          <p:nvPr/>
        </p:nvSpPr>
        <p:spPr>
          <a:xfrm>
            <a:off x="7845552" y="5111496"/>
            <a:ext cx="3538728" cy="0"/>
          </a:xfrm>
          <a:prstGeom prst="line">
            <a:avLst/>
          </a:prstGeom>
          <a:noFill/>
          <a:ln w="12700">
            <a:solidFill>
              <a:srgbClr val="C8D5DE"/>
            </a:solidFill>
            <a:prstDash val="solid"/>
          </a:ln>
        </p:spPr>
      </p:sp>
      <p:sp>
        <p:nvSpPr>
          <p:cNvPr id="20" name="Text 18"/>
          <p:cNvSpPr/>
          <p:nvPr/>
        </p:nvSpPr>
        <p:spPr>
          <a:xfrm>
            <a:off x="7845552" y="5239512"/>
            <a:ext cx="3538728" cy="384048"/>
          </a:xfrm>
          <a:prstGeom prst="rect">
            <a:avLst/>
          </a:prstGeom>
          <a:noFill/>
          <a:ln/>
        </p:spPr>
        <p:txBody>
          <a:bodyPr wrap="square" lIns="0" tIns="0" rIns="0" bIns="0" rtlCol="0" anchor="ctr"/>
          <a:lstStyle/>
          <a:p>
            <a:pPr indent="0" marL="0">
              <a:buNone/>
            </a:pPr>
            <a:r>
              <a:rPr lang="en-US" sz="1050" b="1" dirty="0">
                <a:solidFill>
                  <a:srgbClr val="1B3448"/>
                </a:solidFill>
                <a:latin typeface="Aptos" pitchFamily="34" charset="0"/>
                <a:ea typeface="Aptos" pitchFamily="34" charset="-122"/>
                <a:cs typeface="Aptos" pitchFamily="34" charset="-120"/>
              </a:rPr>
              <a:t>VISUAL BRIEF  /  Expansion and system architecture</a:t>
            </a:r>
            <a:endParaRPr lang="en-US" sz="1050" dirty="0"/>
          </a:p>
        </p:txBody>
      </p:sp>
      <p:sp>
        <p:nvSpPr>
          <p:cNvPr id="21" name="Text 19"/>
          <p:cNvSpPr/>
          <p:nvPr/>
        </p:nvSpPr>
        <p:spPr>
          <a:xfrm>
            <a:off x="7845552" y="5650992"/>
            <a:ext cx="3538728" cy="265176"/>
          </a:xfrm>
          <a:prstGeom prst="rect">
            <a:avLst/>
          </a:prstGeom>
          <a:noFill/>
          <a:ln/>
        </p:spPr>
        <p:txBody>
          <a:bodyPr wrap="square" lIns="0" tIns="0" rIns="0" bIns="0" rtlCol="0" anchor="ctr"/>
          <a:lstStyle/>
          <a:p>
            <a:pPr indent="0" marL="0">
              <a:buNone/>
            </a:pPr>
            <a:r>
              <a:rPr lang="en-US" sz="900" dirty="0">
                <a:solidFill>
                  <a:srgbClr val="607585"/>
                </a:solidFill>
                <a:latin typeface="Aptos" pitchFamily="34" charset="0"/>
                <a:ea typeface="Aptos" pitchFamily="34" charset="-122"/>
                <a:cs typeface="Aptos" pitchFamily="34" charset="-120"/>
              </a:rPr>
              <a:t>Full image-generation prompt is in this slide's speaker notes.</a:t>
            </a:r>
            <a:endParaRPr lang="en-US" sz="900" dirty="0"/>
          </a:p>
        </p:txBody>
      </p:sp>
      <p:sp>
        <p:nvSpPr>
          <p:cNvPr id="22" name="Shape 20"/>
          <p:cNvSpPr/>
          <p:nvPr/>
        </p:nvSpPr>
        <p:spPr>
          <a:xfrm>
            <a:off x="603504" y="6318504"/>
            <a:ext cx="10972800" cy="0"/>
          </a:xfrm>
          <a:prstGeom prst="line">
            <a:avLst/>
          </a:prstGeom>
          <a:noFill/>
          <a:ln w="10160">
            <a:solidFill>
              <a:srgbClr val="D5E0E7"/>
            </a:solidFill>
            <a:prstDash val="solid"/>
          </a:ln>
        </p:spPr>
      </p:sp>
      <p:sp>
        <p:nvSpPr>
          <p:cNvPr id="23" name="Text 21"/>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PLC SPECIFICATIONS AND I/O MODULES</a:t>
            </a:r>
            <a:endParaRPr lang="en-US" sz="800" dirty="0"/>
          </a:p>
        </p:txBody>
      </p:sp>
      <p:sp>
        <p:nvSpPr>
          <p:cNvPr id="24" name="Text 22"/>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14 / 18</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3F7394"/>
          </a:solidFill>
          <a:ln w="12700">
            <a:solidFill>
              <a:srgbClr val="3F7394">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3F7394"/>
                </a:solidFill>
                <a:latin typeface="Aptos" pitchFamily="34" charset="0"/>
                <a:ea typeface="Aptos" pitchFamily="34" charset="-122"/>
                <a:cs typeface="Aptos" pitchFamily="34" charset="-120"/>
              </a:rPr>
              <a:t>UNIT 5009    /    WEEK 03    /    LO1</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20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3F7394"/>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3F7394"/>
                </a:solidFill>
                <a:latin typeface="Aptos" pitchFamily="34" charset="0"/>
                <a:ea typeface="Aptos" pitchFamily="34" charset="-122"/>
                <a:cs typeface="Aptos" pitchFamily="34" charset="-120"/>
              </a:rPr>
              <a:t>P2</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2800" b="1" dirty="0">
                <a:solidFill>
                  <a:srgbClr val="1B3448"/>
                </a:solidFill>
                <a:latin typeface="Aptos Display" pitchFamily="34" charset="0"/>
                <a:ea typeface="Aptos Display" pitchFamily="34" charset="-122"/>
                <a:cs typeface="Aptos Display" pitchFamily="34" charset="-120"/>
              </a:rPr>
              <a:t>Candidate-by-candidate compatibility audit</a:t>
            </a:r>
            <a:endParaRPr lang="en-US" sz="28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76656" y="1719072"/>
            <a:ext cx="1828800" cy="210312"/>
          </a:xfrm>
          <a:prstGeom prst="rect">
            <a:avLst/>
          </a:prstGeom>
          <a:noFill/>
          <a:ln/>
        </p:spPr>
        <p:txBody>
          <a:bodyPr wrap="square" lIns="0" tIns="0" rIns="0" bIns="0" rtlCol="0" anchor="ctr"/>
          <a:lstStyle/>
          <a:p>
            <a:pPr indent="0" marL="0">
              <a:buNone/>
            </a:pPr>
            <a:r>
              <a:rPr lang="en-US" sz="900" b="1" spc="100" kern="0" dirty="0">
                <a:solidFill>
                  <a:srgbClr val="3F7394"/>
                </a:solidFill>
                <a:latin typeface="Aptos" pitchFamily="34" charset="0"/>
                <a:ea typeface="Aptos" pitchFamily="34" charset="-122"/>
                <a:cs typeface="Aptos" pitchFamily="34" charset="-120"/>
              </a:rPr>
              <a:t>KEY IDEAS</a:t>
            </a:r>
            <a:endParaRPr lang="en-US" sz="900" dirty="0"/>
          </a:p>
        </p:txBody>
      </p:sp>
      <p:sp>
        <p:nvSpPr>
          <p:cNvPr id="11" name="Shape 9"/>
          <p:cNvSpPr/>
          <p:nvPr/>
        </p:nvSpPr>
        <p:spPr>
          <a:xfrm>
            <a:off x="713232" y="2139696"/>
            <a:ext cx="100584" cy="100584"/>
          </a:xfrm>
          <a:prstGeom prst="ellipse">
            <a:avLst/>
          </a:prstGeom>
          <a:solidFill>
            <a:srgbClr val="3F7394"/>
          </a:solidFill>
          <a:ln w="12700">
            <a:solidFill>
              <a:srgbClr val="3F7394">
                <a:alpha val="0"/>
              </a:srgbClr>
            </a:solidFill>
            <a:prstDash val="solid"/>
          </a:ln>
        </p:spPr>
      </p:sp>
      <p:sp>
        <p:nvSpPr>
          <p:cNvPr id="12" name="Text 10"/>
          <p:cNvSpPr/>
          <p:nvPr/>
        </p:nvSpPr>
        <p:spPr>
          <a:xfrm>
            <a:off x="969264" y="2029968"/>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Teams audit all three PLC candidates against mandatory I/O and electrical requirements.</a:t>
            </a:r>
            <a:endParaRPr lang="en-US" sz="1650" dirty="0"/>
          </a:p>
        </p:txBody>
      </p:sp>
      <p:sp>
        <p:nvSpPr>
          <p:cNvPr id="13" name="Shape 11"/>
          <p:cNvSpPr/>
          <p:nvPr/>
        </p:nvSpPr>
        <p:spPr>
          <a:xfrm>
            <a:off x="713232" y="2816352"/>
            <a:ext cx="100584" cy="100584"/>
          </a:xfrm>
          <a:prstGeom prst="ellipse">
            <a:avLst/>
          </a:prstGeom>
          <a:solidFill>
            <a:srgbClr val="3F7394"/>
          </a:solidFill>
          <a:ln w="12700">
            <a:solidFill>
              <a:srgbClr val="3F7394">
                <a:alpha val="0"/>
              </a:srgbClr>
            </a:solidFill>
            <a:prstDash val="solid"/>
          </a:ln>
        </p:spPr>
      </p:sp>
      <p:sp>
        <p:nvSpPr>
          <p:cNvPr id="14" name="Text 12"/>
          <p:cNvSpPr/>
          <p:nvPr/>
        </p:nvSpPr>
        <p:spPr>
          <a:xfrm>
            <a:off x="969264" y="2706624"/>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Use pass/fail/unknown; a failed mandatory voltage/current/safety requirement cannot be hidden in a weighted average.</a:t>
            </a:r>
            <a:endParaRPr lang="en-US" sz="1650" dirty="0"/>
          </a:p>
        </p:txBody>
      </p:sp>
      <p:sp>
        <p:nvSpPr>
          <p:cNvPr id="15" name="Shape 13"/>
          <p:cNvSpPr/>
          <p:nvPr/>
        </p:nvSpPr>
        <p:spPr>
          <a:xfrm>
            <a:off x="7644384" y="1746504"/>
            <a:ext cx="3941064" cy="4352544"/>
          </a:xfrm>
          <a:prstGeom prst="rect">
            <a:avLst/>
          </a:prstGeom>
          <a:solidFill>
            <a:srgbClr val="E8EFF3"/>
          </a:solidFill>
          <a:ln w="15240">
            <a:solidFill>
              <a:srgbClr val="C8D5DE"/>
            </a:solidFill>
            <a:prstDash val="solid"/>
          </a:ln>
        </p:spPr>
      </p:sp>
      <p:sp>
        <p:nvSpPr>
          <p:cNvPr id="16" name="Text 14"/>
          <p:cNvSpPr/>
          <p:nvPr/>
        </p:nvSpPr>
        <p:spPr>
          <a:xfrm>
            <a:off x="7845552" y="1911096"/>
            <a:ext cx="3538728" cy="246888"/>
          </a:xfrm>
          <a:prstGeom prst="rect">
            <a:avLst/>
          </a:prstGeom>
          <a:noFill/>
          <a:ln/>
        </p:spPr>
        <p:txBody>
          <a:bodyPr wrap="square" lIns="0" tIns="0" rIns="0" bIns="0" rtlCol="0" anchor="ctr"/>
          <a:lstStyle/>
          <a:p>
            <a:pPr indent="0" marL="0">
              <a:buNone/>
            </a:pPr>
            <a:r>
              <a:rPr lang="en-US" sz="900" b="1" spc="80" kern="0" dirty="0">
                <a:solidFill>
                  <a:srgbClr val="3F7394"/>
                </a:solidFill>
                <a:latin typeface="Aptos" pitchFamily="34" charset="0"/>
                <a:ea typeface="Aptos" pitchFamily="34" charset="-122"/>
                <a:cs typeface="Aptos" pitchFamily="34" charset="-120"/>
              </a:rPr>
              <a:t>IMAGE PLACEHOLDER</a:t>
            </a:r>
            <a:endParaRPr lang="en-US" sz="900" dirty="0"/>
          </a:p>
        </p:txBody>
      </p:sp>
      <p:sp>
        <p:nvSpPr>
          <p:cNvPr id="17" name="Text 15"/>
          <p:cNvSpPr/>
          <p:nvPr/>
        </p:nvSpPr>
        <p:spPr>
          <a:xfrm>
            <a:off x="7900416" y="3072384"/>
            <a:ext cx="3429000" cy="347472"/>
          </a:xfrm>
          <a:prstGeom prst="rect">
            <a:avLst/>
          </a:prstGeom>
          <a:noFill/>
          <a:ln/>
        </p:spPr>
        <p:txBody>
          <a:bodyPr wrap="square" lIns="0" tIns="0" rIns="0" bIns="0" rtlCol="0" anchor="ctr"/>
          <a:lstStyle/>
          <a:p>
            <a:pPr algn="ctr" indent="0" marL="0">
              <a:buNone/>
            </a:pPr>
            <a:r>
              <a:rPr lang="en-US" sz="1700" b="1" dirty="0">
                <a:solidFill>
                  <a:srgbClr val="7A8F9D"/>
                </a:solidFill>
                <a:latin typeface="Aptos Display" pitchFamily="34" charset="0"/>
                <a:ea typeface="Aptos Display" pitchFamily="34" charset="-122"/>
                <a:cs typeface="Aptos Display" pitchFamily="34" charset="-120"/>
              </a:rPr>
              <a:t>ADD PHOTO OR DIAGRAM</a:t>
            </a:r>
            <a:endParaRPr lang="en-US" sz="1700" dirty="0"/>
          </a:p>
        </p:txBody>
      </p:sp>
      <p:sp>
        <p:nvSpPr>
          <p:cNvPr id="18" name="Text 16"/>
          <p:cNvSpPr/>
          <p:nvPr/>
        </p:nvSpPr>
        <p:spPr>
          <a:xfrm>
            <a:off x="7900416" y="3465576"/>
            <a:ext cx="3429000" cy="301752"/>
          </a:xfrm>
          <a:prstGeom prst="rect">
            <a:avLst/>
          </a:prstGeom>
          <a:noFill/>
          <a:ln/>
        </p:spPr>
        <p:txBody>
          <a:bodyPr wrap="square" lIns="0" tIns="0" rIns="0" bIns="0" rtlCol="0" anchor="ctr"/>
          <a:lstStyle/>
          <a:p>
            <a:pPr algn="ctr" indent="0" marL="0">
              <a:buNone/>
            </a:pPr>
            <a:r>
              <a:rPr lang="en-US" sz="1150" dirty="0">
                <a:solidFill>
                  <a:srgbClr val="607585"/>
                </a:solidFill>
                <a:latin typeface="Aptos" pitchFamily="34" charset="0"/>
                <a:ea typeface="Aptos" pitchFamily="34" charset="-122"/>
                <a:cs typeface="Aptos" pitchFamily="34" charset="-120"/>
              </a:rPr>
              <a:t>Leave this area open for the final visual</a:t>
            </a:r>
            <a:endParaRPr lang="en-US" sz="1150" dirty="0"/>
          </a:p>
        </p:txBody>
      </p:sp>
      <p:sp>
        <p:nvSpPr>
          <p:cNvPr id="19" name="Shape 17"/>
          <p:cNvSpPr/>
          <p:nvPr/>
        </p:nvSpPr>
        <p:spPr>
          <a:xfrm>
            <a:off x="7845552" y="5111496"/>
            <a:ext cx="3538728" cy="0"/>
          </a:xfrm>
          <a:prstGeom prst="line">
            <a:avLst/>
          </a:prstGeom>
          <a:noFill/>
          <a:ln w="12700">
            <a:solidFill>
              <a:srgbClr val="C8D5DE"/>
            </a:solidFill>
            <a:prstDash val="solid"/>
          </a:ln>
        </p:spPr>
      </p:sp>
      <p:sp>
        <p:nvSpPr>
          <p:cNvPr id="20" name="Text 18"/>
          <p:cNvSpPr/>
          <p:nvPr/>
        </p:nvSpPr>
        <p:spPr>
          <a:xfrm>
            <a:off x="7845552" y="5239512"/>
            <a:ext cx="3538728" cy="384048"/>
          </a:xfrm>
          <a:prstGeom prst="rect">
            <a:avLst/>
          </a:prstGeom>
          <a:noFill/>
          <a:ln/>
        </p:spPr>
        <p:txBody>
          <a:bodyPr wrap="square" lIns="0" tIns="0" rIns="0" bIns="0" rtlCol="0" anchor="ctr"/>
          <a:lstStyle/>
          <a:p>
            <a:pPr indent="0" marL="0">
              <a:buNone/>
            </a:pPr>
            <a:r>
              <a:rPr lang="en-US" sz="1050" b="1" dirty="0">
                <a:solidFill>
                  <a:srgbClr val="1B3448"/>
                </a:solidFill>
                <a:latin typeface="Aptos" pitchFamily="34" charset="0"/>
                <a:ea typeface="Aptos" pitchFamily="34" charset="-122"/>
                <a:cs typeface="Aptos" pitchFamily="34" charset="-120"/>
              </a:rPr>
              <a:t>VISUAL BRIEF  /  Candidate-by-candidate compatibility audit</a:t>
            </a:r>
            <a:endParaRPr lang="en-US" sz="1050" dirty="0"/>
          </a:p>
        </p:txBody>
      </p:sp>
      <p:sp>
        <p:nvSpPr>
          <p:cNvPr id="21" name="Text 19"/>
          <p:cNvSpPr/>
          <p:nvPr/>
        </p:nvSpPr>
        <p:spPr>
          <a:xfrm>
            <a:off x="7845552" y="5650992"/>
            <a:ext cx="3538728" cy="265176"/>
          </a:xfrm>
          <a:prstGeom prst="rect">
            <a:avLst/>
          </a:prstGeom>
          <a:noFill/>
          <a:ln/>
        </p:spPr>
        <p:txBody>
          <a:bodyPr wrap="square" lIns="0" tIns="0" rIns="0" bIns="0" rtlCol="0" anchor="ctr"/>
          <a:lstStyle/>
          <a:p>
            <a:pPr indent="0" marL="0">
              <a:buNone/>
            </a:pPr>
            <a:r>
              <a:rPr lang="en-US" sz="900" dirty="0">
                <a:solidFill>
                  <a:srgbClr val="607585"/>
                </a:solidFill>
                <a:latin typeface="Aptos" pitchFamily="34" charset="0"/>
                <a:ea typeface="Aptos" pitchFamily="34" charset="-122"/>
                <a:cs typeface="Aptos" pitchFamily="34" charset="-120"/>
              </a:rPr>
              <a:t>Full image-generation prompt is in this slide's speaker notes.</a:t>
            </a:r>
            <a:endParaRPr lang="en-US" sz="900" dirty="0"/>
          </a:p>
        </p:txBody>
      </p:sp>
      <p:sp>
        <p:nvSpPr>
          <p:cNvPr id="22" name="Shape 20"/>
          <p:cNvSpPr/>
          <p:nvPr/>
        </p:nvSpPr>
        <p:spPr>
          <a:xfrm>
            <a:off x="603504" y="6318504"/>
            <a:ext cx="10972800" cy="0"/>
          </a:xfrm>
          <a:prstGeom prst="line">
            <a:avLst/>
          </a:prstGeom>
          <a:noFill/>
          <a:ln w="10160">
            <a:solidFill>
              <a:srgbClr val="D5E0E7"/>
            </a:solidFill>
            <a:prstDash val="solid"/>
          </a:ln>
        </p:spPr>
      </p:sp>
      <p:sp>
        <p:nvSpPr>
          <p:cNvPr id="23" name="Text 21"/>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PLC SPECIFICATIONS AND I/O MODULES</a:t>
            </a:r>
            <a:endParaRPr lang="en-US" sz="800" dirty="0"/>
          </a:p>
        </p:txBody>
      </p:sp>
      <p:sp>
        <p:nvSpPr>
          <p:cNvPr id="24" name="Text 22"/>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15 / 18</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3F7394"/>
          </a:solidFill>
          <a:ln w="12700">
            <a:solidFill>
              <a:srgbClr val="3F7394">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3F7394"/>
                </a:solidFill>
                <a:latin typeface="Aptos" pitchFamily="34" charset="0"/>
                <a:ea typeface="Aptos" pitchFamily="34" charset="-122"/>
                <a:cs typeface="Aptos" pitchFamily="34" charset="-120"/>
              </a:rPr>
              <a:t>UNIT 5009    /    WEEK 03    /    LO1</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20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3F7394"/>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3F7394"/>
                </a:solidFill>
                <a:latin typeface="Aptos" pitchFamily="34" charset="0"/>
                <a:ea typeface="Aptos" pitchFamily="34" charset="-122"/>
                <a:cs typeface="Aptos" pitchFamily="34" charset="-120"/>
              </a:rPr>
              <a:t>P2</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Datasheet evidence clinic</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76656" y="1719072"/>
            <a:ext cx="1828800" cy="210312"/>
          </a:xfrm>
          <a:prstGeom prst="rect">
            <a:avLst/>
          </a:prstGeom>
          <a:noFill/>
          <a:ln/>
        </p:spPr>
        <p:txBody>
          <a:bodyPr wrap="square" lIns="0" tIns="0" rIns="0" bIns="0" rtlCol="0" anchor="ctr"/>
          <a:lstStyle/>
          <a:p>
            <a:pPr indent="0" marL="0">
              <a:buNone/>
            </a:pPr>
            <a:r>
              <a:rPr lang="en-US" sz="900" b="1" spc="100" kern="0" dirty="0">
                <a:solidFill>
                  <a:srgbClr val="3F7394"/>
                </a:solidFill>
                <a:latin typeface="Aptos" pitchFamily="34" charset="0"/>
                <a:ea typeface="Aptos" pitchFamily="34" charset="-122"/>
                <a:cs typeface="Aptos" pitchFamily="34" charset="-120"/>
              </a:rPr>
              <a:t>KEY IDEAS</a:t>
            </a:r>
            <a:endParaRPr lang="en-US" sz="900" dirty="0"/>
          </a:p>
        </p:txBody>
      </p:sp>
      <p:sp>
        <p:nvSpPr>
          <p:cNvPr id="11" name="Shape 9"/>
          <p:cNvSpPr/>
          <p:nvPr/>
        </p:nvSpPr>
        <p:spPr>
          <a:xfrm>
            <a:off x="713232" y="2139696"/>
            <a:ext cx="100584" cy="100584"/>
          </a:xfrm>
          <a:prstGeom prst="ellipse">
            <a:avLst/>
          </a:prstGeom>
          <a:solidFill>
            <a:srgbClr val="3F7394"/>
          </a:solidFill>
          <a:ln w="12700">
            <a:solidFill>
              <a:srgbClr val="3F7394">
                <a:alpha val="0"/>
              </a:srgbClr>
            </a:solidFill>
            <a:prstDash val="solid"/>
          </a:ln>
        </p:spPr>
      </p:sp>
      <p:sp>
        <p:nvSpPr>
          <p:cNvPr id="12" name="Text 10"/>
          <p:cNvSpPr/>
          <p:nvPr/>
        </p:nvSpPr>
        <p:spPr>
          <a:xfrm>
            <a:off x="969264" y="2029968"/>
            <a:ext cx="6327648" cy="329184"/>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Teams exchange one claim and locate the supporting manual page.</a:t>
            </a:r>
            <a:endParaRPr lang="en-US" sz="1650" dirty="0"/>
          </a:p>
        </p:txBody>
      </p:sp>
      <p:sp>
        <p:nvSpPr>
          <p:cNvPr id="13" name="Shape 11"/>
          <p:cNvSpPr/>
          <p:nvPr/>
        </p:nvSpPr>
        <p:spPr>
          <a:xfrm>
            <a:off x="713232" y="2578608"/>
            <a:ext cx="100584" cy="100584"/>
          </a:xfrm>
          <a:prstGeom prst="ellipse">
            <a:avLst/>
          </a:prstGeom>
          <a:solidFill>
            <a:srgbClr val="3F7394"/>
          </a:solidFill>
          <a:ln w="12700">
            <a:solidFill>
              <a:srgbClr val="3F7394">
                <a:alpha val="0"/>
              </a:srgbClr>
            </a:solidFill>
            <a:prstDash val="solid"/>
          </a:ln>
        </p:spPr>
      </p:sp>
      <p:sp>
        <p:nvSpPr>
          <p:cNvPr id="14" name="Text 12"/>
          <p:cNvSpPr/>
          <p:nvPr/>
        </p:nvSpPr>
        <p:spPr>
          <a:xfrm>
            <a:off x="969264" y="2468880"/>
            <a:ext cx="6327648" cy="804672"/>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Correct false equivalences: resolution/accuracy, scan time/response, relay rating/load category, and output current/usable group current.</a:t>
            </a:r>
            <a:endParaRPr lang="en-US" sz="1650" dirty="0"/>
          </a:p>
        </p:txBody>
      </p:sp>
      <p:sp>
        <p:nvSpPr>
          <p:cNvPr id="15" name="Shape 13"/>
          <p:cNvSpPr/>
          <p:nvPr/>
        </p:nvSpPr>
        <p:spPr>
          <a:xfrm>
            <a:off x="7644384" y="1746504"/>
            <a:ext cx="3941064" cy="4352544"/>
          </a:xfrm>
          <a:prstGeom prst="rect">
            <a:avLst/>
          </a:prstGeom>
          <a:solidFill>
            <a:srgbClr val="E8EFF3"/>
          </a:solidFill>
          <a:ln w="15240">
            <a:solidFill>
              <a:srgbClr val="C8D5DE"/>
            </a:solidFill>
            <a:prstDash val="solid"/>
          </a:ln>
        </p:spPr>
      </p:sp>
      <p:sp>
        <p:nvSpPr>
          <p:cNvPr id="16" name="Text 14"/>
          <p:cNvSpPr/>
          <p:nvPr/>
        </p:nvSpPr>
        <p:spPr>
          <a:xfrm>
            <a:off x="7845552" y="1911096"/>
            <a:ext cx="3538728" cy="246888"/>
          </a:xfrm>
          <a:prstGeom prst="rect">
            <a:avLst/>
          </a:prstGeom>
          <a:noFill/>
          <a:ln/>
        </p:spPr>
        <p:txBody>
          <a:bodyPr wrap="square" lIns="0" tIns="0" rIns="0" bIns="0" rtlCol="0" anchor="ctr"/>
          <a:lstStyle/>
          <a:p>
            <a:pPr indent="0" marL="0">
              <a:buNone/>
            </a:pPr>
            <a:r>
              <a:rPr lang="en-US" sz="900" b="1" spc="80" kern="0" dirty="0">
                <a:solidFill>
                  <a:srgbClr val="3F7394"/>
                </a:solidFill>
                <a:latin typeface="Aptos" pitchFamily="34" charset="0"/>
                <a:ea typeface="Aptos" pitchFamily="34" charset="-122"/>
                <a:cs typeface="Aptos" pitchFamily="34" charset="-120"/>
              </a:rPr>
              <a:t>IMAGE PLACEHOLDER</a:t>
            </a:r>
            <a:endParaRPr lang="en-US" sz="900" dirty="0"/>
          </a:p>
        </p:txBody>
      </p:sp>
      <p:sp>
        <p:nvSpPr>
          <p:cNvPr id="17" name="Text 15"/>
          <p:cNvSpPr/>
          <p:nvPr/>
        </p:nvSpPr>
        <p:spPr>
          <a:xfrm>
            <a:off x="7900416" y="3072384"/>
            <a:ext cx="3429000" cy="347472"/>
          </a:xfrm>
          <a:prstGeom prst="rect">
            <a:avLst/>
          </a:prstGeom>
          <a:noFill/>
          <a:ln/>
        </p:spPr>
        <p:txBody>
          <a:bodyPr wrap="square" lIns="0" tIns="0" rIns="0" bIns="0" rtlCol="0" anchor="ctr"/>
          <a:lstStyle/>
          <a:p>
            <a:pPr algn="ctr" indent="0" marL="0">
              <a:buNone/>
            </a:pPr>
            <a:r>
              <a:rPr lang="en-US" sz="1700" b="1" dirty="0">
                <a:solidFill>
                  <a:srgbClr val="7A8F9D"/>
                </a:solidFill>
                <a:latin typeface="Aptos Display" pitchFamily="34" charset="0"/>
                <a:ea typeface="Aptos Display" pitchFamily="34" charset="-122"/>
                <a:cs typeface="Aptos Display" pitchFamily="34" charset="-120"/>
              </a:rPr>
              <a:t>ADD PHOTO OR DIAGRAM</a:t>
            </a:r>
            <a:endParaRPr lang="en-US" sz="1700" dirty="0"/>
          </a:p>
        </p:txBody>
      </p:sp>
      <p:sp>
        <p:nvSpPr>
          <p:cNvPr id="18" name="Text 16"/>
          <p:cNvSpPr/>
          <p:nvPr/>
        </p:nvSpPr>
        <p:spPr>
          <a:xfrm>
            <a:off x="7900416" y="3465576"/>
            <a:ext cx="3429000" cy="301752"/>
          </a:xfrm>
          <a:prstGeom prst="rect">
            <a:avLst/>
          </a:prstGeom>
          <a:noFill/>
          <a:ln/>
        </p:spPr>
        <p:txBody>
          <a:bodyPr wrap="square" lIns="0" tIns="0" rIns="0" bIns="0" rtlCol="0" anchor="ctr"/>
          <a:lstStyle/>
          <a:p>
            <a:pPr algn="ctr" indent="0" marL="0">
              <a:buNone/>
            </a:pPr>
            <a:r>
              <a:rPr lang="en-US" sz="1150" dirty="0">
                <a:solidFill>
                  <a:srgbClr val="607585"/>
                </a:solidFill>
                <a:latin typeface="Aptos" pitchFamily="34" charset="0"/>
                <a:ea typeface="Aptos" pitchFamily="34" charset="-122"/>
                <a:cs typeface="Aptos" pitchFamily="34" charset="-120"/>
              </a:rPr>
              <a:t>Leave this area open for the final visual</a:t>
            </a:r>
            <a:endParaRPr lang="en-US" sz="1150" dirty="0"/>
          </a:p>
        </p:txBody>
      </p:sp>
      <p:sp>
        <p:nvSpPr>
          <p:cNvPr id="19" name="Shape 17"/>
          <p:cNvSpPr/>
          <p:nvPr/>
        </p:nvSpPr>
        <p:spPr>
          <a:xfrm>
            <a:off x="7845552" y="5111496"/>
            <a:ext cx="3538728" cy="0"/>
          </a:xfrm>
          <a:prstGeom prst="line">
            <a:avLst/>
          </a:prstGeom>
          <a:noFill/>
          <a:ln w="12700">
            <a:solidFill>
              <a:srgbClr val="C8D5DE"/>
            </a:solidFill>
            <a:prstDash val="solid"/>
          </a:ln>
        </p:spPr>
      </p:sp>
      <p:sp>
        <p:nvSpPr>
          <p:cNvPr id="20" name="Text 18"/>
          <p:cNvSpPr/>
          <p:nvPr/>
        </p:nvSpPr>
        <p:spPr>
          <a:xfrm>
            <a:off x="7845552" y="5239512"/>
            <a:ext cx="3538728" cy="384048"/>
          </a:xfrm>
          <a:prstGeom prst="rect">
            <a:avLst/>
          </a:prstGeom>
          <a:noFill/>
          <a:ln/>
        </p:spPr>
        <p:txBody>
          <a:bodyPr wrap="square" lIns="0" tIns="0" rIns="0" bIns="0" rtlCol="0" anchor="ctr"/>
          <a:lstStyle/>
          <a:p>
            <a:pPr indent="0" marL="0">
              <a:buNone/>
            </a:pPr>
            <a:r>
              <a:rPr lang="en-US" sz="1050" b="1" dirty="0">
                <a:solidFill>
                  <a:srgbClr val="1B3448"/>
                </a:solidFill>
                <a:latin typeface="Aptos" pitchFamily="34" charset="0"/>
                <a:ea typeface="Aptos" pitchFamily="34" charset="-122"/>
                <a:cs typeface="Aptos" pitchFamily="34" charset="-120"/>
              </a:rPr>
              <a:t>VISUAL BRIEF  /  Datasheet evidence clinic</a:t>
            </a:r>
            <a:endParaRPr lang="en-US" sz="1050" dirty="0"/>
          </a:p>
        </p:txBody>
      </p:sp>
      <p:sp>
        <p:nvSpPr>
          <p:cNvPr id="21" name="Text 19"/>
          <p:cNvSpPr/>
          <p:nvPr/>
        </p:nvSpPr>
        <p:spPr>
          <a:xfrm>
            <a:off x="7845552" y="5650992"/>
            <a:ext cx="3538728" cy="265176"/>
          </a:xfrm>
          <a:prstGeom prst="rect">
            <a:avLst/>
          </a:prstGeom>
          <a:noFill/>
          <a:ln/>
        </p:spPr>
        <p:txBody>
          <a:bodyPr wrap="square" lIns="0" tIns="0" rIns="0" bIns="0" rtlCol="0" anchor="ctr"/>
          <a:lstStyle/>
          <a:p>
            <a:pPr indent="0" marL="0">
              <a:buNone/>
            </a:pPr>
            <a:r>
              <a:rPr lang="en-US" sz="900" dirty="0">
                <a:solidFill>
                  <a:srgbClr val="607585"/>
                </a:solidFill>
                <a:latin typeface="Aptos" pitchFamily="34" charset="0"/>
                <a:ea typeface="Aptos" pitchFamily="34" charset="-122"/>
                <a:cs typeface="Aptos" pitchFamily="34" charset="-120"/>
              </a:rPr>
              <a:t>Full image-generation prompt is in this slide's speaker notes.</a:t>
            </a:r>
            <a:endParaRPr lang="en-US" sz="900" dirty="0"/>
          </a:p>
        </p:txBody>
      </p:sp>
      <p:sp>
        <p:nvSpPr>
          <p:cNvPr id="22" name="Shape 20"/>
          <p:cNvSpPr/>
          <p:nvPr/>
        </p:nvSpPr>
        <p:spPr>
          <a:xfrm>
            <a:off x="603504" y="6318504"/>
            <a:ext cx="10972800" cy="0"/>
          </a:xfrm>
          <a:prstGeom prst="line">
            <a:avLst/>
          </a:prstGeom>
          <a:noFill/>
          <a:ln w="10160">
            <a:solidFill>
              <a:srgbClr val="D5E0E7"/>
            </a:solidFill>
            <a:prstDash val="solid"/>
          </a:ln>
        </p:spPr>
      </p:sp>
      <p:sp>
        <p:nvSpPr>
          <p:cNvPr id="23" name="Text 21"/>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PLC SPECIFICATIONS AND I/O MODULES</a:t>
            </a:r>
            <a:endParaRPr lang="en-US" sz="800" dirty="0"/>
          </a:p>
        </p:txBody>
      </p:sp>
      <p:sp>
        <p:nvSpPr>
          <p:cNvPr id="24" name="Text 22"/>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16 / 18</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3F7394"/>
          </a:solidFill>
          <a:ln w="12700">
            <a:solidFill>
              <a:srgbClr val="3F7394">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3F7394"/>
                </a:solidFill>
                <a:latin typeface="Aptos" pitchFamily="34" charset="0"/>
                <a:ea typeface="Aptos" pitchFamily="34" charset="-122"/>
                <a:cs typeface="Aptos" pitchFamily="34" charset="-120"/>
              </a:rPr>
              <a:t>UNIT 5009    /    WEEK 03    /    LO1</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7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3F7394"/>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3F7394"/>
                </a:solidFill>
                <a:latin typeface="Aptos" pitchFamily="34" charset="0"/>
                <a:ea typeface="Aptos" pitchFamily="34" charset="-122"/>
                <a:cs typeface="Aptos" pitchFamily="34" charset="-120"/>
              </a:rPr>
              <a:t>P2</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Update the P2 comparison matrix</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76656" y="1719072"/>
            <a:ext cx="1828800" cy="210312"/>
          </a:xfrm>
          <a:prstGeom prst="rect">
            <a:avLst/>
          </a:prstGeom>
          <a:noFill/>
          <a:ln/>
        </p:spPr>
        <p:txBody>
          <a:bodyPr wrap="square" lIns="0" tIns="0" rIns="0" bIns="0" rtlCol="0" anchor="ctr"/>
          <a:lstStyle/>
          <a:p>
            <a:pPr indent="0" marL="0">
              <a:buNone/>
            </a:pPr>
            <a:r>
              <a:rPr lang="en-US" sz="900" b="1" spc="100" kern="0" dirty="0">
                <a:solidFill>
                  <a:srgbClr val="3F7394"/>
                </a:solidFill>
                <a:latin typeface="Aptos" pitchFamily="34" charset="0"/>
                <a:ea typeface="Aptos" pitchFamily="34" charset="-122"/>
                <a:cs typeface="Aptos" pitchFamily="34" charset="-120"/>
              </a:rPr>
              <a:t>KEY IDEAS</a:t>
            </a:r>
            <a:endParaRPr lang="en-US" sz="900" dirty="0"/>
          </a:p>
        </p:txBody>
      </p:sp>
      <p:sp>
        <p:nvSpPr>
          <p:cNvPr id="11" name="Shape 9"/>
          <p:cNvSpPr/>
          <p:nvPr/>
        </p:nvSpPr>
        <p:spPr>
          <a:xfrm>
            <a:off x="713232" y="2139696"/>
            <a:ext cx="100584" cy="100584"/>
          </a:xfrm>
          <a:prstGeom prst="ellipse">
            <a:avLst/>
          </a:prstGeom>
          <a:solidFill>
            <a:srgbClr val="3F7394"/>
          </a:solidFill>
          <a:ln w="12700">
            <a:solidFill>
              <a:srgbClr val="3F7394">
                <a:alpha val="0"/>
              </a:srgbClr>
            </a:solidFill>
            <a:prstDash val="solid"/>
          </a:ln>
        </p:spPr>
      </p:sp>
      <p:sp>
        <p:nvSpPr>
          <p:cNvPr id="12" name="Text 10"/>
          <p:cNvSpPr/>
          <p:nvPr/>
        </p:nvSpPr>
        <p:spPr>
          <a:xfrm>
            <a:off x="969264" y="2029968"/>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Add speed, voltage/current, memory, and module details with citations or mark unknown.</a:t>
            </a:r>
            <a:endParaRPr lang="en-US" sz="1650" dirty="0"/>
          </a:p>
        </p:txBody>
      </p:sp>
      <p:sp>
        <p:nvSpPr>
          <p:cNvPr id="13" name="Shape 11"/>
          <p:cNvSpPr/>
          <p:nvPr/>
        </p:nvSpPr>
        <p:spPr>
          <a:xfrm>
            <a:off x="713232" y="2816352"/>
            <a:ext cx="100584" cy="100584"/>
          </a:xfrm>
          <a:prstGeom prst="ellipse">
            <a:avLst/>
          </a:prstGeom>
          <a:solidFill>
            <a:srgbClr val="3F7394"/>
          </a:solidFill>
          <a:ln w="12700">
            <a:solidFill>
              <a:srgbClr val="3F7394">
                <a:alpha val="0"/>
              </a:srgbClr>
            </a:solidFill>
            <a:prstDash val="solid"/>
          </a:ln>
        </p:spPr>
      </p:sp>
      <p:sp>
        <p:nvSpPr>
          <p:cNvPr id="14" name="Text 12"/>
          <p:cNvSpPr/>
          <p:nvPr/>
        </p:nvSpPr>
        <p:spPr>
          <a:xfrm>
            <a:off x="969264" y="2706624"/>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Identify which candidate feature matters most to the station and why.</a:t>
            </a:r>
            <a:endParaRPr lang="en-US" sz="1650" dirty="0"/>
          </a:p>
        </p:txBody>
      </p:sp>
      <p:sp>
        <p:nvSpPr>
          <p:cNvPr id="15" name="Shape 13"/>
          <p:cNvSpPr/>
          <p:nvPr/>
        </p:nvSpPr>
        <p:spPr>
          <a:xfrm>
            <a:off x="7644384" y="1746504"/>
            <a:ext cx="3941064" cy="4352544"/>
          </a:xfrm>
          <a:prstGeom prst="rect">
            <a:avLst/>
          </a:prstGeom>
          <a:solidFill>
            <a:srgbClr val="E8EFF3"/>
          </a:solidFill>
          <a:ln w="15240">
            <a:solidFill>
              <a:srgbClr val="C8D5DE"/>
            </a:solidFill>
            <a:prstDash val="solid"/>
          </a:ln>
        </p:spPr>
      </p:sp>
      <p:sp>
        <p:nvSpPr>
          <p:cNvPr id="16" name="Text 14"/>
          <p:cNvSpPr/>
          <p:nvPr/>
        </p:nvSpPr>
        <p:spPr>
          <a:xfrm>
            <a:off x="7845552" y="1911096"/>
            <a:ext cx="3538728" cy="246888"/>
          </a:xfrm>
          <a:prstGeom prst="rect">
            <a:avLst/>
          </a:prstGeom>
          <a:noFill/>
          <a:ln/>
        </p:spPr>
        <p:txBody>
          <a:bodyPr wrap="square" lIns="0" tIns="0" rIns="0" bIns="0" rtlCol="0" anchor="ctr"/>
          <a:lstStyle/>
          <a:p>
            <a:pPr indent="0" marL="0">
              <a:buNone/>
            </a:pPr>
            <a:r>
              <a:rPr lang="en-US" sz="900" b="1" spc="80" kern="0" dirty="0">
                <a:solidFill>
                  <a:srgbClr val="3F7394"/>
                </a:solidFill>
                <a:latin typeface="Aptos" pitchFamily="34" charset="0"/>
                <a:ea typeface="Aptos" pitchFamily="34" charset="-122"/>
                <a:cs typeface="Aptos" pitchFamily="34" charset="-120"/>
              </a:rPr>
              <a:t>IMAGE PLACEHOLDER</a:t>
            </a:r>
            <a:endParaRPr lang="en-US" sz="900" dirty="0"/>
          </a:p>
        </p:txBody>
      </p:sp>
      <p:sp>
        <p:nvSpPr>
          <p:cNvPr id="17" name="Text 15"/>
          <p:cNvSpPr/>
          <p:nvPr/>
        </p:nvSpPr>
        <p:spPr>
          <a:xfrm>
            <a:off x="7900416" y="3072384"/>
            <a:ext cx="3429000" cy="347472"/>
          </a:xfrm>
          <a:prstGeom prst="rect">
            <a:avLst/>
          </a:prstGeom>
          <a:noFill/>
          <a:ln/>
        </p:spPr>
        <p:txBody>
          <a:bodyPr wrap="square" lIns="0" tIns="0" rIns="0" bIns="0" rtlCol="0" anchor="ctr"/>
          <a:lstStyle/>
          <a:p>
            <a:pPr algn="ctr" indent="0" marL="0">
              <a:buNone/>
            </a:pPr>
            <a:r>
              <a:rPr lang="en-US" sz="1700" b="1" dirty="0">
                <a:solidFill>
                  <a:srgbClr val="7A8F9D"/>
                </a:solidFill>
                <a:latin typeface="Aptos Display" pitchFamily="34" charset="0"/>
                <a:ea typeface="Aptos Display" pitchFamily="34" charset="-122"/>
                <a:cs typeface="Aptos Display" pitchFamily="34" charset="-120"/>
              </a:rPr>
              <a:t>ADD PHOTO OR DIAGRAM</a:t>
            </a:r>
            <a:endParaRPr lang="en-US" sz="1700" dirty="0"/>
          </a:p>
        </p:txBody>
      </p:sp>
      <p:sp>
        <p:nvSpPr>
          <p:cNvPr id="18" name="Text 16"/>
          <p:cNvSpPr/>
          <p:nvPr/>
        </p:nvSpPr>
        <p:spPr>
          <a:xfrm>
            <a:off x="7900416" y="3465576"/>
            <a:ext cx="3429000" cy="301752"/>
          </a:xfrm>
          <a:prstGeom prst="rect">
            <a:avLst/>
          </a:prstGeom>
          <a:noFill/>
          <a:ln/>
        </p:spPr>
        <p:txBody>
          <a:bodyPr wrap="square" lIns="0" tIns="0" rIns="0" bIns="0" rtlCol="0" anchor="ctr"/>
          <a:lstStyle/>
          <a:p>
            <a:pPr algn="ctr" indent="0" marL="0">
              <a:buNone/>
            </a:pPr>
            <a:r>
              <a:rPr lang="en-US" sz="1150" dirty="0">
                <a:solidFill>
                  <a:srgbClr val="607585"/>
                </a:solidFill>
                <a:latin typeface="Aptos" pitchFamily="34" charset="0"/>
                <a:ea typeface="Aptos" pitchFamily="34" charset="-122"/>
                <a:cs typeface="Aptos" pitchFamily="34" charset="-120"/>
              </a:rPr>
              <a:t>Leave this area open for the final visual</a:t>
            </a:r>
            <a:endParaRPr lang="en-US" sz="1150" dirty="0"/>
          </a:p>
        </p:txBody>
      </p:sp>
      <p:sp>
        <p:nvSpPr>
          <p:cNvPr id="19" name="Shape 17"/>
          <p:cNvSpPr/>
          <p:nvPr/>
        </p:nvSpPr>
        <p:spPr>
          <a:xfrm>
            <a:off x="7845552" y="5111496"/>
            <a:ext cx="3538728" cy="0"/>
          </a:xfrm>
          <a:prstGeom prst="line">
            <a:avLst/>
          </a:prstGeom>
          <a:noFill/>
          <a:ln w="12700">
            <a:solidFill>
              <a:srgbClr val="C8D5DE"/>
            </a:solidFill>
            <a:prstDash val="solid"/>
          </a:ln>
        </p:spPr>
      </p:sp>
      <p:sp>
        <p:nvSpPr>
          <p:cNvPr id="20" name="Text 18"/>
          <p:cNvSpPr/>
          <p:nvPr/>
        </p:nvSpPr>
        <p:spPr>
          <a:xfrm>
            <a:off x="7845552" y="5239512"/>
            <a:ext cx="3538728" cy="384048"/>
          </a:xfrm>
          <a:prstGeom prst="rect">
            <a:avLst/>
          </a:prstGeom>
          <a:noFill/>
          <a:ln/>
        </p:spPr>
        <p:txBody>
          <a:bodyPr wrap="square" lIns="0" tIns="0" rIns="0" bIns="0" rtlCol="0" anchor="ctr"/>
          <a:lstStyle/>
          <a:p>
            <a:pPr indent="0" marL="0">
              <a:buNone/>
            </a:pPr>
            <a:r>
              <a:rPr lang="en-US" sz="1050" b="1" dirty="0">
                <a:solidFill>
                  <a:srgbClr val="1B3448"/>
                </a:solidFill>
                <a:latin typeface="Aptos" pitchFamily="34" charset="0"/>
                <a:ea typeface="Aptos" pitchFamily="34" charset="-122"/>
                <a:cs typeface="Aptos" pitchFamily="34" charset="-120"/>
              </a:rPr>
              <a:t>VISUAL BRIEF  /  Update the P2 comparison matrix</a:t>
            </a:r>
            <a:endParaRPr lang="en-US" sz="1050" dirty="0"/>
          </a:p>
        </p:txBody>
      </p:sp>
      <p:sp>
        <p:nvSpPr>
          <p:cNvPr id="21" name="Text 19"/>
          <p:cNvSpPr/>
          <p:nvPr/>
        </p:nvSpPr>
        <p:spPr>
          <a:xfrm>
            <a:off x="7845552" y="5650992"/>
            <a:ext cx="3538728" cy="265176"/>
          </a:xfrm>
          <a:prstGeom prst="rect">
            <a:avLst/>
          </a:prstGeom>
          <a:noFill/>
          <a:ln/>
        </p:spPr>
        <p:txBody>
          <a:bodyPr wrap="square" lIns="0" tIns="0" rIns="0" bIns="0" rtlCol="0" anchor="ctr"/>
          <a:lstStyle/>
          <a:p>
            <a:pPr indent="0" marL="0">
              <a:buNone/>
            </a:pPr>
            <a:r>
              <a:rPr lang="en-US" sz="900" dirty="0">
                <a:solidFill>
                  <a:srgbClr val="607585"/>
                </a:solidFill>
                <a:latin typeface="Aptos" pitchFamily="34" charset="0"/>
                <a:ea typeface="Aptos" pitchFamily="34" charset="-122"/>
                <a:cs typeface="Aptos" pitchFamily="34" charset="-120"/>
              </a:rPr>
              <a:t>Full image-generation prompt is in this slide's speaker notes.</a:t>
            </a:r>
            <a:endParaRPr lang="en-US" sz="900" dirty="0"/>
          </a:p>
        </p:txBody>
      </p:sp>
      <p:sp>
        <p:nvSpPr>
          <p:cNvPr id="22" name="Shape 20"/>
          <p:cNvSpPr/>
          <p:nvPr/>
        </p:nvSpPr>
        <p:spPr>
          <a:xfrm>
            <a:off x="603504" y="6318504"/>
            <a:ext cx="10972800" cy="0"/>
          </a:xfrm>
          <a:prstGeom prst="line">
            <a:avLst/>
          </a:prstGeom>
          <a:noFill/>
          <a:ln w="10160">
            <a:solidFill>
              <a:srgbClr val="D5E0E7"/>
            </a:solidFill>
            <a:prstDash val="solid"/>
          </a:ln>
        </p:spPr>
      </p:sp>
      <p:sp>
        <p:nvSpPr>
          <p:cNvPr id="23" name="Text 21"/>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PLC SPECIFICATIONS AND I/O MODULES</a:t>
            </a:r>
            <a:endParaRPr lang="en-US" sz="800" dirty="0"/>
          </a:p>
        </p:txBody>
      </p:sp>
      <p:sp>
        <p:nvSpPr>
          <p:cNvPr id="24" name="Text 22"/>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17 / 18</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3F7394"/>
          </a:solidFill>
          <a:ln w="12700">
            <a:solidFill>
              <a:srgbClr val="3F7394">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3F7394"/>
                </a:solidFill>
                <a:latin typeface="Aptos" pitchFamily="34" charset="0"/>
                <a:ea typeface="Aptos" pitchFamily="34" charset="-122"/>
                <a:cs typeface="Aptos" pitchFamily="34" charset="-120"/>
              </a:rPr>
              <a:t>UNIT 5009    /    WEEK 03    /    LO1</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8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3F7394"/>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3F7394"/>
                </a:solidFill>
                <a:latin typeface="Aptos" pitchFamily="34" charset="0"/>
                <a:ea typeface="Aptos" pitchFamily="34" charset="-122"/>
                <a:cs typeface="Aptos" pitchFamily="34" charset="-120"/>
              </a:rPr>
              <a:t>P2</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Exit ticket: compatibility judgement</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76656" y="1719072"/>
            <a:ext cx="1828800" cy="210312"/>
          </a:xfrm>
          <a:prstGeom prst="rect">
            <a:avLst/>
          </a:prstGeom>
          <a:noFill/>
          <a:ln/>
        </p:spPr>
        <p:txBody>
          <a:bodyPr wrap="square" lIns="0" tIns="0" rIns="0" bIns="0" rtlCol="0" anchor="ctr"/>
          <a:lstStyle/>
          <a:p>
            <a:pPr indent="0" marL="0">
              <a:buNone/>
            </a:pPr>
            <a:r>
              <a:rPr lang="en-US" sz="900" b="1" spc="100" kern="0" dirty="0">
                <a:solidFill>
                  <a:srgbClr val="3F7394"/>
                </a:solidFill>
                <a:latin typeface="Aptos" pitchFamily="34" charset="0"/>
                <a:ea typeface="Aptos" pitchFamily="34" charset="-122"/>
                <a:cs typeface="Aptos" pitchFamily="34" charset="-120"/>
              </a:rPr>
              <a:t>KEY IDEAS</a:t>
            </a:r>
            <a:endParaRPr lang="en-US" sz="900" dirty="0"/>
          </a:p>
        </p:txBody>
      </p:sp>
      <p:sp>
        <p:nvSpPr>
          <p:cNvPr id="11" name="Shape 9"/>
          <p:cNvSpPr/>
          <p:nvPr/>
        </p:nvSpPr>
        <p:spPr>
          <a:xfrm>
            <a:off x="713232" y="2139696"/>
            <a:ext cx="100584" cy="100584"/>
          </a:xfrm>
          <a:prstGeom prst="ellipse">
            <a:avLst/>
          </a:prstGeom>
          <a:solidFill>
            <a:srgbClr val="3F7394"/>
          </a:solidFill>
          <a:ln w="12700">
            <a:solidFill>
              <a:srgbClr val="3F7394">
                <a:alpha val="0"/>
              </a:srgbClr>
            </a:solidFill>
            <a:prstDash val="solid"/>
          </a:ln>
        </p:spPr>
      </p:sp>
      <p:sp>
        <p:nvSpPr>
          <p:cNvPr id="12" name="Text 10"/>
          <p:cNvSpPr/>
          <p:nvPr/>
        </p:nvSpPr>
        <p:spPr>
          <a:xfrm>
            <a:off x="969264" y="2029968"/>
            <a:ext cx="6327648" cy="804672"/>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Given one sensor and one load specification, state whether a candidate PLC is compatible, what evidence supports the judgement, and what still needs checking.</a:t>
            </a:r>
            <a:endParaRPr lang="en-US" sz="1650" dirty="0"/>
          </a:p>
        </p:txBody>
      </p:sp>
      <p:sp>
        <p:nvSpPr>
          <p:cNvPr id="13" name="Shape 11"/>
          <p:cNvSpPr/>
          <p:nvPr/>
        </p:nvSpPr>
        <p:spPr>
          <a:xfrm>
            <a:off x="7644384" y="1746504"/>
            <a:ext cx="3941064" cy="4352544"/>
          </a:xfrm>
          <a:prstGeom prst="rect">
            <a:avLst/>
          </a:prstGeom>
          <a:solidFill>
            <a:srgbClr val="E8EFF3"/>
          </a:solidFill>
          <a:ln w="15240">
            <a:solidFill>
              <a:srgbClr val="C8D5DE"/>
            </a:solidFill>
            <a:prstDash val="solid"/>
          </a:ln>
        </p:spPr>
      </p:sp>
      <p:sp>
        <p:nvSpPr>
          <p:cNvPr id="14" name="Text 12"/>
          <p:cNvSpPr/>
          <p:nvPr/>
        </p:nvSpPr>
        <p:spPr>
          <a:xfrm>
            <a:off x="7845552" y="1911096"/>
            <a:ext cx="3538728" cy="246888"/>
          </a:xfrm>
          <a:prstGeom prst="rect">
            <a:avLst/>
          </a:prstGeom>
          <a:noFill/>
          <a:ln/>
        </p:spPr>
        <p:txBody>
          <a:bodyPr wrap="square" lIns="0" tIns="0" rIns="0" bIns="0" rtlCol="0" anchor="ctr"/>
          <a:lstStyle/>
          <a:p>
            <a:pPr indent="0" marL="0">
              <a:buNone/>
            </a:pPr>
            <a:r>
              <a:rPr lang="en-US" sz="900" b="1" spc="80" kern="0" dirty="0">
                <a:solidFill>
                  <a:srgbClr val="3F7394"/>
                </a:solidFill>
                <a:latin typeface="Aptos" pitchFamily="34" charset="0"/>
                <a:ea typeface="Aptos" pitchFamily="34" charset="-122"/>
                <a:cs typeface="Aptos" pitchFamily="34" charset="-120"/>
              </a:rPr>
              <a:t>IMAGE PLACEHOLDER</a:t>
            </a:r>
            <a:endParaRPr lang="en-US" sz="900" dirty="0"/>
          </a:p>
        </p:txBody>
      </p:sp>
      <p:sp>
        <p:nvSpPr>
          <p:cNvPr id="15" name="Text 13"/>
          <p:cNvSpPr/>
          <p:nvPr/>
        </p:nvSpPr>
        <p:spPr>
          <a:xfrm>
            <a:off x="7900416" y="3072384"/>
            <a:ext cx="3429000" cy="347472"/>
          </a:xfrm>
          <a:prstGeom prst="rect">
            <a:avLst/>
          </a:prstGeom>
          <a:noFill/>
          <a:ln/>
        </p:spPr>
        <p:txBody>
          <a:bodyPr wrap="square" lIns="0" tIns="0" rIns="0" bIns="0" rtlCol="0" anchor="ctr"/>
          <a:lstStyle/>
          <a:p>
            <a:pPr algn="ctr" indent="0" marL="0">
              <a:buNone/>
            </a:pPr>
            <a:r>
              <a:rPr lang="en-US" sz="1700" b="1" dirty="0">
                <a:solidFill>
                  <a:srgbClr val="7A8F9D"/>
                </a:solidFill>
                <a:latin typeface="Aptos Display" pitchFamily="34" charset="0"/>
                <a:ea typeface="Aptos Display" pitchFamily="34" charset="-122"/>
                <a:cs typeface="Aptos Display" pitchFamily="34" charset="-120"/>
              </a:rPr>
              <a:t>ADD PHOTO OR DIAGRAM</a:t>
            </a:r>
            <a:endParaRPr lang="en-US" sz="1700" dirty="0"/>
          </a:p>
        </p:txBody>
      </p:sp>
      <p:sp>
        <p:nvSpPr>
          <p:cNvPr id="16" name="Text 14"/>
          <p:cNvSpPr/>
          <p:nvPr/>
        </p:nvSpPr>
        <p:spPr>
          <a:xfrm>
            <a:off x="7900416" y="3465576"/>
            <a:ext cx="3429000" cy="301752"/>
          </a:xfrm>
          <a:prstGeom prst="rect">
            <a:avLst/>
          </a:prstGeom>
          <a:noFill/>
          <a:ln/>
        </p:spPr>
        <p:txBody>
          <a:bodyPr wrap="square" lIns="0" tIns="0" rIns="0" bIns="0" rtlCol="0" anchor="ctr"/>
          <a:lstStyle/>
          <a:p>
            <a:pPr algn="ctr" indent="0" marL="0">
              <a:buNone/>
            </a:pPr>
            <a:r>
              <a:rPr lang="en-US" sz="1150" dirty="0">
                <a:solidFill>
                  <a:srgbClr val="607585"/>
                </a:solidFill>
                <a:latin typeface="Aptos" pitchFamily="34" charset="0"/>
                <a:ea typeface="Aptos" pitchFamily="34" charset="-122"/>
                <a:cs typeface="Aptos" pitchFamily="34" charset="-120"/>
              </a:rPr>
              <a:t>Leave this area open for the final visual</a:t>
            </a:r>
            <a:endParaRPr lang="en-US" sz="1150" dirty="0"/>
          </a:p>
        </p:txBody>
      </p:sp>
      <p:sp>
        <p:nvSpPr>
          <p:cNvPr id="17" name="Shape 15"/>
          <p:cNvSpPr/>
          <p:nvPr/>
        </p:nvSpPr>
        <p:spPr>
          <a:xfrm>
            <a:off x="7845552" y="5111496"/>
            <a:ext cx="3538728" cy="0"/>
          </a:xfrm>
          <a:prstGeom prst="line">
            <a:avLst/>
          </a:prstGeom>
          <a:noFill/>
          <a:ln w="12700">
            <a:solidFill>
              <a:srgbClr val="C8D5DE"/>
            </a:solidFill>
            <a:prstDash val="solid"/>
          </a:ln>
        </p:spPr>
      </p:sp>
      <p:sp>
        <p:nvSpPr>
          <p:cNvPr id="18" name="Text 16"/>
          <p:cNvSpPr/>
          <p:nvPr/>
        </p:nvSpPr>
        <p:spPr>
          <a:xfrm>
            <a:off x="7845552" y="5239512"/>
            <a:ext cx="3538728" cy="384048"/>
          </a:xfrm>
          <a:prstGeom prst="rect">
            <a:avLst/>
          </a:prstGeom>
          <a:noFill/>
          <a:ln/>
        </p:spPr>
        <p:txBody>
          <a:bodyPr wrap="square" lIns="0" tIns="0" rIns="0" bIns="0" rtlCol="0" anchor="ctr"/>
          <a:lstStyle/>
          <a:p>
            <a:pPr indent="0" marL="0">
              <a:buNone/>
            </a:pPr>
            <a:r>
              <a:rPr lang="en-US" sz="1050" b="1" dirty="0">
                <a:solidFill>
                  <a:srgbClr val="1B3448"/>
                </a:solidFill>
                <a:latin typeface="Aptos" pitchFamily="34" charset="0"/>
                <a:ea typeface="Aptos" pitchFamily="34" charset="-122"/>
                <a:cs typeface="Aptos" pitchFamily="34" charset="-120"/>
              </a:rPr>
              <a:t>VISUAL BRIEF  /  Exit ticket: compatibility judgement</a:t>
            </a:r>
            <a:endParaRPr lang="en-US" sz="1050" dirty="0"/>
          </a:p>
        </p:txBody>
      </p:sp>
      <p:sp>
        <p:nvSpPr>
          <p:cNvPr id="19" name="Text 17"/>
          <p:cNvSpPr/>
          <p:nvPr/>
        </p:nvSpPr>
        <p:spPr>
          <a:xfrm>
            <a:off x="7845552" y="5650992"/>
            <a:ext cx="3538728" cy="265176"/>
          </a:xfrm>
          <a:prstGeom prst="rect">
            <a:avLst/>
          </a:prstGeom>
          <a:noFill/>
          <a:ln/>
        </p:spPr>
        <p:txBody>
          <a:bodyPr wrap="square" lIns="0" tIns="0" rIns="0" bIns="0" rtlCol="0" anchor="ctr"/>
          <a:lstStyle/>
          <a:p>
            <a:pPr indent="0" marL="0">
              <a:buNone/>
            </a:pPr>
            <a:r>
              <a:rPr lang="en-US" sz="900" dirty="0">
                <a:solidFill>
                  <a:srgbClr val="607585"/>
                </a:solidFill>
                <a:latin typeface="Aptos" pitchFamily="34" charset="0"/>
                <a:ea typeface="Aptos" pitchFamily="34" charset="-122"/>
                <a:cs typeface="Aptos" pitchFamily="34" charset="-120"/>
              </a:rPr>
              <a:t>Full image-generation prompt is in this slide's speaker notes.</a:t>
            </a:r>
            <a:endParaRPr lang="en-US" sz="900" dirty="0"/>
          </a:p>
        </p:txBody>
      </p:sp>
      <p:sp>
        <p:nvSpPr>
          <p:cNvPr id="20" name="Shape 18"/>
          <p:cNvSpPr/>
          <p:nvPr/>
        </p:nvSpPr>
        <p:spPr>
          <a:xfrm>
            <a:off x="603504" y="6318504"/>
            <a:ext cx="10972800" cy="0"/>
          </a:xfrm>
          <a:prstGeom prst="line">
            <a:avLst/>
          </a:prstGeom>
          <a:noFill/>
          <a:ln w="10160">
            <a:solidFill>
              <a:srgbClr val="D5E0E7"/>
            </a:solidFill>
            <a:prstDash val="solid"/>
          </a:ln>
        </p:spPr>
      </p:sp>
      <p:sp>
        <p:nvSpPr>
          <p:cNvPr id="21" name="Text 19"/>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PLC SPECIFICATIONS AND I/O MODULES</a:t>
            </a:r>
            <a:endParaRPr lang="en-US" sz="800" dirty="0"/>
          </a:p>
        </p:txBody>
      </p:sp>
      <p:sp>
        <p:nvSpPr>
          <p:cNvPr id="22" name="Text 20"/>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18 / 18</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Unit 5009</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03: PLC Specifications and I/O Modules</dc:title>
  <dc:subject>LO1 weekly teaching presentation</dc:subject>
  <dc:creator>Unit 5009 Teaching Materials</dc:creator>
  <cp:lastModifiedBy>Unit 5009 Teaching Materials</cp:lastModifiedBy>
  <cp:revision>1</cp:revision>
  <dcterms:created xsi:type="dcterms:W3CDTF">2026-10-13T19:12:29Z</dcterms:created>
  <dcterms:modified xsi:type="dcterms:W3CDTF">2026-10-13T19:12:29Z</dcterms:modified>
</cp:coreProperties>
</file>