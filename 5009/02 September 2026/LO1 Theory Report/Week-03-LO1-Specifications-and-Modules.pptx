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PLC Specifications and I/O Modules | Week 03 | LO1
Slide 1 of 18 | Suggested time: 5 minutes | Criteria: P2
TEACHING NOTES AND ACTIVITY CUES
1. Claim: “more memory means faster.” Answer: false; memory capacity and execution/response performance are different specifications with different units and purposes.
2. Claim: “a relay output handles any load.” Answer: false; contact ratings depend on AC/DC, load category, inrush, switching frequency, life, channel/group limits, and suppression.
3. Claim: “the fastest scan time always wins.” Answer: false; MedPack performance depends on the full sensor-to-output path and required pulse capture, not one headline number.
4. Learners mark true/false/depends; accept “depends” only when they name the exact missing condition or manual field.
TEACHING VISUAL
This slide has a reserved image bay. Add the image described below.
OPTIONAL IMAGE PROMPT
Original technical teaching illustration of three crossed-out misconceptions represented by a memory chip, relay contact, and timing trace beside a pill counter, no text, labels, numbers, or logos.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PLC Specifications and I/O Modules | Week 03 | LO1
Slide 2 of 18 | Suggested time: 5 minutes | Criteria: P2
TEACHING NOTES AND ACTIVITY CUES
1. Put the Week 2 three-manufacturer matrix beside the Week 1 MedPack I/O list; identify which input/output claims still lack exact-model evidence.
2. Typical gaps to check are pill-sensor pulse width and event rate, input filter/counter capability, actuator supply/inrush, output load category, and module power limits.
3. Choose two gaps by consequence, not convenience; record the official manual or device datasheet needed to close each one.
4. Debrief: an unknown that could make the design incompatible remains a shortlist gate, not a low weighted score.
TEACHING VISUAL
The slide uses an editable comparison framework diagram. Keep it unless the prompted image communicates the idea more clearly.
OPTIONAL IMAGE PROMPT
Original workshop tabletop showing three generic PLC manuals beside an I/O schedule, with two blank evidence tabs pointing to a sensor input and an actuator output, no text, labels, numbers, or logos.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PLC Specifications and I/O Modules | Week 03 | LO1
Slide 3 of 18 | Suggested time: 5 minutes | Criteria: P2
TEACHING NOTES AND ACTIVITY CUES
1. Teach the chain: application requirement -&gt; exact specification field -&gt; consequence if it fails -&gt; verification source/test.
2. Worked hypothetical: a sensor pulse shorter than a configured input filter may not be registered; compare documented pulse width, filter behaviour, and supported capture mode.
3. Ask learners to finish: “If the output group limit is exceeded, the consequence is ___ and the field to verify is ___.” Expected: overload/derating risk; group current and installation conditions.
4. Debrief: a number without units, operating conditions, model identity, and a MedPack consequence is not a usable selection argument.
TEACHING VISUAL
The slide uses an editable application workflow diagram. Keep it unless the prompted image communicates the idea more clearly.
OPTIONAL IMAGE PROMPT
Original technical diagram linking a pill-sensor requirement to a PLC manual specification field, a potential missed count, and a verification test setup through four visual stages, no text, labels, numbers, or logos.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PLC Specifications and I/O Modules | Week 03 | LO1
Slide 4 of 18 | Suggested time: 12 minutes | Criteria: P2
TEACHING NOTES AND ACTIVITY CUES
1. In a common cyclic model, the controller samples inputs, executes logic, updates outputs, then repeats; task scheduling, interrupts, remote I/O, and process-image rules vary by CPU/configuration.
2. Scan time is execution-cycle duration; task period is a scheduled interval; I/O refresh is data-transfer timing; end-to-end response includes sensor, input filter/update, logic, output update, and load response.
3. Draw the MedPack path from pill crossing sensor to output interface energising; mark each delay and show that a long input filter can dominate a fast logic scan.
4. Worked hypothetical timing: if input filtering, task wait, and output update are each nonzero, total response is their combined path; use actual manual/configuration values before claiming a response time.
TEACHING VISUAL
The slide uses an editable signal timing diagram. Keep it unless the prompted image communicates the idea more clearly.
OPTIONAL IMAGE PROMPT
Original accurate timing diagram illustration with a pill crossing an optical sensor, PLC input sampling, logic execution, output transition, and actuator movement represented by aligned traces without scales or text, no labels, numbers, or logos.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PLC Specifications and I/O Modules | Week 03 | LO1
Slide 5 of 18 | Suggested time: 13 minutes | Criteria: P2
TEACHING NOTES AND ACTIVITY CUES
1. Compare exact manual fields: high-speed-counter/capture channel availability, maximum documented input frequency, minimum pulse width, input filter settings, task timing, remote-I/O update, and output switching limits.
2. Pulse frequency sets event spacing, while pulse width sets how long the signal remains true; either can prevent ordinary sampled input logic from seeing every pill event.
3. Clearly hypothetical example: at 20 Hz, events are 50 ms apart; a hypothetical 5 ms pulse filtered for 8 ms may be lost. These are teaching values, not MedPack or product ratings.
4. Expected judgement: use a documented high-speed input/counter if the verified sensor signal exceeds normal input capability, then test missed/double counts at worst-case rate.
TEACHING VISUAL
The slide uses an editable signal timing diagram. Keep it unless the prompted image communicates the idea more clearly.
OPTIONAL IMAGE PROMPT
Original technical illustration of pills creating narrow optical sensor pulses entering both a standard PLC input path and a high-speed counter path, with distinct waveform shapes but no scales, labels, numbers, or logos.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PLC Specifications and I/O Modules | Week 03 | LO1
Slide 6 of 18 | Suggested time: 12 minutes | Criteria: P2
TEACHING NOTES AND ACTIVITY CUES
1. Read exact fields for CPU/module supply range, digital-input ON/OFF thresholds and input current, output voltage/current, per-point and group limits, isolation, wiring/common arrangement, and temperature derating.
2. For a load, record nominal supply, steady current, inrush/pull-in current, load type, switching frequency, suppression requirement, fuse/protection, and power-supply capacity.
3. Clearly hypothetical example: a 24 V DC actuator coil draws 0.4 A steady and 1.2 A at pull-in; a hypothetical channel marked 1.0 A would fail the pull-in check even before group limits and inductive-load guidance are considered.
4. Debrief: do not approve from steady current alone; use actual load and exact module manuals, including ambient-temperature and wiring conditions.
TEACHING VISUAL
The slide uses an editable signal path diagram. Keep it unless the prompted image communicates the idea more clearly.
OPTIONAL IMAGE PROMPT
Original engineering close-up of a technician comparing a generic actuator coil datasheet to a PLC output module, with separate visual cues for steady draw, inrush, wiring protection, and heat, no text, labels, numbers, or logos.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PLC Specifications and I/O Modules | Week 03 | LO1
Slide 7 of 18 | Suggested time: 13 minutes | Criteria: P2
TEACHING NOTES AND ACTIVITY CUES
1. Program memory stores control instructions; work/data memory supports runtime values; retentive memory preserves selected values through defined power conditions; removable storage and event logs are separate capabilities.
2. MedPack question: should a partial pill count survive power loss, be discarded, or require reconciliation? The quality/process owner must define the policy before configuring retention.
3. Check documented ambient range, vibration/shock, EMC, enclosure requirements, firmware support/lifecycle, backup/restore method, and replacement availability for the exact equipment.
4. Misconception: “retentive” does not guarantee every value survives every power-loss duration or battery condition; verify retention rules and test recovery.
TEACHING VISUAL
The slide uses an editable comparison framework diagram. Keep it unless the prompted image communicates the idea more clearly.
OPTIONAL IMAGE PROMPT
Original technical illustration of a PLC memory module beside a pill-count process paused after power loss, with a technician performing a controlled restore and environmental enclosure details, no text, labels, numbers, or logos.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PLC Specifications and I/O Modules | Week 03 | LO1
Slide 8 of 18 | Suggested time: 10 minutes | Criteria: P2
TEACHING NOTES AND ACTIVITY CUES
1. A relay output switches a load through mechanical contacts; verify the exact module’s AC/DC ratings, load category, minimum load, contact life, switching frequency, isolation, and per-point/group limits.
2. Inductive actuator coils can create high turn-off voltage and inrush; follow the manufacturer’s suppression and wiring guidance and assess how suppression affects release time.
3. Case: MedPack’s actuator electrical details are unknown, so a relay output is only a candidate until the load datasheet and module ratings match under actual conditions.
4. An interposing relay/contactor may provide an appropriate interface or load capacity, but it adds contacts, wiring, space, and its own ratings to verify.
TEACHING VISUAL
The slide uses an editable comparison framework diagram. Keep it unless the prompted image communicates the idea more clearly.
OPTIONAL IMAGE PROMPT
Original cutaway illustration of a PLC mechanical relay contact switching an inductive actuator coil with a correctly placed suppression component and separate load supply, no text, labels, numbers, or logos.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PLC Specifications and I/O Modules | Week 03 | LO1
Slide 9 of 18 | Suggested time: 15 minutes | Criteria: P2
TEACHING NOTES AND ACTIVITY CUES
1. Triac outputs are semiconductor AC switches; check off-state leakage, minimum load, current/voltage limits, switching behaviour, and load compatibility. They are generally unsuitable for DC loads.
2. Transistor outputs switch DC electronically; verify sourcing/sinking polarity, common wiring, leakage, per-channel/group limits, switching frequency, and whether the exact channel supports pulse output.
3. MedPack example: a DC buzzer or actuator may suit a transistor interface only if its supply, current, inrush, polarity, and inductive behaviour match; an AC load requires an appropriate AC-rated interface.
4. Expected comparison: relay offers mechanical isolation/contact behaviour, triac suits specified AC switching, and transistor supports suitable DC/high-speed service; no type is universally “best.”
TEACHING VISUAL
This slide has a reserved image bay. Add the image described below.
OPTIONAL IMAGE PROMPT
Original side-by-side technical cutaway of a mechanical relay contact, AC triac switch, and DC transistor output driving distinct representative loads, with accurate terminal paths and no text, labels, numbers, or logos.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PLC Specifications and I/O Modules | Week 03 | LO1
Slide 10 of 18 | Suggested time: 10 minutes | Criteria: P2
TEACHING NOTES AND ACTIVITY CUES
1. An analogue input conditions a voltage/current signal and an ADC converts it to a digital representation; configuration maps the raw range to engineering units and may apply filtering.
2. Resolution is the smallest digital step; accuracy is closeness to the true value; repeatability is consistency; total uncertainty also includes sensor, wiring, conversion, and calibration effects.
3. Clearly hypothetical scale: a 4-20 mA instrument representing 0-100 units would map 12 mA to 50 units using linear scaling; this is an example, not a specified MedPack instrument.
4. Direction check: ADC converts analogue input to digital data; DAC/analogue output converts controller data to an analogue command.
TEACHING VISUAL
The slide uses an editable analogue scaling diagram. Keep it unless the prompted image communicates the idea more clearly.
OPTIONAL IMAGE PROMPT
Original technical diagram of an analogue transmitter feeding an isolated PLC input through signal conditioning and an ADC, with a smooth sensor curve becoming discrete sample steps and no text, labels, numbers, or logos.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PLC Specifications and I/O Modules | Week 03 | LO1
Slide 11 of 18 | Suggested time: 10 minutes | Criteria: P2
TEACHING NOTES AND ACTIVITY CUES
1. Locate the exact module table and capture part number, manual revision/date, supply, signal thresholds, per-channel and group limits, load category, isolation, derating, wiring, and terminal/common details.
2. Trace one MedPack candidate actuator output from the table to the device datasheet; confirm both steady/inrush conditions and any inductive suppression notes.
3. Activity: students cite the exact page/table and explain one limitation in their own words, such as a group-current cap that is lower than the sum of point ratings.
4. Debrief: do not transfer a rating from a similar module, product family, or different temperature condition.
TEACHING VISUAL
The slide uses an editable comparison framework diagram. Keep it unless the prompted image communicates the idea more clearly.
OPTIONAL IMAGE PROMPT
Original macro technical scene of a magnifying glass over a generic PLC module electrical rating table, with adjacent module terminals and a device datasheet represented without legible writing, no text, labels, numbers, or logos.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PLC Specifications and I/O Modules | Week 03 | LO1
Slide 12 of 18 | Suggested time: 15 minutes | Criteria: P2
TEACHING NOTES AND ACTIVITY CUES
1. Case A, infrequent AC load: consider a suitably rated relay or triac module only after AC load category, current, switching, leakage/minimum load, and protection checks.
2. Case B, frequent DC switching or fast DC pulses: consider an appropriately rated transistor output; verify pulse capability, source/sink wiring, frequency, load current, and thermal/group limits.
3. Case C, load exceeds any candidate channel or group limit: reject direct drive and engineer a correctly rated external interface; recheck coil/load protection and fault behaviour.
4. Learners justify a module type for each case; expected debrief is conditional, because actual supply, current/inrush, frequency, environment, and manual limits determine the final interface.
TEACHING VISUAL
The slide uses an editable comparison framework diagram. Keep it unless the prompted image communicates the idea more clearly.
OPTIONAL IMAGE PROMPT
Original engineering decision illustration showing three distinct loads connected through candidate relay, triac, transistor, and external driver paths, with a clearly oversized load routed away from direct PLC output, no text, labels, numbers, or logos.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PLC Specifications and I/O Modules | Week 03 | LO1
Slide 13 of 18 | Suggested time: 10 minutes | Criteria: P2
TEACHING NOTES AND ACTIVITY CUES
1. Compare sensor output type/range and wiring against the exact PLC input’s configurable ranges, input impedance/burden, resolution, accuracy, isolation, update time, and channel wiring.
2. Clearly hypothetical calculation: for a 4-20 mA instrument scaled 0-100 units, 12 mA is halfway through span, so the value is 50 units; state the linearity and range assumptions.
3. 0-10 V wiring may be more sensitive to voltage drop/noise over a long route; 4-20 mA can help identify a low-current wire fault, but actual diagnostics depend on transmitter and input configuration.
4. Expected conclusion: choose only after checking sensor compatibility, accuracy budget, cable conditions, fault detection, update rate, and whether MedPack needs that measurement at all.
TEACHING VISUAL
The slide uses an editable analogue scaling diagram. Keep it unless the prompted image communicates the idea more clearly.
OPTIONAL IMAGE PROMPT
Original accurate wiring illustration comparing a voltage sensor and a two-wire current-loop instrument connected to separate PLC analogue input channels, with a long noisy cable route shown as a risk, no text, labels, numbers, or logos.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PLC Specifications and I/O Modules | Week 03 | LO1
Slide 14 of 18 | Suggested time: 10 minutes | Criteria: P2
TEACHING NOTES AND ACTIVITY CUES
1. Count required local points and any confirmed remote devices; add future points separately so current need is not confused with optional expansion.
2. Check exact CPU/module compatibility, permitted module order, backplane/bus limits, power-supply capacity, network node/connection limits, mounting space, and firmware compatibility.
3. Add any required high-speed input, output interface, or analogue module to the MedPack block diagram only when a documented need exists.
4. Debrief: spare capacity needs a reason such as defined expansion or service replacement; arbitrary spare percentages are not a substitute for a justified design.
TEACHING VISUAL
This slide has a reserved image bay. Add the image described below.
OPTIONAL IMAGE PROMPT
Original technical block diagram of a compact PLC system expanded with one compatible I/O module and a remote sensor island, showing power and network paths separately and a reserved blank expansion position, no text, labels, numbers, or logos.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PLC Specifications and I/O Modules | Week 03 | LO1
Slide 15 of 18 | Suggested time: 20 minutes | Criteria: P2
TEACHING NOTES AND ACTIVITY CUES
1. Teams test each of the three exact candidates against mandatory sensor input type/pulse needs, digital I/O count, actuator/buzzer output compatibility, safety boundary, supply, environment, communications, and expansion needs.
2. Record PASS only with exact-model evidence, FAIL when a sourced requirement conflicts, and UNKNOWN when either side lacks evidence; cite source/page for every decision.
3. Example: unknown sensor pulse width plus no documented counter limit is UNKNOWN, not PASS; a documented output current below verified load demand is FAIL for direct drive.
4. Debrief: hard-gate failures cannot be averaged away; a redesign/interface may address a failure, but its cost and added risks must be evaluated.
TEACHING VISUAL
The slide uses an editable formative check diagram. Keep it unless the prompted image communicates the idea more clearly.
OPTIONAL IMAGE PROMPT
Original engineering audit table scene with three generic PLC candidates assessed beside pill sensor and actuator documents, using green check, red cross, and amber question symbols without words or numbers, no logos.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PLC Specifications and I/O Modules | Week 03 | LO1
Slide 16 of 18 | Suggested time: 20 minutes | Criteria: P2
TEACHING NOTES AND ACTIVITY CUES
1. Exchange one numeric or capability claim and locate the exact part number, manual revision, and supporting page/table; partners verify context and operating conditions.
2. Resolution is not accuracy; a smaller quantisation step does not prove a more accurate measurement without total-error evidence.
3. Scan time is not end-to-end response; a relay current headline is not a load-category approval; per-point current is not automatically available simultaneously across a group.
4. Debrief with a corrected claim that states the actual field, consequence for MedPack, and remaining uncertainty or test needed.
TEACHING VISUAL
The slide uses an editable decision method diagram. Keep it unless the prompted image communicates the idea more clearly.
OPTIONAL IMAGE PROMPT
Original peer evidence-clinic scene with students comparing a PLC manual, a waveform, a relay contact, and an analogue scale using a magnifier, with all document text abstracted, no labels, numbers, or logos.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PLC Specifications and I/O Modules | Week 03 | LO1
Slide 17 of 18 | Suggested time: 7 minutes | Criteria: P2
TEACHING NOTES AND ACTIVITY CUES
1. Add model-specific timing/counter fields, voltage/current limits, memory/retention, environment, and module/expansion details with citations or explicit UNKNOWN status.
2. Link each row to MedPack: sensor capture affects count integrity; output limits affect actuator interface; retention affects power-loss recovery; lifecycle/support affects maintainability.
3. Identify the feature that currently matters most and state the evidence threshold needed to compare candidates fairly.
4. Expected result: no unsupported values remain, and new unknowns are assigned a source or owner for follow-up.
TEACHING VISUAL
The slide uses an editable comparison framework diagram. Keep it unless the prompted image communicates the idea more clearly.
OPTIONAL IMAGE PROMPT
Original updated comparison matrix beside a pill-counting station, with highlighted sensor timing, output load, memory retention, and module rows represented by color blocks rather than text, no labels, numbers, or logos.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PLC Specifications and I/O Modules | Week 03 | LO1
Slide 18 of 18 | Suggested time: 8 minutes | Criteria: P2
TEACHING NOTES AND ACTIVITY CUES
1. Given a sensor’s documented output type/pulse limits and a load’s supply/current/inrush, compare those values with the exact CPU/input/output module tables and installation conditions.
2. State PASS, FAIL, or UNKNOWN for each interface, cite the evidence field/page, and name any external driver, protection, safety review, or test still required.
3. Example answer form: “UNKNOWN: sensor pulse width is below the ordinary-input filter setting shown in the manual; verify a supported high-speed input and test worst-case count rate.”
4. Misconception to avoid: compatible nominal voltage alone does not prove correct pulse capture, load switching, or safety performance.
TEACHING VISUAL
The slide uses an editable formative check diagram. Keep it unless the prompted image communicates the idea more clearly.
OPTIONAL IMAGE PROMPT
Original technical assessment illustration of a pill sensor and actuator datasheet being checked against an exact generic PLC input and output module, with an unresolved compatibility question shown by an amber symbol, no text, labels, numbers, or logos.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3F7394"/>
          </a:solidFill>
          <a:ln w="12700">
            <a:solidFill>
              <a:srgbClr val="3F7394">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3F7394"/>
                </a:solidFill>
                <a:latin typeface="Aptos" pitchFamily="34" charset="0"/>
                <a:ea typeface="Aptos" pitchFamily="34" charset="-122"/>
                <a:cs typeface="Aptos" pitchFamily="34" charset="-120"/>
              </a:rPr>
              <a:t>UNIT 5009    /    WEEK 03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5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3F7394"/>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3F7394"/>
                </a:solidFill>
                <a:latin typeface="Aptos" pitchFamily="34" charset="0"/>
                <a:ea typeface="Aptos" pitchFamily="34" charset="-122"/>
                <a:cs typeface="Aptos" pitchFamily="34" charset="-120"/>
              </a:rPr>
              <a:t>P2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Specification myth-buster</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3F7394"/>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3F7394"/>
          </a:solidFill>
          <a:ln w="12700">
            <a:solidFill>
              <a:srgbClr val="3F7394">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Claim: “more memory means faster.” Answer: false; memory capacity and execution/response performance are different specifications with different units and purposes.</a:t>
            </a:r>
            <a:endParaRPr lang="en-US" sz="14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3F7394"/>
          </a:solidFill>
          <a:ln w="12700">
            <a:solidFill>
              <a:srgbClr val="3F7394">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Claim: “a relay output handles any load.” Answer: false; contact ratings depend on AC/DC, load category, inrush, switching frequency, life, channel/group limits, and suppression.</a:t>
            </a:r>
            <a:endParaRPr lang="en-US" sz="14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3F7394"/>
          </a:solidFill>
          <a:ln w="12700">
            <a:solidFill>
              <a:srgbClr val="3F7394">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Claim: “the fastest scan time always wins.” Answer: false; MedPack performance depends on the full sensor-to-output path and required pulse capture, not one headline number.</a:t>
            </a:r>
            <a:endParaRPr lang="en-US" sz="14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3F7394"/>
          </a:solidFill>
          <a:ln w="12700">
            <a:solidFill>
              <a:srgbClr val="3F7394">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Learners mark true/false/depends; accept “depends” only when they name the exact missing condition or manual field.</a:t>
            </a:r>
            <a:endParaRPr lang="en-US" sz="14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3F7394"/>
                </a:solidFill>
                <a:latin typeface="Aptos" pitchFamily="34" charset="0"/>
                <a:ea typeface="Aptos" pitchFamily="34" charset="-122"/>
                <a:cs typeface="Aptos" pitchFamily="34" charset="-120"/>
              </a:rPr>
              <a:t>SUGGESTED VISUAL</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Shape 28"/>
          <p:cNvSpPr/>
          <p:nvPr/>
        </p:nvSpPr>
        <p:spPr>
          <a:xfrm>
            <a:off x="7882128" y="2432304"/>
            <a:ext cx="3483864" cy="3447288"/>
          </a:xfrm>
          <a:prstGeom prst="rect">
            <a:avLst/>
          </a:prstGeom>
          <a:solidFill>
            <a:srgbClr val="E8EFF3"/>
          </a:solidFill>
          <a:ln w="13970">
            <a:solidFill>
              <a:srgbClr val="AFC1CD"/>
            </a:solidFill>
            <a:prstDash val="solid"/>
          </a:ln>
        </p:spPr>
      </p:sp>
      <p:sp>
        <p:nvSpPr>
          <p:cNvPr id="31" name="Text 29"/>
          <p:cNvSpPr/>
          <p:nvPr/>
        </p:nvSpPr>
        <p:spPr>
          <a:xfrm>
            <a:off x="8138160" y="3666744"/>
            <a:ext cx="2971800" cy="384048"/>
          </a:xfrm>
          <a:prstGeom prst="rect">
            <a:avLst/>
          </a:prstGeom>
          <a:noFill/>
          <a:ln/>
        </p:spPr>
        <p:txBody>
          <a:bodyPr wrap="square" lIns="0" tIns="0" rIns="0" bIns="0" rtlCol="0" anchor="ctr">
            <a:normAutofit/>
          </a:bodyPr>
          <a:lstStyle/>
          <a:p>
            <a:pPr algn="ctr" indent="0" marL="0">
              <a:buNone/>
            </a:pPr>
            <a:r>
              <a:rPr lang="en-US" sz="1800" b="1" dirty="0">
                <a:solidFill>
                  <a:srgbClr val="3F7394"/>
                </a:solidFill>
                <a:latin typeface="Aptos Display" pitchFamily="34" charset="0"/>
                <a:ea typeface="Aptos Display" pitchFamily="34" charset="-122"/>
                <a:cs typeface="Aptos Display" pitchFamily="34" charset="-120"/>
              </a:rPr>
              <a:t>IMAGE SPACE</a:t>
            </a:r>
            <a:endParaRPr lang="en-US" sz="1800" dirty="0"/>
          </a:p>
        </p:txBody>
      </p:sp>
      <p:sp>
        <p:nvSpPr>
          <p:cNvPr id="32" name="Text 30"/>
          <p:cNvSpPr/>
          <p:nvPr/>
        </p:nvSpPr>
        <p:spPr>
          <a:xfrm>
            <a:off x="8229600" y="4123944"/>
            <a:ext cx="2788920" cy="502920"/>
          </a:xfrm>
          <a:prstGeom prst="rect">
            <a:avLst/>
          </a:prstGeom>
          <a:noFill/>
          <a:ln/>
        </p:spPr>
        <p:txBody>
          <a:bodyPr wrap="square" lIns="0" tIns="0" rIns="0" bIns="0" rtlCol="0" anchor="ctr">
            <a:normAutofit/>
          </a:bodyPr>
          <a:lstStyle/>
          <a:p>
            <a:pPr algn="ctr" indent="0" marL="0">
              <a:buNone/>
            </a:pPr>
            <a:r>
              <a:rPr lang="en-US" sz="1050" dirty="0">
                <a:solidFill>
                  <a:srgbClr val="607585"/>
                </a:solidFill>
                <a:latin typeface="Aptos" pitchFamily="34" charset="0"/>
                <a:ea typeface="Aptos" pitchFamily="34" charset="-122"/>
                <a:cs typeface="Aptos" pitchFamily="34" charset="-120"/>
              </a:rPr>
              <a:t>Insert the visual described in the speaker notes</a:t>
            </a:r>
            <a:endParaRPr lang="en-US" sz="1050" dirty="0"/>
          </a:p>
        </p:txBody>
      </p:sp>
      <p:sp>
        <p:nvSpPr>
          <p:cNvPr id="33" name="Shape 31"/>
          <p:cNvSpPr/>
          <p:nvPr/>
        </p:nvSpPr>
        <p:spPr>
          <a:xfrm>
            <a:off x="603504" y="6318504"/>
            <a:ext cx="10972800" cy="0"/>
          </a:xfrm>
          <a:prstGeom prst="line">
            <a:avLst/>
          </a:prstGeom>
          <a:noFill/>
          <a:ln w="10160">
            <a:solidFill>
              <a:srgbClr val="D5E0E7"/>
            </a:solidFill>
            <a:prstDash val="solid"/>
          </a:ln>
        </p:spPr>
      </p:sp>
      <p:sp>
        <p:nvSpPr>
          <p:cNvPr id="34" name="Text 32"/>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PLC SPECIFICATIONS AND I/O MODULES</a:t>
            </a:r>
            <a:endParaRPr lang="en-US" sz="800" dirty="0"/>
          </a:p>
        </p:txBody>
      </p:sp>
      <p:sp>
        <p:nvSpPr>
          <p:cNvPr id="35" name="Text 33"/>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01 / 18</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3F7394"/>
          </a:solidFill>
          <a:ln w="12700">
            <a:solidFill>
              <a:srgbClr val="3F7394">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3F7394"/>
                </a:solidFill>
                <a:latin typeface="Aptos" pitchFamily="34" charset="0"/>
                <a:ea typeface="Aptos" pitchFamily="34" charset="-122"/>
                <a:cs typeface="Aptos" pitchFamily="34" charset="-120"/>
              </a:rPr>
              <a:t>UNIT 5009    /    WEEK 03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5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3F7394"/>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3F7394"/>
                </a:solidFill>
                <a:latin typeface="Aptos" pitchFamily="34" charset="0"/>
                <a:ea typeface="Aptos" pitchFamily="34" charset="-122"/>
                <a:cs typeface="Aptos" pitchFamily="34" charset="-120"/>
              </a:rPr>
              <a:t>P2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Revisit the three candidate PLCs</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3F7394"/>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3F7394"/>
          </a:solidFill>
          <a:ln w="12700">
            <a:solidFill>
              <a:srgbClr val="3F7394">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Put the Week 2 three-manufacturer matrix beside the Week 1 MedPack I/O list; identify which input/output claims still lack exact-model evidence.</a:t>
            </a:r>
            <a:endParaRPr lang="en-US" sz="14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3F7394"/>
          </a:solidFill>
          <a:ln w="12700">
            <a:solidFill>
              <a:srgbClr val="3F7394">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Typical gaps to check are pill-sensor pulse width and event rate, input filter/counter capability, actuator supply/inrush, output load category, and module power limits.</a:t>
            </a:r>
            <a:endParaRPr lang="en-US" sz="14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3F7394"/>
          </a:solidFill>
          <a:ln w="12700">
            <a:solidFill>
              <a:srgbClr val="3F7394">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Choose two gaps by consequence, not convenience; record the official manual or device datasheet needed to close each one.</a:t>
            </a:r>
            <a:endParaRPr lang="en-US" sz="14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3F7394"/>
          </a:solidFill>
          <a:ln w="12700">
            <a:solidFill>
              <a:srgbClr val="3F7394">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Debrief: an unknown that could make the design incompatible remains a shortlist gate, not a low weighted score.</a:t>
            </a:r>
            <a:endParaRPr lang="en-US" sz="14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3F7394"/>
                </a:solidFill>
                <a:latin typeface="Aptos" pitchFamily="34" charset="0"/>
                <a:ea typeface="Aptos" pitchFamily="34" charset="-122"/>
                <a:cs typeface="Aptos" pitchFamily="34" charset="-120"/>
              </a:rPr>
              <a:t>COMPARISON FRAMEWORK</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Shape 28"/>
          <p:cNvSpPr/>
          <p:nvPr/>
        </p:nvSpPr>
        <p:spPr>
          <a:xfrm>
            <a:off x="7918704" y="2615184"/>
            <a:ext cx="1188720" cy="475488"/>
          </a:xfrm>
          <a:prstGeom prst="rect">
            <a:avLst/>
          </a:prstGeom>
          <a:solidFill>
            <a:srgbClr val="3F7394"/>
          </a:solidFill>
          <a:ln w="10160">
            <a:solidFill>
              <a:srgbClr val="3F7394"/>
            </a:solidFill>
            <a:prstDash val="solid"/>
          </a:ln>
        </p:spPr>
      </p:sp>
      <p:sp>
        <p:nvSpPr>
          <p:cNvPr id="31" name="Text 29"/>
          <p:cNvSpPr/>
          <p:nvPr/>
        </p:nvSpPr>
        <p:spPr>
          <a:xfrm>
            <a:off x="7955280" y="2651760"/>
            <a:ext cx="1115568" cy="393192"/>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INTERFACE</a:t>
            </a:r>
            <a:endParaRPr lang="en-US" sz="850" dirty="0"/>
          </a:p>
        </p:txBody>
      </p:sp>
      <p:sp>
        <p:nvSpPr>
          <p:cNvPr id="32" name="Shape 30"/>
          <p:cNvSpPr/>
          <p:nvPr/>
        </p:nvSpPr>
        <p:spPr>
          <a:xfrm>
            <a:off x="9107424" y="2615184"/>
            <a:ext cx="987552" cy="475488"/>
          </a:xfrm>
          <a:prstGeom prst="rect">
            <a:avLst/>
          </a:prstGeom>
          <a:solidFill>
            <a:srgbClr val="EAF0F3"/>
          </a:solidFill>
          <a:ln w="10160">
            <a:solidFill>
              <a:srgbClr val="3F7394"/>
            </a:solidFill>
            <a:prstDash val="solid"/>
          </a:ln>
        </p:spPr>
      </p:sp>
      <p:sp>
        <p:nvSpPr>
          <p:cNvPr id="33" name="Text 31"/>
          <p:cNvSpPr/>
          <p:nvPr/>
        </p:nvSpPr>
        <p:spPr>
          <a:xfrm>
            <a:off x="9144000" y="2651760"/>
            <a:ext cx="914400" cy="393192"/>
          </a:xfrm>
          <a:prstGeom prst="rect">
            <a:avLst/>
          </a:prstGeom>
          <a:noFill/>
          <a:ln/>
        </p:spPr>
        <p:txBody>
          <a:bodyPr wrap="square" lIns="0" tIns="0" rIns="0" bIns="0" rtlCol="0" anchor="ctr">
            <a:normAutofit/>
          </a:bodyPr>
          <a:lstStyle/>
          <a:p>
            <a:pPr algn="ctr" indent="0" marL="0">
              <a:buNone/>
            </a:pPr>
            <a:r>
              <a:rPr lang="en-US" sz="850" b="1" dirty="0">
                <a:solidFill>
                  <a:srgbClr val="1B3448"/>
                </a:solidFill>
                <a:latin typeface="Aptos" pitchFamily="34" charset="0"/>
                <a:ea typeface="Aptos" pitchFamily="34" charset="-122"/>
                <a:cs typeface="Aptos" pitchFamily="34" charset="-120"/>
              </a:rPr>
              <a:t>BEST FIT</a:t>
            </a:r>
            <a:endParaRPr lang="en-US" sz="850" dirty="0"/>
          </a:p>
        </p:txBody>
      </p:sp>
      <p:sp>
        <p:nvSpPr>
          <p:cNvPr id="34" name="Shape 32"/>
          <p:cNvSpPr/>
          <p:nvPr/>
        </p:nvSpPr>
        <p:spPr>
          <a:xfrm>
            <a:off x="10094976" y="2615184"/>
            <a:ext cx="987552" cy="475488"/>
          </a:xfrm>
          <a:prstGeom prst="rect">
            <a:avLst/>
          </a:prstGeom>
          <a:solidFill>
            <a:srgbClr val="EAF0F3"/>
          </a:solidFill>
          <a:ln w="10160">
            <a:solidFill>
              <a:srgbClr val="3F7394"/>
            </a:solidFill>
            <a:prstDash val="solid"/>
          </a:ln>
        </p:spPr>
      </p:sp>
      <p:sp>
        <p:nvSpPr>
          <p:cNvPr id="35" name="Text 33"/>
          <p:cNvSpPr/>
          <p:nvPr/>
        </p:nvSpPr>
        <p:spPr>
          <a:xfrm>
            <a:off x="10131552" y="2651760"/>
            <a:ext cx="914400" cy="393192"/>
          </a:xfrm>
          <a:prstGeom prst="rect">
            <a:avLst/>
          </a:prstGeom>
          <a:noFill/>
          <a:ln/>
        </p:spPr>
        <p:txBody>
          <a:bodyPr wrap="square" lIns="0" tIns="0" rIns="0" bIns="0" rtlCol="0" anchor="ctr">
            <a:normAutofit/>
          </a:bodyPr>
          <a:lstStyle/>
          <a:p>
            <a:pPr algn="ctr" indent="0" marL="0">
              <a:buNone/>
            </a:pPr>
            <a:r>
              <a:rPr lang="en-US" sz="850" b="1" dirty="0">
                <a:solidFill>
                  <a:srgbClr val="1B3448"/>
                </a:solidFill>
                <a:latin typeface="Aptos" pitchFamily="34" charset="0"/>
                <a:ea typeface="Aptos" pitchFamily="34" charset="-122"/>
                <a:cs typeface="Aptos" pitchFamily="34" charset="-120"/>
              </a:rPr>
              <a:t>CHECK</a:t>
            </a:r>
            <a:endParaRPr lang="en-US" sz="850" dirty="0"/>
          </a:p>
        </p:txBody>
      </p:sp>
      <p:sp>
        <p:nvSpPr>
          <p:cNvPr id="36" name="Shape 34"/>
          <p:cNvSpPr/>
          <p:nvPr/>
        </p:nvSpPr>
        <p:spPr>
          <a:xfrm>
            <a:off x="7918704" y="3090672"/>
            <a:ext cx="1188720" cy="594360"/>
          </a:xfrm>
          <a:prstGeom prst="rect">
            <a:avLst/>
          </a:prstGeom>
          <a:solidFill>
            <a:srgbClr val="FFFFFF"/>
          </a:solidFill>
          <a:ln w="7620">
            <a:solidFill>
              <a:srgbClr val="D5E0E7"/>
            </a:solidFill>
            <a:prstDash val="solid"/>
          </a:ln>
        </p:spPr>
      </p:sp>
      <p:sp>
        <p:nvSpPr>
          <p:cNvPr id="37" name="Text 35"/>
          <p:cNvSpPr/>
          <p:nvPr/>
        </p:nvSpPr>
        <p:spPr>
          <a:xfrm>
            <a:off x="7964424" y="3136392"/>
            <a:ext cx="1097280" cy="502920"/>
          </a:xfrm>
          <a:prstGeom prst="rect">
            <a:avLst/>
          </a:prstGeom>
          <a:noFill/>
          <a:ln/>
        </p:spPr>
        <p:txBody>
          <a:bodyPr wrap="square" lIns="0" tIns="0" rIns="0" bIns="0" rtlCol="0" anchor="ctr">
            <a:normAutofit/>
          </a:bodyPr>
          <a:lstStyle/>
          <a:p>
            <a:pPr algn="ctr" indent="0" marL="0">
              <a:buNone/>
            </a:pPr>
            <a:r>
              <a:rPr lang="en-US" sz="900" b="1" dirty="0">
                <a:solidFill>
                  <a:srgbClr val="1B3448"/>
                </a:solidFill>
                <a:latin typeface="Aptos" pitchFamily="34" charset="0"/>
                <a:ea typeface="Aptos" pitchFamily="34" charset="-122"/>
                <a:cs typeface="Aptos" pitchFamily="34" charset="-120"/>
              </a:rPr>
              <a:t>Relay</a:t>
            </a:r>
            <a:endParaRPr lang="en-US" sz="900" dirty="0"/>
          </a:p>
        </p:txBody>
      </p:sp>
      <p:sp>
        <p:nvSpPr>
          <p:cNvPr id="38" name="Shape 36"/>
          <p:cNvSpPr/>
          <p:nvPr/>
        </p:nvSpPr>
        <p:spPr>
          <a:xfrm>
            <a:off x="9107424" y="3090672"/>
            <a:ext cx="987552" cy="594360"/>
          </a:xfrm>
          <a:prstGeom prst="rect">
            <a:avLst/>
          </a:prstGeom>
          <a:solidFill>
            <a:srgbClr val="FFFFFF"/>
          </a:solidFill>
          <a:ln w="7620">
            <a:solidFill>
              <a:srgbClr val="D5E0E7"/>
            </a:solidFill>
            <a:prstDash val="solid"/>
          </a:ln>
        </p:spPr>
      </p:sp>
      <p:sp>
        <p:nvSpPr>
          <p:cNvPr id="39" name="Text 37"/>
          <p:cNvSpPr/>
          <p:nvPr/>
        </p:nvSpPr>
        <p:spPr>
          <a:xfrm>
            <a:off x="9153144" y="313639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AC / DC*</a:t>
            </a:r>
            <a:endParaRPr lang="en-US" sz="870" dirty="0"/>
          </a:p>
        </p:txBody>
      </p:sp>
      <p:sp>
        <p:nvSpPr>
          <p:cNvPr id="40" name="Shape 38"/>
          <p:cNvSpPr/>
          <p:nvPr/>
        </p:nvSpPr>
        <p:spPr>
          <a:xfrm>
            <a:off x="10094976" y="3090672"/>
            <a:ext cx="987552" cy="594360"/>
          </a:xfrm>
          <a:prstGeom prst="rect">
            <a:avLst/>
          </a:prstGeom>
          <a:solidFill>
            <a:srgbClr val="FFFFFF"/>
          </a:solidFill>
          <a:ln w="7620">
            <a:solidFill>
              <a:srgbClr val="D5E0E7"/>
            </a:solidFill>
            <a:prstDash val="solid"/>
          </a:ln>
        </p:spPr>
      </p:sp>
      <p:sp>
        <p:nvSpPr>
          <p:cNvPr id="41" name="Text 39"/>
          <p:cNvSpPr/>
          <p:nvPr/>
        </p:nvSpPr>
        <p:spPr>
          <a:xfrm>
            <a:off x="10140696" y="313639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Load rating</a:t>
            </a:r>
            <a:endParaRPr lang="en-US" sz="870" dirty="0"/>
          </a:p>
        </p:txBody>
      </p:sp>
      <p:sp>
        <p:nvSpPr>
          <p:cNvPr id="42" name="Shape 40"/>
          <p:cNvSpPr/>
          <p:nvPr/>
        </p:nvSpPr>
        <p:spPr>
          <a:xfrm>
            <a:off x="7918704" y="3685032"/>
            <a:ext cx="1188720" cy="594360"/>
          </a:xfrm>
          <a:prstGeom prst="rect">
            <a:avLst/>
          </a:prstGeom>
          <a:solidFill>
            <a:srgbClr val="F6F8FA"/>
          </a:solidFill>
          <a:ln w="7620">
            <a:solidFill>
              <a:srgbClr val="D5E0E7"/>
            </a:solidFill>
            <a:prstDash val="solid"/>
          </a:ln>
        </p:spPr>
      </p:sp>
      <p:sp>
        <p:nvSpPr>
          <p:cNvPr id="43" name="Text 41"/>
          <p:cNvSpPr/>
          <p:nvPr/>
        </p:nvSpPr>
        <p:spPr>
          <a:xfrm>
            <a:off x="7964424" y="3730752"/>
            <a:ext cx="1097280" cy="502920"/>
          </a:xfrm>
          <a:prstGeom prst="rect">
            <a:avLst/>
          </a:prstGeom>
          <a:noFill/>
          <a:ln/>
        </p:spPr>
        <p:txBody>
          <a:bodyPr wrap="square" lIns="0" tIns="0" rIns="0" bIns="0" rtlCol="0" anchor="ctr">
            <a:normAutofit/>
          </a:bodyPr>
          <a:lstStyle/>
          <a:p>
            <a:pPr algn="ctr" indent="0" marL="0">
              <a:buNone/>
            </a:pPr>
            <a:r>
              <a:rPr lang="en-US" sz="900" b="1" dirty="0">
                <a:solidFill>
                  <a:srgbClr val="1B3448"/>
                </a:solidFill>
                <a:latin typeface="Aptos" pitchFamily="34" charset="0"/>
                <a:ea typeface="Aptos" pitchFamily="34" charset="-122"/>
                <a:cs typeface="Aptos" pitchFamily="34" charset="-120"/>
              </a:rPr>
              <a:t>Triac</a:t>
            </a:r>
            <a:endParaRPr lang="en-US" sz="900" dirty="0"/>
          </a:p>
        </p:txBody>
      </p:sp>
      <p:sp>
        <p:nvSpPr>
          <p:cNvPr id="44" name="Shape 42"/>
          <p:cNvSpPr/>
          <p:nvPr/>
        </p:nvSpPr>
        <p:spPr>
          <a:xfrm>
            <a:off x="9107424" y="3685032"/>
            <a:ext cx="987552" cy="594360"/>
          </a:xfrm>
          <a:prstGeom prst="rect">
            <a:avLst/>
          </a:prstGeom>
          <a:solidFill>
            <a:srgbClr val="F6F8FA"/>
          </a:solidFill>
          <a:ln w="7620">
            <a:solidFill>
              <a:srgbClr val="D5E0E7"/>
            </a:solidFill>
            <a:prstDash val="solid"/>
          </a:ln>
        </p:spPr>
      </p:sp>
      <p:sp>
        <p:nvSpPr>
          <p:cNvPr id="45" name="Text 43"/>
          <p:cNvSpPr/>
          <p:nvPr/>
        </p:nvSpPr>
        <p:spPr>
          <a:xfrm>
            <a:off x="9153144" y="373075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AC switching</a:t>
            </a:r>
            <a:endParaRPr lang="en-US" sz="870" dirty="0"/>
          </a:p>
        </p:txBody>
      </p:sp>
      <p:sp>
        <p:nvSpPr>
          <p:cNvPr id="46" name="Shape 44"/>
          <p:cNvSpPr/>
          <p:nvPr/>
        </p:nvSpPr>
        <p:spPr>
          <a:xfrm>
            <a:off x="10094976" y="3685032"/>
            <a:ext cx="987552" cy="594360"/>
          </a:xfrm>
          <a:prstGeom prst="rect">
            <a:avLst/>
          </a:prstGeom>
          <a:solidFill>
            <a:srgbClr val="F6F8FA"/>
          </a:solidFill>
          <a:ln w="7620">
            <a:solidFill>
              <a:srgbClr val="D5E0E7"/>
            </a:solidFill>
            <a:prstDash val="solid"/>
          </a:ln>
        </p:spPr>
      </p:sp>
      <p:sp>
        <p:nvSpPr>
          <p:cNvPr id="47" name="Text 45"/>
          <p:cNvSpPr/>
          <p:nvPr/>
        </p:nvSpPr>
        <p:spPr>
          <a:xfrm>
            <a:off x="10140696" y="373075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Leakage</a:t>
            </a:r>
            <a:endParaRPr lang="en-US" sz="870" dirty="0"/>
          </a:p>
        </p:txBody>
      </p:sp>
      <p:sp>
        <p:nvSpPr>
          <p:cNvPr id="48" name="Shape 46"/>
          <p:cNvSpPr/>
          <p:nvPr/>
        </p:nvSpPr>
        <p:spPr>
          <a:xfrm>
            <a:off x="7918704" y="4279392"/>
            <a:ext cx="1188720" cy="594360"/>
          </a:xfrm>
          <a:prstGeom prst="rect">
            <a:avLst/>
          </a:prstGeom>
          <a:solidFill>
            <a:srgbClr val="FFFFFF"/>
          </a:solidFill>
          <a:ln w="7620">
            <a:solidFill>
              <a:srgbClr val="D5E0E7"/>
            </a:solidFill>
            <a:prstDash val="solid"/>
          </a:ln>
        </p:spPr>
      </p:sp>
      <p:sp>
        <p:nvSpPr>
          <p:cNvPr id="49" name="Text 47"/>
          <p:cNvSpPr/>
          <p:nvPr/>
        </p:nvSpPr>
        <p:spPr>
          <a:xfrm>
            <a:off x="7964424" y="4325112"/>
            <a:ext cx="1097280" cy="502920"/>
          </a:xfrm>
          <a:prstGeom prst="rect">
            <a:avLst/>
          </a:prstGeom>
          <a:noFill/>
          <a:ln/>
        </p:spPr>
        <p:txBody>
          <a:bodyPr wrap="square" lIns="0" tIns="0" rIns="0" bIns="0" rtlCol="0" anchor="ctr">
            <a:normAutofit/>
          </a:bodyPr>
          <a:lstStyle/>
          <a:p>
            <a:pPr algn="ctr" indent="0" marL="0">
              <a:buNone/>
            </a:pPr>
            <a:r>
              <a:rPr lang="en-US" sz="900" b="1" dirty="0">
                <a:solidFill>
                  <a:srgbClr val="1B3448"/>
                </a:solidFill>
                <a:latin typeface="Aptos" pitchFamily="34" charset="0"/>
                <a:ea typeface="Aptos" pitchFamily="34" charset="-122"/>
                <a:cs typeface="Aptos" pitchFamily="34" charset="-120"/>
              </a:rPr>
              <a:t>Transistor</a:t>
            </a:r>
            <a:endParaRPr lang="en-US" sz="900" dirty="0"/>
          </a:p>
        </p:txBody>
      </p:sp>
      <p:sp>
        <p:nvSpPr>
          <p:cNvPr id="50" name="Shape 48"/>
          <p:cNvSpPr/>
          <p:nvPr/>
        </p:nvSpPr>
        <p:spPr>
          <a:xfrm>
            <a:off x="9107424" y="4279392"/>
            <a:ext cx="987552" cy="594360"/>
          </a:xfrm>
          <a:prstGeom prst="rect">
            <a:avLst/>
          </a:prstGeom>
          <a:solidFill>
            <a:srgbClr val="FFFFFF"/>
          </a:solidFill>
          <a:ln w="7620">
            <a:solidFill>
              <a:srgbClr val="D5E0E7"/>
            </a:solidFill>
            <a:prstDash val="solid"/>
          </a:ln>
        </p:spPr>
      </p:sp>
      <p:sp>
        <p:nvSpPr>
          <p:cNvPr id="51" name="Text 49"/>
          <p:cNvSpPr/>
          <p:nvPr/>
        </p:nvSpPr>
        <p:spPr>
          <a:xfrm>
            <a:off x="9153144" y="432511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DC switching</a:t>
            </a:r>
            <a:endParaRPr lang="en-US" sz="870" dirty="0"/>
          </a:p>
        </p:txBody>
      </p:sp>
      <p:sp>
        <p:nvSpPr>
          <p:cNvPr id="52" name="Shape 50"/>
          <p:cNvSpPr/>
          <p:nvPr/>
        </p:nvSpPr>
        <p:spPr>
          <a:xfrm>
            <a:off x="10094976" y="4279392"/>
            <a:ext cx="987552" cy="594360"/>
          </a:xfrm>
          <a:prstGeom prst="rect">
            <a:avLst/>
          </a:prstGeom>
          <a:solidFill>
            <a:srgbClr val="FFFFFF"/>
          </a:solidFill>
          <a:ln w="7620">
            <a:solidFill>
              <a:srgbClr val="D5E0E7"/>
            </a:solidFill>
            <a:prstDash val="solid"/>
          </a:ln>
        </p:spPr>
      </p:sp>
      <p:sp>
        <p:nvSpPr>
          <p:cNvPr id="53" name="Text 51"/>
          <p:cNvSpPr/>
          <p:nvPr/>
        </p:nvSpPr>
        <p:spPr>
          <a:xfrm>
            <a:off x="10140696" y="432511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Polarity</a:t>
            </a:r>
            <a:endParaRPr lang="en-US" sz="870" dirty="0"/>
          </a:p>
        </p:txBody>
      </p:sp>
      <p:sp>
        <p:nvSpPr>
          <p:cNvPr id="54" name="Shape 52"/>
          <p:cNvSpPr/>
          <p:nvPr/>
        </p:nvSpPr>
        <p:spPr>
          <a:xfrm>
            <a:off x="7918704" y="4873752"/>
            <a:ext cx="1188720" cy="594360"/>
          </a:xfrm>
          <a:prstGeom prst="rect">
            <a:avLst/>
          </a:prstGeom>
          <a:solidFill>
            <a:srgbClr val="F6F8FA"/>
          </a:solidFill>
          <a:ln w="7620">
            <a:solidFill>
              <a:srgbClr val="D5E0E7"/>
            </a:solidFill>
            <a:prstDash val="solid"/>
          </a:ln>
        </p:spPr>
      </p:sp>
      <p:sp>
        <p:nvSpPr>
          <p:cNvPr id="55" name="Text 53"/>
          <p:cNvSpPr/>
          <p:nvPr/>
        </p:nvSpPr>
        <p:spPr>
          <a:xfrm>
            <a:off x="7964424" y="4919472"/>
            <a:ext cx="1097280" cy="502920"/>
          </a:xfrm>
          <a:prstGeom prst="rect">
            <a:avLst/>
          </a:prstGeom>
          <a:noFill/>
          <a:ln/>
        </p:spPr>
        <p:txBody>
          <a:bodyPr wrap="square" lIns="0" tIns="0" rIns="0" bIns="0" rtlCol="0" anchor="ctr">
            <a:normAutofit/>
          </a:bodyPr>
          <a:lstStyle/>
          <a:p>
            <a:pPr algn="ctr" indent="0" marL="0">
              <a:buNone/>
            </a:pPr>
            <a:r>
              <a:rPr lang="en-US" sz="900" b="1" dirty="0">
                <a:solidFill>
                  <a:srgbClr val="1B3448"/>
                </a:solidFill>
                <a:latin typeface="Aptos" pitchFamily="34" charset="0"/>
                <a:ea typeface="Aptos" pitchFamily="34" charset="-122"/>
                <a:cs typeface="Aptos" pitchFamily="34" charset="-120"/>
              </a:rPr>
              <a:t>Analogue</a:t>
            </a:r>
            <a:endParaRPr lang="en-US" sz="900" dirty="0"/>
          </a:p>
        </p:txBody>
      </p:sp>
      <p:sp>
        <p:nvSpPr>
          <p:cNvPr id="56" name="Shape 54"/>
          <p:cNvSpPr/>
          <p:nvPr/>
        </p:nvSpPr>
        <p:spPr>
          <a:xfrm>
            <a:off x="9107424" y="4873752"/>
            <a:ext cx="987552" cy="594360"/>
          </a:xfrm>
          <a:prstGeom prst="rect">
            <a:avLst/>
          </a:prstGeom>
          <a:solidFill>
            <a:srgbClr val="F6F8FA"/>
          </a:solidFill>
          <a:ln w="7620">
            <a:solidFill>
              <a:srgbClr val="D5E0E7"/>
            </a:solidFill>
            <a:prstDash val="solid"/>
          </a:ln>
        </p:spPr>
      </p:sp>
      <p:sp>
        <p:nvSpPr>
          <p:cNvPr id="57" name="Text 55"/>
          <p:cNvSpPr/>
          <p:nvPr/>
        </p:nvSpPr>
        <p:spPr>
          <a:xfrm>
            <a:off x="9153144" y="491947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Measured value</a:t>
            </a:r>
            <a:endParaRPr lang="en-US" sz="870" dirty="0"/>
          </a:p>
        </p:txBody>
      </p:sp>
      <p:sp>
        <p:nvSpPr>
          <p:cNvPr id="58" name="Shape 56"/>
          <p:cNvSpPr/>
          <p:nvPr/>
        </p:nvSpPr>
        <p:spPr>
          <a:xfrm>
            <a:off x="10094976" y="4873752"/>
            <a:ext cx="987552" cy="594360"/>
          </a:xfrm>
          <a:prstGeom prst="rect">
            <a:avLst/>
          </a:prstGeom>
          <a:solidFill>
            <a:srgbClr val="F6F8FA"/>
          </a:solidFill>
          <a:ln w="7620">
            <a:solidFill>
              <a:srgbClr val="D5E0E7"/>
            </a:solidFill>
            <a:prstDash val="solid"/>
          </a:ln>
        </p:spPr>
      </p:sp>
      <p:sp>
        <p:nvSpPr>
          <p:cNvPr id="59" name="Text 57"/>
          <p:cNvSpPr/>
          <p:nvPr/>
        </p:nvSpPr>
        <p:spPr>
          <a:xfrm>
            <a:off x="10140696" y="491947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Range / accuracy</a:t>
            </a:r>
            <a:endParaRPr lang="en-US" sz="870" dirty="0"/>
          </a:p>
        </p:txBody>
      </p:sp>
      <p:sp>
        <p:nvSpPr>
          <p:cNvPr id="60" name="Text 58"/>
          <p:cNvSpPr/>
          <p:nvPr/>
        </p:nvSpPr>
        <p:spPr>
          <a:xfrm>
            <a:off x="7973568" y="5678424"/>
            <a:ext cx="3154680" cy="493776"/>
          </a:xfrm>
          <a:prstGeom prst="rect">
            <a:avLst/>
          </a:prstGeom>
          <a:noFill/>
          <a:ln/>
        </p:spPr>
        <p:txBody>
          <a:bodyPr wrap="square" lIns="0" tIns="0" rIns="0" bIns="0" rtlCol="0" anchor="ctr">
            <a:normAutofit/>
          </a:bodyPr>
          <a:lstStyle/>
          <a:p>
            <a:pPr algn="ctr" indent="0" marL="0">
              <a:buNone/>
            </a:pPr>
            <a:r>
              <a:rPr lang="en-US" sz="920" dirty="0">
                <a:solidFill>
                  <a:srgbClr val="607585"/>
                </a:solidFill>
                <a:latin typeface="Aptos" pitchFamily="34" charset="0"/>
                <a:ea typeface="Aptos" pitchFamily="34" charset="-122"/>
                <a:cs typeface="Aptos" pitchFamily="34" charset="-120"/>
              </a:rPr>
              <a:t>*Only within the exact module ratings</a:t>
            </a:r>
            <a:endParaRPr lang="en-US" sz="920" dirty="0"/>
          </a:p>
        </p:txBody>
      </p:sp>
      <p:sp>
        <p:nvSpPr>
          <p:cNvPr id="61" name="Shape 59"/>
          <p:cNvSpPr/>
          <p:nvPr/>
        </p:nvSpPr>
        <p:spPr>
          <a:xfrm>
            <a:off x="603504" y="6318504"/>
            <a:ext cx="10972800" cy="0"/>
          </a:xfrm>
          <a:prstGeom prst="line">
            <a:avLst/>
          </a:prstGeom>
          <a:noFill/>
          <a:ln w="10160">
            <a:solidFill>
              <a:srgbClr val="D5E0E7"/>
            </a:solidFill>
            <a:prstDash val="solid"/>
          </a:ln>
        </p:spPr>
      </p:sp>
      <p:sp>
        <p:nvSpPr>
          <p:cNvPr id="62" name="Text 60"/>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PLC SPECIFICATIONS AND I/O MODULES</a:t>
            </a:r>
            <a:endParaRPr lang="en-US" sz="800" dirty="0"/>
          </a:p>
        </p:txBody>
      </p:sp>
      <p:sp>
        <p:nvSpPr>
          <p:cNvPr id="63" name="Text 61"/>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02 / 18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3F7394"/>
          </a:solidFill>
          <a:ln w="12700">
            <a:solidFill>
              <a:srgbClr val="3F7394">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3F7394"/>
                </a:solidFill>
                <a:latin typeface="Aptos" pitchFamily="34" charset="0"/>
                <a:ea typeface="Aptos" pitchFamily="34" charset="-122"/>
                <a:cs typeface="Aptos" pitchFamily="34" charset="-120"/>
              </a:rPr>
              <a:t>UNIT 5009    /    WEEK 03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5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3F7394"/>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3F7394"/>
                </a:solidFill>
                <a:latin typeface="Aptos" pitchFamily="34" charset="0"/>
                <a:ea typeface="Aptos" pitchFamily="34" charset="-122"/>
                <a:cs typeface="Aptos" pitchFamily="34" charset="-120"/>
              </a:rPr>
              <a:t>P2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Specification-to-application chain</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3F7394"/>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3F7394"/>
          </a:solidFill>
          <a:ln w="12700">
            <a:solidFill>
              <a:srgbClr val="3F7394">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Teach the chain: application requirement -&gt; exact specification field -&gt; consequence if it fails -&gt; verification source/test.</a:t>
            </a:r>
            <a:endParaRPr lang="en-US" sz="14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3F7394"/>
          </a:solidFill>
          <a:ln w="12700">
            <a:solidFill>
              <a:srgbClr val="3F7394">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Worked hypothetical: a sensor pulse shorter than a configured input filter may not be registered; compare documented pulse width, filter behaviour, and supported capture mode.</a:t>
            </a:r>
            <a:endParaRPr lang="en-US" sz="14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3F7394"/>
          </a:solidFill>
          <a:ln w="12700">
            <a:solidFill>
              <a:srgbClr val="3F7394">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Ask learners to finish: “If the output group limit is exceeded, the consequence is ___ and the field to verify is ___.” Expected: overload/derating risk; group current and installation conditions.</a:t>
            </a:r>
            <a:endParaRPr lang="en-US" sz="14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3F7394"/>
          </a:solidFill>
          <a:ln w="12700">
            <a:solidFill>
              <a:srgbClr val="3F7394">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Debrief: a number without units, operating conditions, model identity, and a MedPack consequence is not a usable selection argument.</a:t>
            </a:r>
            <a:endParaRPr lang="en-US" sz="14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3F7394"/>
                </a:solidFill>
                <a:latin typeface="Aptos" pitchFamily="34" charset="0"/>
                <a:ea typeface="Aptos" pitchFamily="34" charset="-122"/>
                <a:cs typeface="Aptos" pitchFamily="34" charset="-120"/>
              </a:rPr>
              <a:t>APPLICATION WORKFLOW</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Shape 28"/>
          <p:cNvSpPr/>
          <p:nvPr/>
        </p:nvSpPr>
        <p:spPr>
          <a:xfrm>
            <a:off x="7955280" y="3593592"/>
            <a:ext cx="713232" cy="658368"/>
          </a:xfrm>
          <a:prstGeom prst="rect">
            <a:avLst/>
          </a:prstGeom>
          <a:solidFill>
            <a:srgbClr val="F4F8FA"/>
          </a:solidFill>
          <a:ln w="14605">
            <a:solidFill>
              <a:srgbClr val="3F7394"/>
            </a:solidFill>
            <a:prstDash val="solid"/>
          </a:ln>
        </p:spPr>
      </p:sp>
      <p:sp>
        <p:nvSpPr>
          <p:cNvPr id="31" name="Text 29"/>
          <p:cNvSpPr/>
          <p:nvPr/>
        </p:nvSpPr>
        <p:spPr>
          <a:xfrm>
            <a:off x="8028432" y="3648456"/>
            <a:ext cx="566928" cy="548640"/>
          </a:xfrm>
          <a:prstGeom prst="rect">
            <a:avLst/>
          </a:prstGeom>
          <a:noFill/>
          <a:ln/>
        </p:spPr>
        <p:txBody>
          <a:bodyPr wrap="square" lIns="0" tIns="0" rIns="0" bIns="0" rtlCol="0" anchor="ctr">
            <a:normAutofit/>
          </a:bodyPr>
          <a:lstStyle/>
          <a:p>
            <a:pPr algn="ctr" indent="0" marL="0">
              <a:buNone/>
            </a:pPr>
            <a:r>
              <a:rPr lang="en-US" sz="950" b="1" dirty="0">
                <a:solidFill>
                  <a:srgbClr val="1B3448"/>
                </a:solidFill>
                <a:latin typeface="Aptos" pitchFamily="34" charset="0"/>
                <a:ea typeface="Aptos" pitchFamily="34" charset="-122"/>
                <a:cs typeface="Aptos" pitchFamily="34" charset="-120"/>
              </a:rPr>
              <a:t>Application need</a:t>
            </a:r>
            <a:endParaRPr lang="en-US" sz="950" dirty="0"/>
          </a:p>
        </p:txBody>
      </p:sp>
      <p:sp>
        <p:nvSpPr>
          <p:cNvPr id="32" name="Shape 30"/>
          <p:cNvSpPr/>
          <p:nvPr/>
        </p:nvSpPr>
        <p:spPr>
          <a:xfrm>
            <a:off x="8686800" y="3922776"/>
            <a:ext cx="182880" cy="0"/>
          </a:xfrm>
          <a:prstGeom prst="line">
            <a:avLst/>
          </a:prstGeom>
          <a:noFill/>
          <a:ln w="19050">
            <a:solidFill>
              <a:srgbClr val="3F7394"/>
            </a:solidFill>
            <a:prstDash val="solid"/>
            <a:tailEnd type="triangle"/>
          </a:ln>
        </p:spPr>
      </p:sp>
      <p:sp>
        <p:nvSpPr>
          <p:cNvPr id="33" name="Shape 31"/>
          <p:cNvSpPr/>
          <p:nvPr/>
        </p:nvSpPr>
        <p:spPr>
          <a:xfrm>
            <a:off x="8897112" y="3593592"/>
            <a:ext cx="713232" cy="658368"/>
          </a:xfrm>
          <a:prstGeom prst="rect">
            <a:avLst/>
          </a:prstGeom>
          <a:solidFill>
            <a:srgbClr val="F4F8FA"/>
          </a:solidFill>
          <a:ln w="14605">
            <a:solidFill>
              <a:srgbClr val="3F7394"/>
            </a:solidFill>
            <a:prstDash val="solid"/>
          </a:ln>
        </p:spPr>
      </p:sp>
      <p:sp>
        <p:nvSpPr>
          <p:cNvPr id="34" name="Text 32"/>
          <p:cNvSpPr/>
          <p:nvPr/>
        </p:nvSpPr>
        <p:spPr>
          <a:xfrm>
            <a:off x="8970264" y="3648456"/>
            <a:ext cx="566928" cy="548640"/>
          </a:xfrm>
          <a:prstGeom prst="rect">
            <a:avLst/>
          </a:prstGeom>
          <a:noFill/>
          <a:ln/>
        </p:spPr>
        <p:txBody>
          <a:bodyPr wrap="square" lIns="0" tIns="0" rIns="0" bIns="0" rtlCol="0" anchor="ctr">
            <a:normAutofit/>
          </a:bodyPr>
          <a:lstStyle/>
          <a:p>
            <a:pPr algn="ctr" indent="0" marL="0">
              <a:buNone/>
            </a:pPr>
            <a:r>
              <a:rPr lang="en-US" sz="950" b="1" dirty="0">
                <a:solidFill>
                  <a:srgbClr val="1B3448"/>
                </a:solidFill>
                <a:latin typeface="Aptos" pitchFamily="34" charset="0"/>
                <a:ea typeface="Aptos" pitchFamily="34" charset="-122"/>
                <a:cs typeface="Aptos" pitchFamily="34" charset="-120"/>
              </a:rPr>
              <a:t>PLC feature</a:t>
            </a:r>
            <a:endParaRPr lang="en-US" sz="950" dirty="0"/>
          </a:p>
        </p:txBody>
      </p:sp>
      <p:sp>
        <p:nvSpPr>
          <p:cNvPr id="35" name="Shape 33"/>
          <p:cNvSpPr/>
          <p:nvPr/>
        </p:nvSpPr>
        <p:spPr>
          <a:xfrm>
            <a:off x="9628632" y="3922776"/>
            <a:ext cx="182880" cy="0"/>
          </a:xfrm>
          <a:prstGeom prst="line">
            <a:avLst/>
          </a:prstGeom>
          <a:noFill/>
          <a:ln w="19050">
            <a:solidFill>
              <a:srgbClr val="3F7394"/>
            </a:solidFill>
            <a:prstDash val="solid"/>
            <a:tailEnd type="triangle"/>
          </a:ln>
        </p:spPr>
      </p:sp>
      <p:sp>
        <p:nvSpPr>
          <p:cNvPr id="36" name="Shape 34"/>
          <p:cNvSpPr/>
          <p:nvPr/>
        </p:nvSpPr>
        <p:spPr>
          <a:xfrm>
            <a:off x="9838944" y="3593592"/>
            <a:ext cx="713232" cy="658368"/>
          </a:xfrm>
          <a:prstGeom prst="rect">
            <a:avLst/>
          </a:prstGeom>
          <a:solidFill>
            <a:srgbClr val="F4F8FA"/>
          </a:solidFill>
          <a:ln w="14605">
            <a:solidFill>
              <a:srgbClr val="3F7394"/>
            </a:solidFill>
            <a:prstDash val="solid"/>
          </a:ln>
        </p:spPr>
      </p:sp>
      <p:sp>
        <p:nvSpPr>
          <p:cNvPr id="37" name="Text 35"/>
          <p:cNvSpPr/>
          <p:nvPr/>
        </p:nvSpPr>
        <p:spPr>
          <a:xfrm>
            <a:off x="9912096" y="3648456"/>
            <a:ext cx="566928" cy="548640"/>
          </a:xfrm>
          <a:prstGeom prst="rect">
            <a:avLst/>
          </a:prstGeom>
          <a:noFill/>
          <a:ln/>
        </p:spPr>
        <p:txBody>
          <a:bodyPr wrap="square" lIns="0" tIns="0" rIns="0" bIns="0" rtlCol="0" anchor="ctr">
            <a:normAutofit/>
          </a:bodyPr>
          <a:lstStyle/>
          <a:p>
            <a:pPr algn="ctr" indent="0" marL="0">
              <a:buNone/>
            </a:pPr>
            <a:r>
              <a:rPr lang="en-US" sz="950" b="1" dirty="0">
                <a:solidFill>
                  <a:srgbClr val="1B3448"/>
                </a:solidFill>
                <a:latin typeface="Aptos" pitchFamily="34" charset="0"/>
                <a:ea typeface="Aptos" pitchFamily="34" charset="-122"/>
                <a:cs typeface="Aptos" pitchFamily="34" charset="-120"/>
              </a:rPr>
              <a:t>System impact</a:t>
            </a:r>
            <a:endParaRPr lang="en-US" sz="950" dirty="0"/>
          </a:p>
        </p:txBody>
      </p:sp>
      <p:sp>
        <p:nvSpPr>
          <p:cNvPr id="38" name="Shape 36"/>
          <p:cNvSpPr/>
          <p:nvPr/>
        </p:nvSpPr>
        <p:spPr>
          <a:xfrm>
            <a:off x="10570464" y="3922776"/>
            <a:ext cx="182880" cy="0"/>
          </a:xfrm>
          <a:prstGeom prst="line">
            <a:avLst/>
          </a:prstGeom>
          <a:noFill/>
          <a:ln w="19050">
            <a:solidFill>
              <a:srgbClr val="3F7394"/>
            </a:solidFill>
            <a:prstDash val="solid"/>
            <a:tailEnd type="triangle"/>
          </a:ln>
        </p:spPr>
      </p:sp>
      <p:sp>
        <p:nvSpPr>
          <p:cNvPr id="39" name="Shape 37"/>
          <p:cNvSpPr/>
          <p:nvPr/>
        </p:nvSpPr>
        <p:spPr>
          <a:xfrm>
            <a:off x="10780776" y="3593592"/>
            <a:ext cx="713232" cy="658368"/>
          </a:xfrm>
          <a:prstGeom prst="rect">
            <a:avLst/>
          </a:prstGeom>
          <a:solidFill>
            <a:srgbClr val="F4F8FA"/>
          </a:solidFill>
          <a:ln w="14605">
            <a:solidFill>
              <a:srgbClr val="3F7394"/>
            </a:solidFill>
            <a:prstDash val="solid"/>
          </a:ln>
        </p:spPr>
      </p:sp>
      <p:sp>
        <p:nvSpPr>
          <p:cNvPr id="40" name="Text 38"/>
          <p:cNvSpPr/>
          <p:nvPr/>
        </p:nvSpPr>
        <p:spPr>
          <a:xfrm>
            <a:off x="10853928" y="3648456"/>
            <a:ext cx="566928" cy="548640"/>
          </a:xfrm>
          <a:prstGeom prst="rect">
            <a:avLst/>
          </a:prstGeom>
          <a:noFill/>
          <a:ln/>
        </p:spPr>
        <p:txBody>
          <a:bodyPr wrap="square" lIns="0" tIns="0" rIns="0" bIns="0" rtlCol="0" anchor="ctr">
            <a:normAutofit/>
          </a:bodyPr>
          <a:lstStyle/>
          <a:p>
            <a:pPr algn="ctr" indent="0" marL="0">
              <a:buNone/>
            </a:pPr>
            <a:r>
              <a:rPr lang="en-US" sz="950" b="1" dirty="0">
                <a:solidFill>
                  <a:srgbClr val="1B3448"/>
                </a:solidFill>
                <a:latin typeface="Aptos" pitchFamily="34" charset="0"/>
                <a:ea typeface="Aptos" pitchFamily="34" charset="-122"/>
                <a:cs typeface="Aptos" pitchFamily="34" charset="-120"/>
              </a:rPr>
              <a:t>Evidence</a:t>
            </a:r>
            <a:endParaRPr lang="en-US" sz="950" dirty="0"/>
          </a:p>
        </p:txBody>
      </p:sp>
      <p:sp>
        <p:nvSpPr>
          <p:cNvPr id="41" name="Text 39"/>
          <p:cNvSpPr/>
          <p:nvPr/>
        </p:nvSpPr>
        <p:spPr>
          <a:xfrm>
            <a:off x="8046720" y="4617720"/>
            <a:ext cx="3154680" cy="566928"/>
          </a:xfrm>
          <a:prstGeom prst="rect">
            <a:avLst/>
          </a:prstGeom>
          <a:noFill/>
          <a:ln/>
        </p:spPr>
        <p:txBody>
          <a:bodyPr wrap="square" lIns="0" tIns="0" rIns="0" bIns="0" rtlCol="0" anchor="ctr">
            <a:normAutofit/>
          </a:bodyPr>
          <a:lstStyle/>
          <a:p>
            <a:pPr algn="ctr" indent="0" marL="0">
              <a:buNone/>
            </a:pPr>
            <a:r>
              <a:rPr lang="en-US" sz="1150" dirty="0">
                <a:solidFill>
                  <a:srgbClr val="334B5C"/>
                </a:solidFill>
                <a:latin typeface="Aptos" pitchFamily="34" charset="0"/>
                <a:ea typeface="Aptos" pitchFamily="34" charset="-122"/>
                <a:cs typeface="Aptos" pitchFamily="34" charset="-120"/>
              </a:rPr>
              <a:t>Trace the requirement from the device to its verified result</a:t>
            </a:r>
            <a:endParaRPr lang="en-US" sz="1150" dirty="0"/>
          </a:p>
        </p:txBody>
      </p:sp>
      <p:sp>
        <p:nvSpPr>
          <p:cNvPr id="42" name="Shape 40"/>
          <p:cNvSpPr/>
          <p:nvPr/>
        </p:nvSpPr>
        <p:spPr>
          <a:xfrm>
            <a:off x="603504" y="6318504"/>
            <a:ext cx="10972800" cy="0"/>
          </a:xfrm>
          <a:prstGeom prst="line">
            <a:avLst/>
          </a:prstGeom>
          <a:noFill/>
          <a:ln w="10160">
            <a:solidFill>
              <a:srgbClr val="D5E0E7"/>
            </a:solidFill>
            <a:prstDash val="solid"/>
          </a:ln>
        </p:spPr>
      </p:sp>
      <p:sp>
        <p:nvSpPr>
          <p:cNvPr id="43" name="Text 41"/>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PLC SPECIFICATIONS AND I/O MODULES</a:t>
            </a:r>
            <a:endParaRPr lang="en-US" sz="800" dirty="0"/>
          </a:p>
        </p:txBody>
      </p:sp>
      <p:sp>
        <p:nvSpPr>
          <p:cNvPr id="44" name="Text 42"/>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03 / 18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3F7394"/>
          </a:solidFill>
          <a:ln w="12700">
            <a:solidFill>
              <a:srgbClr val="3F7394">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3F7394"/>
                </a:solidFill>
                <a:latin typeface="Aptos" pitchFamily="34" charset="0"/>
                <a:ea typeface="Aptos" pitchFamily="34" charset="-122"/>
                <a:cs typeface="Aptos" pitchFamily="34" charset="-120"/>
              </a:rPr>
              <a:t>UNIT 5009    /    WEEK 03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12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3F7394"/>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3F7394"/>
                </a:solidFill>
                <a:latin typeface="Aptos" pitchFamily="34" charset="0"/>
                <a:ea typeface="Aptos" pitchFamily="34" charset="-122"/>
                <a:cs typeface="Aptos" pitchFamily="34" charset="-120"/>
              </a:rPr>
              <a:t>P2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PLC scan and response timing</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3F7394"/>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3F7394"/>
          </a:solidFill>
          <a:ln w="12700">
            <a:solidFill>
              <a:srgbClr val="3F7394">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In a common cyclic model, the controller samples inputs, executes logic, updates outputs, then repeats; task scheduling, interrupts, remote I/O, and process-image rules vary by CPU/configuration.</a:t>
            </a:r>
            <a:endParaRPr lang="en-US" sz="13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3F7394"/>
          </a:solidFill>
          <a:ln w="12700">
            <a:solidFill>
              <a:srgbClr val="3F7394">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Scan time is execution-cycle duration; task period is a scheduled interval; I/O refresh is data-transfer timing; end-to-end response includes sensor, input filter/update, logic, output update, and load response.</a:t>
            </a:r>
            <a:endParaRPr lang="en-US" sz="13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3F7394"/>
          </a:solidFill>
          <a:ln w="12700">
            <a:solidFill>
              <a:srgbClr val="3F7394">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Draw the MedPack path from pill crossing sensor to output interface energising; mark each delay and show that a long input filter can dominate a fast logic scan.</a:t>
            </a:r>
            <a:endParaRPr lang="en-US" sz="13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3F7394"/>
          </a:solidFill>
          <a:ln w="12700">
            <a:solidFill>
              <a:srgbClr val="3F7394">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Worked hypothetical timing: if input filtering, task wait, and output update are each nonzero, total response is their combined path; use actual manual/configuration values before claiming a response time.</a:t>
            </a:r>
            <a:endParaRPr lang="en-US" sz="13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3F7394"/>
                </a:solidFill>
                <a:latin typeface="Aptos" pitchFamily="34" charset="0"/>
                <a:ea typeface="Aptos" pitchFamily="34" charset="-122"/>
                <a:cs typeface="Aptos" pitchFamily="34" charset="-120"/>
              </a:rPr>
              <a:t>SIGNAL TIMING</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Text 28"/>
          <p:cNvSpPr/>
          <p:nvPr/>
        </p:nvSpPr>
        <p:spPr>
          <a:xfrm>
            <a:off x="8257032" y="3118104"/>
            <a:ext cx="2834640" cy="274320"/>
          </a:xfrm>
          <a:prstGeom prst="rect">
            <a:avLst/>
          </a:prstGeom>
          <a:noFill/>
          <a:ln/>
        </p:spPr>
        <p:txBody>
          <a:bodyPr wrap="square" lIns="0" tIns="0" rIns="0" bIns="0" rtlCol="0" anchor="ctr">
            <a:normAutofit/>
          </a:bodyPr>
          <a:lstStyle/>
          <a:p>
            <a:pPr algn="l" indent="0" marL="0">
              <a:buNone/>
            </a:pPr>
            <a:r>
              <a:rPr lang="en-US" sz="850" b="1" dirty="0">
                <a:solidFill>
                  <a:srgbClr val="607585"/>
                </a:solidFill>
                <a:latin typeface="Aptos" pitchFamily="34" charset="0"/>
                <a:ea typeface="Aptos" pitchFamily="34" charset="-122"/>
                <a:cs typeface="Aptos" pitchFamily="34" charset="-120"/>
              </a:rPr>
              <a:t>RAW SENSOR: VALID EVENTS + CHATTER</a:t>
            </a:r>
            <a:endParaRPr lang="en-US" sz="850" dirty="0"/>
          </a:p>
        </p:txBody>
      </p:sp>
      <p:sp>
        <p:nvSpPr>
          <p:cNvPr id="31" name="Shape 29"/>
          <p:cNvSpPr/>
          <p:nvPr/>
        </p:nvSpPr>
        <p:spPr>
          <a:xfrm>
            <a:off x="8257032" y="3941064"/>
            <a:ext cx="2834640" cy="0"/>
          </a:xfrm>
          <a:prstGeom prst="line">
            <a:avLst/>
          </a:prstGeom>
          <a:noFill/>
          <a:ln w="12700">
            <a:solidFill>
              <a:srgbClr val="D5E0E7"/>
            </a:solidFill>
            <a:prstDash val="solid"/>
          </a:ln>
        </p:spPr>
      </p:sp>
      <p:sp>
        <p:nvSpPr>
          <p:cNvPr id="32" name="Shape 30"/>
          <p:cNvSpPr/>
          <p:nvPr/>
        </p:nvSpPr>
        <p:spPr>
          <a:xfrm>
            <a:off x="8577072" y="3941064"/>
            <a:ext cx="0" cy="-484632"/>
          </a:xfrm>
          <a:prstGeom prst="line">
            <a:avLst/>
          </a:prstGeom>
          <a:noFill/>
          <a:ln w="31750">
            <a:solidFill>
              <a:srgbClr val="3F7394"/>
            </a:solidFill>
            <a:prstDash val="solid"/>
          </a:ln>
        </p:spPr>
      </p:sp>
      <p:sp>
        <p:nvSpPr>
          <p:cNvPr id="33" name="Shape 31"/>
          <p:cNvSpPr/>
          <p:nvPr/>
        </p:nvSpPr>
        <p:spPr>
          <a:xfrm>
            <a:off x="8577072" y="3456432"/>
            <a:ext cx="292608" cy="0"/>
          </a:xfrm>
          <a:prstGeom prst="line">
            <a:avLst/>
          </a:prstGeom>
          <a:noFill/>
          <a:ln w="31750">
            <a:solidFill>
              <a:srgbClr val="3F7394"/>
            </a:solidFill>
            <a:prstDash val="solid"/>
          </a:ln>
        </p:spPr>
      </p:sp>
      <p:sp>
        <p:nvSpPr>
          <p:cNvPr id="34" name="Shape 32"/>
          <p:cNvSpPr/>
          <p:nvPr/>
        </p:nvSpPr>
        <p:spPr>
          <a:xfrm>
            <a:off x="8869680" y="3456432"/>
            <a:ext cx="0" cy="484632"/>
          </a:xfrm>
          <a:prstGeom prst="line">
            <a:avLst/>
          </a:prstGeom>
          <a:noFill/>
          <a:ln w="31750">
            <a:solidFill>
              <a:srgbClr val="3F7394"/>
            </a:solidFill>
            <a:prstDash val="solid"/>
          </a:ln>
        </p:spPr>
      </p:sp>
      <p:sp>
        <p:nvSpPr>
          <p:cNvPr id="35" name="Shape 33"/>
          <p:cNvSpPr/>
          <p:nvPr/>
        </p:nvSpPr>
        <p:spPr>
          <a:xfrm>
            <a:off x="9427464" y="3941064"/>
            <a:ext cx="0" cy="-484632"/>
          </a:xfrm>
          <a:prstGeom prst="line">
            <a:avLst/>
          </a:prstGeom>
          <a:noFill/>
          <a:ln w="31750">
            <a:solidFill>
              <a:srgbClr val="3F7394"/>
            </a:solidFill>
            <a:prstDash val="solid"/>
          </a:ln>
        </p:spPr>
      </p:sp>
      <p:sp>
        <p:nvSpPr>
          <p:cNvPr id="36" name="Shape 34"/>
          <p:cNvSpPr/>
          <p:nvPr/>
        </p:nvSpPr>
        <p:spPr>
          <a:xfrm>
            <a:off x="9427464" y="3456432"/>
            <a:ext cx="292608" cy="0"/>
          </a:xfrm>
          <a:prstGeom prst="line">
            <a:avLst/>
          </a:prstGeom>
          <a:noFill/>
          <a:ln w="31750">
            <a:solidFill>
              <a:srgbClr val="3F7394"/>
            </a:solidFill>
            <a:prstDash val="solid"/>
          </a:ln>
        </p:spPr>
      </p:sp>
      <p:sp>
        <p:nvSpPr>
          <p:cNvPr id="37" name="Shape 35"/>
          <p:cNvSpPr/>
          <p:nvPr/>
        </p:nvSpPr>
        <p:spPr>
          <a:xfrm>
            <a:off x="9720072" y="3456432"/>
            <a:ext cx="0" cy="484632"/>
          </a:xfrm>
          <a:prstGeom prst="line">
            <a:avLst/>
          </a:prstGeom>
          <a:noFill/>
          <a:ln w="31750">
            <a:solidFill>
              <a:srgbClr val="3F7394"/>
            </a:solidFill>
            <a:prstDash val="solid"/>
          </a:ln>
        </p:spPr>
      </p:sp>
      <p:sp>
        <p:nvSpPr>
          <p:cNvPr id="38" name="Shape 36"/>
          <p:cNvSpPr/>
          <p:nvPr/>
        </p:nvSpPr>
        <p:spPr>
          <a:xfrm>
            <a:off x="10405872" y="3941064"/>
            <a:ext cx="0" cy="-484632"/>
          </a:xfrm>
          <a:prstGeom prst="line">
            <a:avLst/>
          </a:prstGeom>
          <a:noFill/>
          <a:ln w="31750">
            <a:solidFill>
              <a:srgbClr val="3F7394"/>
            </a:solidFill>
            <a:prstDash val="solid"/>
          </a:ln>
        </p:spPr>
      </p:sp>
      <p:sp>
        <p:nvSpPr>
          <p:cNvPr id="39" name="Shape 37"/>
          <p:cNvSpPr/>
          <p:nvPr/>
        </p:nvSpPr>
        <p:spPr>
          <a:xfrm>
            <a:off x="10405872" y="3456432"/>
            <a:ext cx="292608" cy="0"/>
          </a:xfrm>
          <a:prstGeom prst="line">
            <a:avLst/>
          </a:prstGeom>
          <a:noFill/>
          <a:ln w="31750">
            <a:solidFill>
              <a:srgbClr val="3F7394"/>
            </a:solidFill>
            <a:prstDash val="solid"/>
          </a:ln>
        </p:spPr>
      </p:sp>
      <p:sp>
        <p:nvSpPr>
          <p:cNvPr id="40" name="Shape 38"/>
          <p:cNvSpPr/>
          <p:nvPr/>
        </p:nvSpPr>
        <p:spPr>
          <a:xfrm>
            <a:off x="10698480" y="3456432"/>
            <a:ext cx="0" cy="484632"/>
          </a:xfrm>
          <a:prstGeom prst="line">
            <a:avLst/>
          </a:prstGeom>
          <a:noFill/>
          <a:ln w="31750">
            <a:solidFill>
              <a:srgbClr val="3F7394"/>
            </a:solidFill>
            <a:prstDash val="solid"/>
          </a:ln>
        </p:spPr>
      </p:sp>
      <p:sp>
        <p:nvSpPr>
          <p:cNvPr id="41" name="Shape 39"/>
          <p:cNvSpPr/>
          <p:nvPr/>
        </p:nvSpPr>
        <p:spPr>
          <a:xfrm>
            <a:off x="9829800" y="3941064"/>
            <a:ext cx="0" cy="-182880"/>
          </a:xfrm>
          <a:prstGeom prst="line">
            <a:avLst/>
          </a:prstGeom>
          <a:noFill/>
          <a:ln w="20320">
            <a:solidFill>
              <a:srgbClr val="C65E4E"/>
            </a:solidFill>
            <a:prstDash val="solid"/>
          </a:ln>
        </p:spPr>
      </p:sp>
      <p:sp>
        <p:nvSpPr>
          <p:cNvPr id="42" name="Shape 40"/>
          <p:cNvSpPr/>
          <p:nvPr/>
        </p:nvSpPr>
        <p:spPr>
          <a:xfrm>
            <a:off x="9829800" y="3758184"/>
            <a:ext cx="91440" cy="0"/>
          </a:xfrm>
          <a:prstGeom prst="line">
            <a:avLst/>
          </a:prstGeom>
          <a:noFill/>
          <a:ln w="20320">
            <a:solidFill>
              <a:srgbClr val="C65E4E"/>
            </a:solidFill>
            <a:prstDash val="solid"/>
          </a:ln>
        </p:spPr>
      </p:sp>
      <p:sp>
        <p:nvSpPr>
          <p:cNvPr id="43" name="Shape 41"/>
          <p:cNvSpPr/>
          <p:nvPr/>
        </p:nvSpPr>
        <p:spPr>
          <a:xfrm>
            <a:off x="9921240" y="3758184"/>
            <a:ext cx="0" cy="182880"/>
          </a:xfrm>
          <a:prstGeom prst="line">
            <a:avLst/>
          </a:prstGeom>
          <a:noFill/>
          <a:ln w="20320">
            <a:solidFill>
              <a:srgbClr val="C65E4E"/>
            </a:solidFill>
            <a:prstDash val="solid"/>
          </a:ln>
        </p:spPr>
      </p:sp>
      <p:sp>
        <p:nvSpPr>
          <p:cNvPr id="44" name="Text 42"/>
          <p:cNvSpPr/>
          <p:nvPr/>
        </p:nvSpPr>
        <p:spPr>
          <a:xfrm>
            <a:off x="8257032" y="4215384"/>
            <a:ext cx="2834640" cy="274320"/>
          </a:xfrm>
          <a:prstGeom prst="rect">
            <a:avLst/>
          </a:prstGeom>
          <a:noFill/>
          <a:ln/>
        </p:spPr>
        <p:txBody>
          <a:bodyPr wrap="square" lIns="0" tIns="0" rIns="0" bIns="0" rtlCol="0" anchor="ctr">
            <a:normAutofit/>
          </a:bodyPr>
          <a:lstStyle/>
          <a:p>
            <a:pPr algn="l" indent="0" marL="0">
              <a:buNone/>
            </a:pPr>
            <a:r>
              <a:rPr lang="en-US" sz="850" b="1" dirty="0">
                <a:solidFill>
                  <a:srgbClr val="607585"/>
                </a:solidFill>
                <a:latin typeface="Aptos" pitchFamily="34" charset="0"/>
                <a:ea typeface="Aptos" pitchFamily="34" charset="-122"/>
                <a:cs typeface="Aptos" pitchFamily="34" charset="-120"/>
              </a:rPr>
              <a:t>QUALIFIED INPUT / ONE-SHOT EVENTS</a:t>
            </a:r>
            <a:endParaRPr lang="en-US" sz="850" dirty="0"/>
          </a:p>
        </p:txBody>
      </p:sp>
      <p:sp>
        <p:nvSpPr>
          <p:cNvPr id="45" name="Shape 43"/>
          <p:cNvSpPr/>
          <p:nvPr/>
        </p:nvSpPr>
        <p:spPr>
          <a:xfrm>
            <a:off x="8257032" y="4946904"/>
            <a:ext cx="2834640" cy="0"/>
          </a:xfrm>
          <a:prstGeom prst="line">
            <a:avLst/>
          </a:prstGeom>
          <a:noFill/>
          <a:ln w="12700">
            <a:solidFill>
              <a:srgbClr val="D5E0E7"/>
            </a:solidFill>
            <a:prstDash val="solid"/>
          </a:ln>
        </p:spPr>
      </p:sp>
      <p:sp>
        <p:nvSpPr>
          <p:cNvPr id="46" name="Shape 44"/>
          <p:cNvSpPr/>
          <p:nvPr/>
        </p:nvSpPr>
        <p:spPr>
          <a:xfrm>
            <a:off x="8577072" y="4946904"/>
            <a:ext cx="0" cy="-438912"/>
          </a:xfrm>
          <a:prstGeom prst="line">
            <a:avLst/>
          </a:prstGeom>
          <a:noFill/>
          <a:ln w="31750">
            <a:solidFill>
              <a:srgbClr val="3F7394"/>
            </a:solidFill>
            <a:prstDash val="solid"/>
          </a:ln>
        </p:spPr>
      </p:sp>
      <p:sp>
        <p:nvSpPr>
          <p:cNvPr id="47" name="Shape 45"/>
          <p:cNvSpPr/>
          <p:nvPr/>
        </p:nvSpPr>
        <p:spPr>
          <a:xfrm>
            <a:off x="8577072" y="4507992"/>
            <a:ext cx="292608" cy="0"/>
          </a:xfrm>
          <a:prstGeom prst="line">
            <a:avLst/>
          </a:prstGeom>
          <a:noFill/>
          <a:ln w="31750">
            <a:solidFill>
              <a:srgbClr val="3F7394"/>
            </a:solidFill>
            <a:prstDash val="solid"/>
          </a:ln>
        </p:spPr>
      </p:sp>
      <p:sp>
        <p:nvSpPr>
          <p:cNvPr id="48" name="Shape 46"/>
          <p:cNvSpPr/>
          <p:nvPr/>
        </p:nvSpPr>
        <p:spPr>
          <a:xfrm>
            <a:off x="8869680" y="4507992"/>
            <a:ext cx="0" cy="438912"/>
          </a:xfrm>
          <a:prstGeom prst="line">
            <a:avLst/>
          </a:prstGeom>
          <a:noFill/>
          <a:ln w="31750">
            <a:solidFill>
              <a:srgbClr val="3F7394"/>
            </a:solidFill>
            <a:prstDash val="solid"/>
          </a:ln>
        </p:spPr>
      </p:sp>
      <p:sp>
        <p:nvSpPr>
          <p:cNvPr id="49" name="Shape 47"/>
          <p:cNvSpPr/>
          <p:nvPr/>
        </p:nvSpPr>
        <p:spPr>
          <a:xfrm>
            <a:off x="9427464" y="4946904"/>
            <a:ext cx="0" cy="-438912"/>
          </a:xfrm>
          <a:prstGeom prst="line">
            <a:avLst/>
          </a:prstGeom>
          <a:noFill/>
          <a:ln w="31750">
            <a:solidFill>
              <a:srgbClr val="3F7394"/>
            </a:solidFill>
            <a:prstDash val="solid"/>
          </a:ln>
        </p:spPr>
      </p:sp>
      <p:sp>
        <p:nvSpPr>
          <p:cNvPr id="50" name="Shape 48"/>
          <p:cNvSpPr/>
          <p:nvPr/>
        </p:nvSpPr>
        <p:spPr>
          <a:xfrm>
            <a:off x="9427464" y="4507992"/>
            <a:ext cx="292608" cy="0"/>
          </a:xfrm>
          <a:prstGeom prst="line">
            <a:avLst/>
          </a:prstGeom>
          <a:noFill/>
          <a:ln w="31750">
            <a:solidFill>
              <a:srgbClr val="3F7394"/>
            </a:solidFill>
            <a:prstDash val="solid"/>
          </a:ln>
        </p:spPr>
      </p:sp>
      <p:sp>
        <p:nvSpPr>
          <p:cNvPr id="51" name="Shape 49"/>
          <p:cNvSpPr/>
          <p:nvPr/>
        </p:nvSpPr>
        <p:spPr>
          <a:xfrm>
            <a:off x="9720072" y="4507992"/>
            <a:ext cx="0" cy="438912"/>
          </a:xfrm>
          <a:prstGeom prst="line">
            <a:avLst/>
          </a:prstGeom>
          <a:noFill/>
          <a:ln w="31750">
            <a:solidFill>
              <a:srgbClr val="3F7394"/>
            </a:solidFill>
            <a:prstDash val="solid"/>
          </a:ln>
        </p:spPr>
      </p:sp>
      <p:sp>
        <p:nvSpPr>
          <p:cNvPr id="52" name="Shape 50"/>
          <p:cNvSpPr/>
          <p:nvPr/>
        </p:nvSpPr>
        <p:spPr>
          <a:xfrm>
            <a:off x="10405872" y="4946904"/>
            <a:ext cx="0" cy="-438912"/>
          </a:xfrm>
          <a:prstGeom prst="line">
            <a:avLst/>
          </a:prstGeom>
          <a:noFill/>
          <a:ln w="31750">
            <a:solidFill>
              <a:srgbClr val="3F7394"/>
            </a:solidFill>
            <a:prstDash val="solid"/>
          </a:ln>
        </p:spPr>
      </p:sp>
      <p:sp>
        <p:nvSpPr>
          <p:cNvPr id="53" name="Shape 51"/>
          <p:cNvSpPr/>
          <p:nvPr/>
        </p:nvSpPr>
        <p:spPr>
          <a:xfrm>
            <a:off x="10405872" y="4507992"/>
            <a:ext cx="292608" cy="0"/>
          </a:xfrm>
          <a:prstGeom prst="line">
            <a:avLst/>
          </a:prstGeom>
          <a:noFill/>
          <a:ln w="31750">
            <a:solidFill>
              <a:srgbClr val="3F7394"/>
            </a:solidFill>
            <a:prstDash val="solid"/>
          </a:ln>
        </p:spPr>
      </p:sp>
      <p:sp>
        <p:nvSpPr>
          <p:cNvPr id="54" name="Shape 52"/>
          <p:cNvSpPr/>
          <p:nvPr/>
        </p:nvSpPr>
        <p:spPr>
          <a:xfrm>
            <a:off x="10698480" y="4507992"/>
            <a:ext cx="0" cy="438912"/>
          </a:xfrm>
          <a:prstGeom prst="line">
            <a:avLst/>
          </a:prstGeom>
          <a:noFill/>
          <a:ln w="31750">
            <a:solidFill>
              <a:srgbClr val="3F7394"/>
            </a:solidFill>
            <a:prstDash val="solid"/>
          </a:ln>
        </p:spPr>
      </p:sp>
      <p:sp>
        <p:nvSpPr>
          <p:cNvPr id="55" name="Text 53"/>
          <p:cNvSpPr/>
          <p:nvPr/>
        </p:nvSpPr>
        <p:spPr>
          <a:xfrm>
            <a:off x="8302752" y="5385816"/>
            <a:ext cx="2743200" cy="457200"/>
          </a:xfrm>
          <a:prstGeom prst="rect">
            <a:avLst/>
          </a:prstGeom>
          <a:noFill/>
          <a:ln/>
        </p:spPr>
        <p:txBody>
          <a:bodyPr wrap="square" lIns="0" tIns="0" rIns="0" bIns="0" rtlCol="0" anchor="ctr">
            <a:normAutofit/>
          </a:bodyPr>
          <a:lstStyle/>
          <a:p>
            <a:pPr algn="ctr" indent="0" marL="0">
              <a:buNone/>
            </a:pPr>
            <a:r>
              <a:rPr lang="en-US" sz="1050" b="1" dirty="0">
                <a:solidFill>
                  <a:srgbClr val="3F7394"/>
                </a:solidFill>
                <a:latin typeface="Aptos" pitchFamily="34" charset="0"/>
                <a:ea typeface="Aptos" pitchFamily="34" charset="-122"/>
                <a:cs typeface="Aptos" pitchFamily="34" charset="-120"/>
              </a:rPr>
              <a:t>Reject the short chatter; preserve all valid pill events</a:t>
            </a:r>
            <a:endParaRPr lang="en-US" sz="1050" dirty="0"/>
          </a:p>
        </p:txBody>
      </p:sp>
      <p:sp>
        <p:nvSpPr>
          <p:cNvPr id="56" name="Shape 54"/>
          <p:cNvSpPr/>
          <p:nvPr/>
        </p:nvSpPr>
        <p:spPr>
          <a:xfrm>
            <a:off x="603504" y="6318504"/>
            <a:ext cx="10972800" cy="0"/>
          </a:xfrm>
          <a:prstGeom prst="line">
            <a:avLst/>
          </a:prstGeom>
          <a:noFill/>
          <a:ln w="10160">
            <a:solidFill>
              <a:srgbClr val="D5E0E7"/>
            </a:solidFill>
            <a:prstDash val="solid"/>
          </a:ln>
        </p:spPr>
      </p:sp>
      <p:sp>
        <p:nvSpPr>
          <p:cNvPr id="57" name="Text 55"/>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PLC SPECIFICATIONS AND I/O MODULES</a:t>
            </a:r>
            <a:endParaRPr lang="en-US" sz="800" dirty="0"/>
          </a:p>
        </p:txBody>
      </p:sp>
      <p:sp>
        <p:nvSpPr>
          <p:cNvPr id="58" name="Text 56"/>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04 / 18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3F7394"/>
          </a:solidFill>
          <a:ln w="12700">
            <a:solidFill>
              <a:srgbClr val="3F7394">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3F7394"/>
                </a:solidFill>
                <a:latin typeface="Aptos" pitchFamily="34" charset="0"/>
                <a:ea typeface="Aptos" pitchFamily="34" charset="-122"/>
                <a:cs typeface="Aptos" pitchFamily="34" charset="-120"/>
              </a:rPr>
              <a:t>UNIT 5009    /    WEEK 03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13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3F7394"/>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3F7394"/>
                </a:solidFill>
                <a:latin typeface="Aptos" pitchFamily="34" charset="0"/>
                <a:ea typeface="Aptos" pitchFamily="34" charset="-122"/>
                <a:cs typeface="Aptos" pitchFamily="34" charset="-120"/>
              </a:rPr>
              <a:t>P2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Speed and pulse-event capture</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3F7394"/>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3F7394"/>
          </a:solidFill>
          <a:ln w="12700">
            <a:solidFill>
              <a:srgbClr val="3F7394">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Compare exact manual fields: high-speed-counter/capture channel availability, maximum documented input frequency, minimum pulse width, input filter settings, task timing, remote-I/O update, and output switching limits.</a:t>
            </a:r>
            <a:endParaRPr lang="en-US" sz="13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3F7394"/>
          </a:solidFill>
          <a:ln w="12700">
            <a:solidFill>
              <a:srgbClr val="3F7394">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Pulse frequency sets event spacing, while pulse width sets how long the signal remains true; either can prevent ordinary sampled input logic from seeing every pill event.</a:t>
            </a:r>
            <a:endParaRPr lang="en-US" sz="13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3F7394"/>
          </a:solidFill>
          <a:ln w="12700">
            <a:solidFill>
              <a:srgbClr val="3F7394">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Clearly hypothetical example: at 20 Hz, events are 50 ms apart; a hypothetical 5 ms pulse filtered for 8 ms may be lost. These are teaching values, not MedPack or product ratings.</a:t>
            </a:r>
            <a:endParaRPr lang="en-US" sz="13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3F7394"/>
          </a:solidFill>
          <a:ln w="12700">
            <a:solidFill>
              <a:srgbClr val="3F7394">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Expected judgement: use a documented high-speed input/counter if the verified sensor signal exceeds normal input capability, then test missed/double counts at worst-case rate.</a:t>
            </a:r>
            <a:endParaRPr lang="en-US" sz="13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3F7394"/>
                </a:solidFill>
                <a:latin typeface="Aptos" pitchFamily="34" charset="0"/>
                <a:ea typeface="Aptos" pitchFamily="34" charset="-122"/>
                <a:cs typeface="Aptos" pitchFamily="34" charset="-120"/>
              </a:rPr>
              <a:t>SIGNAL TIMING</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Text 28"/>
          <p:cNvSpPr/>
          <p:nvPr/>
        </p:nvSpPr>
        <p:spPr>
          <a:xfrm>
            <a:off x="8257032" y="3118104"/>
            <a:ext cx="2834640" cy="274320"/>
          </a:xfrm>
          <a:prstGeom prst="rect">
            <a:avLst/>
          </a:prstGeom>
          <a:noFill/>
          <a:ln/>
        </p:spPr>
        <p:txBody>
          <a:bodyPr wrap="square" lIns="0" tIns="0" rIns="0" bIns="0" rtlCol="0" anchor="ctr">
            <a:normAutofit/>
          </a:bodyPr>
          <a:lstStyle/>
          <a:p>
            <a:pPr algn="l" indent="0" marL="0">
              <a:buNone/>
            </a:pPr>
            <a:r>
              <a:rPr lang="en-US" sz="850" b="1" dirty="0">
                <a:solidFill>
                  <a:srgbClr val="607585"/>
                </a:solidFill>
                <a:latin typeface="Aptos" pitchFamily="34" charset="0"/>
                <a:ea typeface="Aptos" pitchFamily="34" charset="-122"/>
                <a:cs typeface="Aptos" pitchFamily="34" charset="-120"/>
              </a:rPr>
              <a:t>RAW SENSOR: VALID EVENTS + CHATTER</a:t>
            </a:r>
            <a:endParaRPr lang="en-US" sz="850" dirty="0"/>
          </a:p>
        </p:txBody>
      </p:sp>
      <p:sp>
        <p:nvSpPr>
          <p:cNvPr id="31" name="Shape 29"/>
          <p:cNvSpPr/>
          <p:nvPr/>
        </p:nvSpPr>
        <p:spPr>
          <a:xfrm>
            <a:off x="8257032" y="3941064"/>
            <a:ext cx="2834640" cy="0"/>
          </a:xfrm>
          <a:prstGeom prst="line">
            <a:avLst/>
          </a:prstGeom>
          <a:noFill/>
          <a:ln w="12700">
            <a:solidFill>
              <a:srgbClr val="D5E0E7"/>
            </a:solidFill>
            <a:prstDash val="solid"/>
          </a:ln>
        </p:spPr>
      </p:sp>
      <p:sp>
        <p:nvSpPr>
          <p:cNvPr id="32" name="Shape 30"/>
          <p:cNvSpPr/>
          <p:nvPr/>
        </p:nvSpPr>
        <p:spPr>
          <a:xfrm>
            <a:off x="8577072" y="3941064"/>
            <a:ext cx="0" cy="-484632"/>
          </a:xfrm>
          <a:prstGeom prst="line">
            <a:avLst/>
          </a:prstGeom>
          <a:noFill/>
          <a:ln w="31750">
            <a:solidFill>
              <a:srgbClr val="3F7394"/>
            </a:solidFill>
            <a:prstDash val="solid"/>
          </a:ln>
        </p:spPr>
      </p:sp>
      <p:sp>
        <p:nvSpPr>
          <p:cNvPr id="33" name="Shape 31"/>
          <p:cNvSpPr/>
          <p:nvPr/>
        </p:nvSpPr>
        <p:spPr>
          <a:xfrm>
            <a:off x="8577072" y="3456432"/>
            <a:ext cx="292608" cy="0"/>
          </a:xfrm>
          <a:prstGeom prst="line">
            <a:avLst/>
          </a:prstGeom>
          <a:noFill/>
          <a:ln w="31750">
            <a:solidFill>
              <a:srgbClr val="3F7394"/>
            </a:solidFill>
            <a:prstDash val="solid"/>
          </a:ln>
        </p:spPr>
      </p:sp>
      <p:sp>
        <p:nvSpPr>
          <p:cNvPr id="34" name="Shape 32"/>
          <p:cNvSpPr/>
          <p:nvPr/>
        </p:nvSpPr>
        <p:spPr>
          <a:xfrm>
            <a:off x="8869680" y="3456432"/>
            <a:ext cx="0" cy="484632"/>
          </a:xfrm>
          <a:prstGeom prst="line">
            <a:avLst/>
          </a:prstGeom>
          <a:noFill/>
          <a:ln w="31750">
            <a:solidFill>
              <a:srgbClr val="3F7394"/>
            </a:solidFill>
            <a:prstDash val="solid"/>
          </a:ln>
        </p:spPr>
      </p:sp>
      <p:sp>
        <p:nvSpPr>
          <p:cNvPr id="35" name="Shape 33"/>
          <p:cNvSpPr/>
          <p:nvPr/>
        </p:nvSpPr>
        <p:spPr>
          <a:xfrm>
            <a:off x="9427464" y="3941064"/>
            <a:ext cx="0" cy="-484632"/>
          </a:xfrm>
          <a:prstGeom prst="line">
            <a:avLst/>
          </a:prstGeom>
          <a:noFill/>
          <a:ln w="31750">
            <a:solidFill>
              <a:srgbClr val="3F7394"/>
            </a:solidFill>
            <a:prstDash val="solid"/>
          </a:ln>
        </p:spPr>
      </p:sp>
      <p:sp>
        <p:nvSpPr>
          <p:cNvPr id="36" name="Shape 34"/>
          <p:cNvSpPr/>
          <p:nvPr/>
        </p:nvSpPr>
        <p:spPr>
          <a:xfrm>
            <a:off x="9427464" y="3456432"/>
            <a:ext cx="292608" cy="0"/>
          </a:xfrm>
          <a:prstGeom prst="line">
            <a:avLst/>
          </a:prstGeom>
          <a:noFill/>
          <a:ln w="31750">
            <a:solidFill>
              <a:srgbClr val="3F7394"/>
            </a:solidFill>
            <a:prstDash val="solid"/>
          </a:ln>
        </p:spPr>
      </p:sp>
      <p:sp>
        <p:nvSpPr>
          <p:cNvPr id="37" name="Shape 35"/>
          <p:cNvSpPr/>
          <p:nvPr/>
        </p:nvSpPr>
        <p:spPr>
          <a:xfrm>
            <a:off x="9720072" y="3456432"/>
            <a:ext cx="0" cy="484632"/>
          </a:xfrm>
          <a:prstGeom prst="line">
            <a:avLst/>
          </a:prstGeom>
          <a:noFill/>
          <a:ln w="31750">
            <a:solidFill>
              <a:srgbClr val="3F7394"/>
            </a:solidFill>
            <a:prstDash val="solid"/>
          </a:ln>
        </p:spPr>
      </p:sp>
      <p:sp>
        <p:nvSpPr>
          <p:cNvPr id="38" name="Shape 36"/>
          <p:cNvSpPr/>
          <p:nvPr/>
        </p:nvSpPr>
        <p:spPr>
          <a:xfrm>
            <a:off x="10405872" y="3941064"/>
            <a:ext cx="0" cy="-484632"/>
          </a:xfrm>
          <a:prstGeom prst="line">
            <a:avLst/>
          </a:prstGeom>
          <a:noFill/>
          <a:ln w="31750">
            <a:solidFill>
              <a:srgbClr val="3F7394"/>
            </a:solidFill>
            <a:prstDash val="solid"/>
          </a:ln>
        </p:spPr>
      </p:sp>
      <p:sp>
        <p:nvSpPr>
          <p:cNvPr id="39" name="Shape 37"/>
          <p:cNvSpPr/>
          <p:nvPr/>
        </p:nvSpPr>
        <p:spPr>
          <a:xfrm>
            <a:off x="10405872" y="3456432"/>
            <a:ext cx="292608" cy="0"/>
          </a:xfrm>
          <a:prstGeom prst="line">
            <a:avLst/>
          </a:prstGeom>
          <a:noFill/>
          <a:ln w="31750">
            <a:solidFill>
              <a:srgbClr val="3F7394"/>
            </a:solidFill>
            <a:prstDash val="solid"/>
          </a:ln>
        </p:spPr>
      </p:sp>
      <p:sp>
        <p:nvSpPr>
          <p:cNvPr id="40" name="Shape 38"/>
          <p:cNvSpPr/>
          <p:nvPr/>
        </p:nvSpPr>
        <p:spPr>
          <a:xfrm>
            <a:off x="10698480" y="3456432"/>
            <a:ext cx="0" cy="484632"/>
          </a:xfrm>
          <a:prstGeom prst="line">
            <a:avLst/>
          </a:prstGeom>
          <a:noFill/>
          <a:ln w="31750">
            <a:solidFill>
              <a:srgbClr val="3F7394"/>
            </a:solidFill>
            <a:prstDash val="solid"/>
          </a:ln>
        </p:spPr>
      </p:sp>
      <p:sp>
        <p:nvSpPr>
          <p:cNvPr id="41" name="Shape 39"/>
          <p:cNvSpPr/>
          <p:nvPr/>
        </p:nvSpPr>
        <p:spPr>
          <a:xfrm>
            <a:off x="9829800" y="3941064"/>
            <a:ext cx="0" cy="-182880"/>
          </a:xfrm>
          <a:prstGeom prst="line">
            <a:avLst/>
          </a:prstGeom>
          <a:noFill/>
          <a:ln w="20320">
            <a:solidFill>
              <a:srgbClr val="C65E4E"/>
            </a:solidFill>
            <a:prstDash val="solid"/>
          </a:ln>
        </p:spPr>
      </p:sp>
      <p:sp>
        <p:nvSpPr>
          <p:cNvPr id="42" name="Shape 40"/>
          <p:cNvSpPr/>
          <p:nvPr/>
        </p:nvSpPr>
        <p:spPr>
          <a:xfrm>
            <a:off x="9829800" y="3758184"/>
            <a:ext cx="91440" cy="0"/>
          </a:xfrm>
          <a:prstGeom prst="line">
            <a:avLst/>
          </a:prstGeom>
          <a:noFill/>
          <a:ln w="20320">
            <a:solidFill>
              <a:srgbClr val="C65E4E"/>
            </a:solidFill>
            <a:prstDash val="solid"/>
          </a:ln>
        </p:spPr>
      </p:sp>
      <p:sp>
        <p:nvSpPr>
          <p:cNvPr id="43" name="Shape 41"/>
          <p:cNvSpPr/>
          <p:nvPr/>
        </p:nvSpPr>
        <p:spPr>
          <a:xfrm>
            <a:off x="9921240" y="3758184"/>
            <a:ext cx="0" cy="182880"/>
          </a:xfrm>
          <a:prstGeom prst="line">
            <a:avLst/>
          </a:prstGeom>
          <a:noFill/>
          <a:ln w="20320">
            <a:solidFill>
              <a:srgbClr val="C65E4E"/>
            </a:solidFill>
            <a:prstDash val="solid"/>
          </a:ln>
        </p:spPr>
      </p:sp>
      <p:sp>
        <p:nvSpPr>
          <p:cNvPr id="44" name="Text 42"/>
          <p:cNvSpPr/>
          <p:nvPr/>
        </p:nvSpPr>
        <p:spPr>
          <a:xfrm>
            <a:off x="8257032" y="4215384"/>
            <a:ext cx="2834640" cy="274320"/>
          </a:xfrm>
          <a:prstGeom prst="rect">
            <a:avLst/>
          </a:prstGeom>
          <a:noFill/>
          <a:ln/>
        </p:spPr>
        <p:txBody>
          <a:bodyPr wrap="square" lIns="0" tIns="0" rIns="0" bIns="0" rtlCol="0" anchor="ctr">
            <a:normAutofit/>
          </a:bodyPr>
          <a:lstStyle/>
          <a:p>
            <a:pPr algn="l" indent="0" marL="0">
              <a:buNone/>
            </a:pPr>
            <a:r>
              <a:rPr lang="en-US" sz="850" b="1" dirty="0">
                <a:solidFill>
                  <a:srgbClr val="607585"/>
                </a:solidFill>
                <a:latin typeface="Aptos" pitchFamily="34" charset="0"/>
                <a:ea typeface="Aptos" pitchFamily="34" charset="-122"/>
                <a:cs typeface="Aptos" pitchFamily="34" charset="-120"/>
              </a:rPr>
              <a:t>QUALIFIED INPUT / ONE-SHOT EVENTS</a:t>
            </a:r>
            <a:endParaRPr lang="en-US" sz="850" dirty="0"/>
          </a:p>
        </p:txBody>
      </p:sp>
      <p:sp>
        <p:nvSpPr>
          <p:cNvPr id="45" name="Shape 43"/>
          <p:cNvSpPr/>
          <p:nvPr/>
        </p:nvSpPr>
        <p:spPr>
          <a:xfrm>
            <a:off x="8257032" y="4946904"/>
            <a:ext cx="2834640" cy="0"/>
          </a:xfrm>
          <a:prstGeom prst="line">
            <a:avLst/>
          </a:prstGeom>
          <a:noFill/>
          <a:ln w="12700">
            <a:solidFill>
              <a:srgbClr val="D5E0E7"/>
            </a:solidFill>
            <a:prstDash val="solid"/>
          </a:ln>
        </p:spPr>
      </p:sp>
      <p:sp>
        <p:nvSpPr>
          <p:cNvPr id="46" name="Shape 44"/>
          <p:cNvSpPr/>
          <p:nvPr/>
        </p:nvSpPr>
        <p:spPr>
          <a:xfrm>
            <a:off x="8577072" y="4946904"/>
            <a:ext cx="0" cy="-438912"/>
          </a:xfrm>
          <a:prstGeom prst="line">
            <a:avLst/>
          </a:prstGeom>
          <a:noFill/>
          <a:ln w="31750">
            <a:solidFill>
              <a:srgbClr val="3F7394"/>
            </a:solidFill>
            <a:prstDash val="solid"/>
          </a:ln>
        </p:spPr>
      </p:sp>
      <p:sp>
        <p:nvSpPr>
          <p:cNvPr id="47" name="Shape 45"/>
          <p:cNvSpPr/>
          <p:nvPr/>
        </p:nvSpPr>
        <p:spPr>
          <a:xfrm>
            <a:off x="8577072" y="4507992"/>
            <a:ext cx="292608" cy="0"/>
          </a:xfrm>
          <a:prstGeom prst="line">
            <a:avLst/>
          </a:prstGeom>
          <a:noFill/>
          <a:ln w="31750">
            <a:solidFill>
              <a:srgbClr val="3F7394"/>
            </a:solidFill>
            <a:prstDash val="solid"/>
          </a:ln>
        </p:spPr>
      </p:sp>
      <p:sp>
        <p:nvSpPr>
          <p:cNvPr id="48" name="Shape 46"/>
          <p:cNvSpPr/>
          <p:nvPr/>
        </p:nvSpPr>
        <p:spPr>
          <a:xfrm>
            <a:off x="8869680" y="4507992"/>
            <a:ext cx="0" cy="438912"/>
          </a:xfrm>
          <a:prstGeom prst="line">
            <a:avLst/>
          </a:prstGeom>
          <a:noFill/>
          <a:ln w="31750">
            <a:solidFill>
              <a:srgbClr val="3F7394"/>
            </a:solidFill>
            <a:prstDash val="solid"/>
          </a:ln>
        </p:spPr>
      </p:sp>
      <p:sp>
        <p:nvSpPr>
          <p:cNvPr id="49" name="Shape 47"/>
          <p:cNvSpPr/>
          <p:nvPr/>
        </p:nvSpPr>
        <p:spPr>
          <a:xfrm>
            <a:off x="9427464" y="4946904"/>
            <a:ext cx="0" cy="-438912"/>
          </a:xfrm>
          <a:prstGeom prst="line">
            <a:avLst/>
          </a:prstGeom>
          <a:noFill/>
          <a:ln w="31750">
            <a:solidFill>
              <a:srgbClr val="3F7394"/>
            </a:solidFill>
            <a:prstDash val="solid"/>
          </a:ln>
        </p:spPr>
      </p:sp>
      <p:sp>
        <p:nvSpPr>
          <p:cNvPr id="50" name="Shape 48"/>
          <p:cNvSpPr/>
          <p:nvPr/>
        </p:nvSpPr>
        <p:spPr>
          <a:xfrm>
            <a:off x="9427464" y="4507992"/>
            <a:ext cx="292608" cy="0"/>
          </a:xfrm>
          <a:prstGeom prst="line">
            <a:avLst/>
          </a:prstGeom>
          <a:noFill/>
          <a:ln w="31750">
            <a:solidFill>
              <a:srgbClr val="3F7394"/>
            </a:solidFill>
            <a:prstDash val="solid"/>
          </a:ln>
        </p:spPr>
      </p:sp>
      <p:sp>
        <p:nvSpPr>
          <p:cNvPr id="51" name="Shape 49"/>
          <p:cNvSpPr/>
          <p:nvPr/>
        </p:nvSpPr>
        <p:spPr>
          <a:xfrm>
            <a:off x="9720072" y="4507992"/>
            <a:ext cx="0" cy="438912"/>
          </a:xfrm>
          <a:prstGeom prst="line">
            <a:avLst/>
          </a:prstGeom>
          <a:noFill/>
          <a:ln w="31750">
            <a:solidFill>
              <a:srgbClr val="3F7394"/>
            </a:solidFill>
            <a:prstDash val="solid"/>
          </a:ln>
        </p:spPr>
      </p:sp>
      <p:sp>
        <p:nvSpPr>
          <p:cNvPr id="52" name="Shape 50"/>
          <p:cNvSpPr/>
          <p:nvPr/>
        </p:nvSpPr>
        <p:spPr>
          <a:xfrm>
            <a:off x="10405872" y="4946904"/>
            <a:ext cx="0" cy="-438912"/>
          </a:xfrm>
          <a:prstGeom prst="line">
            <a:avLst/>
          </a:prstGeom>
          <a:noFill/>
          <a:ln w="31750">
            <a:solidFill>
              <a:srgbClr val="3F7394"/>
            </a:solidFill>
            <a:prstDash val="solid"/>
          </a:ln>
        </p:spPr>
      </p:sp>
      <p:sp>
        <p:nvSpPr>
          <p:cNvPr id="53" name="Shape 51"/>
          <p:cNvSpPr/>
          <p:nvPr/>
        </p:nvSpPr>
        <p:spPr>
          <a:xfrm>
            <a:off x="10405872" y="4507992"/>
            <a:ext cx="292608" cy="0"/>
          </a:xfrm>
          <a:prstGeom prst="line">
            <a:avLst/>
          </a:prstGeom>
          <a:noFill/>
          <a:ln w="31750">
            <a:solidFill>
              <a:srgbClr val="3F7394"/>
            </a:solidFill>
            <a:prstDash val="solid"/>
          </a:ln>
        </p:spPr>
      </p:sp>
      <p:sp>
        <p:nvSpPr>
          <p:cNvPr id="54" name="Shape 52"/>
          <p:cNvSpPr/>
          <p:nvPr/>
        </p:nvSpPr>
        <p:spPr>
          <a:xfrm>
            <a:off x="10698480" y="4507992"/>
            <a:ext cx="0" cy="438912"/>
          </a:xfrm>
          <a:prstGeom prst="line">
            <a:avLst/>
          </a:prstGeom>
          <a:noFill/>
          <a:ln w="31750">
            <a:solidFill>
              <a:srgbClr val="3F7394"/>
            </a:solidFill>
            <a:prstDash val="solid"/>
          </a:ln>
        </p:spPr>
      </p:sp>
      <p:sp>
        <p:nvSpPr>
          <p:cNvPr id="55" name="Text 53"/>
          <p:cNvSpPr/>
          <p:nvPr/>
        </p:nvSpPr>
        <p:spPr>
          <a:xfrm>
            <a:off x="8302752" y="5385816"/>
            <a:ext cx="2743200" cy="457200"/>
          </a:xfrm>
          <a:prstGeom prst="rect">
            <a:avLst/>
          </a:prstGeom>
          <a:noFill/>
          <a:ln/>
        </p:spPr>
        <p:txBody>
          <a:bodyPr wrap="square" lIns="0" tIns="0" rIns="0" bIns="0" rtlCol="0" anchor="ctr">
            <a:normAutofit/>
          </a:bodyPr>
          <a:lstStyle/>
          <a:p>
            <a:pPr algn="ctr" indent="0" marL="0">
              <a:buNone/>
            </a:pPr>
            <a:r>
              <a:rPr lang="en-US" sz="1050" b="1" dirty="0">
                <a:solidFill>
                  <a:srgbClr val="3F7394"/>
                </a:solidFill>
                <a:latin typeface="Aptos" pitchFamily="34" charset="0"/>
                <a:ea typeface="Aptos" pitchFamily="34" charset="-122"/>
                <a:cs typeface="Aptos" pitchFamily="34" charset="-120"/>
              </a:rPr>
              <a:t>Reject the short chatter; preserve all valid pill events</a:t>
            </a:r>
            <a:endParaRPr lang="en-US" sz="1050" dirty="0"/>
          </a:p>
        </p:txBody>
      </p:sp>
      <p:sp>
        <p:nvSpPr>
          <p:cNvPr id="56" name="Shape 54"/>
          <p:cNvSpPr/>
          <p:nvPr/>
        </p:nvSpPr>
        <p:spPr>
          <a:xfrm>
            <a:off x="603504" y="6318504"/>
            <a:ext cx="10972800" cy="0"/>
          </a:xfrm>
          <a:prstGeom prst="line">
            <a:avLst/>
          </a:prstGeom>
          <a:noFill/>
          <a:ln w="10160">
            <a:solidFill>
              <a:srgbClr val="D5E0E7"/>
            </a:solidFill>
            <a:prstDash val="solid"/>
          </a:ln>
        </p:spPr>
      </p:sp>
      <p:sp>
        <p:nvSpPr>
          <p:cNvPr id="57" name="Text 55"/>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PLC SPECIFICATIONS AND I/O MODULES</a:t>
            </a:r>
            <a:endParaRPr lang="en-US" sz="800" dirty="0"/>
          </a:p>
        </p:txBody>
      </p:sp>
      <p:sp>
        <p:nvSpPr>
          <p:cNvPr id="58" name="Text 56"/>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05 / 18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3F7394"/>
          </a:solidFill>
          <a:ln w="12700">
            <a:solidFill>
              <a:srgbClr val="3F7394">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3F7394"/>
                </a:solidFill>
                <a:latin typeface="Aptos" pitchFamily="34" charset="0"/>
                <a:ea typeface="Aptos" pitchFamily="34" charset="-122"/>
                <a:cs typeface="Aptos" pitchFamily="34" charset="-120"/>
              </a:rPr>
              <a:t>UNIT 5009    /    WEEK 03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12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3F7394"/>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3F7394"/>
                </a:solidFill>
                <a:latin typeface="Aptos" pitchFamily="34" charset="0"/>
                <a:ea typeface="Aptos" pitchFamily="34" charset="-122"/>
                <a:cs typeface="Aptos" pitchFamily="34" charset="-120"/>
              </a:rPr>
              <a:t>P2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Voltage and current compatibility</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3F7394"/>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3F7394"/>
          </a:solidFill>
          <a:ln w="12700">
            <a:solidFill>
              <a:srgbClr val="3F7394">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Read exact fields for CPU/module supply range, digital-input ON/OFF thresholds and input current, output voltage/current, per-point and group limits, isolation, wiring/common arrangement, and temperature derating.</a:t>
            </a:r>
            <a:endParaRPr lang="en-US" sz="13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3F7394"/>
          </a:solidFill>
          <a:ln w="12700">
            <a:solidFill>
              <a:srgbClr val="3F7394">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For a load, record nominal supply, steady current, inrush/pull-in current, load type, switching frequency, suppression requirement, fuse/protection, and power-supply capacity.</a:t>
            </a:r>
            <a:endParaRPr lang="en-US" sz="13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3F7394"/>
          </a:solidFill>
          <a:ln w="12700">
            <a:solidFill>
              <a:srgbClr val="3F7394">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Clearly hypothetical example: a 24 V DC actuator coil draws 0.4 A steady and 1.2 A at pull-in; a hypothetical channel marked 1.0 A would fail the pull-in check even before group limits and inductive-load guidance are considered.</a:t>
            </a:r>
            <a:endParaRPr lang="en-US" sz="13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3F7394"/>
          </a:solidFill>
          <a:ln w="12700">
            <a:solidFill>
              <a:srgbClr val="3F7394">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Debrief: do not approve from steady current alone; use actual load and exact module manuals, including ambient-temperature and wiring conditions.</a:t>
            </a:r>
            <a:endParaRPr lang="en-US" sz="13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3F7394"/>
                </a:solidFill>
                <a:latin typeface="Aptos" pitchFamily="34" charset="0"/>
                <a:ea typeface="Aptos" pitchFamily="34" charset="-122"/>
                <a:cs typeface="Aptos" pitchFamily="34" charset="-120"/>
              </a:rPr>
              <a:t>SIGNAL PATH</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Shape 28"/>
          <p:cNvSpPr/>
          <p:nvPr/>
        </p:nvSpPr>
        <p:spPr>
          <a:xfrm>
            <a:off x="7827264" y="3438144"/>
            <a:ext cx="804672" cy="822960"/>
          </a:xfrm>
          <a:prstGeom prst="rect">
            <a:avLst/>
          </a:prstGeom>
          <a:solidFill>
            <a:srgbClr val="F4F8FA"/>
          </a:solidFill>
          <a:ln w="14605">
            <a:solidFill>
              <a:srgbClr val="3F7394"/>
            </a:solidFill>
            <a:prstDash val="solid"/>
          </a:ln>
        </p:spPr>
      </p:sp>
      <p:sp>
        <p:nvSpPr>
          <p:cNvPr id="31" name="Text 29"/>
          <p:cNvSpPr/>
          <p:nvPr/>
        </p:nvSpPr>
        <p:spPr>
          <a:xfrm>
            <a:off x="7900416" y="3493008"/>
            <a:ext cx="658368" cy="713232"/>
          </a:xfrm>
          <a:prstGeom prst="rect">
            <a:avLst/>
          </a:prstGeom>
          <a:noFill/>
          <a:ln/>
        </p:spPr>
        <p:txBody>
          <a:bodyPr wrap="square" lIns="0" tIns="0" rIns="0" bIns="0" rtlCol="0" anchor="ctr">
            <a:normAutofit/>
          </a:bodyPr>
          <a:lstStyle/>
          <a:p>
            <a:pPr algn="ctr" indent="0" marL="0">
              <a:buNone/>
            </a:pPr>
            <a:r>
              <a:rPr lang="en-US" sz="870" b="1" dirty="0">
                <a:solidFill>
                  <a:srgbClr val="1B3448"/>
                </a:solidFill>
                <a:latin typeface="Aptos" pitchFamily="34" charset="0"/>
                <a:ea typeface="Aptos" pitchFamily="34" charset="-122"/>
                <a:cs typeface="Aptos" pitchFamily="34" charset="-120"/>
              </a:rPr>
              <a:t>SENSOR +</a:t>
            </a:r>
            <a:endParaRPr lang="en-US" sz="870" dirty="0"/>
          </a:p>
          <a:p>
            <a:pPr algn="ctr" indent="0" marL="0">
              <a:buNone/>
            </a:pPr>
            <a:r>
              <a:rPr lang="en-US" sz="870" b="1" dirty="0">
                <a:solidFill>
                  <a:srgbClr val="1B3448"/>
                </a:solidFill>
                <a:latin typeface="Aptos" pitchFamily="34" charset="0"/>
                <a:ea typeface="Aptos" pitchFamily="34" charset="-122"/>
                <a:cs typeface="Aptos" pitchFamily="34" charset="-120"/>
              </a:rPr>
              <a:t>BUTTONS</a:t>
            </a:r>
            <a:endParaRPr lang="en-US" sz="870" dirty="0"/>
          </a:p>
        </p:txBody>
      </p:sp>
      <p:sp>
        <p:nvSpPr>
          <p:cNvPr id="32" name="Shape 30"/>
          <p:cNvSpPr/>
          <p:nvPr/>
        </p:nvSpPr>
        <p:spPr>
          <a:xfrm>
            <a:off x="8833104" y="3438144"/>
            <a:ext cx="685800" cy="822960"/>
          </a:xfrm>
          <a:prstGeom prst="rect">
            <a:avLst/>
          </a:prstGeom>
          <a:solidFill>
            <a:srgbClr val="F4F8FA"/>
          </a:solidFill>
          <a:ln w="14605">
            <a:solidFill>
              <a:srgbClr val="3F7394"/>
            </a:solidFill>
            <a:prstDash val="solid"/>
          </a:ln>
        </p:spPr>
      </p:sp>
      <p:sp>
        <p:nvSpPr>
          <p:cNvPr id="33" name="Text 31"/>
          <p:cNvSpPr/>
          <p:nvPr/>
        </p:nvSpPr>
        <p:spPr>
          <a:xfrm>
            <a:off x="8906256" y="3493008"/>
            <a:ext cx="539496" cy="713232"/>
          </a:xfrm>
          <a:prstGeom prst="rect">
            <a:avLst/>
          </a:prstGeom>
          <a:noFill/>
          <a:ln/>
        </p:spPr>
        <p:txBody>
          <a:bodyPr wrap="square" lIns="0" tIns="0" rIns="0" bIns="0" rtlCol="0" anchor="ctr">
            <a:normAutofit/>
          </a:bodyPr>
          <a:lstStyle/>
          <a:p>
            <a:pPr algn="ctr" indent="0" marL="0">
              <a:buNone/>
            </a:pPr>
            <a:r>
              <a:rPr lang="en-US" sz="880" b="1" dirty="0">
                <a:solidFill>
                  <a:srgbClr val="1B3448"/>
                </a:solidFill>
                <a:latin typeface="Aptos" pitchFamily="34" charset="0"/>
                <a:ea typeface="Aptos" pitchFamily="34" charset="-122"/>
                <a:cs typeface="Aptos" pitchFamily="34" charset="-120"/>
              </a:rPr>
              <a:t>PLC</a:t>
            </a:r>
            <a:endParaRPr lang="en-US" sz="880" dirty="0"/>
          </a:p>
          <a:p>
            <a:pPr algn="ctr" indent="0" marL="0">
              <a:buNone/>
            </a:pPr>
            <a:r>
              <a:rPr lang="en-US" sz="880" b="1" dirty="0">
                <a:solidFill>
                  <a:srgbClr val="1B3448"/>
                </a:solidFill>
                <a:latin typeface="Aptos" pitchFamily="34" charset="0"/>
                <a:ea typeface="Aptos" pitchFamily="34" charset="-122"/>
                <a:cs typeface="Aptos" pitchFamily="34" charset="-120"/>
              </a:rPr>
              <a:t>INPUTS</a:t>
            </a:r>
            <a:endParaRPr lang="en-US" sz="880" dirty="0"/>
          </a:p>
        </p:txBody>
      </p:sp>
      <p:sp>
        <p:nvSpPr>
          <p:cNvPr id="34" name="Shape 32"/>
          <p:cNvSpPr/>
          <p:nvPr/>
        </p:nvSpPr>
        <p:spPr>
          <a:xfrm>
            <a:off x="9720072" y="3438144"/>
            <a:ext cx="676656" cy="822960"/>
          </a:xfrm>
          <a:prstGeom prst="rect">
            <a:avLst/>
          </a:prstGeom>
          <a:solidFill>
            <a:srgbClr val="EAF3F4"/>
          </a:solidFill>
          <a:ln w="14605">
            <a:solidFill>
              <a:srgbClr val="3F7394"/>
            </a:solidFill>
            <a:prstDash val="solid"/>
          </a:ln>
        </p:spPr>
      </p:sp>
      <p:sp>
        <p:nvSpPr>
          <p:cNvPr id="35" name="Text 33"/>
          <p:cNvSpPr/>
          <p:nvPr/>
        </p:nvSpPr>
        <p:spPr>
          <a:xfrm>
            <a:off x="9793224" y="3493008"/>
            <a:ext cx="530352" cy="713232"/>
          </a:xfrm>
          <a:prstGeom prst="rect">
            <a:avLst/>
          </a:prstGeom>
          <a:noFill/>
          <a:ln/>
        </p:spPr>
        <p:txBody>
          <a:bodyPr wrap="square" lIns="0" tIns="0" rIns="0" bIns="0" rtlCol="0" anchor="ctr">
            <a:normAutofit/>
          </a:bodyPr>
          <a:lstStyle/>
          <a:p>
            <a:pPr algn="ctr" indent="0" marL="0">
              <a:buNone/>
            </a:pPr>
            <a:r>
              <a:rPr lang="en-US" sz="880" b="1" dirty="0">
                <a:solidFill>
                  <a:srgbClr val="1B3448"/>
                </a:solidFill>
                <a:latin typeface="Aptos" pitchFamily="34" charset="0"/>
                <a:ea typeface="Aptos" pitchFamily="34" charset="-122"/>
                <a:cs typeface="Aptos" pitchFamily="34" charset="-120"/>
              </a:rPr>
              <a:t>CPU</a:t>
            </a:r>
            <a:endParaRPr lang="en-US" sz="880" dirty="0"/>
          </a:p>
          <a:p>
            <a:pPr algn="ctr" indent="0" marL="0">
              <a:buNone/>
            </a:pPr>
            <a:r>
              <a:rPr lang="en-US" sz="880" b="1" dirty="0">
                <a:solidFill>
                  <a:srgbClr val="1B3448"/>
                </a:solidFill>
                <a:latin typeface="Aptos" pitchFamily="34" charset="0"/>
                <a:ea typeface="Aptos" pitchFamily="34" charset="-122"/>
                <a:cs typeface="Aptos" pitchFamily="34" charset="-120"/>
              </a:rPr>
              <a:t>LOGIC</a:t>
            </a:r>
            <a:endParaRPr lang="en-US" sz="880" dirty="0"/>
          </a:p>
        </p:txBody>
      </p:sp>
      <p:sp>
        <p:nvSpPr>
          <p:cNvPr id="36" name="Shape 34"/>
          <p:cNvSpPr/>
          <p:nvPr/>
        </p:nvSpPr>
        <p:spPr>
          <a:xfrm>
            <a:off x="10625328" y="3438144"/>
            <a:ext cx="722376" cy="822960"/>
          </a:xfrm>
          <a:prstGeom prst="rect">
            <a:avLst/>
          </a:prstGeom>
          <a:solidFill>
            <a:srgbClr val="F4F8FA"/>
          </a:solidFill>
          <a:ln w="14605">
            <a:solidFill>
              <a:srgbClr val="3F7394"/>
            </a:solidFill>
            <a:prstDash val="solid"/>
          </a:ln>
        </p:spPr>
      </p:sp>
      <p:sp>
        <p:nvSpPr>
          <p:cNvPr id="37" name="Text 35"/>
          <p:cNvSpPr/>
          <p:nvPr/>
        </p:nvSpPr>
        <p:spPr>
          <a:xfrm>
            <a:off x="10698480" y="3493008"/>
            <a:ext cx="576072" cy="713232"/>
          </a:xfrm>
          <a:prstGeom prst="rect">
            <a:avLst/>
          </a:prstGeom>
          <a:noFill/>
          <a:ln/>
        </p:spPr>
        <p:txBody>
          <a:bodyPr wrap="square" lIns="0" tIns="0" rIns="0" bIns="0" rtlCol="0" anchor="ctr">
            <a:normAutofit/>
          </a:bodyPr>
          <a:lstStyle/>
          <a:p>
            <a:pPr algn="ctr" indent="0" marL="0">
              <a:buNone/>
            </a:pPr>
            <a:r>
              <a:rPr lang="en-US" sz="820" b="1" dirty="0">
                <a:solidFill>
                  <a:srgbClr val="1B3448"/>
                </a:solidFill>
                <a:latin typeface="Aptos" pitchFamily="34" charset="0"/>
                <a:ea typeface="Aptos" pitchFamily="34" charset="-122"/>
                <a:cs typeface="Aptos" pitchFamily="34" charset="-120"/>
              </a:rPr>
              <a:t>OUTPUT</a:t>
            </a:r>
            <a:endParaRPr lang="en-US" sz="820" dirty="0"/>
          </a:p>
          <a:p>
            <a:pPr algn="ctr" indent="0" marL="0">
              <a:buNone/>
            </a:pPr>
            <a:r>
              <a:rPr lang="en-US" sz="820" b="1" dirty="0">
                <a:solidFill>
                  <a:srgbClr val="1B3448"/>
                </a:solidFill>
                <a:latin typeface="Aptos" pitchFamily="34" charset="0"/>
                <a:ea typeface="Aptos" pitchFamily="34" charset="-122"/>
                <a:cs typeface="Aptos" pitchFamily="34" charset="-120"/>
              </a:rPr>
              <a:t>INTERFACE</a:t>
            </a:r>
            <a:endParaRPr lang="en-US" sz="820" dirty="0"/>
          </a:p>
        </p:txBody>
      </p:sp>
      <p:sp>
        <p:nvSpPr>
          <p:cNvPr id="38" name="Shape 36"/>
          <p:cNvSpPr/>
          <p:nvPr/>
        </p:nvSpPr>
        <p:spPr>
          <a:xfrm>
            <a:off x="8650224" y="3849624"/>
            <a:ext cx="146304" cy="0"/>
          </a:xfrm>
          <a:prstGeom prst="line">
            <a:avLst/>
          </a:prstGeom>
          <a:noFill/>
          <a:ln w="22860">
            <a:solidFill>
              <a:srgbClr val="3F7394"/>
            </a:solidFill>
            <a:prstDash val="solid"/>
            <a:tailEnd type="triangle"/>
          </a:ln>
        </p:spPr>
      </p:sp>
      <p:sp>
        <p:nvSpPr>
          <p:cNvPr id="39" name="Shape 37"/>
          <p:cNvSpPr/>
          <p:nvPr/>
        </p:nvSpPr>
        <p:spPr>
          <a:xfrm>
            <a:off x="9537192" y="3849624"/>
            <a:ext cx="146304" cy="0"/>
          </a:xfrm>
          <a:prstGeom prst="line">
            <a:avLst/>
          </a:prstGeom>
          <a:noFill/>
          <a:ln w="22860">
            <a:solidFill>
              <a:srgbClr val="3F7394"/>
            </a:solidFill>
            <a:prstDash val="solid"/>
            <a:tailEnd type="triangle"/>
          </a:ln>
        </p:spPr>
      </p:sp>
      <p:sp>
        <p:nvSpPr>
          <p:cNvPr id="40" name="Shape 38"/>
          <p:cNvSpPr/>
          <p:nvPr/>
        </p:nvSpPr>
        <p:spPr>
          <a:xfrm>
            <a:off x="10415016" y="3849624"/>
            <a:ext cx="173736" cy="0"/>
          </a:xfrm>
          <a:prstGeom prst="line">
            <a:avLst/>
          </a:prstGeom>
          <a:noFill/>
          <a:ln w="22860">
            <a:solidFill>
              <a:srgbClr val="3F7394"/>
            </a:solidFill>
            <a:prstDash val="solid"/>
            <a:tailEnd type="triangle"/>
          </a:ln>
        </p:spPr>
      </p:sp>
      <p:sp>
        <p:nvSpPr>
          <p:cNvPr id="41" name="Text 39"/>
          <p:cNvSpPr/>
          <p:nvPr/>
        </p:nvSpPr>
        <p:spPr>
          <a:xfrm>
            <a:off x="8101584" y="4599432"/>
            <a:ext cx="2926080" cy="320040"/>
          </a:xfrm>
          <a:prstGeom prst="rect">
            <a:avLst/>
          </a:prstGeom>
          <a:noFill/>
          <a:ln/>
        </p:spPr>
        <p:txBody>
          <a:bodyPr wrap="square" lIns="0" tIns="0" rIns="0" bIns="0" rtlCol="0" anchor="ctr">
            <a:normAutofit/>
          </a:bodyPr>
          <a:lstStyle/>
          <a:p>
            <a:pPr algn="ctr" indent="0" marL="0">
              <a:buNone/>
            </a:pPr>
            <a:r>
              <a:rPr lang="en-US" sz="1000" b="1" dirty="0">
                <a:solidFill>
                  <a:srgbClr val="1B3448"/>
                </a:solidFill>
                <a:latin typeface="Aptos" pitchFamily="34" charset="0"/>
                <a:ea typeface="Aptos" pitchFamily="34" charset="-122"/>
                <a:cs typeface="Aptos" pitchFamily="34" charset="-120"/>
              </a:rPr>
              <a:t>ACTUATOR  /  BUZZER</a:t>
            </a:r>
            <a:endParaRPr lang="en-US" sz="1000" dirty="0"/>
          </a:p>
        </p:txBody>
      </p:sp>
      <p:sp>
        <p:nvSpPr>
          <p:cNvPr id="42" name="Text 40"/>
          <p:cNvSpPr/>
          <p:nvPr/>
        </p:nvSpPr>
        <p:spPr>
          <a:xfrm>
            <a:off x="8046720" y="5129784"/>
            <a:ext cx="3154680" cy="566928"/>
          </a:xfrm>
          <a:prstGeom prst="rect">
            <a:avLst/>
          </a:prstGeom>
          <a:noFill/>
          <a:ln/>
        </p:spPr>
        <p:txBody>
          <a:bodyPr wrap="square" lIns="0" tIns="0" rIns="0" bIns="0" rtlCol="0" anchor="ctr">
            <a:normAutofit/>
          </a:bodyPr>
          <a:lstStyle/>
          <a:p>
            <a:pPr algn="ctr" indent="0" marL="0">
              <a:buNone/>
            </a:pPr>
            <a:r>
              <a:rPr lang="en-US" sz="1050" dirty="0">
                <a:solidFill>
                  <a:srgbClr val="607585"/>
                </a:solidFill>
                <a:latin typeface="Aptos" pitchFamily="34" charset="0"/>
                <a:ea typeface="Aptos" pitchFamily="34" charset="-122"/>
                <a:cs typeface="Aptos" pitchFamily="34" charset="-120"/>
              </a:rPr>
              <a:t>Verify voltage, polarity, load current and channel limits</a:t>
            </a:r>
            <a:endParaRPr lang="en-US" sz="1050" dirty="0"/>
          </a:p>
        </p:txBody>
      </p:sp>
      <p:sp>
        <p:nvSpPr>
          <p:cNvPr id="43" name="Shape 41"/>
          <p:cNvSpPr/>
          <p:nvPr/>
        </p:nvSpPr>
        <p:spPr>
          <a:xfrm>
            <a:off x="603504" y="6318504"/>
            <a:ext cx="10972800" cy="0"/>
          </a:xfrm>
          <a:prstGeom prst="line">
            <a:avLst/>
          </a:prstGeom>
          <a:noFill/>
          <a:ln w="10160">
            <a:solidFill>
              <a:srgbClr val="D5E0E7"/>
            </a:solidFill>
            <a:prstDash val="solid"/>
          </a:ln>
        </p:spPr>
      </p:sp>
      <p:sp>
        <p:nvSpPr>
          <p:cNvPr id="44" name="Text 42"/>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PLC SPECIFICATIONS AND I/O MODULES</a:t>
            </a:r>
            <a:endParaRPr lang="en-US" sz="800" dirty="0"/>
          </a:p>
        </p:txBody>
      </p:sp>
      <p:sp>
        <p:nvSpPr>
          <p:cNvPr id="45" name="Text 43"/>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06 / 18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3F7394"/>
          </a:solidFill>
          <a:ln w="12700">
            <a:solidFill>
              <a:srgbClr val="3F7394">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3F7394"/>
                </a:solidFill>
                <a:latin typeface="Aptos" pitchFamily="34" charset="0"/>
                <a:ea typeface="Aptos" pitchFamily="34" charset="-122"/>
                <a:cs typeface="Aptos" pitchFamily="34" charset="-120"/>
              </a:rPr>
              <a:t>UNIT 5009    /    WEEK 03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13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3F7394"/>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3F7394"/>
                </a:solidFill>
                <a:latin typeface="Aptos" pitchFamily="34" charset="0"/>
                <a:ea typeface="Aptos" pitchFamily="34" charset="-122"/>
                <a:cs typeface="Aptos" pitchFamily="34" charset="-120"/>
              </a:rPr>
              <a:t>P2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2800" b="1" dirty="0">
                <a:solidFill>
                  <a:srgbClr val="1B3448"/>
                </a:solidFill>
                <a:latin typeface="Aptos Display" pitchFamily="34" charset="0"/>
                <a:ea typeface="Aptos Display" pitchFamily="34" charset="-122"/>
                <a:cs typeface="Aptos Display" pitchFamily="34" charset="-120"/>
              </a:rPr>
              <a:t>Memory, retention, environment, and lifecycle</a:t>
            </a:r>
            <a:endParaRPr lang="en-US" sz="28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3F7394"/>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3F7394"/>
          </a:solidFill>
          <a:ln w="12700">
            <a:solidFill>
              <a:srgbClr val="3F7394">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Program memory stores control instructions; work/data memory supports runtime values; retentive memory preserves selected values through defined power conditions; removable storage and event logs are separate capabilities.</a:t>
            </a:r>
            <a:endParaRPr lang="en-US" sz="13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3F7394"/>
          </a:solidFill>
          <a:ln w="12700">
            <a:solidFill>
              <a:srgbClr val="3F7394">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MedPack question: should a partial pill count survive power loss, be discarded, or require reconciliation? The quality/process owner must define the policy before configuring retention.</a:t>
            </a:r>
            <a:endParaRPr lang="en-US" sz="13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3F7394"/>
          </a:solidFill>
          <a:ln w="12700">
            <a:solidFill>
              <a:srgbClr val="3F7394">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Check documented ambient range, vibration/shock, EMC, enclosure requirements, firmware support/lifecycle, backup/restore method, and replacement availability for the exact equipment.</a:t>
            </a:r>
            <a:endParaRPr lang="en-US" sz="13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3F7394"/>
          </a:solidFill>
          <a:ln w="12700">
            <a:solidFill>
              <a:srgbClr val="3F7394">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Misconception: “retentive” does not guarantee every value survives every power-loss duration or battery condition; verify retention rules and test recovery.</a:t>
            </a:r>
            <a:endParaRPr lang="en-US" sz="13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3F7394"/>
                </a:solidFill>
                <a:latin typeface="Aptos" pitchFamily="34" charset="0"/>
                <a:ea typeface="Aptos" pitchFamily="34" charset="-122"/>
                <a:cs typeface="Aptos" pitchFamily="34" charset="-120"/>
              </a:rPr>
              <a:t>COMPARISON FRAMEWORK</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Shape 28"/>
          <p:cNvSpPr/>
          <p:nvPr/>
        </p:nvSpPr>
        <p:spPr>
          <a:xfrm>
            <a:off x="7918704" y="2615184"/>
            <a:ext cx="1188720" cy="475488"/>
          </a:xfrm>
          <a:prstGeom prst="rect">
            <a:avLst/>
          </a:prstGeom>
          <a:solidFill>
            <a:srgbClr val="3F7394"/>
          </a:solidFill>
          <a:ln w="10160">
            <a:solidFill>
              <a:srgbClr val="3F7394"/>
            </a:solidFill>
            <a:prstDash val="solid"/>
          </a:ln>
        </p:spPr>
      </p:sp>
      <p:sp>
        <p:nvSpPr>
          <p:cNvPr id="31" name="Text 29"/>
          <p:cNvSpPr/>
          <p:nvPr/>
        </p:nvSpPr>
        <p:spPr>
          <a:xfrm>
            <a:off x="7955280" y="2651760"/>
            <a:ext cx="1115568" cy="393192"/>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INTERFACE</a:t>
            </a:r>
            <a:endParaRPr lang="en-US" sz="850" dirty="0"/>
          </a:p>
        </p:txBody>
      </p:sp>
      <p:sp>
        <p:nvSpPr>
          <p:cNvPr id="32" name="Shape 30"/>
          <p:cNvSpPr/>
          <p:nvPr/>
        </p:nvSpPr>
        <p:spPr>
          <a:xfrm>
            <a:off x="9107424" y="2615184"/>
            <a:ext cx="987552" cy="475488"/>
          </a:xfrm>
          <a:prstGeom prst="rect">
            <a:avLst/>
          </a:prstGeom>
          <a:solidFill>
            <a:srgbClr val="EAF0F3"/>
          </a:solidFill>
          <a:ln w="10160">
            <a:solidFill>
              <a:srgbClr val="3F7394"/>
            </a:solidFill>
            <a:prstDash val="solid"/>
          </a:ln>
        </p:spPr>
      </p:sp>
      <p:sp>
        <p:nvSpPr>
          <p:cNvPr id="33" name="Text 31"/>
          <p:cNvSpPr/>
          <p:nvPr/>
        </p:nvSpPr>
        <p:spPr>
          <a:xfrm>
            <a:off x="9144000" y="2651760"/>
            <a:ext cx="914400" cy="393192"/>
          </a:xfrm>
          <a:prstGeom prst="rect">
            <a:avLst/>
          </a:prstGeom>
          <a:noFill/>
          <a:ln/>
        </p:spPr>
        <p:txBody>
          <a:bodyPr wrap="square" lIns="0" tIns="0" rIns="0" bIns="0" rtlCol="0" anchor="ctr">
            <a:normAutofit/>
          </a:bodyPr>
          <a:lstStyle/>
          <a:p>
            <a:pPr algn="ctr" indent="0" marL="0">
              <a:buNone/>
            </a:pPr>
            <a:r>
              <a:rPr lang="en-US" sz="850" b="1" dirty="0">
                <a:solidFill>
                  <a:srgbClr val="1B3448"/>
                </a:solidFill>
                <a:latin typeface="Aptos" pitchFamily="34" charset="0"/>
                <a:ea typeface="Aptos" pitchFamily="34" charset="-122"/>
                <a:cs typeface="Aptos" pitchFamily="34" charset="-120"/>
              </a:rPr>
              <a:t>BEST FIT</a:t>
            </a:r>
            <a:endParaRPr lang="en-US" sz="850" dirty="0"/>
          </a:p>
        </p:txBody>
      </p:sp>
      <p:sp>
        <p:nvSpPr>
          <p:cNvPr id="34" name="Shape 32"/>
          <p:cNvSpPr/>
          <p:nvPr/>
        </p:nvSpPr>
        <p:spPr>
          <a:xfrm>
            <a:off x="10094976" y="2615184"/>
            <a:ext cx="987552" cy="475488"/>
          </a:xfrm>
          <a:prstGeom prst="rect">
            <a:avLst/>
          </a:prstGeom>
          <a:solidFill>
            <a:srgbClr val="EAF0F3"/>
          </a:solidFill>
          <a:ln w="10160">
            <a:solidFill>
              <a:srgbClr val="3F7394"/>
            </a:solidFill>
            <a:prstDash val="solid"/>
          </a:ln>
        </p:spPr>
      </p:sp>
      <p:sp>
        <p:nvSpPr>
          <p:cNvPr id="35" name="Text 33"/>
          <p:cNvSpPr/>
          <p:nvPr/>
        </p:nvSpPr>
        <p:spPr>
          <a:xfrm>
            <a:off x="10131552" y="2651760"/>
            <a:ext cx="914400" cy="393192"/>
          </a:xfrm>
          <a:prstGeom prst="rect">
            <a:avLst/>
          </a:prstGeom>
          <a:noFill/>
          <a:ln/>
        </p:spPr>
        <p:txBody>
          <a:bodyPr wrap="square" lIns="0" tIns="0" rIns="0" bIns="0" rtlCol="0" anchor="ctr">
            <a:normAutofit/>
          </a:bodyPr>
          <a:lstStyle/>
          <a:p>
            <a:pPr algn="ctr" indent="0" marL="0">
              <a:buNone/>
            </a:pPr>
            <a:r>
              <a:rPr lang="en-US" sz="850" b="1" dirty="0">
                <a:solidFill>
                  <a:srgbClr val="1B3448"/>
                </a:solidFill>
                <a:latin typeface="Aptos" pitchFamily="34" charset="0"/>
                <a:ea typeface="Aptos" pitchFamily="34" charset="-122"/>
                <a:cs typeface="Aptos" pitchFamily="34" charset="-120"/>
              </a:rPr>
              <a:t>CHECK</a:t>
            </a:r>
            <a:endParaRPr lang="en-US" sz="850" dirty="0"/>
          </a:p>
        </p:txBody>
      </p:sp>
      <p:sp>
        <p:nvSpPr>
          <p:cNvPr id="36" name="Shape 34"/>
          <p:cNvSpPr/>
          <p:nvPr/>
        </p:nvSpPr>
        <p:spPr>
          <a:xfrm>
            <a:off x="7918704" y="3090672"/>
            <a:ext cx="1188720" cy="594360"/>
          </a:xfrm>
          <a:prstGeom prst="rect">
            <a:avLst/>
          </a:prstGeom>
          <a:solidFill>
            <a:srgbClr val="FFFFFF"/>
          </a:solidFill>
          <a:ln w="7620">
            <a:solidFill>
              <a:srgbClr val="D5E0E7"/>
            </a:solidFill>
            <a:prstDash val="solid"/>
          </a:ln>
        </p:spPr>
      </p:sp>
      <p:sp>
        <p:nvSpPr>
          <p:cNvPr id="37" name="Text 35"/>
          <p:cNvSpPr/>
          <p:nvPr/>
        </p:nvSpPr>
        <p:spPr>
          <a:xfrm>
            <a:off x="7964424" y="3136392"/>
            <a:ext cx="1097280" cy="502920"/>
          </a:xfrm>
          <a:prstGeom prst="rect">
            <a:avLst/>
          </a:prstGeom>
          <a:noFill/>
          <a:ln/>
        </p:spPr>
        <p:txBody>
          <a:bodyPr wrap="square" lIns="0" tIns="0" rIns="0" bIns="0" rtlCol="0" anchor="ctr">
            <a:normAutofit/>
          </a:bodyPr>
          <a:lstStyle/>
          <a:p>
            <a:pPr algn="ctr" indent="0" marL="0">
              <a:buNone/>
            </a:pPr>
            <a:r>
              <a:rPr lang="en-US" sz="900" b="1" dirty="0">
                <a:solidFill>
                  <a:srgbClr val="1B3448"/>
                </a:solidFill>
                <a:latin typeface="Aptos" pitchFamily="34" charset="0"/>
                <a:ea typeface="Aptos" pitchFamily="34" charset="-122"/>
                <a:cs typeface="Aptos" pitchFamily="34" charset="-120"/>
              </a:rPr>
              <a:t>Relay</a:t>
            </a:r>
            <a:endParaRPr lang="en-US" sz="900" dirty="0"/>
          </a:p>
        </p:txBody>
      </p:sp>
      <p:sp>
        <p:nvSpPr>
          <p:cNvPr id="38" name="Shape 36"/>
          <p:cNvSpPr/>
          <p:nvPr/>
        </p:nvSpPr>
        <p:spPr>
          <a:xfrm>
            <a:off x="9107424" y="3090672"/>
            <a:ext cx="987552" cy="594360"/>
          </a:xfrm>
          <a:prstGeom prst="rect">
            <a:avLst/>
          </a:prstGeom>
          <a:solidFill>
            <a:srgbClr val="FFFFFF"/>
          </a:solidFill>
          <a:ln w="7620">
            <a:solidFill>
              <a:srgbClr val="D5E0E7"/>
            </a:solidFill>
            <a:prstDash val="solid"/>
          </a:ln>
        </p:spPr>
      </p:sp>
      <p:sp>
        <p:nvSpPr>
          <p:cNvPr id="39" name="Text 37"/>
          <p:cNvSpPr/>
          <p:nvPr/>
        </p:nvSpPr>
        <p:spPr>
          <a:xfrm>
            <a:off x="9153144" y="313639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AC / DC*</a:t>
            </a:r>
            <a:endParaRPr lang="en-US" sz="870" dirty="0"/>
          </a:p>
        </p:txBody>
      </p:sp>
      <p:sp>
        <p:nvSpPr>
          <p:cNvPr id="40" name="Shape 38"/>
          <p:cNvSpPr/>
          <p:nvPr/>
        </p:nvSpPr>
        <p:spPr>
          <a:xfrm>
            <a:off x="10094976" y="3090672"/>
            <a:ext cx="987552" cy="594360"/>
          </a:xfrm>
          <a:prstGeom prst="rect">
            <a:avLst/>
          </a:prstGeom>
          <a:solidFill>
            <a:srgbClr val="FFFFFF"/>
          </a:solidFill>
          <a:ln w="7620">
            <a:solidFill>
              <a:srgbClr val="D5E0E7"/>
            </a:solidFill>
            <a:prstDash val="solid"/>
          </a:ln>
        </p:spPr>
      </p:sp>
      <p:sp>
        <p:nvSpPr>
          <p:cNvPr id="41" name="Text 39"/>
          <p:cNvSpPr/>
          <p:nvPr/>
        </p:nvSpPr>
        <p:spPr>
          <a:xfrm>
            <a:off x="10140696" y="313639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Load rating</a:t>
            </a:r>
            <a:endParaRPr lang="en-US" sz="870" dirty="0"/>
          </a:p>
        </p:txBody>
      </p:sp>
      <p:sp>
        <p:nvSpPr>
          <p:cNvPr id="42" name="Shape 40"/>
          <p:cNvSpPr/>
          <p:nvPr/>
        </p:nvSpPr>
        <p:spPr>
          <a:xfrm>
            <a:off x="7918704" y="3685032"/>
            <a:ext cx="1188720" cy="594360"/>
          </a:xfrm>
          <a:prstGeom prst="rect">
            <a:avLst/>
          </a:prstGeom>
          <a:solidFill>
            <a:srgbClr val="F6F8FA"/>
          </a:solidFill>
          <a:ln w="7620">
            <a:solidFill>
              <a:srgbClr val="D5E0E7"/>
            </a:solidFill>
            <a:prstDash val="solid"/>
          </a:ln>
        </p:spPr>
      </p:sp>
      <p:sp>
        <p:nvSpPr>
          <p:cNvPr id="43" name="Text 41"/>
          <p:cNvSpPr/>
          <p:nvPr/>
        </p:nvSpPr>
        <p:spPr>
          <a:xfrm>
            <a:off x="7964424" y="3730752"/>
            <a:ext cx="1097280" cy="502920"/>
          </a:xfrm>
          <a:prstGeom prst="rect">
            <a:avLst/>
          </a:prstGeom>
          <a:noFill/>
          <a:ln/>
        </p:spPr>
        <p:txBody>
          <a:bodyPr wrap="square" lIns="0" tIns="0" rIns="0" bIns="0" rtlCol="0" anchor="ctr">
            <a:normAutofit/>
          </a:bodyPr>
          <a:lstStyle/>
          <a:p>
            <a:pPr algn="ctr" indent="0" marL="0">
              <a:buNone/>
            </a:pPr>
            <a:r>
              <a:rPr lang="en-US" sz="900" b="1" dirty="0">
                <a:solidFill>
                  <a:srgbClr val="1B3448"/>
                </a:solidFill>
                <a:latin typeface="Aptos" pitchFamily="34" charset="0"/>
                <a:ea typeface="Aptos" pitchFamily="34" charset="-122"/>
                <a:cs typeface="Aptos" pitchFamily="34" charset="-120"/>
              </a:rPr>
              <a:t>Triac</a:t>
            </a:r>
            <a:endParaRPr lang="en-US" sz="900" dirty="0"/>
          </a:p>
        </p:txBody>
      </p:sp>
      <p:sp>
        <p:nvSpPr>
          <p:cNvPr id="44" name="Shape 42"/>
          <p:cNvSpPr/>
          <p:nvPr/>
        </p:nvSpPr>
        <p:spPr>
          <a:xfrm>
            <a:off x="9107424" y="3685032"/>
            <a:ext cx="987552" cy="594360"/>
          </a:xfrm>
          <a:prstGeom prst="rect">
            <a:avLst/>
          </a:prstGeom>
          <a:solidFill>
            <a:srgbClr val="F6F8FA"/>
          </a:solidFill>
          <a:ln w="7620">
            <a:solidFill>
              <a:srgbClr val="D5E0E7"/>
            </a:solidFill>
            <a:prstDash val="solid"/>
          </a:ln>
        </p:spPr>
      </p:sp>
      <p:sp>
        <p:nvSpPr>
          <p:cNvPr id="45" name="Text 43"/>
          <p:cNvSpPr/>
          <p:nvPr/>
        </p:nvSpPr>
        <p:spPr>
          <a:xfrm>
            <a:off x="9153144" y="373075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AC switching</a:t>
            </a:r>
            <a:endParaRPr lang="en-US" sz="870" dirty="0"/>
          </a:p>
        </p:txBody>
      </p:sp>
      <p:sp>
        <p:nvSpPr>
          <p:cNvPr id="46" name="Shape 44"/>
          <p:cNvSpPr/>
          <p:nvPr/>
        </p:nvSpPr>
        <p:spPr>
          <a:xfrm>
            <a:off x="10094976" y="3685032"/>
            <a:ext cx="987552" cy="594360"/>
          </a:xfrm>
          <a:prstGeom prst="rect">
            <a:avLst/>
          </a:prstGeom>
          <a:solidFill>
            <a:srgbClr val="F6F8FA"/>
          </a:solidFill>
          <a:ln w="7620">
            <a:solidFill>
              <a:srgbClr val="D5E0E7"/>
            </a:solidFill>
            <a:prstDash val="solid"/>
          </a:ln>
        </p:spPr>
      </p:sp>
      <p:sp>
        <p:nvSpPr>
          <p:cNvPr id="47" name="Text 45"/>
          <p:cNvSpPr/>
          <p:nvPr/>
        </p:nvSpPr>
        <p:spPr>
          <a:xfrm>
            <a:off x="10140696" y="373075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Leakage</a:t>
            </a:r>
            <a:endParaRPr lang="en-US" sz="870" dirty="0"/>
          </a:p>
        </p:txBody>
      </p:sp>
      <p:sp>
        <p:nvSpPr>
          <p:cNvPr id="48" name="Shape 46"/>
          <p:cNvSpPr/>
          <p:nvPr/>
        </p:nvSpPr>
        <p:spPr>
          <a:xfrm>
            <a:off x="7918704" y="4279392"/>
            <a:ext cx="1188720" cy="594360"/>
          </a:xfrm>
          <a:prstGeom prst="rect">
            <a:avLst/>
          </a:prstGeom>
          <a:solidFill>
            <a:srgbClr val="FFFFFF"/>
          </a:solidFill>
          <a:ln w="7620">
            <a:solidFill>
              <a:srgbClr val="D5E0E7"/>
            </a:solidFill>
            <a:prstDash val="solid"/>
          </a:ln>
        </p:spPr>
      </p:sp>
      <p:sp>
        <p:nvSpPr>
          <p:cNvPr id="49" name="Text 47"/>
          <p:cNvSpPr/>
          <p:nvPr/>
        </p:nvSpPr>
        <p:spPr>
          <a:xfrm>
            <a:off x="7964424" y="4325112"/>
            <a:ext cx="1097280" cy="502920"/>
          </a:xfrm>
          <a:prstGeom prst="rect">
            <a:avLst/>
          </a:prstGeom>
          <a:noFill/>
          <a:ln/>
        </p:spPr>
        <p:txBody>
          <a:bodyPr wrap="square" lIns="0" tIns="0" rIns="0" bIns="0" rtlCol="0" anchor="ctr">
            <a:normAutofit/>
          </a:bodyPr>
          <a:lstStyle/>
          <a:p>
            <a:pPr algn="ctr" indent="0" marL="0">
              <a:buNone/>
            </a:pPr>
            <a:r>
              <a:rPr lang="en-US" sz="900" b="1" dirty="0">
                <a:solidFill>
                  <a:srgbClr val="1B3448"/>
                </a:solidFill>
                <a:latin typeface="Aptos" pitchFamily="34" charset="0"/>
                <a:ea typeface="Aptos" pitchFamily="34" charset="-122"/>
                <a:cs typeface="Aptos" pitchFamily="34" charset="-120"/>
              </a:rPr>
              <a:t>Transistor</a:t>
            </a:r>
            <a:endParaRPr lang="en-US" sz="900" dirty="0"/>
          </a:p>
        </p:txBody>
      </p:sp>
      <p:sp>
        <p:nvSpPr>
          <p:cNvPr id="50" name="Shape 48"/>
          <p:cNvSpPr/>
          <p:nvPr/>
        </p:nvSpPr>
        <p:spPr>
          <a:xfrm>
            <a:off x="9107424" y="4279392"/>
            <a:ext cx="987552" cy="594360"/>
          </a:xfrm>
          <a:prstGeom prst="rect">
            <a:avLst/>
          </a:prstGeom>
          <a:solidFill>
            <a:srgbClr val="FFFFFF"/>
          </a:solidFill>
          <a:ln w="7620">
            <a:solidFill>
              <a:srgbClr val="D5E0E7"/>
            </a:solidFill>
            <a:prstDash val="solid"/>
          </a:ln>
        </p:spPr>
      </p:sp>
      <p:sp>
        <p:nvSpPr>
          <p:cNvPr id="51" name="Text 49"/>
          <p:cNvSpPr/>
          <p:nvPr/>
        </p:nvSpPr>
        <p:spPr>
          <a:xfrm>
            <a:off x="9153144" y="432511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DC switching</a:t>
            </a:r>
            <a:endParaRPr lang="en-US" sz="870" dirty="0"/>
          </a:p>
        </p:txBody>
      </p:sp>
      <p:sp>
        <p:nvSpPr>
          <p:cNvPr id="52" name="Shape 50"/>
          <p:cNvSpPr/>
          <p:nvPr/>
        </p:nvSpPr>
        <p:spPr>
          <a:xfrm>
            <a:off x="10094976" y="4279392"/>
            <a:ext cx="987552" cy="594360"/>
          </a:xfrm>
          <a:prstGeom prst="rect">
            <a:avLst/>
          </a:prstGeom>
          <a:solidFill>
            <a:srgbClr val="FFFFFF"/>
          </a:solidFill>
          <a:ln w="7620">
            <a:solidFill>
              <a:srgbClr val="D5E0E7"/>
            </a:solidFill>
            <a:prstDash val="solid"/>
          </a:ln>
        </p:spPr>
      </p:sp>
      <p:sp>
        <p:nvSpPr>
          <p:cNvPr id="53" name="Text 51"/>
          <p:cNvSpPr/>
          <p:nvPr/>
        </p:nvSpPr>
        <p:spPr>
          <a:xfrm>
            <a:off x="10140696" y="432511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Polarity</a:t>
            </a:r>
            <a:endParaRPr lang="en-US" sz="870" dirty="0"/>
          </a:p>
        </p:txBody>
      </p:sp>
      <p:sp>
        <p:nvSpPr>
          <p:cNvPr id="54" name="Shape 52"/>
          <p:cNvSpPr/>
          <p:nvPr/>
        </p:nvSpPr>
        <p:spPr>
          <a:xfrm>
            <a:off x="7918704" y="4873752"/>
            <a:ext cx="1188720" cy="594360"/>
          </a:xfrm>
          <a:prstGeom prst="rect">
            <a:avLst/>
          </a:prstGeom>
          <a:solidFill>
            <a:srgbClr val="F6F8FA"/>
          </a:solidFill>
          <a:ln w="7620">
            <a:solidFill>
              <a:srgbClr val="D5E0E7"/>
            </a:solidFill>
            <a:prstDash val="solid"/>
          </a:ln>
        </p:spPr>
      </p:sp>
      <p:sp>
        <p:nvSpPr>
          <p:cNvPr id="55" name="Text 53"/>
          <p:cNvSpPr/>
          <p:nvPr/>
        </p:nvSpPr>
        <p:spPr>
          <a:xfrm>
            <a:off x="7964424" y="4919472"/>
            <a:ext cx="1097280" cy="502920"/>
          </a:xfrm>
          <a:prstGeom prst="rect">
            <a:avLst/>
          </a:prstGeom>
          <a:noFill/>
          <a:ln/>
        </p:spPr>
        <p:txBody>
          <a:bodyPr wrap="square" lIns="0" tIns="0" rIns="0" bIns="0" rtlCol="0" anchor="ctr">
            <a:normAutofit/>
          </a:bodyPr>
          <a:lstStyle/>
          <a:p>
            <a:pPr algn="ctr" indent="0" marL="0">
              <a:buNone/>
            </a:pPr>
            <a:r>
              <a:rPr lang="en-US" sz="900" b="1" dirty="0">
                <a:solidFill>
                  <a:srgbClr val="1B3448"/>
                </a:solidFill>
                <a:latin typeface="Aptos" pitchFamily="34" charset="0"/>
                <a:ea typeface="Aptos" pitchFamily="34" charset="-122"/>
                <a:cs typeface="Aptos" pitchFamily="34" charset="-120"/>
              </a:rPr>
              <a:t>Analogue</a:t>
            </a:r>
            <a:endParaRPr lang="en-US" sz="900" dirty="0"/>
          </a:p>
        </p:txBody>
      </p:sp>
      <p:sp>
        <p:nvSpPr>
          <p:cNvPr id="56" name="Shape 54"/>
          <p:cNvSpPr/>
          <p:nvPr/>
        </p:nvSpPr>
        <p:spPr>
          <a:xfrm>
            <a:off x="9107424" y="4873752"/>
            <a:ext cx="987552" cy="594360"/>
          </a:xfrm>
          <a:prstGeom prst="rect">
            <a:avLst/>
          </a:prstGeom>
          <a:solidFill>
            <a:srgbClr val="F6F8FA"/>
          </a:solidFill>
          <a:ln w="7620">
            <a:solidFill>
              <a:srgbClr val="D5E0E7"/>
            </a:solidFill>
            <a:prstDash val="solid"/>
          </a:ln>
        </p:spPr>
      </p:sp>
      <p:sp>
        <p:nvSpPr>
          <p:cNvPr id="57" name="Text 55"/>
          <p:cNvSpPr/>
          <p:nvPr/>
        </p:nvSpPr>
        <p:spPr>
          <a:xfrm>
            <a:off x="9153144" y="491947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Measured value</a:t>
            </a:r>
            <a:endParaRPr lang="en-US" sz="870" dirty="0"/>
          </a:p>
        </p:txBody>
      </p:sp>
      <p:sp>
        <p:nvSpPr>
          <p:cNvPr id="58" name="Shape 56"/>
          <p:cNvSpPr/>
          <p:nvPr/>
        </p:nvSpPr>
        <p:spPr>
          <a:xfrm>
            <a:off x="10094976" y="4873752"/>
            <a:ext cx="987552" cy="594360"/>
          </a:xfrm>
          <a:prstGeom prst="rect">
            <a:avLst/>
          </a:prstGeom>
          <a:solidFill>
            <a:srgbClr val="F6F8FA"/>
          </a:solidFill>
          <a:ln w="7620">
            <a:solidFill>
              <a:srgbClr val="D5E0E7"/>
            </a:solidFill>
            <a:prstDash val="solid"/>
          </a:ln>
        </p:spPr>
      </p:sp>
      <p:sp>
        <p:nvSpPr>
          <p:cNvPr id="59" name="Text 57"/>
          <p:cNvSpPr/>
          <p:nvPr/>
        </p:nvSpPr>
        <p:spPr>
          <a:xfrm>
            <a:off x="10140696" y="491947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Range / accuracy</a:t>
            </a:r>
            <a:endParaRPr lang="en-US" sz="870" dirty="0"/>
          </a:p>
        </p:txBody>
      </p:sp>
      <p:sp>
        <p:nvSpPr>
          <p:cNvPr id="60" name="Text 58"/>
          <p:cNvSpPr/>
          <p:nvPr/>
        </p:nvSpPr>
        <p:spPr>
          <a:xfrm>
            <a:off x="7973568" y="5678424"/>
            <a:ext cx="3154680" cy="493776"/>
          </a:xfrm>
          <a:prstGeom prst="rect">
            <a:avLst/>
          </a:prstGeom>
          <a:noFill/>
          <a:ln/>
        </p:spPr>
        <p:txBody>
          <a:bodyPr wrap="square" lIns="0" tIns="0" rIns="0" bIns="0" rtlCol="0" anchor="ctr">
            <a:normAutofit/>
          </a:bodyPr>
          <a:lstStyle/>
          <a:p>
            <a:pPr algn="ctr" indent="0" marL="0">
              <a:buNone/>
            </a:pPr>
            <a:r>
              <a:rPr lang="en-US" sz="920" dirty="0">
                <a:solidFill>
                  <a:srgbClr val="607585"/>
                </a:solidFill>
                <a:latin typeface="Aptos" pitchFamily="34" charset="0"/>
                <a:ea typeface="Aptos" pitchFamily="34" charset="-122"/>
                <a:cs typeface="Aptos" pitchFamily="34" charset="-120"/>
              </a:rPr>
              <a:t>*Only within the exact module ratings</a:t>
            </a:r>
            <a:endParaRPr lang="en-US" sz="920" dirty="0"/>
          </a:p>
        </p:txBody>
      </p:sp>
      <p:sp>
        <p:nvSpPr>
          <p:cNvPr id="61" name="Shape 59"/>
          <p:cNvSpPr/>
          <p:nvPr/>
        </p:nvSpPr>
        <p:spPr>
          <a:xfrm>
            <a:off x="603504" y="6318504"/>
            <a:ext cx="10972800" cy="0"/>
          </a:xfrm>
          <a:prstGeom prst="line">
            <a:avLst/>
          </a:prstGeom>
          <a:noFill/>
          <a:ln w="10160">
            <a:solidFill>
              <a:srgbClr val="D5E0E7"/>
            </a:solidFill>
            <a:prstDash val="solid"/>
          </a:ln>
        </p:spPr>
      </p:sp>
      <p:sp>
        <p:nvSpPr>
          <p:cNvPr id="62" name="Text 60"/>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PLC SPECIFICATIONS AND I/O MODULES</a:t>
            </a:r>
            <a:endParaRPr lang="en-US" sz="800" dirty="0"/>
          </a:p>
        </p:txBody>
      </p:sp>
      <p:sp>
        <p:nvSpPr>
          <p:cNvPr id="63" name="Text 61"/>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07 / 18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3F7394"/>
          </a:solidFill>
          <a:ln w="12700">
            <a:solidFill>
              <a:srgbClr val="3F7394">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3F7394"/>
                </a:solidFill>
                <a:latin typeface="Aptos" pitchFamily="34" charset="0"/>
                <a:ea typeface="Aptos" pitchFamily="34" charset="-122"/>
                <a:cs typeface="Aptos" pitchFamily="34" charset="-120"/>
              </a:rPr>
              <a:t>UNIT 5009    /    WEEK 03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3F7394"/>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3F7394"/>
                </a:solidFill>
                <a:latin typeface="Aptos" pitchFamily="34" charset="0"/>
                <a:ea typeface="Aptos" pitchFamily="34" charset="-122"/>
                <a:cs typeface="Aptos" pitchFamily="34" charset="-120"/>
              </a:rPr>
              <a:t>P2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Relay outputs</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3F7394"/>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3F7394"/>
          </a:solidFill>
          <a:ln w="12700">
            <a:solidFill>
              <a:srgbClr val="3F7394">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A relay output switches a load through mechanical contacts; verify the exact module’s AC/DC ratings, load category, minimum load, contact life, switching frequency, isolation, and per-point/group limits.</a:t>
            </a:r>
            <a:endParaRPr lang="en-US" sz="14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3F7394"/>
          </a:solidFill>
          <a:ln w="12700">
            <a:solidFill>
              <a:srgbClr val="3F7394">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Inductive actuator coils can create high turn-off voltage and inrush; follow the manufacturer’s suppression and wiring guidance and assess how suppression affects release time.</a:t>
            </a:r>
            <a:endParaRPr lang="en-US" sz="14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3F7394"/>
          </a:solidFill>
          <a:ln w="12700">
            <a:solidFill>
              <a:srgbClr val="3F7394">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Case: MedPack’s actuator electrical details are unknown, so a relay output is only a candidate until the load datasheet and module ratings match under actual conditions.</a:t>
            </a:r>
            <a:endParaRPr lang="en-US" sz="14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3F7394"/>
          </a:solidFill>
          <a:ln w="12700">
            <a:solidFill>
              <a:srgbClr val="3F7394">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An interposing relay/contactor may provide an appropriate interface or load capacity, but it adds contacts, wiring, space, and its own ratings to verify.</a:t>
            </a:r>
            <a:endParaRPr lang="en-US" sz="14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3F7394"/>
                </a:solidFill>
                <a:latin typeface="Aptos" pitchFamily="34" charset="0"/>
                <a:ea typeface="Aptos" pitchFamily="34" charset="-122"/>
                <a:cs typeface="Aptos" pitchFamily="34" charset="-120"/>
              </a:rPr>
              <a:t>COMPARISON FRAMEWORK</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Shape 28"/>
          <p:cNvSpPr/>
          <p:nvPr/>
        </p:nvSpPr>
        <p:spPr>
          <a:xfrm>
            <a:off x="7918704" y="2615184"/>
            <a:ext cx="1188720" cy="475488"/>
          </a:xfrm>
          <a:prstGeom prst="rect">
            <a:avLst/>
          </a:prstGeom>
          <a:solidFill>
            <a:srgbClr val="3F7394"/>
          </a:solidFill>
          <a:ln w="10160">
            <a:solidFill>
              <a:srgbClr val="3F7394"/>
            </a:solidFill>
            <a:prstDash val="solid"/>
          </a:ln>
        </p:spPr>
      </p:sp>
      <p:sp>
        <p:nvSpPr>
          <p:cNvPr id="31" name="Text 29"/>
          <p:cNvSpPr/>
          <p:nvPr/>
        </p:nvSpPr>
        <p:spPr>
          <a:xfrm>
            <a:off x="7955280" y="2651760"/>
            <a:ext cx="1115568" cy="393192"/>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INTERFACE</a:t>
            </a:r>
            <a:endParaRPr lang="en-US" sz="850" dirty="0"/>
          </a:p>
        </p:txBody>
      </p:sp>
      <p:sp>
        <p:nvSpPr>
          <p:cNvPr id="32" name="Shape 30"/>
          <p:cNvSpPr/>
          <p:nvPr/>
        </p:nvSpPr>
        <p:spPr>
          <a:xfrm>
            <a:off x="9107424" y="2615184"/>
            <a:ext cx="987552" cy="475488"/>
          </a:xfrm>
          <a:prstGeom prst="rect">
            <a:avLst/>
          </a:prstGeom>
          <a:solidFill>
            <a:srgbClr val="EAF0F3"/>
          </a:solidFill>
          <a:ln w="10160">
            <a:solidFill>
              <a:srgbClr val="3F7394"/>
            </a:solidFill>
            <a:prstDash val="solid"/>
          </a:ln>
        </p:spPr>
      </p:sp>
      <p:sp>
        <p:nvSpPr>
          <p:cNvPr id="33" name="Text 31"/>
          <p:cNvSpPr/>
          <p:nvPr/>
        </p:nvSpPr>
        <p:spPr>
          <a:xfrm>
            <a:off x="9144000" y="2651760"/>
            <a:ext cx="914400" cy="393192"/>
          </a:xfrm>
          <a:prstGeom prst="rect">
            <a:avLst/>
          </a:prstGeom>
          <a:noFill/>
          <a:ln/>
        </p:spPr>
        <p:txBody>
          <a:bodyPr wrap="square" lIns="0" tIns="0" rIns="0" bIns="0" rtlCol="0" anchor="ctr">
            <a:normAutofit/>
          </a:bodyPr>
          <a:lstStyle/>
          <a:p>
            <a:pPr algn="ctr" indent="0" marL="0">
              <a:buNone/>
            </a:pPr>
            <a:r>
              <a:rPr lang="en-US" sz="850" b="1" dirty="0">
                <a:solidFill>
                  <a:srgbClr val="1B3448"/>
                </a:solidFill>
                <a:latin typeface="Aptos" pitchFamily="34" charset="0"/>
                <a:ea typeface="Aptos" pitchFamily="34" charset="-122"/>
                <a:cs typeface="Aptos" pitchFamily="34" charset="-120"/>
              </a:rPr>
              <a:t>BEST FIT</a:t>
            </a:r>
            <a:endParaRPr lang="en-US" sz="850" dirty="0"/>
          </a:p>
        </p:txBody>
      </p:sp>
      <p:sp>
        <p:nvSpPr>
          <p:cNvPr id="34" name="Shape 32"/>
          <p:cNvSpPr/>
          <p:nvPr/>
        </p:nvSpPr>
        <p:spPr>
          <a:xfrm>
            <a:off x="10094976" y="2615184"/>
            <a:ext cx="987552" cy="475488"/>
          </a:xfrm>
          <a:prstGeom prst="rect">
            <a:avLst/>
          </a:prstGeom>
          <a:solidFill>
            <a:srgbClr val="EAF0F3"/>
          </a:solidFill>
          <a:ln w="10160">
            <a:solidFill>
              <a:srgbClr val="3F7394"/>
            </a:solidFill>
            <a:prstDash val="solid"/>
          </a:ln>
        </p:spPr>
      </p:sp>
      <p:sp>
        <p:nvSpPr>
          <p:cNvPr id="35" name="Text 33"/>
          <p:cNvSpPr/>
          <p:nvPr/>
        </p:nvSpPr>
        <p:spPr>
          <a:xfrm>
            <a:off x="10131552" y="2651760"/>
            <a:ext cx="914400" cy="393192"/>
          </a:xfrm>
          <a:prstGeom prst="rect">
            <a:avLst/>
          </a:prstGeom>
          <a:noFill/>
          <a:ln/>
        </p:spPr>
        <p:txBody>
          <a:bodyPr wrap="square" lIns="0" tIns="0" rIns="0" bIns="0" rtlCol="0" anchor="ctr">
            <a:normAutofit/>
          </a:bodyPr>
          <a:lstStyle/>
          <a:p>
            <a:pPr algn="ctr" indent="0" marL="0">
              <a:buNone/>
            </a:pPr>
            <a:r>
              <a:rPr lang="en-US" sz="850" b="1" dirty="0">
                <a:solidFill>
                  <a:srgbClr val="1B3448"/>
                </a:solidFill>
                <a:latin typeface="Aptos" pitchFamily="34" charset="0"/>
                <a:ea typeface="Aptos" pitchFamily="34" charset="-122"/>
                <a:cs typeface="Aptos" pitchFamily="34" charset="-120"/>
              </a:rPr>
              <a:t>CHECK</a:t>
            </a:r>
            <a:endParaRPr lang="en-US" sz="850" dirty="0"/>
          </a:p>
        </p:txBody>
      </p:sp>
      <p:sp>
        <p:nvSpPr>
          <p:cNvPr id="36" name="Shape 34"/>
          <p:cNvSpPr/>
          <p:nvPr/>
        </p:nvSpPr>
        <p:spPr>
          <a:xfrm>
            <a:off x="7918704" y="3090672"/>
            <a:ext cx="1188720" cy="594360"/>
          </a:xfrm>
          <a:prstGeom prst="rect">
            <a:avLst/>
          </a:prstGeom>
          <a:solidFill>
            <a:srgbClr val="FFFFFF"/>
          </a:solidFill>
          <a:ln w="7620">
            <a:solidFill>
              <a:srgbClr val="D5E0E7"/>
            </a:solidFill>
            <a:prstDash val="solid"/>
          </a:ln>
        </p:spPr>
      </p:sp>
      <p:sp>
        <p:nvSpPr>
          <p:cNvPr id="37" name="Text 35"/>
          <p:cNvSpPr/>
          <p:nvPr/>
        </p:nvSpPr>
        <p:spPr>
          <a:xfrm>
            <a:off x="7964424" y="3136392"/>
            <a:ext cx="1097280" cy="502920"/>
          </a:xfrm>
          <a:prstGeom prst="rect">
            <a:avLst/>
          </a:prstGeom>
          <a:noFill/>
          <a:ln/>
        </p:spPr>
        <p:txBody>
          <a:bodyPr wrap="square" lIns="0" tIns="0" rIns="0" bIns="0" rtlCol="0" anchor="ctr">
            <a:normAutofit/>
          </a:bodyPr>
          <a:lstStyle/>
          <a:p>
            <a:pPr algn="ctr" indent="0" marL="0">
              <a:buNone/>
            </a:pPr>
            <a:r>
              <a:rPr lang="en-US" sz="900" b="1" dirty="0">
                <a:solidFill>
                  <a:srgbClr val="1B3448"/>
                </a:solidFill>
                <a:latin typeface="Aptos" pitchFamily="34" charset="0"/>
                <a:ea typeface="Aptos" pitchFamily="34" charset="-122"/>
                <a:cs typeface="Aptos" pitchFamily="34" charset="-120"/>
              </a:rPr>
              <a:t>Relay</a:t>
            </a:r>
            <a:endParaRPr lang="en-US" sz="900" dirty="0"/>
          </a:p>
        </p:txBody>
      </p:sp>
      <p:sp>
        <p:nvSpPr>
          <p:cNvPr id="38" name="Shape 36"/>
          <p:cNvSpPr/>
          <p:nvPr/>
        </p:nvSpPr>
        <p:spPr>
          <a:xfrm>
            <a:off x="9107424" y="3090672"/>
            <a:ext cx="987552" cy="594360"/>
          </a:xfrm>
          <a:prstGeom prst="rect">
            <a:avLst/>
          </a:prstGeom>
          <a:solidFill>
            <a:srgbClr val="FFFFFF"/>
          </a:solidFill>
          <a:ln w="7620">
            <a:solidFill>
              <a:srgbClr val="D5E0E7"/>
            </a:solidFill>
            <a:prstDash val="solid"/>
          </a:ln>
        </p:spPr>
      </p:sp>
      <p:sp>
        <p:nvSpPr>
          <p:cNvPr id="39" name="Text 37"/>
          <p:cNvSpPr/>
          <p:nvPr/>
        </p:nvSpPr>
        <p:spPr>
          <a:xfrm>
            <a:off x="9153144" y="313639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AC / DC*</a:t>
            </a:r>
            <a:endParaRPr lang="en-US" sz="870" dirty="0"/>
          </a:p>
        </p:txBody>
      </p:sp>
      <p:sp>
        <p:nvSpPr>
          <p:cNvPr id="40" name="Shape 38"/>
          <p:cNvSpPr/>
          <p:nvPr/>
        </p:nvSpPr>
        <p:spPr>
          <a:xfrm>
            <a:off x="10094976" y="3090672"/>
            <a:ext cx="987552" cy="594360"/>
          </a:xfrm>
          <a:prstGeom prst="rect">
            <a:avLst/>
          </a:prstGeom>
          <a:solidFill>
            <a:srgbClr val="FFFFFF"/>
          </a:solidFill>
          <a:ln w="7620">
            <a:solidFill>
              <a:srgbClr val="D5E0E7"/>
            </a:solidFill>
            <a:prstDash val="solid"/>
          </a:ln>
        </p:spPr>
      </p:sp>
      <p:sp>
        <p:nvSpPr>
          <p:cNvPr id="41" name="Text 39"/>
          <p:cNvSpPr/>
          <p:nvPr/>
        </p:nvSpPr>
        <p:spPr>
          <a:xfrm>
            <a:off x="10140696" y="313639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Load rating</a:t>
            </a:r>
            <a:endParaRPr lang="en-US" sz="870" dirty="0"/>
          </a:p>
        </p:txBody>
      </p:sp>
      <p:sp>
        <p:nvSpPr>
          <p:cNvPr id="42" name="Shape 40"/>
          <p:cNvSpPr/>
          <p:nvPr/>
        </p:nvSpPr>
        <p:spPr>
          <a:xfrm>
            <a:off x="7918704" y="3685032"/>
            <a:ext cx="1188720" cy="594360"/>
          </a:xfrm>
          <a:prstGeom prst="rect">
            <a:avLst/>
          </a:prstGeom>
          <a:solidFill>
            <a:srgbClr val="F6F8FA"/>
          </a:solidFill>
          <a:ln w="7620">
            <a:solidFill>
              <a:srgbClr val="D5E0E7"/>
            </a:solidFill>
            <a:prstDash val="solid"/>
          </a:ln>
        </p:spPr>
      </p:sp>
      <p:sp>
        <p:nvSpPr>
          <p:cNvPr id="43" name="Text 41"/>
          <p:cNvSpPr/>
          <p:nvPr/>
        </p:nvSpPr>
        <p:spPr>
          <a:xfrm>
            <a:off x="7964424" y="3730752"/>
            <a:ext cx="1097280" cy="502920"/>
          </a:xfrm>
          <a:prstGeom prst="rect">
            <a:avLst/>
          </a:prstGeom>
          <a:noFill/>
          <a:ln/>
        </p:spPr>
        <p:txBody>
          <a:bodyPr wrap="square" lIns="0" tIns="0" rIns="0" bIns="0" rtlCol="0" anchor="ctr">
            <a:normAutofit/>
          </a:bodyPr>
          <a:lstStyle/>
          <a:p>
            <a:pPr algn="ctr" indent="0" marL="0">
              <a:buNone/>
            </a:pPr>
            <a:r>
              <a:rPr lang="en-US" sz="900" b="1" dirty="0">
                <a:solidFill>
                  <a:srgbClr val="1B3448"/>
                </a:solidFill>
                <a:latin typeface="Aptos" pitchFamily="34" charset="0"/>
                <a:ea typeface="Aptos" pitchFamily="34" charset="-122"/>
                <a:cs typeface="Aptos" pitchFamily="34" charset="-120"/>
              </a:rPr>
              <a:t>Triac</a:t>
            </a:r>
            <a:endParaRPr lang="en-US" sz="900" dirty="0"/>
          </a:p>
        </p:txBody>
      </p:sp>
      <p:sp>
        <p:nvSpPr>
          <p:cNvPr id="44" name="Shape 42"/>
          <p:cNvSpPr/>
          <p:nvPr/>
        </p:nvSpPr>
        <p:spPr>
          <a:xfrm>
            <a:off x="9107424" y="3685032"/>
            <a:ext cx="987552" cy="594360"/>
          </a:xfrm>
          <a:prstGeom prst="rect">
            <a:avLst/>
          </a:prstGeom>
          <a:solidFill>
            <a:srgbClr val="F6F8FA"/>
          </a:solidFill>
          <a:ln w="7620">
            <a:solidFill>
              <a:srgbClr val="D5E0E7"/>
            </a:solidFill>
            <a:prstDash val="solid"/>
          </a:ln>
        </p:spPr>
      </p:sp>
      <p:sp>
        <p:nvSpPr>
          <p:cNvPr id="45" name="Text 43"/>
          <p:cNvSpPr/>
          <p:nvPr/>
        </p:nvSpPr>
        <p:spPr>
          <a:xfrm>
            <a:off x="9153144" y="373075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AC switching</a:t>
            </a:r>
            <a:endParaRPr lang="en-US" sz="870" dirty="0"/>
          </a:p>
        </p:txBody>
      </p:sp>
      <p:sp>
        <p:nvSpPr>
          <p:cNvPr id="46" name="Shape 44"/>
          <p:cNvSpPr/>
          <p:nvPr/>
        </p:nvSpPr>
        <p:spPr>
          <a:xfrm>
            <a:off x="10094976" y="3685032"/>
            <a:ext cx="987552" cy="594360"/>
          </a:xfrm>
          <a:prstGeom prst="rect">
            <a:avLst/>
          </a:prstGeom>
          <a:solidFill>
            <a:srgbClr val="F6F8FA"/>
          </a:solidFill>
          <a:ln w="7620">
            <a:solidFill>
              <a:srgbClr val="D5E0E7"/>
            </a:solidFill>
            <a:prstDash val="solid"/>
          </a:ln>
        </p:spPr>
      </p:sp>
      <p:sp>
        <p:nvSpPr>
          <p:cNvPr id="47" name="Text 45"/>
          <p:cNvSpPr/>
          <p:nvPr/>
        </p:nvSpPr>
        <p:spPr>
          <a:xfrm>
            <a:off x="10140696" y="373075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Leakage</a:t>
            </a:r>
            <a:endParaRPr lang="en-US" sz="870" dirty="0"/>
          </a:p>
        </p:txBody>
      </p:sp>
      <p:sp>
        <p:nvSpPr>
          <p:cNvPr id="48" name="Shape 46"/>
          <p:cNvSpPr/>
          <p:nvPr/>
        </p:nvSpPr>
        <p:spPr>
          <a:xfrm>
            <a:off x="7918704" y="4279392"/>
            <a:ext cx="1188720" cy="594360"/>
          </a:xfrm>
          <a:prstGeom prst="rect">
            <a:avLst/>
          </a:prstGeom>
          <a:solidFill>
            <a:srgbClr val="FFFFFF"/>
          </a:solidFill>
          <a:ln w="7620">
            <a:solidFill>
              <a:srgbClr val="D5E0E7"/>
            </a:solidFill>
            <a:prstDash val="solid"/>
          </a:ln>
        </p:spPr>
      </p:sp>
      <p:sp>
        <p:nvSpPr>
          <p:cNvPr id="49" name="Text 47"/>
          <p:cNvSpPr/>
          <p:nvPr/>
        </p:nvSpPr>
        <p:spPr>
          <a:xfrm>
            <a:off x="7964424" y="4325112"/>
            <a:ext cx="1097280" cy="502920"/>
          </a:xfrm>
          <a:prstGeom prst="rect">
            <a:avLst/>
          </a:prstGeom>
          <a:noFill/>
          <a:ln/>
        </p:spPr>
        <p:txBody>
          <a:bodyPr wrap="square" lIns="0" tIns="0" rIns="0" bIns="0" rtlCol="0" anchor="ctr">
            <a:normAutofit/>
          </a:bodyPr>
          <a:lstStyle/>
          <a:p>
            <a:pPr algn="ctr" indent="0" marL="0">
              <a:buNone/>
            </a:pPr>
            <a:r>
              <a:rPr lang="en-US" sz="900" b="1" dirty="0">
                <a:solidFill>
                  <a:srgbClr val="1B3448"/>
                </a:solidFill>
                <a:latin typeface="Aptos" pitchFamily="34" charset="0"/>
                <a:ea typeface="Aptos" pitchFamily="34" charset="-122"/>
                <a:cs typeface="Aptos" pitchFamily="34" charset="-120"/>
              </a:rPr>
              <a:t>Transistor</a:t>
            </a:r>
            <a:endParaRPr lang="en-US" sz="900" dirty="0"/>
          </a:p>
        </p:txBody>
      </p:sp>
      <p:sp>
        <p:nvSpPr>
          <p:cNvPr id="50" name="Shape 48"/>
          <p:cNvSpPr/>
          <p:nvPr/>
        </p:nvSpPr>
        <p:spPr>
          <a:xfrm>
            <a:off x="9107424" y="4279392"/>
            <a:ext cx="987552" cy="594360"/>
          </a:xfrm>
          <a:prstGeom prst="rect">
            <a:avLst/>
          </a:prstGeom>
          <a:solidFill>
            <a:srgbClr val="FFFFFF"/>
          </a:solidFill>
          <a:ln w="7620">
            <a:solidFill>
              <a:srgbClr val="D5E0E7"/>
            </a:solidFill>
            <a:prstDash val="solid"/>
          </a:ln>
        </p:spPr>
      </p:sp>
      <p:sp>
        <p:nvSpPr>
          <p:cNvPr id="51" name="Text 49"/>
          <p:cNvSpPr/>
          <p:nvPr/>
        </p:nvSpPr>
        <p:spPr>
          <a:xfrm>
            <a:off x="9153144" y="432511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DC switching</a:t>
            </a:r>
            <a:endParaRPr lang="en-US" sz="870" dirty="0"/>
          </a:p>
        </p:txBody>
      </p:sp>
      <p:sp>
        <p:nvSpPr>
          <p:cNvPr id="52" name="Shape 50"/>
          <p:cNvSpPr/>
          <p:nvPr/>
        </p:nvSpPr>
        <p:spPr>
          <a:xfrm>
            <a:off x="10094976" y="4279392"/>
            <a:ext cx="987552" cy="594360"/>
          </a:xfrm>
          <a:prstGeom prst="rect">
            <a:avLst/>
          </a:prstGeom>
          <a:solidFill>
            <a:srgbClr val="FFFFFF"/>
          </a:solidFill>
          <a:ln w="7620">
            <a:solidFill>
              <a:srgbClr val="D5E0E7"/>
            </a:solidFill>
            <a:prstDash val="solid"/>
          </a:ln>
        </p:spPr>
      </p:sp>
      <p:sp>
        <p:nvSpPr>
          <p:cNvPr id="53" name="Text 51"/>
          <p:cNvSpPr/>
          <p:nvPr/>
        </p:nvSpPr>
        <p:spPr>
          <a:xfrm>
            <a:off x="10140696" y="432511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Polarity</a:t>
            </a:r>
            <a:endParaRPr lang="en-US" sz="870" dirty="0"/>
          </a:p>
        </p:txBody>
      </p:sp>
      <p:sp>
        <p:nvSpPr>
          <p:cNvPr id="54" name="Shape 52"/>
          <p:cNvSpPr/>
          <p:nvPr/>
        </p:nvSpPr>
        <p:spPr>
          <a:xfrm>
            <a:off x="7918704" y="4873752"/>
            <a:ext cx="1188720" cy="594360"/>
          </a:xfrm>
          <a:prstGeom prst="rect">
            <a:avLst/>
          </a:prstGeom>
          <a:solidFill>
            <a:srgbClr val="F6F8FA"/>
          </a:solidFill>
          <a:ln w="7620">
            <a:solidFill>
              <a:srgbClr val="D5E0E7"/>
            </a:solidFill>
            <a:prstDash val="solid"/>
          </a:ln>
        </p:spPr>
      </p:sp>
      <p:sp>
        <p:nvSpPr>
          <p:cNvPr id="55" name="Text 53"/>
          <p:cNvSpPr/>
          <p:nvPr/>
        </p:nvSpPr>
        <p:spPr>
          <a:xfrm>
            <a:off x="7964424" y="4919472"/>
            <a:ext cx="1097280" cy="502920"/>
          </a:xfrm>
          <a:prstGeom prst="rect">
            <a:avLst/>
          </a:prstGeom>
          <a:noFill/>
          <a:ln/>
        </p:spPr>
        <p:txBody>
          <a:bodyPr wrap="square" lIns="0" tIns="0" rIns="0" bIns="0" rtlCol="0" anchor="ctr">
            <a:normAutofit/>
          </a:bodyPr>
          <a:lstStyle/>
          <a:p>
            <a:pPr algn="ctr" indent="0" marL="0">
              <a:buNone/>
            </a:pPr>
            <a:r>
              <a:rPr lang="en-US" sz="900" b="1" dirty="0">
                <a:solidFill>
                  <a:srgbClr val="1B3448"/>
                </a:solidFill>
                <a:latin typeface="Aptos" pitchFamily="34" charset="0"/>
                <a:ea typeface="Aptos" pitchFamily="34" charset="-122"/>
                <a:cs typeface="Aptos" pitchFamily="34" charset="-120"/>
              </a:rPr>
              <a:t>Analogue</a:t>
            </a:r>
            <a:endParaRPr lang="en-US" sz="900" dirty="0"/>
          </a:p>
        </p:txBody>
      </p:sp>
      <p:sp>
        <p:nvSpPr>
          <p:cNvPr id="56" name="Shape 54"/>
          <p:cNvSpPr/>
          <p:nvPr/>
        </p:nvSpPr>
        <p:spPr>
          <a:xfrm>
            <a:off x="9107424" y="4873752"/>
            <a:ext cx="987552" cy="594360"/>
          </a:xfrm>
          <a:prstGeom prst="rect">
            <a:avLst/>
          </a:prstGeom>
          <a:solidFill>
            <a:srgbClr val="F6F8FA"/>
          </a:solidFill>
          <a:ln w="7620">
            <a:solidFill>
              <a:srgbClr val="D5E0E7"/>
            </a:solidFill>
            <a:prstDash val="solid"/>
          </a:ln>
        </p:spPr>
      </p:sp>
      <p:sp>
        <p:nvSpPr>
          <p:cNvPr id="57" name="Text 55"/>
          <p:cNvSpPr/>
          <p:nvPr/>
        </p:nvSpPr>
        <p:spPr>
          <a:xfrm>
            <a:off x="9153144" y="491947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Measured value</a:t>
            </a:r>
            <a:endParaRPr lang="en-US" sz="870" dirty="0"/>
          </a:p>
        </p:txBody>
      </p:sp>
      <p:sp>
        <p:nvSpPr>
          <p:cNvPr id="58" name="Shape 56"/>
          <p:cNvSpPr/>
          <p:nvPr/>
        </p:nvSpPr>
        <p:spPr>
          <a:xfrm>
            <a:off x="10094976" y="4873752"/>
            <a:ext cx="987552" cy="594360"/>
          </a:xfrm>
          <a:prstGeom prst="rect">
            <a:avLst/>
          </a:prstGeom>
          <a:solidFill>
            <a:srgbClr val="F6F8FA"/>
          </a:solidFill>
          <a:ln w="7620">
            <a:solidFill>
              <a:srgbClr val="D5E0E7"/>
            </a:solidFill>
            <a:prstDash val="solid"/>
          </a:ln>
        </p:spPr>
      </p:sp>
      <p:sp>
        <p:nvSpPr>
          <p:cNvPr id="59" name="Text 57"/>
          <p:cNvSpPr/>
          <p:nvPr/>
        </p:nvSpPr>
        <p:spPr>
          <a:xfrm>
            <a:off x="10140696" y="491947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Range / accuracy</a:t>
            </a:r>
            <a:endParaRPr lang="en-US" sz="870" dirty="0"/>
          </a:p>
        </p:txBody>
      </p:sp>
      <p:sp>
        <p:nvSpPr>
          <p:cNvPr id="60" name="Text 58"/>
          <p:cNvSpPr/>
          <p:nvPr/>
        </p:nvSpPr>
        <p:spPr>
          <a:xfrm>
            <a:off x="7973568" y="5678424"/>
            <a:ext cx="3154680" cy="493776"/>
          </a:xfrm>
          <a:prstGeom prst="rect">
            <a:avLst/>
          </a:prstGeom>
          <a:noFill/>
          <a:ln/>
        </p:spPr>
        <p:txBody>
          <a:bodyPr wrap="square" lIns="0" tIns="0" rIns="0" bIns="0" rtlCol="0" anchor="ctr">
            <a:normAutofit/>
          </a:bodyPr>
          <a:lstStyle/>
          <a:p>
            <a:pPr algn="ctr" indent="0" marL="0">
              <a:buNone/>
            </a:pPr>
            <a:r>
              <a:rPr lang="en-US" sz="920" dirty="0">
                <a:solidFill>
                  <a:srgbClr val="607585"/>
                </a:solidFill>
                <a:latin typeface="Aptos" pitchFamily="34" charset="0"/>
                <a:ea typeface="Aptos" pitchFamily="34" charset="-122"/>
                <a:cs typeface="Aptos" pitchFamily="34" charset="-120"/>
              </a:rPr>
              <a:t>*Only within the exact module ratings</a:t>
            </a:r>
            <a:endParaRPr lang="en-US" sz="920" dirty="0"/>
          </a:p>
        </p:txBody>
      </p:sp>
      <p:sp>
        <p:nvSpPr>
          <p:cNvPr id="61" name="Shape 59"/>
          <p:cNvSpPr/>
          <p:nvPr/>
        </p:nvSpPr>
        <p:spPr>
          <a:xfrm>
            <a:off x="603504" y="6318504"/>
            <a:ext cx="10972800" cy="0"/>
          </a:xfrm>
          <a:prstGeom prst="line">
            <a:avLst/>
          </a:prstGeom>
          <a:noFill/>
          <a:ln w="10160">
            <a:solidFill>
              <a:srgbClr val="D5E0E7"/>
            </a:solidFill>
            <a:prstDash val="solid"/>
          </a:ln>
        </p:spPr>
      </p:sp>
      <p:sp>
        <p:nvSpPr>
          <p:cNvPr id="62" name="Text 60"/>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PLC SPECIFICATIONS AND I/O MODULES</a:t>
            </a:r>
            <a:endParaRPr lang="en-US" sz="800" dirty="0"/>
          </a:p>
        </p:txBody>
      </p:sp>
      <p:sp>
        <p:nvSpPr>
          <p:cNvPr id="63" name="Text 61"/>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08 / 18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3F7394"/>
          </a:solidFill>
          <a:ln w="12700">
            <a:solidFill>
              <a:srgbClr val="3F7394">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3F7394"/>
                </a:solidFill>
                <a:latin typeface="Aptos" pitchFamily="34" charset="0"/>
                <a:ea typeface="Aptos" pitchFamily="34" charset="-122"/>
                <a:cs typeface="Aptos" pitchFamily="34" charset="-120"/>
              </a:rPr>
              <a:t>UNIT 5009    /    WEEK 03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15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3F7394"/>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3F7394"/>
                </a:solidFill>
                <a:latin typeface="Aptos" pitchFamily="34" charset="0"/>
                <a:ea typeface="Aptos" pitchFamily="34" charset="-122"/>
                <a:cs typeface="Aptos" pitchFamily="34" charset="-120"/>
              </a:rPr>
              <a:t>P2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Triac and transistor outputs</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3F7394"/>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3F7394"/>
          </a:solidFill>
          <a:ln w="12700">
            <a:solidFill>
              <a:srgbClr val="3F7394">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Triac outputs are semiconductor AC switches; check off-state leakage, minimum load, current/voltage limits, switching behaviour, and load compatibility. They are generally unsuitable for DC loads.</a:t>
            </a:r>
            <a:endParaRPr lang="en-US" sz="14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3F7394"/>
          </a:solidFill>
          <a:ln w="12700">
            <a:solidFill>
              <a:srgbClr val="3F7394">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Transistor outputs switch DC electronically; verify sourcing/sinking polarity, common wiring, leakage, per-channel/group limits, switching frequency, and whether the exact channel supports pulse output.</a:t>
            </a:r>
            <a:endParaRPr lang="en-US" sz="14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3F7394"/>
          </a:solidFill>
          <a:ln w="12700">
            <a:solidFill>
              <a:srgbClr val="3F7394">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MedPack example: a DC buzzer or actuator may suit a transistor interface only if its supply, current, inrush, polarity, and inductive behaviour match; an AC load requires an appropriate AC-rated interface.</a:t>
            </a:r>
            <a:endParaRPr lang="en-US" sz="14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3F7394"/>
          </a:solidFill>
          <a:ln w="12700">
            <a:solidFill>
              <a:srgbClr val="3F7394">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Expected comparison: relay offers mechanical isolation/contact behaviour, triac suits specified AC switching, and transistor supports suitable DC/high-speed service; no type is universally “best.”</a:t>
            </a:r>
            <a:endParaRPr lang="en-US" sz="14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3F7394"/>
                </a:solidFill>
                <a:latin typeface="Aptos" pitchFamily="34" charset="0"/>
                <a:ea typeface="Aptos" pitchFamily="34" charset="-122"/>
                <a:cs typeface="Aptos" pitchFamily="34" charset="-120"/>
              </a:rPr>
              <a:t>SUGGESTED VISUAL</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Shape 28"/>
          <p:cNvSpPr/>
          <p:nvPr/>
        </p:nvSpPr>
        <p:spPr>
          <a:xfrm>
            <a:off x="7882128" y="2432304"/>
            <a:ext cx="3483864" cy="3447288"/>
          </a:xfrm>
          <a:prstGeom prst="rect">
            <a:avLst/>
          </a:prstGeom>
          <a:solidFill>
            <a:srgbClr val="E8EFF3"/>
          </a:solidFill>
          <a:ln w="13970">
            <a:solidFill>
              <a:srgbClr val="AFC1CD"/>
            </a:solidFill>
            <a:prstDash val="solid"/>
          </a:ln>
        </p:spPr>
      </p:sp>
      <p:sp>
        <p:nvSpPr>
          <p:cNvPr id="31" name="Text 29"/>
          <p:cNvSpPr/>
          <p:nvPr/>
        </p:nvSpPr>
        <p:spPr>
          <a:xfrm>
            <a:off x="8138160" y="3666744"/>
            <a:ext cx="2971800" cy="384048"/>
          </a:xfrm>
          <a:prstGeom prst="rect">
            <a:avLst/>
          </a:prstGeom>
          <a:noFill/>
          <a:ln/>
        </p:spPr>
        <p:txBody>
          <a:bodyPr wrap="square" lIns="0" tIns="0" rIns="0" bIns="0" rtlCol="0" anchor="ctr">
            <a:normAutofit/>
          </a:bodyPr>
          <a:lstStyle/>
          <a:p>
            <a:pPr algn="ctr" indent="0" marL="0">
              <a:buNone/>
            </a:pPr>
            <a:r>
              <a:rPr lang="en-US" sz="1800" b="1" dirty="0">
                <a:solidFill>
                  <a:srgbClr val="3F7394"/>
                </a:solidFill>
                <a:latin typeface="Aptos Display" pitchFamily="34" charset="0"/>
                <a:ea typeface="Aptos Display" pitchFamily="34" charset="-122"/>
                <a:cs typeface="Aptos Display" pitchFamily="34" charset="-120"/>
              </a:rPr>
              <a:t>IMAGE SPACE</a:t>
            </a:r>
            <a:endParaRPr lang="en-US" sz="1800" dirty="0"/>
          </a:p>
        </p:txBody>
      </p:sp>
      <p:sp>
        <p:nvSpPr>
          <p:cNvPr id="32" name="Text 30"/>
          <p:cNvSpPr/>
          <p:nvPr/>
        </p:nvSpPr>
        <p:spPr>
          <a:xfrm>
            <a:off x="8229600" y="4123944"/>
            <a:ext cx="2788920" cy="502920"/>
          </a:xfrm>
          <a:prstGeom prst="rect">
            <a:avLst/>
          </a:prstGeom>
          <a:noFill/>
          <a:ln/>
        </p:spPr>
        <p:txBody>
          <a:bodyPr wrap="square" lIns="0" tIns="0" rIns="0" bIns="0" rtlCol="0" anchor="ctr">
            <a:normAutofit/>
          </a:bodyPr>
          <a:lstStyle/>
          <a:p>
            <a:pPr algn="ctr" indent="0" marL="0">
              <a:buNone/>
            </a:pPr>
            <a:r>
              <a:rPr lang="en-US" sz="1050" dirty="0">
                <a:solidFill>
                  <a:srgbClr val="607585"/>
                </a:solidFill>
                <a:latin typeface="Aptos" pitchFamily="34" charset="0"/>
                <a:ea typeface="Aptos" pitchFamily="34" charset="-122"/>
                <a:cs typeface="Aptos" pitchFamily="34" charset="-120"/>
              </a:rPr>
              <a:t>Insert the visual described in the speaker notes</a:t>
            </a:r>
            <a:endParaRPr lang="en-US" sz="1050" dirty="0"/>
          </a:p>
        </p:txBody>
      </p:sp>
      <p:sp>
        <p:nvSpPr>
          <p:cNvPr id="33" name="Shape 31"/>
          <p:cNvSpPr/>
          <p:nvPr/>
        </p:nvSpPr>
        <p:spPr>
          <a:xfrm>
            <a:off x="603504" y="6318504"/>
            <a:ext cx="10972800" cy="0"/>
          </a:xfrm>
          <a:prstGeom prst="line">
            <a:avLst/>
          </a:prstGeom>
          <a:noFill/>
          <a:ln w="10160">
            <a:solidFill>
              <a:srgbClr val="D5E0E7"/>
            </a:solidFill>
            <a:prstDash val="solid"/>
          </a:ln>
        </p:spPr>
      </p:sp>
      <p:sp>
        <p:nvSpPr>
          <p:cNvPr id="34" name="Text 32"/>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PLC SPECIFICATIONS AND I/O MODULES</a:t>
            </a:r>
            <a:endParaRPr lang="en-US" sz="800" dirty="0"/>
          </a:p>
        </p:txBody>
      </p:sp>
      <p:sp>
        <p:nvSpPr>
          <p:cNvPr id="35" name="Text 33"/>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09 / 18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3F7394"/>
          </a:solidFill>
          <a:ln w="12700">
            <a:solidFill>
              <a:srgbClr val="3F7394">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3F7394"/>
                </a:solidFill>
                <a:latin typeface="Aptos" pitchFamily="34" charset="0"/>
                <a:ea typeface="Aptos" pitchFamily="34" charset="-122"/>
                <a:cs typeface="Aptos" pitchFamily="34" charset="-120"/>
              </a:rPr>
              <a:t>UNIT 5009    /    WEEK 03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3F7394"/>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3F7394"/>
                </a:solidFill>
                <a:latin typeface="Aptos" pitchFamily="34" charset="0"/>
                <a:ea typeface="Aptos" pitchFamily="34" charset="-122"/>
                <a:cs typeface="Aptos" pitchFamily="34" charset="-120"/>
              </a:rPr>
              <a:t>P2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Analogue input modules and ADC</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3F7394"/>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3F7394"/>
          </a:solidFill>
          <a:ln w="12700">
            <a:solidFill>
              <a:srgbClr val="3F7394">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An analogue input conditions a voltage/current signal and an ADC converts it to a digital representation; configuration maps the raw range to engineering units and may apply filtering.</a:t>
            </a:r>
            <a:endParaRPr lang="en-US" sz="14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3F7394"/>
          </a:solidFill>
          <a:ln w="12700">
            <a:solidFill>
              <a:srgbClr val="3F7394">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Resolution is the smallest digital step; accuracy is closeness to the true value; repeatability is consistency; total uncertainty also includes sensor, wiring, conversion, and calibration effects.</a:t>
            </a:r>
            <a:endParaRPr lang="en-US" sz="14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3F7394"/>
          </a:solidFill>
          <a:ln w="12700">
            <a:solidFill>
              <a:srgbClr val="3F7394">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Clearly hypothetical scale: a 4-20 mA instrument representing 0-100 units would map 12 mA to 50 units using linear scaling; this is an example, not a specified MedPack instrument.</a:t>
            </a:r>
            <a:endParaRPr lang="en-US" sz="14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3F7394"/>
          </a:solidFill>
          <a:ln w="12700">
            <a:solidFill>
              <a:srgbClr val="3F7394">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Direction check: ADC converts analogue input to digital data; DAC/analogue output converts controller data to an analogue command.</a:t>
            </a:r>
            <a:endParaRPr lang="en-US" sz="14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3F7394"/>
                </a:solidFill>
                <a:latin typeface="Aptos" pitchFamily="34" charset="0"/>
                <a:ea typeface="Aptos" pitchFamily="34" charset="-122"/>
                <a:cs typeface="Aptos" pitchFamily="34" charset="-120"/>
              </a:rPr>
              <a:t>ANALOGUE SCALING</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Shape 28"/>
          <p:cNvSpPr/>
          <p:nvPr/>
        </p:nvSpPr>
        <p:spPr>
          <a:xfrm>
            <a:off x="8229600" y="5038344"/>
            <a:ext cx="2743200" cy="0"/>
          </a:xfrm>
          <a:prstGeom prst="line">
            <a:avLst/>
          </a:prstGeom>
          <a:noFill/>
          <a:ln w="15240">
            <a:solidFill>
              <a:srgbClr val="1B3448"/>
            </a:solidFill>
            <a:prstDash val="solid"/>
            <a:tailEnd type="triangle"/>
          </a:ln>
        </p:spPr>
      </p:sp>
      <p:sp>
        <p:nvSpPr>
          <p:cNvPr id="31" name="Shape 29"/>
          <p:cNvSpPr/>
          <p:nvPr/>
        </p:nvSpPr>
        <p:spPr>
          <a:xfrm>
            <a:off x="8229600" y="5038344"/>
            <a:ext cx="0" cy="-2240280"/>
          </a:xfrm>
          <a:prstGeom prst="line">
            <a:avLst/>
          </a:prstGeom>
          <a:noFill/>
          <a:ln w="15240">
            <a:solidFill>
              <a:srgbClr val="1B3448"/>
            </a:solidFill>
            <a:prstDash val="solid"/>
            <a:tailEnd type="triangle"/>
          </a:ln>
        </p:spPr>
      </p:sp>
      <p:sp>
        <p:nvSpPr>
          <p:cNvPr id="32" name="Shape 30"/>
          <p:cNvSpPr/>
          <p:nvPr/>
        </p:nvSpPr>
        <p:spPr>
          <a:xfrm>
            <a:off x="8394192" y="4809744"/>
            <a:ext cx="2395728" cy="-1691640"/>
          </a:xfrm>
          <a:prstGeom prst="line">
            <a:avLst/>
          </a:prstGeom>
          <a:noFill/>
          <a:ln w="33020">
            <a:solidFill>
              <a:srgbClr val="3F7394"/>
            </a:solidFill>
            <a:prstDash val="solid"/>
          </a:ln>
        </p:spPr>
      </p:sp>
      <p:sp>
        <p:nvSpPr>
          <p:cNvPr id="33" name="Text 31"/>
          <p:cNvSpPr/>
          <p:nvPr/>
        </p:nvSpPr>
        <p:spPr>
          <a:xfrm>
            <a:off x="8119872" y="5129784"/>
            <a:ext cx="914400" cy="274320"/>
          </a:xfrm>
          <a:prstGeom prst="rect">
            <a:avLst/>
          </a:prstGeom>
          <a:noFill/>
          <a:ln/>
        </p:spPr>
        <p:txBody>
          <a:bodyPr wrap="square" lIns="0" tIns="0" rIns="0" bIns="0" rtlCol="0" anchor="ctr">
            <a:normAutofit/>
          </a:bodyPr>
          <a:lstStyle/>
          <a:p>
            <a:pPr algn="ctr" indent="0" marL="0">
              <a:buNone/>
            </a:pPr>
            <a:r>
              <a:rPr lang="en-US" sz="900" dirty="0">
                <a:solidFill>
                  <a:srgbClr val="607585"/>
                </a:solidFill>
                <a:latin typeface="Aptos" pitchFamily="34" charset="0"/>
                <a:ea typeface="Aptos" pitchFamily="34" charset="-122"/>
                <a:cs typeface="Aptos" pitchFamily="34" charset="-120"/>
              </a:rPr>
              <a:t>RAW ADC</a:t>
            </a:r>
            <a:endParaRPr lang="en-US" sz="900" dirty="0"/>
          </a:p>
        </p:txBody>
      </p:sp>
      <p:sp>
        <p:nvSpPr>
          <p:cNvPr id="34" name="Text 32"/>
          <p:cNvSpPr/>
          <p:nvPr/>
        </p:nvSpPr>
        <p:spPr>
          <a:xfrm>
            <a:off x="9646920" y="5129784"/>
            <a:ext cx="1508760" cy="274320"/>
          </a:xfrm>
          <a:prstGeom prst="rect">
            <a:avLst/>
          </a:prstGeom>
          <a:noFill/>
          <a:ln/>
        </p:spPr>
        <p:txBody>
          <a:bodyPr wrap="square" lIns="0" tIns="0" rIns="0" bIns="0" rtlCol="0" anchor="ctr">
            <a:normAutofit/>
          </a:bodyPr>
          <a:lstStyle/>
          <a:p>
            <a:pPr algn="ctr" indent="0" marL="0">
              <a:buNone/>
            </a:pPr>
            <a:r>
              <a:rPr lang="en-US" sz="850" dirty="0">
                <a:solidFill>
                  <a:srgbClr val="607585"/>
                </a:solidFill>
                <a:latin typeface="Aptos" pitchFamily="34" charset="0"/>
                <a:ea typeface="Aptos" pitchFamily="34" charset="-122"/>
                <a:cs typeface="Aptos" pitchFamily="34" charset="-120"/>
              </a:rPr>
              <a:t>ENGINEERING VALUE</a:t>
            </a:r>
            <a:endParaRPr lang="en-US" sz="850" dirty="0"/>
          </a:p>
        </p:txBody>
      </p:sp>
      <p:sp>
        <p:nvSpPr>
          <p:cNvPr id="35" name="Text 33"/>
          <p:cNvSpPr/>
          <p:nvPr/>
        </p:nvSpPr>
        <p:spPr>
          <a:xfrm>
            <a:off x="7982712" y="5586984"/>
            <a:ext cx="3291840" cy="384048"/>
          </a:xfrm>
          <a:prstGeom prst="rect">
            <a:avLst/>
          </a:prstGeom>
          <a:noFill/>
          <a:ln/>
        </p:spPr>
        <p:txBody>
          <a:bodyPr wrap="square" lIns="0" tIns="0" rIns="0" bIns="0" rtlCol="0" anchor="ctr">
            <a:normAutofit/>
          </a:bodyPr>
          <a:lstStyle/>
          <a:p>
            <a:pPr algn="ctr" indent="0" marL="0">
              <a:buNone/>
            </a:pPr>
            <a:r>
              <a:rPr lang="en-US" sz="990" dirty="0">
                <a:solidFill>
                  <a:srgbClr val="1B3448"/>
                </a:solidFill>
                <a:latin typeface="Aptos" pitchFamily="34" charset="0"/>
                <a:ea typeface="Aptos" pitchFamily="34" charset="-122"/>
                <a:cs typeface="Aptos" pitchFamily="34" charset="-120"/>
              </a:rPr>
              <a:t>Scale using configured range; resolution is not accuracy</a:t>
            </a:r>
            <a:endParaRPr lang="en-US" sz="990" dirty="0"/>
          </a:p>
        </p:txBody>
      </p:sp>
      <p:sp>
        <p:nvSpPr>
          <p:cNvPr id="36" name="Shape 34"/>
          <p:cNvSpPr/>
          <p:nvPr/>
        </p:nvSpPr>
        <p:spPr>
          <a:xfrm>
            <a:off x="603504" y="6318504"/>
            <a:ext cx="10972800" cy="0"/>
          </a:xfrm>
          <a:prstGeom prst="line">
            <a:avLst/>
          </a:prstGeom>
          <a:noFill/>
          <a:ln w="10160">
            <a:solidFill>
              <a:srgbClr val="D5E0E7"/>
            </a:solidFill>
            <a:prstDash val="solid"/>
          </a:ln>
        </p:spPr>
      </p:sp>
      <p:sp>
        <p:nvSpPr>
          <p:cNvPr id="37" name="Text 35"/>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PLC SPECIFICATIONS AND I/O MODULES</a:t>
            </a:r>
            <a:endParaRPr lang="en-US" sz="800" dirty="0"/>
          </a:p>
        </p:txBody>
      </p:sp>
      <p:sp>
        <p:nvSpPr>
          <p:cNvPr id="38" name="Text 36"/>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10 / 18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3F7394"/>
          </a:solidFill>
          <a:ln w="12700">
            <a:solidFill>
              <a:srgbClr val="3F7394">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3F7394"/>
                </a:solidFill>
                <a:latin typeface="Aptos" pitchFamily="34" charset="0"/>
                <a:ea typeface="Aptos" pitchFamily="34" charset="-122"/>
                <a:cs typeface="Aptos" pitchFamily="34" charset="-120"/>
              </a:rPr>
              <a:t>UNIT 5009    /    WEEK 03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3F7394"/>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3F7394"/>
                </a:solidFill>
                <a:latin typeface="Aptos" pitchFamily="34" charset="0"/>
                <a:ea typeface="Aptos" pitchFamily="34" charset="-122"/>
                <a:cs typeface="Aptos" pitchFamily="34" charset="-120"/>
              </a:rPr>
              <a:t>P2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Read the electrical ratings table</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3F7394"/>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3F7394"/>
          </a:solidFill>
          <a:ln w="12700">
            <a:solidFill>
              <a:srgbClr val="3F7394">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Locate the exact module table and capture part number, manual revision/date, supply, signal thresholds, per-channel and group limits, load category, isolation, derating, wiring, and terminal/common details.</a:t>
            </a:r>
            <a:endParaRPr lang="en-US" sz="13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3F7394"/>
          </a:solidFill>
          <a:ln w="12700">
            <a:solidFill>
              <a:srgbClr val="3F7394">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Trace one MedPack candidate actuator output from the table to the device datasheet; confirm both steady/inrush conditions and any inductive suppression notes.</a:t>
            </a:r>
            <a:endParaRPr lang="en-US" sz="13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3F7394"/>
          </a:solidFill>
          <a:ln w="12700">
            <a:solidFill>
              <a:srgbClr val="3F7394">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Activity: students cite the exact page/table and explain one limitation in their own words, such as a group-current cap that is lower than the sum of point ratings.</a:t>
            </a:r>
            <a:endParaRPr lang="en-US" sz="13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3F7394"/>
          </a:solidFill>
          <a:ln w="12700">
            <a:solidFill>
              <a:srgbClr val="3F7394">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Debrief: do not transfer a rating from a similar module, product family, or different temperature condition.</a:t>
            </a:r>
            <a:endParaRPr lang="en-US" sz="13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3F7394"/>
                </a:solidFill>
                <a:latin typeface="Aptos" pitchFamily="34" charset="0"/>
                <a:ea typeface="Aptos" pitchFamily="34" charset="-122"/>
                <a:cs typeface="Aptos" pitchFamily="34" charset="-120"/>
              </a:rPr>
              <a:t>COMPARISON FRAMEWORK</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Shape 28"/>
          <p:cNvSpPr/>
          <p:nvPr/>
        </p:nvSpPr>
        <p:spPr>
          <a:xfrm>
            <a:off x="7918704" y="2615184"/>
            <a:ext cx="1188720" cy="475488"/>
          </a:xfrm>
          <a:prstGeom prst="rect">
            <a:avLst/>
          </a:prstGeom>
          <a:solidFill>
            <a:srgbClr val="3F7394"/>
          </a:solidFill>
          <a:ln w="10160">
            <a:solidFill>
              <a:srgbClr val="3F7394"/>
            </a:solidFill>
            <a:prstDash val="solid"/>
          </a:ln>
        </p:spPr>
      </p:sp>
      <p:sp>
        <p:nvSpPr>
          <p:cNvPr id="31" name="Text 29"/>
          <p:cNvSpPr/>
          <p:nvPr/>
        </p:nvSpPr>
        <p:spPr>
          <a:xfrm>
            <a:off x="7955280" y="2651760"/>
            <a:ext cx="1115568" cy="393192"/>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INTERFACE</a:t>
            </a:r>
            <a:endParaRPr lang="en-US" sz="850" dirty="0"/>
          </a:p>
        </p:txBody>
      </p:sp>
      <p:sp>
        <p:nvSpPr>
          <p:cNvPr id="32" name="Shape 30"/>
          <p:cNvSpPr/>
          <p:nvPr/>
        </p:nvSpPr>
        <p:spPr>
          <a:xfrm>
            <a:off x="9107424" y="2615184"/>
            <a:ext cx="987552" cy="475488"/>
          </a:xfrm>
          <a:prstGeom prst="rect">
            <a:avLst/>
          </a:prstGeom>
          <a:solidFill>
            <a:srgbClr val="EAF0F3"/>
          </a:solidFill>
          <a:ln w="10160">
            <a:solidFill>
              <a:srgbClr val="3F7394"/>
            </a:solidFill>
            <a:prstDash val="solid"/>
          </a:ln>
        </p:spPr>
      </p:sp>
      <p:sp>
        <p:nvSpPr>
          <p:cNvPr id="33" name="Text 31"/>
          <p:cNvSpPr/>
          <p:nvPr/>
        </p:nvSpPr>
        <p:spPr>
          <a:xfrm>
            <a:off x="9144000" y="2651760"/>
            <a:ext cx="914400" cy="393192"/>
          </a:xfrm>
          <a:prstGeom prst="rect">
            <a:avLst/>
          </a:prstGeom>
          <a:noFill/>
          <a:ln/>
        </p:spPr>
        <p:txBody>
          <a:bodyPr wrap="square" lIns="0" tIns="0" rIns="0" bIns="0" rtlCol="0" anchor="ctr">
            <a:normAutofit/>
          </a:bodyPr>
          <a:lstStyle/>
          <a:p>
            <a:pPr algn="ctr" indent="0" marL="0">
              <a:buNone/>
            </a:pPr>
            <a:r>
              <a:rPr lang="en-US" sz="850" b="1" dirty="0">
                <a:solidFill>
                  <a:srgbClr val="1B3448"/>
                </a:solidFill>
                <a:latin typeface="Aptos" pitchFamily="34" charset="0"/>
                <a:ea typeface="Aptos" pitchFamily="34" charset="-122"/>
                <a:cs typeface="Aptos" pitchFamily="34" charset="-120"/>
              </a:rPr>
              <a:t>BEST FIT</a:t>
            </a:r>
            <a:endParaRPr lang="en-US" sz="850" dirty="0"/>
          </a:p>
        </p:txBody>
      </p:sp>
      <p:sp>
        <p:nvSpPr>
          <p:cNvPr id="34" name="Shape 32"/>
          <p:cNvSpPr/>
          <p:nvPr/>
        </p:nvSpPr>
        <p:spPr>
          <a:xfrm>
            <a:off x="10094976" y="2615184"/>
            <a:ext cx="987552" cy="475488"/>
          </a:xfrm>
          <a:prstGeom prst="rect">
            <a:avLst/>
          </a:prstGeom>
          <a:solidFill>
            <a:srgbClr val="EAF0F3"/>
          </a:solidFill>
          <a:ln w="10160">
            <a:solidFill>
              <a:srgbClr val="3F7394"/>
            </a:solidFill>
            <a:prstDash val="solid"/>
          </a:ln>
        </p:spPr>
      </p:sp>
      <p:sp>
        <p:nvSpPr>
          <p:cNvPr id="35" name="Text 33"/>
          <p:cNvSpPr/>
          <p:nvPr/>
        </p:nvSpPr>
        <p:spPr>
          <a:xfrm>
            <a:off x="10131552" y="2651760"/>
            <a:ext cx="914400" cy="393192"/>
          </a:xfrm>
          <a:prstGeom prst="rect">
            <a:avLst/>
          </a:prstGeom>
          <a:noFill/>
          <a:ln/>
        </p:spPr>
        <p:txBody>
          <a:bodyPr wrap="square" lIns="0" tIns="0" rIns="0" bIns="0" rtlCol="0" anchor="ctr">
            <a:normAutofit/>
          </a:bodyPr>
          <a:lstStyle/>
          <a:p>
            <a:pPr algn="ctr" indent="0" marL="0">
              <a:buNone/>
            </a:pPr>
            <a:r>
              <a:rPr lang="en-US" sz="850" b="1" dirty="0">
                <a:solidFill>
                  <a:srgbClr val="1B3448"/>
                </a:solidFill>
                <a:latin typeface="Aptos" pitchFamily="34" charset="0"/>
                <a:ea typeface="Aptos" pitchFamily="34" charset="-122"/>
                <a:cs typeface="Aptos" pitchFamily="34" charset="-120"/>
              </a:rPr>
              <a:t>CHECK</a:t>
            </a:r>
            <a:endParaRPr lang="en-US" sz="850" dirty="0"/>
          </a:p>
        </p:txBody>
      </p:sp>
      <p:sp>
        <p:nvSpPr>
          <p:cNvPr id="36" name="Shape 34"/>
          <p:cNvSpPr/>
          <p:nvPr/>
        </p:nvSpPr>
        <p:spPr>
          <a:xfrm>
            <a:off x="7918704" y="3090672"/>
            <a:ext cx="1188720" cy="594360"/>
          </a:xfrm>
          <a:prstGeom prst="rect">
            <a:avLst/>
          </a:prstGeom>
          <a:solidFill>
            <a:srgbClr val="FFFFFF"/>
          </a:solidFill>
          <a:ln w="7620">
            <a:solidFill>
              <a:srgbClr val="D5E0E7"/>
            </a:solidFill>
            <a:prstDash val="solid"/>
          </a:ln>
        </p:spPr>
      </p:sp>
      <p:sp>
        <p:nvSpPr>
          <p:cNvPr id="37" name="Text 35"/>
          <p:cNvSpPr/>
          <p:nvPr/>
        </p:nvSpPr>
        <p:spPr>
          <a:xfrm>
            <a:off x="7964424" y="3136392"/>
            <a:ext cx="1097280" cy="502920"/>
          </a:xfrm>
          <a:prstGeom prst="rect">
            <a:avLst/>
          </a:prstGeom>
          <a:noFill/>
          <a:ln/>
        </p:spPr>
        <p:txBody>
          <a:bodyPr wrap="square" lIns="0" tIns="0" rIns="0" bIns="0" rtlCol="0" anchor="ctr">
            <a:normAutofit/>
          </a:bodyPr>
          <a:lstStyle/>
          <a:p>
            <a:pPr algn="ctr" indent="0" marL="0">
              <a:buNone/>
            </a:pPr>
            <a:r>
              <a:rPr lang="en-US" sz="900" b="1" dirty="0">
                <a:solidFill>
                  <a:srgbClr val="1B3448"/>
                </a:solidFill>
                <a:latin typeface="Aptos" pitchFamily="34" charset="0"/>
                <a:ea typeface="Aptos" pitchFamily="34" charset="-122"/>
                <a:cs typeface="Aptos" pitchFamily="34" charset="-120"/>
              </a:rPr>
              <a:t>Relay</a:t>
            </a:r>
            <a:endParaRPr lang="en-US" sz="900" dirty="0"/>
          </a:p>
        </p:txBody>
      </p:sp>
      <p:sp>
        <p:nvSpPr>
          <p:cNvPr id="38" name="Shape 36"/>
          <p:cNvSpPr/>
          <p:nvPr/>
        </p:nvSpPr>
        <p:spPr>
          <a:xfrm>
            <a:off x="9107424" y="3090672"/>
            <a:ext cx="987552" cy="594360"/>
          </a:xfrm>
          <a:prstGeom prst="rect">
            <a:avLst/>
          </a:prstGeom>
          <a:solidFill>
            <a:srgbClr val="FFFFFF"/>
          </a:solidFill>
          <a:ln w="7620">
            <a:solidFill>
              <a:srgbClr val="D5E0E7"/>
            </a:solidFill>
            <a:prstDash val="solid"/>
          </a:ln>
        </p:spPr>
      </p:sp>
      <p:sp>
        <p:nvSpPr>
          <p:cNvPr id="39" name="Text 37"/>
          <p:cNvSpPr/>
          <p:nvPr/>
        </p:nvSpPr>
        <p:spPr>
          <a:xfrm>
            <a:off x="9153144" y="313639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AC / DC*</a:t>
            </a:r>
            <a:endParaRPr lang="en-US" sz="870" dirty="0"/>
          </a:p>
        </p:txBody>
      </p:sp>
      <p:sp>
        <p:nvSpPr>
          <p:cNvPr id="40" name="Shape 38"/>
          <p:cNvSpPr/>
          <p:nvPr/>
        </p:nvSpPr>
        <p:spPr>
          <a:xfrm>
            <a:off x="10094976" y="3090672"/>
            <a:ext cx="987552" cy="594360"/>
          </a:xfrm>
          <a:prstGeom prst="rect">
            <a:avLst/>
          </a:prstGeom>
          <a:solidFill>
            <a:srgbClr val="FFFFFF"/>
          </a:solidFill>
          <a:ln w="7620">
            <a:solidFill>
              <a:srgbClr val="D5E0E7"/>
            </a:solidFill>
            <a:prstDash val="solid"/>
          </a:ln>
        </p:spPr>
      </p:sp>
      <p:sp>
        <p:nvSpPr>
          <p:cNvPr id="41" name="Text 39"/>
          <p:cNvSpPr/>
          <p:nvPr/>
        </p:nvSpPr>
        <p:spPr>
          <a:xfrm>
            <a:off x="10140696" y="313639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Load rating</a:t>
            </a:r>
            <a:endParaRPr lang="en-US" sz="870" dirty="0"/>
          </a:p>
        </p:txBody>
      </p:sp>
      <p:sp>
        <p:nvSpPr>
          <p:cNvPr id="42" name="Shape 40"/>
          <p:cNvSpPr/>
          <p:nvPr/>
        </p:nvSpPr>
        <p:spPr>
          <a:xfrm>
            <a:off x="7918704" y="3685032"/>
            <a:ext cx="1188720" cy="594360"/>
          </a:xfrm>
          <a:prstGeom prst="rect">
            <a:avLst/>
          </a:prstGeom>
          <a:solidFill>
            <a:srgbClr val="F6F8FA"/>
          </a:solidFill>
          <a:ln w="7620">
            <a:solidFill>
              <a:srgbClr val="D5E0E7"/>
            </a:solidFill>
            <a:prstDash val="solid"/>
          </a:ln>
        </p:spPr>
      </p:sp>
      <p:sp>
        <p:nvSpPr>
          <p:cNvPr id="43" name="Text 41"/>
          <p:cNvSpPr/>
          <p:nvPr/>
        </p:nvSpPr>
        <p:spPr>
          <a:xfrm>
            <a:off x="7964424" y="3730752"/>
            <a:ext cx="1097280" cy="502920"/>
          </a:xfrm>
          <a:prstGeom prst="rect">
            <a:avLst/>
          </a:prstGeom>
          <a:noFill/>
          <a:ln/>
        </p:spPr>
        <p:txBody>
          <a:bodyPr wrap="square" lIns="0" tIns="0" rIns="0" bIns="0" rtlCol="0" anchor="ctr">
            <a:normAutofit/>
          </a:bodyPr>
          <a:lstStyle/>
          <a:p>
            <a:pPr algn="ctr" indent="0" marL="0">
              <a:buNone/>
            </a:pPr>
            <a:r>
              <a:rPr lang="en-US" sz="900" b="1" dirty="0">
                <a:solidFill>
                  <a:srgbClr val="1B3448"/>
                </a:solidFill>
                <a:latin typeface="Aptos" pitchFamily="34" charset="0"/>
                <a:ea typeface="Aptos" pitchFamily="34" charset="-122"/>
                <a:cs typeface="Aptos" pitchFamily="34" charset="-120"/>
              </a:rPr>
              <a:t>Triac</a:t>
            </a:r>
            <a:endParaRPr lang="en-US" sz="900" dirty="0"/>
          </a:p>
        </p:txBody>
      </p:sp>
      <p:sp>
        <p:nvSpPr>
          <p:cNvPr id="44" name="Shape 42"/>
          <p:cNvSpPr/>
          <p:nvPr/>
        </p:nvSpPr>
        <p:spPr>
          <a:xfrm>
            <a:off x="9107424" y="3685032"/>
            <a:ext cx="987552" cy="594360"/>
          </a:xfrm>
          <a:prstGeom prst="rect">
            <a:avLst/>
          </a:prstGeom>
          <a:solidFill>
            <a:srgbClr val="F6F8FA"/>
          </a:solidFill>
          <a:ln w="7620">
            <a:solidFill>
              <a:srgbClr val="D5E0E7"/>
            </a:solidFill>
            <a:prstDash val="solid"/>
          </a:ln>
        </p:spPr>
      </p:sp>
      <p:sp>
        <p:nvSpPr>
          <p:cNvPr id="45" name="Text 43"/>
          <p:cNvSpPr/>
          <p:nvPr/>
        </p:nvSpPr>
        <p:spPr>
          <a:xfrm>
            <a:off x="9153144" y="373075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AC switching</a:t>
            </a:r>
            <a:endParaRPr lang="en-US" sz="870" dirty="0"/>
          </a:p>
        </p:txBody>
      </p:sp>
      <p:sp>
        <p:nvSpPr>
          <p:cNvPr id="46" name="Shape 44"/>
          <p:cNvSpPr/>
          <p:nvPr/>
        </p:nvSpPr>
        <p:spPr>
          <a:xfrm>
            <a:off x="10094976" y="3685032"/>
            <a:ext cx="987552" cy="594360"/>
          </a:xfrm>
          <a:prstGeom prst="rect">
            <a:avLst/>
          </a:prstGeom>
          <a:solidFill>
            <a:srgbClr val="F6F8FA"/>
          </a:solidFill>
          <a:ln w="7620">
            <a:solidFill>
              <a:srgbClr val="D5E0E7"/>
            </a:solidFill>
            <a:prstDash val="solid"/>
          </a:ln>
        </p:spPr>
      </p:sp>
      <p:sp>
        <p:nvSpPr>
          <p:cNvPr id="47" name="Text 45"/>
          <p:cNvSpPr/>
          <p:nvPr/>
        </p:nvSpPr>
        <p:spPr>
          <a:xfrm>
            <a:off x="10140696" y="373075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Leakage</a:t>
            </a:r>
            <a:endParaRPr lang="en-US" sz="870" dirty="0"/>
          </a:p>
        </p:txBody>
      </p:sp>
      <p:sp>
        <p:nvSpPr>
          <p:cNvPr id="48" name="Shape 46"/>
          <p:cNvSpPr/>
          <p:nvPr/>
        </p:nvSpPr>
        <p:spPr>
          <a:xfrm>
            <a:off x="7918704" y="4279392"/>
            <a:ext cx="1188720" cy="594360"/>
          </a:xfrm>
          <a:prstGeom prst="rect">
            <a:avLst/>
          </a:prstGeom>
          <a:solidFill>
            <a:srgbClr val="FFFFFF"/>
          </a:solidFill>
          <a:ln w="7620">
            <a:solidFill>
              <a:srgbClr val="D5E0E7"/>
            </a:solidFill>
            <a:prstDash val="solid"/>
          </a:ln>
        </p:spPr>
      </p:sp>
      <p:sp>
        <p:nvSpPr>
          <p:cNvPr id="49" name="Text 47"/>
          <p:cNvSpPr/>
          <p:nvPr/>
        </p:nvSpPr>
        <p:spPr>
          <a:xfrm>
            <a:off x="7964424" y="4325112"/>
            <a:ext cx="1097280" cy="502920"/>
          </a:xfrm>
          <a:prstGeom prst="rect">
            <a:avLst/>
          </a:prstGeom>
          <a:noFill/>
          <a:ln/>
        </p:spPr>
        <p:txBody>
          <a:bodyPr wrap="square" lIns="0" tIns="0" rIns="0" bIns="0" rtlCol="0" anchor="ctr">
            <a:normAutofit/>
          </a:bodyPr>
          <a:lstStyle/>
          <a:p>
            <a:pPr algn="ctr" indent="0" marL="0">
              <a:buNone/>
            </a:pPr>
            <a:r>
              <a:rPr lang="en-US" sz="900" b="1" dirty="0">
                <a:solidFill>
                  <a:srgbClr val="1B3448"/>
                </a:solidFill>
                <a:latin typeface="Aptos" pitchFamily="34" charset="0"/>
                <a:ea typeface="Aptos" pitchFamily="34" charset="-122"/>
                <a:cs typeface="Aptos" pitchFamily="34" charset="-120"/>
              </a:rPr>
              <a:t>Transistor</a:t>
            </a:r>
            <a:endParaRPr lang="en-US" sz="900" dirty="0"/>
          </a:p>
        </p:txBody>
      </p:sp>
      <p:sp>
        <p:nvSpPr>
          <p:cNvPr id="50" name="Shape 48"/>
          <p:cNvSpPr/>
          <p:nvPr/>
        </p:nvSpPr>
        <p:spPr>
          <a:xfrm>
            <a:off x="9107424" y="4279392"/>
            <a:ext cx="987552" cy="594360"/>
          </a:xfrm>
          <a:prstGeom prst="rect">
            <a:avLst/>
          </a:prstGeom>
          <a:solidFill>
            <a:srgbClr val="FFFFFF"/>
          </a:solidFill>
          <a:ln w="7620">
            <a:solidFill>
              <a:srgbClr val="D5E0E7"/>
            </a:solidFill>
            <a:prstDash val="solid"/>
          </a:ln>
        </p:spPr>
      </p:sp>
      <p:sp>
        <p:nvSpPr>
          <p:cNvPr id="51" name="Text 49"/>
          <p:cNvSpPr/>
          <p:nvPr/>
        </p:nvSpPr>
        <p:spPr>
          <a:xfrm>
            <a:off x="9153144" y="432511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DC switching</a:t>
            </a:r>
            <a:endParaRPr lang="en-US" sz="870" dirty="0"/>
          </a:p>
        </p:txBody>
      </p:sp>
      <p:sp>
        <p:nvSpPr>
          <p:cNvPr id="52" name="Shape 50"/>
          <p:cNvSpPr/>
          <p:nvPr/>
        </p:nvSpPr>
        <p:spPr>
          <a:xfrm>
            <a:off x="10094976" y="4279392"/>
            <a:ext cx="987552" cy="594360"/>
          </a:xfrm>
          <a:prstGeom prst="rect">
            <a:avLst/>
          </a:prstGeom>
          <a:solidFill>
            <a:srgbClr val="FFFFFF"/>
          </a:solidFill>
          <a:ln w="7620">
            <a:solidFill>
              <a:srgbClr val="D5E0E7"/>
            </a:solidFill>
            <a:prstDash val="solid"/>
          </a:ln>
        </p:spPr>
      </p:sp>
      <p:sp>
        <p:nvSpPr>
          <p:cNvPr id="53" name="Text 51"/>
          <p:cNvSpPr/>
          <p:nvPr/>
        </p:nvSpPr>
        <p:spPr>
          <a:xfrm>
            <a:off x="10140696" y="432511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Polarity</a:t>
            </a:r>
            <a:endParaRPr lang="en-US" sz="870" dirty="0"/>
          </a:p>
        </p:txBody>
      </p:sp>
      <p:sp>
        <p:nvSpPr>
          <p:cNvPr id="54" name="Shape 52"/>
          <p:cNvSpPr/>
          <p:nvPr/>
        </p:nvSpPr>
        <p:spPr>
          <a:xfrm>
            <a:off x="7918704" y="4873752"/>
            <a:ext cx="1188720" cy="594360"/>
          </a:xfrm>
          <a:prstGeom prst="rect">
            <a:avLst/>
          </a:prstGeom>
          <a:solidFill>
            <a:srgbClr val="F6F8FA"/>
          </a:solidFill>
          <a:ln w="7620">
            <a:solidFill>
              <a:srgbClr val="D5E0E7"/>
            </a:solidFill>
            <a:prstDash val="solid"/>
          </a:ln>
        </p:spPr>
      </p:sp>
      <p:sp>
        <p:nvSpPr>
          <p:cNvPr id="55" name="Text 53"/>
          <p:cNvSpPr/>
          <p:nvPr/>
        </p:nvSpPr>
        <p:spPr>
          <a:xfrm>
            <a:off x="7964424" y="4919472"/>
            <a:ext cx="1097280" cy="502920"/>
          </a:xfrm>
          <a:prstGeom prst="rect">
            <a:avLst/>
          </a:prstGeom>
          <a:noFill/>
          <a:ln/>
        </p:spPr>
        <p:txBody>
          <a:bodyPr wrap="square" lIns="0" tIns="0" rIns="0" bIns="0" rtlCol="0" anchor="ctr">
            <a:normAutofit/>
          </a:bodyPr>
          <a:lstStyle/>
          <a:p>
            <a:pPr algn="ctr" indent="0" marL="0">
              <a:buNone/>
            </a:pPr>
            <a:r>
              <a:rPr lang="en-US" sz="900" b="1" dirty="0">
                <a:solidFill>
                  <a:srgbClr val="1B3448"/>
                </a:solidFill>
                <a:latin typeface="Aptos" pitchFamily="34" charset="0"/>
                <a:ea typeface="Aptos" pitchFamily="34" charset="-122"/>
                <a:cs typeface="Aptos" pitchFamily="34" charset="-120"/>
              </a:rPr>
              <a:t>Analogue</a:t>
            </a:r>
            <a:endParaRPr lang="en-US" sz="900" dirty="0"/>
          </a:p>
        </p:txBody>
      </p:sp>
      <p:sp>
        <p:nvSpPr>
          <p:cNvPr id="56" name="Shape 54"/>
          <p:cNvSpPr/>
          <p:nvPr/>
        </p:nvSpPr>
        <p:spPr>
          <a:xfrm>
            <a:off x="9107424" y="4873752"/>
            <a:ext cx="987552" cy="594360"/>
          </a:xfrm>
          <a:prstGeom prst="rect">
            <a:avLst/>
          </a:prstGeom>
          <a:solidFill>
            <a:srgbClr val="F6F8FA"/>
          </a:solidFill>
          <a:ln w="7620">
            <a:solidFill>
              <a:srgbClr val="D5E0E7"/>
            </a:solidFill>
            <a:prstDash val="solid"/>
          </a:ln>
        </p:spPr>
      </p:sp>
      <p:sp>
        <p:nvSpPr>
          <p:cNvPr id="57" name="Text 55"/>
          <p:cNvSpPr/>
          <p:nvPr/>
        </p:nvSpPr>
        <p:spPr>
          <a:xfrm>
            <a:off x="9153144" y="491947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Measured value</a:t>
            </a:r>
            <a:endParaRPr lang="en-US" sz="870" dirty="0"/>
          </a:p>
        </p:txBody>
      </p:sp>
      <p:sp>
        <p:nvSpPr>
          <p:cNvPr id="58" name="Shape 56"/>
          <p:cNvSpPr/>
          <p:nvPr/>
        </p:nvSpPr>
        <p:spPr>
          <a:xfrm>
            <a:off x="10094976" y="4873752"/>
            <a:ext cx="987552" cy="594360"/>
          </a:xfrm>
          <a:prstGeom prst="rect">
            <a:avLst/>
          </a:prstGeom>
          <a:solidFill>
            <a:srgbClr val="F6F8FA"/>
          </a:solidFill>
          <a:ln w="7620">
            <a:solidFill>
              <a:srgbClr val="D5E0E7"/>
            </a:solidFill>
            <a:prstDash val="solid"/>
          </a:ln>
        </p:spPr>
      </p:sp>
      <p:sp>
        <p:nvSpPr>
          <p:cNvPr id="59" name="Text 57"/>
          <p:cNvSpPr/>
          <p:nvPr/>
        </p:nvSpPr>
        <p:spPr>
          <a:xfrm>
            <a:off x="10140696" y="491947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Range / accuracy</a:t>
            </a:r>
            <a:endParaRPr lang="en-US" sz="870" dirty="0"/>
          </a:p>
        </p:txBody>
      </p:sp>
      <p:sp>
        <p:nvSpPr>
          <p:cNvPr id="60" name="Text 58"/>
          <p:cNvSpPr/>
          <p:nvPr/>
        </p:nvSpPr>
        <p:spPr>
          <a:xfrm>
            <a:off x="7973568" y="5678424"/>
            <a:ext cx="3154680" cy="493776"/>
          </a:xfrm>
          <a:prstGeom prst="rect">
            <a:avLst/>
          </a:prstGeom>
          <a:noFill/>
          <a:ln/>
        </p:spPr>
        <p:txBody>
          <a:bodyPr wrap="square" lIns="0" tIns="0" rIns="0" bIns="0" rtlCol="0" anchor="ctr">
            <a:normAutofit/>
          </a:bodyPr>
          <a:lstStyle/>
          <a:p>
            <a:pPr algn="ctr" indent="0" marL="0">
              <a:buNone/>
            </a:pPr>
            <a:r>
              <a:rPr lang="en-US" sz="920" dirty="0">
                <a:solidFill>
                  <a:srgbClr val="607585"/>
                </a:solidFill>
                <a:latin typeface="Aptos" pitchFamily="34" charset="0"/>
                <a:ea typeface="Aptos" pitchFamily="34" charset="-122"/>
                <a:cs typeface="Aptos" pitchFamily="34" charset="-120"/>
              </a:rPr>
              <a:t>*Only within the exact module ratings</a:t>
            </a:r>
            <a:endParaRPr lang="en-US" sz="920" dirty="0"/>
          </a:p>
        </p:txBody>
      </p:sp>
      <p:sp>
        <p:nvSpPr>
          <p:cNvPr id="61" name="Shape 59"/>
          <p:cNvSpPr/>
          <p:nvPr/>
        </p:nvSpPr>
        <p:spPr>
          <a:xfrm>
            <a:off x="603504" y="6318504"/>
            <a:ext cx="10972800" cy="0"/>
          </a:xfrm>
          <a:prstGeom prst="line">
            <a:avLst/>
          </a:prstGeom>
          <a:noFill/>
          <a:ln w="10160">
            <a:solidFill>
              <a:srgbClr val="D5E0E7"/>
            </a:solidFill>
            <a:prstDash val="solid"/>
          </a:ln>
        </p:spPr>
      </p:sp>
      <p:sp>
        <p:nvSpPr>
          <p:cNvPr id="62" name="Text 60"/>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PLC SPECIFICATIONS AND I/O MODULES</a:t>
            </a:r>
            <a:endParaRPr lang="en-US" sz="800" dirty="0"/>
          </a:p>
        </p:txBody>
      </p:sp>
      <p:sp>
        <p:nvSpPr>
          <p:cNvPr id="63" name="Text 61"/>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11 / 18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3F7394"/>
          </a:solidFill>
          <a:ln w="12700">
            <a:solidFill>
              <a:srgbClr val="3F7394">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3F7394"/>
                </a:solidFill>
                <a:latin typeface="Aptos" pitchFamily="34" charset="0"/>
                <a:ea typeface="Aptos" pitchFamily="34" charset="-122"/>
                <a:cs typeface="Aptos" pitchFamily="34" charset="-120"/>
              </a:rPr>
              <a:t>UNIT 5009    /    WEEK 03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15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3F7394"/>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3F7394"/>
                </a:solidFill>
                <a:latin typeface="Aptos" pitchFamily="34" charset="0"/>
                <a:ea typeface="Aptos" pitchFamily="34" charset="-122"/>
                <a:cs typeface="Aptos" pitchFamily="34" charset="-120"/>
              </a:rPr>
              <a:t>P2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2800" b="1" dirty="0">
                <a:solidFill>
                  <a:srgbClr val="1B3448"/>
                </a:solidFill>
                <a:latin typeface="Aptos Display" pitchFamily="34" charset="0"/>
                <a:ea typeface="Aptos Display" pitchFamily="34" charset="-122"/>
                <a:cs typeface="Aptos Display" pitchFamily="34" charset="-120"/>
              </a:rPr>
              <a:t>Select an output interface for stated loads</a:t>
            </a:r>
            <a:endParaRPr lang="en-US" sz="28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3F7394"/>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3F7394"/>
          </a:solidFill>
          <a:ln w="12700">
            <a:solidFill>
              <a:srgbClr val="3F7394">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Case A, infrequent AC load: consider a suitably rated relay or triac module only after AC load category, current, switching, leakage/minimum load, and protection checks.</a:t>
            </a:r>
            <a:endParaRPr lang="en-US" sz="14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3F7394"/>
          </a:solidFill>
          <a:ln w="12700">
            <a:solidFill>
              <a:srgbClr val="3F7394">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Case B, frequent DC switching or fast DC pulses: consider an appropriately rated transistor output; verify pulse capability, source/sink wiring, frequency, load current, and thermal/group limits.</a:t>
            </a:r>
            <a:endParaRPr lang="en-US" sz="14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3F7394"/>
          </a:solidFill>
          <a:ln w="12700">
            <a:solidFill>
              <a:srgbClr val="3F7394">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Case C, load exceeds any candidate channel or group limit: reject direct drive and engineer a correctly rated external interface; recheck coil/load protection and fault behaviour.</a:t>
            </a:r>
            <a:endParaRPr lang="en-US" sz="14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3F7394"/>
          </a:solidFill>
          <a:ln w="12700">
            <a:solidFill>
              <a:srgbClr val="3F7394">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Learners justify a module type for each case; expected debrief is conditional, because actual supply, current/inrush, frequency, environment, and manual limits determine the final interface.</a:t>
            </a:r>
            <a:endParaRPr lang="en-US" sz="14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3F7394"/>
                </a:solidFill>
                <a:latin typeface="Aptos" pitchFamily="34" charset="0"/>
                <a:ea typeface="Aptos" pitchFamily="34" charset="-122"/>
                <a:cs typeface="Aptos" pitchFamily="34" charset="-120"/>
              </a:rPr>
              <a:t>COMPARISON FRAMEWORK</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Shape 28"/>
          <p:cNvSpPr/>
          <p:nvPr/>
        </p:nvSpPr>
        <p:spPr>
          <a:xfrm>
            <a:off x="7918704" y="2615184"/>
            <a:ext cx="1188720" cy="475488"/>
          </a:xfrm>
          <a:prstGeom prst="rect">
            <a:avLst/>
          </a:prstGeom>
          <a:solidFill>
            <a:srgbClr val="3F7394"/>
          </a:solidFill>
          <a:ln w="10160">
            <a:solidFill>
              <a:srgbClr val="3F7394"/>
            </a:solidFill>
            <a:prstDash val="solid"/>
          </a:ln>
        </p:spPr>
      </p:sp>
      <p:sp>
        <p:nvSpPr>
          <p:cNvPr id="31" name="Text 29"/>
          <p:cNvSpPr/>
          <p:nvPr/>
        </p:nvSpPr>
        <p:spPr>
          <a:xfrm>
            <a:off x="7955280" y="2651760"/>
            <a:ext cx="1115568" cy="393192"/>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INTERFACE</a:t>
            </a:r>
            <a:endParaRPr lang="en-US" sz="850" dirty="0"/>
          </a:p>
        </p:txBody>
      </p:sp>
      <p:sp>
        <p:nvSpPr>
          <p:cNvPr id="32" name="Shape 30"/>
          <p:cNvSpPr/>
          <p:nvPr/>
        </p:nvSpPr>
        <p:spPr>
          <a:xfrm>
            <a:off x="9107424" y="2615184"/>
            <a:ext cx="987552" cy="475488"/>
          </a:xfrm>
          <a:prstGeom prst="rect">
            <a:avLst/>
          </a:prstGeom>
          <a:solidFill>
            <a:srgbClr val="EAF0F3"/>
          </a:solidFill>
          <a:ln w="10160">
            <a:solidFill>
              <a:srgbClr val="3F7394"/>
            </a:solidFill>
            <a:prstDash val="solid"/>
          </a:ln>
        </p:spPr>
      </p:sp>
      <p:sp>
        <p:nvSpPr>
          <p:cNvPr id="33" name="Text 31"/>
          <p:cNvSpPr/>
          <p:nvPr/>
        </p:nvSpPr>
        <p:spPr>
          <a:xfrm>
            <a:off x="9144000" y="2651760"/>
            <a:ext cx="914400" cy="393192"/>
          </a:xfrm>
          <a:prstGeom prst="rect">
            <a:avLst/>
          </a:prstGeom>
          <a:noFill/>
          <a:ln/>
        </p:spPr>
        <p:txBody>
          <a:bodyPr wrap="square" lIns="0" tIns="0" rIns="0" bIns="0" rtlCol="0" anchor="ctr">
            <a:normAutofit/>
          </a:bodyPr>
          <a:lstStyle/>
          <a:p>
            <a:pPr algn="ctr" indent="0" marL="0">
              <a:buNone/>
            </a:pPr>
            <a:r>
              <a:rPr lang="en-US" sz="850" b="1" dirty="0">
                <a:solidFill>
                  <a:srgbClr val="1B3448"/>
                </a:solidFill>
                <a:latin typeface="Aptos" pitchFamily="34" charset="0"/>
                <a:ea typeface="Aptos" pitchFamily="34" charset="-122"/>
                <a:cs typeface="Aptos" pitchFamily="34" charset="-120"/>
              </a:rPr>
              <a:t>BEST FIT</a:t>
            </a:r>
            <a:endParaRPr lang="en-US" sz="850" dirty="0"/>
          </a:p>
        </p:txBody>
      </p:sp>
      <p:sp>
        <p:nvSpPr>
          <p:cNvPr id="34" name="Shape 32"/>
          <p:cNvSpPr/>
          <p:nvPr/>
        </p:nvSpPr>
        <p:spPr>
          <a:xfrm>
            <a:off x="10094976" y="2615184"/>
            <a:ext cx="987552" cy="475488"/>
          </a:xfrm>
          <a:prstGeom prst="rect">
            <a:avLst/>
          </a:prstGeom>
          <a:solidFill>
            <a:srgbClr val="EAF0F3"/>
          </a:solidFill>
          <a:ln w="10160">
            <a:solidFill>
              <a:srgbClr val="3F7394"/>
            </a:solidFill>
            <a:prstDash val="solid"/>
          </a:ln>
        </p:spPr>
      </p:sp>
      <p:sp>
        <p:nvSpPr>
          <p:cNvPr id="35" name="Text 33"/>
          <p:cNvSpPr/>
          <p:nvPr/>
        </p:nvSpPr>
        <p:spPr>
          <a:xfrm>
            <a:off x="10131552" y="2651760"/>
            <a:ext cx="914400" cy="393192"/>
          </a:xfrm>
          <a:prstGeom prst="rect">
            <a:avLst/>
          </a:prstGeom>
          <a:noFill/>
          <a:ln/>
        </p:spPr>
        <p:txBody>
          <a:bodyPr wrap="square" lIns="0" tIns="0" rIns="0" bIns="0" rtlCol="0" anchor="ctr">
            <a:normAutofit/>
          </a:bodyPr>
          <a:lstStyle/>
          <a:p>
            <a:pPr algn="ctr" indent="0" marL="0">
              <a:buNone/>
            </a:pPr>
            <a:r>
              <a:rPr lang="en-US" sz="850" b="1" dirty="0">
                <a:solidFill>
                  <a:srgbClr val="1B3448"/>
                </a:solidFill>
                <a:latin typeface="Aptos" pitchFamily="34" charset="0"/>
                <a:ea typeface="Aptos" pitchFamily="34" charset="-122"/>
                <a:cs typeface="Aptos" pitchFamily="34" charset="-120"/>
              </a:rPr>
              <a:t>CHECK</a:t>
            </a:r>
            <a:endParaRPr lang="en-US" sz="850" dirty="0"/>
          </a:p>
        </p:txBody>
      </p:sp>
      <p:sp>
        <p:nvSpPr>
          <p:cNvPr id="36" name="Shape 34"/>
          <p:cNvSpPr/>
          <p:nvPr/>
        </p:nvSpPr>
        <p:spPr>
          <a:xfrm>
            <a:off x="7918704" y="3090672"/>
            <a:ext cx="1188720" cy="594360"/>
          </a:xfrm>
          <a:prstGeom prst="rect">
            <a:avLst/>
          </a:prstGeom>
          <a:solidFill>
            <a:srgbClr val="FFFFFF"/>
          </a:solidFill>
          <a:ln w="7620">
            <a:solidFill>
              <a:srgbClr val="D5E0E7"/>
            </a:solidFill>
            <a:prstDash val="solid"/>
          </a:ln>
        </p:spPr>
      </p:sp>
      <p:sp>
        <p:nvSpPr>
          <p:cNvPr id="37" name="Text 35"/>
          <p:cNvSpPr/>
          <p:nvPr/>
        </p:nvSpPr>
        <p:spPr>
          <a:xfrm>
            <a:off x="7964424" y="3136392"/>
            <a:ext cx="1097280" cy="502920"/>
          </a:xfrm>
          <a:prstGeom prst="rect">
            <a:avLst/>
          </a:prstGeom>
          <a:noFill/>
          <a:ln/>
        </p:spPr>
        <p:txBody>
          <a:bodyPr wrap="square" lIns="0" tIns="0" rIns="0" bIns="0" rtlCol="0" anchor="ctr">
            <a:normAutofit/>
          </a:bodyPr>
          <a:lstStyle/>
          <a:p>
            <a:pPr algn="ctr" indent="0" marL="0">
              <a:buNone/>
            </a:pPr>
            <a:r>
              <a:rPr lang="en-US" sz="900" b="1" dirty="0">
                <a:solidFill>
                  <a:srgbClr val="1B3448"/>
                </a:solidFill>
                <a:latin typeface="Aptos" pitchFamily="34" charset="0"/>
                <a:ea typeface="Aptos" pitchFamily="34" charset="-122"/>
                <a:cs typeface="Aptos" pitchFamily="34" charset="-120"/>
              </a:rPr>
              <a:t>Relay</a:t>
            </a:r>
            <a:endParaRPr lang="en-US" sz="900" dirty="0"/>
          </a:p>
        </p:txBody>
      </p:sp>
      <p:sp>
        <p:nvSpPr>
          <p:cNvPr id="38" name="Shape 36"/>
          <p:cNvSpPr/>
          <p:nvPr/>
        </p:nvSpPr>
        <p:spPr>
          <a:xfrm>
            <a:off x="9107424" y="3090672"/>
            <a:ext cx="987552" cy="594360"/>
          </a:xfrm>
          <a:prstGeom prst="rect">
            <a:avLst/>
          </a:prstGeom>
          <a:solidFill>
            <a:srgbClr val="FFFFFF"/>
          </a:solidFill>
          <a:ln w="7620">
            <a:solidFill>
              <a:srgbClr val="D5E0E7"/>
            </a:solidFill>
            <a:prstDash val="solid"/>
          </a:ln>
        </p:spPr>
      </p:sp>
      <p:sp>
        <p:nvSpPr>
          <p:cNvPr id="39" name="Text 37"/>
          <p:cNvSpPr/>
          <p:nvPr/>
        </p:nvSpPr>
        <p:spPr>
          <a:xfrm>
            <a:off x="9153144" y="313639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AC / DC*</a:t>
            </a:r>
            <a:endParaRPr lang="en-US" sz="870" dirty="0"/>
          </a:p>
        </p:txBody>
      </p:sp>
      <p:sp>
        <p:nvSpPr>
          <p:cNvPr id="40" name="Shape 38"/>
          <p:cNvSpPr/>
          <p:nvPr/>
        </p:nvSpPr>
        <p:spPr>
          <a:xfrm>
            <a:off x="10094976" y="3090672"/>
            <a:ext cx="987552" cy="594360"/>
          </a:xfrm>
          <a:prstGeom prst="rect">
            <a:avLst/>
          </a:prstGeom>
          <a:solidFill>
            <a:srgbClr val="FFFFFF"/>
          </a:solidFill>
          <a:ln w="7620">
            <a:solidFill>
              <a:srgbClr val="D5E0E7"/>
            </a:solidFill>
            <a:prstDash val="solid"/>
          </a:ln>
        </p:spPr>
      </p:sp>
      <p:sp>
        <p:nvSpPr>
          <p:cNvPr id="41" name="Text 39"/>
          <p:cNvSpPr/>
          <p:nvPr/>
        </p:nvSpPr>
        <p:spPr>
          <a:xfrm>
            <a:off x="10140696" y="313639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Load rating</a:t>
            </a:r>
            <a:endParaRPr lang="en-US" sz="870" dirty="0"/>
          </a:p>
        </p:txBody>
      </p:sp>
      <p:sp>
        <p:nvSpPr>
          <p:cNvPr id="42" name="Shape 40"/>
          <p:cNvSpPr/>
          <p:nvPr/>
        </p:nvSpPr>
        <p:spPr>
          <a:xfrm>
            <a:off x="7918704" y="3685032"/>
            <a:ext cx="1188720" cy="594360"/>
          </a:xfrm>
          <a:prstGeom prst="rect">
            <a:avLst/>
          </a:prstGeom>
          <a:solidFill>
            <a:srgbClr val="F6F8FA"/>
          </a:solidFill>
          <a:ln w="7620">
            <a:solidFill>
              <a:srgbClr val="D5E0E7"/>
            </a:solidFill>
            <a:prstDash val="solid"/>
          </a:ln>
        </p:spPr>
      </p:sp>
      <p:sp>
        <p:nvSpPr>
          <p:cNvPr id="43" name="Text 41"/>
          <p:cNvSpPr/>
          <p:nvPr/>
        </p:nvSpPr>
        <p:spPr>
          <a:xfrm>
            <a:off x="7964424" y="3730752"/>
            <a:ext cx="1097280" cy="502920"/>
          </a:xfrm>
          <a:prstGeom prst="rect">
            <a:avLst/>
          </a:prstGeom>
          <a:noFill/>
          <a:ln/>
        </p:spPr>
        <p:txBody>
          <a:bodyPr wrap="square" lIns="0" tIns="0" rIns="0" bIns="0" rtlCol="0" anchor="ctr">
            <a:normAutofit/>
          </a:bodyPr>
          <a:lstStyle/>
          <a:p>
            <a:pPr algn="ctr" indent="0" marL="0">
              <a:buNone/>
            </a:pPr>
            <a:r>
              <a:rPr lang="en-US" sz="900" b="1" dirty="0">
                <a:solidFill>
                  <a:srgbClr val="1B3448"/>
                </a:solidFill>
                <a:latin typeface="Aptos" pitchFamily="34" charset="0"/>
                <a:ea typeface="Aptos" pitchFamily="34" charset="-122"/>
                <a:cs typeface="Aptos" pitchFamily="34" charset="-120"/>
              </a:rPr>
              <a:t>Triac</a:t>
            </a:r>
            <a:endParaRPr lang="en-US" sz="900" dirty="0"/>
          </a:p>
        </p:txBody>
      </p:sp>
      <p:sp>
        <p:nvSpPr>
          <p:cNvPr id="44" name="Shape 42"/>
          <p:cNvSpPr/>
          <p:nvPr/>
        </p:nvSpPr>
        <p:spPr>
          <a:xfrm>
            <a:off x="9107424" y="3685032"/>
            <a:ext cx="987552" cy="594360"/>
          </a:xfrm>
          <a:prstGeom prst="rect">
            <a:avLst/>
          </a:prstGeom>
          <a:solidFill>
            <a:srgbClr val="F6F8FA"/>
          </a:solidFill>
          <a:ln w="7620">
            <a:solidFill>
              <a:srgbClr val="D5E0E7"/>
            </a:solidFill>
            <a:prstDash val="solid"/>
          </a:ln>
        </p:spPr>
      </p:sp>
      <p:sp>
        <p:nvSpPr>
          <p:cNvPr id="45" name="Text 43"/>
          <p:cNvSpPr/>
          <p:nvPr/>
        </p:nvSpPr>
        <p:spPr>
          <a:xfrm>
            <a:off x="9153144" y="373075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AC switching</a:t>
            </a:r>
            <a:endParaRPr lang="en-US" sz="870" dirty="0"/>
          </a:p>
        </p:txBody>
      </p:sp>
      <p:sp>
        <p:nvSpPr>
          <p:cNvPr id="46" name="Shape 44"/>
          <p:cNvSpPr/>
          <p:nvPr/>
        </p:nvSpPr>
        <p:spPr>
          <a:xfrm>
            <a:off x="10094976" y="3685032"/>
            <a:ext cx="987552" cy="594360"/>
          </a:xfrm>
          <a:prstGeom prst="rect">
            <a:avLst/>
          </a:prstGeom>
          <a:solidFill>
            <a:srgbClr val="F6F8FA"/>
          </a:solidFill>
          <a:ln w="7620">
            <a:solidFill>
              <a:srgbClr val="D5E0E7"/>
            </a:solidFill>
            <a:prstDash val="solid"/>
          </a:ln>
        </p:spPr>
      </p:sp>
      <p:sp>
        <p:nvSpPr>
          <p:cNvPr id="47" name="Text 45"/>
          <p:cNvSpPr/>
          <p:nvPr/>
        </p:nvSpPr>
        <p:spPr>
          <a:xfrm>
            <a:off x="10140696" y="373075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Leakage</a:t>
            </a:r>
            <a:endParaRPr lang="en-US" sz="870" dirty="0"/>
          </a:p>
        </p:txBody>
      </p:sp>
      <p:sp>
        <p:nvSpPr>
          <p:cNvPr id="48" name="Shape 46"/>
          <p:cNvSpPr/>
          <p:nvPr/>
        </p:nvSpPr>
        <p:spPr>
          <a:xfrm>
            <a:off x="7918704" y="4279392"/>
            <a:ext cx="1188720" cy="594360"/>
          </a:xfrm>
          <a:prstGeom prst="rect">
            <a:avLst/>
          </a:prstGeom>
          <a:solidFill>
            <a:srgbClr val="FFFFFF"/>
          </a:solidFill>
          <a:ln w="7620">
            <a:solidFill>
              <a:srgbClr val="D5E0E7"/>
            </a:solidFill>
            <a:prstDash val="solid"/>
          </a:ln>
        </p:spPr>
      </p:sp>
      <p:sp>
        <p:nvSpPr>
          <p:cNvPr id="49" name="Text 47"/>
          <p:cNvSpPr/>
          <p:nvPr/>
        </p:nvSpPr>
        <p:spPr>
          <a:xfrm>
            <a:off x="7964424" y="4325112"/>
            <a:ext cx="1097280" cy="502920"/>
          </a:xfrm>
          <a:prstGeom prst="rect">
            <a:avLst/>
          </a:prstGeom>
          <a:noFill/>
          <a:ln/>
        </p:spPr>
        <p:txBody>
          <a:bodyPr wrap="square" lIns="0" tIns="0" rIns="0" bIns="0" rtlCol="0" anchor="ctr">
            <a:normAutofit/>
          </a:bodyPr>
          <a:lstStyle/>
          <a:p>
            <a:pPr algn="ctr" indent="0" marL="0">
              <a:buNone/>
            </a:pPr>
            <a:r>
              <a:rPr lang="en-US" sz="900" b="1" dirty="0">
                <a:solidFill>
                  <a:srgbClr val="1B3448"/>
                </a:solidFill>
                <a:latin typeface="Aptos" pitchFamily="34" charset="0"/>
                <a:ea typeface="Aptos" pitchFamily="34" charset="-122"/>
                <a:cs typeface="Aptos" pitchFamily="34" charset="-120"/>
              </a:rPr>
              <a:t>Transistor</a:t>
            </a:r>
            <a:endParaRPr lang="en-US" sz="900" dirty="0"/>
          </a:p>
        </p:txBody>
      </p:sp>
      <p:sp>
        <p:nvSpPr>
          <p:cNvPr id="50" name="Shape 48"/>
          <p:cNvSpPr/>
          <p:nvPr/>
        </p:nvSpPr>
        <p:spPr>
          <a:xfrm>
            <a:off x="9107424" y="4279392"/>
            <a:ext cx="987552" cy="594360"/>
          </a:xfrm>
          <a:prstGeom prst="rect">
            <a:avLst/>
          </a:prstGeom>
          <a:solidFill>
            <a:srgbClr val="FFFFFF"/>
          </a:solidFill>
          <a:ln w="7620">
            <a:solidFill>
              <a:srgbClr val="D5E0E7"/>
            </a:solidFill>
            <a:prstDash val="solid"/>
          </a:ln>
        </p:spPr>
      </p:sp>
      <p:sp>
        <p:nvSpPr>
          <p:cNvPr id="51" name="Text 49"/>
          <p:cNvSpPr/>
          <p:nvPr/>
        </p:nvSpPr>
        <p:spPr>
          <a:xfrm>
            <a:off x="9153144" y="432511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DC switching</a:t>
            </a:r>
            <a:endParaRPr lang="en-US" sz="870" dirty="0"/>
          </a:p>
        </p:txBody>
      </p:sp>
      <p:sp>
        <p:nvSpPr>
          <p:cNvPr id="52" name="Shape 50"/>
          <p:cNvSpPr/>
          <p:nvPr/>
        </p:nvSpPr>
        <p:spPr>
          <a:xfrm>
            <a:off x="10094976" y="4279392"/>
            <a:ext cx="987552" cy="594360"/>
          </a:xfrm>
          <a:prstGeom prst="rect">
            <a:avLst/>
          </a:prstGeom>
          <a:solidFill>
            <a:srgbClr val="FFFFFF"/>
          </a:solidFill>
          <a:ln w="7620">
            <a:solidFill>
              <a:srgbClr val="D5E0E7"/>
            </a:solidFill>
            <a:prstDash val="solid"/>
          </a:ln>
        </p:spPr>
      </p:sp>
      <p:sp>
        <p:nvSpPr>
          <p:cNvPr id="53" name="Text 51"/>
          <p:cNvSpPr/>
          <p:nvPr/>
        </p:nvSpPr>
        <p:spPr>
          <a:xfrm>
            <a:off x="10140696" y="432511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Polarity</a:t>
            </a:r>
            <a:endParaRPr lang="en-US" sz="870" dirty="0"/>
          </a:p>
        </p:txBody>
      </p:sp>
      <p:sp>
        <p:nvSpPr>
          <p:cNvPr id="54" name="Shape 52"/>
          <p:cNvSpPr/>
          <p:nvPr/>
        </p:nvSpPr>
        <p:spPr>
          <a:xfrm>
            <a:off x="7918704" y="4873752"/>
            <a:ext cx="1188720" cy="594360"/>
          </a:xfrm>
          <a:prstGeom prst="rect">
            <a:avLst/>
          </a:prstGeom>
          <a:solidFill>
            <a:srgbClr val="F6F8FA"/>
          </a:solidFill>
          <a:ln w="7620">
            <a:solidFill>
              <a:srgbClr val="D5E0E7"/>
            </a:solidFill>
            <a:prstDash val="solid"/>
          </a:ln>
        </p:spPr>
      </p:sp>
      <p:sp>
        <p:nvSpPr>
          <p:cNvPr id="55" name="Text 53"/>
          <p:cNvSpPr/>
          <p:nvPr/>
        </p:nvSpPr>
        <p:spPr>
          <a:xfrm>
            <a:off x="7964424" y="4919472"/>
            <a:ext cx="1097280" cy="502920"/>
          </a:xfrm>
          <a:prstGeom prst="rect">
            <a:avLst/>
          </a:prstGeom>
          <a:noFill/>
          <a:ln/>
        </p:spPr>
        <p:txBody>
          <a:bodyPr wrap="square" lIns="0" tIns="0" rIns="0" bIns="0" rtlCol="0" anchor="ctr">
            <a:normAutofit/>
          </a:bodyPr>
          <a:lstStyle/>
          <a:p>
            <a:pPr algn="ctr" indent="0" marL="0">
              <a:buNone/>
            </a:pPr>
            <a:r>
              <a:rPr lang="en-US" sz="900" b="1" dirty="0">
                <a:solidFill>
                  <a:srgbClr val="1B3448"/>
                </a:solidFill>
                <a:latin typeface="Aptos" pitchFamily="34" charset="0"/>
                <a:ea typeface="Aptos" pitchFamily="34" charset="-122"/>
                <a:cs typeface="Aptos" pitchFamily="34" charset="-120"/>
              </a:rPr>
              <a:t>Analogue</a:t>
            </a:r>
            <a:endParaRPr lang="en-US" sz="900" dirty="0"/>
          </a:p>
        </p:txBody>
      </p:sp>
      <p:sp>
        <p:nvSpPr>
          <p:cNvPr id="56" name="Shape 54"/>
          <p:cNvSpPr/>
          <p:nvPr/>
        </p:nvSpPr>
        <p:spPr>
          <a:xfrm>
            <a:off x="9107424" y="4873752"/>
            <a:ext cx="987552" cy="594360"/>
          </a:xfrm>
          <a:prstGeom prst="rect">
            <a:avLst/>
          </a:prstGeom>
          <a:solidFill>
            <a:srgbClr val="F6F8FA"/>
          </a:solidFill>
          <a:ln w="7620">
            <a:solidFill>
              <a:srgbClr val="D5E0E7"/>
            </a:solidFill>
            <a:prstDash val="solid"/>
          </a:ln>
        </p:spPr>
      </p:sp>
      <p:sp>
        <p:nvSpPr>
          <p:cNvPr id="57" name="Text 55"/>
          <p:cNvSpPr/>
          <p:nvPr/>
        </p:nvSpPr>
        <p:spPr>
          <a:xfrm>
            <a:off x="9153144" y="491947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Measured value</a:t>
            </a:r>
            <a:endParaRPr lang="en-US" sz="870" dirty="0"/>
          </a:p>
        </p:txBody>
      </p:sp>
      <p:sp>
        <p:nvSpPr>
          <p:cNvPr id="58" name="Shape 56"/>
          <p:cNvSpPr/>
          <p:nvPr/>
        </p:nvSpPr>
        <p:spPr>
          <a:xfrm>
            <a:off x="10094976" y="4873752"/>
            <a:ext cx="987552" cy="594360"/>
          </a:xfrm>
          <a:prstGeom prst="rect">
            <a:avLst/>
          </a:prstGeom>
          <a:solidFill>
            <a:srgbClr val="F6F8FA"/>
          </a:solidFill>
          <a:ln w="7620">
            <a:solidFill>
              <a:srgbClr val="D5E0E7"/>
            </a:solidFill>
            <a:prstDash val="solid"/>
          </a:ln>
        </p:spPr>
      </p:sp>
      <p:sp>
        <p:nvSpPr>
          <p:cNvPr id="59" name="Text 57"/>
          <p:cNvSpPr/>
          <p:nvPr/>
        </p:nvSpPr>
        <p:spPr>
          <a:xfrm>
            <a:off x="10140696" y="491947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Range / accuracy</a:t>
            </a:r>
            <a:endParaRPr lang="en-US" sz="870" dirty="0"/>
          </a:p>
        </p:txBody>
      </p:sp>
      <p:sp>
        <p:nvSpPr>
          <p:cNvPr id="60" name="Text 58"/>
          <p:cNvSpPr/>
          <p:nvPr/>
        </p:nvSpPr>
        <p:spPr>
          <a:xfrm>
            <a:off x="7973568" y="5678424"/>
            <a:ext cx="3154680" cy="493776"/>
          </a:xfrm>
          <a:prstGeom prst="rect">
            <a:avLst/>
          </a:prstGeom>
          <a:noFill/>
          <a:ln/>
        </p:spPr>
        <p:txBody>
          <a:bodyPr wrap="square" lIns="0" tIns="0" rIns="0" bIns="0" rtlCol="0" anchor="ctr">
            <a:normAutofit/>
          </a:bodyPr>
          <a:lstStyle/>
          <a:p>
            <a:pPr algn="ctr" indent="0" marL="0">
              <a:buNone/>
            </a:pPr>
            <a:r>
              <a:rPr lang="en-US" sz="920" dirty="0">
                <a:solidFill>
                  <a:srgbClr val="607585"/>
                </a:solidFill>
                <a:latin typeface="Aptos" pitchFamily="34" charset="0"/>
                <a:ea typeface="Aptos" pitchFamily="34" charset="-122"/>
                <a:cs typeface="Aptos" pitchFamily="34" charset="-120"/>
              </a:rPr>
              <a:t>*Only within the exact module ratings</a:t>
            </a:r>
            <a:endParaRPr lang="en-US" sz="920" dirty="0"/>
          </a:p>
        </p:txBody>
      </p:sp>
      <p:sp>
        <p:nvSpPr>
          <p:cNvPr id="61" name="Shape 59"/>
          <p:cNvSpPr/>
          <p:nvPr/>
        </p:nvSpPr>
        <p:spPr>
          <a:xfrm>
            <a:off x="603504" y="6318504"/>
            <a:ext cx="10972800" cy="0"/>
          </a:xfrm>
          <a:prstGeom prst="line">
            <a:avLst/>
          </a:prstGeom>
          <a:noFill/>
          <a:ln w="10160">
            <a:solidFill>
              <a:srgbClr val="D5E0E7"/>
            </a:solidFill>
            <a:prstDash val="solid"/>
          </a:ln>
        </p:spPr>
      </p:sp>
      <p:sp>
        <p:nvSpPr>
          <p:cNvPr id="62" name="Text 60"/>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PLC SPECIFICATIONS AND I/O MODULES</a:t>
            </a:r>
            <a:endParaRPr lang="en-US" sz="800" dirty="0"/>
          </a:p>
        </p:txBody>
      </p:sp>
      <p:sp>
        <p:nvSpPr>
          <p:cNvPr id="63" name="Text 61"/>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12 / 18</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3F7394"/>
          </a:solidFill>
          <a:ln w="12700">
            <a:solidFill>
              <a:srgbClr val="3F7394">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3F7394"/>
                </a:solidFill>
                <a:latin typeface="Aptos" pitchFamily="34" charset="0"/>
                <a:ea typeface="Aptos" pitchFamily="34" charset="-122"/>
                <a:cs typeface="Aptos" pitchFamily="34" charset="-120"/>
              </a:rPr>
              <a:t>UNIT 5009    /    WEEK 03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3F7394"/>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3F7394"/>
                </a:solidFill>
                <a:latin typeface="Aptos" pitchFamily="34" charset="0"/>
                <a:ea typeface="Aptos" pitchFamily="34" charset="-122"/>
                <a:cs typeface="Aptos" pitchFamily="34" charset="-120"/>
              </a:rPr>
              <a:t>P2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2800" b="1" dirty="0">
                <a:solidFill>
                  <a:srgbClr val="1B3448"/>
                </a:solidFill>
                <a:latin typeface="Aptos Display" pitchFamily="34" charset="0"/>
                <a:ea typeface="Aptos Display" pitchFamily="34" charset="-122"/>
                <a:cs typeface="Aptos Display" pitchFamily="34" charset="-120"/>
              </a:rPr>
              <a:t>Select an analogue input for an instrument</a:t>
            </a:r>
            <a:endParaRPr lang="en-US" sz="28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3F7394"/>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3F7394"/>
          </a:solidFill>
          <a:ln w="12700">
            <a:solidFill>
              <a:srgbClr val="3F7394">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Compare sensor output type/range and wiring against the exact PLC input’s configurable ranges, input impedance/burden, resolution, accuracy, isolation, update time, and channel wiring.</a:t>
            </a:r>
            <a:endParaRPr lang="en-US" sz="14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3F7394"/>
          </a:solidFill>
          <a:ln w="12700">
            <a:solidFill>
              <a:srgbClr val="3F7394">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Clearly hypothetical calculation: for a 4-20 mA instrument scaled 0-100 units, 12 mA is halfway through span, so the value is 50 units; state the linearity and range assumptions.</a:t>
            </a:r>
            <a:endParaRPr lang="en-US" sz="14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3F7394"/>
          </a:solidFill>
          <a:ln w="12700">
            <a:solidFill>
              <a:srgbClr val="3F7394">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0-10 V wiring may be more sensitive to voltage drop/noise over a long route; 4-20 mA can help identify a low-current wire fault, but actual diagnostics depend on transmitter and input configuration.</a:t>
            </a:r>
            <a:endParaRPr lang="en-US" sz="14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3F7394"/>
          </a:solidFill>
          <a:ln w="12700">
            <a:solidFill>
              <a:srgbClr val="3F7394">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Expected conclusion: choose only after checking sensor compatibility, accuracy budget, cable conditions, fault detection, update rate, and whether MedPack needs that measurement at all.</a:t>
            </a:r>
            <a:endParaRPr lang="en-US" sz="14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3F7394"/>
                </a:solidFill>
                <a:latin typeface="Aptos" pitchFamily="34" charset="0"/>
                <a:ea typeface="Aptos" pitchFamily="34" charset="-122"/>
                <a:cs typeface="Aptos" pitchFamily="34" charset="-120"/>
              </a:rPr>
              <a:t>ANALOGUE SCALING</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Shape 28"/>
          <p:cNvSpPr/>
          <p:nvPr/>
        </p:nvSpPr>
        <p:spPr>
          <a:xfrm>
            <a:off x="8229600" y="5038344"/>
            <a:ext cx="2743200" cy="0"/>
          </a:xfrm>
          <a:prstGeom prst="line">
            <a:avLst/>
          </a:prstGeom>
          <a:noFill/>
          <a:ln w="15240">
            <a:solidFill>
              <a:srgbClr val="1B3448"/>
            </a:solidFill>
            <a:prstDash val="solid"/>
            <a:tailEnd type="triangle"/>
          </a:ln>
        </p:spPr>
      </p:sp>
      <p:sp>
        <p:nvSpPr>
          <p:cNvPr id="31" name="Shape 29"/>
          <p:cNvSpPr/>
          <p:nvPr/>
        </p:nvSpPr>
        <p:spPr>
          <a:xfrm>
            <a:off x="8229600" y="5038344"/>
            <a:ext cx="0" cy="-2240280"/>
          </a:xfrm>
          <a:prstGeom prst="line">
            <a:avLst/>
          </a:prstGeom>
          <a:noFill/>
          <a:ln w="15240">
            <a:solidFill>
              <a:srgbClr val="1B3448"/>
            </a:solidFill>
            <a:prstDash val="solid"/>
            <a:tailEnd type="triangle"/>
          </a:ln>
        </p:spPr>
      </p:sp>
      <p:sp>
        <p:nvSpPr>
          <p:cNvPr id="32" name="Shape 30"/>
          <p:cNvSpPr/>
          <p:nvPr/>
        </p:nvSpPr>
        <p:spPr>
          <a:xfrm>
            <a:off x="8394192" y="4809744"/>
            <a:ext cx="2395728" cy="-1691640"/>
          </a:xfrm>
          <a:prstGeom prst="line">
            <a:avLst/>
          </a:prstGeom>
          <a:noFill/>
          <a:ln w="33020">
            <a:solidFill>
              <a:srgbClr val="3F7394"/>
            </a:solidFill>
            <a:prstDash val="solid"/>
          </a:ln>
        </p:spPr>
      </p:sp>
      <p:sp>
        <p:nvSpPr>
          <p:cNvPr id="33" name="Text 31"/>
          <p:cNvSpPr/>
          <p:nvPr/>
        </p:nvSpPr>
        <p:spPr>
          <a:xfrm>
            <a:off x="8119872" y="5129784"/>
            <a:ext cx="914400" cy="274320"/>
          </a:xfrm>
          <a:prstGeom prst="rect">
            <a:avLst/>
          </a:prstGeom>
          <a:noFill/>
          <a:ln/>
        </p:spPr>
        <p:txBody>
          <a:bodyPr wrap="square" lIns="0" tIns="0" rIns="0" bIns="0" rtlCol="0" anchor="ctr">
            <a:normAutofit/>
          </a:bodyPr>
          <a:lstStyle/>
          <a:p>
            <a:pPr algn="ctr" indent="0" marL="0">
              <a:buNone/>
            </a:pPr>
            <a:r>
              <a:rPr lang="en-US" sz="900" dirty="0">
                <a:solidFill>
                  <a:srgbClr val="607585"/>
                </a:solidFill>
                <a:latin typeface="Aptos" pitchFamily="34" charset="0"/>
                <a:ea typeface="Aptos" pitchFamily="34" charset="-122"/>
                <a:cs typeface="Aptos" pitchFamily="34" charset="-120"/>
              </a:rPr>
              <a:t>RAW ADC</a:t>
            </a:r>
            <a:endParaRPr lang="en-US" sz="900" dirty="0"/>
          </a:p>
        </p:txBody>
      </p:sp>
      <p:sp>
        <p:nvSpPr>
          <p:cNvPr id="34" name="Text 32"/>
          <p:cNvSpPr/>
          <p:nvPr/>
        </p:nvSpPr>
        <p:spPr>
          <a:xfrm>
            <a:off x="9646920" y="5129784"/>
            <a:ext cx="1508760" cy="274320"/>
          </a:xfrm>
          <a:prstGeom prst="rect">
            <a:avLst/>
          </a:prstGeom>
          <a:noFill/>
          <a:ln/>
        </p:spPr>
        <p:txBody>
          <a:bodyPr wrap="square" lIns="0" tIns="0" rIns="0" bIns="0" rtlCol="0" anchor="ctr">
            <a:normAutofit/>
          </a:bodyPr>
          <a:lstStyle/>
          <a:p>
            <a:pPr algn="ctr" indent="0" marL="0">
              <a:buNone/>
            </a:pPr>
            <a:r>
              <a:rPr lang="en-US" sz="850" dirty="0">
                <a:solidFill>
                  <a:srgbClr val="607585"/>
                </a:solidFill>
                <a:latin typeface="Aptos" pitchFamily="34" charset="0"/>
                <a:ea typeface="Aptos" pitchFamily="34" charset="-122"/>
                <a:cs typeface="Aptos" pitchFamily="34" charset="-120"/>
              </a:rPr>
              <a:t>ENGINEERING VALUE</a:t>
            </a:r>
            <a:endParaRPr lang="en-US" sz="850" dirty="0"/>
          </a:p>
        </p:txBody>
      </p:sp>
      <p:sp>
        <p:nvSpPr>
          <p:cNvPr id="35" name="Text 33"/>
          <p:cNvSpPr/>
          <p:nvPr/>
        </p:nvSpPr>
        <p:spPr>
          <a:xfrm>
            <a:off x="7982712" y="5586984"/>
            <a:ext cx="3291840" cy="384048"/>
          </a:xfrm>
          <a:prstGeom prst="rect">
            <a:avLst/>
          </a:prstGeom>
          <a:noFill/>
          <a:ln/>
        </p:spPr>
        <p:txBody>
          <a:bodyPr wrap="square" lIns="0" tIns="0" rIns="0" bIns="0" rtlCol="0" anchor="ctr">
            <a:normAutofit/>
          </a:bodyPr>
          <a:lstStyle/>
          <a:p>
            <a:pPr algn="ctr" indent="0" marL="0">
              <a:buNone/>
            </a:pPr>
            <a:r>
              <a:rPr lang="en-US" sz="990" dirty="0">
                <a:solidFill>
                  <a:srgbClr val="1B3448"/>
                </a:solidFill>
                <a:latin typeface="Aptos" pitchFamily="34" charset="0"/>
                <a:ea typeface="Aptos" pitchFamily="34" charset="-122"/>
                <a:cs typeface="Aptos" pitchFamily="34" charset="-120"/>
              </a:rPr>
              <a:t>Scale using configured range; resolution is not accuracy</a:t>
            </a:r>
            <a:endParaRPr lang="en-US" sz="990" dirty="0"/>
          </a:p>
        </p:txBody>
      </p:sp>
      <p:sp>
        <p:nvSpPr>
          <p:cNvPr id="36" name="Shape 34"/>
          <p:cNvSpPr/>
          <p:nvPr/>
        </p:nvSpPr>
        <p:spPr>
          <a:xfrm>
            <a:off x="603504" y="6318504"/>
            <a:ext cx="10972800" cy="0"/>
          </a:xfrm>
          <a:prstGeom prst="line">
            <a:avLst/>
          </a:prstGeom>
          <a:noFill/>
          <a:ln w="10160">
            <a:solidFill>
              <a:srgbClr val="D5E0E7"/>
            </a:solidFill>
            <a:prstDash val="solid"/>
          </a:ln>
        </p:spPr>
      </p:sp>
      <p:sp>
        <p:nvSpPr>
          <p:cNvPr id="37" name="Text 35"/>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PLC SPECIFICATIONS AND I/O MODULES</a:t>
            </a:r>
            <a:endParaRPr lang="en-US" sz="800" dirty="0"/>
          </a:p>
        </p:txBody>
      </p:sp>
      <p:sp>
        <p:nvSpPr>
          <p:cNvPr id="38" name="Text 36"/>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13 / 18</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3F7394"/>
          </a:solidFill>
          <a:ln w="12700">
            <a:solidFill>
              <a:srgbClr val="3F7394">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3F7394"/>
                </a:solidFill>
                <a:latin typeface="Aptos" pitchFamily="34" charset="0"/>
                <a:ea typeface="Aptos" pitchFamily="34" charset="-122"/>
                <a:cs typeface="Aptos" pitchFamily="34" charset="-120"/>
              </a:rPr>
              <a:t>UNIT 5009    /    WEEK 03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3F7394"/>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3F7394"/>
                </a:solidFill>
                <a:latin typeface="Aptos" pitchFamily="34" charset="0"/>
                <a:ea typeface="Aptos" pitchFamily="34" charset="-122"/>
                <a:cs typeface="Aptos" pitchFamily="34" charset="-120"/>
              </a:rPr>
              <a:t>P2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Expansion and system architecture</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3F7394"/>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3F7394"/>
          </a:solidFill>
          <a:ln w="12700">
            <a:solidFill>
              <a:srgbClr val="3F7394">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Count required local points and any confirmed remote devices; add future points separately so current need is not confused with optional expansion.</a:t>
            </a:r>
            <a:endParaRPr lang="en-US" sz="14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3F7394"/>
          </a:solidFill>
          <a:ln w="12700">
            <a:solidFill>
              <a:srgbClr val="3F7394">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Check exact CPU/module compatibility, permitted module order, backplane/bus limits, power-supply capacity, network node/connection limits, mounting space, and firmware compatibility.</a:t>
            </a:r>
            <a:endParaRPr lang="en-US" sz="14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3F7394"/>
          </a:solidFill>
          <a:ln w="12700">
            <a:solidFill>
              <a:srgbClr val="3F7394">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Add any required high-speed input, output interface, or analogue module to the MedPack block diagram only when a documented need exists.</a:t>
            </a:r>
            <a:endParaRPr lang="en-US" sz="14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3F7394"/>
          </a:solidFill>
          <a:ln w="12700">
            <a:solidFill>
              <a:srgbClr val="3F7394">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Debrief: spare capacity needs a reason such as defined expansion or service replacement; arbitrary spare percentages are not a substitute for a justified design.</a:t>
            </a:r>
            <a:endParaRPr lang="en-US" sz="14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3F7394"/>
                </a:solidFill>
                <a:latin typeface="Aptos" pitchFamily="34" charset="0"/>
                <a:ea typeface="Aptos" pitchFamily="34" charset="-122"/>
                <a:cs typeface="Aptos" pitchFamily="34" charset="-120"/>
              </a:rPr>
              <a:t>SUGGESTED VISUAL</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Shape 28"/>
          <p:cNvSpPr/>
          <p:nvPr/>
        </p:nvSpPr>
        <p:spPr>
          <a:xfrm>
            <a:off x="7882128" y="2432304"/>
            <a:ext cx="3483864" cy="3447288"/>
          </a:xfrm>
          <a:prstGeom prst="rect">
            <a:avLst/>
          </a:prstGeom>
          <a:solidFill>
            <a:srgbClr val="E8EFF3"/>
          </a:solidFill>
          <a:ln w="13970">
            <a:solidFill>
              <a:srgbClr val="AFC1CD"/>
            </a:solidFill>
            <a:prstDash val="solid"/>
          </a:ln>
        </p:spPr>
      </p:sp>
      <p:sp>
        <p:nvSpPr>
          <p:cNvPr id="31" name="Text 29"/>
          <p:cNvSpPr/>
          <p:nvPr/>
        </p:nvSpPr>
        <p:spPr>
          <a:xfrm>
            <a:off x="8138160" y="3666744"/>
            <a:ext cx="2971800" cy="384048"/>
          </a:xfrm>
          <a:prstGeom prst="rect">
            <a:avLst/>
          </a:prstGeom>
          <a:noFill/>
          <a:ln/>
        </p:spPr>
        <p:txBody>
          <a:bodyPr wrap="square" lIns="0" tIns="0" rIns="0" bIns="0" rtlCol="0" anchor="ctr">
            <a:normAutofit/>
          </a:bodyPr>
          <a:lstStyle/>
          <a:p>
            <a:pPr algn="ctr" indent="0" marL="0">
              <a:buNone/>
            </a:pPr>
            <a:r>
              <a:rPr lang="en-US" sz="1800" b="1" dirty="0">
                <a:solidFill>
                  <a:srgbClr val="3F7394"/>
                </a:solidFill>
                <a:latin typeface="Aptos Display" pitchFamily="34" charset="0"/>
                <a:ea typeface="Aptos Display" pitchFamily="34" charset="-122"/>
                <a:cs typeface="Aptos Display" pitchFamily="34" charset="-120"/>
              </a:rPr>
              <a:t>IMAGE SPACE</a:t>
            </a:r>
            <a:endParaRPr lang="en-US" sz="1800" dirty="0"/>
          </a:p>
        </p:txBody>
      </p:sp>
      <p:sp>
        <p:nvSpPr>
          <p:cNvPr id="32" name="Text 30"/>
          <p:cNvSpPr/>
          <p:nvPr/>
        </p:nvSpPr>
        <p:spPr>
          <a:xfrm>
            <a:off x="8229600" y="4123944"/>
            <a:ext cx="2788920" cy="502920"/>
          </a:xfrm>
          <a:prstGeom prst="rect">
            <a:avLst/>
          </a:prstGeom>
          <a:noFill/>
          <a:ln/>
        </p:spPr>
        <p:txBody>
          <a:bodyPr wrap="square" lIns="0" tIns="0" rIns="0" bIns="0" rtlCol="0" anchor="ctr">
            <a:normAutofit/>
          </a:bodyPr>
          <a:lstStyle/>
          <a:p>
            <a:pPr algn="ctr" indent="0" marL="0">
              <a:buNone/>
            </a:pPr>
            <a:r>
              <a:rPr lang="en-US" sz="1050" dirty="0">
                <a:solidFill>
                  <a:srgbClr val="607585"/>
                </a:solidFill>
                <a:latin typeface="Aptos" pitchFamily="34" charset="0"/>
                <a:ea typeface="Aptos" pitchFamily="34" charset="-122"/>
                <a:cs typeface="Aptos" pitchFamily="34" charset="-120"/>
              </a:rPr>
              <a:t>Insert the visual described in the speaker notes</a:t>
            </a:r>
            <a:endParaRPr lang="en-US" sz="1050" dirty="0"/>
          </a:p>
        </p:txBody>
      </p:sp>
      <p:sp>
        <p:nvSpPr>
          <p:cNvPr id="33" name="Shape 31"/>
          <p:cNvSpPr/>
          <p:nvPr/>
        </p:nvSpPr>
        <p:spPr>
          <a:xfrm>
            <a:off x="603504" y="6318504"/>
            <a:ext cx="10972800" cy="0"/>
          </a:xfrm>
          <a:prstGeom prst="line">
            <a:avLst/>
          </a:prstGeom>
          <a:noFill/>
          <a:ln w="10160">
            <a:solidFill>
              <a:srgbClr val="D5E0E7"/>
            </a:solidFill>
            <a:prstDash val="solid"/>
          </a:ln>
        </p:spPr>
      </p:sp>
      <p:sp>
        <p:nvSpPr>
          <p:cNvPr id="34" name="Text 32"/>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PLC SPECIFICATIONS AND I/O MODULES</a:t>
            </a:r>
            <a:endParaRPr lang="en-US" sz="800" dirty="0"/>
          </a:p>
        </p:txBody>
      </p:sp>
      <p:sp>
        <p:nvSpPr>
          <p:cNvPr id="35" name="Text 33"/>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14 / 18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3F7394"/>
          </a:solidFill>
          <a:ln w="12700">
            <a:solidFill>
              <a:srgbClr val="3F7394">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3F7394"/>
                </a:solidFill>
                <a:latin typeface="Aptos" pitchFamily="34" charset="0"/>
                <a:ea typeface="Aptos" pitchFamily="34" charset="-122"/>
                <a:cs typeface="Aptos" pitchFamily="34" charset="-120"/>
              </a:rPr>
              <a:t>UNIT 5009    /    WEEK 03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20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3F7394"/>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3F7394"/>
                </a:solidFill>
                <a:latin typeface="Aptos" pitchFamily="34" charset="0"/>
                <a:ea typeface="Aptos" pitchFamily="34" charset="-122"/>
                <a:cs typeface="Aptos" pitchFamily="34" charset="-120"/>
              </a:rPr>
              <a:t>P2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2800" b="1" dirty="0">
                <a:solidFill>
                  <a:srgbClr val="1B3448"/>
                </a:solidFill>
                <a:latin typeface="Aptos Display" pitchFamily="34" charset="0"/>
                <a:ea typeface="Aptos Display" pitchFamily="34" charset="-122"/>
                <a:cs typeface="Aptos Display" pitchFamily="34" charset="-120"/>
              </a:rPr>
              <a:t>Candidate-by-candidate compatibility audit</a:t>
            </a:r>
            <a:endParaRPr lang="en-US" sz="28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3F7394"/>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3F7394"/>
          </a:solidFill>
          <a:ln w="12700">
            <a:solidFill>
              <a:srgbClr val="3F7394">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Teams test each of the three exact candidates against mandatory sensor input type/pulse needs, digital I/O count, actuator/buzzer output compatibility, safety boundary, supply, environment, communications, and expansion needs.</a:t>
            </a:r>
            <a:endParaRPr lang="en-US" sz="13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3F7394"/>
          </a:solidFill>
          <a:ln w="12700">
            <a:solidFill>
              <a:srgbClr val="3F7394">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Record PASS only with exact-model evidence, FAIL when a sourced requirement conflicts, and UNKNOWN when either side lacks evidence; cite source/page for every decision.</a:t>
            </a:r>
            <a:endParaRPr lang="en-US" sz="13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3F7394"/>
          </a:solidFill>
          <a:ln w="12700">
            <a:solidFill>
              <a:srgbClr val="3F7394">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Example: unknown sensor pulse width plus no documented counter limit is UNKNOWN, not PASS; a documented output current below verified load demand is FAIL for direct drive.</a:t>
            </a:r>
            <a:endParaRPr lang="en-US" sz="13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3F7394"/>
          </a:solidFill>
          <a:ln w="12700">
            <a:solidFill>
              <a:srgbClr val="3F7394">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Debrief: hard-gate failures cannot be averaged away; a redesign/interface may address a failure, but its cost and added risks must be evaluated.</a:t>
            </a:r>
            <a:endParaRPr lang="en-US" sz="13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3F7394"/>
                </a:solidFill>
                <a:latin typeface="Aptos" pitchFamily="34" charset="0"/>
                <a:ea typeface="Aptos" pitchFamily="34" charset="-122"/>
                <a:cs typeface="Aptos" pitchFamily="34" charset="-120"/>
              </a:rPr>
              <a:t>FORMATIVE CHECK</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Shape 28"/>
          <p:cNvSpPr/>
          <p:nvPr/>
        </p:nvSpPr>
        <p:spPr>
          <a:xfrm>
            <a:off x="8138160" y="2697480"/>
            <a:ext cx="256032" cy="256032"/>
          </a:xfrm>
          <a:prstGeom prst="rect">
            <a:avLst/>
          </a:prstGeom>
          <a:solidFill>
            <a:srgbClr val="FFFFFF"/>
          </a:solidFill>
          <a:ln w="17780">
            <a:solidFill>
              <a:srgbClr val="3F7394"/>
            </a:solidFill>
            <a:prstDash val="solid"/>
          </a:ln>
        </p:spPr>
      </p:sp>
      <p:sp>
        <p:nvSpPr>
          <p:cNvPr id="31" name="Text 29"/>
          <p:cNvSpPr/>
          <p:nvPr/>
        </p:nvSpPr>
        <p:spPr>
          <a:xfrm>
            <a:off x="8558784" y="2660904"/>
            <a:ext cx="310896" cy="173736"/>
          </a:xfrm>
          <a:prstGeom prst="rect">
            <a:avLst/>
          </a:prstGeom>
          <a:noFill/>
          <a:ln/>
        </p:spPr>
        <p:txBody>
          <a:bodyPr wrap="square" lIns="0" tIns="0" rIns="0" bIns="0" rtlCol="0" anchor="ctr"/>
          <a:lstStyle/>
          <a:p>
            <a:pPr indent="0" marL="0">
              <a:buNone/>
            </a:pPr>
            <a:r>
              <a:rPr lang="en-US" sz="800" b="1" dirty="0">
                <a:solidFill>
                  <a:srgbClr val="3F7394"/>
                </a:solidFill>
                <a:latin typeface="Aptos" pitchFamily="34" charset="0"/>
                <a:ea typeface="Aptos" pitchFamily="34" charset="-122"/>
                <a:cs typeface="Aptos" pitchFamily="34" charset="-120"/>
              </a:rPr>
              <a:t>01</a:t>
            </a:r>
            <a:endParaRPr lang="en-US" sz="800" dirty="0"/>
          </a:p>
        </p:txBody>
      </p:sp>
      <p:sp>
        <p:nvSpPr>
          <p:cNvPr id="32" name="Text 30"/>
          <p:cNvSpPr/>
          <p:nvPr/>
        </p:nvSpPr>
        <p:spPr>
          <a:xfrm>
            <a:off x="8942832" y="2651760"/>
            <a:ext cx="2121408" cy="329184"/>
          </a:xfrm>
          <a:prstGeom prst="rect">
            <a:avLst/>
          </a:prstGeom>
          <a:noFill/>
          <a:ln/>
        </p:spPr>
        <p:txBody>
          <a:bodyPr wrap="square" lIns="0" tIns="0" rIns="0" bIns="0" rtlCol="0" anchor="ctr">
            <a:normAutofit/>
          </a:bodyPr>
          <a:lstStyle/>
          <a:p>
            <a:pPr indent="0" marL="0">
              <a:buNone/>
            </a:pPr>
            <a:r>
              <a:rPr lang="en-US" sz="1000" b="1" dirty="0">
                <a:solidFill>
                  <a:srgbClr val="1B3448"/>
                </a:solidFill>
                <a:latin typeface="Aptos" pitchFamily="34" charset="0"/>
                <a:ea typeface="Aptos" pitchFamily="34" charset="-122"/>
                <a:cs typeface="Aptos" pitchFamily="34" charset="-120"/>
              </a:rPr>
              <a:t>ELECTRICAL FIT</a:t>
            </a:r>
            <a:endParaRPr lang="en-US" sz="1000" dirty="0"/>
          </a:p>
        </p:txBody>
      </p:sp>
      <p:sp>
        <p:nvSpPr>
          <p:cNvPr id="33" name="Shape 31"/>
          <p:cNvSpPr/>
          <p:nvPr/>
        </p:nvSpPr>
        <p:spPr>
          <a:xfrm>
            <a:off x="8558784" y="3163824"/>
            <a:ext cx="2542032" cy="0"/>
          </a:xfrm>
          <a:prstGeom prst="line">
            <a:avLst/>
          </a:prstGeom>
          <a:noFill/>
          <a:ln w="8890">
            <a:solidFill>
              <a:srgbClr val="D5E0E7"/>
            </a:solidFill>
            <a:prstDash val="solid"/>
          </a:ln>
        </p:spPr>
      </p:sp>
      <p:sp>
        <p:nvSpPr>
          <p:cNvPr id="34" name="Shape 32"/>
          <p:cNvSpPr/>
          <p:nvPr/>
        </p:nvSpPr>
        <p:spPr>
          <a:xfrm>
            <a:off x="8138160" y="3447288"/>
            <a:ext cx="256032" cy="256032"/>
          </a:xfrm>
          <a:prstGeom prst="rect">
            <a:avLst/>
          </a:prstGeom>
          <a:solidFill>
            <a:srgbClr val="FFFFFF"/>
          </a:solidFill>
          <a:ln w="17780">
            <a:solidFill>
              <a:srgbClr val="3F7394"/>
            </a:solidFill>
            <a:prstDash val="solid"/>
          </a:ln>
        </p:spPr>
      </p:sp>
      <p:sp>
        <p:nvSpPr>
          <p:cNvPr id="35" name="Text 33"/>
          <p:cNvSpPr/>
          <p:nvPr/>
        </p:nvSpPr>
        <p:spPr>
          <a:xfrm>
            <a:off x="8558784" y="3410712"/>
            <a:ext cx="310896" cy="173736"/>
          </a:xfrm>
          <a:prstGeom prst="rect">
            <a:avLst/>
          </a:prstGeom>
          <a:noFill/>
          <a:ln/>
        </p:spPr>
        <p:txBody>
          <a:bodyPr wrap="square" lIns="0" tIns="0" rIns="0" bIns="0" rtlCol="0" anchor="ctr"/>
          <a:lstStyle/>
          <a:p>
            <a:pPr indent="0" marL="0">
              <a:buNone/>
            </a:pPr>
            <a:r>
              <a:rPr lang="en-US" sz="800" b="1" dirty="0">
                <a:solidFill>
                  <a:srgbClr val="3F7394"/>
                </a:solidFill>
                <a:latin typeface="Aptos" pitchFamily="34" charset="0"/>
                <a:ea typeface="Aptos" pitchFamily="34" charset="-122"/>
                <a:cs typeface="Aptos" pitchFamily="34" charset="-120"/>
              </a:rPr>
              <a:t>02</a:t>
            </a:r>
            <a:endParaRPr lang="en-US" sz="800" dirty="0"/>
          </a:p>
        </p:txBody>
      </p:sp>
      <p:sp>
        <p:nvSpPr>
          <p:cNvPr id="36" name="Text 34"/>
          <p:cNvSpPr/>
          <p:nvPr/>
        </p:nvSpPr>
        <p:spPr>
          <a:xfrm>
            <a:off x="8942832" y="3401568"/>
            <a:ext cx="2121408" cy="329184"/>
          </a:xfrm>
          <a:prstGeom prst="rect">
            <a:avLst/>
          </a:prstGeom>
          <a:noFill/>
          <a:ln/>
        </p:spPr>
        <p:txBody>
          <a:bodyPr wrap="square" lIns="0" tIns="0" rIns="0" bIns="0" rtlCol="0" anchor="ctr">
            <a:normAutofit/>
          </a:bodyPr>
          <a:lstStyle/>
          <a:p>
            <a:pPr indent="0" marL="0">
              <a:buNone/>
            </a:pPr>
            <a:r>
              <a:rPr lang="en-US" sz="1000" b="1" dirty="0">
                <a:solidFill>
                  <a:srgbClr val="1B3448"/>
                </a:solidFill>
                <a:latin typeface="Aptos" pitchFamily="34" charset="0"/>
                <a:ea typeface="Aptos" pitchFamily="34" charset="-122"/>
                <a:cs typeface="Aptos" pitchFamily="34" charset="-120"/>
              </a:rPr>
              <a:t>OUTPUT / INPUT TYPE</a:t>
            </a:r>
            <a:endParaRPr lang="en-US" sz="1000" dirty="0"/>
          </a:p>
        </p:txBody>
      </p:sp>
      <p:sp>
        <p:nvSpPr>
          <p:cNvPr id="37" name="Shape 35"/>
          <p:cNvSpPr/>
          <p:nvPr/>
        </p:nvSpPr>
        <p:spPr>
          <a:xfrm>
            <a:off x="8558784" y="3913632"/>
            <a:ext cx="2542032" cy="0"/>
          </a:xfrm>
          <a:prstGeom prst="line">
            <a:avLst/>
          </a:prstGeom>
          <a:noFill/>
          <a:ln w="8890">
            <a:solidFill>
              <a:srgbClr val="D5E0E7"/>
            </a:solidFill>
            <a:prstDash val="solid"/>
          </a:ln>
        </p:spPr>
      </p:sp>
      <p:sp>
        <p:nvSpPr>
          <p:cNvPr id="38" name="Shape 36"/>
          <p:cNvSpPr/>
          <p:nvPr/>
        </p:nvSpPr>
        <p:spPr>
          <a:xfrm>
            <a:off x="8138160" y="4197096"/>
            <a:ext cx="256032" cy="256032"/>
          </a:xfrm>
          <a:prstGeom prst="rect">
            <a:avLst/>
          </a:prstGeom>
          <a:solidFill>
            <a:srgbClr val="FFFFFF"/>
          </a:solidFill>
          <a:ln w="17780">
            <a:solidFill>
              <a:srgbClr val="3F7394"/>
            </a:solidFill>
            <a:prstDash val="solid"/>
          </a:ln>
        </p:spPr>
      </p:sp>
      <p:sp>
        <p:nvSpPr>
          <p:cNvPr id="39" name="Text 37"/>
          <p:cNvSpPr/>
          <p:nvPr/>
        </p:nvSpPr>
        <p:spPr>
          <a:xfrm>
            <a:off x="8558784" y="4160520"/>
            <a:ext cx="310896" cy="173736"/>
          </a:xfrm>
          <a:prstGeom prst="rect">
            <a:avLst/>
          </a:prstGeom>
          <a:noFill/>
          <a:ln/>
        </p:spPr>
        <p:txBody>
          <a:bodyPr wrap="square" lIns="0" tIns="0" rIns="0" bIns="0" rtlCol="0" anchor="ctr"/>
          <a:lstStyle/>
          <a:p>
            <a:pPr indent="0" marL="0">
              <a:buNone/>
            </a:pPr>
            <a:r>
              <a:rPr lang="en-US" sz="800" b="1" dirty="0">
                <a:solidFill>
                  <a:srgbClr val="3F7394"/>
                </a:solidFill>
                <a:latin typeface="Aptos" pitchFamily="34" charset="0"/>
                <a:ea typeface="Aptos" pitchFamily="34" charset="-122"/>
                <a:cs typeface="Aptos" pitchFamily="34" charset="-120"/>
              </a:rPr>
              <a:t>03</a:t>
            </a:r>
            <a:endParaRPr lang="en-US" sz="800" dirty="0"/>
          </a:p>
        </p:txBody>
      </p:sp>
      <p:sp>
        <p:nvSpPr>
          <p:cNvPr id="40" name="Text 38"/>
          <p:cNvSpPr/>
          <p:nvPr/>
        </p:nvSpPr>
        <p:spPr>
          <a:xfrm>
            <a:off x="8942832" y="4151376"/>
            <a:ext cx="2121408" cy="329184"/>
          </a:xfrm>
          <a:prstGeom prst="rect">
            <a:avLst/>
          </a:prstGeom>
          <a:noFill/>
          <a:ln/>
        </p:spPr>
        <p:txBody>
          <a:bodyPr wrap="square" lIns="0" tIns="0" rIns="0" bIns="0" rtlCol="0" anchor="ctr">
            <a:normAutofit/>
          </a:bodyPr>
          <a:lstStyle/>
          <a:p>
            <a:pPr indent="0" marL="0">
              <a:buNone/>
            </a:pPr>
            <a:r>
              <a:rPr lang="en-US" sz="1000" b="1" dirty="0">
                <a:solidFill>
                  <a:srgbClr val="1B3448"/>
                </a:solidFill>
                <a:latin typeface="Aptos" pitchFamily="34" charset="0"/>
                <a:ea typeface="Aptos" pitchFamily="34" charset="-122"/>
                <a:cs typeface="Aptos" pitchFamily="34" charset="-120"/>
              </a:rPr>
              <a:t>RATINGS + LIMITS</a:t>
            </a:r>
            <a:endParaRPr lang="en-US" sz="1000" dirty="0"/>
          </a:p>
        </p:txBody>
      </p:sp>
      <p:sp>
        <p:nvSpPr>
          <p:cNvPr id="41" name="Shape 39"/>
          <p:cNvSpPr/>
          <p:nvPr/>
        </p:nvSpPr>
        <p:spPr>
          <a:xfrm>
            <a:off x="8558784" y="4663440"/>
            <a:ext cx="2542032" cy="0"/>
          </a:xfrm>
          <a:prstGeom prst="line">
            <a:avLst/>
          </a:prstGeom>
          <a:noFill/>
          <a:ln w="8890">
            <a:solidFill>
              <a:srgbClr val="D5E0E7"/>
            </a:solidFill>
            <a:prstDash val="solid"/>
          </a:ln>
        </p:spPr>
      </p:sp>
      <p:sp>
        <p:nvSpPr>
          <p:cNvPr id="42" name="Shape 40"/>
          <p:cNvSpPr/>
          <p:nvPr/>
        </p:nvSpPr>
        <p:spPr>
          <a:xfrm>
            <a:off x="8138160" y="4946904"/>
            <a:ext cx="256032" cy="256032"/>
          </a:xfrm>
          <a:prstGeom prst="rect">
            <a:avLst/>
          </a:prstGeom>
          <a:solidFill>
            <a:srgbClr val="FFFFFF"/>
          </a:solidFill>
          <a:ln w="17780">
            <a:solidFill>
              <a:srgbClr val="3F7394"/>
            </a:solidFill>
            <a:prstDash val="solid"/>
          </a:ln>
        </p:spPr>
      </p:sp>
      <p:sp>
        <p:nvSpPr>
          <p:cNvPr id="43" name="Text 41"/>
          <p:cNvSpPr/>
          <p:nvPr/>
        </p:nvSpPr>
        <p:spPr>
          <a:xfrm>
            <a:off x="8558784" y="4910328"/>
            <a:ext cx="310896" cy="173736"/>
          </a:xfrm>
          <a:prstGeom prst="rect">
            <a:avLst/>
          </a:prstGeom>
          <a:noFill/>
          <a:ln/>
        </p:spPr>
        <p:txBody>
          <a:bodyPr wrap="square" lIns="0" tIns="0" rIns="0" bIns="0" rtlCol="0" anchor="ctr"/>
          <a:lstStyle/>
          <a:p>
            <a:pPr indent="0" marL="0">
              <a:buNone/>
            </a:pPr>
            <a:r>
              <a:rPr lang="en-US" sz="800" b="1" dirty="0">
                <a:solidFill>
                  <a:srgbClr val="3F7394"/>
                </a:solidFill>
                <a:latin typeface="Aptos" pitchFamily="34" charset="0"/>
                <a:ea typeface="Aptos" pitchFamily="34" charset="-122"/>
                <a:cs typeface="Aptos" pitchFamily="34" charset="-120"/>
              </a:rPr>
              <a:t>04</a:t>
            </a:r>
            <a:endParaRPr lang="en-US" sz="800" dirty="0"/>
          </a:p>
        </p:txBody>
      </p:sp>
      <p:sp>
        <p:nvSpPr>
          <p:cNvPr id="44" name="Text 42"/>
          <p:cNvSpPr/>
          <p:nvPr/>
        </p:nvSpPr>
        <p:spPr>
          <a:xfrm>
            <a:off x="8942832" y="4901184"/>
            <a:ext cx="2121408" cy="329184"/>
          </a:xfrm>
          <a:prstGeom prst="rect">
            <a:avLst/>
          </a:prstGeom>
          <a:noFill/>
          <a:ln/>
        </p:spPr>
        <p:txBody>
          <a:bodyPr wrap="square" lIns="0" tIns="0" rIns="0" bIns="0" rtlCol="0" anchor="ctr">
            <a:normAutofit/>
          </a:bodyPr>
          <a:lstStyle/>
          <a:p>
            <a:pPr indent="0" marL="0">
              <a:buNone/>
            </a:pPr>
            <a:r>
              <a:rPr lang="en-US" sz="1000" b="1" dirty="0">
                <a:solidFill>
                  <a:srgbClr val="1B3448"/>
                </a:solidFill>
                <a:latin typeface="Aptos" pitchFamily="34" charset="0"/>
                <a:ea typeface="Aptos" pitchFamily="34" charset="-122"/>
                <a:cs typeface="Aptos" pitchFamily="34" charset="-120"/>
              </a:rPr>
              <a:t>COMPATIBILITY</a:t>
            </a:r>
            <a:endParaRPr lang="en-US" sz="1000" dirty="0"/>
          </a:p>
        </p:txBody>
      </p:sp>
      <p:sp>
        <p:nvSpPr>
          <p:cNvPr id="45" name="Shape 43"/>
          <p:cNvSpPr/>
          <p:nvPr/>
        </p:nvSpPr>
        <p:spPr>
          <a:xfrm>
            <a:off x="603504" y="6318504"/>
            <a:ext cx="10972800" cy="0"/>
          </a:xfrm>
          <a:prstGeom prst="line">
            <a:avLst/>
          </a:prstGeom>
          <a:noFill/>
          <a:ln w="10160">
            <a:solidFill>
              <a:srgbClr val="D5E0E7"/>
            </a:solidFill>
            <a:prstDash val="solid"/>
          </a:ln>
        </p:spPr>
      </p:sp>
      <p:sp>
        <p:nvSpPr>
          <p:cNvPr id="46" name="Text 44"/>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PLC SPECIFICATIONS AND I/O MODULES</a:t>
            </a:r>
            <a:endParaRPr lang="en-US" sz="800" dirty="0"/>
          </a:p>
        </p:txBody>
      </p:sp>
      <p:sp>
        <p:nvSpPr>
          <p:cNvPr id="47" name="Text 45"/>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15 / 18</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3F7394"/>
          </a:solidFill>
          <a:ln w="12700">
            <a:solidFill>
              <a:srgbClr val="3F7394">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3F7394"/>
                </a:solidFill>
                <a:latin typeface="Aptos" pitchFamily="34" charset="0"/>
                <a:ea typeface="Aptos" pitchFamily="34" charset="-122"/>
                <a:cs typeface="Aptos" pitchFamily="34" charset="-120"/>
              </a:rPr>
              <a:t>UNIT 5009    /    WEEK 03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20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3F7394"/>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3F7394"/>
                </a:solidFill>
                <a:latin typeface="Aptos" pitchFamily="34" charset="0"/>
                <a:ea typeface="Aptos" pitchFamily="34" charset="-122"/>
                <a:cs typeface="Aptos" pitchFamily="34" charset="-120"/>
              </a:rPr>
              <a:t>P2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Datasheet evidence clinic</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3F7394"/>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3F7394"/>
          </a:solidFill>
          <a:ln w="12700">
            <a:solidFill>
              <a:srgbClr val="3F7394">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Exchange one numeric or capability claim and locate the exact part number, manual revision, and supporting page/table; partners verify context and operating conditions.</a:t>
            </a:r>
            <a:endParaRPr lang="en-US" sz="14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3F7394"/>
          </a:solidFill>
          <a:ln w="12700">
            <a:solidFill>
              <a:srgbClr val="3F7394">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Resolution is not accuracy; a smaller quantisation step does not prove a more accurate measurement without total-error evidence.</a:t>
            </a:r>
            <a:endParaRPr lang="en-US" sz="14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3F7394"/>
          </a:solidFill>
          <a:ln w="12700">
            <a:solidFill>
              <a:srgbClr val="3F7394">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Scan time is not end-to-end response; a relay current headline is not a load-category approval; per-point current is not automatically available simultaneously across a group.</a:t>
            </a:r>
            <a:endParaRPr lang="en-US" sz="14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3F7394"/>
          </a:solidFill>
          <a:ln w="12700">
            <a:solidFill>
              <a:srgbClr val="3F7394">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Debrief with a corrected claim that states the actual field, consequence for MedPack, and remaining uncertainty or test needed.</a:t>
            </a:r>
            <a:endParaRPr lang="en-US" sz="14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3F7394"/>
                </a:solidFill>
                <a:latin typeface="Aptos" pitchFamily="34" charset="0"/>
                <a:ea typeface="Aptos" pitchFamily="34" charset="-122"/>
                <a:cs typeface="Aptos" pitchFamily="34" charset="-120"/>
              </a:rPr>
              <a:t>DECISION METHOD</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Text 28"/>
          <p:cNvSpPr/>
          <p:nvPr/>
        </p:nvSpPr>
        <p:spPr>
          <a:xfrm>
            <a:off x="8101584" y="2660904"/>
            <a:ext cx="3063240" cy="320040"/>
          </a:xfrm>
          <a:prstGeom prst="rect">
            <a:avLst/>
          </a:prstGeom>
          <a:noFill/>
          <a:ln/>
        </p:spPr>
        <p:txBody>
          <a:bodyPr wrap="square" lIns="0" tIns="0" rIns="0" bIns="0" rtlCol="0" anchor="ctr">
            <a:normAutofit/>
          </a:bodyPr>
          <a:lstStyle/>
          <a:p>
            <a:pPr algn="ctr" indent="0" marL="0">
              <a:buNone/>
            </a:pPr>
            <a:r>
              <a:rPr lang="en-US" sz="920" b="1" dirty="0">
                <a:solidFill>
                  <a:srgbClr val="3F7394"/>
                </a:solidFill>
                <a:latin typeface="Aptos" pitchFamily="34" charset="0"/>
                <a:ea typeface="Aptos" pitchFamily="34" charset="-122"/>
                <a:cs typeface="Aptos" pitchFamily="34" charset="-120"/>
              </a:rPr>
              <a:t>FIRST: PASS / FAIL MANDATORY GATES</a:t>
            </a:r>
            <a:endParaRPr lang="en-US" sz="920" dirty="0"/>
          </a:p>
        </p:txBody>
      </p:sp>
      <p:sp>
        <p:nvSpPr>
          <p:cNvPr id="31" name="Shape 29"/>
          <p:cNvSpPr/>
          <p:nvPr/>
        </p:nvSpPr>
        <p:spPr>
          <a:xfrm>
            <a:off x="8238744" y="3172968"/>
            <a:ext cx="1298448" cy="438912"/>
          </a:xfrm>
          <a:prstGeom prst="rect">
            <a:avLst/>
          </a:prstGeom>
          <a:solidFill>
            <a:srgbClr val="F4F8FA"/>
          </a:solidFill>
          <a:ln w="14605">
            <a:solidFill>
              <a:srgbClr val="3F7394"/>
            </a:solidFill>
            <a:prstDash val="solid"/>
          </a:ln>
        </p:spPr>
      </p:sp>
      <p:sp>
        <p:nvSpPr>
          <p:cNvPr id="32" name="Text 30"/>
          <p:cNvSpPr/>
          <p:nvPr/>
        </p:nvSpPr>
        <p:spPr>
          <a:xfrm>
            <a:off x="8311896" y="3227832"/>
            <a:ext cx="1152144" cy="329184"/>
          </a:xfrm>
          <a:prstGeom prst="rect">
            <a:avLst/>
          </a:prstGeom>
          <a:noFill/>
          <a:ln/>
        </p:spPr>
        <p:txBody>
          <a:bodyPr wrap="square" lIns="0" tIns="0" rIns="0" bIns="0" rtlCol="0" anchor="ctr">
            <a:normAutofit/>
          </a:bodyPr>
          <a:lstStyle/>
          <a:p>
            <a:pPr algn="ctr" indent="0" marL="0">
              <a:buNone/>
            </a:pPr>
            <a:r>
              <a:rPr lang="en-US" sz="920" b="1" dirty="0">
                <a:solidFill>
                  <a:srgbClr val="1B3448"/>
                </a:solidFill>
                <a:latin typeface="Aptos" pitchFamily="34" charset="0"/>
                <a:ea typeface="Aptos" pitchFamily="34" charset="-122"/>
                <a:cs typeface="Aptos" pitchFamily="34" charset="-120"/>
              </a:rPr>
              <a:t>Electrical fit</a:t>
            </a:r>
            <a:endParaRPr lang="en-US" sz="920" dirty="0"/>
          </a:p>
        </p:txBody>
      </p:sp>
      <p:sp>
        <p:nvSpPr>
          <p:cNvPr id="33" name="Text 31"/>
          <p:cNvSpPr/>
          <p:nvPr/>
        </p:nvSpPr>
        <p:spPr>
          <a:xfrm>
            <a:off x="9793224" y="3246120"/>
            <a:ext cx="530352" cy="256032"/>
          </a:xfrm>
          <a:prstGeom prst="rect">
            <a:avLst/>
          </a:prstGeom>
          <a:noFill/>
          <a:ln/>
        </p:spPr>
        <p:txBody>
          <a:bodyPr wrap="square" lIns="0" tIns="0" rIns="0" bIns="0" rtlCol="0" anchor="ctr">
            <a:normAutofit/>
          </a:bodyPr>
          <a:lstStyle/>
          <a:p>
            <a:pPr algn="ctr" indent="0" marL="0">
              <a:buNone/>
            </a:pPr>
            <a:r>
              <a:rPr lang="en-US" sz="850" b="1" dirty="0">
                <a:solidFill>
                  <a:srgbClr val="087F8C"/>
                </a:solidFill>
                <a:latin typeface="Aptos" pitchFamily="34" charset="0"/>
                <a:ea typeface="Aptos" pitchFamily="34" charset="-122"/>
                <a:cs typeface="Aptos" pitchFamily="34" charset="-120"/>
              </a:rPr>
              <a:t>PASS</a:t>
            </a:r>
            <a:endParaRPr lang="en-US" sz="850" dirty="0"/>
          </a:p>
        </p:txBody>
      </p:sp>
      <p:sp>
        <p:nvSpPr>
          <p:cNvPr id="34" name="Text 32"/>
          <p:cNvSpPr/>
          <p:nvPr/>
        </p:nvSpPr>
        <p:spPr>
          <a:xfrm>
            <a:off x="10323576" y="3246120"/>
            <a:ext cx="914400" cy="256032"/>
          </a:xfrm>
          <a:prstGeom prst="rect">
            <a:avLst/>
          </a:prstGeom>
          <a:noFill/>
          <a:ln/>
        </p:spPr>
        <p:txBody>
          <a:bodyPr wrap="square" lIns="0" tIns="0" rIns="0" bIns="0" rtlCol="0" anchor="ctr">
            <a:normAutofit/>
          </a:bodyPr>
          <a:lstStyle/>
          <a:p>
            <a:pPr algn="ctr" indent="0" marL="0">
              <a:buNone/>
            </a:pPr>
            <a:r>
              <a:rPr lang="en-US" sz="800" b="1" dirty="0">
                <a:solidFill>
                  <a:srgbClr val="C65E4E"/>
                </a:solidFill>
                <a:latin typeface="Aptos" pitchFamily="34" charset="0"/>
                <a:ea typeface="Aptos" pitchFamily="34" charset="-122"/>
                <a:cs typeface="Aptos" pitchFamily="34" charset="-120"/>
              </a:rPr>
              <a:t>FAIL = EXCLUDE</a:t>
            </a:r>
            <a:endParaRPr lang="en-US" sz="800" dirty="0"/>
          </a:p>
        </p:txBody>
      </p:sp>
      <p:sp>
        <p:nvSpPr>
          <p:cNvPr id="35" name="Shape 33"/>
          <p:cNvSpPr/>
          <p:nvPr/>
        </p:nvSpPr>
        <p:spPr>
          <a:xfrm>
            <a:off x="8238744" y="3813048"/>
            <a:ext cx="1298448" cy="438912"/>
          </a:xfrm>
          <a:prstGeom prst="rect">
            <a:avLst/>
          </a:prstGeom>
          <a:solidFill>
            <a:srgbClr val="F4F8FA"/>
          </a:solidFill>
          <a:ln w="14605">
            <a:solidFill>
              <a:srgbClr val="3F7394"/>
            </a:solidFill>
            <a:prstDash val="solid"/>
          </a:ln>
        </p:spPr>
      </p:sp>
      <p:sp>
        <p:nvSpPr>
          <p:cNvPr id="36" name="Text 34"/>
          <p:cNvSpPr/>
          <p:nvPr/>
        </p:nvSpPr>
        <p:spPr>
          <a:xfrm>
            <a:off x="8311896" y="3867912"/>
            <a:ext cx="1152144" cy="329184"/>
          </a:xfrm>
          <a:prstGeom prst="rect">
            <a:avLst/>
          </a:prstGeom>
          <a:noFill/>
          <a:ln/>
        </p:spPr>
        <p:txBody>
          <a:bodyPr wrap="square" lIns="0" tIns="0" rIns="0" bIns="0" rtlCol="0" anchor="ctr">
            <a:normAutofit/>
          </a:bodyPr>
          <a:lstStyle/>
          <a:p>
            <a:pPr algn="ctr" indent="0" marL="0">
              <a:buNone/>
            </a:pPr>
            <a:r>
              <a:rPr lang="en-US" sz="920" b="1" dirty="0">
                <a:solidFill>
                  <a:srgbClr val="1B3448"/>
                </a:solidFill>
                <a:latin typeface="Aptos" pitchFamily="34" charset="0"/>
                <a:ea typeface="Aptos" pitchFamily="34" charset="-122"/>
                <a:cs typeface="Aptos" pitchFamily="34" charset="-120"/>
              </a:rPr>
              <a:t>Required I/O</a:t>
            </a:r>
            <a:endParaRPr lang="en-US" sz="920" dirty="0"/>
          </a:p>
        </p:txBody>
      </p:sp>
      <p:sp>
        <p:nvSpPr>
          <p:cNvPr id="37" name="Text 35"/>
          <p:cNvSpPr/>
          <p:nvPr/>
        </p:nvSpPr>
        <p:spPr>
          <a:xfrm>
            <a:off x="9793224" y="3886200"/>
            <a:ext cx="530352" cy="256032"/>
          </a:xfrm>
          <a:prstGeom prst="rect">
            <a:avLst/>
          </a:prstGeom>
          <a:noFill/>
          <a:ln/>
        </p:spPr>
        <p:txBody>
          <a:bodyPr wrap="square" lIns="0" tIns="0" rIns="0" bIns="0" rtlCol="0" anchor="ctr">
            <a:normAutofit/>
          </a:bodyPr>
          <a:lstStyle/>
          <a:p>
            <a:pPr algn="ctr" indent="0" marL="0">
              <a:buNone/>
            </a:pPr>
            <a:r>
              <a:rPr lang="en-US" sz="850" b="1" dirty="0">
                <a:solidFill>
                  <a:srgbClr val="087F8C"/>
                </a:solidFill>
                <a:latin typeface="Aptos" pitchFamily="34" charset="0"/>
                <a:ea typeface="Aptos" pitchFamily="34" charset="-122"/>
                <a:cs typeface="Aptos" pitchFamily="34" charset="-120"/>
              </a:rPr>
              <a:t>PASS</a:t>
            </a:r>
            <a:endParaRPr lang="en-US" sz="850" dirty="0"/>
          </a:p>
        </p:txBody>
      </p:sp>
      <p:sp>
        <p:nvSpPr>
          <p:cNvPr id="38" name="Text 36"/>
          <p:cNvSpPr/>
          <p:nvPr/>
        </p:nvSpPr>
        <p:spPr>
          <a:xfrm>
            <a:off x="10323576" y="3886200"/>
            <a:ext cx="914400" cy="256032"/>
          </a:xfrm>
          <a:prstGeom prst="rect">
            <a:avLst/>
          </a:prstGeom>
          <a:noFill/>
          <a:ln/>
        </p:spPr>
        <p:txBody>
          <a:bodyPr wrap="square" lIns="0" tIns="0" rIns="0" bIns="0" rtlCol="0" anchor="ctr">
            <a:normAutofit/>
          </a:bodyPr>
          <a:lstStyle/>
          <a:p>
            <a:pPr algn="ctr" indent="0" marL="0">
              <a:buNone/>
            </a:pPr>
            <a:r>
              <a:rPr lang="en-US" sz="800" b="1" dirty="0">
                <a:solidFill>
                  <a:srgbClr val="C65E4E"/>
                </a:solidFill>
                <a:latin typeface="Aptos" pitchFamily="34" charset="0"/>
                <a:ea typeface="Aptos" pitchFamily="34" charset="-122"/>
                <a:cs typeface="Aptos" pitchFamily="34" charset="-120"/>
              </a:rPr>
              <a:t>FAIL = EXCLUDE</a:t>
            </a:r>
            <a:endParaRPr lang="en-US" sz="800" dirty="0"/>
          </a:p>
        </p:txBody>
      </p:sp>
      <p:sp>
        <p:nvSpPr>
          <p:cNvPr id="39" name="Shape 37"/>
          <p:cNvSpPr/>
          <p:nvPr/>
        </p:nvSpPr>
        <p:spPr>
          <a:xfrm>
            <a:off x="8238744" y="4453128"/>
            <a:ext cx="1298448" cy="438912"/>
          </a:xfrm>
          <a:prstGeom prst="rect">
            <a:avLst/>
          </a:prstGeom>
          <a:solidFill>
            <a:srgbClr val="F4F8FA"/>
          </a:solidFill>
          <a:ln w="14605">
            <a:solidFill>
              <a:srgbClr val="3F7394"/>
            </a:solidFill>
            <a:prstDash val="solid"/>
          </a:ln>
        </p:spPr>
      </p:sp>
      <p:sp>
        <p:nvSpPr>
          <p:cNvPr id="40" name="Text 38"/>
          <p:cNvSpPr/>
          <p:nvPr/>
        </p:nvSpPr>
        <p:spPr>
          <a:xfrm>
            <a:off x="8311896" y="4507992"/>
            <a:ext cx="1152144" cy="329184"/>
          </a:xfrm>
          <a:prstGeom prst="rect">
            <a:avLst/>
          </a:prstGeom>
          <a:noFill/>
          <a:ln/>
        </p:spPr>
        <p:txBody>
          <a:bodyPr wrap="square" lIns="0" tIns="0" rIns="0" bIns="0" rtlCol="0" anchor="ctr">
            <a:normAutofit/>
          </a:bodyPr>
          <a:lstStyle/>
          <a:p>
            <a:pPr algn="ctr" indent="0" marL="0">
              <a:buNone/>
            </a:pPr>
            <a:r>
              <a:rPr lang="en-US" sz="920" b="1" dirty="0">
                <a:solidFill>
                  <a:srgbClr val="1B3448"/>
                </a:solidFill>
                <a:latin typeface="Aptos" pitchFamily="34" charset="0"/>
                <a:ea typeface="Aptos" pitchFamily="34" charset="-122"/>
                <a:cs typeface="Aptos" pitchFamily="34" charset="-120"/>
              </a:rPr>
              <a:t>Safety boundary</a:t>
            </a:r>
            <a:endParaRPr lang="en-US" sz="920" dirty="0"/>
          </a:p>
        </p:txBody>
      </p:sp>
      <p:sp>
        <p:nvSpPr>
          <p:cNvPr id="41" name="Text 39"/>
          <p:cNvSpPr/>
          <p:nvPr/>
        </p:nvSpPr>
        <p:spPr>
          <a:xfrm>
            <a:off x="9793224" y="4526280"/>
            <a:ext cx="530352" cy="256032"/>
          </a:xfrm>
          <a:prstGeom prst="rect">
            <a:avLst/>
          </a:prstGeom>
          <a:noFill/>
          <a:ln/>
        </p:spPr>
        <p:txBody>
          <a:bodyPr wrap="square" lIns="0" tIns="0" rIns="0" bIns="0" rtlCol="0" anchor="ctr">
            <a:normAutofit/>
          </a:bodyPr>
          <a:lstStyle/>
          <a:p>
            <a:pPr algn="ctr" indent="0" marL="0">
              <a:buNone/>
            </a:pPr>
            <a:r>
              <a:rPr lang="en-US" sz="850" b="1" dirty="0">
                <a:solidFill>
                  <a:srgbClr val="087F8C"/>
                </a:solidFill>
                <a:latin typeface="Aptos" pitchFamily="34" charset="0"/>
                <a:ea typeface="Aptos" pitchFamily="34" charset="-122"/>
                <a:cs typeface="Aptos" pitchFamily="34" charset="-120"/>
              </a:rPr>
              <a:t>PASS</a:t>
            </a:r>
            <a:endParaRPr lang="en-US" sz="850" dirty="0"/>
          </a:p>
        </p:txBody>
      </p:sp>
      <p:sp>
        <p:nvSpPr>
          <p:cNvPr id="42" name="Text 40"/>
          <p:cNvSpPr/>
          <p:nvPr/>
        </p:nvSpPr>
        <p:spPr>
          <a:xfrm>
            <a:off x="10323576" y="4526280"/>
            <a:ext cx="914400" cy="256032"/>
          </a:xfrm>
          <a:prstGeom prst="rect">
            <a:avLst/>
          </a:prstGeom>
          <a:noFill/>
          <a:ln/>
        </p:spPr>
        <p:txBody>
          <a:bodyPr wrap="square" lIns="0" tIns="0" rIns="0" bIns="0" rtlCol="0" anchor="ctr">
            <a:normAutofit/>
          </a:bodyPr>
          <a:lstStyle/>
          <a:p>
            <a:pPr algn="ctr" indent="0" marL="0">
              <a:buNone/>
            </a:pPr>
            <a:r>
              <a:rPr lang="en-US" sz="800" b="1" dirty="0">
                <a:solidFill>
                  <a:srgbClr val="C65E4E"/>
                </a:solidFill>
                <a:latin typeface="Aptos" pitchFamily="34" charset="0"/>
                <a:ea typeface="Aptos" pitchFamily="34" charset="-122"/>
                <a:cs typeface="Aptos" pitchFamily="34" charset="-120"/>
              </a:rPr>
              <a:t>FAIL = EXCLUDE</a:t>
            </a:r>
            <a:endParaRPr lang="en-US" sz="800" dirty="0"/>
          </a:p>
        </p:txBody>
      </p:sp>
      <p:sp>
        <p:nvSpPr>
          <p:cNvPr id="43" name="Shape 41"/>
          <p:cNvSpPr/>
          <p:nvPr/>
        </p:nvSpPr>
        <p:spPr>
          <a:xfrm>
            <a:off x="8211312" y="5276088"/>
            <a:ext cx="3108960" cy="0"/>
          </a:xfrm>
          <a:prstGeom prst="line">
            <a:avLst/>
          </a:prstGeom>
          <a:noFill/>
          <a:ln w="12700">
            <a:solidFill>
              <a:srgbClr val="D5E0E7"/>
            </a:solidFill>
            <a:prstDash val="solid"/>
          </a:ln>
        </p:spPr>
      </p:sp>
      <p:sp>
        <p:nvSpPr>
          <p:cNvPr id="44" name="Text 42"/>
          <p:cNvSpPr/>
          <p:nvPr/>
        </p:nvSpPr>
        <p:spPr>
          <a:xfrm>
            <a:off x="8156448" y="5404104"/>
            <a:ext cx="3200400" cy="411480"/>
          </a:xfrm>
          <a:prstGeom prst="rect">
            <a:avLst/>
          </a:prstGeom>
          <a:noFill/>
          <a:ln/>
        </p:spPr>
        <p:txBody>
          <a:bodyPr wrap="square" lIns="0" tIns="0" rIns="0" bIns="0" rtlCol="0" anchor="ctr">
            <a:normAutofit/>
          </a:bodyPr>
          <a:lstStyle/>
          <a:p>
            <a:pPr algn="ctr" indent="0" marL="0">
              <a:buNone/>
            </a:pPr>
            <a:r>
              <a:rPr lang="en-US" sz="1020" b="1" dirty="0">
                <a:solidFill>
                  <a:srgbClr val="1B3448"/>
                </a:solidFill>
                <a:latin typeface="Aptos" pitchFamily="34" charset="0"/>
                <a:ea typeface="Aptos" pitchFamily="34" charset="-122"/>
                <a:cs typeface="Aptos" pitchFamily="34" charset="-120"/>
              </a:rPr>
              <a:t>THEN weigh preferences with cited evidence</a:t>
            </a:r>
            <a:endParaRPr lang="en-US" sz="1020" dirty="0"/>
          </a:p>
        </p:txBody>
      </p:sp>
      <p:sp>
        <p:nvSpPr>
          <p:cNvPr id="45" name="Shape 43"/>
          <p:cNvSpPr/>
          <p:nvPr/>
        </p:nvSpPr>
        <p:spPr>
          <a:xfrm>
            <a:off x="603504" y="6318504"/>
            <a:ext cx="10972800" cy="0"/>
          </a:xfrm>
          <a:prstGeom prst="line">
            <a:avLst/>
          </a:prstGeom>
          <a:noFill/>
          <a:ln w="10160">
            <a:solidFill>
              <a:srgbClr val="D5E0E7"/>
            </a:solidFill>
            <a:prstDash val="solid"/>
          </a:ln>
        </p:spPr>
      </p:sp>
      <p:sp>
        <p:nvSpPr>
          <p:cNvPr id="46" name="Text 44"/>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PLC SPECIFICATIONS AND I/O MODULES</a:t>
            </a:r>
            <a:endParaRPr lang="en-US" sz="800" dirty="0"/>
          </a:p>
        </p:txBody>
      </p:sp>
      <p:sp>
        <p:nvSpPr>
          <p:cNvPr id="47" name="Text 45"/>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16 / 18</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3F7394"/>
          </a:solidFill>
          <a:ln w="12700">
            <a:solidFill>
              <a:srgbClr val="3F7394">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3F7394"/>
                </a:solidFill>
                <a:latin typeface="Aptos" pitchFamily="34" charset="0"/>
                <a:ea typeface="Aptos" pitchFamily="34" charset="-122"/>
                <a:cs typeface="Aptos" pitchFamily="34" charset="-120"/>
              </a:rPr>
              <a:t>UNIT 5009    /    WEEK 03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7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3F7394"/>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3F7394"/>
                </a:solidFill>
                <a:latin typeface="Aptos" pitchFamily="34" charset="0"/>
                <a:ea typeface="Aptos" pitchFamily="34" charset="-122"/>
                <a:cs typeface="Aptos" pitchFamily="34" charset="-120"/>
              </a:rPr>
              <a:t>P2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Update the P2 comparison matrix</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3F7394"/>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3F7394"/>
          </a:solidFill>
          <a:ln w="12700">
            <a:solidFill>
              <a:srgbClr val="3F7394">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Add model-specific timing/counter fields, voltage/current limits, memory/retention, environment, and module/expansion details with citations or explicit UNKNOWN status.</a:t>
            </a:r>
            <a:endParaRPr lang="en-US" sz="14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3F7394"/>
          </a:solidFill>
          <a:ln w="12700">
            <a:solidFill>
              <a:srgbClr val="3F7394">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Link each row to MedPack: sensor capture affects count integrity; output limits affect actuator interface; retention affects power-loss recovery; lifecycle/support affects maintainability.</a:t>
            </a:r>
            <a:endParaRPr lang="en-US" sz="14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3F7394"/>
          </a:solidFill>
          <a:ln w="12700">
            <a:solidFill>
              <a:srgbClr val="3F7394">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Identify the feature that currently matters most and state the evidence threshold needed to compare candidates fairly.</a:t>
            </a:r>
            <a:endParaRPr lang="en-US" sz="14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3F7394"/>
          </a:solidFill>
          <a:ln w="12700">
            <a:solidFill>
              <a:srgbClr val="3F7394">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Expected result: no unsupported values remain, and new unknowns are assigned a source or owner for follow-up.</a:t>
            </a:r>
            <a:endParaRPr lang="en-US" sz="14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3F7394"/>
                </a:solidFill>
                <a:latin typeface="Aptos" pitchFamily="34" charset="0"/>
                <a:ea typeface="Aptos" pitchFamily="34" charset="-122"/>
                <a:cs typeface="Aptos" pitchFamily="34" charset="-120"/>
              </a:rPr>
              <a:t>COMPARISON FRAMEWORK</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Shape 28"/>
          <p:cNvSpPr/>
          <p:nvPr/>
        </p:nvSpPr>
        <p:spPr>
          <a:xfrm>
            <a:off x="7918704" y="2615184"/>
            <a:ext cx="1188720" cy="475488"/>
          </a:xfrm>
          <a:prstGeom prst="rect">
            <a:avLst/>
          </a:prstGeom>
          <a:solidFill>
            <a:srgbClr val="3F7394"/>
          </a:solidFill>
          <a:ln w="10160">
            <a:solidFill>
              <a:srgbClr val="3F7394"/>
            </a:solidFill>
            <a:prstDash val="solid"/>
          </a:ln>
        </p:spPr>
      </p:sp>
      <p:sp>
        <p:nvSpPr>
          <p:cNvPr id="31" name="Text 29"/>
          <p:cNvSpPr/>
          <p:nvPr/>
        </p:nvSpPr>
        <p:spPr>
          <a:xfrm>
            <a:off x="7955280" y="2651760"/>
            <a:ext cx="1115568" cy="393192"/>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INTERFACE</a:t>
            </a:r>
            <a:endParaRPr lang="en-US" sz="850" dirty="0"/>
          </a:p>
        </p:txBody>
      </p:sp>
      <p:sp>
        <p:nvSpPr>
          <p:cNvPr id="32" name="Shape 30"/>
          <p:cNvSpPr/>
          <p:nvPr/>
        </p:nvSpPr>
        <p:spPr>
          <a:xfrm>
            <a:off x="9107424" y="2615184"/>
            <a:ext cx="987552" cy="475488"/>
          </a:xfrm>
          <a:prstGeom prst="rect">
            <a:avLst/>
          </a:prstGeom>
          <a:solidFill>
            <a:srgbClr val="EAF0F3"/>
          </a:solidFill>
          <a:ln w="10160">
            <a:solidFill>
              <a:srgbClr val="3F7394"/>
            </a:solidFill>
            <a:prstDash val="solid"/>
          </a:ln>
        </p:spPr>
      </p:sp>
      <p:sp>
        <p:nvSpPr>
          <p:cNvPr id="33" name="Text 31"/>
          <p:cNvSpPr/>
          <p:nvPr/>
        </p:nvSpPr>
        <p:spPr>
          <a:xfrm>
            <a:off x="9144000" y="2651760"/>
            <a:ext cx="914400" cy="393192"/>
          </a:xfrm>
          <a:prstGeom prst="rect">
            <a:avLst/>
          </a:prstGeom>
          <a:noFill/>
          <a:ln/>
        </p:spPr>
        <p:txBody>
          <a:bodyPr wrap="square" lIns="0" tIns="0" rIns="0" bIns="0" rtlCol="0" anchor="ctr">
            <a:normAutofit/>
          </a:bodyPr>
          <a:lstStyle/>
          <a:p>
            <a:pPr algn="ctr" indent="0" marL="0">
              <a:buNone/>
            </a:pPr>
            <a:r>
              <a:rPr lang="en-US" sz="850" b="1" dirty="0">
                <a:solidFill>
                  <a:srgbClr val="1B3448"/>
                </a:solidFill>
                <a:latin typeface="Aptos" pitchFamily="34" charset="0"/>
                <a:ea typeface="Aptos" pitchFamily="34" charset="-122"/>
                <a:cs typeface="Aptos" pitchFamily="34" charset="-120"/>
              </a:rPr>
              <a:t>BEST FIT</a:t>
            </a:r>
            <a:endParaRPr lang="en-US" sz="850" dirty="0"/>
          </a:p>
        </p:txBody>
      </p:sp>
      <p:sp>
        <p:nvSpPr>
          <p:cNvPr id="34" name="Shape 32"/>
          <p:cNvSpPr/>
          <p:nvPr/>
        </p:nvSpPr>
        <p:spPr>
          <a:xfrm>
            <a:off x="10094976" y="2615184"/>
            <a:ext cx="987552" cy="475488"/>
          </a:xfrm>
          <a:prstGeom prst="rect">
            <a:avLst/>
          </a:prstGeom>
          <a:solidFill>
            <a:srgbClr val="EAF0F3"/>
          </a:solidFill>
          <a:ln w="10160">
            <a:solidFill>
              <a:srgbClr val="3F7394"/>
            </a:solidFill>
            <a:prstDash val="solid"/>
          </a:ln>
        </p:spPr>
      </p:sp>
      <p:sp>
        <p:nvSpPr>
          <p:cNvPr id="35" name="Text 33"/>
          <p:cNvSpPr/>
          <p:nvPr/>
        </p:nvSpPr>
        <p:spPr>
          <a:xfrm>
            <a:off x="10131552" y="2651760"/>
            <a:ext cx="914400" cy="393192"/>
          </a:xfrm>
          <a:prstGeom prst="rect">
            <a:avLst/>
          </a:prstGeom>
          <a:noFill/>
          <a:ln/>
        </p:spPr>
        <p:txBody>
          <a:bodyPr wrap="square" lIns="0" tIns="0" rIns="0" bIns="0" rtlCol="0" anchor="ctr">
            <a:normAutofit/>
          </a:bodyPr>
          <a:lstStyle/>
          <a:p>
            <a:pPr algn="ctr" indent="0" marL="0">
              <a:buNone/>
            </a:pPr>
            <a:r>
              <a:rPr lang="en-US" sz="850" b="1" dirty="0">
                <a:solidFill>
                  <a:srgbClr val="1B3448"/>
                </a:solidFill>
                <a:latin typeface="Aptos" pitchFamily="34" charset="0"/>
                <a:ea typeface="Aptos" pitchFamily="34" charset="-122"/>
                <a:cs typeface="Aptos" pitchFamily="34" charset="-120"/>
              </a:rPr>
              <a:t>CHECK</a:t>
            </a:r>
            <a:endParaRPr lang="en-US" sz="850" dirty="0"/>
          </a:p>
        </p:txBody>
      </p:sp>
      <p:sp>
        <p:nvSpPr>
          <p:cNvPr id="36" name="Shape 34"/>
          <p:cNvSpPr/>
          <p:nvPr/>
        </p:nvSpPr>
        <p:spPr>
          <a:xfrm>
            <a:off x="7918704" y="3090672"/>
            <a:ext cx="1188720" cy="594360"/>
          </a:xfrm>
          <a:prstGeom prst="rect">
            <a:avLst/>
          </a:prstGeom>
          <a:solidFill>
            <a:srgbClr val="FFFFFF"/>
          </a:solidFill>
          <a:ln w="7620">
            <a:solidFill>
              <a:srgbClr val="D5E0E7"/>
            </a:solidFill>
            <a:prstDash val="solid"/>
          </a:ln>
        </p:spPr>
      </p:sp>
      <p:sp>
        <p:nvSpPr>
          <p:cNvPr id="37" name="Text 35"/>
          <p:cNvSpPr/>
          <p:nvPr/>
        </p:nvSpPr>
        <p:spPr>
          <a:xfrm>
            <a:off x="7964424" y="3136392"/>
            <a:ext cx="1097280" cy="502920"/>
          </a:xfrm>
          <a:prstGeom prst="rect">
            <a:avLst/>
          </a:prstGeom>
          <a:noFill/>
          <a:ln/>
        </p:spPr>
        <p:txBody>
          <a:bodyPr wrap="square" lIns="0" tIns="0" rIns="0" bIns="0" rtlCol="0" anchor="ctr">
            <a:normAutofit/>
          </a:bodyPr>
          <a:lstStyle/>
          <a:p>
            <a:pPr algn="ctr" indent="0" marL="0">
              <a:buNone/>
            </a:pPr>
            <a:r>
              <a:rPr lang="en-US" sz="900" b="1" dirty="0">
                <a:solidFill>
                  <a:srgbClr val="1B3448"/>
                </a:solidFill>
                <a:latin typeface="Aptos" pitchFamily="34" charset="0"/>
                <a:ea typeface="Aptos" pitchFamily="34" charset="-122"/>
                <a:cs typeface="Aptos" pitchFamily="34" charset="-120"/>
              </a:rPr>
              <a:t>Relay</a:t>
            </a:r>
            <a:endParaRPr lang="en-US" sz="900" dirty="0"/>
          </a:p>
        </p:txBody>
      </p:sp>
      <p:sp>
        <p:nvSpPr>
          <p:cNvPr id="38" name="Shape 36"/>
          <p:cNvSpPr/>
          <p:nvPr/>
        </p:nvSpPr>
        <p:spPr>
          <a:xfrm>
            <a:off x="9107424" y="3090672"/>
            <a:ext cx="987552" cy="594360"/>
          </a:xfrm>
          <a:prstGeom prst="rect">
            <a:avLst/>
          </a:prstGeom>
          <a:solidFill>
            <a:srgbClr val="FFFFFF"/>
          </a:solidFill>
          <a:ln w="7620">
            <a:solidFill>
              <a:srgbClr val="D5E0E7"/>
            </a:solidFill>
            <a:prstDash val="solid"/>
          </a:ln>
        </p:spPr>
      </p:sp>
      <p:sp>
        <p:nvSpPr>
          <p:cNvPr id="39" name="Text 37"/>
          <p:cNvSpPr/>
          <p:nvPr/>
        </p:nvSpPr>
        <p:spPr>
          <a:xfrm>
            <a:off x="9153144" y="313639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AC / DC*</a:t>
            </a:r>
            <a:endParaRPr lang="en-US" sz="870" dirty="0"/>
          </a:p>
        </p:txBody>
      </p:sp>
      <p:sp>
        <p:nvSpPr>
          <p:cNvPr id="40" name="Shape 38"/>
          <p:cNvSpPr/>
          <p:nvPr/>
        </p:nvSpPr>
        <p:spPr>
          <a:xfrm>
            <a:off x="10094976" y="3090672"/>
            <a:ext cx="987552" cy="594360"/>
          </a:xfrm>
          <a:prstGeom prst="rect">
            <a:avLst/>
          </a:prstGeom>
          <a:solidFill>
            <a:srgbClr val="FFFFFF"/>
          </a:solidFill>
          <a:ln w="7620">
            <a:solidFill>
              <a:srgbClr val="D5E0E7"/>
            </a:solidFill>
            <a:prstDash val="solid"/>
          </a:ln>
        </p:spPr>
      </p:sp>
      <p:sp>
        <p:nvSpPr>
          <p:cNvPr id="41" name="Text 39"/>
          <p:cNvSpPr/>
          <p:nvPr/>
        </p:nvSpPr>
        <p:spPr>
          <a:xfrm>
            <a:off x="10140696" y="313639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Load rating</a:t>
            </a:r>
            <a:endParaRPr lang="en-US" sz="870" dirty="0"/>
          </a:p>
        </p:txBody>
      </p:sp>
      <p:sp>
        <p:nvSpPr>
          <p:cNvPr id="42" name="Shape 40"/>
          <p:cNvSpPr/>
          <p:nvPr/>
        </p:nvSpPr>
        <p:spPr>
          <a:xfrm>
            <a:off x="7918704" y="3685032"/>
            <a:ext cx="1188720" cy="594360"/>
          </a:xfrm>
          <a:prstGeom prst="rect">
            <a:avLst/>
          </a:prstGeom>
          <a:solidFill>
            <a:srgbClr val="F6F8FA"/>
          </a:solidFill>
          <a:ln w="7620">
            <a:solidFill>
              <a:srgbClr val="D5E0E7"/>
            </a:solidFill>
            <a:prstDash val="solid"/>
          </a:ln>
        </p:spPr>
      </p:sp>
      <p:sp>
        <p:nvSpPr>
          <p:cNvPr id="43" name="Text 41"/>
          <p:cNvSpPr/>
          <p:nvPr/>
        </p:nvSpPr>
        <p:spPr>
          <a:xfrm>
            <a:off x="7964424" y="3730752"/>
            <a:ext cx="1097280" cy="502920"/>
          </a:xfrm>
          <a:prstGeom prst="rect">
            <a:avLst/>
          </a:prstGeom>
          <a:noFill/>
          <a:ln/>
        </p:spPr>
        <p:txBody>
          <a:bodyPr wrap="square" lIns="0" tIns="0" rIns="0" bIns="0" rtlCol="0" anchor="ctr">
            <a:normAutofit/>
          </a:bodyPr>
          <a:lstStyle/>
          <a:p>
            <a:pPr algn="ctr" indent="0" marL="0">
              <a:buNone/>
            </a:pPr>
            <a:r>
              <a:rPr lang="en-US" sz="900" b="1" dirty="0">
                <a:solidFill>
                  <a:srgbClr val="1B3448"/>
                </a:solidFill>
                <a:latin typeface="Aptos" pitchFamily="34" charset="0"/>
                <a:ea typeface="Aptos" pitchFamily="34" charset="-122"/>
                <a:cs typeface="Aptos" pitchFamily="34" charset="-120"/>
              </a:rPr>
              <a:t>Triac</a:t>
            </a:r>
            <a:endParaRPr lang="en-US" sz="900" dirty="0"/>
          </a:p>
        </p:txBody>
      </p:sp>
      <p:sp>
        <p:nvSpPr>
          <p:cNvPr id="44" name="Shape 42"/>
          <p:cNvSpPr/>
          <p:nvPr/>
        </p:nvSpPr>
        <p:spPr>
          <a:xfrm>
            <a:off x="9107424" y="3685032"/>
            <a:ext cx="987552" cy="594360"/>
          </a:xfrm>
          <a:prstGeom prst="rect">
            <a:avLst/>
          </a:prstGeom>
          <a:solidFill>
            <a:srgbClr val="F6F8FA"/>
          </a:solidFill>
          <a:ln w="7620">
            <a:solidFill>
              <a:srgbClr val="D5E0E7"/>
            </a:solidFill>
            <a:prstDash val="solid"/>
          </a:ln>
        </p:spPr>
      </p:sp>
      <p:sp>
        <p:nvSpPr>
          <p:cNvPr id="45" name="Text 43"/>
          <p:cNvSpPr/>
          <p:nvPr/>
        </p:nvSpPr>
        <p:spPr>
          <a:xfrm>
            <a:off x="9153144" y="373075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AC switching</a:t>
            </a:r>
            <a:endParaRPr lang="en-US" sz="870" dirty="0"/>
          </a:p>
        </p:txBody>
      </p:sp>
      <p:sp>
        <p:nvSpPr>
          <p:cNvPr id="46" name="Shape 44"/>
          <p:cNvSpPr/>
          <p:nvPr/>
        </p:nvSpPr>
        <p:spPr>
          <a:xfrm>
            <a:off x="10094976" y="3685032"/>
            <a:ext cx="987552" cy="594360"/>
          </a:xfrm>
          <a:prstGeom prst="rect">
            <a:avLst/>
          </a:prstGeom>
          <a:solidFill>
            <a:srgbClr val="F6F8FA"/>
          </a:solidFill>
          <a:ln w="7620">
            <a:solidFill>
              <a:srgbClr val="D5E0E7"/>
            </a:solidFill>
            <a:prstDash val="solid"/>
          </a:ln>
        </p:spPr>
      </p:sp>
      <p:sp>
        <p:nvSpPr>
          <p:cNvPr id="47" name="Text 45"/>
          <p:cNvSpPr/>
          <p:nvPr/>
        </p:nvSpPr>
        <p:spPr>
          <a:xfrm>
            <a:off x="10140696" y="373075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Leakage</a:t>
            </a:r>
            <a:endParaRPr lang="en-US" sz="870" dirty="0"/>
          </a:p>
        </p:txBody>
      </p:sp>
      <p:sp>
        <p:nvSpPr>
          <p:cNvPr id="48" name="Shape 46"/>
          <p:cNvSpPr/>
          <p:nvPr/>
        </p:nvSpPr>
        <p:spPr>
          <a:xfrm>
            <a:off x="7918704" y="4279392"/>
            <a:ext cx="1188720" cy="594360"/>
          </a:xfrm>
          <a:prstGeom prst="rect">
            <a:avLst/>
          </a:prstGeom>
          <a:solidFill>
            <a:srgbClr val="FFFFFF"/>
          </a:solidFill>
          <a:ln w="7620">
            <a:solidFill>
              <a:srgbClr val="D5E0E7"/>
            </a:solidFill>
            <a:prstDash val="solid"/>
          </a:ln>
        </p:spPr>
      </p:sp>
      <p:sp>
        <p:nvSpPr>
          <p:cNvPr id="49" name="Text 47"/>
          <p:cNvSpPr/>
          <p:nvPr/>
        </p:nvSpPr>
        <p:spPr>
          <a:xfrm>
            <a:off x="7964424" y="4325112"/>
            <a:ext cx="1097280" cy="502920"/>
          </a:xfrm>
          <a:prstGeom prst="rect">
            <a:avLst/>
          </a:prstGeom>
          <a:noFill/>
          <a:ln/>
        </p:spPr>
        <p:txBody>
          <a:bodyPr wrap="square" lIns="0" tIns="0" rIns="0" bIns="0" rtlCol="0" anchor="ctr">
            <a:normAutofit/>
          </a:bodyPr>
          <a:lstStyle/>
          <a:p>
            <a:pPr algn="ctr" indent="0" marL="0">
              <a:buNone/>
            </a:pPr>
            <a:r>
              <a:rPr lang="en-US" sz="900" b="1" dirty="0">
                <a:solidFill>
                  <a:srgbClr val="1B3448"/>
                </a:solidFill>
                <a:latin typeface="Aptos" pitchFamily="34" charset="0"/>
                <a:ea typeface="Aptos" pitchFamily="34" charset="-122"/>
                <a:cs typeface="Aptos" pitchFamily="34" charset="-120"/>
              </a:rPr>
              <a:t>Transistor</a:t>
            </a:r>
            <a:endParaRPr lang="en-US" sz="900" dirty="0"/>
          </a:p>
        </p:txBody>
      </p:sp>
      <p:sp>
        <p:nvSpPr>
          <p:cNvPr id="50" name="Shape 48"/>
          <p:cNvSpPr/>
          <p:nvPr/>
        </p:nvSpPr>
        <p:spPr>
          <a:xfrm>
            <a:off x="9107424" y="4279392"/>
            <a:ext cx="987552" cy="594360"/>
          </a:xfrm>
          <a:prstGeom prst="rect">
            <a:avLst/>
          </a:prstGeom>
          <a:solidFill>
            <a:srgbClr val="FFFFFF"/>
          </a:solidFill>
          <a:ln w="7620">
            <a:solidFill>
              <a:srgbClr val="D5E0E7"/>
            </a:solidFill>
            <a:prstDash val="solid"/>
          </a:ln>
        </p:spPr>
      </p:sp>
      <p:sp>
        <p:nvSpPr>
          <p:cNvPr id="51" name="Text 49"/>
          <p:cNvSpPr/>
          <p:nvPr/>
        </p:nvSpPr>
        <p:spPr>
          <a:xfrm>
            <a:off x="9153144" y="432511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DC switching</a:t>
            </a:r>
            <a:endParaRPr lang="en-US" sz="870" dirty="0"/>
          </a:p>
        </p:txBody>
      </p:sp>
      <p:sp>
        <p:nvSpPr>
          <p:cNvPr id="52" name="Shape 50"/>
          <p:cNvSpPr/>
          <p:nvPr/>
        </p:nvSpPr>
        <p:spPr>
          <a:xfrm>
            <a:off x="10094976" y="4279392"/>
            <a:ext cx="987552" cy="594360"/>
          </a:xfrm>
          <a:prstGeom prst="rect">
            <a:avLst/>
          </a:prstGeom>
          <a:solidFill>
            <a:srgbClr val="FFFFFF"/>
          </a:solidFill>
          <a:ln w="7620">
            <a:solidFill>
              <a:srgbClr val="D5E0E7"/>
            </a:solidFill>
            <a:prstDash val="solid"/>
          </a:ln>
        </p:spPr>
      </p:sp>
      <p:sp>
        <p:nvSpPr>
          <p:cNvPr id="53" name="Text 51"/>
          <p:cNvSpPr/>
          <p:nvPr/>
        </p:nvSpPr>
        <p:spPr>
          <a:xfrm>
            <a:off x="10140696" y="432511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Polarity</a:t>
            </a:r>
            <a:endParaRPr lang="en-US" sz="870" dirty="0"/>
          </a:p>
        </p:txBody>
      </p:sp>
      <p:sp>
        <p:nvSpPr>
          <p:cNvPr id="54" name="Shape 52"/>
          <p:cNvSpPr/>
          <p:nvPr/>
        </p:nvSpPr>
        <p:spPr>
          <a:xfrm>
            <a:off x="7918704" y="4873752"/>
            <a:ext cx="1188720" cy="594360"/>
          </a:xfrm>
          <a:prstGeom prst="rect">
            <a:avLst/>
          </a:prstGeom>
          <a:solidFill>
            <a:srgbClr val="F6F8FA"/>
          </a:solidFill>
          <a:ln w="7620">
            <a:solidFill>
              <a:srgbClr val="D5E0E7"/>
            </a:solidFill>
            <a:prstDash val="solid"/>
          </a:ln>
        </p:spPr>
      </p:sp>
      <p:sp>
        <p:nvSpPr>
          <p:cNvPr id="55" name="Text 53"/>
          <p:cNvSpPr/>
          <p:nvPr/>
        </p:nvSpPr>
        <p:spPr>
          <a:xfrm>
            <a:off x="7964424" y="4919472"/>
            <a:ext cx="1097280" cy="502920"/>
          </a:xfrm>
          <a:prstGeom prst="rect">
            <a:avLst/>
          </a:prstGeom>
          <a:noFill/>
          <a:ln/>
        </p:spPr>
        <p:txBody>
          <a:bodyPr wrap="square" lIns="0" tIns="0" rIns="0" bIns="0" rtlCol="0" anchor="ctr">
            <a:normAutofit/>
          </a:bodyPr>
          <a:lstStyle/>
          <a:p>
            <a:pPr algn="ctr" indent="0" marL="0">
              <a:buNone/>
            </a:pPr>
            <a:r>
              <a:rPr lang="en-US" sz="900" b="1" dirty="0">
                <a:solidFill>
                  <a:srgbClr val="1B3448"/>
                </a:solidFill>
                <a:latin typeface="Aptos" pitchFamily="34" charset="0"/>
                <a:ea typeface="Aptos" pitchFamily="34" charset="-122"/>
                <a:cs typeface="Aptos" pitchFamily="34" charset="-120"/>
              </a:rPr>
              <a:t>Analogue</a:t>
            </a:r>
            <a:endParaRPr lang="en-US" sz="900" dirty="0"/>
          </a:p>
        </p:txBody>
      </p:sp>
      <p:sp>
        <p:nvSpPr>
          <p:cNvPr id="56" name="Shape 54"/>
          <p:cNvSpPr/>
          <p:nvPr/>
        </p:nvSpPr>
        <p:spPr>
          <a:xfrm>
            <a:off x="9107424" y="4873752"/>
            <a:ext cx="987552" cy="594360"/>
          </a:xfrm>
          <a:prstGeom prst="rect">
            <a:avLst/>
          </a:prstGeom>
          <a:solidFill>
            <a:srgbClr val="F6F8FA"/>
          </a:solidFill>
          <a:ln w="7620">
            <a:solidFill>
              <a:srgbClr val="D5E0E7"/>
            </a:solidFill>
            <a:prstDash val="solid"/>
          </a:ln>
        </p:spPr>
      </p:sp>
      <p:sp>
        <p:nvSpPr>
          <p:cNvPr id="57" name="Text 55"/>
          <p:cNvSpPr/>
          <p:nvPr/>
        </p:nvSpPr>
        <p:spPr>
          <a:xfrm>
            <a:off x="9153144" y="491947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Measured value</a:t>
            </a:r>
            <a:endParaRPr lang="en-US" sz="870" dirty="0"/>
          </a:p>
        </p:txBody>
      </p:sp>
      <p:sp>
        <p:nvSpPr>
          <p:cNvPr id="58" name="Shape 56"/>
          <p:cNvSpPr/>
          <p:nvPr/>
        </p:nvSpPr>
        <p:spPr>
          <a:xfrm>
            <a:off x="10094976" y="4873752"/>
            <a:ext cx="987552" cy="594360"/>
          </a:xfrm>
          <a:prstGeom prst="rect">
            <a:avLst/>
          </a:prstGeom>
          <a:solidFill>
            <a:srgbClr val="F6F8FA"/>
          </a:solidFill>
          <a:ln w="7620">
            <a:solidFill>
              <a:srgbClr val="D5E0E7"/>
            </a:solidFill>
            <a:prstDash val="solid"/>
          </a:ln>
        </p:spPr>
      </p:sp>
      <p:sp>
        <p:nvSpPr>
          <p:cNvPr id="59" name="Text 57"/>
          <p:cNvSpPr/>
          <p:nvPr/>
        </p:nvSpPr>
        <p:spPr>
          <a:xfrm>
            <a:off x="10140696" y="491947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Range / accuracy</a:t>
            </a:r>
            <a:endParaRPr lang="en-US" sz="870" dirty="0"/>
          </a:p>
        </p:txBody>
      </p:sp>
      <p:sp>
        <p:nvSpPr>
          <p:cNvPr id="60" name="Text 58"/>
          <p:cNvSpPr/>
          <p:nvPr/>
        </p:nvSpPr>
        <p:spPr>
          <a:xfrm>
            <a:off x="7973568" y="5678424"/>
            <a:ext cx="3154680" cy="493776"/>
          </a:xfrm>
          <a:prstGeom prst="rect">
            <a:avLst/>
          </a:prstGeom>
          <a:noFill/>
          <a:ln/>
        </p:spPr>
        <p:txBody>
          <a:bodyPr wrap="square" lIns="0" tIns="0" rIns="0" bIns="0" rtlCol="0" anchor="ctr">
            <a:normAutofit/>
          </a:bodyPr>
          <a:lstStyle/>
          <a:p>
            <a:pPr algn="ctr" indent="0" marL="0">
              <a:buNone/>
            </a:pPr>
            <a:r>
              <a:rPr lang="en-US" sz="920" dirty="0">
                <a:solidFill>
                  <a:srgbClr val="607585"/>
                </a:solidFill>
                <a:latin typeface="Aptos" pitchFamily="34" charset="0"/>
                <a:ea typeface="Aptos" pitchFamily="34" charset="-122"/>
                <a:cs typeface="Aptos" pitchFamily="34" charset="-120"/>
              </a:rPr>
              <a:t>*Only within the exact module ratings</a:t>
            </a:r>
            <a:endParaRPr lang="en-US" sz="920" dirty="0"/>
          </a:p>
        </p:txBody>
      </p:sp>
      <p:sp>
        <p:nvSpPr>
          <p:cNvPr id="61" name="Shape 59"/>
          <p:cNvSpPr/>
          <p:nvPr/>
        </p:nvSpPr>
        <p:spPr>
          <a:xfrm>
            <a:off x="603504" y="6318504"/>
            <a:ext cx="10972800" cy="0"/>
          </a:xfrm>
          <a:prstGeom prst="line">
            <a:avLst/>
          </a:prstGeom>
          <a:noFill/>
          <a:ln w="10160">
            <a:solidFill>
              <a:srgbClr val="D5E0E7"/>
            </a:solidFill>
            <a:prstDash val="solid"/>
          </a:ln>
        </p:spPr>
      </p:sp>
      <p:sp>
        <p:nvSpPr>
          <p:cNvPr id="62" name="Text 60"/>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PLC SPECIFICATIONS AND I/O MODULES</a:t>
            </a:r>
            <a:endParaRPr lang="en-US" sz="800" dirty="0"/>
          </a:p>
        </p:txBody>
      </p:sp>
      <p:sp>
        <p:nvSpPr>
          <p:cNvPr id="63" name="Text 61"/>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17 / 18</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3F7394"/>
          </a:solidFill>
          <a:ln w="12700">
            <a:solidFill>
              <a:srgbClr val="3F7394">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3F7394"/>
                </a:solidFill>
                <a:latin typeface="Aptos" pitchFamily="34" charset="0"/>
                <a:ea typeface="Aptos" pitchFamily="34" charset="-122"/>
                <a:cs typeface="Aptos" pitchFamily="34" charset="-120"/>
              </a:rPr>
              <a:t>UNIT 5009    /    WEEK 03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8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3F7394"/>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3F7394"/>
                </a:solidFill>
                <a:latin typeface="Aptos" pitchFamily="34" charset="0"/>
                <a:ea typeface="Aptos" pitchFamily="34" charset="-122"/>
                <a:cs typeface="Aptos" pitchFamily="34" charset="-120"/>
              </a:rPr>
              <a:t>P2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Exit ticket: compatibility judgement</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3F7394"/>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3F7394"/>
          </a:solidFill>
          <a:ln w="12700">
            <a:solidFill>
              <a:srgbClr val="3F7394">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Given a sensor’s documented output type/pulse limits and a load’s supply/current/inrush, compare those values with the exact CPU/input/output module tables and installation conditions.</a:t>
            </a:r>
            <a:endParaRPr lang="en-US" sz="14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3F7394"/>
          </a:solidFill>
          <a:ln w="12700">
            <a:solidFill>
              <a:srgbClr val="3F7394">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State PASS, FAIL, or UNKNOWN for each interface, cite the evidence field/page, and name any external driver, protection, safety review, or test still required.</a:t>
            </a:r>
            <a:endParaRPr lang="en-US" sz="14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3F7394"/>
          </a:solidFill>
          <a:ln w="12700">
            <a:solidFill>
              <a:srgbClr val="3F7394">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Example answer form: “UNKNOWN: sensor pulse width is below the ordinary-input filter setting shown in the manual; verify a supported high-speed input and test worst-case count rate.”</a:t>
            </a:r>
            <a:endParaRPr lang="en-US" sz="14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3F7394"/>
          </a:solidFill>
          <a:ln w="12700">
            <a:solidFill>
              <a:srgbClr val="3F7394">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Misconception to avoid: compatible nominal voltage alone does not prove correct pulse capture, load switching, or safety performance.</a:t>
            </a:r>
            <a:endParaRPr lang="en-US" sz="14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3F7394"/>
                </a:solidFill>
                <a:latin typeface="Aptos" pitchFamily="34" charset="0"/>
                <a:ea typeface="Aptos" pitchFamily="34" charset="-122"/>
                <a:cs typeface="Aptos" pitchFamily="34" charset="-120"/>
              </a:rPr>
              <a:t>FORMATIVE CHECK</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Shape 28"/>
          <p:cNvSpPr/>
          <p:nvPr/>
        </p:nvSpPr>
        <p:spPr>
          <a:xfrm>
            <a:off x="8138160" y="2697480"/>
            <a:ext cx="256032" cy="256032"/>
          </a:xfrm>
          <a:prstGeom prst="rect">
            <a:avLst/>
          </a:prstGeom>
          <a:solidFill>
            <a:srgbClr val="FFFFFF"/>
          </a:solidFill>
          <a:ln w="17780">
            <a:solidFill>
              <a:srgbClr val="3F7394"/>
            </a:solidFill>
            <a:prstDash val="solid"/>
          </a:ln>
        </p:spPr>
      </p:sp>
      <p:sp>
        <p:nvSpPr>
          <p:cNvPr id="31" name="Text 29"/>
          <p:cNvSpPr/>
          <p:nvPr/>
        </p:nvSpPr>
        <p:spPr>
          <a:xfrm>
            <a:off x="8558784" y="2660904"/>
            <a:ext cx="310896" cy="173736"/>
          </a:xfrm>
          <a:prstGeom prst="rect">
            <a:avLst/>
          </a:prstGeom>
          <a:noFill/>
          <a:ln/>
        </p:spPr>
        <p:txBody>
          <a:bodyPr wrap="square" lIns="0" tIns="0" rIns="0" bIns="0" rtlCol="0" anchor="ctr"/>
          <a:lstStyle/>
          <a:p>
            <a:pPr indent="0" marL="0">
              <a:buNone/>
            </a:pPr>
            <a:r>
              <a:rPr lang="en-US" sz="800" b="1" dirty="0">
                <a:solidFill>
                  <a:srgbClr val="3F7394"/>
                </a:solidFill>
                <a:latin typeface="Aptos" pitchFamily="34" charset="0"/>
                <a:ea typeface="Aptos" pitchFamily="34" charset="-122"/>
                <a:cs typeface="Aptos" pitchFamily="34" charset="-120"/>
              </a:rPr>
              <a:t>01</a:t>
            </a:r>
            <a:endParaRPr lang="en-US" sz="800" dirty="0"/>
          </a:p>
        </p:txBody>
      </p:sp>
      <p:sp>
        <p:nvSpPr>
          <p:cNvPr id="32" name="Text 30"/>
          <p:cNvSpPr/>
          <p:nvPr/>
        </p:nvSpPr>
        <p:spPr>
          <a:xfrm>
            <a:off x="8942832" y="2651760"/>
            <a:ext cx="2121408" cy="329184"/>
          </a:xfrm>
          <a:prstGeom prst="rect">
            <a:avLst/>
          </a:prstGeom>
          <a:noFill/>
          <a:ln/>
        </p:spPr>
        <p:txBody>
          <a:bodyPr wrap="square" lIns="0" tIns="0" rIns="0" bIns="0" rtlCol="0" anchor="ctr">
            <a:normAutofit/>
          </a:bodyPr>
          <a:lstStyle/>
          <a:p>
            <a:pPr indent="0" marL="0">
              <a:buNone/>
            </a:pPr>
            <a:r>
              <a:rPr lang="en-US" sz="1000" b="1" dirty="0">
                <a:solidFill>
                  <a:srgbClr val="1B3448"/>
                </a:solidFill>
                <a:latin typeface="Aptos" pitchFamily="34" charset="0"/>
                <a:ea typeface="Aptos" pitchFamily="34" charset="-122"/>
                <a:cs typeface="Aptos" pitchFamily="34" charset="-120"/>
              </a:rPr>
              <a:t>ELECTRICAL FIT</a:t>
            </a:r>
            <a:endParaRPr lang="en-US" sz="1000" dirty="0"/>
          </a:p>
        </p:txBody>
      </p:sp>
      <p:sp>
        <p:nvSpPr>
          <p:cNvPr id="33" name="Shape 31"/>
          <p:cNvSpPr/>
          <p:nvPr/>
        </p:nvSpPr>
        <p:spPr>
          <a:xfrm>
            <a:off x="8558784" y="3163824"/>
            <a:ext cx="2542032" cy="0"/>
          </a:xfrm>
          <a:prstGeom prst="line">
            <a:avLst/>
          </a:prstGeom>
          <a:noFill/>
          <a:ln w="8890">
            <a:solidFill>
              <a:srgbClr val="D5E0E7"/>
            </a:solidFill>
            <a:prstDash val="solid"/>
          </a:ln>
        </p:spPr>
      </p:sp>
      <p:sp>
        <p:nvSpPr>
          <p:cNvPr id="34" name="Shape 32"/>
          <p:cNvSpPr/>
          <p:nvPr/>
        </p:nvSpPr>
        <p:spPr>
          <a:xfrm>
            <a:off x="8138160" y="3447288"/>
            <a:ext cx="256032" cy="256032"/>
          </a:xfrm>
          <a:prstGeom prst="rect">
            <a:avLst/>
          </a:prstGeom>
          <a:solidFill>
            <a:srgbClr val="FFFFFF"/>
          </a:solidFill>
          <a:ln w="17780">
            <a:solidFill>
              <a:srgbClr val="3F7394"/>
            </a:solidFill>
            <a:prstDash val="solid"/>
          </a:ln>
        </p:spPr>
      </p:sp>
      <p:sp>
        <p:nvSpPr>
          <p:cNvPr id="35" name="Text 33"/>
          <p:cNvSpPr/>
          <p:nvPr/>
        </p:nvSpPr>
        <p:spPr>
          <a:xfrm>
            <a:off x="8558784" y="3410712"/>
            <a:ext cx="310896" cy="173736"/>
          </a:xfrm>
          <a:prstGeom prst="rect">
            <a:avLst/>
          </a:prstGeom>
          <a:noFill/>
          <a:ln/>
        </p:spPr>
        <p:txBody>
          <a:bodyPr wrap="square" lIns="0" tIns="0" rIns="0" bIns="0" rtlCol="0" anchor="ctr"/>
          <a:lstStyle/>
          <a:p>
            <a:pPr indent="0" marL="0">
              <a:buNone/>
            </a:pPr>
            <a:r>
              <a:rPr lang="en-US" sz="800" b="1" dirty="0">
                <a:solidFill>
                  <a:srgbClr val="3F7394"/>
                </a:solidFill>
                <a:latin typeface="Aptos" pitchFamily="34" charset="0"/>
                <a:ea typeface="Aptos" pitchFamily="34" charset="-122"/>
                <a:cs typeface="Aptos" pitchFamily="34" charset="-120"/>
              </a:rPr>
              <a:t>02</a:t>
            </a:r>
            <a:endParaRPr lang="en-US" sz="800" dirty="0"/>
          </a:p>
        </p:txBody>
      </p:sp>
      <p:sp>
        <p:nvSpPr>
          <p:cNvPr id="36" name="Text 34"/>
          <p:cNvSpPr/>
          <p:nvPr/>
        </p:nvSpPr>
        <p:spPr>
          <a:xfrm>
            <a:off x="8942832" y="3401568"/>
            <a:ext cx="2121408" cy="329184"/>
          </a:xfrm>
          <a:prstGeom prst="rect">
            <a:avLst/>
          </a:prstGeom>
          <a:noFill/>
          <a:ln/>
        </p:spPr>
        <p:txBody>
          <a:bodyPr wrap="square" lIns="0" tIns="0" rIns="0" bIns="0" rtlCol="0" anchor="ctr">
            <a:normAutofit/>
          </a:bodyPr>
          <a:lstStyle/>
          <a:p>
            <a:pPr indent="0" marL="0">
              <a:buNone/>
            </a:pPr>
            <a:r>
              <a:rPr lang="en-US" sz="1000" b="1" dirty="0">
                <a:solidFill>
                  <a:srgbClr val="1B3448"/>
                </a:solidFill>
                <a:latin typeface="Aptos" pitchFamily="34" charset="0"/>
                <a:ea typeface="Aptos" pitchFamily="34" charset="-122"/>
                <a:cs typeface="Aptos" pitchFamily="34" charset="-120"/>
              </a:rPr>
              <a:t>OUTPUT / INPUT TYPE</a:t>
            </a:r>
            <a:endParaRPr lang="en-US" sz="1000" dirty="0"/>
          </a:p>
        </p:txBody>
      </p:sp>
      <p:sp>
        <p:nvSpPr>
          <p:cNvPr id="37" name="Shape 35"/>
          <p:cNvSpPr/>
          <p:nvPr/>
        </p:nvSpPr>
        <p:spPr>
          <a:xfrm>
            <a:off x="8558784" y="3913632"/>
            <a:ext cx="2542032" cy="0"/>
          </a:xfrm>
          <a:prstGeom prst="line">
            <a:avLst/>
          </a:prstGeom>
          <a:noFill/>
          <a:ln w="8890">
            <a:solidFill>
              <a:srgbClr val="D5E0E7"/>
            </a:solidFill>
            <a:prstDash val="solid"/>
          </a:ln>
        </p:spPr>
      </p:sp>
      <p:sp>
        <p:nvSpPr>
          <p:cNvPr id="38" name="Shape 36"/>
          <p:cNvSpPr/>
          <p:nvPr/>
        </p:nvSpPr>
        <p:spPr>
          <a:xfrm>
            <a:off x="8138160" y="4197096"/>
            <a:ext cx="256032" cy="256032"/>
          </a:xfrm>
          <a:prstGeom prst="rect">
            <a:avLst/>
          </a:prstGeom>
          <a:solidFill>
            <a:srgbClr val="FFFFFF"/>
          </a:solidFill>
          <a:ln w="17780">
            <a:solidFill>
              <a:srgbClr val="3F7394"/>
            </a:solidFill>
            <a:prstDash val="solid"/>
          </a:ln>
        </p:spPr>
      </p:sp>
      <p:sp>
        <p:nvSpPr>
          <p:cNvPr id="39" name="Text 37"/>
          <p:cNvSpPr/>
          <p:nvPr/>
        </p:nvSpPr>
        <p:spPr>
          <a:xfrm>
            <a:off x="8558784" y="4160520"/>
            <a:ext cx="310896" cy="173736"/>
          </a:xfrm>
          <a:prstGeom prst="rect">
            <a:avLst/>
          </a:prstGeom>
          <a:noFill/>
          <a:ln/>
        </p:spPr>
        <p:txBody>
          <a:bodyPr wrap="square" lIns="0" tIns="0" rIns="0" bIns="0" rtlCol="0" anchor="ctr"/>
          <a:lstStyle/>
          <a:p>
            <a:pPr indent="0" marL="0">
              <a:buNone/>
            </a:pPr>
            <a:r>
              <a:rPr lang="en-US" sz="800" b="1" dirty="0">
                <a:solidFill>
                  <a:srgbClr val="3F7394"/>
                </a:solidFill>
                <a:latin typeface="Aptos" pitchFamily="34" charset="0"/>
                <a:ea typeface="Aptos" pitchFamily="34" charset="-122"/>
                <a:cs typeface="Aptos" pitchFamily="34" charset="-120"/>
              </a:rPr>
              <a:t>03</a:t>
            </a:r>
            <a:endParaRPr lang="en-US" sz="800" dirty="0"/>
          </a:p>
        </p:txBody>
      </p:sp>
      <p:sp>
        <p:nvSpPr>
          <p:cNvPr id="40" name="Text 38"/>
          <p:cNvSpPr/>
          <p:nvPr/>
        </p:nvSpPr>
        <p:spPr>
          <a:xfrm>
            <a:off x="8942832" y="4151376"/>
            <a:ext cx="2121408" cy="329184"/>
          </a:xfrm>
          <a:prstGeom prst="rect">
            <a:avLst/>
          </a:prstGeom>
          <a:noFill/>
          <a:ln/>
        </p:spPr>
        <p:txBody>
          <a:bodyPr wrap="square" lIns="0" tIns="0" rIns="0" bIns="0" rtlCol="0" anchor="ctr">
            <a:normAutofit/>
          </a:bodyPr>
          <a:lstStyle/>
          <a:p>
            <a:pPr indent="0" marL="0">
              <a:buNone/>
            </a:pPr>
            <a:r>
              <a:rPr lang="en-US" sz="1000" b="1" dirty="0">
                <a:solidFill>
                  <a:srgbClr val="1B3448"/>
                </a:solidFill>
                <a:latin typeface="Aptos" pitchFamily="34" charset="0"/>
                <a:ea typeface="Aptos" pitchFamily="34" charset="-122"/>
                <a:cs typeface="Aptos" pitchFamily="34" charset="-120"/>
              </a:rPr>
              <a:t>RATINGS + LIMITS</a:t>
            </a:r>
            <a:endParaRPr lang="en-US" sz="1000" dirty="0"/>
          </a:p>
        </p:txBody>
      </p:sp>
      <p:sp>
        <p:nvSpPr>
          <p:cNvPr id="41" name="Shape 39"/>
          <p:cNvSpPr/>
          <p:nvPr/>
        </p:nvSpPr>
        <p:spPr>
          <a:xfrm>
            <a:off x="8558784" y="4663440"/>
            <a:ext cx="2542032" cy="0"/>
          </a:xfrm>
          <a:prstGeom prst="line">
            <a:avLst/>
          </a:prstGeom>
          <a:noFill/>
          <a:ln w="8890">
            <a:solidFill>
              <a:srgbClr val="D5E0E7"/>
            </a:solidFill>
            <a:prstDash val="solid"/>
          </a:ln>
        </p:spPr>
      </p:sp>
      <p:sp>
        <p:nvSpPr>
          <p:cNvPr id="42" name="Shape 40"/>
          <p:cNvSpPr/>
          <p:nvPr/>
        </p:nvSpPr>
        <p:spPr>
          <a:xfrm>
            <a:off x="8138160" y="4946904"/>
            <a:ext cx="256032" cy="256032"/>
          </a:xfrm>
          <a:prstGeom prst="rect">
            <a:avLst/>
          </a:prstGeom>
          <a:solidFill>
            <a:srgbClr val="FFFFFF"/>
          </a:solidFill>
          <a:ln w="17780">
            <a:solidFill>
              <a:srgbClr val="3F7394"/>
            </a:solidFill>
            <a:prstDash val="solid"/>
          </a:ln>
        </p:spPr>
      </p:sp>
      <p:sp>
        <p:nvSpPr>
          <p:cNvPr id="43" name="Text 41"/>
          <p:cNvSpPr/>
          <p:nvPr/>
        </p:nvSpPr>
        <p:spPr>
          <a:xfrm>
            <a:off x="8558784" y="4910328"/>
            <a:ext cx="310896" cy="173736"/>
          </a:xfrm>
          <a:prstGeom prst="rect">
            <a:avLst/>
          </a:prstGeom>
          <a:noFill/>
          <a:ln/>
        </p:spPr>
        <p:txBody>
          <a:bodyPr wrap="square" lIns="0" tIns="0" rIns="0" bIns="0" rtlCol="0" anchor="ctr"/>
          <a:lstStyle/>
          <a:p>
            <a:pPr indent="0" marL="0">
              <a:buNone/>
            </a:pPr>
            <a:r>
              <a:rPr lang="en-US" sz="800" b="1" dirty="0">
                <a:solidFill>
                  <a:srgbClr val="3F7394"/>
                </a:solidFill>
                <a:latin typeface="Aptos" pitchFamily="34" charset="0"/>
                <a:ea typeface="Aptos" pitchFamily="34" charset="-122"/>
                <a:cs typeface="Aptos" pitchFamily="34" charset="-120"/>
              </a:rPr>
              <a:t>04</a:t>
            </a:r>
            <a:endParaRPr lang="en-US" sz="800" dirty="0"/>
          </a:p>
        </p:txBody>
      </p:sp>
      <p:sp>
        <p:nvSpPr>
          <p:cNvPr id="44" name="Text 42"/>
          <p:cNvSpPr/>
          <p:nvPr/>
        </p:nvSpPr>
        <p:spPr>
          <a:xfrm>
            <a:off x="8942832" y="4901184"/>
            <a:ext cx="2121408" cy="329184"/>
          </a:xfrm>
          <a:prstGeom prst="rect">
            <a:avLst/>
          </a:prstGeom>
          <a:noFill/>
          <a:ln/>
        </p:spPr>
        <p:txBody>
          <a:bodyPr wrap="square" lIns="0" tIns="0" rIns="0" bIns="0" rtlCol="0" anchor="ctr">
            <a:normAutofit/>
          </a:bodyPr>
          <a:lstStyle/>
          <a:p>
            <a:pPr indent="0" marL="0">
              <a:buNone/>
            </a:pPr>
            <a:r>
              <a:rPr lang="en-US" sz="1000" b="1" dirty="0">
                <a:solidFill>
                  <a:srgbClr val="1B3448"/>
                </a:solidFill>
                <a:latin typeface="Aptos" pitchFamily="34" charset="0"/>
                <a:ea typeface="Aptos" pitchFamily="34" charset="-122"/>
                <a:cs typeface="Aptos" pitchFamily="34" charset="-120"/>
              </a:rPr>
              <a:t>COMPATIBILITY</a:t>
            </a:r>
            <a:endParaRPr lang="en-US" sz="1000" dirty="0"/>
          </a:p>
        </p:txBody>
      </p:sp>
      <p:sp>
        <p:nvSpPr>
          <p:cNvPr id="45" name="Shape 43"/>
          <p:cNvSpPr/>
          <p:nvPr/>
        </p:nvSpPr>
        <p:spPr>
          <a:xfrm>
            <a:off x="603504" y="6318504"/>
            <a:ext cx="10972800" cy="0"/>
          </a:xfrm>
          <a:prstGeom prst="line">
            <a:avLst/>
          </a:prstGeom>
          <a:noFill/>
          <a:ln w="10160">
            <a:solidFill>
              <a:srgbClr val="D5E0E7"/>
            </a:solidFill>
            <a:prstDash val="solid"/>
          </a:ln>
        </p:spPr>
      </p:sp>
      <p:sp>
        <p:nvSpPr>
          <p:cNvPr id="46" name="Text 44"/>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PLC SPECIFICATIONS AND I/O MODULES</a:t>
            </a:r>
            <a:endParaRPr lang="en-US" sz="800" dirty="0"/>
          </a:p>
        </p:txBody>
      </p:sp>
      <p:sp>
        <p:nvSpPr>
          <p:cNvPr id="47" name="Text 45"/>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18 / 18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Unit 5009</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03: PLC Specifications and I/O Modules</dc:title>
  <dc:subject>LO1 weekly teaching presentation</dc:subject>
  <dc:creator>Unit 5009 Teaching Materials</dc:creator>
  <cp:lastModifiedBy>Unit 5009 Teaching Materials</cp:lastModifiedBy>
  <cp:revision>1</cp:revision>
  <dcterms:created xsi:type="dcterms:W3CDTF">2026-10-13T19:42:18Z</dcterms:created>
  <dcterms:modified xsi:type="dcterms:W3CDTF">2026-10-13T19:42:18Z</dcterms:modified>
</cp:coreProperties>
</file>