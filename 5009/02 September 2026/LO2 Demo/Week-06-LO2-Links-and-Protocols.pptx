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 of 18 | Suggested time: 5 minutes | Criteria: P3
TEACHING NOTES AND ACTIVITY CUES
1. Reconstruct the Week 5 path: pill sensor -&gt; PLC input -&gt; count logic -&gt; output interface -&gt; actuator request; identify where a communication link is actually present.
2. A local sensor wired to a PLC input has an electrical signal path, not automatically a network protocol; remote I/O or an HMI connection adds a configured communication connection.
3. Expected answer: on the Week 7-style architecture, label the cable/interface separately from the protocol used to exchange PLC data.
TEACHING VISUAL
This slide has a reserved image bay. Add the image described below.
OPTIONAL IMAGE PROMPT
Original MedPack signal-chain diagram with a local sensor wire and a separate PLC-to-HMI network cable highlighted in different colors; no labels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2 of 18 | Suggested time: 5 minutes | Criteria: P3
TEACHING NOTES AND ACTIVITY CUES
1. Classify Ethernet as a family of link/physical-layer technologies, RS-485 as an electrical interface, Modbus RTU and Modbus TCP as protocol variants, and PROFINET as an industrial communication system/protocol family.
2. Modbus RTU commonly runs over serial interfaces such as RS-485, while Modbus TCP commonly runs over TCP/IP on Ethernet; the cable/interface alone does not determine the application protocol.
3. Expected correction: calling RS-485 a protocol or assuming every Ethernet device speaks the same PLC protocol confuses different layers.
TEACHING VISUAL
The slide uses an editable communication architecture diagram. Keep it unless the prompted image communicates the idea more clearly.
OPTIONAL IMAGE PROMPT
Original five-object sorting illustration: copper Ethernet cable, RS-485 differential pair, serial frame, TCP/IP packet, and industrial PLC network device, arranged in physical-versus-protocol groups without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3 of 18 | Suggested time: 5 minutes | Criteria: P3
TEACHING NOTES AND ACTIVITY CUES
1. LO2.P3 requires an illustrated comparison of at least two communication links/interfaces and at least two PLC-relevant standards or protocols.
2. For each example, learners should identify topology/distance, noise considerations, speed or bandwidth qualitatively, and a typical use case, with numeric limits sourced from the selected equipment manual.
3. Evidence for today is a comparison matrix plus a labelled connection diagram; a list of names without layer distinction does not demonstrate the criterion.
TEACHING VISUAL
The slide uses an editable formative check diagram. Keep it unless the prompted image communicates the idea more clearly.
OPTIONAL IMAGE PROMPT
Original teaching-board composition showing two side-by-side PLC communication paths and a blank comparison matrix, with diagrams only and no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4 of 18 | Suggested time: 12 minutes | Criteria: P3
TEACHING NOTES AND ACTIVITY CUES
1. Separate the cable/medium and electrical interface, network topology, addressing, transport service, and application-level data rules; each answers a different commissioning question.
2. Worked MedPack path: twisted-pair copper Ethernet connects PLC and HMI through switches, IP addressing identifies endpoints, TCP transports a Modbus TCP exchange, and the Modbus data model identifies values.
3. RS-485 specifies electrical signalling characteristics, not the meaning or register map of the message; Modbus RTU is one protocol that may use that interface.
4. Check each device manual for supported physical interfaces, protocol roles, addressing, and services before declaring two devices compatible.
TEACHING VISUAL
The slide uses an editable communication architecture diagram. Keep it unless the prompted image communicates the idea more clearly.
OPTIONAL IMAGE PROMPT
Original layered communications stack illustrated as a physical copper path, switch network, endpoint addresses, transport envelope, and PLC data table, with no text or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5 of 18 | Suggested time: 13 minutes | Criteria: P3
TEACHING NOTES AND ACTIVITY CUES
1. Industrial Ethernet installations may use copper or fibre media and managed/unmanaged switches; exact cable category, connectors, segment limits, and environmental rating come from the installed equipment specifications.
2. Star, line, and ring describe possible physical/logical arrangements; a ring provides redundancy only when devices and the configured protocol/recovery mechanism support it.
3. Ethernet does not guarantee deterministic timing by itself: traffic, switch configuration, protocol, device load, and engineered QoS/redundancy affect performance and recovery.
4. For MedPack, trace PLC, HMI, remote I/O, and engineering port connections, then mark the actual switch boundaries and any supported diagnostics or redundancy.
TEACHING VISUAL
The slide uses an editable communication architecture diagram. Keep it unless the prompted image communicates the idea more clearly.
OPTIONAL IMAGE PROMPT
Original industrial control cabinet scene showing copper Ethernet patch leads to a switch, one fibre uplink, a PLC, HMI, and remote-I/O drop; no labels, logos,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6 of 18 | Suggested time: 12 minutes | Criteria: P3
TEACHING NOTES AND ACTIVITY CUES
1. RS-232 is commonly used for a point-to-point serial connection; RS-485 uses differential signalling and can support multi-drop networks when transceivers, topology, and device loading are designed accordingly.
2. RS-485 does not define Modbus or any other message format; a PLC and device need matching serial settings and a shared supported protocol such as Modbus RTU.
3. Follow the selected transceiver/device manuals for cable, polarity, termination, biasing, node loading, segment length, and grounding; avoid adding termination or bias by guesswork.
4. Commissioning procedure: verify interface and pinout, baud/parity/stop bits, node addresses, wiring polarity, and end-of-line requirements; expected result is stable replies from the intended node without unexplained retries.
TEACHING VISUAL
This slide has a reserved image bay. Add the image described below.
OPTIONAL IMAGE PROMPT
Original comparison diagram showing a two-wire RS-232 point-to-point path beside a differential RS-485 trunk with correctly placed end termination and several PLC devices;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7 of 18 | Suggested time: 13 minutes | Criteria: P3
TEACHING NOTES AND ACTIVITY CUES
1. Start with requirements: number/type of devices, cable route and distance, update needs, noise environment, topology, existing infrastructure, diagnostics, maintenance skills, and lifecycle support.
2. Clearly hypothetical case: a panel 40 m from a sensor bank with eight devices is a requirements prompt, not a universal Ethernet/RS-485 distance rule; compare supported PLC interfaces and device protocol maps before choosing.
3. A link decision does not establish application compatibility: confirm both endpoints support the same protocol role, data model, configuration tools, and required services.
4. Expected justification names one advantage and one constraint for the proposed MedPack connection and cites the source for any numeric cable or performance limit.
TEACHING VISUAL
The slide uses an editable decision method diagram. Keep it unless the prompted image communicates the idea more clearly.
OPTIONAL IMAGE PROMPT
Original engineering planning scene showing a PLC panel, distant sensor bank, alternative copper and serial routes, and a noise source near a motor cable; no annotations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8 of 18 | Suggested time: 10 minutes | Criteria: P3
TEACHING NOTES AND ACTIVITY CUES
1. Fill the table with a specific Ethernet implementation and a specific serial interface (for example, copper switched Ethernet versus two-wire RS-485), not generic labels alone.
2. Compare physical medium/interface, supported topology, installation/noise controls, likely PLC use, diagnostics, and maintenance; state which details depend on product design.
3. Qualitative comparison is acceptable where the hardware is not yet selected; any speed, node-count, or distance figure must cite the relevant interface/device manual.
4. Expected debrief: no link is universally faster, longer-range, or more noise-immune without its medium, transceivers, network design, and operating conditions being specified.
TEACHING VISUAL
The slide uses an editable comparison framework diagram. Keep it unless the prompted image communicates the idea more clearly.
OPTIONAL IMAGE PROMPT
Original blank comparison chart beside a copper Ethernet switch and RS-485 terminal bus, with visual cues for topology, cable, and diagnostics but no words or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9 of 18 | Suggested time: 15 minutes | Criteria: P3
TEACHING NOTES AND ACTIVITY CUES
1. One Ethernet installation can carry different protocol traffic, but each endpoint must implement the same protocol and compatible roles/configuration; shared cabling is not protocol interoperability.
2. Example pairs: Modbus RTU over a supported serial interface such as RS-485; Modbus TCP over TCP/IP and Ethernet; PROFINET and EtherNet/IP use industrial Ethernet infrastructure with distinct device/configuration ecosystems.
3. Distinguish a protocol from its transport and medium: changing the cable does not translate registers, device profiles, or cyclic-I/O services.
4. Ask learners to identify the evidence needed before connecting a PLC and HMI: supported protocol on both devices, role, address/data map, configuration, and version/option constraints.
TEACHING VISUAL
The slide uses an editable protocol comparison diagram. Keep it unless the prompted image communicates the idea more clearly.
OPTIONAL IMAGE PROMPT
Original diagram showing one Ethernet switch carrying two visually distinct PLC-HMI communication paths to compatible endpoints, plus an isolated serial Modbus RTU path;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10 of 18 | Suggested time: 10 minutes | Criteria: P3
TEACHING NOTES AND ACTIVITY CUES
1. Activity procedure: teams select a MedPack PLC-to-HMI requirement card, list the endpoints and needed data, and choose one supported link/interface plus one protocol pairing.
2. Compare the choice with an alternative on topology/distance, noise/installation, speed or update needs, typical use, and commissioning support; label unknowns instead of inventing specifications.
3. Expected response: recommend a compatible pair only after checking both endpoint manuals and the register/tag mapping, then state a limitation and one condition that could change the choice.
TEACHING VISUAL
The slide uses an editable comparison framework diagram. Keep it unless the prompted image communicates the idea more clearly.
OPTIONAL IMAGE PROMPT
Original small-team engineering workshop scene with a PLC, HMI, Ethernet switch, serial gateway, and a blank requirement card being compared; no readable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11 of 18 | Suggested time: 10 minutes | Criteria: P3
TEACHING NOTES AND ACTIVITY CUES
1. Modbus RTU commonly carries framed requests over serial links; Modbus TCP carries Modbus application messages over TCP/IP, commonly on Ethernet. The serial and TCP transport details differ even when the data model is familiar.
2. The common data model distinguishes coils and discrete inputs (bit values) from holding and input registers (16-bit values); read/write permissions and device-specific support vary.
3. Worked mapping: a MedPack PillCount may be represented by a documented register or tag, but the actual address, signedness, scaling, word order, and allowed function code must come from the PLC map.
4. Check reference notation versus client indexing with both PLC and client documentation; a displayed 40001 reference may be represented by a zero-based software offset, but this is not universal.
TEACHING VISUAL
The slide uses an editable protocol comparison diagram. Keep it unless the prompted image communicates the idea more clearly.
OPTIONAL IMAGE PROMPT
Original side-by-side Modbus RTU serial frame and Modbus TCP message path, with a coil bit and 16-bit register drawn as data examples but no characters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12 of 18 | Suggested time: 15 minutes | Criteria: P3
TEACHING NOTES AND ACTIVITY CUES
1. PROFINET and EtherNet/IP are distinct industrial communication systems that use Ethernet infrastructure but have different device descriptions, configuration workflows, services, and interoperability requirements.
2. At a high level, both support time-sensitive cyclic data exchange and additional configuration/diagnostic or explicit services, but the exact mechanisms and timing depend on protocol variant, device, controller, and network design.
3. For a MedPack PLC/HMI/device combination, verify the CPU/module role, firmware/options, supported device profile, configuration file, data size, diagnostic coverage, and vendor compatibility in current manuals.
4. Neither name is a generic synonym for Ethernet; ordinary Ethernet connectivity alone does not prove the PLC can exchange the required process data.
TEACHING VISUAL
The slide uses an editable protocol comparison diagram. Keep it unless the prompted image communicates the idea more clearly.
OPTIONAL IMAGE PROMPT
Original two distinct industrial PLC network diagrams, one with a controller and configured I/O device and one with a scanner/adapter pair, both connected through Ethernet switches; no text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13 of 18 | Suggested time: 10 minutes | Criteria: P3
TEACHING NOTES AND ACTIVITY CUES
1. PROFIBUS is a fieldbus family used for controller/device communication; IO-Link is a point-to-point sensor/actuator interface through an IO-Link master; OPC UA provides structured information exchange between compatible applications/devices.
2. MedPack examples: a supported PROFIBUS remote-I/O segment, an IO-Link smart sensor connected to a compatible master, or OPC UA data exposure to a supervisory client are different integration points, not interchangeable cable choices.
3. For each candidate, identify the master/controller/client role, device support, required gateway or module, configuration tools, data model, and security/update constraints.
4. Expected response: choose the technology that matches the integration need, then verify the actual PLC module and device protocol maps before promising connectivity.
TEACHING VISUAL
The slide uses an editable technology roles diagram. Keep it unless the prompted image communicates the idea more clearly.
OPTIONAL IMAGE PROMPT
Original three-panel industrial illustration of a PROFIBUS fieldbus segment, an IO-Link master with smart sensor, and an OPC UA server-client information path;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14 of 18 | Suggested time: 10 minutes | Criteria: P3
TEACHING NOTES AND ACTIVITY CUES
1. Trace one MedPack value end-to-end: PLC tag -&gt; verified protocol address or symbol -&gt; data type/encoding -&gt; HMI display, documenting units and any scaling.
2. Use PillCount as an integer read value and StartRequest as a bounded command request; define range, ownership, read/write permission, update expectation, and stale/quality indication for each.
3. Check byte/word order for multi-register values, signedness, address offsets, and data update rate using both endpoint documentation and a known-value test.
4. EStopStatusReadOnly may be displayed as status feedback only; HMI data mapping is not a substitute for the independent safety function.
TEACHING VISUAL
The slide uses an editable signal path diagram. Keep it unless the prompted image communicates the idea more clearly.
OPTIONAL IMAGE PROMPT
Original tag-mapping diagram connecting a PLC variable table through a protocol data block to an HMI numeric display and a permission-controlled command button; no labels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15 of 18 | Suggested time: 20 minutes | Criteria: P3
TEACHING NOTES AND ACTIVITY CUES
1. Activity procedure: create two separate matrix sections, comparing a specified Ethernet/serial interface pair and Modbus TCP/RTU protocol variants; do not place protocol names in the physical-link column.
2. For each option record topology, distance constraints, noise/installation considerations, bandwidth/update suitability, typical PLC use, commissioning strengths, and limits.
3. Add one documented MedPack endpoint pair and cite official manuals for all numeric limits, supported functions, and product capabilities; mark unverified values as unknown.
4. Expected debrief: the matrix should show that Modbus RTU and TCP differ in transport/framing while Ethernet and RS-485 describe different connection layers.
TEACHING VISUAL
This slide has a reserved image bay. Add the image described below.
OPTIONAL IMAGE PROMPT
Original completed-looking but text-free comparison matrix layout beside a PLC Ethernet port and an RS-485 terminal, with visual icons for topology, noise, and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16 of 18 | Suggested time: 20 minutes | Criteria: P3
TEACHING NOTES AND ACTIVITY CUES
1. Procedure: draw the selected PLC, HMI or remote-I/O endpoint, every switch/gateway, physical medium/interface, protocol, endpoint roles, addressing, and one MedPack data path.
2. Label the protocol and the physical interface separately; show a PillCount read or StartRequest exchange with data type, direction, and the source manual/map.
3. Peer review test: another learner should be able to identify the cable/interface, protocol, endpoint configuration, data map, and one likely failure boundary without verbal hints.
4. Expected debrief: if the drawing says only “Ethernet” or “Modbus,” it is incomplete because it omits either the actual connection or the application exchange.
TEACHING VISUAL
The slide uses an editable communication architecture diagram. Keep it unless the prompted image communicates the idea more clearly.
OPTIONAL IMAGE PROMPT
Original clear engineering network diagram with PLC, switch, HMI, cable types, endpoint roles, and a highlighted count-data path, with no text or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17 of 18 | Suggested time: 7 minutes | Criteria: P3
TEACHING NOTES AND ACTIVITY CUES
1. Correct four frequent errors: calling RS-485 a protocol, treating Ethernet as an application protocol, assuming same cable means compatibility, and presenting a speed/distance as universal.
2. A complete comparison names the chosen medium/interface, topology, protocol, endpoint roles, relevant noise controls, and the source for product-specific limits.
3. Ask learners to repair one weak claim: “Ethernet is deterministic and all PLCs can connect” becomes a qualified statement tied to protocol, traffic design, compatible devices, and verified timing requirements.
TEACHING VISUAL
The slide uses an editable formative check diagram. Keep it unless the prompted image communicates the idea more clearly.
OPTIONAL IMAGE PROMPT
Original split visual contrasting an incorrect tangled PLC network sketch with a corrected layered topology drawing, using symbols only and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Links and PLC Protocols | Week 06 | LO2
Slide 18 of 18 | Suggested time: 8 minutes | Criteria: P3
TEACHING NOTES AND ACTIVITY CUES
1. In a short response, compare one physical link/interface pair and one protocol pair on two dimensions from topology/distance, noise, speed/bandwidth, and typical use.
2. Include one MedPack use case and state one compatibility fact that must be verified in the selected PLC or HMI manual.
3. Expected answer distinguishes a connection (for example, RS-485) from a message/protocol (for example, Modbus RTU) and avoids unsupported universal numeric claims.
TEACHING VISUAL
The slide uses an editable formative check diagram. Keep it unless the prompted image communicates the idea more clearly.
OPTIONAL IMAGE PROMPT
Original exit-ticket still life showing a small PLC, two alternative communication cables, a protocol frame sketch, and a blank answer sheet; no writing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Signal processing retrieval</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Reconstruct the Week 5 path: pill sensor -&gt; PLC input -&gt; count logic -&gt; output interface -&gt; actuator request; identify where a communication link is actually present.</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3F7394"/>
          </a:solidFill>
          <a:ln w="12700">
            <a:solidFill>
              <a:srgbClr val="3F7394">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 local sensor wired to a PLC input has an electrical signal path, not automatically a network protocol; remote I/O or an HMI connection adds a configured communication connection.</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3F7394"/>
          </a:solidFill>
          <a:ln w="12700">
            <a:solidFill>
              <a:srgbClr val="3F7394">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answer: on the Week 7-style architecture, label the cable/interface separately from the protocol used to exchange PLC data.</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SUGGESTED VISUAL</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7882128" y="2432304"/>
            <a:ext cx="3483864" cy="3447288"/>
          </a:xfrm>
          <a:prstGeom prst="rect">
            <a:avLst/>
          </a:prstGeom>
          <a:solidFill>
            <a:srgbClr val="E8EFF3"/>
          </a:solidFill>
          <a:ln w="13970">
            <a:solidFill>
              <a:srgbClr val="AFC1CD"/>
            </a:solidFill>
            <a:prstDash val="solid"/>
          </a:ln>
        </p:spPr>
      </p:sp>
      <p:sp>
        <p:nvSpPr>
          <p:cNvPr id="27" name="Text 25"/>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3F7394"/>
                </a:solidFill>
                <a:latin typeface="Aptos Display" pitchFamily="34" charset="0"/>
                <a:ea typeface="Aptos Display" pitchFamily="34" charset="-122"/>
                <a:cs typeface="Aptos Display" pitchFamily="34" charset="-120"/>
              </a:rPr>
              <a:t>IMAGE SPACE</a:t>
            </a:r>
            <a:endParaRPr lang="en-US" sz="1800" dirty="0"/>
          </a:p>
        </p:txBody>
      </p:sp>
      <p:sp>
        <p:nvSpPr>
          <p:cNvPr id="28" name="Text 26"/>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29" name="Shape 27"/>
          <p:cNvSpPr/>
          <p:nvPr/>
        </p:nvSpPr>
        <p:spPr>
          <a:xfrm>
            <a:off x="603504" y="6318504"/>
            <a:ext cx="10972800" cy="0"/>
          </a:xfrm>
          <a:prstGeom prst="line">
            <a:avLst/>
          </a:prstGeom>
          <a:noFill/>
          <a:ln w="10160">
            <a:solidFill>
              <a:srgbClr val="D5E0E7"/>
            </a:solidFill>
            <a:prstDash val="solid"/>
          </a:ln>
        </p:spPr>
      </p:sp>
      <p:sp>
        <p:nvSpPr>
          <p:cNvPr id="30" name="Text 28"/>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31" name="Text 29"/>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Link or protocol?</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Classify Ethernet as a family of link/physical-layer technologies, RS-485 as an electrical interface, Modbus RTU and Modbus TCP as protocol variants, and PROFINET as an industrial communication system/protocol family.</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3F7394"/>
          </a:solidFill>
          <a:ln w="12700">
            <a:solidFill>
              <a:srgbClr val="3F7394">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Modbus RTU commonly runs over serial interfaces such as RS-485, while Modbus TCP commonly runs over TCP/IP on Ethernet; the cable/interface alone does not determine the application protocol.</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3F7394"/>
          </a:solidFill>
          <a:ln w="12700">
            <a:solidFill>
              <a:srgbClr val="3F7394">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correction: calling RS-485 a protocol or assuming every Ethernet device speaks the same PLC protocol confuses different layers.</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COMMUNICATION ARCHITECTURE</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Text 24"/>
          <p:cNvSpPr/>
          <p:nvPr/>
        </p:nvSpPr>
        <p:spPr>
          <a:xfrm>
            <a:off x="7955280" y="2798064"/>
            <a:ext cx="3291840" cy="274320"/>
          </a:xfrm>
          <a:prstGeom prst="rect">
            <a:avLst/>
          </a:prstGeom>
          <a:noFill/>
          <a:ln/>
        </p:spPr>
        <p:txBody>
          <a:bodyPr wrap="square" lIns="0" tIns="0" rIns="0" bIns="0" rtlCol="0" anchor="ctr">
            <a:normAutofit/>
          </a:bodyPr>
          <a:lstStyle/>
          <a:p>
            <a:pPr algn="ctr" indent="0" marL="0">
              <a:buNone/>
            </a:pPr>
            <a:r>
              <a:rPr lang="en-US" sz="900" b="1" dirty="0">
                <a:solidFill>
                  <a:srgbClr val="3F7394"/>
                </a:solidFill>
                <a:latin typeface="Aptos" pitchFamily="34" charset="0"/>
                <a:ea typeface="Aptos" pitchFamily="34" charset="-122"/>
                <a:cs typeface="Aptos" pitchFamily="34" charset="-120"/>
              </a:rPr>
              <a:t>SWITCHED ETHERNET</a:t>
            </a:r>
            <a:endParaRPr lang="en-US" sz="900" dirty="0"/>
          </a:p>
        </p:txBody>
      </p:sp>
      <p:sp>
        <p:nvSpPr>
          <p:cNvPr id="27" name="Shape 25"/>
          <p:cNvSpPr/>
          <p:nvPr/>
        </p:nvSpPr>
        <p:spPr>
          <a:xfrm>
            <a:off x="7973568" y="3300984"/>
            <a:ext cx="804672" cy="457200"/>
          </a:xfrm>
          <a:prstGeom prst="rect">
            <a:avLst/>
          </a:prstGeom>
          <a:solidFill>
            <a:srgbClr val="F4F8FA"/>
          </a:solidFill>
          <a:ln w="14605">
            <a:solidFill>
              <a:srgbClr val="3F7394"/>
            </a:solidFill>
            <a:prstDash val="solid"/>
          </a:ln>
        </p:spPr>
      </p:sp>
      <p:sp>
        <p:nvSpPr>
          <p:cNvPr id="28" name="Text 26"/>
          <p:cNvSpPr/>
          <p:nvPr/>
        </p:nvSpPr>
        <p:spPr>
          <a:xfrm>
            <a:off x="8046720" y="3355848"/>
            <a:ext cx="658368" cy="347472"/>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PLC</a:t>
            </a:r>
            <a:endParaRPr lang="en-US" sz="1050" dirty="0"/>
          </a:p>
        </p:txBody>
      </p:sp>
      <p:sp>
        <p:nvSpPr>
          <p:cNvPr id="29" name="Shape 27"/>
          <p:cNvSpPr/>
          <p:nvPr/>
        </p:nvSpPr>
        <p:spPr>
          <a:xfrm>
            <a:off x="9217152" y="3300984"/>
            <a:ext cx="804672" cy="457200"/>
          </a:xfrm>
          <a:prstGeom prst="rect">
            <a:avLst/>
          </a:prstGeom>
          <a:solidFill>
            <a:srgbClr val="F4F8FA"/>
          </a:solidFill>
          <a:ln w="14605">
            <a:solidFill>
              <a:srgbClr val="3F7394"/>
            </a:solidFill>
            <a:prstDash val="solid"/>
          </a:ln>
        </p:spPr>
      </p:sp>
      <p:sp>
        <p:nvSpPr>
          <p:cNvPr id="30" name="Text 28"/>
          <p:cNvSpPr/>
          <p:nvPr/>
        </p:nvSpPr>
        <p:spPr>
          <a:xfrm>
            <a:off x="9290304" y="3355848"/>
            <a:ext cx="658368" cy="347472"/>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SWITCH</a:t>
            </a:r>
            <a:endParaRPr lang="en-US" sz="1050" dirty="0"/>
          </a:p>
        </p:txBody>
      </p:sp>
      <p:sp>
        <p:nvSpPr>
          <p:cNvPr id="31" name="Shape 29"/>
          <p:cNvSpPr/>
          <p:nvPr/>
        </p:nvSpPr>
        <p:spPr>
          <a:xfrm>
            <a:off x="10405872" y="3300984"/>
            <a:ext cx="804672" cy="457200"/>
          </a:xfrm>
          <a:prstGeom prst="rect">
            <a:avLst/>
          </a:prstGeom>
          <a:solidFill>
            <a:srgbClr val="F4F8FA"/>
          </a:solidFill>
          <a:ln w="14605">
            <a:solidFill>
              <a:srgbClr val="3F7394"/>
            </a:solidFill>
            <a:prstDash val="solid"/>
          </a:ln>
        </p:spPr>
      </p:sp>
      <p:sp>
        <p:nvSpPr>
          <p:cNvPr id="32" name="Text 30"/>
          <p:cNvSpPr/>
          <p:nvPr/>
        </p:nvSpPr>
        <p:spPr>
          <a:xfrm>
            <a:off x="10479024" y="3355848"/>
            <a:ext cx="658368" cy="347472"/>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HMI</a:t>
            </a:r>
            <a:endParaRPr lang="en-US" sz="1050" dirty="0"/>
          </a:p>
        </p:txBody>
      </p:sp>
      <p:sp>
        <p:nvSpPr>
          <p:cNvPr id="33" name="Shape 31"/>
          <p:cNvSpPr/>
          <p:nvPr/>
        </p:nvSpPr>
        <p:spPr>
          <a:xfrm>
            <a:off x="8787384" y="3529584"/>
            <a:ext cx="384048" cy="0"/>
          </a:xfrm>
          <a:prstGeom prst="line">
            <a:avLst/>
          </a:prstGeom>
          <a:noFill/>
          <a:ln w="22860">
            <a:solidFill>
              <a:srgbClr val="3F7394"/>
            </a:solidFill>
            <a:prstDash val="solid"/>
            <a:tailEnd type="triangle"/>
          </a:ln>
        </p:spPr>
      </p:sp>
      <p:sp>
        <p:nvSpPr>
          <p:cNvPr id="34" name="Shape 32"/>
          <p:cNvSpPr/>
          <p:nvPr/>
        </p:nvSpPr>
        <p:spPr>
          <a:xfrm>
            <a:off x="10040112" y="3529584"/>
            <a:ext cx="320040" cy="0"/>
          </a:xfrm>
          <a:prstGeom prst="line">
            <a:avLst/>
          </a:prstGeom>
          <a:noFill/>
          <a:ln w="22860">
            <a:solidFill>
              <a:srgbClr val="3F7394"/>
            </a:solidFill>
            <a:prstDash val="solid"/>
            <a:tailEnd type="triangle"/>
          </a:ln>
        </p:spPr>
      </p:sp>
      <p:sp>
        <p:nvSpPr>
          <p:cNvPr id="35" name="Text 33"/>
          <p:cNvSpPr/>
          <p:nvPr/>
        </p:nvSpPr>
        <p:spPr>
          <a:xfrm>
            <a:off x="7955280" y="4215384"/>
            <a:ext cx="3291840" cy="274320"/>
          </a:xfrm>
          <a:prstGeom prst="rect">
            <a:avLst/>
          </a:prstGeom>
          <a:noFill/>
          <a:ln/>
        </p:spPr>
        <p:txBody>
          <a:bodyPr wrap="square" lIns="0" tIns="0" rIns="0" bIns="0" rtlCol="0" anchor="ctr">
            <a:normAutofit/>
          </a:bodyPr>
          <a:lstStyle/>
          <a:p>
            <a:pPr algn="ctr" indent="0" marL="0">
              <a:buNone/>
            </a:pPr>
            <a:r>
              <a:rPr lang="en-US" sz="900" b="1" dirty="0">
                <a:solidFill>
                  <a:srgbClr val="3F7394"/>
                </a:solidFill>
                <a:latin typeface="Aptos" pitchFamily="34" charset="0"/>
                <a:ea typeface="Aptos" pitchFamily="34" charset="-122"/>
                <a:cs typeface="Aptos" pitchFamily="34" charset="-120"/>
              </a:rPr>
              <a:t>SERIAL RS-485 TRUNK</a:t>
            </a:r>
            <a:endParaRPr lang="en-US" sz="900" dirty="0"/>
          </a:p>
        </p:txBody>
      </p:sp>
      <p:sp>
        <p:nvSpPr>
          <p:cNvPr id="36" name="Shape 34"/>
          <p:cNvSpPr/>
          <p:nvPr/>
        </p:nvSpPr>
        <p:spPr>
          <a:xfrm>
            <a:off x="8165592" y="5020056"/>
            <a:ext cx="3063240" cy="0"/>
          </a:xfrm>
          <a:prstGeom prst="line">
            <a:avLst/>
          </a:prstGeom>
          <a:noFill/>
          <a:ln w="25400">
            <a:solidFill>
              <a:srgbClr val="3F7394"/>
            </a:solidFill>
            <a:prstDash val="solid"/>
          </a:ln>
        </p:spPr>
      </p:sp>
      <p:sp>
        <p:nvSpPr>
          <p:cNvPr id="37" name="Shape 35"/>
          <p:cNvSpPr/>
          <p:nvPr/>
        </p:nvSpPr>
        <p:spPr>
          <a:xfrm>
            <a:off x="8348472" y="4672584"/>
            <a:ext cx="685800" cy="548640"/>
          </a:xfrm>
          <a:prstGeom prst="rect">
            <a:avLst/>
          </a:prstGeom>
          <a:solidFill>
            <a:srgbClr val="F4F8FA"/>
          </a:solidFill>
          <a:ln w="14605">
            <a:solidFill>
              <a:srgbClr val="3F7394"/>
            </a:solidFill>
            <a:prstDash val="solid"/>
          </a:ln>
        </p:spPr>
      </p:sp>
      <p:sp>
        <p:nvSpPr>
          <p:cNvPr id="38" name="Text 36"/>
          <p:cNvSpPr/>
          <p:nvPr/>
        </p:nvSpPr>
        <p:spPr>
          <a:xfrm>
            <a:off x="8421624" y="4727448"/>
            <a:ext cx="539496" cy="438912"/>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PLC</a:t>
            </a:r>
            <a:endParaRPr lang="en-US" sz="900" dirty="0"/>
          </a:p>
        </p:txBody>
      </p:sp>
      <p:sp>
        <p:nvSpPr>
          <p:cNvPr id="39" name="Shape 37"/>
          <p:cNvSpPr/>
          <p:nvPr/>
        </p:nvSpPr>
        <p:spPr>
          <a:xfrm>
            <a:off x="8695944" y="5221224"/>
            <a:ext cx="0" cy="-182880"/>
          </a:xfrm>
          <a:prstGeom prst="line">
            <a:avLst/>
          </a:prstGeom>
          <a:noFill/>
          <a:ln w="17780">
            <a:solidFill>
              <a:srgbClr val="3F7394"/>
            </a:solidFill>
            <a:prstDash val="solid"/>
          </a:ln>
        </p:spPr>
      </p:sp>
      <p:sp>
        <p:nvSpPr>
          <p:cNvPr id="40" name="Shape 38"/>
          <p:cNvSpPr/>
          <p:nvPr/>
        </p:nvSpPr>
        <p:spPr>
          <a:xfrm>
            <a:off x="9354312" y="4672584"/>
            <a:ext cx="685800" cy="548640"/>
          </a:xfrm>
          <a:prstGeom prst="rect">
            <a:avLst/>
          </a:prstGeom>
          <a:solidFill>
            <a:srgbClr val="F4F8FA"/>
          </a:solidFill>
          <a:ln w="14605">
            <a:solidFill>
              <a:srgbClr val="3F7394"/>
            </a:solidFill>
            <a:prstDash val="solid"/>
          </a:ln>
        </p:spPr>
      </p:sp>
      <p:sp>
        <p:nvSpPr>
          <p:cNvPr id="41" name="Text 39"/>
          <p:cNvSpPr/>
          <p:nvPr/>
        </p:nvSpPr>
        <p:spPr>
          <a:xfrm>
            <a:off x="9427464" y="4727448"/>
            <a:ext cx="539496" cy="438912"/>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NODE</a:t>
            </a:r>
            <a:endParaRPr lang="en-US" sz="900" dirty="0"/>
          </a:p>
        </p:txBody>
      </p:sp>
      <p:sp>
        <p:nvSpPr>
          <p:cNvPr id="42" name="Shape 40"/>
          <p:cNvSpPr/>
          <p:nvPr/>
        </p:nvSpPr>
        <p:spPr>
          <a:xfrm>
            <a:off x="9701784" y="5221224"/>
            <a:ext cx="0" cy="-182880"/>
          </a:xfrm>
          <a:prstGeom prst="line">
            <a:avLst/>
          </a:prstGeom>
          <a:noFill/>
          <a:ln w="17780">
            <a:solidFill>
              <a:srgbClr val="3F7394"/>
            </a:solidFill>
            <a:prstDash val="solid"/>
          </a:ln>
        </p:spPr>
      </p:sp>
      <p:sp>
        <p:nvSpPr>
          <p:cNvPr id="43" name="Shape 41"/>
          <p:cNvSpPr/>
          <p:nvPr/>
        </p:nvSpPr>
        <p:spPr>
          <a:xfrm>
            <a:off x="10497312" y="4672584"/>
            <a:ext cx="685800" cy="548640"/>
          </a:xfrm>
          <a:prstGeom prst="rect">
            <a:avLst/>
          </a:prstGeom>
          <a:solidFill>
            <a:srgbClr val="F4F8FA"/>
          </a:solidFill>
          <a:ln w="14605">
            <a:solidFill>
              <a:srgbClr val="3F7394"/>
            </a:solidFill>
            <a:prstDash val="solid"/>
          </a:ln>
        </p:spPr>
      </p:sp>
      <p:sp>
        <p:nvSpPr>
          <p:cNvPr id="44" name="Text 42"/>
          <p:cNvSpPr/>
          <p:nvPr/>
        </p:nvSpPr>
        <p:spPr>
          <a:xfrm>
            <a:off x="10570464" y="4727448"/>
            <a:ext cx="539496" cy="438912"/>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NODE</a:t>
            </a:r>
            <a:endParaRPr lang="en-US" sz="900" dirty="0"/>
          </a:p>
        </p:txBody>
      </p:sp>
      <p:sp>
        <p:nvSpPr>
          <p:cNvPr id="45" name="Shape 43"/>
          <p:cNvSpPr/>
          <p:nvPr/>
        </p:nvSpPr>
        <p:spPr>
          <a:xfrm>
            <a:off x="10844784" y="5221224"/>
            <a:ext cx="0" cy="-182880"/>
          </a:xfrm>
          <a:prstGeom prst="line">
            <a:avLst/>
          </a:prstGeom>
          <a:noFill/>
          <a:ln w="17780">
            <a:solidFill>
              <a:srgbClr val="3F7394"/>
            </a:solidFill>
            <a:prstDash val="solid"/>
          </a:ln>
        </p:spPr>
      </p:sp>
      <p:sp>
        <p:nvSpPr>
          <p:cNvPr id="46" name="Text 44"/>
          <p:cNvSpPr/>
          <p:nvPr/>
        </p:nvSpPr>
        <p:spPr>
          <a:xfrm>
            <a:off x="8010144" y="5678424"/>
            <a:ext cx="3200400" cy="411480"/>
          </a:xfrm>
          <a:prstGeom prst="rect">
            <a:avLst/>
          </a:prstGeom>
          <a:noFill/>
          <a:ln/>
        </p:spPr>
        <p:txBody>
          <a:bodyPr wrap="square" lIns="0" tIns="0" rIns="0" bIns="0" rtlCol="0" anchor="ctr">
            <a:normAutofit/>
          </a:bodyPr>
          <a:lstStyle/>
          <a:p>
            <a:pPr algn="ctr" indent="0" marL="0">
              <a:buNone/>
            </a:pPr>
            <a:r>
              <a:rPr lang="en-US" sz="1050" dirty="0">
                <a:solidFill>
                  <a:srgbClr val="1B3448"/>
                </a:solidFill>
                <a:latin typeface="Aptos" pitchFamily="34" charset="0"/>
                <a:ea typeface="Aptos" pitchFamily="34" charset="-122"/>
                <a:cs typeface="Aptos" pitchFamily="34" charset="-120"/>
              </a:rPr>
              <a:t>The link and protocol are separate choices</a:t>
            </a:r>
            <a:endParaRPr lang="en-US" sz="1050" dirty="0"/>
          </a:p>
        </p:txBody>
      </p:sp>
      <p:sp>
        <p:nvSpPr>
          <p:cNvPr id="47" name="Shape 45"/>
          <p:cNvSpPr/>
          <p:nvPr/>
        </p:nvSpPr>
        <p:spPr>
          <a:xfrm>
            <a:off x="603504" y="6318504"/>
            <a:ext cx="10972800" cy="0"/>
          </a:xfrm>
          <a:prstGeom prst="line">
            <a:avLst/>
          </a:prstGeom>
          <a:noFill/>
          <a:ln w="10160">
            <a:solidFill>
              <a:srgbClr val="D5E0E7"/>
            </a:solidFill>
            <a:prstDash val="solid"/>
          </a:ln>
        </p:spPr>
      </p:sp>
      <p:sp>
        <p:nvSpPr>
          <p:cNvPr id="48" name="Text 46"/>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9" name="Text 47"/>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P3 success criteria</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LO2.P3 requires an illustrated comparison of at least two communication links/interfaces and at least two PLC-relevant standards or protocols.</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3F7394"/>
          </a:solidFill>
          <a:ln w="12700">
            <a:solidFill>
              <a:srgbClr val="3F7394">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For each example, learners should identify topology/distance, noise considerations, speed or bandwidth qualitatively, and a typical use case, with numeric limits sourced from the selected equipment manual.</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3F7394"/>
          </a:solidFill>
          <a:ln w="12700">
            <a:solidFill>
              <a:srgbClr val="3F7394">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Evidence for today is a comparison matrix plus a labelled connection diagram; a list of names without layer distinction does not demonstrate the criterion.</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FORMATIVE CHECK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138160" y="2697480"/>
            <a:ext cx="256032" cy="256032"/>
          </a:xfrm>
          <a:prstGeom prst="rect">
            <a:avLst/>
          </a:prstGeom>
          <a:solidFill>
            <a:srgbClr val="FFFFFF"/>
          </a:solidFill>
          <a:ln w="17780">
            <a:solidFill>
              <a:srgbClr val="3F7394"/>
            </a:solidFill>
            <a:prstDash val="solid"/>
          </a:ln>
        </p:spPr>
      </p:sp>
      <p:sp>
        <p:nvSpPr>
          <p:cNvPr id="27" name="Text 25"/>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01</a:t>
            </a:r>
            <a:endParaRPr lang="en-US" sz="800" dirty="0"/>
          </a:p>
        </p:txBody>
      </p:sp>
      <p:sp>
        <p:nvSpPr>
          <p:cNvPr id="28" name="Text 26"/>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PHYSICAL LINK</a:t>
            </a:r>
            <a:endParaRPr lang="en-US" sz="1000" dirty="0"/>
          </a:p>
        </p:txBody>
      </p:sp>
      <p:sp>
        <p:nvSpPr>
          <p:cNvPr id="29" name="Shape 27"/>
          <p:cNvSpPr/>
          <p:nvPr/>
        </p:nvSpPr>
        <p:spPr>
          <a:xfrm>
            <a:off x="8558784" y="3163824"/>
            <a:ext cx="2542032" cy="0"/>
          </a:xfrm>
          <a:prstGeom prst="line">
            <a:avLst/>
          </a:prstGeom>
          <a:noFill/>
          <a:ln w="8890">
            <a:solidFill>
              <a:srgbClr val="D5E0E7"/>
            </a:solidFill>
            <a:prstDash val="solid"/>
          </a:ln>
        </p:spPr>
      </p:sp>
      <p:sp>
        <p:nvSpPr>
          <p:cNvPr id="30" name="Shape 28"/>
          <p:cNvSpPr/>
          <p:nvPr/>
        </p:nvSpPr>
        <p:spPr>
          <a:xfrm>
            <a:off x="8138160" y="3447288"/>
            <a:ext cx="256032" cy="256032"/>
          </a:xfrm>
          <a:prstGeom prst="rect">
            <a:avLst/>
          </a:prstGeom>
          <a:solidFill>
            <a:srgbClr val="FFFFFF"/>
          </a:solidFill>
          <a:ln w="17780">
            <a:solidFill>
              <a:srgbClr val="3F7394"/>
            </a:solidFill>
            <a:prstDash val="solid"/>
          </a:ln>
        </p:spPr>
      </p:sp>
      <p:sp>
        <p:nvSpPr>
          <p:cNvPr id="31" name="Text 29"/>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02</a:t>
            </a:r>
            <a:endParaRPr lang="en-US" sz="800" dirty="0"/>
          </a:p>
        </p:txBody>
      </p:sp>
      <p:sp>
        <p:nvSpPr>
          <p:cNvPr id="32" name="Text 30"/>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PROTOCOL</a:t>
            </a:r>
            <a:endParaRPr lang="en-US" sz="1000" dirty="0"/>
          </a:p>
        </p:txBody>
      </p:sp>
      <p:sp>
        <p:nvSpPr>
          <p:cNvPr id="33" name="Shape 31"/>
          <p:cNvSpPr/>
          <p:nvPr/>
        </p:nvSpPr>
        <p:spPr>
          <a:xfrm>
            <a:off x="8558784" y="3913632"/>
            <a:ext cx="2542032" cy="0"/>
          </a:xfrm>
          <a:prstGeom prst="line">
            <a:avLst/>
          </a:prstGeom>
          <a:noFill/>
          <a:ln w="8890">
            <a:solidFill>
              <a:srgbClr val="D5E0E7"/>
            </a:solidFill>
            <a:prstDash val="solid"/>
          </a:ln>
        </p:spPr>
      </p:sp>
      <p:sp>
        <p:nvSpPr>
          <p:cNvPr id="34" name="Shape 32"/>
          <p:cNvSpPr/>
          <p:nvPr/>
        </p:nvSpPr>
        <p:spPr>
          <a:xfrm>
            <a:off x="8138160" y="4197096"/>
            <a:ext cx="256032" cy="256032"/>
          </a:xfrm>
          <a:prstGeom prst="rect">
            <a:avLst/>
          </a:prstGeom>
          <a:solidFill>
            <a:srgbClr val="FFFFFF"/>
          </a:solidFill>
          <a:ln w="17780">
            <a:solidFill>
              <a:srgbClr val="3F7394"/>
            </a:solidFill>
            <a:prstDash val="solid"/>
          </a:ln>
        </p:spPr>
      </p:sp>
      <p:sp>
        <p:nvSpPr>
          <p:cNvPr id="35" name="Text 33"/>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03</a:t>
            </a:r>
            <a:endParaRPr lang="en-US" sz="800" dirty="0"/>
          </a:p>
        </p:txBody>
      </p:sp>
      <p:sp>
        <p:nvSpPr>
          <p:cNvPr id="36" name="Text 34"/>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ENDPOINT MAP</a:t>
            </a:r>
            <a:endParaRPr lang="en-US" sz="1000" dirty="0"/>
          </a:p>
        </p:txBody>
      </p:sp>
      <p:sp>
        <p:nvSpPr>
          <p:cNvPr id="37" name="Shape 35"/>
          <p:cNvSpPr/>
          <p:nvPr/>
        </p:nvSpPr>
        <p:spPr>
          <a:xfrm>
            <a:off x="8558784" y="4663440"/>
            <a:ext cx="2542032" cy="0"/>
          </a:xfrm>
          <a:prstGeom prst="line">
            <a:avLst/>
          </a:prstGeom>
          <a:noFill/>
          <a:ln w="8890">
            <a:solidFill>
              <a:srgbClr val="D5E0E7"/>
            </a:solidFill>
            <a:prstDash val="solid"/>
          </a:ln>
        </p:spPr>
      </p:sp>
      <p:sp>
        <p:nvSpPr>
          <p:cNvPr id="38" name="Shape 36"/>
          <p:cNvSpPr/>
          <p:nvPr/>
        </p:nvSpPr>
        <p:spPr>
          <a:xfrm>
            <a:off x="8138160" y="4946904"/>
            <a:ext cx="256032" cy="256032"/>
          </a:xfrm>
          <a:prstGeom prst="rect">
            <a:avLst/>
          </a:prstGeom>
          <a:solidFill>
            <a:srgbClr val="FFFFFF"/>
          </a:solidFill>
          <a:ln w="17780">
            <a:solidFill>
              <a:srgbClr val="3F7394"/>
            </a:solidFill>
            <a:prstDash val="solid"/>
          </a:ln>
        </p:spPr>
      </p:sp>
      <p:sp>
        <p:nvSpPr>
          <p:cNvPr id="39" name="Text 37"/>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04</a:t>
            </a:r>
            <a:endParaRPr lang="en-US" sz="800" dirty="0"/>
          </a:p>
        </p:txBody>
      </p:sp>
      <p:sp>
        <p:nvSpPr>
          <p:cNvPr id="40" name="Text 38"/>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SOURCE / LIMIT</a:t>
            </a:r>
            <a:endParaRPr lang="en-US" sz="100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Communication layers in practical terms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Separate the cable/medium and electrical interface, network topology, addressing, transport service, and application-level data rules; each answers a different commissioning question.</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Worked MedPack path: twisted-pair copper Ethernet connects PLC and HMI through switches, IP addressing identifies endpoints, TCP transports a Modbus TCP exchange, and the Modbus data model identifies values.</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RS-485 specifies electrical signalling characteristics, not the meaning or register map of the message; Modbus RTU is one protocol that may use that interface.</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each device manual for supported physical interfaces, protocol roles, addressing, and services before declaring two devices compatible.</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COMMUNICATION ARCHITECTURE</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9217152" y="4005072"/>
            <a:ext cx="868680" cy="694944"/>
          </a:xfrm>
          <a:prstGeom prst="rect">
            <a:avLst/>
          </a:prstGeom>
          <a:solidFill>
            <a:srgbClr val="F4F8FA"/>
          </a:solidFill>
          <a:ln w="14605">
            <a:solidFill>
              <a:srgbClr val="3F7394"/>
            </a:solidFill>
            <a:prstDash val="solid"/>
          </a:ln>
        </p:spPr>
      </p:sp>
      <p:sp>
        <p:nvSpPr>
          <p:cNvPr id="31" name="Text 29"/>
          <p:cNvSpPr/>
          <p:nvPr/>
        </p:nvSpPr>
        <p:spPr>
          <a:xfrm>
            <a:off x="9290304" y="4059936"/>
            <a:ext cx="722376" cy="585216"/>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PLC</a:t>
            </a:r>
            <a:endParaRPr lang="en-US" sz="950" dirty="0"/>
          </a:p>
          <a:p>
            <a:pPr algn="ctr" indent="0" marL="0">
              <a:buNone/>
            </a:pPr>
            <a:r>
              <a:rPr lang="en-US" sz="950" b="1" dirty="0">
                <a:solidFill>
                  <a:srgbClr val="1B3448"/>
                </a:solidFill>
                <a:latin typeface="Aptos" pitchFamily="34" charset="0"/>
                <a:ea typeface="Aptos" pitchFamily="34" charset="-122"/>
                <a:cs typeface="Aptos" pitchFamily="34" charset="-120"/>
              </a:rPr>
              <a:t>CONTROLLER</a:t>
            </a:r>
            <a:endParaRPr lang="en-US" sz="950" dirty="0"/>
          </a:p>
        </p:txBody>
      </p:sp>
      <p:sp>
        <p:nvSpPr>
          <p:cNvPr id="32" name="Shape 30"/>
          <p:cNvSpPr/>
          <p:nvPr/>
        </p:nvSpPr>
        <p:spPr>
          <a:xfrm>
            <a:off x="7936992" y="3236976"/>
            <a:ext cx="868680" cy="530352"/>
          </a:xfrm>
          <a:prstGeom prst="rect">
            <a:avLst/>
          </a:prstGeom>
          <a:solidFill>
            <a:srgbClr val="F4F8FA"/>
          </a:solidFill>
          <a:ln w="14605">
            <a:solidFill>
              <a:srgbClr val="3F7394"/>
            </a:solidFill>
            <a:prstDash val="solid"/>
          </a:ln>
        </p:spPr>
      </p:sp>
      <p:sp>
        <p:nvSpPr>
          <p:cNvPr id="33" name="Text 31"/>
          <p:cNvSpPr/>
          <p:nvPr/>
        </p:nvSpPr>
        <p:spPr>
          <a:xfrm>
            <a:off x="8010144" y="329184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LOCAL I/O</a:t>
            </a:r>
            <a:endParaRPr lang="en-US" sz="900" dirty="0"/>
          </a:p>
        </p:txBody>
      </p:sp>
      <p:sp>
        <p:nvSpPr>
          <p:cNvPr id="34" name="Shape 32"/>
          <p:cNvSpPr/>
          <p:nvPr/>
        </p:nvSpPr>
        <p:spPr>
          <a:xfrm>
            <a:off x="9656064" y="4352544"/>
            <a:ext cx="-1289304" cy="-841248"/>
          </a:xfrm>
          <a:prstGeom prst="line">
            <a:avLst/>
          </a:prstGeom>
          <a:noFill/>
          <a:ln w="14605">
            <a:solidFill>
              <a:srgbClr val="607585"/>
            </a:solidFill>
            <a:prstDash val="solid"/>
            <a:tailEnd type="triangle"/>
          </a:ln>
        </p:spPr>
      </p:sp>
      <p:sp>
        <p:nvSpPr>
          <p:cNvPr id="35" name="Shape 33"/>
          <p:cNvSpPr/>
          <p:nvPr/>
        </p:nvSpPr>
        <p:spPr>
          <a:xfrm>
            <a:off x="10451592" y="3236976"/>
            <a:ext cx="868680" cy="530352"/>
          </a:xfrm>
          <a:prstGeom prst="rect">
            <a:avLst/>
          </a:prstGeom>
          <a:solidFill>
            <a:srgbClr val="F4F8FA"/>
          </a:solidFill>
          <a:ln w="14605">
            <a:solidFill>
              <a:srgbClr val="3F7394"/>
            </a:solidFill>
            <a:prstDash val="solid"/>
          </a:ln>
        </p:spPr>
      </p:sp>
      <p:sp>
        <p:nvSpPr>
          <p:cNvPr id="36" name="Text 34"/>
          <p:cNvSpPr/>
          <p:nvPr/>
        </p:nvSpPr>
        <p:spPr>
          <a:xfrm>
            <a:off x="10524744" y="329184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REMOTE I/O</a:t>
            </a:r>
            <a:endParaRPr lang="en-US" sz="900" dirty="0"/>
          </a:p>
        </p:txBody>
      </p:sp>
      <p:sp>
        <p:nvSpPr>
          <p:cNvPr id="37" name="Shape 35"/>
          <p:cNvSpPr/>
          <p:nvPr/>
        </p:nvSpPr>
        <p:spPr>
          <a:xfrm>
            <a:off x="9656064" y="4352544"/>
            <a:ext cx="1225296" cy="-841248"/>
          </a:xfrm>
          <a:prstGeom prst="line">
            <a:avLst/>
          </a:prstGeom>
          <a:noFill/>
          <a:ln w="14605">
            <a:solidFill>
              <a:srgbClr val="607585"/>
            </a:solidFill>
            <a:prstDash val="solid"/>
            <a:tailEnd type="triangle"/>
          </a:ln>
        </p:spPr>
      </p:sp>
      <p:sp>
        <p:nvSpPr>
          <p:cNvPr id="38" name="Shape 36"/>
          <p:cNvSpPr/>
          <p:nvPr/>
        </p:nvSpPr>
        <p:spPr>
          <a:xfrm>
            <a:off x="7936992" y="4974336"/>
            <a:ext cx="868680" cy="530352"/>
          </a:xfrm>
          <a:prstGeom prst="rect">
            <a:avLst/>
          </a:prstGeom>
          <a:solidFill>
            <a:srgbClr val="F4F8FA"/>
          </a:solidFill>
          <a:ln w="14605">
            <a:solidFill>
              <a:srgbClr val="3F7394"/>
            </a:solidFill>
            <a:prstDash val="solid"/>
          </a:ln>
        </p:spPr>
      </p:sp>
      <p:sp>
        <p:nvSpPr>
          <p:cNvPr id="39" name="Text 37"/>
          <p:cNvSpPr/>
          <p:nvPr/>
        </p:nvSpPr>
        <p:spPr>
          <a:xfrm>
            <a:off x="8010144" y="502920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HMI</a:t>
            </a:r>
            <a:endParaRPr lang="en-US" sz="900" dirty="0"/>
          </a:p>
        </p:txBody>
      </p:sp>
      <p:sp>
        <p:nvSpPr>
          <p:cNvPr id="40" name="Shape 38"/>
          <p:cNvSpPr/>
          <p:nvPr/>
        </p:nvSpPr>
        <p:spPr>
          <a:xfrm>
            <a:off x="9656064" y="4352544"/>
            <a:ext cx="-1289304" cy="896112"/>
          </a:xfrm>
          <a:prstGeom prst="line">
            <a:avLst/>
          </a:prstGeom>
          <a:noFill/>
          <a:ln w="14605">
            <a:solidFill>
              <a:srgbClr val="607585"/>
            </a:solidFill>
            <a:prstDash val="solid"/>
            <a:tailEnd type="triangle"/>
          </a:ln>
        </p:spPr>
      </p:sp>
      <p:sp>
        <p:nvSpPr>
          <p:cNvPr id="41" name="Shape 39"/>
          <p:cNvSpPr/>
          <p:nvPr/>
        </p:nvSpPr>
        <p:spPr>
          <a:xfrm>
            <a:off x="10451592" y="4974336"/>
            <a:ext cx="868680" cy="530352"/>
          </a:xfrm>
          <a:prstGeom prst="rect">
            <a:avLst/>
          </a:prstGeom>
          <a:solidFill>
            <a:srgbClr val="F4F8FA"/>
          </a:solidFill>
          <a:ln w="14605">
            <a:solidFill>
              <a:srgbClr val="3F7394"/>
            </a:solidFill>
            <a:prstDash val="solid"/>
          </a:ln>
        </p:spPr>
      </p:sp>
      <p:sp>
        <p:nvSpPr>
          <p:cNvPr id="42" name="Text 40"/>
          <p:cNvSpPr/>
          <p:nvPr/>
        </p:nvSpPr>
        <p:spPr>
          <a:xfrm>
            <a:off x="10524744" y="502920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SCADA</a:t>
            </a:r>
            <a:endParaRPr lang="en-US" sz="900" dirty="0"/>
          </a:p>
        </p:txBody>
      </p:sp>
      <p:sp>
        <p:nvSpPr>
          <p:cNvPr id="43" name="Shape 41"/>
          <p:cNvSpPr/>
          <p:nvPr/>
        </p:nvSpPr>
        <p:spPr>
          <a:xfrm>
            <a:off x="9656064" y="4352544"/>
            <a:ext cx="1225296" cy="896112"/>
          </a:xfrm>
          <a:prstGeom prst="line">
            <a:avLst/>
          </a:prstGeom>
          <a:noFill/>
          <a:ln w="14605">
            <a:solidFill>
              <a:srgbClr val="607585"/>
            </a:solidFill>
            <a:prstDash val="solid"/>
            <a:tailEnd type="triangle"/>
          </a:ln>
        </p:spPr>
      </p:sp>
      <p:sp>
        <p:nvSpPr>
          <p:cNvPr id="44" name="Text 42"/>
          <p:cNvSpPr/>
          <p:nvPr/>
        </p:nvSpPr>
        <p:spPr>
          <a:xfrm>
            <a:off x="8010144" y="5632704"/>
            <a:ext cx="3236976" cy="384048"/>
          </a:xfrm>
          <a:prstGeom prst="rect">
            <a:avLst/>
          </a:prstGeom>
          <a:noFill/>
          <a:ln/>
        </p:spPr>
        <p:txBody>
          <a:bodyPr wrap="square" lIns="0" tIns="0" rIns="0" bIns="0" rtlCol="0" anchor="ctr">
            <a:normAutofit/>
          </a:bodyPr>
          <a:lstStyle/>
          <a:p>
            <a:pPr algn="ctr" indent="0" marL="0">
              <a:buNone/>
            </a:pPr>
            <a:r>
              <a:rPr lang="en-US" sz="970" dirty="0">
                <a:solidFill>
                  <a:srgbClr val="607585"/>
                </a:solidFill>
                <a:latin typeface="Aptos" pitchFamily="34" charset="0"/>
                <a:ea typeface="Aptos" pitchFamily="34" charset="-122"/>
                <a:cs typeface="Aptos" pitchFamily="34" charset="-120"/>
              </a:rPr>
              <a:t>Label the medium and protocol on every connection</a:t>
            </a:r>
            <a:endParaRPr lang="en-US" sz="97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Industrial Ethernet connections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Industrial Ethernet installations may use copper or fibre media and managed/unmanaged switches; exact cable category, connectors, segment limits, and environmental rating come from the installed equipment specifications.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Star, line, and ring describe possible physical/logical arrangements; a ring provides redundancy only when devices and the configured protocol/recovery mechanism support it.</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Ethernet does not guarantee deterministic timing by itself: traffic, switch configuration, protocol, device load, and engineered QoS/redundancy affect performance and recovery.</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MedPack, trace PLC, HMI, remote I/O, and engineering port connections, then mark the actual switch boundaries and any supported diagnostics or redundancy.</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COMMUNICATION ARCHITECTURE</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7955280" y="2798064"/>
            <a:ext cx="3291840" cy="274320"/>
          </a:xfrm>
          <a:prstGeom prst="rect">
            <a:avLst/>
          </a:prstGeom>
          <a:noFill/>
          <a:ln/>
        </p:spPr>
        <p:txBody>
          <a:bodyPr wrap="square" lIns="0" tIns="0" rIns="0" bIns="0" rtlCol="0" anchor="ctr">
            <a:normAutofit/>
          </a:bodyPr>
          <a:lstStyle/>
          <a:p>
            <a:pPr algn="ctr" indent="0" marL="0">
              <a:buNone/>
            </a:pPr>
            <a:r>
              <a:rPr lang="en-US" sz="900" b="1" dirty="0">
                <a:solidFill>
                  <a:srgbClr val="3F7394"/>
                </a:solidFill>
                <a:latin typeface="Aptos" pitchFamily="34" charset="0"/>
                <a:ea typeface="Aptos" pitchFamily="34" charset="-122"/>
                <a:cs typeface="Aptos" pitchFamily="34" charset="-120"/>
              </a:rPr>
              <a:t>SWITCHED ETHERNET</a:t>
            </a:r>
            <a:endParaRPr lang="en-US" sz="900" dirty="0"/>
          </a:p>
        </p:txBody>
      </p:sp>
      <p:sp>
        <p:nvSpPr>
          <p:cNvPr id="31" name="Shape 29"/>
          <p:cNvSpPr/>
          <p:nvPr/>
        </p:nvSpPr>
        <p:spPr>
          <a:xfrm>
            <a:off x="7973568" y="3300984"/>
            <a:ext cx="804672" cy="457200"/>
          </a:xfrm>
          <a:prstGeom prst="rect">
            <a:avLst/>
          </a:prstGeom>
          <a:solidFill>
            <a:srgbClr val="F4F8FA"/>
          </a:solidFill>
          <a:ln w="14605">
            <a:solidFill>
              <a:srgbClr val="3F7394"/>
            </a:solidFill>
            <a:prstDash val="solid"/>
          </a:ln>
        </p:spPr>
      </p:sp>
      <p:sp>
        <p:nvSpPr>
          <p:cNvPr id="32" name="Text 30"/>
          <p:cNvSpPr/>
          <p:nvPr/>
        </p:nvSpPr>
        <p:spPr>
          <a:xfrm>
            <a:off x="8046720" y="3355848"/>
            <a:ext cx="658368" cy="347472"/>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PLC</a:t>
            </a:r>
            <a:endParaRPr lang="en-US" sz="1050" dirty="0"/>
          </a:p>
        </p:txBody>
      </p:sp>
      <p:sp>
        <p:nvSpPr>
          <p:cNvPr id="33" name="Shape 31"/>
          <p:cNvSpPr/>
          <p:nvPr/>
        </p:nvSpPr>
        <p:spPr>
          <a:xfrm>
            <a:off x="9217152" y="3300984"/>
            <a:ext cx="804672" cy="457200"/>
          </a:xfrm>
          <a:prstGeom prst="rect">
            <a:avLst/>
          </a:prstGeom>
          <a:solidFill>
            <a:srgbClr val="F4F8FA"/>
          </a:solidFill>
          <a:ln w="14605">
            <a:solidFill>
              <a:srgbClr val="3F7394"/>
            </a:solidFill>
            <a:prstDash val="solid"/>
          </a:ln>
        </p:spPr>
      </p:sp>
      <p:sp>
        <p:nvSpPr>
          <p:cNvPr id="34" name="Text 32"/>
          <p:cNvSpPr/>
          <p:nvPr/>
        </p:nvSpPr>
        <p:spPr>
          <a:xfrm>
            <a:off x="9290304" y="3355848"/>
            <a:ext cx="658368" cy="347472"/>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SWITCH</a:t>
            </a:r>
            <a:endParaRPr lang="en-US" sz="1050" dirty="0"/>
          </a:p>
        </p:txBody>
      </p:sp>
      <p:sp>
        <p:nvSpPr>
          <p:cNvPr id="35" name="Shape 33"/>
          <p:cNvSpPr/>
          <p:nvPr/>
        </p:nvSpPr>
        <p:spPr>
          <a:xfrm>
            <a:off x="10405872" y="3300984"/>
            <a:ext cx="804672" cy="457200"/>
          </a:xfrm>
          <a:prstGeom prst="rect">
            <a:avLst/>
          </a:prstGeom>
          <a:solidFill>
            <a:srgbClr val="F4F8FA"/>
          </a:solidFill>
          <a:ln w="14605">
            <a:solidFill>
              <a:srgbClr val="3F7394"/>
            </a:solidFill>
            <a:prstDash val="solid"/>
          </a:ln>
        </p:spPr>
      </p:sp>
      <p:sp>
        <p:nvSpPr>
          <p:cNvPr id="36" name="Text 34"/>
          <p:cNvSpPr/>
          <p:nvPr/>
        </p:nvSpPr>
        <p:spPr>
          <a:xfrm>
            <a:off x="10479024" y="3355848"/>
            <a:ext cx="658368" cy="347472"/>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HMI</a:t>
            </a:r>
            <a:endParaRPr lang="en-US" sz="1050" dirty="0"/>
          </a:p>
        </p:txBody>
      </p:sp>
      <p:sp>
        <p:nvSpPr>
          <p:cNvPr id="37" name="Shape 35"/>
          <p:cNvSpPr/>
          <p:nvPr/>
        </p:nvSpPr>
        <p:spPr>
          <a:xfrm>
            <a:off x="8787384" y="3529584"/>
            <a:ext cx="384048" cy="0"/>
          </a:xfrm>
          <a:prstGeom prst="line">
            <a:avLst/>
          </a:prstGeom>
          <a:noFill/>
          <a:ln w="22860">
            <a:solidFill>
              <a:srgbClr val="3F7394"/>
            </a:solidFill>
            <a:prstDash val="solid"/>
            <a:tailEnd type="triangle"/>
          </a:ln>
        </p:spPr>
      </p:sp>
      <p:sp>
        <p:nvSpPr>
          <p:cNvPr id="38" name="Shape 36"/>
          <p:cNvSpPr/>
          <p:nvPr/>
        </p:nvSpPr>
        <p:spPr>
          <a:xfrm>
            <a:off x="10040112" y="3529584"/>
            <a:ext cx="320040" cy="0"/>
          </a:xfrm>
          <a:prstGeom prst="line">
            <a:avLst/>
          </a:prstGeom>
          <a:noFill/>
          <a:ln w="22860">
            <a:solidFill>
              <a:srgbClr val="3F7394"/>
            </a:solidFill>
            <a:prstDash val="solid"/>
            <a:tailEnd type="triangle"/>
          </a:ln>
        </p:spPr>
      </p:sp>
      <p:sp>
        <p:nvSpPr>
          <p:cNvPr id="39" name="Text 37"/>
          <p:cNvSpPr/>
          <p:nvPr/>
        </p:nvSpPr>
        <p:spPr>
          <a:xfrm>
            <a:off x="7955280" y="4215384"/>
            <a:ext cx="3291840" cy="274320"/>
          </a:xfrm>
          <a:prstGeom prst="rect">
            <a:avLst/>
          </a:prstGeom>
          <a:noFill/>
          <a:ln/>
        </p:spPr>
        <p:txBody>
          <a:bodyPr wrap="square" lIns="0" tIns="0" rIns="0" bIns="0" rtlCol="0" anchor="ctr">
            <a:normAutofit/>
          </a:bodyPr>
          <a:lstStyle/>
          <a:p>
            <a:pPr algn="ctr" indent="0" marL="0">
              <a:buNone/>
            </a:pPr>
            <a:r>
              <a:rPr lang="en-US" sz="900" b="1" dirty="0">
                <a:solidFill>
                  <a:srgbClr val="3F7394"/>
                </a:solidFill>
                <a:latin typeface="Aptos" pitchFamily="34" charset="0"/>
                <a:ea typeface="Aptos" pitchFamily="34" charset="-122"/>
                <a:cs typeface="Aptos" pitchFamily="34" charset="-120"/>
              </a:rPr>
              <a:t>SERIAL RS-485 TRUNK</a:t>
            </a:r>
            <a:endParaRPr lang="en-US" sz="900" dirty="0"/>
          </a:p>
        </p:txBody>
      </p:sp>
      <p:sp>
        <p:nvSpPr>
          <p:cNvPr id="40" name="Shape 38"/>
          <p:cNvSpPr/>
          <p:nvPr/>
        </p:nvSpPr>
        <p:spPr>
          <a:xfrm>
            <a:off x="8165592" y="5020056"/>
            <a:ext cx="3063240" cy="0"/>
          </a:xfrm>
          <a:prstGeom prst="line">
            <a:avLst/>
          </a:prstGeom>
          <a:noFill/>
          <a:ln w="25400">
            <a:solidFill>
              <a:srgbClr val="3F7394"/>
            </a:solidFill>
            <a:prstDash val="solid"/>
          </a:ln>
        </p:spPr>
      </p:sp>
      <p:sp>
        <p:nvSpPr>
          <p:cNvPr id="41" name="Shape 39"/>
          <p:cNvSpPr/>
          <p:nvPr/>
        </p:nvSpPr>
        <p:spPr>
          <a:xfrm>
            <a:off x="8348472" y="4672584"/>
            <a:ext cx="685800" cy="548640"/>
          </a:xfrm>
          <a:prstGeom prst="rect">
            <a:avLst/>
          </a:prstGeom>
          <a:solidFill>
            <a:srgbClr val="F4F8FA"/>
          </a:solidFill>
          <a:ln w="14605">
            <a:solidFill>
              <a:srgbClr val="3F7394"/>
            </a:solidFill>
            <a:prstDash val="solid"/>
          </a:ln>
        </p:spPr>
      </p:sp>
      <p:sp>
        <p:nvSpPr>
          <p:cNvPr id="42" name="Text 40"/>
          <p:cNvSpPr/>
          <p:nvPr/>
        </p:nvSpPr>
        <p:spPr>
          <a:xfrm>
            <a:off x="8421624" y="4727448"/>
            <a:ext cx="539496" cy="438912"/>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PLC</a:t>
            </a:r>
            <a:endParaRPr lang="en-US" sz="900" dirty="0"/>
          </a:p>
        </p:txBody>
      </p:sp>
      <p:sp>
        <p:nvSpPr>
          <p:cNvPr id="43" name="Shape 41"/>
          <p:cNvSpPr/>
          <p:nvPr/>
        </p:nvSpPr>
        <p:spPr>
          <a:xfrm>
            <a:off x="8695944" y="5221224"/>
            <a:ext cx="0" cy="-182880"/>
          </a:xfrm>
          <a:prstGeom prst="line">
            <a:avLst/>
          </a:prstGeom>
          <a:noFill/>
          <a:ln w="17780">
            <a:solidFill>
              <a:srgbClr val="3F7394"/>
            </a:solidFill>
            <a:prstDash val="solid"/>
          </a:ln>
        </p:spPr>
      </p:sp>
      <p:sp>
        <p:nvSpPr>
          <p:cNvPr id="44" name="Shape 42"/>
          <p:cNvSpPr/>
          <p:nvPr/>
        </p:nvSpPr>
        <p:spPr>
          <a:xfrm>
            <a:off x="9354312" y="4672584"/>
            <a:ext cx="685800" cy="548640"/>
          </a:xfrm>
          <a:prstGeom prst="rect">
            <a:avLst/>
          </a:prstGeom>
          <a:solidFill>
            <a:srgbClr val="F4F8FA"/>
          </a:solidFill>
          <a:ln w="14605">
            <a:solidFill>
              <a:srgbClr val="3F7394"/>
            </a:solidFill>
            <a:prstDash val="solid"/>
          </a:ln>
        </p:spPr>
      </p:sp>
      <p:sp>
        <p:nvSpPr>
          <p:cNvPr id="45" name="Text 43"/>
          <p:cNvSpPr/>
          <p:nvPr/>
        </p:nvSpPr>
        <p:spPr>
          <a:xfrm>
            <a:off x="9427464" y="4727448"/>
            <a:ext cx="539496" cy="438912"/>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NODE</a:t>
            </a:r>
            <a:endParaRPr lang="en-US" sz="900" dirty="0"/>
          </a:p>
        </p:txBody>
      </p:sp>
      <p:sp>
        <p:nvSpPr>
          <p:cNvPr id="46" name="Shape 44"/>
          <p:cNvSpPr/>
          <p:nvPr/>
        </p:nvSpPr>
        <p:spPr>
          <a:xfrm>
            <a:off x="9701784" y="5221224"/>
            <a:ext cx="0" cy="-182880"/>
          </a:xfrm>
          <a:prstGeom prst="line">
            <a:avLst/>
          </a:prstGeom>
          <a:noFill/>
          <a:ln w="17780">
            <a:solidFill>
              <a:srgbClr val="3F7394"/>
            </a:solidFill>
            <a:prstDash val="solid"/>
          </a:ln>
        </p:spPr>
      </p:sp>
      <p:sp>
        <p:nvSpPr>
          <p:cNvPr id="47" name="Shape 45"/>
          <p:cNvSpPr/>
          <p:nvPr/>
        </p:nvSpPr>
        <p:spPr>
          <a:xfrm>
            <a:off x="10497312" y="4672584"/>
            <a:ext cx="685800" cy="548640"/>
          </a:xfrm>
          <a:prstGeom prst="rect">
            <a:avLst/>
          </a:prstGeom>
          <a:solidFill>
            <a:srgbClr val="F4F8FA"/>
          </a:solidFill>
          <a:ln w="14605">
            <a:solidFill>
              <a:srgbClr val="3F7394"/>
            </a:solidFill>
            <a:prstDash val="solid"/>
          </a:ln>
        </p:spPr>
      </p:sp>
      <p:sp>
        <p:nvSpPr>
          <p:cNvPr id="48" name="Text 46"/>
          <p:cNvSpPr/>
          <p:nvPr/>
        </p:nvSpPr>
        <p:spPr>
          <a:xfrm>
            <a:off x="10570464" y="4727448"/>
            <a:ext cx="539496" cy="438912"/>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NODE</a:t>
            </a:r>
            <a:endParaRPr lang="en-US" sz="900" dirty="0"/>
          </a:p>
        </p:txBody>
      </p:sp>
      <p:sp>
        <p:nvSpPr>
          <p:cNvPr id="49" name="Shape 47"/>
          <p:cNvSpPr/>
          <p:nvPr/>
        </p:nvSpPr>
        <p:spPr>
          <a:xfrm>
            <a:off x="10844784" y="5221224"/>
            <a:ext cx="0" cy="-182880"/>
          </a:xfrm>
          <a:prstGeom prst="line">
            <a:avLst/>
          </a:prstGeom>
          <a:noFill/>
          <a:ln w="17780">
            <a:solidFill>
              <a:srgbClr val="3F7394"/>
            </a:solidFill>
            <a:prstDash val="solid"/>
          </a:ln>
        </p:spPr>
      </p:sp>
      <p:sp>
        <p:nvSpPr>
          <p:cNvPr id="50" name="Text 48"/>
          <p:cNvSpPr/>
          <p:nvPr/>
        </p:nvSpPr>
        <p:spPr>
          <a:xfrm>
            <a:off x="8010144" y="5678424"/>
            <a:ext cx="3200400" cy="411480"/>
          </a:xfrm>
          <a:prstGeom prst="rect">
            <a:avLst/>
          </a:prstGeom>
          <a:noFill/>
          <a:ln/>
        </p:spPr>
        <p:txBody>
          <a:bodyPr wrap="square" lIns="0" tIns="0" rIns="0" bIns="0" rtlCol="0" anchor="ctr">
            <a:normAutofit/>
          </a:bodyPr>
          <a:lstStyle/>
          <a:p>
            <a:pPr algn="ctr" indent="0" marL="0">
              <a:buNone/>
            </a:pPr>
            <a:r>
              <a:rPr lang="en-US" sz="1050" dirty="0">
                <a:solidFill>
                  <a:srgbClr val="1B3448"/>
                </a:solidFill>
                <a:latin typeface="Aptos" pitchFamily="34" charset="0"/>
                <a:ea typeface="Aptos" pitchFamily="34" charset="-122"/>
                <a:cs typeface="Aptos" pitchFamily="34" charset="-120"/>
              </a:rPr>
              <a:t>The link and protocol are separate choices</a:t>
            </a:r>
            <a:endParaRPr lang="en-US" sz="1050" dirty="0"/>
          </a:p>
        </p:txBody>
      </p:sp>
      <p:sp>
        <p:nvSpPr>
          <p:cNvPr id="51" name="Shape 49"/>
          <p:cNvSpPr/>
          <p:nvPr/>
        </p:nvSpPr>
        <p:spPr>
          <a:xfrm>
            <a:off x="603504" y="6318504"/>
            <a:ext cx="10972800" cy="0"/>
          </a:xfrm>
          <a:prstGeom prst="line">
            <a:avLst/>
          </a:prstGeom>
          <a:noFill/>
          <a:ln w="10160">
            <a:solidFill>
              <a:srgbClr val="D5E0E7"/>
            </a:solidFill>
            <a:prstDash val="solid"/>
          </a:ln>
        </p:spPr>
      </p:sp>
      <p:sp>
        <p:nvSpPr>
          <p:cNvPr id="52" name="Text 5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53" name="Text 5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Serial interfaces: RS-232 and RS-485</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RS-232 is commonly used for a point-to-point serial connection; RS-485 uses differential signalling and can support multi-drop networks when transceivers, topology, and device loading are designed accordingly.</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RS-485 does not define Modbus or any other message format; a PLC and device need matching serial settings and a shared supported protocol such as Modbus RTU.</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Follow the selected transceiver/device manuals for cable, polarity, termination, biasing, node loading, segment length, and grounding; avoid adding termination or bias by guesswork.</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Commissioning procedure: verify interface and pinout, baud/parity/stop bits, node addresses, wiring polarity, and end-of-line requirements; expected result is stable replies from the intended node without unexplained retries.</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3F7394"/>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What changes the link choice?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Start with requirements: number/type of devices, cable route and distance, update needs, noise environment, topology, existing infrastructure, diagnostics, maintenance skills, and lifecycle support.</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Clearly hypothetical case: a panel 40 m from a sensor bank with eight devices is a requirements prompt, not a universal Ethernet/RS-485 distance rule; compare supported PLC interfaces and device protocol maps before choosing.</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 link decision does not establish application compatibility: confirm both endpoints support the same protocol role, data model, configuration tools, and required services.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justification names one advantage and one constraint for the proposed MedPack connection and cites the source for any numeric cable or performance limit.</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DECISION METHOD</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101584" y="2660904"/>
            <a:ext cx="3063240" cy="320040"/>
          </a:xfrm>
          <a:prstGeom prst="rect">
            <a:avLst/>
          </a:prstGeom>
          <a:noFill/>
          <a:ln/>
        </p:spPr>
        <p:txBody>
          <a:bodyPr wrap="square" lIns="0" tIns="0" rIns="0" bIns="0" rtlCol="0" anchor="ctr">
            <a:normAutofit/>
          </a:bodyPr>
          <a:lstStyle/>
          <a:p>
            <a:pPr algn="ctr" indent="0" marL="0">
              <a:buNone/>
            </a:pPr>
            <a:r>
              <a:rPr lang="en-US" sz="920" b="1" dirty="0">
                <a:solidFill>
                  <a:srgbClr val="3F7394"/>
                </a:solidFill>
                <a:latin typeface="Aptos" pitchFamily="34" charset="0"/>
                <a:ea typeface="Aptos" pitchFamily="34" charset="-122"/>
                <a:cs typeface="Aptos" pitchFamily="34" charset="-120"/>
              </a:rPr>
              <a:t>FIRST: PASS / FAIL MANDATORY GATES</a:t>
            </a:r>
            <a:endParaRPr lang="en-US" sz="920" dirty="0"/>
          </a:p>
        </p:txBody>
      </p:sp>
      <p:sp>
        <p:nvSpPr>
          <p:cNvPr id="31" name="Shape 29"/>
          <p:cNvSpPr/>
          <p:nvPr/>
        </p:nvSpPr>
        <p:spPr>
          <a:xfrm>
            <a:off x="8238744" y="3172968"/>
            <a:ext cx="1298448" cy="438912"/>
          </a:xfrm>
          <a:prstGeom prst="rect">
            <a:avLst/>
          </a:prstGeom>
          <a:solidFill>
            <a:srgbClr val="F4F8FA"/>
          </a:solidFill>
          <a:ln w="14605">
            <a:solidFill>
              <a:srgbClr val="3F7394"/>
            </a:solidFill>
            <a:prstDash val="solid"/>
          </a:ln>
        </p:spPr>
      </p:sp>
      <p:sp>
        <p:nvSpPr>
          <p:cNvPr id="32" name="Text 30"/>
          <p:cNvSpPr/>
          <p:nvPr/>
        </p:nvSpPr>
        <p:spPr>
          <a:xfrm>
            <a:off x="8311896" y="322783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Electrical fit</a:t>
            </a:r>
            <a:endParaRPr lang="en-US" sz="920" dirty="0"/>
          </a:p>
        </p:txBody>
      </p:sp>
      <p:sp>
        <p:nvSpPr>
          <p:cNvPr id="33" name="Text 31"/>
          <p:cNvSpPr/>
          <p:nvPr/>
        </p:nvSpPr>
        <p:spPr>
          <a:xfrm>
            <a:off x="9793224" y="324612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4" name="Text 32"/>
          <p:cNvSpPr/>
          <p:nvPr/>
        </p:nvSpPr>
        <p:spPr>
          <a:xfrm>
            <a:off x="10323576" y="324612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5" name="Shape 33"/>
          <p:cNvSpPr/>
          <p:nvPr/>
        </p:nvSpPr>
        <p:spPr>
          <a:xfrm>
            <a:off x="8238744" y="3813048"/>
            <a:ext cx="1298448" cy="438912"/>
          </a:xfrm>
          <a:prstGeom prst="rect">
            <a:avLst/>
          </a:prstGeom>
          <a:solidFill>
            <a:srgbClr val="F4F8FA"/>
          </a:solidFill>
          <a:ln w="14605">
            <a:solidFill>
              <a:srgbClr val="3F7394"/>
            </a:solidFill>
            <a:prstDash val="solid"/>
          </a:ln>
        </p:spPr>
      </p:sp>
      <p:sp>
        <p:nvSpPr>
          <p:cNvPr id="36" name="Text 34"/>
          <p:cNvSpPr/>
          <p:nvPr/>
        </p:nvSpPr>
        <p:spPr>
          <a:xfrm>
            <a:off x="8311896" y="386791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Required I/O</a:t>
            </a:r>
            <a:endParaRPr lang="en-US" sz="920" dirty="0"/>
          </a:p>
        </p:txBody>
      </p:sp>
      <p:sp>
        <p:nvSpPr>
          <p:cNvPr id="37" name="Text 35"/>
          <p:cNvSpPr/>
          <p:nvPr/>
        </p:nvSpPr>
        <p:spPr>
          <a:xfrm>
            <a:off x="9793224" y="388620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8" name="Text 36"/>
          <p:cNvSpPr/>
          <p:nvPr/>
        </p:nvSpPr>
        <p:spPr>
          <a:xfrm>
            <a:off x="10323576" y="388620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9" name="Shape 37"/>
          <p:cNvSpPr/>
          <p:nvPr/>
        </p:nvSpPr>
        <p:spPr>
          <a:xfrm>
            <a:off x="8238744" y="4453128"/>
            <a:ext cx="1298448" cy="438912"/>
          </a:xfrm>
          <a:prstGeom prst="rect">
            <a:avLst/>
          </a:prstGeom>
          <a:solidFill>
            <a:srgbClr val="F4F8FA"/>
          </a:solidFill>
          <a:ln w="14605">
            <a:solidFill>
              <a:srgbClr val="3F7394"/>
            </a:solidFill>
            <a:prstDash val="solid"/>
          </a:ln>
        </p:spPr>
      </p:sp>
      <p:sp>
        <p:nvSpPr>
          <p:cNvPr id="40" name="Text 38"/>
          <p:cNvSpPr/>
          <p:nvPr/>
        </p:nvSpPr>
        <p:spPr>
          <a:xfrm>
            <a:off x="8311896" y="450799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Safety boundary</a:t>
            </a:r>
            <a:endParaRPr lang="en-US" sz="920" dirty="0"/>
          </a:p>
        </p:txBody>
      </p:sp>
      <p:sp>
        <p:nvSpPr>
          <p:cNvPr id="41" name="Text 39"/>
          <p:cNvSpPr/>
          <p:nvPr/>
        </p:nvSpPr>
        <p:spPr>
          <a:xfrm>
            <a:off x="9793224" y="452628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42" name="Text 40"/>
          <p:cNvSpPr/>
          <p:nvPr/>
        </p:nvSpPr>
        <p:spPr>
          <a:xfrm>
            <a:off x="10323576" y="452628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43" name="Shape 41"/>
          <p:cNvSpPr/>
          <p:nvPr/>
        </p:nvSpPr>
        <p:spPr>
          <a:xfrm>
            <a:off x="8211312" y="5276088"/>
            <a:ext cx="3108960" cy="0"/>
          </a:xfrm>
          <a:prstGeom prst="line">
            <a:avLst/>
          </a:prstGeom>
          <a:noFill/>
          <a:ln w="12700">
            <a:solidFill>
              <a:srgbClr val="D5E0E7"/>
            </a:solidFill>
            <a:prstDash val="solid"/>
          </a:ln>
        </p:spPr>
      </p:sp>
      <p:sp>
        <p:nvSpPr>
          <p:cNvPr id="44" name="Text 42"/>
          <p:cNvSpPr/>
          <p:nvPr/>
        </p:nvSpPr>
        <p:spPr>
          <a:xfrm>
            <a:off x="8156448" y="5404104"/>
            <a:ext cx="3200400" cy="411480"/>
          </a:xfrm>
          <a:prstGeom prst="rect">
            <a:avLst/>
          </a:prstGeom>
          <a:noFill/>
          <a:ln/>
        </p:spPr>
        <p:txBody>
          <a:bodyPr wrap="square" lIns="0" tIns="0" rIns="0" bIns="0" rtlCol="0" anchor="ctr">
            <a:normAutofit/>
          </a:bodyPr>
          <a:lstStyle/>
          <a:p>
            <a:pPr algn="ctr" indent="0" marL="0">
              <a:buNone/>
            </a:pPr>
            <a:r>
              <a:rPr lang="en-US" sz="1020" b="1" dirty="0">
                <a:solidFill>
                  <a:srgbClr val="1B3448"/>
                </a:solidFill>
                <a:latin typeface="Aptos" pitchFamily="34" charset="0"/>
                <a:ea typeface="Aptos" pitchFamily="34" charset="-122"/>
                <a:cs typeface="Aptos" pitchFamily="34" charset="-120"/>
              </a:rPr>
              <a:t>THEN weigh preferences with cited evidence</a:t>
            </a:r>
            <a:endParaRPr lang="en-US" sz="102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Link comparison table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Fill the table with a specific Ethernet implementation and a specific serial interface (for example, copper switched Ethernet versus two-wire RS-485), not generic labels alone.</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Compare physical medium/interface, supported topology, installation/noise controls, likely PLC use, diagnostics, and maintenance; state which details depend on product design.</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Qualitative comparison is acceptable where the hardware is not yet selected; any speed, node-count, or distance figure must cite the relevant interface/device manual.</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debrief: no link is universally faster, longer-range, or more noise-immune without its medium, transceivers, network design, and operating conditions being specified.</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15184"/>
            <a:ext cx="1188720" cy="475488"/>
          </a:xfrm>
          <a:prstGeom prst="rect">
            <a:avLst/>
          </a:prstGeom>
          <a:solidFill>
            <a:srgbClr val="3F7394"/>
          </a:solidFill>
          <a:ln w="10160">
            <a:solidFill>
              <a:srgbClr val="3F7394"/>
            </a:solidFill>
            <a:prstDash val="solid"/>
          </a:ln>
        </p:spPr>
      </p:sp>
      <p:sp>
        <p:nvSpPr>
          <p:cNvPr id="31" name="Text 29"/>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LAYER</a:t>
            </a:r>
            <a:endParaRPr lang="en-US" sz="850" dirty="0"/>
          </a:p>
        </p:txBody>
      </p:sp>
      <p:sp>
        <p:nvSpPr>
          <p:cNvPr id="32" name="Shape 30"/>
          <p:cNvSpPr/>
          <p:nvPr/>
        </p:nvSpPr>
        <p:spPr>
          <a:xfrm>
            <a:off x="9107424" y="2615184"/>
            <a:ext cx="987552" cy="475488"/>
          </a:xfrm>
          <a:prstGeom prst="rect">
            <a:avLst/>
          </a:prstGeom>
          <a:solidFill>
            <a:srgbClr val="EAF0F3"/>
          </a:solidFill>
          <a:ln w="10160">
            <a:solidFill>
              <a:srgbClr val="3F7394"/>
            </a:solidFill>
            <a:prstDash val="solid"/>
          </a:ln>
        </p:spPr>
      </p:sp>
      <p:sp>
        <p:nvSpPr>
          <p:cNvPr id="33" name="Text 31"/>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EXAMPLE A</a:t>
            </a:r>
            <a:endParaRPr lang="en-US" sz="850" dirty="0"/>
          </a:p>
        </p:txBody>
      </p:sp>
      <p:sp>
        <p:nvSpPr>
          <p:cNvPr id="34" name="Shape 32"/>
          <p:cNvSpPr/>
          <p:nvPr/>
        </p:nvSpPr>
        <p:spPr>
          <a:xfrm>
            <a:off x="10094976" y="2615184"/>
            <a:ext cx="987552" cy="475488"/>
          </a:xfrm>
          <a:prstGeom prst="rect">
            <a:avLst/>
          </a:prstGeom>
          <a:solidFill>
            <a:srgbClr val="EAF0F3"/>
          </a:solidFill>
          <a:ln w="10160">
            <a:solidFill>
              <a:srgbClr val="3F7394"/>
            </a:solidFill>
            <a:prstDash val="solid"/>
          </a:ln>
        </p:spPr>
      </p:sp>
      <p:sp>
        <p:nvSpPr>
          <p:cNvPr id="35" name="Text 33"/>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EXAMPLE B</a:t>
            </a:r>
            <a:endParaRPr lang="en-US" sz="850" dirty="0"/>
          </a:p>
        </p:txBody>
      </p:sp>
      <p:sp>
        <p:nvSpPr>
          <p:cNvPr id="36" name="Shape 34"/>
          <p:cNvSpPr/>
          <p:nvPr/>
        </p:nvSpPr>
        <p:spPr>
          <a:xfrm>
            <a:off x="7918704" y="3090672"/>
            <a:ext cx="1188720" cy="594360"/>
          </a:xfrm>
          <a:prstGeom prst="rect">
            <a:avLst/>
          </a:prstGeom>
          <a:solidFill>
            <a:srgbClr val="FFFFFF"/>
          </a:solidFill>
          <a:ln w="7620">
            <a:solidFill>
              <a:srgbClr val="D5E0E7"/>
            </a:solidFill>
            <a:prstDash val="solid"/>
          </a:ln>
        </p:spPr>
      </p:sp>
      <p:sp>
        <p:nvSpPr>
          <p:cNvPr id="37" name="Text 35"/>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Physical</a:t>
            </a:r>
            <a:endParaRPr lang="en-US" sz="900" dirty="0"/>
          </a:p>
        </p:txBody>
      </p:sp>
      <p:sp>
        <p:nvSpPr>
          <p:cNvPr id="38" name="Shape 36"/>
          <p:cNvSpPr/>
          <p:nvPr/>
        </p:nvSpPr>
        <p:spPr>
          <a:xfrm>
            <a:off x="9107424" y="3090672"/>
            <a:ext cx="987552" cy="594360"/>
          </a:xfrm>
          <a:prstGeom prst="rect">
            <a:avLst/>
          </a:prstGeom>
          <a:solidFill>
            <a:srgbClr val="FFFFFF"/>
          </a:solidFill>
          <a:ln w="7620">
            <a:solidFill>
              <a:srgbClr val="D5E0E7"/>
            </a:solidFill>
            <a:prstDash val="solid"/>
          </a:ln>
        </p:spPr>
      </p:sp>
      <p:sp>
        <p:nvSpPr>
          <p:cNvPr id="39" name="Text 37"/>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Ethernet</a:t>
            </a:r>
            <a:endParaRPr lang="en-US" sz="870" dirty="0"/>
          </a:p>
        </p:txBody>
      </p:sp>
      <p:sp>
        <p:nvSpPr>
          <p:cNvPr id="40" name="Shape 38"/>
          <p:cNvSpPr/>
          <p:nvPr/>
        </p:nvSpPr>
        <p:spPr>
          <a:xfrm>
            <a:off x="10094976" y="3090672"/>
            <a:ext cx="987552" cy="594360"/>
          </a:xfrm>
          <a:prstGeom prst="rect">
            <a:avLst/>
          </a:prstGeom>
          <a:solidFill>
            <a:srgbClr val="FFFFFF"/>
          </a:solidFill>
          <a:ln w="7620">
            <a:solidFill>
              <a:srgbClr val="D5E0E7"/>
            </a:solidFill>
            <a:prstDash val="solid"/>
          </a:ln>
        </p:spPr>
      </p:sp>
      <p:sp>
        <p:nvSpPr>
          <p:cNvPr id="41" name="Text 39"/>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RS-485</a:t>
            </a:r>
            <a:endParaRPr lang="en-US" sz="870" dirty="0"/>
          </a:p>
        </p:txBody>
      </p:sp>
      <p:sp>
        <p:nvSpPr>
          <p:cNvPr id="42" name="Shape 40"/>
          <p:cNvSpPr/>
          <p:nvPr/>
        </p:nvSpPr>
        <p:spPr>
          <a:xfrm>
            <a:off x="7918704" y="3685032"/>
            <a:ext cx="1188720" cy="594360"/>
          </a:xfrm>
          <a:prstGeom prst="rect">
            <a:avLst/>
          </a:prstGeom>
          <a:solidFill>
            <a:srgbClr val="F6F8FA"/>
          </a:solidFill>
          <a:ln w="7620">
            <a:solidFill>
              <a:srgbClr val="D5E0E7"/>
            </a:solidFill>
            <a:prstDash val="solid"/>
          </a:ln>
        </p:spPr>
      </p:sp>
      <p:sp>
        <p:nvSpPr>
          <p:cNvPr id="43" name="Text 41"/>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Protocol</a:t>
            </a:r>
            <a:endParaRPr lang="en-US" sz="900" dirty="0"/>
          </a:p>
        </p:txBody>
      </p:sp>
      <p:sp>
        <p:nvSpPr>
          <p:cNvPr id="44" name="Shape 42"/>
          <p:cNvSpPr/>
          <p:nvPr/>
        </p:nvSpPr>
        <p:spPr>
          <a:xfrm>
            <a:off x="9107424" y="3685032"/>
            <a:ext cx="987552" cy="594360"/>
          </a:xfrm>
          <a:prstGeom prst="rect">
            <a:avLst/>
          </a:prstGeom>
          <a:solidFill>
            <a:srgbClr val="F6F8FA"/>
          </a:solidFill>
          <a:ln w="7620">
            <a:solidFill>
              <a:srgbClr val="D5E0E7"/>
            </a:solidFill>
            <a:prstDash val="solid"/>
          </a:ln>
        </p:spPr>
      </p:sp>
      <p:sp>
        <p:nvSpPr>
          <p:cNvPr id="45" name="Text 43"/>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Modbus TCP</a:t>
            </a:r>
            <a:endParaRPr lang="en-US" sz="870" dirty="0"/>
          </a:p>
        </p:txBody>
      </p:sp>
      <p:sp>
        <p:nvSpPr>
          <p:cNvPr id="46" name="Shape 44"/>
          <p:cNvSpPr/>
          <p:nvPr/>
        </p:nvSpPr>
        <p:spPr>
          <a:xfrm>
            <a:off x="10094976" y="3685032"/>
            <a:ext cx="987552" cy="594360"/>
          </a:xfrm>
          <a:prstGeom prst="rect">
            <a:avLst/>
          </a:prstGeom>
          <a:solidFill>
            <a:srgbClr val="F6F8FA"/>
          </a:solidFill>
          <a:ln w="7620">
            <a:solidFill>
              <a:srgbClr val="D5E0E7"/>
            </a:solidFill>
            <a:prstDash val="solid"/>
          </a:ln>
        </p:spPr>
      </p:sp>
      <p:sp>
        <p:nvSpPr>
          <p:cNvPr id="47" name="Text 45"/>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Modbus RTU</a:t>
            </a:r>
            <a:endParaRPr lang="en-US" sz="870" dirty="0"/>
          </a:p>
        </p:txBody>
      </p:sp>
      <p:sp>
        <p:nvSpPr>
          <p:cNvPr id="48" name="Shape 46"/>
          <p:cNvSpPr/>
          <p:nvPr/>
        </p:nvSpPr>
        <p:spPr>
          <a:xfrm>
            <a:off x="7918704" y="4279392"/>
            <a:ext cx="1188720" cy="594360"/>
          </a:xfrm>
          <a:prstGeom prst="rect">
            <a:avLst/>
          </a:prstGeom>
          <a:solidFill>
            <a:srgbClr val="FFFFFF"/>
          </a:solidFill>
          <a:ln w="7620">
            <a:solidFill>
              <a:srgbClr val="D5E0E7"/>
            </a:solidFill>
            <a:prstDash val="solid"/>
          </a:ln>
        </p:spPr>
      </p:sp>
      <p:sp>
        <p:nvSpPr>
          <p:cNvPr id="49" name="Text 47"/>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Topology</a:t>
            </a:r>
            <a:endParaRPr lang="en-US" sz="900" dirty="0"/>
          </a:p>
        </p:txBody>
      </p:sp>
      <p:sp>
        <p:nvSpPr>
          <p:cNvPr id="50" name="Shape 48"/>
          <p:cNvSpPr/>
          <p:nvPr/>
        </p:nvSpPr>
        <p:spPr>
          <a:xfrm>
            <a:off x="9107424" y="4279392"/>
            <a:ext cx="987552" cy="594360"/>
          </a:xfrm>
          <a:prstGeom prst="rect">
            <a:avLst/>
          </a:prstGeom>
          <a:solidFill>
            <a:srgbClr val="FFFFFF"/>
          </a:solidFill>
          <a:ln w="7620">
            <a:solidFill>
              <a:srgbClr val="D5E0E7"/>
            </a:solidFill>
            <a:prstDash val="solid"/>
          </a:ln>
        </p:spPr>
      </p:sp>
      <p:sp>
        <p:nvSpPr>
          <p:cNvPr id="51" name="Text 49"/>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Switched LAN</a:t>
            </a:r>
            <a:endParaRPr lang="en-US" sz="870" dirty="0"/>
          </a:p>
        </p:txBody>
      </p:sp>
      <p:sp>
        <p:nvSpPr>
          <p:cNvPr id="52" name="Shape 50"/>
          <p:cNvSpPr/>
          <p:nvPr/>
        </p:nvSpPr>
        <p:spPr>
          <a:xfrm>
            <a:off x="10094976" y="4279392"/>
            <a:ext cx="987552" cy="594360"/>
          </a:xfrm>
          <a:prstGeom prst="rect">
            <a:avLst/>
          </a:prstGeom>
          <a:solidFill>
            <a:srgbClr val="FFFFFF"/>
          </a:solidFill>
          <a:ln w="7620">
            <a:solidFill>
              <a:srgbClr val="D5E0E7"/>
            </a:solidFill>
            <a:prstDash val="solid"/>
          </a:ln>
        </p:spPr>
      </p:sp>
      <p:sp>
        <p:nvSpPr>
          <p:cNvPr id="53" name="Text 51"/>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Serial bus</a:t>
            </a:r>
            <a:endParaRPr lang="en-US" sz="870" dirty="0"/>
          </a:p>
        </p:txBody>
      </p:sp>
      <p:sp>
        <p:nvSpPr>
          <p:cNvPr id="54" name="Shape 52"/>
          <p:cNvSpPr/>
          <p:nvPr/>
        </p:nvSpPr>
        <p:spPr>
          <a:xfrm>
            <a:off x="7918704" y="4873752"/>
            <a:ext cx="1188720" cy="594360"/>
          </a:xfrm>
          <a:prstGeom prst="rect">
            <a:avLst/>
          </a:prstGeom>
          <a:solidFill>
            <a:srgbClr val="F6F8FA"/>
          </a:solidFill>
          <a:ln w="7620">
            <a:solidFill>
              <a:srgbClr val="D5E0E7"/>
            </a:solidFill>
            <a:prstDash val="solid"/>
          </a:ln>
        </p:spPr>
      </p:sp>
      <p:sp>
        <p:nvSpPr>
          <p:cNvPr id="55" name="Text 53"/>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Evidence</a:t>
            </a:r>
            <a:endParaRPr lang="en-US" sz="900" dirty="0"/>
          </a:p>
        </p:txBody>
      </p:sp>
      <p:sp>
        <p:nvSpPr>
          <p:cNvPr id="56" name="Shape 54"/>
          <p:cNvSpPr/>
          <p:nvPr/>
        </p:nvSpPr>
        <p:spPr>
          <a:xfrm>
            <a:off x="9107424" y="4873752"/>
            <a:ext cx="987552" cy="594360"/>
          </a:xfrm>
          <a:prstGeom prst="rect">
            <a:avLst/>
          </a:prstGeom>
          <a:solidFill>
            <a:srgbClr val="F6F8FA"/>
          </a:solidFill>
          <a:ln w="7620">
            <a:solidFill>
              <a:srgbClr val="D5E0E7"/>
            </a:solidFill>
            <a:prstDash val="solid"/>
          </a:ln>
        </p:spPr>
      </p:sp>
      <p:sp>
        <p:nvSpPr>
          <p:cNvPr id="57" name="Text 55"/>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Device manual</a:t>
            </a:r>
            <a:endParaRPr lang="en-US" sz="870" dirty="0"/>
          </a:p>
        </p:txBody>
      </p:sp>
      <p:sp>
        <p:nvSpPr>
          <p:cNvPr id="58" name="Shape 56"/>
          <p:cNvSpPr/>
          <p:nvPr/>
        </p:nvSpPr>
        <p:spPr>
          <a:xfrm>
            <a:off x="10094976" y="4873752"/>
            <a:ext cx="987552" cy="594360"/>
          </a:xfrm>
          <a:prstGeom prst="rect">
            <a:avLst/>
          </a:prstGeom>
          <a:solidFill>
            <a:srgbClr val="F6F8FA"/>
          </a:solidFill>
          <a:ln w="7620">
            <a:solidFill>
              <a:srgbClr val="D5E0E7"/>
            </a:solidFill>
            <a:prstDash val="solid"/>
          </a:ln>
        </p:spPr>
      </p:sp>
      <p:sp>
        <p:nvSpPr>
          <p:cNvPr id="59" name="Text 57"/>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Device manual</a:t>
            </a:r>
            <a:endParaRPr lang="en-US" sz="870" dirty="0"/>
          </a:p>
        </p:txBody>
      </p:sp>
      <p:sp>
        <p:nvSpPr>
          <p:cNvPr id="60" name="Text 58"/>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Use exact model manuals; do not infer missing specifications</a:t>
            </a:r>
            <a:endParaRPr lang="en-US" sz="920" dirty="0"/>
          </a:p>
        </p:txBody>
      </p:sp>
      <p:sp>
        <p:nvSpPr>
          <p:cNvPr id="61" name="Shape 59"/>
          <p:cNvSpPr/>
          <p:nvPr/>
        </p:nvSpPr>
        <p:spPr>
          <a:xfrm>
            <a:off x="603504" y="6318504"/>
            <a:ext cx="10972800" cy="0"/>
          </a:xfrm>
          <a:prstGeom prst="line">
            <a:avLst/>
          </a:prstGeom>
          <a:noFill/>
          <a:ln w="10160">
            <a:solidFill>
              <a:srgbClr val="D5E0E7"/>
            </a:solidFill>
            <a:prstDash val="solid"/>
          </a:ln>
        </p:spPr>
      </p:sp>
      <p:sp>
        <p:nvSpPr>
          <p:cNvPr id="62" name="Text 6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63" name="Text 6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Standards and protocols are not the cable</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One Ethernet installation can carry different protocol traffic, but each endpoint must implement the same protocol and compatible roles/configuration; shared cabling is not protocol interoperability.</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Example pairs: Modbus RTU over a supported serial interface such as RS-485; Modbus TCP over TCP/IP and Ethernet; PROFINET and EtherNet/IP use industrial Ethernet infrastructure with distinct device/configuration ecosystems.</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Distinguish a protocol from its transport and medium: changing the cable does not translate registers, device profiles, or cyclic-I/O services.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Ask learners to identify the evidence needed before connecting a PLC and HMI: supported protocol on both devices, role, address/data map, configuration, and version/option constraints.</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PROTOCOL COMPARISON</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97480"/>
            <a:ext cx="1627632" cy="2395728"/>
          </a:xfrm>
          <a:prstGeom prst="rect">
            <a:avLst/>
          </a:prstGeom>
          <a:solidFill>
            <a:srgbClr val="EAF3F4"/>
          </a:solidFill>
          <a:ln w="15240">
            <a:solidFill>
              <a:srgbClr val="3F7394"/>
            </a:solidFill>
            <a:prstDash val="solid"/>
          </a:ln>
        </p:spPr>
      </p:sp>
      <p:sp>
        <p:nvSpPr>
          <p:cNvPr id="31" name="Text 29"/>
          <p:cNvSpPr/>
          <p:nvPr/>
        </p:nvSpPr>
        <p:spPr>
          <a:xfrm>
            <a:off x="7991856" y="2834640"/>
            <a:ext cx="1481328" cy="365760"/>
          </a:xfrm>
          <a:prstGeom prst="rect">
            <a:avLst/>
          </a:prstGeom>
          <a:noFill/>
          <a:ln/>
        </p:spPr>
        <p:txBody>
          <a:bodyPr wrap="square" lIns="0" tIns="0" rIns="0" bIns="0" rtlCol="0" anchor="ctr">
            <a:normAutofit/>
          </a:bodyPr>
          <a:lstStyle/>
          <a:p>
            <a:pPr algn="ctr" indent="0" marL="0">
              <a:buNone/>
            </a:pPr>
            <a:r>
              <a:rPr lang="en-US" sz="1000" b="1" dirty="0">
                <a:solidFill>
                  <a:srgbClr val="3F7394"/>
                </a:solidFill>
                <a:latin typeface="Aptos" pitchFamily="34" charset="0"/>
                <a:ea typeface="Aptos" pitchFamily="34" charset="-122"/>
                <a:cs typeface="Aptos" pitchFamily="34" charset="-120"/>
              </a:rPr>
              <a:t>PROFINET</a:t>
            </a:r>
            <a:endParaRPr lang="en-US" sz="1000" dirty="0"/>
          </a:p>
        </p:txBody>
      </p:sp>
      <p:sp>
        <p:nvSpPr>
          <p:cNvPr id="32" name="Shape 30"/>
          <p:cNvSpPr/>
          <p:nvPr/>
        </p:nvSpPr>
        <p:spPr>
          <a:xfrm>
            <a:off x="8065008" y="3474720"/>
            <a:ext cx="91440" cy="91440"/>
          </a:xfrm>
          <a:prstGeom prst="ellipse">
            <a:avLst/>
          </a:prstGeom>
          <a:solidFill>
            <a:srgbClr val="3F7394"/>
          </a:solidFill>
          <a:ln w="12700">
            <a:solidFill>
              <a:srgbClr val="3F7394">
                <a:alpha val="0"/>
              </a:srgbClr>
            </a:solidFill>
            <a:prstDash val="solid"/>
          </a:ln>
        </p:spPr>
      </p:sp>
      <p:sp>
        <p:nvSpPr>
          <p:cNvPr id="33" name="Text 31"/>
          <p:cNvSpPr/>
          <p:nvPr/>
        </p:nvSpPr>
        <p:spPr>
          <a:xfrm>
            <a:off x="8247888" y="3401568"/>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Industrial Ethernet family</a:t>
            </a:r>
            <a:endParaRPr lang="en-US" sz="870" dirty="0"/>
          </a:p>
        </p:txBody>
      </p:sp>
      <p:sp>
        <p:nvSpPr>
          <p:cNvPr id="34" name="Shape 32"/>
          <p:cNvSpPr/>
          <p:nvPr/>
        </p:nvSpPr>
        <p:spPr>
          <a:xfrm>
            <a:off x="8065008" y="3959352"/>
            <a:ext cx="91440" cy="91440"/>
          </a:xfrm>
          <a:prstGeom prst="ellipse">
            <a:avLst/>
          </a:prstGeom>
          <a:solidFill>
            <a:srgbClr val="3F7394"/>
          </a:solidFill>
          <a:ln w="12700">
            <a:solidFill>
              <a:srgbClr val="3F7394">
                <a:alpha val="0"/>
              </a:srgbClr>
            </a:solidFill>
            <a:prstDash val="solid"/>
          </a:ln>
        </p:spPr>
      </p:sp>
      <p:sp>
        <p:nvSpPr>
          <p:cNvPr id="35" name="Text 33"/>
          <p:cNvSpPr/>
          <p:nvPr/>
        </p:nvSpPr>
        <p:spPr>
          <a:xfrm>
            <a:off x="8247888" y="3886200"/>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Device/configuration model</a:t>
            </a:r>
            <a:endParaRPr lang="en-US" sz="870" dirty="0"/>
          </a:p>
        </p:txBody>
      </p:sp>
      <p:sp>
        <p:nvSpPr>
          <p:cNvPr id="36" name="Shape 34"/>
          <p:cNvSpPr/>
          <p:nvPr/>
        </p:nvSpPr>
        <p:spPr>
          <a:xfrm>
            <a:off x="8065008" y="4443984"/>
            <a:ext cx="91440" cy="91440"/>
          </a:xfrm>
          <a:prstGeom prst="ellipse">
            <a:avLst/>
          </a:prstGeom>
          <a:solidFill>
            <a:srgbClr val="3F7394"/>
          </a:solidFill>
          <a:ln w="12700">
            <a:solidFill>
              <a:srgbClr val="3F7394">
                <a:alpha val="0"/>
              </a:srgbClr>
            </a:solidFill>
            <a:prstDash val="solid"/>
          </a:ln>
        </p:spPr>
      </p:sp>
      <p:sp>
        <p:nvSpPr>
          <p:cNvPr id="37" name="Text 35"/>
          <p:cNvSpPr/>
          <p:nvPr/>
        </p:nvSpPr>
        <p:spPr>
          <a:xfrm>
            <a:off x="8247888" y="4370832"/>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Verify controller role</a:t>
            </a:r>
            <a:endParaRPr lang="en-US" sz="870" dirty="0"/>
          </a:p>
        </p:txBody>
      </p:sp>
      <p:sp>
        <p:nvSpPr>
          <p:cNvPr id="38" name="Shape 36"/>
          <p:cNvSpPr/>
          <p:nvPr/>
        </p:nvSpPr>
        <p:spPr>
          <a:xfrm>
            <a:off x="9665208" y="2697480"/>
            <a:ext cx="1627632" cy="2395728"/>
          </a:xfrm>
          <a:prstGeom prst="rect">
            <a:avLst/>
          </a:prstGeom>
          <a:solidFill>
            <a:srgbClr val="F2F6F8"/>
          </a:solidFill>
          <a:ln w="15240">
            <a:solidFill>
              <a:srgbClr val="3F7394"/>
            </a:solidFill>
            <a:prstDash val="solid"/>
          </a:ln>
        </p:spPr>
      </p:sp>
      <p:sp>
        <p:nvSpPr>
          <p:cNvPr id="39" name="Text 37"/>
          <p:cNvSpPr/>
          <p:nvPr/>
        </p:nvSpPr>
        <p:spPr>
          <a:xfrm>
            <a:off x="9738360" y="2834640"/>
            <a:ext cx="1481328" cy="365760"/>
          </a:xfrm>
          <a:prstGeom prst="rect">
            <a:avLst/>
          </a:prstGeom>
          <a:noFill/>
          <a:ln/>
        </p:spPr>
        <p:txBody>
          <a:bodyPr wrap="square" lIns="0" tIns="0" rIns="0" bIns="0" rtlCol="0" anchor="ctr">
            <a:normAutofit/>
          </a:bodyPr>
          <a:lstStyle/>
          <a:p>
            <a:pPr algn="ctr" indent="0" marL="0">
              <a:buNone/>
            </a:pPr>
            <a:r>
              <a:rPr lang="en-US" sz="1000" b="1" dirty="0">
                <a:solidFill>
                  <a:srgbClr val="3F7394"/>
                </a:solidFill>
                <a:latin typeface="Aptos" pitchFamily="34" charset="0"/>
                <a:ea typeface="Aptos" pitchFamily="34" charset="-122"/>
                <a:cs typeface="Aptos" pitchFamily="34" charset="-120"/>
              </a:rPr>
              <a:t>EtherNet/IP</a:t>
            </a:r>
            <a:endParaRPr lang="en-US" sz="1000" dirty="0"/>
          </a:p>
        </p:txBody>
      </p:sp>
      <p:sp>
        <p:nvSpPr>
          <p:cNvPr id="40" name="Shape 38"/>
          <p:cNvSpPr/>
          <p:nvPr/>
        </p:nvSpPr>
        <p:spPr>
          <a:xfrm>
            <a:off x="9811512" y="3474720"/>
            <a:ext cx="91440" cy="91440"/>
          </a:xfrm>
          <a:prstGeom prst="ellipse">
            <a:avLst/>
          </a:prstGeom>
          <a:solidFill>
            <a:srgbClr val="3F7394"/>
          </a:solidFill>
          <a:ln w="12700">
            <a:solidFill>
              <a:srgbClr val="3F7394">
                <a:alpha val="0"/>
              </a:srgbClr>
            </a:solidFill>
            <a:prstDash val="solid"/>
          </a:ln>
        </p:spPr>
      </p:sp>
      <p:sp>
        <p:nvSpPr>
          <p:cNvPr id="41" name="Text 39"/>
          <p:cNvSpPr/>
          <p:nvPr/>
        </p:nvSpPr>
        <p:spPr>
          <a:xfrm>
            <a:off x="9994392" y="3401568"/>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Industrial Ethernet family</a:t>
            </a:r>
            <a:endParaRPr lang="en-US" sz="870" dirty="0"/>
          </a:p>
        </p:txBody>
      </p:sp>
      <p:sp>
        <p:nvSpPr>
          <p:cNvPr id="42" name="Shape 40"/>
          <p:cNvSpPr/>
          <p:nvPr/>
        </p:nvSpPr>
        <p:spPr>
          <a:xfrm>
            <a:off x="9811512" y="3959352"/>
            <a:ext cx="91440" cy="91440"/>
          </a:xfrm>
          <a:prstGeom prst="ellipse">
            <a:avLst/>
          </a:prstGeom>
          <a:solidFill>
            <a:srgbClr val="3F7394"/>
          </a:solidFill>
          <a:ln w="12700">
            <a:solidFill>
              <a:srgbClr val="3F7394">
                <a:alpha val="0"/>
              </a:srgbClr>
            </a:solidFill>
            <a:prstDash val="solid"/>
          </a:ln>
        </p:spPr>
      </p:sp>
      <p:sp>
        <p:nvSpPr>
          <p:cNvPr id="43" name="Text 41"/>
          <p:cNvSpPr/>
          <p:nvPr/>
        </p:nvSpPr>
        <p:spPr>
          <a:xfrm>
            <a:off x="9994392" y="3886200"/>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Distinct configuration model</a:t>
            </a:r>
            <a:endParaRPr lang="en-US" sz="870" dirty="0"/>
          </a:p>
        </p:txBody>
      </p:sp>
      <p:sp>
        <p:nvSpPr>
          <p:cNvPr id="44" name="Shape 42"/>
          <p:cNvSpPr/>
          <p:nvPr/>
        </p:nvSpPr>
        <p:spPr>
          <a:xfrm>
            <a:off x="9811512" y="4443984"/>
            <a:ext cx="91440" cy="91440"/>
          </a:xfrm>
          <a:prstGeom prst="ellipse">
            <a:avLst/>
          </a:prstGeom>
          <a:solidFill>
            <a:srgbClr val="3F7394"/>
          </a:solidFill>
          <a:ln w="12700">
            <a:solidFill>
              <a:srgbClr val="3F7394">
                <a:alpha val="0"/>
              </a:srgbClr>
            </a:solidFill>
            <a:prstDash val="solid"/>
          </a:ln>
        </p:spPr>
      </p:sp>
      <p:sp>
        <p:nvSpPr>
          <p:cNvPr id="45" name="Text 43"/>
          <p:cNvSpPr/>
          <p:nvPr/>
        </p:nvSpPr>
        <p:spPr>
          <a:xfrm>
            <a:off x="9994392" y="4370832"/>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Verify scanner/adapter role</a:t>
            </a:r>
            <a:endParaRPr lang="en-US" sz="870" dirty="0"/>
          </a:p>
        </p:txBody>
      </p:sp>
      <p:sp>
        <p:nvSpPr>
          <p:cNvPr id="46" name="Text 44"/>
          <p:cNvSpPr/>
          <p:nvPr/>
        </p:nvSpPr>
        <p:spPr>
          <a:xfrm>
            <a:off x="8010144" y="5422392"/>
            <a:ext cx="3246120" cy="576072"/>
          </a:xfrm>
          <a:prstGeom prst="rect">
            <a:avLst/>
          </a:prstGeom>
          <a:noFill/>
          <a:ln/>
        </p:spPr>
        <p:txBody>
          <a:bodyPr wrap="square" lIns="0" tIns="0" rIns="0" bIns="0" rtlCol="0" anchor="ctr">
            <a:normAutofit/>
          </a:bodyPr>
          <a:lstStyle/>
          <a:p>
            <a:pPr algn="ctr" indent="0" marL="0">
              <a:buNone/>
            </a:pPr>
            <a:r>
              <a:rPr lang="en-US" sz="950" dirty="0">
                <a:solidFill>
                  <a:srgbClr val="1B3448"/>
                </a:solidFill>
                <a:latin typeface="Aptos" pitchFamily="34" charset="0"/>
                <a:ea typeface="Aptos" pitchFamily="34" charset="-122"/>
                <a:cs typeface="Aptos" pitchFamily="34" charset="-120"/>
              </a:rPr>
              <a:t>Ethernet cabling does not make the protocol families interchangeable</a:t>
            </a:r>
            <a:endParaRPr lang="en-US" sz="950" dirty="0"/>
          </a:p>
        </p:txBody>
      </p:sp>
      <p:sp>
        <p:nvSpPr>
          <p:cNvPr id="47" name="Shape 45"/>
          <p:cNvSpPr/>
          <p:nvPr/>
        </p:nvSpPr>
        <p:spPr>
          <a:xfrm>
            <a:off x="603504" y="6318504"/>
            <a:ext cx="10972800" cy="0"/>
          </a:xfrm>
          <a:prstGeom prst="line">
            <a:avLst/>
          </a:prstGeom>
          <a:noFill/>
          <a:ln w="10160">
            <a:solidFill>
              <a:srgbClr val="D5E0E7"/>
            </a:solidFill>
            <a:prstDash val="solid"/>
          </a:ln>
        </p:spPr>
      </p:sp>
      <p:sp>
        <p:nvSpPr>
          <p:cNvPr id="48" name="Text 46"/>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9" name="Text 47"/>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P3 comparison prompt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Activity procedure: teams select a MedPack PLC-to-HMI requirement card, list the endpoints and needed data, and choose one supported link/interface plus one protocol pairing.</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3F7394"/>
          </a:solidFill>
          <a:ln w="12700">
            <a:solidFill>
              <a:srgbClr val="3F7394">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Compare the choice with an alternative on topology/distance, noise/installation, speed or update needs, typical use, and commissioning support; label unknowns instead of inventing specifications.</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3F7394"/>
          </a:solidFill>
          <a:ln w="12700">
            <a:solidFill>
              <a:srgbClr val="3F7394">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response: recommend a compatible pair only after checking both endpoint manuals and the register/tag mapping, then state a limitation and one condition that could change the choice.</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COMPARISON FRAMEWORK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7918704" y="2615184"/>
            <a:ext cx="1188720" cy="475488"/>
          </a:xfrm>
          <a:prstGeom prst="rect">
            <a:avLst/>
          </a:prstGeom>
          <a:solidFill>
            <a:srgbClr val="3F7394"/>
          </a:solidFill>
          <a:ln w="10160">
            <a:solidFill>
              <a:srgbClr val="3F7394"/>
            </a:solidFill>
            <a:prstDash val="solid"/>
          </a:ln>
        </p:spPr>
      </p:sp>
      <p:sp>
        <p:nvSpPr>
          <p:cNvPr id="27" name="Text 25"/>
          <p:cNvSpPr/>
          <p:nvPr/>
        </p:nvSpPr>
        <p:spPr>
          <a:xfrm>
            <a:off x="7955280" y="2651760"/>
            <a:ext cx="1115568" cy="39319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Aptos" pitchFamily="34" charset="0"/>
                <a:ea typeface="Aptos" pitchFamily="34" charset="-122"/>
                <a:cs typeface="Aptos" pitchFamily="34" charset="-120"/>
              </a:rPr>
              <a:t>LAYER</a:t>
            </a:r>
            <a:endParaRPr lang="en-US" sz="850" dirty="0"/>
          </a:p>
        </p:txBody>
      </p:sp>
      <p:sp>
        <p:nvSpPr>
          <p:cNvPr id="28" name="Shape 26"/>
          <p:cNvSpPr/>
          <p:nvPr/>
        </p:nvSpPr>
        <p:spPr>
          <a:xfrm>
            <a:off x="9107424" y="2615184"/>
            <a:ext cx="987552" cy="475488"/>
          </a:xfrm>
          <a:prstGeom prst="rect">
            <a:avLst/>
          </a:prstGeom>
          <a:solidFill>
            <a:srgbClr val="EAF0F3"/>
          </a:solidFill>
          <a:ln w="10160">
            <a:solidFill>
              <a:srgbClr val="3F7394"/>
            </a:solidFill>
            <a:prstDash val="solid"/>
          </a:ln>
        </p:spPr>
      </p:sp>
      <p:sp>
        <p:nvSpPr>
          <p:cNvPr id="29" name="Text 27"/>
          <p:cNvSpPr/>
          <p:nvPr/>
        </p:nvSpPr>
        <p:spPr>
          <a:xfrm>
            <a:off x="9144000"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EXAMPLE A</a:t>
            </a:r>
            <a:endParaRPr lang="en-US" sz="850" dirty="0"/>
          </a:p>
        </p:txBody>
      </p:sp>
      <p:sp>
        <p:nvSpPr>
          <p:cNvPr id="30" name="Shape 28"/>
          <p:cNvSpPr/>
          <p:nvPr/>
        </p:nvSpPr>
        <p:spPr>
          <a:xfrm>
            <a:off x="10094976" y="2615184"/>
            <a:ext cx="987552" cy="475488"/>
          </a:xfrm>
          <a:prstGeom prst="rect">
            <a:avLst/>
          </a:prstGeom>
          <a:solidFill>
            <a:srgbClr val="EAF0F3"/>
          </a:solidFill>
          <a:ln w="10160">
            <a:solidFill>
              <a:srgbClr val="3F7394"/>
            </a:solidFill>
            <a:prstDash val="solid"/>
          </a:ln>
        </p:spPr>
      </p:sp>
      <p:sp>
        <p:nvSpPr>
          <p:cNvPr id="31" name="Text 29"/>
          <p:cNvSpPr/>
          <p:nvPr/>
        </p:nvSpPr>
        <p:spPr>
          <a:xfrm>
            <a:off x="10131552" y="2651760"/>
            <a:ext cx="914400" cy="393192"/>
          </a:xfrm>
          <a:prstGeom prst="rect">
            <a:avLst/>
          </a:prstGeom>
          <a:noFill/>
          <a:ln/>
        </p:spPr>
        <p:txBody>
          <a:bodyPr wrap="square" lIns="0" tIns="0" rIns="0" bIns="0" rtlCol="0" anchor="ctr">
            <a:normAutofit/>
          </a:bodyPr>
          <a:lstStyle/>
          <a:p>
            <a:pPr algn="ctr" indent="0" marL="0">
              <a:buNone/>
            </a:pPr>
            <a:r>
              <a:rPr lang="en-US" sz="850" b="1" dirty="0">
                <a:solidFill>
                  <a:srgbClr val="1B3448"/>
                </a:solidFill>
                <a:latin typeface="Aptos" pitchFamily="34" charset="0"/>
                <a:ea typeface="Aptos" pitchFamily="34" charset="-122"/>
                <a:cs typeface="Aptos" pitchFamily="34" charset="-120"/>
              </a:rPr>
              <a:t>EXAMPLE B</a:t>
            </a:r>
            <a:endParaRPr lang="en-US" sz="850" dirty="0"/>
          </a:p>
        </p:txBody>
      </p:sp>
      <p:sp>
        <p:nvSpPr>
          <p:cNvPr id="32" name="Shape 30"/>
          <p:cNvSpPr/>
          <p:nvPr/>
        </p:nvSpPr>
        <p:spPr>
          <a:xfrm>
            <a:off x="7918704" y="3090672"/>
            <a:ext cx="1188720" cy="594360"/>
          </a:xfrm>
          <a:prstGeom prst="rect">
            <a:avLst/>
          </a:prstGeom>
          <a:solidFill>
            <a:srgbClr val="FFFFFF"/>
          </a:solidFill>
          <a:ln w="7620">
            <a:solidFill>
              <a:srgbClr val="D5E0E7"/>
            </a:solidFill>
            <a:prstDash val="solid"/>
          </a:ln>
        </p:spPr>
      </p:sp>
      <p:sp>
        <p:nvSpPr>
          <p:cNvPr id="33" name="Text 31"/>
          <p:cNvSpPr/>
          <p:nvPr/>
        </p:nvSpPr>
        <p:spPr>
          <a:xfrm>
            <a:off x="7964424" y="313639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Physical</a:t>
            </a:r>
            <a:endParaRPr lang="en-US" sz="900" dirty="0"/>
          </a:p>
        </p:txBody>
      </p:sp>
      <p:sp>
        <p:nvSpPr>
          <p:cNvPr id="34" name="Shape 32"/>
          <p:cNvSpPr/>
          <p:nvPr/>
        </p:nvSpPr>
        <p:spPr>
          <a:xfrm>
            <a:off x="9107424" y="3090672"/>
            <a:ext cx="987552" cy="594360"/>
          </a:xfrm>
          <a:prstGeom prst="rect">
            <a:avLst/>
          </a:prstGeom>
          <a:solidFill>
            <a:srgbClr val="FFFFFF"/>
          </a:solidFill>
          <a:ln w="7620">
            <a:solidFill>
              <a:srgbClr val="D5E0E7"/>
            </a:solidFill>
            <a:prstDash val="solid"/>
          </a:ln>
        </p:spPr>
      </p:sp>
      <p:sp>
        <p:nvSpPr>
          <p:cNvPr id="35" name="Text 33"/>
          <p:cNvSpPr/>
          <p:nvPr/>
        </p:nvSpPr>
        <p:spPr>
          <a:xfrm>
            <a:off x="9153144"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Ethernet</a:t>
            </a:r>
            <a:endParaRPr lang="en-US" sz="870" dirty="0"/>
          </a:p>
        </p:txBody>
      </p:sp>
      <p:sp>
        <p:nvSpPr>
          <p:cNvPr id="36" name="Shape 34"/>
          <p:cNvSpPr/>
          <p:nvPr/>
        </p:nvSpPr>
        <p:spPr>
          <a:xfrm>
            <a:off x="10094976" y="3090672"/>
            <a:ext cx="987552" cy="594360"/>
          </a:xfrm>
          <a:prstGeom prst="rect">
            <a:avLst/>
          </a:prstGeom>
          <a:solidFill>
            <a:srgbClr val="FFFFFF"/>
          </a:solidFill>
          <a:ln w="7620">
            <a:solidFill>
              <a:srgbClr val="D5E0E7"/>
            </a:solidFill>
            <a:prstDash val="solid"/>
          </a:ln>
        </p:spPr>
      </p:sp>
      <p:sp>
        <p:nvSpPr>
          <p:cNvPr id="37" name="Text 35"/>
          <p:cNvSpPr/>
          <p:nvPr/>
        </p:nvSpPr>
        <p:spPr>
          <a:xfrm>
            <a:off x="10140696" y="313639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RS-485</a:t>
            </a:r>
            <a:endParaRPr lang="en-US" sz="870" dirty="0"/>
          </a:p>
        </p:txBody>
      </p:sp>
      <p:sp>
        <p:nvSpPr>
          <p:cNvPr id="38" name="Shape 36"/>
          <p:cNvSpPr/>
          <p:nvPr/>
        </p:nvSpPr>
        <p:spPr>
          <a:xfrm>
            <a:off x="7918704" y="3685032"/>
            <a:ext cx="1188720" cy="594360"/>
          </a:xfrm>
          <a:prstGeom prst="rect">
            <a:avLst/>
          </a:prstGeom>
          <a:solidFill>
            <a:srgbClr val="F6F8FA"/>
          </a:solidFill>
          <a:ln w="7620">
            <a:solidFill>
              <a:srgbClr val="D5E0E7"/>
            </a:solidFill>
            <a:prstDash val="solid"/>
          </a:ln>
        </p:spPr>
      </p:sp>
      <p:sp>
        <p:nvSpPr>
          <p:cNvPr id="39" name="Text 37"/>
          <p:cNvSpPr/>
          <p:nvPr/>
        </p:nvSpPr>
        <p:spPr>
          <a:xfrm>
            <a:off x="7964424" y="373075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Protocol</a:t>
            </a:r>
            <a:endParaRPr lang="en-US" sz="900" dirty="0"/>
          </a:p>
        </p:txBody>
      </p:sp>
      <p:sp>
        <p:nvSpPr>
          <p:cNvPr id="40" name="Shape 38"/>
          <p:cNvSpPr/>
          <p:nvPr/>
        </p:nvSpPr>
        <p:spPr>
          <a:xfrm>
            <a:off x="9107424" y="3685032"/>
            <a:ext cx="987552" cy="594360"/>
          </a:xfrm>
          <a:prstGeom prst="rect">
            <a:avLst/>
          </a:prstGeom>
          <a:solidFill>
            <a:srgbClr val="F6F8FA"/>
          </a:solidFill>
          <a:ln w="7620">
            <a:solidFill>
              <a:srgbClr val="D5E0E7"/>
            </a:solidFill>
            <a:prstDash val="solid"/>
          </a:ln>
        </p:spPr>
      </p:sp>
      <p:sp>
        <p:nvSpPr>
          <p:cNvPr id="41" name="Text 39"/>
          <p:cNvSpPr/>
          <p:nvPr/>
        </p:nvSpPr>
        <p:spPr>
          <a:xfrm>
            <a:off x="9153144"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Modbus TCP</a:t>
            </a:r>
            <a:endParaRPr lang="en-US" sz="870" dirty="0"/>
          </a:p>
        </p:txBody>
      </p:sp>
      <p:sp>
        <p:nvSpPr>
          <p:cNvPr id="42" name="Shape 40"/>
          <p:cNvSpPr/>
          <p:nvPr/>
        </p:nvSpPr>
        <p:spPr>
          <a:xfrm>
            <a:off x="10094976" y="3685032"/>
            <a:ext cx="987552" cy="594360"/>
          </a:xfrm>
          <a:prstGeom prst="rect">
            <a:avLst/>
          </a:prstGeom>
          <a:solidFill>
            <a:srgbClr val="F6F8FA"/>
          </a:solidFill>
          <a:ln w="7620">
            <a:solidFill>
              <a:srgbClr val="D5E0E7"/>
            </a:solidFill>
            <a:prstDash val="solid"/>
          </a:ln>
        </p:spPr>
      </p:sp>
      <p:sp>
        <p:nvSpPr>
          <p:cNvPr id="43" name="Text 41"/>
          <p:cNvSpPr/>
          <p:nvPr/>
        </p:nvSpPr>
        <p:spPr>
          <a:xfrm>
            <a:off x="10140696" y="373075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Modbus RTU</a:t>
            </a:r>
            <a:endParaRPr lang="en-US" sz="870" dirty="0"/>
          </a:p>
        </p:txBody>
      </p:sp>
      <p:sp>
        <p:nvSpPr>
          <p:cNvPr id="44" name="Shape 42"/>
          <p:cNvSpPr/>
          <p:nvPr/>
        </p:nvSpPr>
        <p:spPr>
          <a:xfrm>
            <a:off x="7918704" y="4279392"/>
            <a:ext cx="1188720" cy="594360"/>
          </a:xfrm>
          <a:prstGeom prst="rect">
            <a:avLst/>
          </a:prstGeom>
          <a:solidFill>
            <a:srgbClr val="FFFFFF"/>
          </a:solidFill>
          <a:ln w="7620">
            <a:solidFill>
              <a:srgbClr val="D5E0E7"/>
            </a:solidFill>
            <a:prstDash val="solid"/>
          </a:ln>
        </p:spPr>
      </p:sp>
      <p:sp>
        <p:nvSpPr>
          <p:cNvPr id="45" name="Text 43"/>
          <p:cNvSpPr/>
          <p:nvPr/>
        </p:nvSpPr>
        <p:spPr>
          <a:xfrm>
            <a:off x="7964424" y="432511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Topology</a:t>
            </a:r>
            <a:endParaRPr lang="en-US" sz="900" dirty="0"/>
          </a:p>
        </p:txBody>
      </p:sp>
      <p:sp>
        <p:nvSpPr>
          <p:cNvPr id="46" name="Shape 44"/>
          <p:cNvSpPr/>
          <p:nvPr/>
        </p:nvSpPr>
        <p:spPr>
          <a:xfrm>
            <a:off x="9107424" y="4279392"/>
            <a:ext cx="987552" cy="594360"/>
          </a:xfrm>
          <a:prstGeom prst="rect">
            <a:avLst/>
          </a:prstGeom>
          <a:solidFill>
            <a:srgbClr val="FFFFFF"/>
          </a:solidFill>
          <a:ln w="7620">
            <a:solidFill>
              <a:srgbClr val="D5E0E7"/>
            </a:solidFill>
            <a:prstDash val="solid"/>
          </a:ln>
        </p:spPr>
      </p:sp>
      <p:sp>
        <p:nvSpPr>
          <p:cNvPr id="47" name="Text 45"/>
          <p:cNvSpPr/>
          <p:nvPr/>
        </p:nvSpPr>
        <p:spPr>
          <a:xfrm>
            <a:off x="9153144"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Switched LAN</a:t>
            </a:r>
            <a:endParaRPr lang="en-US" sz="870" dirty="0"/>
          </a:p>
        </p:txBody>
      </p:sp>
      <p:sp>
        <p:nvSpPr>
          <p:cNvPr id="48" name="Shape 46"/>
          <p:cNvSpPr/>
          <p:nvPr/>
        </p:nvSpPr>
        <p:spPr>
          <a:xfrm>
            <a:off x="10094976" y="4279392"/>
            <a:ext cx="987552" cy="594360"/>
          </a:xfrm>
          <a:prstGeom prst="rect">
            <a:avLst/>
          </a:prstGeom>
          <a:solidFill>
            <a:srgbClr val="FFFFFF"/>
          </a:solidFill>
          <a:ln w="7620">
            <a:solidFill>
              <a:srgbClr val="D5E0E7"/>
            </a:solidFill>
            <a:prstDash val="solid"/>
          </a:ln>
        </p:spPr>
      </p:sp>
      <p:sp>
        <p:nvSpPr>
          <p:cNvPr id="49" name="Text 47"/>
          <p:cNvSpPr/>
          <p:nvPr/>
        </p:nvSpPr>
        <p:spPr>
          <a:xfrm>
            <a:off x="10140696" y="432511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Serial bus</a:t>
            </a:r>
            <a:endParaRPr lang="en-US" sz="870" dirty="0"/>
          </a:p>
        </p:txBody>
      </p:sp>
      <p:sp>
        <p:nvSpPr>
          <p:cNvPr id="50" name="Shape 48"/>
          <p:cNvSpPr/>
          <p:nvPr/>
        </p:nvSpPr>
        <p:spPr>
          <a:xfrm>
            <a:off x="7918704" y="4873752"/>
            <a:ext cx="1188720" cy="594360"/>
          </a:xfrm>
          <a:prstGeom prst="rect">
            <a:avLst/>
          </a:prstGeom>
          <a:solidFill>
            <a:srgbClr val="F6F8FA"/>
          </a:solidFill>
          <a:ln w="7620">
            <a:solidFill>
              <a:srgbClr val="D5E0E7"/>
            </a:solidFill>
            <a:prstDash val="solid"/>
          </a:ln>
        </p:spPr>
      </p:sp>
      <p:sp>
        <p:nvSpPr>
          <p:cNvPr id="51" name="Text 49"/>
          <p:cNvSpPr/>
          <p:nvPr/>
        </p:nvSpPr>
        <p:spPr>
          <a:xfrm>
            <a:off x="7964424" y="4919472"/>
            <a:ext cx="1097280" cy="50292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Evidence</a:t>
            </a:r>
            <a:endParaRPr lang="en-US" sz="900" dirty="0"/>
          </a:p>
        </p:txBody>
      </p:sp>
      <p:sp>
        <p:nvSpPr>
          <p:cNvPr id="52" name="Shape 50"/>
          <p:cNvSpPr/>
          <p:nvPr/>
        </p:nvSpPr>
        <p:spPr>
          <a:xfrm>
            <a:off x="9107424" y="4873752"/>
            <a:ext cx="987552" cy="594360"/>
          </a:xfrm>
          <a:prstGeom prst="rect">
            <a:avLst/>
          </a:prstGeom>
          <a:solidFill>
            <a:srgbClr val="F6F8FA"/>
          </a:solidFill>
          <a:ln w="7620">
            <a:solidFill>
              <a:srgbClr val="D5E0E7"/>
            </a:solidFill>
            <a:prstDash val="solid"/>
          </a:ln>
        </p:spPr>
      </p:sp>
      <p:sp>
        <p:nvSpPr>
          <p:cNvPr id="53" name="Text 51"/>
          <p:cNvSpPr/>
          <p:nvPr/>
        </p:nvSpPr>
        <p:spPr>
          <a:xfrm>
            <a:off x="9153144"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Device manual</a:t>
            </a:r>
            <a:endParaRPr lang="en-US" sz="870" dirty="0"/>
          </a:p>
        </p:txBody>
      </p:sp>
      <p:sp>
        <p:nvSpPr>
          <p:cNvPr id="54" name="Shape 52"/>
          <p:cNvSpPr/>
          <p:nvPr/>
        </p:nvSpPr>
        <p:spPr>
          <a:xfrm>
            <a:off x="10094976" y="4873752"/>
            <a:ext cx="987552" cy="594360"/>
          </a:xfrm>
          <a:prstGeom prst="rect">
            <a:avLst/>
          </a:prstGeom>
          <a:solidFill>
            <a:srgbClr val="F6F8FA"/>
          </a:solidFill>
          <a:ln w="7620">
            <a:solidFill>
              <a:srgbClr val="D5E0E7"/>
            </a:solidFill>
            <a:prstDash val="solid"/>
          </a:ln>
        </p:spPr>
      </p:sp>
      <p:sp>
        <p:nvSpPr>
          <p:cNvPr id="55" name="Text 53"/>
          <p:cNvSpPr/>
          <p:nvPr/>
        </p:nvSpPr>
        <p:spPr>
          <a:xfrm>
            <a:off x="10140696" y="4919472"/>
            <a:ext cx="896112" cy="502920"/>
          </a:xfrm>
          <a:prstGeom prst="rect">
            <a:avLst/>
          </a:prstGeom>
          <a:noFill/>
          <a:ln/>
        </p:spPr>
        <p:txBody>
          <a:bodyPr wrap="square" lIns="0" tIns="0" rIns="0" bIns="0" rtlCol="0" anchor="ctr">
            <a:normAutofit/>
          </a:bodyPr>
          <a:lstStyle/>
          <a:p>
            <a:pPr algn="ctr" indent="0" marL="0">
              <a:buNone/>
            </a:pPr>
            <a:r>
              <a:rPr lang="en-US" sz="870" dirty="0">
                <a:solidFill>
                  <a:srgbClr val="334B5C"/>
                </a:solidFill>
                <a:latin typeface="Aptos" pitchFamily="34" charset="0"/>
                <a:ea typeface="Aptos" pitchFamily="34" charset="-122"/>
                <a:cs typeface="Aptos" pitchFamily="34" charset="-120"/>
              </a:rPr>
              <a:t>Device manual</a:t>
            </a:r>
            <a:endParaRPr lang="en-US" sz="870" dirty="0"/>
          </a:p>
        </p:txBody>
      </p:sp>
      <p:sp>
        <p:nvSpPr>
          <p:cNvPr id="56" name="Text 54"/>
          <p:cNvSpPr/>
          <p:nvPr/>
        </p:nvSpPr>
        <p:spPr>
          <a:xfrm>
            <a:off x="7973568" y="5678424"/>
            <a:ext cx="3154680" cy="493776"/>
          </a:xfrm>
          <a:prstGeom prst="rect">
            <a:avLst/>
          </a:prstGeom>
          <a:noFill/>
          <a:ln/>
        </p:spPr>
        <p:txBody>
          <a:bodyPr wrap="square" lIns="0" tIns="0" rIns="0" bIns="0" rtlCol="0" anchor="ctr">
            <a:normAutofit/>
          </a:bodyPr>
          <a:lstStyle/>
          <a:p>
            <a:pPr algn="ctr" indent="0" marL="0">
              <a:buNone/>
            </a:pPr>
            <a:r>
              <a:rPr lang="en-US" sz="920" dirty="0">
                <a:solidFill>
                  <a:srgbClr val="607585"/>
                </a:solidFill>
                <a:latin typeface="Aptos" pitchFamily="34" charset="0"/>
                <a:ea typeface="Aptos" pitchFamily="34" charset="-122"/>
                <a:cs typeface="Aptos" pitchFamily="34" charset="-120"/>
              </a:rPr>
              <a:t>Use exact model manuals; do not infer missing specifications</a:t>
            </a:r>
            <a:endParaRPr lang="en-US" sz="920" dirty="0"/>
          </a:p>
        </p:txBody>
      </p:sp>
      <p:sp>
        <p:nvSpPr>
          <p:cNvPr id="57" name="Shape 55"/>
          <p:cNvSpPr/>
          <p:nvPr/>
        </p:nvSpPr>
        <p:spPr>
          <a:xfrm>
            <a:off x="603504" y="6318504"/>
            <a:ext cx="10972800" cy="0"/>
          </a:xfrm>
          <a:prstGeom prst="line">
            <a:avLst/>
          </a:prstGeom>
          <a:noFill/>
          <a:ln w="10160">
            <a:solidFill>
              <a:srgbClr val="D5E0E7"/>
            </a:solidFill>
            <a:prstDash val="solid"/>
          </a:ln>
        </p:spPr>
      </p:sp>
      <p:sp>
        <p:nvSpPr>
          <p:cNvPr id="58" name="Text 56"/>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59" name="Text 57"/>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Modbus RTU and Modbus TCP</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Modbus RTU commonly carries framed requests over serial links; Modbus TCP carries Modbus application messages over TCP/IP, commonly on Ethernet. The serial and TCP transport details differ even when the data model is familiar.</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The common data model distinguishes coils and discrete inputs (bit values) from holding and input registers (16-bit values); read/write permissions and device-specific support vary.</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Worked mapping: a MedPack PillCount may be represented by a documented register or tag, but the actual address, signedness, scaling, word order, and allowed function code must come from the PLC map.</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reference notation versus client indexing with both PLC and client documentation; a displayed 40001 reference may be represented by a zero-based software offset, but this is not universal.</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PROTOCOL COMPARISON</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97480"/>
            <a:ext cx="1627632" cy="2395728"/>
          </a:xfrm>
          <a:prstGeom prst="rect">
            <a:avLst/>
          </a:prstGeom>
          <a:solidFill>
            <a:srgbClr val="EAF3F4"/>
          </a:solidFill>
          <a:ln w="15240">
            <a:solidFill>
              <a:srgbClr val="3F7394"/>
            </a:solidFill>
            <a:prstDash val="solid"/>
          </a:ln>
        </p:spPr>
      </p:sp>
      <p:sp>
        <p:nvSpPr>
          <p:cNvPr id="31" name="Text 29"/>
          <p:cNvSpPr/>
          <p:nvPr/>
        </p:nvSpPr>
        <p:spPr>
          <a:xfrm>
            <a:off x="7991856" y="2834640"/>
            <a:ext cx="1481328" cy="365760"/>
          </a:xfrm>
          <a:prstGeom prst="rect">
            <a:avLst/>
          </a:prstGeom>
          <a:noFill/>
          <a:ln/>
        </p:spPr>
        <p:txBody>
          <a:bodyPr wrap="square" lIns="0" tIns="0" rIns="0" bIns="0" rtlCol="0" anchor="ctr">
            <a:normAutofit/>
          </a:bodyPr>
          <a:lstStyle/>
          <a:p>
            <a:pPr algn="ctr" indent="0" marL="0">
              <a:buNone/>
            </a:pPr>
            <a:r>
              <a:rPr lang="en-US" sz="1000" b="1" dirty="0">
                <a:solidFill>
                  <a:srgbClr val="3F7394"/>
                </a:solidFill>
                <a:latin typeface="Aptos" pitchFamily="34" charset="0"/>
                <a:ea typeface="Aptos" pitchFamily="34" charset="-122"/>
                <a:cs typeface="Aptos" pitchFamily="34" charset="-120"/>
              </a:rPr>
              <a:t>MODBUS RTU</a:t>
            </a:r>
            <a:endParaRPr lang="en-US" sz="1000" dirty="0"/>
          </a:p>
        </p:txBody>
      </p:sp>
      <p:sp>
        <p:nvSpPr>
          <p:cNvPr id="32" name="Shape 30"/>
          <p:cNvSpPr/>
          <p:nvPr/>
        </p:nvSpPr>
        <p:spPr>
          <a:xfrm>
            <a:off x="8065008" y="3474720"/>
            <a:ext cx="91440" cy="91440"/>
          </a:xfrm>
          <a:prstGeom prst="ellipse">
            <a:avLst/>
          </a:prstGeom>
          <a:solidFill>
            <a:srgbClr val="3F7394"/>
          </a:solidFill>
          <a:ln w="12700">
            <a:solidFill>
              <a:srgbClr val="3F7394">
                <a:alpha val="0"/>
              </a:srgbClr>
            </a:solidFill>
            <a:prstDash val="solid"/>
          </a:ln>
        </p:spPr>
      </p:sp>
      <p:sp>
        <p:nvSpPr>
          <p:cNvPr id="33" name="Text 31"/>
          <p:cNvSpPr/>
          <p:nvPr/>
        </p:nvSpPr>
        <p:spPr>
          <a:xfrm>
            <a:off x="8247888" y="3401568"/>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Serial message framing</a:t>
            </a:r>
            <a:endParaRPr lang="en-US" sz="870" dirty="0"/>
          </a:p>
        </p:txBody>
      </p:sp>
      <p:sp>
        <p:nvSpPr>
          <p:cNvPr id="34" name="Shape 32"/>
          <p:cNvSpPr/>
          <p:nvPr/>
        </p:nvSpPr>
        <p:spPr>
          <a:xfrm>
            <a:off x="8065008" y="3959352"/>
            <a:ext cx="91440" cy="91440"/>
          </a:xfrm>
          <a:prstGeom prst="ellipse">
            <a:avLst/>
          </a:prstGeom>
          <a:solidFill>
            <a:srgbClr val="3F7394"/>
          </a:solidFill>
          <a:ln w="12700">
            <a:solidFill>
              <a:srgbClr val="3F7394">
                <a:alpha val="0"/>
              </a:srgbClr>
            </a:solidFill>
            <a:prstDash val="solid"/>
          </a:ln>
        </p:spPr>
      </p:sp>
      <p:sp>
        <p:nvSpPr>
          <p:cNvPr id="35" name="Text 33"/>
          <p:cNvSpPr/>
          <p:nvPr/>
        </p:nvSpPr>
        <p:spPr>
          <a:xfrm>
            <a:off x="8247888" y="3886200"/>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Device/node address</a:t>
            </a:r>
            <a:endParaRPr lang="en-US" sz="870" dirty="0"/>
          </a:p>
        </p:txBody>
      </p:sp>
      <p:sp>
        <p:nvSpPr>
          <p:cNvPr id="36" name="Shape 34"/>
          <p:cNvSpPr/>
          <p:nvPr/>
        </p:nvSpPr>
        <p:spPr>
          <a:xfrm>
            <a:off x="8065008" y="4443984"/>
            <a:ext cx="91440" cy="91440"/>
          </a:xfrm>
          <a:prstGeom prst="ellipse">
            <a:avLst/>
          </a:prstGeom>
          <a:solidFill>
            <a:srgbClr val="3F7394"/>
          </a:solidFill>
          <a:ln w="12700">
            <a:solidFill>
              <a:srgbClr val="3F7394">
                <a:alpha val="0"/>
              </a:srgbClr>
            </a:solidFill>
            <a:prstDash val="solid"/>
          </a:ln>
        </p:spPr>
      </p:sp>
      <p:sp>
        <p:nvSpPr>
          <p:cNvPr id="37" name="Text 35"/>
          <p:cNvSpPr/>
          <p:nvPr/>
        </p:nvSpPr>
        <p:spPr>
          <a:xfrm>
            <a:off x="8247888" y="4370832"/>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Commonly over serial</a:t>
            </a:r>
            <a:endParaRPr lang="en-US" sz="870" dirty="0"/>
          </a:p>
        </p:txBody>
      </p:sp>
      <p:sp>
        <p:nvSpPr>
          <p:cNvPr id="38" name="Shape 36"/>
          <p:cNvSpPr/>
          <p:nvPr/>
        </p:nvSpPr>
        <p:spPr>
          <a:xfrm>
            <a:off x="9665208" y="2697480"/>
            <a:ext cx="1627632" cy="2395728"/>
          </a:xfrm>
          <a:prstGeom prst="rect">
            <a:avLst/>
          </a:prstGeom>
          <a:solidFill>
            <a:srgbClr val="F2F6F8"/>
          </a:solidFill>
          <a:ln w="15240">
            <a:solidFill>
              <a:srgbClr val="3F7394"/>
            </a:solidFill>
            <a:prstDash val="solid"/>
          </a:ln>
        </p:spPr>
      </p:sp>
      <p:sp>
        <p:nvSpPr>
          <p:cNvPr id="39" name="Text 37"/>
          <p:cNvSpPr/>
          <p:nvPr/>
        </p:nvSpPr>
        <p:spPr>
          <a:xfrm>
            <a:off x="9738360" y="2834640"/>
            <a:ext cx="1481328" cy="365760"/>
          </a:xfrm>
          <a:prstGeom prst="rect">
            <a:avLst/>
          </a:prstGeom>
          <a:noFill/>
          <a:ln/>
        </p:spPr>
        <p:txBody>
          <a:bodyPr wrap="square" lIns="0" tIns="0" rIns="0" bIns="0" rtlCol="0" anchor="ctr">
            <a:normAutofit/>
          </a:bodyPr>
          <a:lstStyle/>
          <a:p>
            <a:pPr algn="ctr" indent="0" marL="0">
              <a:buNone/>
            </a:pPr>
            <a:r>
              <a:rPr lang="en-US" sz="1000" b="1" dirty="0">
                <a:solidFill>
                  <a:srgbClr val="3F7394"/>
                </a:solidFill>
                <a:latin typeface="Aptos" pitchFamily="34" charset="0"/>
                <a:ea typeface="Aptos" pitchFamily="34" charset="-122"/>
                <a:cs typeface="Aptos" pitchFamily="34" charset="-120"/>
              </a:rPr>
              <a:t>MODBUS TCP</a:t>
            </a:r>
            <a:endParaRPr lang="en-US" sz="1000" dirty="0"/>
          </a:p>
        </p:txBody>
      </p:sp>
      <p:sp>
        <p:nvSpPr>
          <p:cNvPr id="40" name="Shape 38"/>
          <p:cNvSpPr/>
          <p:nvPr/>
        </p:nvSpPr>
        <p:spPr>
          <a:xfrm>
            <a:off x="9811512" y="3474720"/>
            <a:ext cx="91440" cy="91440"/>
          </a:xfrm>
          <a:prstGeom prst="ellipse">
            <a:avLst/>
          </a:prstGeom>
          <a:solidFill>
            <a:srgbClr val="3F7394"/>
          </a:solidFill>
          <a:ln w="12700">
            <a:solidFill>
              <a:srgbClr val="3F7394">
                <a:alpha val="0"/>
              </a:srgbClr>
            </a:solidFill>
            <a:prstDash val="solid"/>
          </a:ln>
        </p:spPr>
      </p:sp>
      <p:sp>
        <p:nvSpPr>
          <p:cNvPr id="41" name="Text 39"/>
          <p:cNvSpPr/>
          <p:nvPr/>
        </p:nvSpPr>
        <p:spPr>
          <a:xfrm>
            <a:off x="9994392" y="3401568"/>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TCP/IP transport</a:t>
            </a:r>
            <a:endParaRPr lang="en-US" sz="870" dirty="0"/>
          </a:p>
        </p:txBody>
      </p:sp>
      <p:sp>
        <p:nvSpPr>
          <p:cNvPr id="42" name="Shape 40"/>
          <p:cNvSpPr/>
          <p:nvPr/>
        </p:nvSpPr>
        <p:spPr>
          <a:xfrm>
            <a:off x="9811512" y="3959352"/>
            <a:ext cx="91440" cy="91440"/>
          </a:xfrm>
          <a:prstGeom prst="ellipse">
            <a:avLst/>
          </a:prstGeom>
          <a:solidFill>
            <a:srgbClr val="3F7394"/>
          </a:solidFill>
          <a:ln w="12700">
            <a:solidFill>
              <a:srgbClr val="3F7394">
                <a:alpha val="0"/>
              </a:srgbClr>
            </a:solidFill>
            <a:prstDash val="solid"/>
          </a:ln>
        </p:spPr>
      </p:sp>
      <p:sp>
        <p:nvSpPr>
          <p:cNvPr id="43" name="Text 41"/>
          <p:cNvSpPr/>
          <p:nvPr/>
        </p:nvSpPr>
        <p:spPr>
          <a:xfrm>
            <a:off x="9994392" y="3886200"/>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IP endpoint</a:t>
            </a:r>
            <a:endParaRPr lang="en-US" sz="870" dirty="0"/>
          </a:p>
        </p:txBody>
      </p:sp>
      <p:sp>
        <p:nvSpPr>
          <p:cNvPr id="44" name="Shape 42"/>
          <p:cNvSpPr/>
          <p:nvPr/>
        </p:nvSpPr>
        <p:spPr>
          <a:xfrm>
            <a:off x="9811512" y="4443984"/>
            <a:ext cx="91440" cy="91440"/>
          </a:xfrm>
          <a:prstGeom prst="ellipse">
            <a:avLst/>
          </a:prstGeom>
          <a:solidFill>
            <a:srgbClr val="3F7394"/>
          </a:solidFill>
          <a:ln w="12700">
            <a:solidFill>
              <a:srgbClr val="3F7394">
                <a:alpha val="0"/>
              </a:srgbClr>
            </a:solidFill>
            <a:prstDash val="solid"/>
          </a:ln>
        </p:spPr>
      </p:sp>
      <p:sp>
        <p:nvSpPr>
          <p:cNvPr id="45" name="Text 43"/>
          <p:cNvSpPr/>
          <p:nvPr/>
        </p:nvSpPr>
        <p:spPr>
          <a:xfrm>
            <a:off x="9994392" y="4370832"/>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Commonly over Ethernet</a:t>
            </a:r>
            <a:endParaRPr lang="en-US" sz="870" dirty="0"/>
          </a:p>
        </p:txBody>
      </p:sp>
      <p:sp>
        <p:nvSpPr>
          <p:cNvPr id="46" name="Text 44"/>
          <p:cNvSpPr/>
          <p:nvPr/>
        </p:nvSpPr>
        <p:spPr>
          <a:xfrm>
            <a:off x="8010144" y="5422392"/>
            <a:ext cx="3246120" cy="576072"/>
          </a:xfrm>
          <a:prstGeom prst="rect">
            <a:avLst/>
          </a:prstGeom>
          <a:noFill/>
          <a:ln/>
        </p:spPr>
        <p:txBody>
          <a:bodyPr wrap="square" lIns="0" tIns="0" rIns="0" bIns="0" rtlCol="0" anchor="ctr">
            <a:normAutofit/>
          </a:bodyPr>
          <a:lstStyle/>
          <a:p>
            <a:pPr algn="ctr" indent="0" marL="0">
              <a:buNone/>
            </a:pPr>
            <a:r>
              <a:rPr lang="en-US" sz="950" dirty="0">
                <a:solidFill>
                  <a:srgbClr val="1B3448"/>
                </a:solidFill>
                <a:latin typeface="Aptos" pitchFamily="34" charset="0"/>
                <a:ea typeface="Aptos" pitchFamily="34" charset="-122"/>
                <a:cs typeface="Aptos" pitchFamily="34" charset="-120"/>
              </a:rPr>
              <a:t>Same familiar data concepts; transport and addressing differ</a:t>
            </a:r>
            <a:endParaRPr lang="en-US" sz="950" dirty="0"/>
          </a:p>
        </p:txBody>
      </p:sp>
      <p:sp>
        <p:nvSpPr>
          <p:cNvPr id="47" name="Shape 45"/>
          <p:cNvSpPr/>
          <p:nvPr/>
        </p:nvSpPr>
        <p:spPr>
          <a:xfrm>
            <a:off x="603504" y="6318504"/>
            <a:ext cx="10972800" cy="0"/>
          </a:xfrm>
          <a:prstGeom prst="line">
            <a:avLst/>
          </a:prstGeom>
          <a:noFill/>
          <a:ln w="10160">
            <a:solidFill>
              <a:srgbClr val="D5E0E7"/>
            </a:solidFill>
            <a:prstDash val="solid"/>
          </a:ln>
        </p:spPr>
      </p:sp>
      <p:sp>
        <p:nvSpPr>
          <p:cNvPr id="48" name="Text 46"/>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9" name="Text 47"/>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PROFINET and EtherNet/IP</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PROFINET and EtherNet/IP are distinct industrial communication systems that use Ethernet infrastructure but have different device descriptions, configuration workflows, services, and interoperability requirements.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At a high level, both support time-sensitive cyclic data exchange and additional configuration/diagnostic or explicit services, but the exact mechanisms and timing depend on protocol variant, device, controller, and network design.</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a MedPack PLC/HMI/device combination, verify the CPU/module role, firmware/options, supported device profile, configuration file, data size, diagnostic coverage, and vendor compatibility in current manuals.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Neither name is a generic synonym for Ethernet; ordinary Ethernet connectivity alone does not prove the PLC can exchange the required process data.</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PROTOCOL COMPARISON</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18704" y="2697480"/>
            <a:ext cx="1627632" cy="2395728"/>
          </a:xfrm>
          <a:prstGeom prst="rect">
            <a:avLst/>
          </a:prstGeom>
          <a:solidFill>
            <a:srgbClr val="EAF3F4"/>
          </a:solidFill>
          <a:ln w="15240">
            <a:solidFill>
              <a:srgbClr val="3F7394"/>
            </a:solidFill>
            <a:prstDash val="solid"/>
          </a:ln>
        </p:spPr>
      </p:sp>
      <p:sp>
        <p:nvSpPr>
          <p:cNvPr id="31" name="Text 29"/>
          <p:cNvSpPr/>
          <p:nvPr/>
        </p:nvSpPr>
        <p:spPr>
          <a:xfrm>
            <a:off x="7991856" y="2834640"/>
            <a:ext cx="1481328" cy="365760"/>
          </a:xfrm>
          <a:prstGeom prst="rect">
            <a:avLst/>
          </a:prstGeom>
          <a:noFill/>
          <a:ln/>
        </p:spPr>
        <p:txBody>
          <a:bodyPr wrap="square" lIns="0" tIns="0" rIns="0" bIns="0" rtlCol="0" anchor="ctr">
            <a:normAutofit/>
          </a:bodyPr>
          <a:lstStyle/>
          <a:p>
            <a:pPr algn="ctr" indent="0" marL="0">
              <a:buNone/>
            </a:pPr>
            <a:r>
              <a:rPr lang="en-US" sz="1000" b="1" dirty="0">
                <a:solidFill>
                  <a:srgbClr val="3F7394"/>
                </a:solidFill>
                <a:latin typeface="Aptos" pitchFamily="34" charset="0"/>
                <a:ea typeface="Aptos" pitchFamily="34" charset="-122"/>
                <a:cs typeface="Aptos" pitchFamily="34" charset="-120"/>
              </a:rPr>
              <a:t>PROFINET</a:t>
            </a:r>
            <a:endParaRPr lang="en-US" sz="1000" dirty="0"/>
          </a:p>
        </p:txBody>
      </p:sp>
      <p:sp>
        <p:nvSpPr>
          <p:cNvPr id="32" name="Shape 30"/>
          <p:cNvSpPr/>
          <p:nvPr/>
        </p:nvSpPr>
        <p:spPr>
          <a:xfrm>
            <a:off x="8065008" y="3474720"/>
            <a:ext cx="91440" cy="91440"/>
          </a:xfrm>
          <a:prstGeom prst="ellipse">
            <a:avLst/>
          </a:prstGeom>
          <a:solidFill>
            <a:srgbClr val="3F7394"/>
          </a:solidFill>
          <a:ln w="12700">
            <a:solidFill>
              <a:srgbClr val="3F7394">
                <a:alpha val="0"/>
              </a:srgbClr>
            </a:solidFill>
            <a:prstDash val="solid"/>
          </a:ln>
        </p:spPr>
      </p:sp>
      <p:sp>
        <p:nvSpPr>
          <p:cNvPr id="33" name="Text 31"/>
          <p:cNvSpPr/>
          <p:nvPr/>
        </p:nvSpPr>
        <p:spPr>
          <a:xfrm>
            <a:off x="8247888" y="3401568"/>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Industrial Ethernet family</a:t>
            </a:r>
            <a:endParaRPr lang="en-US" sz="870" dirty="0"/>
          </a:p>
        </p:txBody>
      </p:sp>
      <p:sp>
        <p:nvSpPr>
          <p:cNvPr id="34" name="Shape 32"/>
          <p:cNvSpPr/>
          <p:nvPr/>
        </p:nvSpPr>
        <p:spPr>
          <a:xfrm>
            <a:off x="8065008" y="3959352"/>
            <a:ext cx="91440" cy="91440"/>
          </a:xfrm>
          <a:prstGeom prst="ellipse">
            <a:avLst/>
          </a:prstGeom>
          <a:solidFill>
            <a:srgbClr val="3F7394"/>
          </a:solidFill>
          <a:ln w="12700">
            <a:solidFill>
              <a:srgbClr val="3F7394">
                <a:alpha val="0"/>
              </a:srgbClr>
            </a:solidFill>
            <a:prstDash val="solid"/>
          </a:ln>
        </p:spPr>
      </p:sp>
      <p:sp>
        <p:nvSpPr>
          <p:cNvPr id="35" name="Text 33"/>
          <p:cNvSpPr/>
          <p:nvPr/>
        </p:nvSpPr>
        <p:spPr>
          <a:xfrm>
            <a:off x="8247888" y="3886200"/>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Device/configuration model</a:t>
            </a:r>
            <a:endParaRPr lang="en-US" sz="870" dirty="0"/>
          </a:p>
        </p:txBody>
      </p:sp>
      <p:sp>
        <p:nvSpPr>
          <p:cNvPr id="36" name="Shape 34"/>
          <p:cNvSpPr/>
          <p:nvPr/>
        </p:nvSpPr>
        <p:spPr>
          <a:xfrm>
            <a:off x="8065008" y="4443984"/>
            <a:ext cx="91440" cy="91440"/>
          </a:xfrm>
          <a:prstGeom prst="ellipse">
            <a:avLst/>
          </a:prstGeom>
          <a:solidFill>
            <a:srgbClr val="3F7394"/>
          </a:solidFill>
          <a:ln w="12700">
            <a:solidFill>
              <a:srgbClr val="3F7394">
                <a:alpha val="0"/>
              </a:srgbClr>
            </a:solidFill>
            <a:prstDash val="solid"/>
          </a:ln>
        </p:spPr>
      </p:sp>
      <p:sp>
        <p:nvSpPr>
          <p:cNvPr id="37" name="Text 35"/>
          <p:cNvSpPr/>
          <p:nvPr/>
        </p:nvSpPr>
        <p:spPr>
          <a:xfrm>
            <a:off x="8247888" y="4370832"/>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Verify controller role</a:t>
            </a:r>
            <a:endParaRPr lang="en-US" sz="870" dirty="0"/>
          </a:p>
        </p:txBody>
      </p:sp>
      <p:sp>
        <p:nvSpPr>
          <p:cNvPr id="38" name="Shape 36"/>
          <p:cNvSpPr/>
          <p:nvPr/>
        </p:nvSpPr>
        <p:spPr>
          <a:xfrm>
            <a:off x="9665208" y="2697480"/>
            <a:ext cx="1627632" cy="2395728"/>
          </a:xfrm>
          <a:prstGeom prst="rect">
            <a:avLst/>
          </a:prstGeom>
          <a:solidFill>
            <a:srgbClr val="F2F6F8"/>
          </a:solidFill>
          <a:ln w="15240">
            <a:solidFill>
              <a:srgbClr val="3F7394"/>
            </a:solidFill>
            <a:prstDash val="solid"/>
          </a:ln>
        </p:spPr>
      </p:sp>
      <p:sp>
        <p:nvSpPr>
          <p:cNvPr id="39" name="Text 37"/>
          <p:cNvSpPr/>
          <p:nvPr/>
        </p:nvSpPr>
        <p:spPr>
          <a:xfrm>
            <a:off x="9738360" y="2834640"/>
            <a:ext cx="1481328" cy="365760"/>
          </a:xfrm>
          <a:prstGeom prst="rect">
            <a:avLst/>
          </a:prstGeom>
          <a:noFill/>
          <a:ln/>
        </p:spPr>
        <p:txBody>
          <a:bodyPr wrap="square" lIns="0" tIns="0" rIns="0" bIns="0" rtlCol="0" anchor="ctr">
            <a:normAutofit/>
          </a:bodyPr>
          <a:lstStyle/>
          <a:p>
            <a:pPr algn="ctr" indent="0" marL="0">
              <a:buNone/>
            </a:pPr>
            <a:r>
              <a:rPr lang="en-US" sz="1000" b="1" dirty="0">
                <a:solidFill>
                  <a:srgbClr val="3F7394"/>
                </a:solidFill>
                <a:latin typeface="Aptos" pitchFamily="34" charset="0"/>
                <a:ea typeface="Aptos" pitchFamily="34" charset="-122"/>
                <a:cs typeface="Aptos" pitchFamily="34" charset="-120"/>
              </a:rPr>
              <a:t>EtherNet/IP</a:t>
            </a:r>
            <a:endParaRPr lang="en-US" sz="1000" dirty="0"/>
          </a:p>
        </p:txBody>
      </p:sp>
      <p:sp>
        <p:nvSpPr>
          <p:cNvPr id="40" name="Shape 38"/>
          <p:cNvSpPr/>
          <p:nvPr/>
        </p:nvSpPr>
        <p:spPr>
          <a:xfrm>
            <a:off x="9811512" y="3474720"/>
            <a:ext cx="91440" cy="91440"/>
          </a:xfrm>
          <a:prstGeom prst="ellipse">
            <a:avLst/>
          </a:prstGeom>
          <a:solidFill>
            <a:srgbClr val="3F7394"/>
          </a:solidFill>
          <a:ln w="12700">
            <a:solidFill>
              <a:srgbClr val="3F7394">
                <a:alpha val="0"/>
              </a:srgbClr>
            </a:solidFill>
            <a:prstDash val="solid"/>
          </a:ln>
        </p:spPr>
      </p:sp>
      <p:sp>
        <p:nvSpPr>
          <p:cNvPr id="41" name="Text 39"/>
          <p:cNvSpPr/>
          <p:nvPr/>
        </p:nvSpPr>
        <p:spPr>
          <a:xfrm>
            <a:off x="9994392" y="3401568"/>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Industrial Ethernet family</a:t>
            </a:r>
            <a:endParaRPr lang="en-US" sz="870" dirty="0"/>
          </a:p>
        </p:txBody>
      </p:sp>
      <p:sp>
        <p:nvSpPr>
          <p:cNvPr id="42" name="Shape 40"/>
          <p:cNvSpPr/>
          <p:nvPr/>
        </p:nvSpPr>
        <p:spPr>
          <a:xfrm>
            <a:off x="9811512" y="3959352"/>
            <a:ext cx="91440" cy="91440"/>
          </a:xfrm>
          <a:prstGeom prst="ellipse">
            <a:avLst/>
          </a:prstGeom>
          <a:solidFill>
            <a:srgbClr val="3F7394"/>
          </a:solidFill>
          <a:ln w="12700">
            <a:solidFill>
              <a:srgbClr val="3F7394">
                <a:alpha val="0"/>
              </a:srgbClr>
            </a:solidFill>
            <a:prstDash val="solid"/>
          </a:ln>
        </p:spPr>
      </p:sp>
      <p:sp>
        <p:nvSpPr>
          <p:cNvPr id="43" name="Text 41"/>
          <p:cNvSpPr/>
          <p:nvPr/>
        </p:nvSpPr>
        <p:spPr>
          <a:xfrm>
            <a:off x="9994392" y="3886200"/>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Distinct configuration model</a:t>
            </a:r>
            <a:endParaRPr lang="en-US" sz="870" dirty="0"/>
          </a:p>
        </p:txBody>
      </p:sp>
      <p:sp>
        <p:nvSpPr>
          <p:cNvPr id="44" name="Shape 42"/>
          <p:cNvSpPr/>
          <p:nvPr/>
        </p:nvSpPr>
        <p:spPr>
          <a:xfrm>
            <a:off x="9811512" y="4443984"/>
            <a:ext cx="91440" cy="91440"/>
          </a:xfrm>
          <a:prstGeom prst="ellipse">
            <a:avLst/>
          </a:prstGeom>
          <a:solidFill>
            <a:srgbClr val="3F7394"/>
          </a:solidFill>
          <a:ln w="12700">
            <a:solidFill>
              <a:srgbClr val="3F7394">
                <a:alpha val="0"/>
              </a:srgbClr>
            </a:solidFill>
            <a:prstDash val="solid"/>
          </a:ln>
        </p:spPr>
      </p:sp>
      <p:sp>
        <p:nvSpPr>
          <p:cNvPr id="45" name="Text 43"/>
          <p:cNvSpPr/>
          <p:nvPr/>
        </p:nvSpPr>
        <p:spPr>
          <a:xfrm>
            <a:off x="9994392" y="4370832"/>
            <a:ext cx="1170432" cy="338328"/>
          </a:xfrm>
          <a:prstGeom prst="rect">
            <a:avLst/>
          </a:prstGeom>
          <a:noFill/>
          <a:ln/>
        </p:spPr>
        <p:txBody>
          <a:bodyPr wrap="square" lIns="0" tIns="0" rIns="0" bIns="0" rtlCol="0" anchor="ctr">
            <a:normAutofit/>
          </a:bodyPr>
          <a:lstStyle/>
          <a:p>
            <a:pPr indent="0" marL="0">
              <a:buNone/>
            </a:pPr>
            <a:r>
              <a:rPr lang="en-US" sz="870" dirty="0">
                <a:solidFill>
                  <a:srgbClr val="334B5C"/>
                </a:solidFill>
                <a:latin typeface="Aptos" pitchFamily="34" charset="0"/>
                <a:ea typeface="Aptos" pitchFamily="34" charset="-122"/>
                <a:cs typeface="Aptos" pitchFamily="34" charset="-120"/>
              </a:rPr>
              <a:t>Verify scanner/adapter role</a:t>
            </a:r>
            <a:endParaRPr lang="en-US" sz="870" dirty="0"/>
          </a:p>
        </p:txBody>
      </p:sp>
      <p:sp>
        <p:nvSpPr>
          <p:cNvPr id="46" name="Text 44"/>
          <p:cNvSpPr/>
          <p:nvPr/>
        </p:nvSpPr>
        <p:spPr>
          <a:xfrm>
            <a:off x="8010144" y="5422392"/>
            <a:ext cx="3246120" cy="576072"/>
          </a:xfrm>
          <a:prstGeom prst="rect">
            <a:avLst/>
          </a:prstGeom>
          <a:noFill/>
          <a:ln/>
        </p:spPr>
        <p:txBody>
          <a:bodyPr wrap="square" lIns="0" tIns="0" rIns="0" bIns="0" rtlCol="0" anchor="ctr">
            <a:normAutofit/>
          </a:bodyPr>
          <a:lstStyle/>
          <a:p>
            <a:pPr algn="ctr" indent="0" marL="0">
              <a:buNone/>
            </a:pPr>
            <a:r>
              <a:rPr lang="en-US" sz="950" dirty="0">
                <a:solidFill>
                  <a:srgbClr val="1B3448"/>
                </a:solidFill>
                <a:latin typeface="Aptos" pitchFamily="34" charset="0"/>
                <a:ea typeface="Aptos" pitchFamily="34" charset="-122"/>
                <a:cs typeface="Aptos" pitchFamily="34" charset="-120"/>
              </a:rPr>
              <a:t>Ethernet cabling does not make the protocol families interchangeable</a:t>
            </a:r>
            <a:endParaRPr lang="en-US" sz="950" dirty="0"/>
          </a:p>
        </p:txBody>
      </p:sp>
      <p:sp>
        <p:nvSpPr>
          <p:cNvPr id="47" name="Shape 45"/>
          <p:cNvSpPr/>
          <p:nvPr/>
        </p:nvSpPr>
        <p:spPr>
          <a:xfrm>
            <a:off x="603504" y="6318504"/>
            <a:ext cx="10972800" cy="0"/>
          </a:xfrm>
          <a:prstGeom prst="line">
            <a:avLst/>
          </a:prstGeom>
          <a:noFill/>
          <a:ln w="10160">
            <a:solidFill>
              <a:srgbClr val="D5E0E7"/>
            </a:solidFill>
            <a:prstDash val="solid"/>
          </a:ln>
        </p:spPr>
      </p:sp>
      <p:sp>
        <p:nvSpPr>
          <p:cNvPr id="48" name="Text 46"/>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9" name="Text 47"/>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Other PLC-relevant technologies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PROFIBUS is a fieldbus family used for controller/device communication; IO-Link is a point-to-point sensor/actuator interface through an IO-Link master; OPC UA provides structured information exchange between compatible applications/devices.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MedPack examples: a supported PROFIBUS remote-I/O segment, an IO-Link smart sensor connected to a compatible master, or OPC UA data exposure to a supervisory client are different integration points, not interchangeable cable choices.</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each candidate, identify the master/controller/client role, device support, required gateway or module, configuration tools, data model, and security/update constraints.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response: choose the technology that matches the integration need, then verify the actual PLC module and device protocol maps before promising connectivity.</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TECHNOLOGY ROLES</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09560" y="2999232"/>
            <a:ext cx="1069848" cy="1572768"/>
          </a:xfrm>
          <a:prstGeom prst="rect">
            <a:avLst/>
          </a:prstGeom>
          <a:solidFill>
            <a:srgbClr val="F6F8FA"/>
          </a:solidFill>
          <a:ln w="11430">
            <a:solidFill>
              <a:srgbClr val="D5E0E7"/>
            </a:solidFill>
            <a:prstDash val="solid"/>
          </a:ln>
        </p:spPr>
      </p:sp>
      <p:sp>
        <p:nvSpPr>
          <p:cNvPr id="31" name="Text 29"/>
          <p:cNvSpPr/>
          <p:nvPr/>
        </p:nvSpPr>
        <p:spPr>
          <a:xfrm>
            <a:off x="7964424" y="3182112"/>
            <a:ext cx="960120" cy="256032"/>
          </a:xfrm>
          <a:prstGeom prst="rect">
            <a:avLst/>
          </a:prstGeom>
          <a:noFill/>
          <a:ln/>
        </p:spPr>
        <p:txBody>
          <a:bodyPr wrap="square" lIns="0" tIns="0" rIns="0" bIns="0" rtlCol="0" anchor="ctr"/>
          <a:lstStyle/>
          <a:p>
            <a:pPr algn="ctr" indent="0" marL="0">
              <a:buNone/>
            </a:pPr>
            <a:r>
              <a:rPr lang="en-US" sz="880" b="1" dirty="0">
                <a:solidFill>
                  <a:srgbClr val="3F7394"/>
                </a:solidFill>
                <a:latin typeface="Aptos" pitchFamily="34" charset="0"/>
                <a:ea typeface="Aptos" pitchFamily="34" charset="-122"/>
                <a:cs typeface="Aptos" pitchFamily="34" charset="-120"/>
              </a:rPr>
              <a:t>PROFIBUS</a:t>
            </a:r>
            <a:endParaRPr lang="en-US" sz="880" dirty="0"/>
          </a:p>
        </p:txBody>
      </p:sp>
      <p:sp>
        <p:nvSpPr>
          <p:cNvPr id="32" name="Text 30"/>
          <p:cNvSpPr/>
          <p:nvPr/>
        </p:nvSpPr>
        <p:spPr>
          <a:xfrm>
            <a:off x="7982712" y="3593592"/>
            <a:ext cx="923544" cy="685800"/>
          </a:xfrm>
          <a:prstGeom prst="rect">
            <a:avLst/>
          </a:prstGeom>
          <a:noFill/>
          <a:ln/>
        </p:spPr>
        <p:txBody>
          <a:bodyPr wrap="square" lIns="0" tIns="0" rIns="0" bIns="0" rtlCol="0" anchor="ctr">
            <a:normAutofit/>
          </a:bodyPr>
          <a:lstStyle/>
          <a:p>
            <a:pPr algn="ctr" indent="0" marL="0">
              <a:buNone/>
            </a:pPr>
            <a:r>
              <a:rPr lang="en-US" sz="920" dirty="0">
                <a:solidFill>
                  <a:srgbClr val="1B3448"/>
                </a:solidFill>
                <a:latin typeface="Aptos" pitchFamily="34" charset="0"/>
                <a:ea typeface="Aptos" pitchFamily="34" charset="-122"/>
                <a:cs typeface="Aptos" pitchFamily="34" charset="-120"/>
              </a:rPr>
              <a:t>Fieldbus</a:t>
            </a:r>
            <a:endParaRPr lang="en-US" sz="920" dirty="0"/>
          </a:p>
          <a:p>
            <a:pPr algn="ctr" indent="0" marL="0">
              <a:buNone/>
            </a:pPr>
            <a:r>
              <a:rPr lang="en-US" sz="920" dirty="0">
                <a:solidFill>
                  <a:srgbClr val="1B3448"/>
                </a:solidFill>
                <a:latin typeface="Aptos" pitchFamily="34" charset="0"/>
                <a:ea typeface="Aptos" pitchFamily="34" charset="-122"/>
                <a:cs typeface="Aptos" pitchFamily="34" charset="-120"/>
              </a:rPr>
              <a:t>controller / device</a:t>
            </a:r>
            <a:endParaRPr lang="en-US" sz="920" dirty="0"/>
          </a:p>
        </p:txBody>
      </p:sp>
      <p:sp>
        <p:nvSpPr>
          <p:cNvPr id="33" name="Shape 31"/>
          <p:cNvSpPr/>
          <p:nvPr/>
        </p:nvSpPr>
        <p:spPr>
          <a:xfrm>
            <a:off x="9070848" y="2999232"/>
            <a:ext cx="1069848" cy="1572768"/>
          </a:xfrm>
          <a:prstGeom prst="rect">
            <a:avLst/>
          </a:prstGeom>
          <a:solidFill>
            <a:srgbClr val="EAF3F4"/>
          </a:solidFill>
          <a:ln w="11430">
            <a:solidFill>
              <a:srgbClr val="D5E0E7"/>
            </a:solidFill>
            <a:prstDash val="solid"/>
          </a:ln>
        </p:spPr>
      </p:sp>
      <p:sp>
        <p:nvSpPr>
          <p:cNvPr id="34" name="Text 32"/>
          <p:cNvSpPr/>
          <p:nvPr/>
        </p:nvSpPr>
        <p:spPr>
          <a:xfrm>
            <a:off x="9125712" y="3182112"/>
            <a:ext cx="960120" cy="256032"/>
          </a:xfrm>
          <a:prstGeom prst="rect">
            <a:avLst/>
          </a:prstGeom>
          <a:noFill/>
          <a:ln/>
        </p:spPr>
        <p:txBody>
          <a:bodyPr wrap="square" lIns="0" tIns="0" rIns="0" bIns="0" rtlCol="0" anchor="ctr"/>
          <a:lstStyle/>
          <a:p>
            <a:pPr algn="ctr" indent="0" marL="0">
              <a:buNone/>
            </a:pPr>
            <a:r>
              <a:rPr lang="en-US" sz="880" b="1" dirty="0">
                <a:solidFill>
                  <a:srgbClr val="3F7394"/>
                </a:solidFill>
                <a:latin typeface="Aptos" pitchFamily="34" charset="0"/>
                <a:ea typeface="Aptos" pitchFamily="34" charset="-122"/>
                <a:cs typeface="Aptos" pitchFamily="34" charset="-120"/>
              </a:rPr>
              <a:t>IO-LINK</a:t>
            </a:r>
            <a:endParaRPr lang="en-US" sz="880" dirty="0"/>
          </a:p>
        </p:txBody>
      </p:sp>
      <p:sp>
        <p:nvSpPr>
          <p:cNvPr id="35" name="Text 33"/>
          <p:cNvSpPr/>
          <p:nvPr/>
        </p:nvSpPr>
        <p:spPr>
          <a:xfrm>
            <a:off x="9144000" y="3593592"/>
            <a:ext cx="923544" cy="685800"/>
          </a:xfrm>
          <a:prstGeom prst="rect">
            <a:avLst/>
          </a:prstGeom>
          <a:noFill/>
          <a:ln/>
        </p:spPr>
        <p:txBody>
          <a:bodyPr wrap="square" lIns="0" tIns="0" rIns="0" bIns="0" rtlCol="0" anchor="ctr">
            <a:normAutofit/>
          </a:bodyPr>
          <a:lstStyle/>
          <a:p>
            <a:pPr algn="ctr" indent="0" marL="0">
              <a:buNone/>
            </a:pPr>
            <a:r>
              <a:rPr lang="en-US" sz="920" dirty="0">
                <a:solidFill>
                  <a:srgbClr val="1B3448"/>
                </a:solidFill>
                <a:latin typeface="Aptos" pitchFamily="34" charset="0"/>
                <a:ea typeface="Aptos" pitchFamily="34" charset="-122"/>
                <a:cs typeface="Aptos" pitchFamily="34" charset="-120"/>
              </a:rPr>
              <a:t>Sensor / actuator</a:t>
            </a:r>
            <a:endParaRPr lang="en-US" sz="920" dirty="0"/>
          </a:p>
          <a:p>
            <a:pPr algn="ctr" indent="0" marL="0">
              <a:buNone/>
            </a:pPr>
            <a:r>
              <a:rPr lang="en-US" sz="920" dirty="0">
                <a:solidFill>
                  <a:srgbClr val="1B3448"/>
                </a:solidFill>
                <a:latin typeface="Aptos" pitchFamily="34" charset="0"/>
                <a:ea typeface="Aptos" pitchFamily="34" charset="-122"/>
                <a:cs typeface="Aptos" pitchFamily="34" charset="-120"/>
              </a:rPr>
              <a:t>via a master</a:t>
            </a:r>
            <a:endParaRPr lang="en-US" sz="920" dirty="0"/>
          </a:p>
        </p:txBody>
      </p:sp>
      <p:sp>
        <p:nvSpPr>
          <p:cNvPr id="36" name="Shape 34"/>
          <p:cNvSpPr/>
          <p:nvPr/>
        </p:nvSpPr>
        <p:spPr>
          <a:xfrm>
            <a:off x="10232136" y="2999232"/>
            <a:ext cx="1069848" cy="1572768"/>
          </a:xfrm>
          <a:prstGeom prst="rect">
            <a:avLst/>
          </a:prstGeom>
          <a:solidFill>
            <a:srgbClr val="F6F8FA"/>
          </a:solidFill>
          <a:ln w="11430">
            <a:solidFill>
              <a:srgbClr val="D5E0E7"/>
            </a:solidFill>
            <a:prstDash val="solid"/>
          </a:ln>
        </p:spPr>
      </p:sp>
      <p:sp>
        <p:nvSpPr>
          <p:cNvPr id="37" name="Text 35"/>
          <p:cNvSpPr/>
          <p:nvPr/>
        </p:nvSpPr>
        <p:spPr>
          <a:xfrm>
            <a:off x="10287000" y="3182112"/>
            <a:ext cx="960120" cy="256032"/>
          </a:xfrm>
          <a:prstGeom prst="rect">
            <a:avLst/>
          </a:prstGeom>
          <a:noFill/>
          <a:ln/>
        </p:spPr>
        <p:txBody>
          <a:bodyPr wrap="square" lIns="0" tIns="0" rIns="0" bIns="0" rtlCol="0" anchor="ctr"/>
          <a:lstStyle/>
          <a:p>
            <a:pPr algn="ctr" indent="0" marL="0">
              <a:buNone/>
            </a:pPr>
            <a:r>
              <a:rPr lang="en-US" sz="880" b="1" dirty="0">
                <a:solidFill>
                  <a:srgbClr val="3F7394"/>
                </a:solidFill>
                <a:latin typeface="Aptos" pitchFamily="34" charset="0"/>
                <a:ea typeface="Aptos" pitchFamily="34" charset="-122"/>
                <a:cs typeface="Aptos" pitchFamily="34" charset="-120"/>
              </a:rPr>
              <a:t>OPC UA</a:t>
            </a:r>
            <a:endParaRPr lang="en-US" sz="880" dirty="0"/>
          </a:p>
        </p:txBody>
      </p:sp>
      <p:sp>
        <p:nvSpPr>
          <p:cNvPr id="38" name="Text 36"/>
          <p:cNvSpPr/>
          <p:nvPr/>
        </p:nvSpPr>
        <p:spPr>
          <a:xfrm>
            <a:off x="10305288" y="3593592"/>
            <a:ext cx="923544" cy="685800"/>
          </a:xfrm>
          <a:prstGeom prst="rect">
            <a:avLst/>
          </a:prstGeom>
          <a:noFill/>
          <a:ln/>
        </p:spPr>
        <p:txBody>
          <a:bodyPr wrap="square" lIns="0" tIns="0" rIns="0" bIns="0" rtlCol="0" anchor="ctr">
            <a:normAutofit/>
          </a:bodyPr>
          <a:lstStyle/>
          <a:p>
            <a:pPr algn="ctr" indent="0" marL="0">
              <a:buNone/>
            </a:pPr>
            <a:r>
              <a:rPr lang="en-US" sz="920" dirty="0">
                <a:solidFill>
                  <a:srgbClr val="1B3448"/>
                </a:solidFill>
                <a:latin typeface="Aptos" pitchFamily="34" charset="0"/>
                <a:ea typeface="Aptos" pitchFamily="34" charset="-122"/>
                <a:cs typeface="Aptos" pitchFamily="34" charset="-120"/>
              </a:rPr>
              <a:t>Structured</a:t>
            </a:r>
            <a:endParaRPr lang="en-US" sz="920" dirty="0"/>
          </a:p>
          <a:p>
            <a:pPr algn="ctr" indent="0" marL="0">
              <a:buNone/>
            </a:pPr>
            <a:r>
              <a:rPr lang="en-US" sz="920" dirty="0">
                <a:solidFill>
                  <a:srgbClr val="1B3448"/>
                </a:solidFill>
                <a:latin typeface="Aptos" pitchFamily="34" charset="0"/>
                <a:ea typeface="Aptos" pitchFamily="34" charset="-122"/>
                <a:cs typeface="Aptos" pitchFamily="34" charset="-120"/>
              </a:rPr>
              <a:t>information exchange</a:t>
            </a:r>
            <a:endParaRPr lang="en-US" sz="920" dirty="0"/>
          </a:p>
        </p:txBody>
      </p:sp>
      <p:sp>
        <p:nvSpPr>
          <p:cNvPr id="39" name="Text 37"/>
          <p:cNvSpPr/>
          <p:nvPr/>
        </p:nvSpPr>
        <p:spPr>
          <a:xfrm>
            <a:off x="7982712" y="5047488"/>
            <a:ext cx="3291840" cy="530352"/>
          </a:xfrm>
          <a:prstGeom prst="rect">
            <a:avLst/>
          </a:prstGeom>
          <a:noFill/>
          <a:ln/>
        </p:spPr>
        <p:txBody>
          <a:bodyPr wrap="square" lIns="0" tIns="0" rIns="0" bIns="0" rtlCol="0" anchor="ctr">
            <a:normAutofit/>
          </a:bodyPr>
          <a:lstStyle/>
          <a:p>
            <a:pPr algn="ctr" indent="0" marL="0">
              <a:buNone/>
            </a:pPr>
            <a:r>
              <a:rPr lang="en-US" sz="970" dirty="0">
                <a:solidFill>
                  <a:srgbClr val="607585"/>
                </a:solidFill>
                <a:latin typeface="Aptos" pitchFamily="34" charset="0"/>
                <a:ea typeface="Aptos" pitchFamily="34" charset="-122"/>
                <a:cs typeface="Aptos" pitchFamily="34" charset="-120"/>
              </a:rPr>
              <a:t>Different roles: verify device support, module and data model</a:t>
            </a:r>
            <a:endParaRPr lang="en-US" sz="970" dirty="0"/>
          </a:p>
        </p:txBody>
      </p:sp>
      <p:sp>
        <p:nvSpPr>
          <p:cNvPr id="40" name="Shape 38"/>
          <p:cNvSpPr/>
          <p:nvPr/>
        </p:nvSpPr>
        <p:spPr>
          <a:xfrm>
            <a:off x="603504" y="6318504"/>
            <a:ext cx="10972800" cy="0"/>
          </a:xfrm>
          <a:prstGeom prst="line">
            <a:avLst/>
          </a:prstGeom>
          <a:noFill/>
          <a:ln w="10160">
            <a:solidFill>
              <a:srgbClr val="D5E0E7"/>
            </a:solidFill>
            <a:prstDash val="solid"/>
          </a:ln>
        </p:spPr>
      </p:sp>
      <p:sp>
        <p:nvSpPr>
          <p:cNvPr id="41" name="Text 3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2" name="Text 4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Data mapping, quality, and permissions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Trace one MedPack value end-to-end: PLC tag -&gt; verified protocol address or symbol -&gt; data type/encoding -&gt; HMI display, documenting units and any scaling.</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Use PillCount as an integer read value and StartRequest as a bounded command request; define range, ownership, read/write permission, update expectation, and stale/quality indication for each.</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Check byte/word order for multi-register values, signedness, address offsets, and data update rate using both endpoint documentation and a known-value test.</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EStopStatusReadOnly may be displayed as status feedback only; HMI data mapping is not a substitute for the independent safety function.</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3F7394"/>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3F7394"/>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3F7394"/>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3F7394"/>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3F7394"/>
            </a:solidFill>
            <a:prstDash val="solid"/>
            <a:tailEnd type="triangle"/>
          </a:ln>
        </p:spPr>
      </p:sp>
      <p:sp>
        <p:nvSpPr>
          <p:cNvPr id="39" name="Shape 37"/>
          <p:cNvSpPr/>
          <p:nvPr/>
        </p:nvSpPr>
        <p:spPr>
          <a:xfrm>
            <a:off x="9537192" y="3849624"/>
            <a:ext cx="146304" cy="0"/>
          </a:xfrm>
          <a:prstGeom prst="line">
            <a:avLst/>
          </a:prstGeom>
          <a:noFill/>
          <a:ln w="22860">
            <a:solidFill>
              <a:srgbClr val="3F7394"/>
            </a:solidFill>
            <a:prstDash val="solid"/>
            <a:tailEnd type="triangle"/>
          </a:ln>
        </p:spPr>
      </p:sp>
      <p:sp>
        <p:nvSpPr>
          <p:cNvPr id="40" name="Shape 38"/>
          <p:cNvSpPr/>
          <p:nvPr/>
        </p:nvSpPr>
        <p:spPr>
          <a:xfrm>
            <a:off x="10415016" y="3849624"/>
            <a:ext cx="173736" cy="0"/>
          </a:xfrm>
          <a:prstGeom prst="line">
            <a:avLst/>
          </a:prstGeom>
          <a:noFill/>
          <a:ln w="22860">
            <a:solidFill>
              <a:srgbClr val="3F7394"/>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Build the P3 comparison matrix</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Activity procedure: create two separate matrix sections, comparing a specified Ethernet/serial interface pair and Modbus TCP/RTU protocol variants; do not place protocol names in the physical-link column.</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For each option record topology, distance constraints, noise/installation considerations, bandwidth/update suitability, typical PLC use, commissioning strengths, and limits.</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Add one documented MedPack endpoint pair and cite official manuals for all numeric limits, supported functions, and product capabilities; mark unverified values as unknown.</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debrief: the matrix should show that Modbus RTU and TCP differ in transport/framing while Ethernet and RS-485 describe different connection layers.</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3F7394"/>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Draw and label an end-to-end connection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Procedure: draw the selected PLC, HMI or remote-I/O endpoint, every switch/gateway, physical medium/interface, protocol, endpoint roles, addressing, and one MedPack data path.</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3F7394"/>
          </a:solidFill>
          <a:ln w="12700">
            <a:solidFill>
              <a:srgbClr val="3F7394">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Label the protocol and the physical interface separately; show a PillCount read or StartRequest exchange with data type, direction, and the source manual/map.</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3F7394"/>
          </a:solidFill>
          <a:ln w="12700">
            <a:solidFill>
              <a:srgbClr val="3F7394">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Peer review test: another learner should be able to identify the cable/interface, protocol, endpoint configuration, data map, and one likely failure boundary without verbal hints.</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3F7394"/>
          </a:solidFill>
          <a:ln w="12700">
            <a:solidFill>
              <a:srgbClr val="3F7394">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debrief: if the drawing says only “Ethernet” or “Modbus,” it is incomplete because it omits either the actual connection or the application exchange.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COMMUNICATION ARCHITECTURE</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9217152" y="4005072"/>
            <a:ext cx="868680" cy="694944"/>
          </a:xfrm>
          <a:prstGeom prst="rect">
            <a:avLst/>
          </a:prstGeom>
          <a:solidFill>
            <a:srgbClr val="F4F8FA"/>
          </a:solidFill>
          <a:ln w="14605">
            <a:solidFill>
              <a:srgbClr val="3F7394"/>
            </a:solidFill>
            <a:prstDash val="solid"/>
          </a:ln>
        </p:spPr>
      </p:sp>
      <p:sp>
        <p:nvSpPr>
          <p:cNvPr id="31" name="Text 29"/>
          <p:cNvSpPr/>
          <p:nvPr/>
        </p:nvSpPr>
        <p:spPr>
          <a:xfrm>
            <a:off x="9290304" y="4059936"/>
            <a:ext cx="722376" cy="585216"/>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PLC</a:t>
            </a:r>
            <a:endParaRPr lang="en-US" sz="950" dirty="0"/>
          </a:p>
          <a:p>
            <a:pPr algn="ctr" indent="0" marL="0">
              <a:buNone/>
            </a:pPr>
            <a:r>
              <a:rPr lang="en-US" sz="950" b="1" dirty="0">
                <a:solidFill>
                  <a:srgbClr val="1B3448"/>
                </a:solidFill>
                <a:latin typeface="Aptos" pitchFamily="34" charset="0"/>
                <a:ea typeface="Aptos" pitchFamily="34" charset="-122"/>
                <a:cs typeface="Aptos" pitchFamily="34" charset="-120"/>
              </a:rPr>
              <a:t>CONTROLLER</a:t>
            </a:r>
            <a:endParaRPr lang="en-US" sz="950" dirty="0"/>
          </a:p>
        </p:txBody>
      </p:sp>
      <p:sp>
        <p:nvSpPr>
          <p:cNvPr id="32" name="Shape 30"/>
          <p:cNvSpPr/>
          <p:nvPr/>
        </p:nvSpPr>
        <p:spPr>
          <a:xfrm>
            <a:off x="7936992" y="3236976"/>
            <a:ext cx="868680" cy="530352"/>
          </a:xfrm>
          <a:prstGeom prst="rect">
            <a:avLst/>
          </a:prstGeom>
          <a:solidFill>
            <a:srgbClr val="F4F8FA"/>
          </a:solidFill>
          <a:ln w="14605">
            <a:solidFill>
              <a:srgbClr val="3F7394"/>
            </a:solidFill>
            <a:prstDash val="solid"/>
          </a:ln>
        </p:spPr>
      </p:sp>
      <p:sp>
        <p:nvSpPr>
          <p:cNvPr id="33" name="Text 31"/>
          <p:cNvSpPr/>
          <p:nvPr/>
        </p:nvSpPr>
        <p:spPr>
          <a:xfrm>
            <a:off x="8010144" y="329184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LOCAL I/O</a:t>
            </a:r>
            <a:endParaRPr lang="en-US" sz="900" dirty="0"/>
          </a:p>
        </p:txBody>
      </p:sp>
      <p:sp>
        <p:nvSpPr>
          <p:cNvPr id="34" name="Shape 32"/>
          <p:cNvSpPr/>
          <p:nvPr/>
        </p:nvSpPr>
        <p:spPr>
          <a:xfrm>
            <a:off x="9656064" y="4352544"/>
            <a:ext cx="-1289304" cy="-841248"/>
          </a:xfrm>
          <a:prstGeom prst="line">
            <a:avLst/>
          </a:prstGeom>
          <a:noFill/>
          <a:ln w="14605">
            <a:solidFill>
              <a:srgbClr val="607585"/>
            </a:solidFill>
            <a:prstDash val="solid"/>
            <a:tailEnd type="triangle"/>
          </a:ln>
        </p:spPr>
      </p:sp>
      <p:sp>
        <p:nvSpPr>
          <p:cNvPr id="35" name="Shape 33"/>
          <p:cNvSpPr/>
          <p:nvPr/>
        </p:nvSpPr>
        <p:spPr>
          <a:xfrm>
            <a:off x="10451592" y="3236976"/>
            <a:ext cx="868680" cy="530352"/>
          </a:xfrm>
          <a:prstGeom prst="rect">
            <a:avLst/>
          </a:prstGeom>
          <a:solidFill>
            <a:srgbClr val="F4F8FA"/>
          </a:solidFill>
          <a:ln w="14605">
            <a:solidFill>
              <a:srgbClr val="3F7394"/>
            </a:solidFill>
            <a:prstDash val="solid"/>
          </a:ln>
        </p:spPr>
      </p:sp>
      <p:sp>
        <p:nvSpPr>
          <p:cNvPr id="36" name="Text 34"/>
          <p:cNvSpPr/>
          <p:nvPr/>
        </p:nvSpPr>
        <p:spPr>
          <a:xfrm>
            <a:off x="10524744" y="329184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REMOTE I/O</a:t>
            </a:r>
            <a:endParaRPr lang="en-US" sz="900" dirty="0"/>
          </a:p>
        </p:txBody>
      </p:sp>
      <p:sp>
        <p:nvSpPr>
          <p:cNvPr id="37" name="Shape 35"/>
          <p:cNvSpPr/>
          <p:nvPr/>
        </p:nvSpPr>
        <p:spPr>
          <a:xfrm>
            <a:off x="9656064" y="4352544"/>
            <a:ext cx="1225296" cy="-841248"/>
          </a:xfrm>
          <a:prstGeom prst="line">
            <a:avLst/>
          </a:prstGeom>
          <a:noFill/>
          <a:ln w="14605">
            <a:solidFill>
              <a:srgbClr val="607585"/>
            </a:solidFill>
            <a:prstDash val="solid"/>
            <a:tailEnd type="triangle"/>
          </a:ln>
        </p:spPr>
      </p:sp>
      <p:sp>
        <p:nvSpPr>
          <p:cNvPr id="38" name="Shape 36"/>
          <p:cNvSpPr/>
          <p:nvPr/>
        </p:nvSpPr>
        <p:spPr>
          <a:xfrm>
            <a:off x="7936992" y="4974336"/>
            <a:ext cx="868680" cy="530352"/>
          </a:xfrm>
          <a:prstGeom prst="rect">
            <a:avLst/>
          </a:prstGeom>
          <a:solidFill>
            <a:srgbClr val="F4F8FA"/>
          </a:solidFill>
          <a:ln w="14605">
            <a:solidFill>
              <a:srgbClr val="3F7394"/>
            </a:solidFill>
            <a:prstDash val="solid"/>
          </a:ln>
        </p:spPr>
      </p:sp>
      <p:sp>
        <p:nvSpPr>
          <p:cNvPr id="39" name="Text 37"/>
          <p:cNvSpPr/>
          <p:nvPr/>
        </p:nvSpPr>
        <p:spPr>
          <a:xfrm>
            <a:off x="8010144" y="502920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HMI</a:t>
            </a:r>
            <a:endParaRPr lang="en-US" sz="900" dirty="0"/>
          </a:p>
        </p:txBody>
      </p:sp>
      <p:sp>
        <p:nvSpPr>
          <p:cNvPr id="40" name="Shape 38"/>
          <p:cNvSpPr/>
          <p:nvPr/>
        </p:nvSpPr>
        <p:spPr>
          <a:xfrm>
            <a:off x="9656064" y="4352544"/>
            <a:ext cx="-1289304" cy="896112"/>
          </a:xfrm>
          <a:prstGeom prst="line">
            <a:avLst/>
          </a:prstGeom>
          <a:noFill/>
          <a:ln w="14605">
            <a:solidFill>
              <a:srgbClr val="607585"/>
            </a:solidFill>
            <a:prstDash val="solid"/>
            <a:tailEnd type="triangle"/>
          </a:ln>
        </p:spPr>
      </p:sp>
      <p:sp>
        <p:nvSpPr>
          <p:cNvPr id="41" name="Shape 39"/>
          <p:cNvSpPr/>
          <p:nvPr/>
        </p:nvSpPr>
        <p:spPr>
          <a:xfrm>
            <a:off x="10451592" y="4974336"/>
            <a:ext cx="868680" cy="530352"/>
          </a:xfrm>
          <a:prstGeom prst="rect">
            <a:avLst/>
          </a:prstGeom>
          <a:solidFill>
            <a:srgbClr val="F4F8FA"/>
          </a:solidFill>
          <a:ln w="14605">
            <a:solidFill>
              <a:srgbClr val="3F7394"/>
            </a:solidFill>
            <a:prstDash val="solid"/>
          </a:ln>
        </p:spPr>
      </p:sp>
      <p:sp>
        <p:nvSpPr>
          <p:cNvPr id="42" name="Text 40"/>
          <p:cNvSpPr/>
          <p:nvPr/>
        </p:nvSpPr>
        <p:spPr>
          <a:xfrm>
            <a:off x="10524744" y="5029200"/>
            <a:ext cx="722376" cy="420624"/>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SCADA</a:t>
            </a:r>
            <a:endParaRPr lang="en-US" sz="900" dirty="0"/>
          </a:p>
        </p:txBody>
      </p:sp>
      <p:sp>
        <p:nvSpPr>
          <p:cNvPr id="43" name="Shape 41"/>
          <p:cNvSpPr/>
          <p:nvPr/>
        </p:nvSpPr>
        <p:spPr>
          <a:xfrm>
            <a:off x="9656064" y="4352544"/>
            <a:ext cx="1225296" cy="896112"/>
          </a:xfrm>
          <a:prstGeom prst="line">
            <a:avLst/>
          </a:prstGeom>
          <a:noFill/>
          <a:ln w="14605">
            <a:solidFill>
              <a:srgbClr val="607585"/>
            </a:solidFill>
            <a:prstDash val="solid"/>
            <a:tailEnd type="triangle"/>
          </a:ln>
        </p:spPr>
      </p:sp>
      <p:sp>
        <p:nvSpPr>
          <p:cNvPr id="44" name="Text 42"/>
          <p:cNvSpPr/>
          <p:nvPr/>
        </p:nvSpPr>
        <p:spPr>
          <a:xfrm>
            <a:off x="8010144" y="5632704"/>
            <a:ext cx="3236976" cy="384048"/>
          </a:xfrm>
          <a:prstGeom prst="rect">
            <a:avLst/>
          </a:prstGeom>
          <a:noFill/>
          <a:ln/>
        </p:spPr>
        <p:txBody>
          <a:bodyPr wrap="square" lIns="0" tIns="0" rIns="0" bIns="0" rtlCol="0" anchor="ctr">
            <a:normAutofit/>
          </a:bodyPr>
          <a:lstStyle/>
          <a:p>
            <a:pPr algn="ctr" indent="0" marL="0">
              <a:buNone/>
            </a:pPr>
            <a:r>
              <a:rPr lang="en-US" sz="970" dirty="0">
                <a:solidFill>
                  <a:srgbClr val="607585"/>
                </a:solidFill>
                <a:latin typeface="Aptos" pitchFamily="34" charset="0"/>
                <a:ea typeface="Aptos" pitchFamily="34" charset="-122"/>
                <a:cs typeface="Aptos" pitchFamily="34" charset="-120"/>
              </a:rPr>
              <a:t>Label the medium and protocol on every connection</a:t>
            </a:r>
            <a:endParaRPr lang="en-US" sz="97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P3 common errors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Correct four frequent errors: calling RS-485 a protocol, treating Ethernet as an application protocol, assuming same cable means compatibility, and presenting a speed/distance as universal.</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3F7394"/>
          </a:solidFill>
          <a:ln w="12700">
            <a:solidFill>
              <a:srgbClr val="3F7394">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 complete comparison names the chosen medium/interface, topology, protocol, endpoint roles, relevant noise controls, and the source for product-specific limits.</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3F7394"/>
          </a:solidFill>
          <a:ln w="12700">
            <a:solidFill>
              <a:srgbClr val="3F7394">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Ask learners to repair one weak claim: “Ethernet is deterministic and all PLCs can connect” becomes a qualified statement tied to protocol, traffic design, compatible devices, and verified timing requirements.</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FORMATIVE CHECK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138160" y="2697480"/>
            <a:ext cx="256032" cy="256032"/>
          </a:xfrm>
          <a:prstGeom prst="rect">
            <a:avLst/>
          </a:prstGeom>
          <a:solidFill>
            <a:srgbClr val="FFFFFF"/>
          </a:solidFill>
          <a:ln w="17780">
            <a:solidFill>
              <a:srgbClr val="3F7394"/>
            </a:solidFill>
            <a:prstDash val="solid"/>
          </a:ln>
        </p:spPr>
      </p:sp>
      <p:sp>
        <p:nvSpPr>
          <p:cNvPr id="27" name="Text 25"/>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01</a:t>
            </a:r>
            <a:endParaRPr lang="en-US" sz="800" dirty="0"/>
          </a:p>
        </p:txBody>
      </p:sp>
      <p:sp>
        <p:nvSpPr>
          <p:cNvPr id="28" name="Text 26"/>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PHYSICAL LINK</a:t>
            </a:r>
            <a:endParaRPr lang="en-US" sz="1000" dirty="0"/>
          </a:p>
        </p:txBody>
      </p:sp>
      <p:sp>
        <p:nvSpPr>
          <p:cNvPr id="29" name="Shape 27"/>
          <p:cNvSpPr/>
          <p:nvPr/>
        </p:nvSpPr>
        <p:spPr>
          <a:xfrm>
            <a:off x="8558784" y="3163824"/>
            <a:ext cx="2542032" cy="0"/>
          </a:xfrm>
          <a:prstGeom prst="line">
            <a:avLst/>
          </a:prstGeom>
          <a:noFill/>
          <a:ln w="8890">
            <a:solidFill>
              <a:srgbClr val="D5E0E7"/>
            </a:solidFill>
            <a:prstDash val="solid"/>
          </a:ln>
        </p:spPr>
      </p:sp>
      <p:sp>
        <p:nvSpPr>
          <p:cNvPr id="30" name="Shape 28"/>
          <p:cNvSpPr/>
          <p:nvPr/>
        </p:nvSpPr>
        <p:spPr>
          <a:xfrm>
            <a:off x="8138160" y="3447288"/>
            <a:ext cx="256032" cy="256032"/>
          </a:xfrm>
          <a:prstGeom prst="rect">
            <a:avLst/>
          </a:prstGeom>
          <a:solidFill>
            <a:srgbClr val="FFFFFF"/>
          </a:solidFill>
          <a:ln w="17780">
            <a:solidFill>
              <a:srgbClr val="3F7394"/>
            </a:solidFill>
            <a:prstDash val="solid"/>
          </a:ln>
        </p:spPr>
      </p:sp>
      <p:sp>
        <p:nvSpPr>
          <p:cNvPr id="31" name="Text 29"/>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02</a:t>
            </a:r>
            <a:endParaRPr lang="en-US" sz="800" dirty="0"/>
          </a:p>
        </p:txBody>
      </p:sp>
      <p:sp>
        <p:nvSpPr>
          <p:cNvPr id="32" name="Text 30"/>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PROTOCOL</a:t>
            </a:r>
            <a:endParaRPr lang="en-US" sz="1000" dirty="0"/>
          </a:p>
        </p:txBody>
      </p:sp>
      <p:sp>
        <p:nvSpPr>
          <p:cNvPr id="33" name="Shape 31"/>
          <p:cNvSpPr/>
          <p:nvPr/>
        </p:nvSpPr>
        <p:spPr>
          <a:xfrm>
            <a:off x="8558784" y="3913632"/>
            <a:ext cx="2542032" cy="0"/>
          </a:xfrm>
          <a:prstGeom prst="line">
            <a:avLst/>
          </a:prstGeom>
          <a:noFill/>
          <a:ln w="8890">
            <a:solidFill>
              <a:srgbClr val="D5E0E7"/>
            </a:solidFill>
            <a:prstDash val="solid"/>
          </a:ln>
        </p:spPr>
      </p:sp>
      <p:sp>
        <p:nvSpPr>
          <p:cNvPr id="34" name="Shape 32"/>
          <p:cNvSpPr/>
          <p:nvPr/>
        </p:nvSpPr>
        <p:spPr>
          <a:xfrm>
            <a:off x="8138160" y="4197096"/>
            <a:ext cx="256032" cy="256032"/>
          </a:xfrm>
          <a:prstGeom prst="rect">
            <a:avLst/>
          </a:prstGeom>
          <a:solidFill>
            <a:srgbClr val="FFFFFF"/>
          </a:solidFill>
          <a:ln w="17780">
            <a:solidFill>
              <a:srgbClr val="3F7394"/>
            </a:solidFill>
            <a:prstDash val="solid"/>
          </a:ln>
        </p:spPr>
      </p:sp>
      <p:sp>
        <p:nvSpPr>
          <p:cNvPr id="35" name="Text 33"/>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03</a:t>
            </a:r>
            <a:endParaRPr lang="en-US" sz="800" dirty="0"/>
          </a:p>
        </p:txBody>
      </p:sp>
      <p:sp>
        <p:nvSpPr>
          <p:cNvPr id="36" name="Text 34"/>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ENDPOINT MAP</a:t>
            </a:r>
            <a:endParaRPr lang="en-US" sz="1000" dirty="0"/>
          </a:p>
        </p:txBody>
      </p:sp>
      <p:sp>
        <p:nvSpPr>
          <p:cNvPr id="37" name="Shape 35"/>
          <p:cNvSpPr/>
          <p:nvPr/>
        </p:nvSpPr>
        <p:spPr>
          <a:xfrm>
            <a:off x="8558784" y="4663440"/>
            <a:ext cx="2542032" cy="0"/>
          </a:xfrm>
          <a:prstGeom prst="line">
            <a:avLst/>
          </a:prstGeom>
          <a:noFill/>
          <a:ln w="8890">
            <a:solidFill>
              <a:srgbClr val="D5E0E7"/>
            </a:solidFill>
            <a:prstDash val="solid"/>
          </a:ln>
        </p:spPr>
      </p:sp>
      <p:sp>
        <p:nvSpPr>
          <p:cNvPr id="38" name="Shape 36"/>
          <p:cNvSpPr/>
          <p:nvPr/>
        </p:nvSpPr>
        <p:spPr>
          <a:xfrm>
            <a:off x="8138160" y="4946904"/>
            <a:ext cx="256032" cy="256032"/>
          </a:xfrm>
          <a:prstGeom prst="rect">
            <a:avLst/>
          </a:prstGeom>
          <a:solidFill>
            <a:srgbClr val="FFFFFF"/>
          </a:solidFill>
          <a:ln w="17780">
            <a:solidFill>
              <a:srgbClr val="3F7394"/>
            </a:solidFill>
            <a:prstDash val="solid"/>
          </a:ln>
        </p:spPr>
      </p:sp>
      <p:sp>
        <p:nvSpPr>
          <p:cNvPr id="39" name="Text 37"/>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04</a:t>
            </a:r>
            <a:endParaRPr lang="en-US" sz="800" dirty="0"/>
          </a:p>
        </p:txBody>
      </p:sp>
      <p:sp>
        <p:nvSpPr>
          <p:cNvPr id="40" name="Text 38"/>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SOURCE / LIMIT</a:t>
            </a:r>
            <a:endParaRPr lang="en-US" sz="100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3F7394"/>
          </a:solidFill>
          <a:ln w="12700">
            <a:solidFill>
              <a:srgbClr val="3F7394">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3F7394"/>
                </a:solidFill>
                <a:latin typeface="Aptos" pitchFamily="34" charset="0"/>
                <a:ea typeface="Aptos" pitchFamily="34" charset="-122"/>
                <a:cs typeface="Aptos" pitchFamily="34" charset="-120"/>
              </a:rPr>
              <a:t>UNIT 5009    /    WEEK 06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3F7394"/>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3F7394"/>
                </a:solidFill>
                <a:latin typeface="Aptos" pitchFamily="34" charset="0"/>
                <a:ea typeface="Aptos" pitchFamily="34" charset="-122"/>
                <a:cs typeface="Aptos" pitchFamily="34" charset="-120"/>
              </a:rPr>
              <a:t>P3</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Exit ticket: compare, do not list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3F7394"/>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3F7394"/>
          </a:solidFill>
          <a:ln w="12700">
            <a:solidFill>
              <a:srgbClr val="3F7394">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In a short response, compare one physical link/interface pair and one protocol pair on two dimensions from topology/distance, noise, speed/bandwidth, and typical use.</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3F7394"/>
          </a:solidFill>
          <a:ln w="12700">
            <a:solidFill>
              <a:srgbClr val="3F7394">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Include one MedPack use case and state one compatibility fact that must be verified in the selected PLC or HMI manual.</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3F7394"/>
          </a:solidFill>
          <a:ln w="12700">
            <a:solidFill>
              <a:srgbClr val="3F7394">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3F7394"/>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answer distinguishes a connection (for example, RS-485) from a message/protocol (for example, Modbus RTU) and avoids unsupported universal numeric claims.</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3F7394"/>
                </a:solidFill>
                <a:latin typeface="Aptos" pitchFamily="34" charset="0"/>
                <a:ea typeface="Aptos" pitchFamily="34" charset="-122"/>
                <a:cs typeface="Aptos" pitchFamily="34" charset="-120"/>
              </a:rPr>
              <a:t>FORMATIVE CHECK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138160" y="2697480"/>
            <a:ext cx="256032" cy="256032"/>
          </a:xfrm>
          <a:prstGeom prst="rect">
            <a:avLst/>
          </a:prstGeom>
          <a:solidFill>
            <a:srgbClr val="FFFFFF"/>
          </a:solidFill>
          <a:ln w="17780">
            <a:solidFill>
              <a:srgbClr val="3F7394"/>
            </a:solidFill>
            <a:prstDash val="solid"/>
          </a:ln>
        </p:spPr>
      </p:sp>
      <p:sp>
        <p:nvSpPr>
          <p:cNvPr id="27" name="Text 25"/>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01</a:t>
            </a:r>
            <a:endParaRPr lang="en-US" sz="800" dirty="0"/>
          </a:p>
        </p:txBody>
      </p:sp>
      <p:sp>
        <p:nvSpPr>
          <p:cNvPr id="28" name="Text 26"/>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PHYSICAL LINK</a:t>
            </a:r>
            <a:endParaRPr lang="en-US" sz="1000" dirty="0"/>
          </a:p>
        </p:txBody>
      </p:sp>
      <p:sp>
        <p:nvSpPr>
          <p:cNvPr id="29" name="Shape 27"/>
          <p:cNvSpPr/>
          <p:nvPr/>
        </p:nvSpPr>
        <p:spPr>
          <a:xfrm>
            <a:off x="8558784" y="3163824"/>
            <a:ext cx="2542032" cy="0"/>
          </a:xfrm>
          <a:prstGeom prst="line">
            <a:avLst/>
          </a:prstGeom>
          <a:noFill/>
          <a:ln w="8890">
            <a:solidFill>
              <a:srgbClr val="D5E0E7"/>
            </a:solidFill>
            <a:prstDash val="solid"/>
          </a:ln>
        </p:spPr>
      </p:sp>
      <p:sp>
        <p:nvSpPr>
          <p:cNvPr id="30" name="Shape 28"/>
          <p:cNvSpPr/>
          <p:nvPr/>
        </p:nvSpPr>
        <p:spPr>
          <a:xfrm>
            <a:off x="8138160" y="3447288"/>
            <a:ext cx="256032" cy="256032"/>
          </a:xfrm>
          <a:prstGeom prst="rect">
            <a:avLst/>
          </a:prstGeom>
          <a:solidFill>
            <a:srgbClr val="FFFFFF"/>
          </a:solidFill>
          <a:ln w="17780">
            <a:solidFill>
              <a:srgbClr val="3F7394"/>
            </a:solidFill>
            <a:prstDash val="solid"/>
          </a:ln>
        </p:spPr>
      </p:sp>
      <p:sp>
        <p:nvSpPr>
          <p:cNvPr id="31" name="Text 29"/>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02</a:t>
            </a:r>
            <a:endParaRPr lang="en-US" sz="800" dirty="0"/>
          </a:p>
        </p:txBody>
      </p:sp>
      <p:sp>
        <p:nvSpPr>
          <p:cNvPr id="32" name="Text 30"/>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PROTOCOL</a:t>
            </a:r>
            <a:endParaRPr lang="en-US" sz="1000" dirty="0"/>
          </a:p>
        </p:txBody>
      </p:sp>
      <p:sp>
        <p:nvSpPr>
          <p:cNvPr id="33" name="Shape 31"/>
          <p:cNvSpPr/>
          <p:nvPr/>
        </p:nvSpPr>
        <p:spPr>
          <a:xfrm>
            <a:off x="8558784" y="3913632"/>
            <a:ext cx="2542032" cy="0"/>
          </a:xfrm>
          <a:prstGeom prst="line">
            <a:avLst/>
          </a:prstGeom>
          <a:noFill/>
          <a:ln w="8890">
            <a:solidFill>
              <a:srgbClr val="D5E0E7"/>
            </a:solidFill>
            <a:prstDash val="solid"/>
          </a:ln>
        </p:spPr>
      </p:sp>
      <p:sp>
        <p:nvSpPr>
          <p:cNvPr id="34" name="Shape 32"/>
          <p:cNvSpPr/>
          <p:nvPr/>
        </p:nvSpPr>
        <p:spPr>
          <a:xfrm>
            <a:off x="8138160" y="4197096"/>
            <a:ext cx="256032" cy="256032"/>
          </a:xfrm>
          <a:prstGeom prst="rect">
            <a:avLst/>
          </a:prstGeom>
          <a:solidFill>
            <a:srgbClr val="FFFFFF"/>
          </a:solidFill>
          <a:ln w="17780">
            <a:solidFill>
              <a:srgbClr val="3F7394"/>
            </a:solidFill>
            <a:prstDash val="solid"/>
          </a:ln>
        </p:spPr>
      </p:sp>
      <p:sp>
        <p:nvSpPr>
          <p:cNvPr id="35" name="Text 33"/>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03</a:t>
            </a:r>
            <a:endParaRPr lang="en-US" sz="800" dirty="0"/>
          </a:p>
        </p:txBody>
      </p:sp>
      <p:sp>
        <p:nvSpPr>
          <p:cNvPr id="36" name="Text 34"/>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ENDPOINT MAP</a:t>
            </a:r>
            <a:endParaRPr lang="en-US" sz="1000" dirty="0"/>
          </a:p>
        </p:txBody>
      </p:sp>
      <p:sp>
        <p:nvSpPr>
          <p:cNvPr id="37" name="Shape 35"/>
          <p:cNvSpPr/>
          <p:nvPr/>
        </p:nvSpPr>
        <p:spPr>
          <a:xfrm>
            <a:off x="8558784" y="4663440"/>
            <a:ext cx="2542032" cy="0"/>
          </a:xfrm>
          <a:prstGeom prst="line">
            <a:avLst/>
          </a:prstGeom>
          <a:noFill/>
          <a:ln w="8890">
            <a:solidFill>
              <a:srgbClr val="D5E0E7"/>
            </a:solidFill>
            <a:prstDash val="solid"/>
          </a:ln>
        </p:spPr>
      </p:sp>
      <p:sp>
        <p:nvSpPr>
          <p:cNvPr id="38" name="Shape 36"/>
          <p:cNvSpPr/>
          <p:nvPr/>
        </p:nvSpPr>
        <p:spPr>
          <a:xfrm>
            <a:off x="8138160" y="4946904"/>
            <a:ext cx="256032" cy="256032"/>
          </a:xfrm>
          <a:prstGeom prst="rect">
            <a:avLst/>
          </a:prstGeom>
          <a:solidFill>
            <a:srgbClr val="FFFFFF"/>
          </a:solidFill>
          <a:ln w="17780">
            <a:solidFill>
              <a:srgbClr val="3F7394"/>
            </a:solidFill>
            <a:prstDash val="solid"/>
          </a:ln>
        </p:spPr>
      </p:sp>
      <p:sp>
        <p:nvSpPr>
          <p:cNvPr id="39" name="Text 37"/>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3F7394"/>
                </a:solidFill>
                <a:latin typeface="Aptos" pitchFamily="34" charset="0"/>
                <a:ea typeface="Aptos" pitchFamily="34" charset="-122"/>
                <a:cs typeface="Aptos" pitchFamily="34" charset="-120"/>
              </a:rPr>
              <a:t>04</a:t>
            </a:r>
            <a:endParaRPr lang="en-US" sz="800" dirty="0"/>
          </a:p>
        </p:txBody>
      </p:sp>
      <p:sp>
        <p:nvSpPr>
          <p:cNvPr id="40" name="Text 38"/>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SOURCE / LIMIT</a:t>
            </a:r>
            <a:endParaRPr lang="en-US" sz="100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COMMUNICATION LINKS AND PLC PROTOCOLS</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06: Communication Links and PLC Protocols</dc:title>
  <dc:subject>LO2 weekly teaching presentation</dc:subject>
  <dc:creator>Unit 5009 Teaching Materials</dc:creator>
  <cp:lastModifiedBy>Unit 5009 Teaching Materials</cp:lastModifiedBy>
  <cp:revision>1</cp:revision>
  <dcterms:created xsi:type="dcterms:W3CDTF">2026-10-13T19:42:18Z</dcterms:created>
  <dcterms:modified xsi:type="dcterms:W3CDTF">2026-10-13T19:42:18Z</dcterms:modified>
</cp:coreProperties>
</file>