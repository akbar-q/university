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 of 18 | Suggested time: 5 minutes | Criteria: P3
TEACHING NOTES AND ACTIVITY CUES
1. Recall the Week 5 signal chain and ask where a network connection appears.
IMAGE PROMPT
Create an original, technically plausible landscape visual for a vocational engineering presentation about Signal processing retrieval. Show: Recall the Week 5 signal chain and ask where a network connection appears..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2 of 18 | Suggested time: 5 minutes | Criteria: P3
TEACHING NOTES AND ACTIVITY CUES
1. Learners classify Ethernet, RS-485, Modbus RTU, Modbus TCP, and PROFINET, then explain uncertainty.
IMAGE PROMPT
Create an original, technically plausible landscape visual for a vocational engineering presentation about Link or protocol?. Show: Learners classify Ethernet, RS-485, Modbus RTU, Modbus TCP, and PROFINET, then explain uncertainty..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3 of 18 | Suggested time: 5 minutes | Criteria: P3
TEACHING NOTES AND ACTIVITY CUES
1. Explain that students must illustrate differences with at least two links and two protocols, not just list names.
IMAGE PROMPT
Create an original, technically plausible landscape visual for a vocational engineering presentation about P3 success criteria. Show: Explain that students must illustrate differences with at least two links and two protocols, not just list names..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4 of 18 | Suggested time: 12 minutes | Criteria: P3
TEACHING NOTES AND ACTIVITY CUES
1. Distinguish physical medium/electrical interface, topology, network addressing, transport, and application protocol.
2. Correct misconception: RS-485 is an electrical interface; Ethernet is a family of link/network technologies; neither alone names the full application exchange.
IMAGE PROMPT
Create an original, technically plausible landscape visual for a vocational engineering presentation about Communication layers in practical terms. Show: Distinguish physical medium/electrical interface, topology, network addressing, transport, and application protocol. Correct misconception: RS-485 is an electrical interface; Ethernet is a family of link/network technologies; neither alone names the full application exchange..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5 of 18 | Suggested time: 13 minutes | Criteria: P3
TEACHING NOTES AND ACTIVITY CUES
1. Copper/fibre, switches, addressing, star/line/ring arrangements, segments, distance limits determined by equipment/medium, and EMC installation.
2. Discuss network management and redundancy only where the selected hardware supports them.
IMAGE PROMPT
Create an original, technically plausible landscape visual for a vocational engineering presentation about Industrial Ethernet connections. Show: Copper/fibre, switches, addressing, star/line/ring arrangements, segments, distance limits determined by equipment/medium, and EMC installation. Discuss network management and redundancy only where the selected hardware supports them..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6 of 18 | Suggested time: 12 minutes | Criteria: P3
TEACHING NOTES AND ACTIVITY CUES
1. Contrast point-to-point RS-232 and differential multi-drop-capable RS-485 arrangements.
2. Discuss topology, termination/biasing where specified, node loading, distance, noise, and commissioning.
3. Connect RS-485 with common Modbus RTU systems, while keeping media and protocol concepts separate.
IMAGE PROMPT
Create an original, technically plausible landscape visual for a vocational engineering presentation about Serial interfaces: RS-232 and RS-485. Show: Contrast point-to-point RS-232 and differential multi-drop-capable RS-485 arrangements. Discuss topology, termination/biasing where specified, node loading, distance, noise, and commissioning..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7 of 18 | Suggested time: 13 minutes | Criteria: P3
TEACHING NOTES AND ACTIVITY CUES
1. Compare device count, distance, data rate, noise, topology, installed cable, diagnostics, and legacy equipment.
2. Use a hypothetical control-panel-to-sensor bank example; label assumptions and source exact numeric limits if shown.
IMAGE PROMPT
Create an original, technically plausible landscape visual for a vocational engineering presentation about What changes the link choice?. Show: Compare device count, distance, data rate, noise, topology, installed cable, diagnostics, and legacy equipment. Use a hypothetical control-panel-to-sensor bank example; label assumptions and source exact numeric limits if shown..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8 of 18 | Suggested time: 10 minutes | Criteria: P3
TEACHING NOTES AND ACTIVITY CUES
1. Complete Ethernet-versus-serial rows for physical connection, topology, typical use, noise considerations, distance, performance, and maintenance.
2. Qualitative claims are acceptable if the implementation is specified; avoid universal speed/distance statements.
IMAGE PROMPT
Create an original, technically plausible landscape visual for a vocational engineering presentation about Link comparison table. Show: Complete Ethernet-versus-serial rows for physical connection, topology, typical use, noise considerations, distance, performance, and maintenance. Qualitative claims are acceptable if the implementation is specified; avoid universal speed/distance statements..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9 of 18 | Suggested time: 15 minutes | Criteria: P3
TEACHING NOTES AND ACTIVITY CUES
1. Explain that the same physical medium may carry distinct protocol families; compatibility depends on devices, configuration, and supported services.
2. Show examples: Modbus RTU over serial; Modbus TCP over Ethernet; PROFINET and EtherNet/IP on industrial Ethernet infrastructure.
3. Clarify that sharing Ethernet cabling does not make industrial protocols interchangeable.
IMAGE PROMPT
Create an original, technically plausible landscape visual for a vocational engineering presentation about Standards and protocols are not the cable. Show: Explain that the same physical medium may carry distinct protocol families; compatibility depends on devices, configuration, and supported services. Show examples: Modbus RTU over serial; Modbus TCP over Ethernet; PROFINET and EtherNet/IP on industrial Ethernet infrastructure..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10 of 18 | Suggested time: 10 minutes | Criteria: P3
TEACHING NOTES AND ACTIVITY CUES
1. Teams choose one link and one protocol for a PLC-to-HMI case and justify the pair from requirements.
2. Required comparison dimensions: topology/distance, noise, speed/bandwidth, and typical use.
IMAGE PROMPT
Create an original, technically plausible landscape visual for a vocational engineering presentation about P3 comparison prompt. Show: Teams choose one link and one protocol for a PLC-to-HMI case and justify the pair from requirements. Required comparison dimensions: topology/distance, noise, speed/bandwidth, and typical use..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11 of 18 | Suggested time: 10 minutes | Criteria: P3
TEACHING NOTES AND ACTIVITY CUES
1. Compare serial framing versus TCP transport, addressing, common function/data models, and typical device use.
2. Explain coils, discrete inputs, input registers, and holding registers at a conceptual level.
3. Verify address offsets with both PLC and client; displayed reference numbers may differ from software indexing.
IMAGE PROMPT
Create an original, technically plausible landscape visual for a vocational engineering presentation about Modbus RTU and Modbus TCP. Show: Compare serial framing versus TCP transport, addressing, common function/data models, and typical device use. Explain coils, discrete inputs, input registers, and holding registers at a conceptual level..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12 of 18 | Suggested time: 15 minutes | Criteria: P3
TEACHING NOTES AND ACTIVITY CUES
1. Introduce their device roles, configuration ecosystems, cyclic I/O and acyclic/explicit services at a high level, diagnostics, and vendor compatibility.
2. Compare what the selected PLC CPU, communication module, HMI, and device actually support.
3. Avoid treating the names as generic Ethernet synonyms.
IMAGE PROMPT
Create an original, technically plausible landscape visual for a vocational engineering presentation about PROFINET and EtherNet/IP. Show: Introduce their device roles, configuration ecosystems, cyclic I/O and acyclic/explicit services at a high level, diagnostics, and vendor compatibility. Compare what the selected PLC CPU, communication module, HMI, and device actually support..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13 of 18 | Suggested time: 10 minutes | Criteria: P3
TEACHING NOTES AND ACTIVITY CUES
1. Position PROFIBUS, IO-Link, and OPC UA by typical role and integration point.
2. Explain they are not direct substitutes for one another: fieldbus, sensor/actuator connection, and structured information exchange solve different needs.
3. Learners add one suitable use case and one compatibility check per technology.
IMAGE PROMPT
Create an original, technically plausible landscape visual for a vocational engineering presentation about Other PLC-relevant technologies. Show: Position PROFIBUS, IO-Link, and OPC UA by typical role and integration point. Explain they are not direct substitutes for one another: fieldbus, sensor/actuator connection, and structured information exchange solve different needs..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14 of 18 | Suggested time: 10 minutes | Criteria: P3
TEACHING NOTES AND ACTIVITY CUES
1. Trace PLC tag -&gt; protocol address/data type -&gt; HMI value.
2. Cover Boolean/integer/real, scaling, byte/word order, update rate, stale/quality state, and read/write permissions.
3. Example MedPack tags: RunState, PillCount, TargetCount, FaultCode, ActuatorStatus, EStopStatusReadOnly.
IMAGE PROMPT
Create an original, technically plausible landscape visual for a vocational engineering presentation about Data mapping, quality, and permissions. Show: Trace PLC tag -&gt; protocol address/data type -&gt; HMI value. Cover Boolean/integer/real, scaling, byte/word order, update rate, stale/quality state, and read/write permissions..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15 of 18 | Suggested time: 20 minutes | Criteria: P3
TEACHING NOTES AND ACTIVITY CUES
1. Compare Ethernet and RS-485 as links, and Modbus TCP and Modbus RTU as protocol examples.
2. Include topology/distance, noise, speed/bandwidth, typical use, strengths, and limits.
3. Cite an official manual for any numeric limit or product capability.
IMAGE PROMPT
Create an original, technically plausible landscape visual for a vocational engineering presentation about Build the P3 comparison matrix. Show: Compare Ethernet and RS-485 as links, and Modbus TCP and Modbus RTU as protocol examples. Include topology/distance, noise, speed/bandwidth, typical use, strengths, and limits..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16 of 18 | Suggested time: 20 minutes | Criteria: P3
TEACHING NOTES AND ACTIVITY CUES
1. Draw PLC-to-HMI or PLC-to-remote-I/O architecture with physical link and protocol labelled separately.
2. Peer review asks: could a technician identify cable/interface, protocol, endpoint, and data map from the diagram?
IMAGE PROMPT
Create an original, technically plausible landscape visual for a vocational engineering presentation about Draw and label an end-to-end connection. Show: Draw PLC-to-HMI or PLC-to-remote-I/O architecture with physical link and protocol labelled separately. Peer review asks: could a technician identify cable/interface, protocol, endpoint, and data map from the diagram?.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17 of 18 | Suggested time: 7 minutes | Criteria: P3
TEACHING NOTES AND ACTIVITY CUES
1. Address link/protocol conflation, unsupported speed claims, incompatible device assumptions, and missing topology/noise discussion.
IMAGE PROMPT
Create an original, technically plausible landscape visual for a vocational engineering presentation about P3 common errors. Show: Address link/protocol conflation, unsupported speed claims, incompatible device assumptions, and missing topology/noise discussion..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Links and PLC Protocols | Week 06 | LO2
Slide 18 of 18 | Suggested time: 8 minutes | Criteria: P3
TEACHING NOTES AND ACTIVITY CUES
1. In a short response, compare one link and one protocol pair on two required dimensions and name one PLC use case.
IMAGE PROMPT
Create an original, technically plausible landscape visual for a vocational engineering presentation about Exit ticket: compare, do not list. Show: In a short response, compare one link and one protocol pair on two required dimensions and name one PLC use case..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Signal processing retrieval</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Recall the Week 5 signal chain and ask where a network connection appears.</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Signal processing retrieval</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Link or protocol?</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Learners classify Ethernet, RS-485, Modbus RTU, Modbus TCP, and PROFINET, then explain uncertainty.</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Link or protocol?</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P3 success criteria</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that students must illustrate differences with at least two links and two protocols, not just list names.</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P3 success criteria</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Communication layers in practical terms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Distinguish physical medium/electrical interface, topology, network addressing, transport, and application protocol.</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Correct misconception: RS-485 is an electrical interface; Ethernet is a family of link/network technologies; neither alone names the full application exchange.</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Communication layers in practical terms</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Industrial Ethernet connections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Copper/fibre, switches, addressing, star/line/ring arrangements, segments, distance limits determined by equipment/medium, and EMC installation.</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Discuss network management and redundancy only where the selected hardware supports them.</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Industrial Ethernet connections</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Serial interfaces: RS-232 and RS-485</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Contrast point-to-point RS-232 and differential multi-drop-capable RS-485 arrangements.</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Discuss topology, termination/biasing where specified, node loading, distance, noise, and commissioning.</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Connect RS-485 with common Modbus RTU systems, while keeping media and protocol concepts separate.</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Serial interfaces: RS-232 and RS-485</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What changes the link choice?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device count, distance, data rate, noise, topology, installed cable, diagnostics, and legacy equipment.</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Use a hypothetical control-panel-to-sensor bank example; label assumptions and source exact numeric limits if shown.</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What changes the link choice?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Link comparison table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Complete Ethernet-versus-serial rows for physical connection, topology, typical use, noise considerations, distance, performance, and maintenance.</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Qualitative claims are acceptable if the implementation is specified; avoid universal speed/distance statements.</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Link comparison table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Standards and protocols are not the cable</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that the same physical medium may carry distinct protocol families; compatibility depends on devices, configuration, and supported services.</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Show examples: Modbus RTU over serial; Modbus TCP over Ethernet; PROFINET and EtherNet/IP on industrial Ethernet infrastructure.</a:t>
            </a:r>
            <a:endParaRPr lang="en-US" sz="1650" dirty="0"/>
          </a:p>
        </p:txBody>
      </p:sp>
      <p:sp>
        <p:nvSpPr>
          <p:cNvPr id="15" name="Shape 13"/>
          <p:cNvSpPr/>
          <p:nvPr/>
        </p:nvSpPr>
        <p:spPr>
          <a:xfrm>
            <a:off x="713232" y="3730752"/>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6210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Clarify that sharing Ethernet cabling does not make industrial protocols interchangeable.</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Standards and protocols are not the cable</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P3 comparison prompt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Teams choose one link and one protocol for a PLC-to-HMI case and justify the pair from requirements.</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Required comparison dimensions: topology/distance, noise, speed/bandwidth, and typical use.</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P3 comparison prompt</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Modbus RTU and Modbus TCP</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serial framing versus TCP transport, addressing, common function/data models, and typical device use.</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coils, discrete inputs, input registers, and holding registers at a conceptual level.</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Verify address offsets with both PLC and client; displayed reference numbers may differ from software indexing.</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Modbus RTU and Modbus TCP</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PROFINET and EtherNet/IP</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Introduce their device roles, configuration ecosystems, cyclic I/O and acyclic/explicit services at a high level, diagnostics, and vendor compatibility.</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what the selected PLC CPU, communication module, HMI, and device actually support.</a:t>
            </a:r>
            <a:endParaRPr lang="en-US" sz="1650" dirty="0"/>
          </a:p>
        </p:txBody>
      </p:sp>
      <p:sp>
        <p:nvSpPr>
          <p:cNvPr id="15" name="Shape 13"/>
          <p:cNvSpPr/>
          <p:nvPr/>
        </p:nvSpPr>
        <p:spPr>
          <a:xfrm>
            <a:off x="713232" y="3730752"/>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6210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Avoid treating the names as generic Ethernet synonyms.</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PROFINET and EtherNet/IP</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Other PLC-relevant technologies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Position PROFIBUS, IO-Link, and OPC UA by typical role and integration point.</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they are not direct substitutes for one another: fieldbus, sensor/actuator connection, and structured information exchange solve different needs.</a:t>
            </a:r>
            <a:endParaRPr lang="en-US" sz="1650" dirty="0"/>
          </a:p>
        </p:txBody>
      </p:sp>
      <p:sp>
        <p:nvSpPr>
          <p:cNvPr id="15" name="Shape 13"/>
          <p:cNvSpPr/>
          <p:nvPr/>
        </p:nvSpPr>
        <p:spPr>
          <a:xfrm>
            <a:off x="713232" y="3730752"/>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6210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Learners add one suitable use case and one compatibility check per technology.</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Other PLC-relevant technologies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Data mapping, quality, and permissions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Trace PLC tag -&gt; protocol address/data type -&gt; HMI value.</a:t>
            </a:r>
            <a:endParaRPr lang="en-US" sz="1650" dirty="0"/>
          </a:p>
        </p:txBody>
      </p:sp>
      <p:sp>
        <p:nvSpPr>
          <p:cNvPr id="13" name="Shape 11"/>
          <p:cNvSpPr/>
          <p:nvPr/>
        </p:nvSpPr>
        <p:spPr>
          <a:xfrm>
            <a:off x="713232" y="2578608"/>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4688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Cover Boolean/integer/real, scaling, byte/word order, update rate, stale/quality state, and read/write permissions.</a:t>
            </a:r>
            <a:endParaRPr lang="en-US" sz="1650" dirty="0"/>
          </a:p>
        </p:txBody>
      </p:sp>
      <p:sp>
        <p:nvSpPr>
          <p:cNvPr id="15" name="Shape 13"/>
          <p:cNvSpPr/>
          <p:nvPr/>
        </p:nvSpPr>
        <p:spPr>
          <a:xfrm>
            <a:off x="713232" y="3255264"/>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145536"/>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Example MedPack tags: RunState, PillCount, TargetCount, FaultCode, ActuatorStatus, EStopStatusReadOnly.</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Data mapping, quality, and permissions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Build the P3 comparison matrix</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Ethernet and RS-485 as links, and Modbus TCP and Modbus RTU as protocol examples.</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Include topology/distance, noise, speed/bandwidth, typical use, strengths, and limits.</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Cite an official manual for any numeric limit or product capability.</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Build the P3 comparison matrix</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Draw and label an end-to-end connection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Draw PLC-to-HMI or PLC-to-remote-I/O architecture with physical link and protocol labelled separately.</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Peer review asks: could a technician identify cable/interface, protocol, endpoint, and data map from the diagram?</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Draw and label an end-to-end connection</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P3 common errors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Address link/protocol conflation, unsupported speed claims, incompatible device assumptions, and missing topology/noise discussion.</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P3 common errors</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06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P3</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Exit ticket: compare, do not list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 a short response, compare one link and one protocol pair on two required dimensions and name one PLC use case.</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Exit ticket: compare, do not list</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COMMUNICATION LINKS AND PLC PROTOCOLS</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06: Communication Links and PLC Protocols</dc:title>
  <dc:subject>LO2 weekly teaching presentation</dc:subject>
  <dc:creator>Unit 5009 Teaching Materials</dc:creator>
  <cp:lastModifiedBy>Unit 5009 Teaching Materials</cp:lastModifiedBy>
  <cp:revision>1</cp:revision>
  <dcterms:created xsi:type="dcterms:W3CDTF">2026-10-13T19:12:29Z</dcterms:created>
  <dcterms:modified xsi:type="dcterms:W3CDTF">2026-10-13T19:12:29Z</dcterms:modified>
</cp:coreProperties>
</file>