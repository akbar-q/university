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Signal Processing and Signal Integrity | Week 05 | LO2
Slide 1 of 18 | Suggested time: 5 minutes | Criteria: LO2 foundations
TEACHING NOTES AND ACTIVITY CUES
1. A sensor pulse is the electrical representation of one detected pill; contact bounce or electrical noise can create extra transitions, while a pulse shorter than the input can register may be missed.
2. Have learners follow a trace containing one clean event and one bouncing event; the expected count depends on the configured input filter, edge logic, and capture method, not on the drawing alone.
3. In a clearly hypothetical case, a missed count leaves PillCount below target, so the PLC should not assert the target-reached request; verify the actual sequence and permissives in the project.
TEACHING VISUAL
This slide has a reserved image bay. Add the image described below.
OPTIONAL IMAGE PROMPT
Original oscilloscope-style timing diagram showing a sensor voltage with one clean pulse, one bouncing pulse, and a PLC input-state trace below it; no labels or embedded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Signal Processing and Signal Integrity | Week 05 | LO2
Slide 2 of 18 | Suggested time: 5 minutes | Criteria: LO2 foundations
TEACHING NOTES AND ACTIVITY CUES
1. Reopen the selected PLC CPU/module, sensor datasheet, I/O schedule, and load assumptions from Weeks 1-4; use those actual choices rather than inventing terminal addresses or voltage ratings.
2. Trace the pill sensor from its specified output type and supply through the assigned input channel to the program tag used by the count logic.
3. Check the design fit: the sensor's electrical output, module input type, filter capability, and expected event rate must all be compatible; a correct program cannot repair a mismatched electrical interface.
TEACHING VISUAL
The slide uses an editable application workflow diagram. Keep it unless the prompted image communicates the idea more clearly.
OPTIONAL IMAGE PROMPT
Original engineering desk scene with a PLC module, sensor datasheet, wiring plan, and highlighted signal path connected by a pencil line; no readable text or logos.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Signal Processing and Signal Integrity | Week 05 | LO2
Slide 3 of 18 | Suggested time: 5 minutes | Criteria: LO2 foundations
TEACHING NOTES AND ACTIVITY CUES
1. By the end, learners should trace a field signal to a program value and output, explain scan/filter/edge effects, and select a suitable method for capturing fast events.
2. Practical evidence is a normal-cycle check plus a controlled fault test with conditions, expected result, observed result, diagnosis, correction, and retest recorded.
3. This session supports LO2 wiring, operation, fault-finding, and signal-integrity evidence; Week 6 separately develops the P3 communication-link/protocol comparison.
TEACHING VISUAL
The slide uses an editable formative check diagram. Keep it unless the prompted image communicates the idea more clearly.
OPTIONAL IMAGE PROMPT
Clean original flow diagram linking sensor, PLC input, program state, PLC output, actuator, and a lab-record sheet with arrows but no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Signal Processing and Signal Integrity | Week 05 | LO2
Slide 4 of 18 | Suggested time: 12 minutes | Criteria: LO2 foundations
TEACHING NOTES AND ACTIVITY CUES
1. Follow one MedPack pill event through target detection, sensor electrical output, cable and terminal, input channel, PLC task/process data, count logic, output channel, and actuator interface.
2. Distinguish physical state from interpreted state: a sensor LED, module input LED, program tag, and output LED are separate observation points and may disagree when a fault lies between them.
3. At each boundary verify the device/module documentation for signal type, rated range, common/reference, isolation, filter, and diagnostic behaviour; do not assume every input is 24 V DC.
TEACHING VISUAL
The slide uses an editable signal path diagram. Keep it unless the prompted image communicates the idea more clearly.
OPTIONAL IMAGE PROMPT
Original cutaway-style signal-chain diagram showing a photoelectric sensor, terminal block, isolated PLC input circuit, program memory, output module, and relay interface; no labels or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Signal Processing and Signal Integrity | Week 05 | LO2
Slide 5 of 18 | Suggested time: 13 minutes | Criteria: LO2 foundations
TEACHING NOTES AND ACTIVITY CUES
1. In a basic cyclic model, inputs are sampled, user logic executes, and outputs are updated; communications, task scheduling, and monitoring may run on separate or overlapping schedules.
2. Real controllers may use periodic tasks, interrupts, remote-I/O update cycles, or immediate I/O instructions, so use the selected CPU and module manuals to interpret the timing diagram.
3. In a hypothetical timing exercise, compare a 6 ms sensor pulse with a 10 ms task period and an input filter configured longer than the pulse; learners should predict a possible missed event, then identify what hardware documentation and test would settle it.
TEACHING VISUAL
The slide uses an editable signal timing diagram. Keep it unless the prompted image communicates the idea more clearly.
OPTIONAL IMAGE PROMPT
Original layered timing diagram with sensor pulse, input sampling instants, PLC task execution blocks, output update, and network refresh shown on aligned timelines; no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Signal Processing and Signal Integrity | Week 05 | LO2
Slide 6 of 18 | Suggested time: 12 minutes | Criteria: LO2 foundations
TEACHING NOTES AND ACTIVITY CUES
1. An input filter rejects or delays short transitions at the hardware/channel level; rising-edge logic detects a false-to-true transition in the program. They address related but different causes.
2. A held-high sensor represents one transition, not repeated pills; a one-shot should count once until the input returns low, while bouncing can create multiple edges if not conditioned.
3. Set filter time only after checking the sensor's minimum pulse width and maximum event rate; a filter that is too long can suppress valid MedPack events.
4. Test procedure: apply one clean pulse, a held-high input, and a bouncing trace in simulation; expected observation is one count for one valid rising edge, with bounce behaviour matching the configured filter and logic.
TEACHING VISUAL
The slide uses an editable signal timing diagram. Keep it unless the prompted image communicates the idea more clearly.
OPTIONAL IMAGE PROMPT
Original paired timing traces comparing contact bounce before filtering, a debounced input, and a one-shot count pulse; no labels or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Signal Processing and Signal Integrity | Week 05 | LO2
Slide 7 of 18 | Suggested time: 13 minutes | Criteria: LO2 foundations
TEACHING NOTES AND ACTIVITY CUES
1. High-speed counter or capture functions can register events independently of ordinary cyclic logic, but only on supported channels and within documented frequency, pulse-width, voltage, and filter limits.
2. Clearly hypothetical example: at 40 events/s, consecutive events are 25 ms apart; a standard 10 ms task may observe transitions depending on phase and input update behaviour, so this arithmetic alone does not prove reliable capture.
3. Check the actual PLC/module manual for maximum count rate, minimum on/off time, filter setting, and buffer/overflow behaviour; use the specified high-speed input when ordinary sampling cannot be shown to meet requirements.
4. Verification procedure: generate a known pulse train below the documented limit, compare source and PLC totals over a fixed test interval, then repeat at the intended operating rate and inspect overflow/diagnostic status.
TEACHING VISUAL
The slide uses an editable signal timing diagram. Keep it unless the prompted image communicates the idea more clearly.
OPTIONAL IMAGE PROMPT
Original PLC high-speed counter block connected to a pulse generator and sensor, with a stable count trace beside a missed-sample trace; no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Signal Processing and Signal Integrity | Week 05 | LO2
Slide 8 of 18 | Suggested time: 10 minutes | Criteria: LO2 foundations
TEACHING NOTES AND ACTIVITY CUES
1. Analogue modules convert an input voltage or current to a raw digital value; the raw range, resolution, conversion time, and fault indications are specific to the module and configuration.
2. Clearly hypothetical linear example: a 4-20 mA transmitter represents 0-60 packs/min; 12 mA is halfway through the 16 mA span and therefore represents 30 packs/min if the transmitter and scaling are linear.
3. Scaling maps raw counts/current to engineering units; resolution is the smallest represented increment, while accuracy also includes sensor, module, wiring, and calibration error.
4. For a MedPack display, verify lower/upper range, units, underrange/overrange handling, and update time before treating a displayed value as a valid process measurement.
TEACHING VISUAL
The slide uses an editable analogue scaling diagram. Keep it unless the prompted image communicates the idea more clearly.
OPTIONAL IMAGE PROMPT
Original analogue signal diagram showing a 4-20 mA loop entering an ADC and a straight 0-60 packs-per-minute scaling line with a midpoint marker; no numbers, labels, or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Signal Processing and Signal Integrity | Week 05 | LO2
Slide 9 of 18 | Suggested time: 15 minutes | Criteria: LO2 foundations
TEACHING NOTES AND ACTIVITY CUES
1. Noise can couple into sensor wiring through electromagnetic fields, shared impedance/reference paths, long cable runs, poor terminations, or switching inductive loads; symptoms may be intermittent counts or unstable analogue readings.
2. On a MedPack panel drawing, route low-level sensor wiring separately from motor/contactor conductors where the installation rules require it, and inspect cable type, terminal tightness, grounding/reference, and load suppression against manufacturer instructions.
3. Shield bonding is installation- and equipment-dependent; follow the PLC, sensor, and site EMC documentation rather than applying a universal one-end/both-ends rule.
4. Debrief: a filter may reduce brief disturbances but can also hide valid short pulses; correct routing, compatible interfaces, sound terminations, and a measured diagnosis come first.
TEACHING VISUAL
This slide has a reserved image bay. Add the image described below.
OPTIONAL IMAGE PROMPT
Original control-panel wiring photograph-style illustration with separated sensor and motor cable routes, a shielded sensor cable, terminal block, and inductive contactor load; no labels or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Signal Processing and Signal Integrity | Week 05 | LO2
Slide 10 of 18 | Suggested time: 10 minutes | Criteria: LO2 foundations
TEACHING NOTES AND ACTIVITY CUES
1. Procedure: confirm the safe test state and expected I/O map, then check supply and wiring, field-device indicator, terminal signal, input-channel indication, program tag, logic/filter, output-channel indication, and load in that order.
2. At each boundary record the expected state/value beside the observed one; the first mismatch narrows the fault to the interval since the previous confirmed-good point.
3. Example debrief: sensor LED changes but the PLC input LED does not, so investigate the cable, common/reference, terminal, channel configuration, and input circuit before editing count logic.
4. Never force an output or bypass a safety device on live equipment; use an authorised, risk-assessed test procedure and suitable isolation.
TEACHING VISUAL
The slide uses an editable application workflow diagram. Keep it unless the prompted image communicates the idea more clearly.
OPTIONAL IMAGE PROMPT
Original technician's fault-finding path through a sensor, terminal, PLC input LED, software tag monitor, output module, and actuator, with a meter used at a safe test point; no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Signal Processing and Signal Integrity | Week 05 | LO2
Slide 11 of 18 | Suggested time: 10 minutes | Criteria: LO2 foundations
TEACHING NOTES AND ACTIVITY CUES
1. Procedure: use the selected wiring diagram and I/O table to trace Start, Reset, pill sensor, actuator command, buzzer, and any E-stop status feedback from device terminal to PLC channel/tag.
2. Mark supply, common/reference, polarity, and output load type only after checking the selected sensor, CPU/module, and interface documentation; do not infer 24 V DC from a generic example.
3. Expected observation: each documented field signal has one traceable terminal/channel/tag assignment, while the safety circuit and any status-only feedback are visibly distinguished.
4. Ordinary HMI/SCADA or standard PLC logic must not be treated as the independent emergency-stop safety function; follow the training rig's safety design and local procedure.
TEACHING VISUAL
The slide uses an editable signal path diagram. Keep it unless the prompted image communicates the idea more clearly.
OPTIONAL IMAGE PROMPT
Original annotated-style electrical schematic layout with start/reset devices, photoelectric sensor, PLC I/O, relay-driven actuator and buzzer, plus a visually separate safety circuit; no text or symbols that resemble labels.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Signal Processing and Signal Integrity | Week 05 | LO2
Slide 12 of 18 | Suggested time: 15 minutes | Criteria: LO2 foundations
TEACHING NOTES AND ACTIVITY CUES
1. Procedure: inspect the actual CPU, slot/module order, channel configuration, terminal numbers, and project hardware tree before assigning each physical point to a symbolic tag.
2. For each MedPack input/output, record terminal, electrical type/polarity, normal state, tag name, logic use, and load/interface; distinguish a normally closed contact's healthy state from an asserted program bit.
3. Cross-check the wiring diagram, I/O schedule, and downloaded project; expected result is a one-to-one documented mapping with no assumed sample addresses.
TEACHING VISUAL
The slide uses an editable signal path diagram. Keep it unless the prompted image communicates the idea more clearly.
OPTIONAL IMAGE PROMPT
Original split-view diagram linking a PLC rack channel and terminal strip to a software tag table using matching colored signal paths, without visible characters or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Signal Processing and Signal Integrity | Week 05 | LO2
Slide 13 of 18 | Suggested time: 10 minutes | Criteria: LO2 foundations
TEACHING NOTES AND ACTIVITY CUES
1. Procedure on the authorised simulator/training rig: confirm safe idle, issue Start, generate one pill-sensor event at a time, observe count and state, reach the configured target, inspect the actuator/buzzer request, then reset using the documented sequence.
2. Expected observations: each valid event increments the count once; the target transition occurs at the configured value; outputs respond only when the program's permissives are true.
3. Monitor the physical/module indication and program tags together, and pause at each transition to explain which input or condition changed the state.
TEACHING VISUAL
The slide uses an editable process state model diagram. Keep it unless the prompted image communicates the idea more clearly.
OPTIONAL IMAGE PROMPT
Original training-rig scene with a pill sensor detecting individual sample tablets, PLC status LEDs, and an actuator indicator lamp during a cycle; no text or brand marks.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Signal Processing and Signal Integrity | Week 05 | LO2
Slide 14 of 18 | Suggested time: 10 minutes | Criteria: LO2 foundations
TEACHING NOTES AND ACTIVITY CUES
1. Procedure: choose one sensor event and record its physical action, terminal-level signal, module indication, program tag, logic result, output indication, and load response in sequence.
2. Use an approved meter or simulator monitor at the designated test points; compare like-for-like voltage/current/state values and avoid probing live circuits outside the authorised method.
3. Expected debrief: if the terminal is correct but the channel/tag is not, inspect channel configuration or mapping; if the tag is correct but the output is not, inspect logic conditions and output assignment.
TEACHING VISUAL
The slide uses an editable signal timing diagram. Keep it unless the prompted image communicates the idea more clearly.
OPTIONAL IMAGE PROMPT
Original observation worksheet scene with a technician comparing a terminal meter reading, PLC input LED, software tag monitor, and output lamp; no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Signal Processing and Signal Integrity | Week 05 | LO2
Slide 15 of 18 | Suggested time: 20 minutes | Criteria: LO2 foundations
TEACHING NOTES AND ACTIVITY CUES
1. Procedure: in simulation or the approved de-energised/training setup, select chatter, stuck-high, or stuck-low; record the initial filter/edge settings and predict the count/status before applying the fault.
2. Apply the fault, observe sensor/channel/tag/count and any diagnostic, then identify the first point where behaviour differs from expectation; do not alter wiring on an energised rig unless the approved procedure allows it.
3. Correct the cause using documented mapping, edge logic, filter, or sensor/wiring checks; repeat the same input sequence and compare before/after results.
4. Expected debrief: chatter may create extra edges, a stuck-high may produce only one edge then no further counts, and stuck-low produces no event; final behaviour depends on the configured program and diagnostics.
TEACHING VISUAL
This slide has a reserved image bay. Add the image described below.
OPTIONAL IMAGE PROMPT
Original fault-injection training diagram showing a simulated bouncing sensor input, a PLC trend monitor, and a before/after count trace; no embedded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Signal Processing and Signal Integrity | Week 05 | LO2
Slide 16 of 18 | Suggested time: 20 minutes | Criteria: LO2 foundations
TEACHING NOTES AND ACTIVITY CUES
1. Procedure: under the instructor's authorised rig procedure, verify the E-stop device and safety design before testing; actuate it and observe the designed safe response, then inspect standard PLC status feedback and alarm indication separately.
2. Expected observation: the safety function reaches its specified safe state independently of ordinary HMI/SCADA availability; a standard PLC tag may report status but is not proof of a safety-rated action.
3. Check reset and restart permissives: releasing/resetting the E-stop must not itself cause an unexpected automatic restart; follow the actual safety relay/controller documentation.
4. Keep buzzer/fault handling distinct from the safety function, and never simulate by bypassing or defeating an E-stop circuit.
TEACHING VISUAL
The slide uses an editable safe response path diagram. Keep it unless the prompted image communicates the idea more clearly.
OPTIONAL IMAGE PROMPT
Original safety-training panel showing a mushroom emergency-stop actuator, separate safety relay path, standard PLC status input, and de-energised actuator interface; no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Signal Processing and Signal Integrity | Week 05 | LO2
Slide 17 of 18 | Suggested time: 7 minutes | Criteria: LO2 foundations
TEACHING NOTES AND ACTIVITY CUES
1. Check the dated record identifies the rig/PLC configuration, project version, wiring diagram, I/O map, test conditions, and safe test method.
2. Confirm each test has a reproducible procedure, predicted result, measured/observed result, diagnosis, corrective action, and retest outcome.
3. Expected review finding: a screenshot or trend without setup, tag/address context, or expected-versus-observed comparison is not sufficient to reproduce the test.
TEACHING VISUAL
The slide uses an editable formative check diagram. Keep it unless the prompted image communicates the idea more clearly.
OPTIONAL IMAGE PROMPT
Original close-up of a neat engineering lab notebook beside a PLC training rig and annotated signal trace, with blank pages and no readable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Signal Processing and Signal Integrity | Week 05 | LO2
Slide 18 of 18 | Suggested time: 8 minutes | Criteria: LO2 foundations
TEACHING NOTES AND ACTIVITY CUES
1. Given a sensor LED that changes while the PLC input indication stays off, identify the terminal/channel boundary as the next check and give one plausible cause such as wiring, reference, configuration, or channel fault.
2. State that input filtering can reject short unwanted transitions, but an excessive setting can suppress valid short pulses and delay response.
3. Hand in one concise answer with the test point, expected observation, and evidence that would distinguish the likely causes.
TEACHING VISUAL
The slide uses an editable formative check diagram. Keep it unless the prompted image communicates the idea more clearly.
OPTIONAL IMAGE PROMPT
Original simple diagnostic decision path beginning with a lit sensor indicator and an unlit PLC input indicator, ending at a terminal measurement point; no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087F8C"/>
          </a:solidFill>
          <a:ln w="12700">
            <a:solidFill>
              <a:srgbClr val="087F8C">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087F8C"/>
                </a:solidFill>
                <a:latin typeface="Aptos" pitchFamily="34" charset="0"/>
                <a:ea typeface="Aptos" pitchFamily="34" charset="-122"/>
                <a:cs typeface="Aptos" pitchFamily="34" charset="-120"/>
              </a:rPr>
              <a:t>UNIT 5009    /    WEEK 05    /    LO2</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5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087F8C"/>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087F8C"/>
                </a:solidFill>
                <a:latin typeface="Aptos" pitchFamily="34" charset="0"/>
                <a:ea typeface="Aptos" pitchFamily="34" charset="-122"/>
                <a:cs typeface="Aptos" pitchFamily="34" charset="-120"/>
              </a:rPr>
              <a:t>LO2 FOUNDATIONS</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2800" b="1" dirty="0">
                <a:solidFill>
                  <a:srgbClr val="1B3448"/>
                </a:solidFill>
                <a:latin typeface="Aptos Display" pitchFamily="34" charset="0"/>
                <a:ea typeface="Aptos Display" pitchFamily="34" charset="-122"/>
                <a:cs typeface="Aptos Display" pitchFamily="34" charset="-120"/>
              </a:rPr>
              <a:t>A false count can stop a production line</a:t>
            </a:r>
            <a:endParaRPr lang="en-US" sz="28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67512" y="1709928"/>
            <a:ext cx="2743200" cy="210312"/>
          </a:xfrm>
          <a:prstGeom prst="rect">
            <a:avLst/>
          </a:prstGeom>
          <a:noFill/>
          <a:ln/>
        </p:spPr>
        <p:txBody>
          <a:bodyPr wrap="square" lIns="0" tIns="0" rIns="0" bIns="0" rtlCol="0" anchor="ctr"/>
          <a:lstStyle/>
          <a:p>
            <a:pPr indent="0" marL="0">
              <a:buNone/>
            </a:pPr>
            <a:r>
              <a:rPr lang="en-US" sz="900" b="1" spc="100" kern="0" dirty="0">
                <a:solidFill>
                  <a:srgbClr val="087F8C"/>
                </a:solidFill>
                <a:latin typeface="Aptos" pitchFamily="34" charset="0"/>
                <a:ea typeface="Aptos" pitchFamily="34" charset="-122"/>
                <a:cs typeface="Aptos" pitchFamily="34" charset="-120"/>
              </a:rPr>
              <a:t>TEACHING POINTS</a:t>
            </a:r>
            <a:endParaRPr lang="en-US" sz="900" dirty="0"/>
          </a:p>
        </p:txBody>
      </p:sp>
      <p:sp>
        <p:nvSpPr>
          <p:cNvPr id="11" name="Shape 9"/>
          <p:cNvSpPr/>
          <p:nvPr/>
        </p:nvSpPr>
        <p:spPr>
          <a:xfrm>
            <a:off x="640080" y="1993392"/>
            <a:ext cx="6720840" cy="1328928"/>
          </a:xfrm>
          <a:prstGeom prst="rect">
            <a:avLst/>
          </a:prstGeom>
          <a:solidFill>
            <a:srgbClr val="FFFFFF"/>
          </a:solidFill>
          <a:ln w="8890">
            <a:solidFill>
              <a:srgbClr val="D5E0E7"/>
            </a:solidFill>
            <a:prstDash val="solid"/>
          </a:ln>
        </p:spPr>
      </p:sp>
      <p:sp>
        <p:nvSpPr>
          <p:cNvPr id="12" name="Shape 10"/>
          <p:cNvSpPr/>
          <p:nvPr/>
        </p:nvSpPr>
        <p:spPr>
          <a:xfrm>
            <a:off x="640080" y="1993392"/>
            <a:ext cx="50292" cy="1328928"/>
          </a:xfrm>
          <a:prstGeom prst="rect">
            <a:avLst/>
          </a:prstGeom>
          <a:solidFill>
            <a:srgbClr val="087F8C"/>
          </a:solidFill>
          <a:ln w="12700">
            <a:solidFill>
              <a:srgbClr val="087F8C">
                <a:alpha val="0"/>
              </a:srgbClr>
            </a:solidFill>
            <a:prstDash val="solid"/>
          </a:ln>
        </p:spPr>
      </p:sp>
      <p:sp>
        <p:nvSpPr>
          <p:cNvPr id="13" name="Text 11"/>
          <p:cNvSpPr/>
          <p:nvPr/>
        </p:nvSpPr>
        <p:spPr>
          <a:xfrm>
            <a:off x="786384" y="2084832"/>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01</a:t>
            </a:r>
            <a:endParaRPr lang="en-US" sz="950" dirty="0"/>
          </a:p>
        </p:txBody>
      </p:sp>
      <p:sp>
        <p:nvSpPr>
          <p:cNvPr id="14" name="Text 12"/>
          <p:cNvSpPr/>
          <p:nvPr/>
        </p:nvSpPr>
        <p:spPr>
          <a:xfrm>
            <a:off x="1197864" y="2075688"/>
            <a:ext cx="5989320" cy="1173480"/>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A sensor pulse is the electrical representation of one detected pill; contact bounce or electrical noise can create extra transitions, while a pulse shorter than the input can register may be missed.</a:t>
            </a:r>
            <a:endParaRPr lang="en-US" sz="1410" dirty="0"/>
          </a:p>
        </p:txBody>
      </p:sp>
      <p:sp>
        <p:nvSpPr>
          <p:cNvPr id="15" name="Shape 13"/>
          <p:cNvSpPr/>
          <p:nvPr/>
        </p:nvSpPr>
        <p:spPr>
          <a:xfrm>
            <a:off x="640080" y="3404616"/>
            <a:ext cx="6720840" cy="1328928"/>
          </a:xfrm>
          <a:prstGeom prst="rect">
            <a:avLst/>
          </a:prstGeom>
          <a:solidFill>
            <a:srgbClr val="FFFFFF"/>
          </a:solidFill>
          <a:ln w="8890">
            <a:solidFill>
              <a:srgbClr val="E7EDF1"/>
            </a:solidFill>
            <a:prstDash val="solid"/>
          </a:ln>
        </p:spPr>
      </p:sp>
      <p:sp>
        <p:nvSpPr>
          <p:cNvPr id="16" name="Shape 14"/>
          <p:cNvSpPr/>
          <p:nvPr/>
        </p:nvSpPr>
        <p:spPr>
          <a:xfrm>
            <a:off x="640080" y="3404616"/>
            <a:ext cx="50292" cy="1328928"/>
          </a:xfrm>
          <a:prstGeom prst="rect">
            <a:avLst/>
          </a:prstGeom>
          <a:solidFill>
            <a:srgbClr val="087F8C"/>
          </a:solidFill>
          <a:ln w="12700">
            <a:solidFill>
              <a:srgbClr val="087F8C">
                <a:alpha val="0"/>
              </a:srgbClr>
            </a:solidFill>
            <a:prstDash val="solid"/>
          </a:ln>
        </p:spPr>
      </p:sp>
      <p:sp>
        <p:nvSpPr>
          <p:cNvPr id="17" name="Text 15"/>
          <p:cNvSpPr/>
          <p:nvPr/>
        </p:nvSpPr>
        <p:spPr>
          <a:xfrm>
            <a:off x="786384" y="3496056"/>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02</a:t>
            </a:r>
            <a:endParaRPr lang="en-US" sz="950" dirty="0"/>
          </a:p>
        </p:txBody>
      </p:sp>
      <p:sp>
        <p:nvSpPr>
          <p:cNvPr id="18" name="Text 16"/>
          <p:cNvSpPr/>
          <p:nvPr/>
        </p:nvSpPr>
        <p:spPr>
          <a:xfrm>
            <a:off x="1197864" y="3486912"/>
            <a:ext cx="5989320" cy="1173480"/>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Have learners follow a trace containing one clean event and one bouncing event; the expected count depends on the configured input filter, edge logic, and capture method, not on the drawing alone.</a:t>
            </a:r>
            <a:endParaRPr lang="en-US" sz="1410" dirty="0"/>
          </a:p>
        </p:txBody>
      </p:sp>
      <p:sp>
        <p:nvSpPr>
          <p:cNvPr id="19" name="Shape 17"/>
          <p:cNvSpPr/>
          <p:nvPr/>
        </p:nvSpPr>
        <p:spPr>
          <a:xfrm>
            <a:off x="640080" y="4815840"/>
            <a:ext cx="6720840" cy="1328928"/>
          </a:xfrm>
          <a:prstGeom prst="rect">
            <a:avLst/>
          </a:prstGeom>
          <a:solidFill>
            <a:srgbClr val="FFFFFF"/>
          </a:solidFill>
          <a:ln w="8890">
            <a:solidFill>
              <a:srgbClr val="E7EDF1"/>
            </a:solidFill>
            <a:prstDash val="solid"/>
          </a:ln>
        </p:spPr>
      </p:sp>
      <p:sp>
        <p:nvSpPr>
          <p:cNvPr id="20" name="Shape 18"/>
          <p:cNvSpPr/>
          <p:nvPr/>
        </p:nvSpPr>
        <p:spPr>
          <a:xfrm>
            <a:off x="640080" y="4815840"/>
            <a:ext cx="50292" cy="1328928"/>
          </a:xfrm>
          <a:prstGeom prst="rect">
            <a:avLst/>
          </a:prstGeom>
          <a:solidFill>
            <a:srgbClr val="087F8C"/>
          </a:solidFill>
          <a:ln w="12700">
            <a:solidFill>
              <a:srgbClr val="087F8C">
                <a:alpha val="0"/>
              </a:srgbClr>
            </a:solidFill>
            <a:prstDash val="solid"/>
          </a:ln>
        </p:spPr>
      </p:sp>
      <p:sp>
        <p:nvSpPr>
          <p:cNvPr id="21" name="Text 19"/>
          <p:cNvSpPr/>
          <p:nvPr/>
        </p:nvSpPr>
        <p:spPr>
          <a:xfrm>
            <a:off x="786384" y="4907280"/>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03</a:t>
            </a:r>
            <a:endParaRPr lang="en-US" sz="950" dirty="0"/>
          </a:p>
        </p:txBody>
      </p:sp>
      <p:sp>
        <p:nvSpPr>
          <p:cNvPr id="22" name="Text 20"/>
          <p:cNvSpPr/>
          <p:nvPr/>
        </p:nvSpPr>
        <p:spPr>
          <a:xfrm>
            <a:off x="1197864" y="4898136"/>
            <a:ext cx="5989320" cy="1173480"/>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In a clearly hypothetical case, a missed count leaves PillCount below target, so the PLC should not assert the target-reached request; verify the actual sequence and permissives in the project.</a:t>
            </a:r>
            <a:endParaRPr lang="en-US" sz="1410" dirty="0"/>
          </a:p>
        </p:txBody>
      </p:sp>
      <p:sp>
        <p:nvSpPr>
          <p:cNvPr id="23" name="Shape 21"/>
          <p:cNvSpPr/>
          <p:nvPr/>
        </p:nvSpPr>
        <p:spPr>
          <a:xfrm>
            <a:off x="7662672" y="1746504"/>
            <a:ext cx="3922776" cy="4361688"/>
          </a:xfrm>
          <a:prstGeom prst="rect">
            <a:avLst/>
          </a:prstGeom>
          <a:solidFill>
            <a:srgbClr val="FFFFFF"/>
          </a:solidFill>
          <a:ln w="12700">
            <a:solidFill>
              <a:srgbClr val="D5E0E7"/>
            </a:solidFill>
            <a:prstDash val="solid"/>
          </a:ln>
        </p:spPr>
      </p:sp>
      <p:sp>
        <p:nvSpPr>
          <p:cNvPr id="24" name="Text 22"/>
          <p:cNvSpPr/>
          <p:nvPr/>
        </p:nvSpPr>
        <p:spPr>
          <a:xfrm>
            <a:off x="7863840" y="1892808"/>
            <a:ext cx="3520440" cy="219456"/>
          </a:xfrm>
          <a:prstGeom prst="rect">
            <a:avLst/>
          </a:prstGeom>
          <a:noFill/>
          <a:ln/>
        </p:spPr>
        <p:txBody>
          <a:bodyPr wrap="square" lIns="0" tIns="0" rIns="0" bIns="0" rtlCol="0" anchor="ctr"/>
          <a:lstStyle/>
          <a:p>
            <a:pPr indent="0" marL="0">
              <a:buNone/>
            </a:pPr>
            <a:r>
              <a:rPr lang="en-US" sz="900" b="1" spc="80" kern="0" dirty="0">
                <a:solidFill>
                  <a:srgbClr val="087F8C"/>
                </a:solidFill>
                <a:latin typeface="Aptos" pitchFamily="34" charset="0"/>
                <a:ea typeface="Aptos" pitchFamily="34" charset="-122"/>
                <a:cs typeface="Aptos" pitchFamily="34" charset="-120"/>
              </a:rPr>
              <a:t>SUGGESTED VISUAL</a:t>
            </a:r>
            <a:endParaRPr lang="en-US" sz="900" dirty="0"/>
          </a:p>
        </p:txBody>
      </p:sp>
      <p:sp>
        <p:nvSpPr>
          <p:cNvPr id="25" name="Shape 23"/>
          <p:cNvSpPr/>
          <p:nvPr/>
        </p:nvSpPr>
        <p:spPr>
          <a:xfrm>
            <a:off x="7863840" y="2221992"/>
            <a:ext cx="3520440" cy="0"/>
          </a:xfrm>
          <a:prstGeom prst="line">
            <a:avLst/>
          </a:prstGeom>
          <a:noFill/>
          <a:ln w="8890">
            <a:solidFill>
              <a:srgbClr val="D5E0E7"/>
            </a:solidFill>
            <a:prstDash val="solid"/>
          </a:ln>
        </p:spPr>
      </p:sp>
      <p:sp>
        <p:nvSpPr>
          <p:cNvPr id="26" name="Shape 24"/>
          <p:cNvSpPr/>
          <p:nvPr/>
        </p:nvSpPr>
        <p:spPr>
          <a:xfrm>
            <a:off x="7882128" y="2432304"/>
            <a:ext cx="3483864" cy="3447288"/>
          </a:xfrm>
          <a:prstGeom prst="rect">
            <a:avLst/>
          </a:prstGeom>
          <a:solidFill>
            <a:srgbClr val="E8EFF3"/>
          </a:solidFill>
          <a:ln w="13970">
            <a:solidFill>
              <a:srgbClr val="AFC1CD"/>
            </a:solidFill>
            <a:prstDash val="solid"/>
          </a:ln>
        </p:spPr>
      </p:sp>
      <p:sp>
        <p:nvSpPr>
          <p:cNvPr id="27" name="Text 25"/>
          <p:cNvSpPr/>
          <p:nvPr/>
        </p:nvSpPr>
        <p:spPr>
          <a:xfrm>
            <a:off x="8138160" y="3666744"/>
            <a:ext cx="2971800" cy="384048"/>
          </a:xfrm>
          <a:prstGeom prst="rect">
            <a:avLst/>
          </a:prstGeom>
          <a:noFill/>
          <a:ln/>
        </p:spPr>
        <p:txBody>
          <a:bodyPr wrap="square" lIns="0" tIns="0" rIns="0" bIns="0" rtlCol="0" anchor="ctr">
            <a:normAutofit/>
          </a:bodyPr>
          <a:lstStyle/>
          <a:p>
            <a:pPr algn="ctr" indent="0" marL="0">
              <a:buNone/>
            </a:pPr>
            <a:r>
              <a:rPr lang="en-US" sz="1800" b="1" dirty="0">
                <a:solidFill>
                  <a:srgbClr val="087F8C"/>
                </a:solidFill>
                <a:latin typeface="Aptos Display" pitchFamily="34" charset="0"/>
                <a:ea typeface="Aptos Display" pitchFamily="34" charset="-122"/>
                <a:cs typeface="Aptos Display" pitchFamily="34" charset="-120"/>
              </a:rPr>
              <a:t>IMAGE SPACE</a:t>
            </a:r>
            <a:endParaRPr lang="en-US" sz="1800" dirty="0"/>
          </a:p>
        </p:txBody>
      </p:sp>
      <p:sp>
        <p:nvSpPr>
          <p:cNvPr id="28" name="Text 26"/>
          <p:cNvSpPr/>
          <p:nvPr/>
        </p:nvSpPr>
        <p:spPr>
          <a:xfrm>
            <a:off x="8229600" y="4123944"/>
            <a:ext cx="2788920" cy="502920"/>
          </a:xfrm>
          <a:prstGeom prst="rect">
            <a:avLst/>
          </a:prstGeom>
          <a:noFill/>
          <a:ln/>
        </p:spPr>
        <p:txBody>
          <a:bodyPr wrap="square" lIns="0" tIns="0" rIns="0" bIns="0" rtlCol="0" anchor="ctr">
            <a:normAutofit/>
          </a:bodyPr>
          <a:lstStyle/>
          <a:p>
            <a:pPr algn="ctr" indent="0" marL="0">
              <a:buNone/>
            </a:pPr>
            <a:r>
              <a:rPr lang="en-US" sz="1050" dirty="0">
                <a:solidFill>
                  <a:srgbClr val="607585"/>
                </a:solidFill>
                <a:latin typeface="Aptos" pitchFamily="34" charset="0"/>
                <a:ea typeface="Aptos" pitchFamily="34" charset="-122"/>
                <a:cs typeface="Aptos" pitchFamily="34" charset="-120"/>
              </a:rPr>
              <a:t>Insert the visual described in the speaker notes</a:t>
            </a:r>
            <a:endParaRPr lang="en-US" sz="1050" dirty="0"/>
          </a:p>
        </p:txBody>
      </p:sp>
      <p:sp>
        <p:nvSpPr>
          <p:cNvPr id="29" name="Shape 27"/>
          <p:cNvSpPr/>
          <p:nvPr/>
        </p:nvSpPr>
        <p:spPr>
          <a:xfrm>
            <a:off x="603504" y="6318504"/>
            <a:ext cx="10972800" cy="0"/>
          </a:xfrm>
          <a:prstGeom prst="line">
            <a:avLst/>
          </a:prstGeom>
          <a:noFill/>
          <a:ln w="10160">
            <a:solidFill>
              <a:srgbClr val="D5E0E7"/>
            </a:solidFill>
            <a:prstDash val="solid"/>
          </a:ln>
        </p:spPr>
      </p:sp>
      <p:sp>
        <p:nvSpPr>
          <p:cNvPr id="30" name="Text 28"/>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SIGNAL PROCESSING AND SIGNAL INTEGRITY</a:t>
            </a:r>
            <a:endParaRPr lang="en-US" sz="800" dirty="0"/>
          </a:p>
        </p:txBody>
      </p:sp>
      <p:sp>
        <p:nvSpPr>
          <p:cNvPr id="31" name="Text 29"/>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01 / 18</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087F8C"/>
          </a:solidFill>
          <a:ln w="12700">
            <a:solidFill>
              <a:srgbClr val="087F8C">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087F8C"/>
                </a:solidFill>
                <a:latin typeface="Aptos" pitchFamily="34" charset="0"/>
                <a:ea typeface="Aptos" pitchFamily="34" charset="-122"/>
                <a:cs typeface="Aptos" pitchFamily="34" charset="-120"/>
              </a:rPr>
              <a:t>UNIT 5009    /    WEEK 05    /    LO2</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5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087F8C"/>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087F8C"/>
                </a:solidFill>
                <a:latin typeface="Aptos" pitchFamily="34" charset="0"/>
                <a:ea typeface="Aptos" pitchFamily="34" charset="-122"/>
                <a:cs typeface="Aptos" pitchFamily="34" charset="-120"/>
              </a:rPr>
              <a:t>LO2 FOUNDATIONS</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3100" b="1" dirty="0">
                <a:solidFill>
                  <a:srgbClr val="1B3448"/>
                </a:solidFill>
                <a:latin typeface="Aptos Display" pitchFamily="34" charset="0"/>
                <a:ea typeface="Aptos Display" pitchFamily="34" charset="-122"/>
                <a:cs typeface="Aptos Display" pitchFamily="34" charset="-120"/>
              </a:rPr>
              <a:t>Reconnect LO1 to LO2</a:t>
            </a:r>
            <a:endParaRPr lang="en-US" sz="31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67512" y="1709928"/>
            <a:ext cx="2743200" cy="210312"/>
          </a:xfrm>
          <a:prstGeom prst="rect">
            <a:avLst/>
          </a:prstGeom>
          <a:noFill/>
          <a:ln/>
        </p:spPr>
        <p:txBody>
          <a:bodyPr wrap="square" lIns="0" tIns="0" rIns="0" bIns="0" rtlCol="0" anchor="ctr"/>
          <a:lstStyle/>
          <a:p>
            <a:pPr indent="0" marL="0">
              <a:buNone/>
            </a:pPr>
            <a:r>
              <a:rPr lang="en-US" sz="900" b="1" spc="100" kern="0" dirty="0">
                <a:solidFill>
                  <a:srgbClr val="087F8C"/>
                </a:solidFill>
                <a:latin typeface="Aptos" pitchFamily="34" charset="0"/>
                <a:ea typeface="Aptos" pitchFamily="34" charset="-122"/>
                <a:cs typeface="Aptos" pitchFamily="34" charset="-120"/>
              </a:rPr>
              <a:t>TEACHING POINTS</a:t>
            </a:r>
            <a:endParaRPr lang="en-US" sz="900" dirty="0"/>
          </a:p>
        </p:txBody>
      </p:sp>
      <p:sp>
        <p:nvSpPr>
          <p:cNvPr id="11" name="Shape 9"/>
          <p:cNvSpPr/>
          <p:nvPr/>
        </p:nvSpPr>
        <p:spPr>
          <a:xfrm>
            <a:off x="640080" y="1993392"/>
            <a:ext cx="6720840" cy="1328928"/>
          </a:xfrm>
          <a:prstGeom prst="rect">
            <a:avLst/>
          </a:prstGeom>
          <a:solidFill>
            <a:srgbClr val="FFFFFF"/>
          </a:solidFill>
          <a:ln w="8890">
            <a:solidFill>
              <a:srgbClr val="D5E0E7"/>
            </a:solidFill>
            <a:prstDash val="solid"/>
          </a:ln>
        </p:spPr>
      </p:sp>
      <p:sp>
        <p:nvSpPr>
          <p:cNvPr id="12" name="Shape 10"/>
          <p:cNvSpPr/>
          <p:nvPr/>
        </p:nvSpPr>
        <p:spPr>
          <a:xfrm>
            <a:off x="640080" y="1993392"/>
            <a:ext cx="50292" cy="1328928"/>
          </a:xfrm>
          <a:prstGeom prst="rect">
            <a:avLst/>
          </a:prstGeom>
          <a:solidFill>
            <a:srgbClr val="087F8C"/>
          </a:solidFill>
          <a:ln w="12700">
            <a:solidFill>
              <a:srgbClr val="087F8C">
                <a:alpha val="0"/>
              </a:srgbClr>
            </a:solidFill>
            <a:prstDash val="solid"/>
          </a:ln>
        </p:spPr>
      </p:sp>
      <p:sp>
        <p:nvSpPr>
          <p:cNvPr id="13" name="Text 11"/>
          <p:cNvSpPr/>
          <p:nvPr/>
        </p:nvSpPr>
        <p:spPr>
          <a:xfrm>
            <a:off x="786384" y="2084832"/>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01</a:t>
            </a:r>
            <a:endParaRPr lang="en-US" sz="950" dirty="0"/>
          </a:p>
        </p:txBody>
      </p:sp>
      <p:sp>
        <p:nvSpPr>
          <p:cNvPr id="14" name="Text 12"/>
          <p:cNvSpPr/>
          <p:nvPr/>
        </p:nvSpPr>
        <p:spPr>
          <a:xfrm>
            <a:off x="1197864" y="2075688"/>
            <a:ext cx="5989320" cy="1173480"/>
          </a:xfrm>
          <a:prstGeom prst="rect">
            <a:avLst/>
          </a:prstGeom>
          <a:noFill/>
          <a:ln/>
        </p:spPr>
        <p:txBody>
          <a:bodyPr wrap="square" lIns="0" tIns="0" rIns="0" bIns="0" rtlCol="0" anchor="ctr">
            <a:normAutofit/>
          </a:bodyPr>
          <a:lstStyle/>
          <a:p>
            <a:pPr indent="0" marL="0">
              <a:buNone/>
            </a:pPr>
            <a:r>
              <a:rPr lang="en-US" sz="1310" dirty="0">
                <a:solidFill>
                  <a:srgbClr val="334B5C"/>
                </a:solidFill>
                <a:latin typeface="Aptos" pitchFamily="34" charset="0"/>
                <a:ea typeface="Aptos" pitchFamily="34" charset="-122"/>
                <a:cs typeface="Aptos" pitchFamily="34" charset="-120"/>
              </a:rPr>
              <a:t>Reopen the selected PLC CPU/module, sensor datasheet, I/O schedule, and load assumptions from Weeks 1-4; use those actual choices rather than inventing terminal addresses or voltage ratings.</a:t>
            </a:r>
            <a:endParaRPr lang="en-US" sz="1310" dirty="0"/>
          </a:p>
        </p:txBody>
      </p:sp>
      <p:sp>
        <p:nvSpPr>
          <p:cNvPr id="15" name="Shape 13"/>
          <p:cNvSpPr/>
          <p:nvPr/>
        </p:nvSpPr>
        <p:spPr>
          <a:xfrm>
            <a:off x="640080" y="3404616"/>
            <a:ext cx="6720840" cy="1328928"/>
          </a:xfrm>
          <a:prstGeom prst="rect">
            <a:avLst/>
          </a:prstGeom>
          <a:solidFill>
            <a:srgbClr val="FFFFFF"/>
          </a:solidFill>
          <a:ln w="8890">
            <a:solidFill>
              <a:srgbClr val="E7EDF1"/>
            </a:solidFill>
            <a:prstDash val="solid"/>
          </a:ln>
        </p:spPr>
      </p:sp>
      <p:sp>
        <p:nvSpPr>
          <p:cNvPr id="16" name="Shape 14"/>
          <p:cNvSpPr/>
          <p:nvPr/>
        </p:nvSpPr>
        <p:spPr>
          <a:xfrm>
            <a:off x="640080" y="3404616"/>
            <a:ext cx="50292" cy="1328928"/>
          </a:xfrm>
          <a:prstGeom prst="rect">
            <a:avLst/>
          </a:prstGeom>
          <a:solidFill>
            <a:srgbClr val="087F8C"/>
          </a:solidFill>
          <a:ln w="12700">
            <a:solidFill>
              <a:srgbClr val="087F8C">
                <a:alpha val="0"/>
              </a:srgbClr>
            </a:solidFill>
            <a:prstDash val="solid"/>
          </a:ln>
        </p:spPr>
      </p:sp>
      <p:sp>
        <p:nvSpPr>
          <p:cNvPr id="17" name="Text 15"/>
          <p:cNvSpPr/>
          <p:nvPr/>
        </p:nvSpPr>
        <p:spPr>
          <a:xfrm>
            <a:off x="786384" y="3496056"/>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02</a:t>
            </a:r>
            <a:endParaRPr lang="en-US" sz="950" dirty="0"/>
          </a:p>
        </p:txBody>
      </p:sp>
      <p:sp>
        <p:nvSpPr>
          <p:cNvPr id="18" name="Text 16"/>
          <p:cNvSpPr/>
          <p:nvPr/>
        </p:nvSpPr>
        <p:spPr>
          <a:xfrm>
            <a:off x="1197864" y="3486912"/>
            <a:ext cx="5989320" cy="1173480"/>
          </a:xfrm>
          <a:prstGeom prst="rect">
            <a:avLst/>
          </a:prstGeom>
          <a:noFill/>
          <a:ln/>
        </p:spPr>
        <p:txBody>
          <a:bodyPr wrap="square" lIns="0" tIns="0" rIns="0" bIns="0" rtlCol="0" anchor="ctr">
            <a:normAutofit/>
          </a:bodyPr>
          <a:lstStyle/>
          <a:p>
            <a:pPr indent="0" marL="0">
              <a:buNone/>
            </a:pPr>
            <a:r>
              <a:rPr lang="en-US" sz="1310" dirty="0">
                <a:solidFill>
                  <a:srgbClr val="334B5C"/>
                </a:solidFill>
                <a:latin typeface="Aptos" pitchFamily="34" charset="0"/>
                <a:ea typeface="Aptos" pitchFamily="34" charset="-122"/>
                <a:cs typeface="Aptos" pitchFamily="34" charset="-120"/>
              </a:rPr>
              <a:t>Trace the pill sensor from its specified output type and supply through the assigned input channel to the program tag used by the count logic.</a:t>
            </a:r>
            <a:endParaRPr lang="en-US" sz="1310" dirty="0"/>
          </a:p>
        </p:txBody>
      </p:sp>
      <p:sp>
        <p:nvSpPr>
          <p:cNvPr id="19" name="Shape 17"/>
          <p:cNvSpPr/>
          <p:nvPr/>
        </p:nvSpPr>
        <p:spPr>
          <a:xfrm>
            <a:off x="640080" y="4815840"/>
            <a:ext cx="6720840" cy="1328928"/>
          </a:xfrm>
          <a:prstGeom prst="rect">
            <a:avLst/>
          </a:prstGeom>
          <a:solidFill>
            <a:srgbClr val="FFFFFF"/>
          </a:solidFill>
          <a:ln w="8890">
            <a:solidFill>
              <a:srgbClr val="E7EDF1"/>
            </a:solidFill>
            <a:prstDash val="solid"/>
          </a:ln>
        </p:spPr>
      </p:sp>
      <p:sp>
        <p:nvSpPr>
          <p:cNvPr id="20" name="Shape 18"/>
          <p:cNvSpPr/>
          <p:nvPr/>
        </p:nvSpPr>
        <p:spPr>
          <a:xfrm>
            <a:off x="640080" y="4815840"/>
            <a:ext cx="50292" cy="1328928"/>
          </a:xfrm>
          <a:prstGeom prst="rect">
            <a:avLst/>
          </a:prstGeom>
          <a:solidFill>
            <a:srgbClr val="087F8C"/>
          </a:solidFill>
          <a:ln w="12700">
            <a:solidFill>
              <a:srgbClr val="087F8C">
                <a:alpha val="0"/>
              </a:srgbClr>
            </a:solidFill>
            <a:prstDash val="solid"/>
          </a:ln>
        </p:spPr>
      </p:sp>
      <p:sp>
        <p:nvSpPr>
          <p:cNvPr id="21" name="Text 19"/>
          <p:cNvSpPr/>
          <p:nvPr/>
        </p:nvSpPr>
        <p:spPr>
          <a:xfrm>
            <a:off x="786384" y="4907280"/>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03</a:t>
            </a:r>
            <a:endParaRPr lang="en-US" sz="950" dirty="0"/>
          </a:p>
        </p:txBody>
      </p:sp>
      <p:sp>
        <p:nvSpPr>
          <p:cNvPr id="22" name="Text 20"/>
          <p:cNvSpPr/>
          <p:nvPr/>
        </p:nvSpPr>
        <p:spPr>
          <a:xfrm>
            <a:off x="1197864" y="4898136"/>
            <a:ext cx="5989320" cy="1173480"/>
          </a:xfrm>
          <a:prstGeom prst="rect">
            <a:avLst/>
          </a:prstGeom>
          <a:noFill/>
          <a:ln/>
        </p:spPr>
        <p:txBody>
          <a:bodyPr wrap="square" lIns="0" tIns="0" rIns="0" bIns="0" rtlCol="0" anchor="ctr">
            <a:normAutofit/>
          </a:bodyPr>
          <a:lstStyle/>
          <a:p>
            <a:pPr indent="0" marL="0">
              <a:buNone/>
            </a:pPr>
            <a:r>
              <a:rPr lang="en-US" sz="1310" dirty="0">
                <a:solidFill>
                  <a:srgbClr val="334B5C"/>
                </a:solidFill>
                <a:latin typeface="Aptos" pitchFamily="34" charset="0"/>
                <a:ea typeface="Aptos" pitchFamily="34" charset="-122"/>
                <a:cs typeface="Aptos" pitchFamily="34" charset="-120"/>
              </a:rPr>
              <a:t>Check the design fit: the sensor's electrical output, module input type, filter capability, and expected event rate must all be compatible; a correct program cannot repair a mismatched electrical interface.</a:t>
            </a:r>
            <a:endParaRPr lang="en-US" sz="1310" dirty="0"/>
          </a:p>
        </p:txBody>
      </p:sp>
      <p:sp>
        <p:nvSpPr>
          <p:cNvPr id="23" name="Shape 21"/>
          <p:cNvSpPr/>
          <p:nvPr/>
        </p:nvSpPr>
        <p:spPr>
          <a:xfrm>
            <a:off x="7662672" y="1746504"/>
            <a:ext cx="3922776" cy="4361688"/>
          </a:xfrm>
          <a:prstGeom prst="rect">
            <a:avLst/>
          </a:prstGeom>
          <a:solidFill>
            <a:srgbClr val="FFFFFF"/>
          </a:solidFill>
          <a:ln w="12700">
            <a:solidFill>
              <a:srgbClr val="D5E0E7"/>
            </a:solidFill>
            <a:prstDash val="solid"/>
          </a:ln>
        </p:spPr>
      </p:sp>
      <p:sp>
        <p:nvSpPr>
          <p:cNvPr id="24" name="Text 22"/>
          <p:cNvSpPr/>
          <p:nvPr/>
        </p:nvSpPr>
        <p:spPr>
          <a:xfrm>
            <a:off x="7863840" y="1892808"/>
            <a:ext cx="3520440" cy="219456"/>
          </a:xfrm>
          <a:prstGeom prst="rect">
            <a:avLst/>
          </a:prstGeom>
          <a:noFill/>
          <a:ln/>
        </p:spPr>
        <p:txBody>
          <a:bodyPr wrap="square" lIns="0" tIns="0" rIns="0" bIns="0" rtlCol="0" anchor="ctr"/>
          <a:lstStyle/>
          <a:p>
            <a:pPr indent="0" marL="0">
              <a:buNone/>
            </a:pPr>
            <a:r>
              <a:rPr lang="en-US" sz="900" b="1" spc="80" kern="0" dirty="0">
                <a:solidFill>
                  <a:srgbClr val="087F8C"/>
                </a:solidFill>
                <a:latin typeface="Aptos" pitchFamily="34" charset="0"/>
                <a:ea typeface="Aptos" pitchFamily="34" charset="-122"/>
                <a:cs typeface="Aptos" pitchFamily="34" charset="-120"/>
              </a:rPr>
              <a:t>APPLICATION WORKFLOW</a:t>
            </a:r>
            <a:endParaRPr lang="en-US" sz="900" dirty="0"/>
          </a:p>
        </p:txBody>
      </p:sp>
      <p:sp>
        <p:nvSpPr>
          <p:cNvPr id="25" name="Shape 23"/>
          <p:cNvSpPr/>
          <p:nvPr/>
        </p:nvSpPr>
        <p:spPr>
          <a:xfrm>
            <a:off x="7863840" y="2221992"/>
            <a:ext cx="3520440" cy="0"/>
          </a:xfrm>
          <a:prstGeom prst="line">
            <a:avLst/>
          </a:prstGeom>
          <a:noFill/>
          <a:ln w="8890">
            <a:solidFill>
              <a:srgbClr val="D5E0E7"/>
            </a:solidFill>
            <a:prstDash val="solid"/>
          </a:ln>
        </p:spPr>
      </p:sp>
      <p:sp>
        <p:nvSpPr>
          <p:cNvPr id="26" name="Shape 24"/>
          <p:cNvSpPr/>
          <p:nvPr/>
        </p:nvSpPr>
        <p:spPr>
          <a:xfrm>
            <a:off x="7955280" y="3593592"/>
            <a:ext cx="713232" cy="658368"/>
          </a:xfrm>
          <a:prstGeom prst="rect">
            <a:avLst/>
          </a:prstGeom>
          <a:solidFill>
            <a:srgbClr val="F4F8FA"/>
          </a:solidFill>
          <a:ln w="14605">
            <a:solidFill>
              <a:srgbClr val="087F8C"/>
            </a:solidFill>
            <a:prstDash val="solid"/>
          </a:ln>
        </p:spPr>
      </p:sp>
      <p:sp>
        <p:nvSpPr>
          <p:cNvPr id="27" name="Text 25"/>
          <p:cNvSpPr/>
          <p:nvPr/>
        </p:nvSpPr>
        <p:spPr>
          <a:xfrm>
            <a:off x="8028432" y="3648456"/>
            <a:ext cx="566928" cy="548640"/>
          </a:xfrm>
          <a:prstGeom prst="rect">
            <a:avLst/>
          </a:prstGeom>
          <a:noFill/>
          <a:ln/>
        </p:spPr>
        <p:txBody>
          <a:bodyPr wrap="square" lIns="0" tIns="0" rIns="0" bIns="0" rtlCol="0" anchor="ctr">
            <a:normAutofit/>
          </a:bodyPr>
          <a:lstStyle/>
          <a:p>
            <a:pPr algn="ctr" indent="0" marL="0">
              <a:buNone/>
            </a:pPr>
            <a:r>
              <a:rPr lang="en-US" sz="950" b="1" dirty="0">
                <a:solidFill>
                  <a:srgbClr val="1B3448"/>
                </a:solidFill>
                <a:latin typeface="Aptos" pitchFamily="34" charset="0"/>
                <a:ea typeface="Aptos" pitchFamily="34" charset="-122"/>
                <a:cs typeface="Aptos" pitchFamily="34" charset="-120"/>
              </a:rPr>
              <a:t>Application need</a:t>
            </a:r>
            <a:endParaRPr lang="en-US" sz="950" dirty="0"/>
          </a:p>
        </p:txBody>
      </p:sp>
      <p:sp>
        <p:nvSpPr>
          <p:cNvPr id="28" name="Shape 26"/>
          <p:cNvSpPr/>
          <p:nvPr/>
        </p:nvSpPr>
        <p:spPr>
          <a:xfrm>
            <a:off x="8686800" y="3922776"/>
            <a:ext cx="182880" cy="0"/>
          </a:xfrm>
          <a:prstGeom prst="line">
            <a:avLst/>
          </a:prstGeom>
          <a:noFill/>
          <a:ln w="19050">
            <a:solidFill>
              <a:srgbClr val="087F8C"/>
            </a:solidFill>
            <a:prstDash val="solid"/>
            <a:tailEnd type="triangle"/>
          </a:ln>
        </p:spPr>
      </p:sp>
      <p:sp>
        <p:nvSpPr>
          <p:cNvPr id="29" name="Shape 27"/>
          <p:cNvSpPr/>
          <p:nvPr/>
        </p:nvSpPr>
        <p:spPr>
          <a:xfrm>
            <a:off x="8897112" y="3593592"/>
            <a:ext cx="713232" cy="658368"/>
          </a:xfrm>
          <a:prstGeom prst="rect">
            <a:avLst/>
          </a:prstGeom>
          <a:solidFill>
            <a:srgbClr val="F4F8FA"/>
          </a:solidFill>
          <a:ln w="14605">
            <a:solidFill>
              <a:srgbClr val="087F8C"/>
            </a:solidFill>
            <a:prstDash val="solid"/>
          </a:ln>
        </p:spPr>
      </p:sp>
      <p:sp>
        <p:nvSpPr>
          <p:cNvPr id="30" name="Text 28"/>
          <p:cNvSpPr/>
          <p:nvPr/>
        </p:nvSpPr>
        <p:spPr>
          <a:xfrm>
            <a:off x="8970264" y="3648456"/>
            <a:ext cx="566928" cy="548640"/>
          </a:xfrm>
          <a:prstGeom prst="rect">
            <a:avLst/>
          </a:prstGeom>
          <a:noFill/>
          <a:ln/>
        </p:spPr>
        <p:txBody>
          <a:bodyPr wrap="square" lIns="0" tIns="0" rIns="0" bIns="0" rtlCol="0" anchor="ctr">
            <a:normAutofit/>
          </a:bodyPr>
          <a:lstStyle/>
          <a:p>
            <a:pPr algn="ctr" indent="0" marL="0">
              <a:buNone/>
            </a:pPr>
            <a:r>
              <a:rPr lang="en-US" sz="950" b="1" dirty="0">
                <a:solidFill>
                  <a:srgbClr val="1B3448"/>
                </a:solidFill>
                <a:latin typeface="Aptos" pitchFamily="34" charset="0"/>
                <a:ea typeface="Aptos" pitchFamily="34" charset="-122"/>
                <a:cs typeface="Aptos" pitchFamily="34" charset="-120"/>
              </a:rPr>
              <a:t>PLC feature</a:t>
            </a:r>
            <a:endParaRPr lang="en-US" sz="950" dirty="0"/>
          </a:p>
        </p:txBody>
      </p:sp>
      <p:sp>
        <p:nvSpPr>
          <p:cNvPr id="31" name="Shape 29"/>
          <p:cNvSpPr/>
          <p:nvPr/>
        </p:nvSpPr>
        <p:spPr>
          <a:xfrm>
            <a:off x="9628632" y="3922776"/>
            <a:ext cx="182880" cy="0"/>
          </a:xfrm>
          <a:prstGeom prst="line">
            <a:avLst/>
          </a:prstGeom>
          <a:noFill/>
          <a:ln w="19050">
            <a:solidFill>
              <a:srgbClr val="087F8C"/>
            </a:solidFill>
            <a:prstDash val="solid"/>
            <a:tailEnd type="triangle"/>
          </a:ln>
        </p:spPr>
      </p:sp>
      <p:sp>
        <p:nvSpPr>
          <p:cNvPr id="32" name="Shape 30"/>
          <p:cNvSpPr/>
          <p:nvPr/>
        </p:nvSpPr>
        <p:spPr>
          <a:xfrm>
            <a:off x="9838944" y="3593592"/>
            <a:ext cx="713232" cy="658368"/>
          </a:xfrm>
          <a:prstGeom prst="rect">
            <a:avLst/>
          </a:prstGeom>
          <a:solidFill>
            <a:srgbClr val="F4F8FA"/>
          </a:solidFill>
          <a:ln w="14605">
            <a:solidFill>
              <a:srgbClr val="087F8C"/>
            </a:solidFill>
            <a:prstDash val="solid"/>
          </a:ln>
        </p:spPr>
      </p:sp>
      <p:sp>
        <p:nvSpPr>
          <p:cNvPr id="33" name="Text 31"/>
          <p:cNvSpPr/>
          <p:nvPr/>
        </p:nvSpPr>
        <p:spPr>
          <a:xfrm>
            <a:off x="9912096" y="3648456"/>
            <a:ext cx="566928" cy="548640"/>
          </a:xfrm>
          <a:prstGeom prst="rect">
            <a:avLst/>
          </a:prstGeom>
          <a:noFill/>
          <a:ln/>
        </p:spPr>
        <p:txBody>
          <a:bodyPr wrap="square" lIns="0" tIns="0" rIns="0" bIns="0" rtlCol="0" anchor="ctr">
            <a:normAutofit/>
          </a:bodyPr>
          <a:lstStyle/>
          <a:p>
            <a:pPr algn="ctr" indent="0" marL="0">
              <a:buNone/>
            </a:pPr>
            <a:r>
              <a:rPr lang="en-US" sz="950" b="1" dirty="0">
                <a:solidFill>
                  <a:srgbClr val="1B3448"/>
                </a:solidFill>
                <a:latin typeface="Aptos" pitchFamily="34" charset="0"/>
                <a:ea typeface="Aptos" pitchFamily="34" charset="-122"/>
                <a:cs typeface="Aptos" pitchFamily="34" charset="-120"/>
              </a:rPr>
              <a:t>System impact</a:t>
            </a:r>
            <a:endParaRPr lang="en-US" sz="950" dirty="0"/>
          </a:p>
        </p:txBody>
      </p:sp>
      <p:sp>
        <p:nvSpPr>
          <p:cNvPr id="34" name="Shape 32"/>
          <p:cNvSpPr/>
          <p:nvPr/>
        </p:nvSpPr>
        <p:spPr>
          <a:xfrm>
            <a:off x="10570464" y="3922776"/>
            <a:ext cx="182880" cy="0"/>
          </a:xfrm>
          <a:prstGeom prst="line">
            <a:avLst/>
          </a:prstGeom>
          <a:noFill/>
          <a:ln w="19050">
            <a:solidFill>
              <a:srgbClr val="087F8C"/>
            </a:solidFill>
            <a:prstDash val="solid"/>
            <a:tailEnd type="triangle"/>
          </a:ln>
        </p:spPr>
      </p:sp>
      <p:sp>
        <p:nvSpPr>
          <p:cNvPr id="35" name="Shape 33"/>
          <p:cNvSpPr/>
          <p:nvPr/>
        </p:nvSpPr>
        <p:spPr>
          <a:xfrm>
            <a:off x="10780776" y="3593592"/>
            <a:ext cx="713232" cy="658368"/>
          </a:xfrm>
          <a:prstGeom prst="rect">
            <a:avLst/>
          </a:prstGeom>
          <a:solidFill>
            <a:srgbClr val="F4F8FA"/>
          </a:solidFill>
          <a:ln w="14605">
            <a:solidFill>
              <a:srgbClr val="087F8C"/>
            </a:solidFill>
            <a:prstDash val="solid"/>
          </a:ln>
        </p:spPr>
      </p:sp>
      <p:sp>
        <p:nvSpPr>
          <p:cNvPr id="36" name="Text 34"/>
          <p:cNvSpPr/>
          <p:nvPr/>
        </p:nvSpPr>
        <p:spPr>
          <a:xfrm>
            <a:off x="10853928" y="3648456"/>
            <a:ext cx="566928" cy="548640"/>
          </a:xfrm>
          <a:prstGeom prst="rect">
            <a:avLst/>
          </a:prstGeom>
          <a:noFill/>
          <a:ln/>
        </p:spPr>
        <p:txBody>
          <a:bodyPr wrap="square" lIns="0" tIns="0" rIns="0" bIns="0" rtlCol="0" anchor="ctr">
            <a:normAutofit/>
          </a:bodyPr>
          <a:lstStyle/>
          <a:p>
            <a:pPr algn="ctr" indent="0" marL="0">
              <a:buNone/>
            </a:pPr>
            <a:r>
              <a:rPr lang="en-US" sz="950" b="1" dirty="0">
                <a:solidFill>
                  <a:srgbClr val="1B3448"/>
                </a:solidFill>
                <a:latin typeface="Aptos" pitchFamily="34" charset="0"/>
                <a:ea typeface="Aptos" pitchFamily="34" charset="-122"/>
                <a:cs typeface="Aptos" pitchFamily="34" charset="-120"/>
              </a:rPr>
              <a:t>Evidence</a:t>
            </a:r>
            <a:endParaRPr lang="en-US" sz="950" dirty="0"/>
          </a:p>
        </p:txBody>
      </p:sp>
      <p:sp>
        <p:nvSpPr>
          <p:cNvPr id="37" name="Text 35"/>
          <p:cNvSpPr/>
          <p:nvPr/>
        </p:nvSpPr>
        <p:spPr>
          <a:xfrm>
            <a:off x="8046720" y="4617720"/>
            <a:ext cx="3154680" cy="566928"/>
          </a:xfrm>
          <a:prstGeom prst="rect">
            <a:avLst/>
          </a:prstGeom>
          <a:noFill/>
          <a:ln/>
        </p:spPr>
        <p:txBody>
          <a:bodyPr wrap="square" lIns="0" tIns="0" rIns="0" bIns="0" rtlCol="0" anchor="ctr">
            <a:normAutofit/>
          </a:bodyPr>
          <a:lstStyle/>
          <a:p>
            <a:pPr algn="ctr" indent="0" marL="0">
              <a:buNone/>
            </a:pPr>
            <a:r>
              <a:rPr lang="en-US" sz="1150" dirty="0">
                <a:solidFill>
                  <a:srgbClr val="334B5C"/>
                </a:solidFill>
                <a:latin typeface="Aptos" pitchFamily="34" charset="0"/>
                <a:ea typeface="Aptos" pitchFamily="34" charset="-122"/>
                <a:cs typeface="Aptos" pitchFamily="34" charset="-120"/>
              </a:rPr>
              <a:t>Trace the requirement from the device to its verified result</a:t>
            </a:r>
            <a:endParaRPr lang="en-US" sz="1150" dirty="0"/>
          </a:p>
        </p:txBody>
      </p:sp>
      <p:sp>
        <p:nvSpPr>
          <p:cNvPr id="38" name="Shape 36"/>
          <p:cNvSpPr/>
          <p:nvPr/>
        </p:nvSpPr>
        <p:spPr>
          <a:xfrm>
            <a:off x="603504" y="6318504"/>
            <a:ext cx="10972800" cy="0"/>
          </a:xfrm>
          <a:prstGeom prst="line">
            <a:avLst/>
          </a:prstGeom>
          <a:noFill/>
          <a:ln w="10160">
            <a:solidFill>
              <a:srgbClr val="D5E0E7"/>
            </a:solidFill>
            <a:prstDash val="solid"/>
          </a:ln>
        </p:spPr>
      </p:sp>
      <p:sp>
        <p:nvSpPr>
          <p:cNvPr id="39" name="Text 37"/>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SIGNAL PROCESSING AND SIGNAL INTEGRITY</a:t>
            </a:r>
            <a:endParaRPr lang="en-US" sz="800" dirty="0"/>
          </a:p>
        </p:txBody>
      </p:sp>
      <p:sp>
        <p:nvSpPr>
          <p:cNvPr id="40" name="Text 38"/>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02 / 18</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087F8C"/>
          </a:solidFill>
          <a:ln w="12700">
            <a:solidFill>
              <a:srgbClr val="087F8C">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087F8C"/>
                </a:solidFill>
                <a:latin typeface="Aptos" pitchFamily="34" charset="0"/>
                <a:ea typeface="Aptos" pitchFamily="34" charset="-122"/>
                <a:cs typeface="Aptos" pitchFamily="34" charset="-120"/>
              </a:rPr>
              <a:t>UNIT 5009    /    WEEK 05    /    LO2</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5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087F8C"/>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087F8C"/>
                </a:solidFill>
                <a:latin typeface="Aptos" pitchFamily="34" charset="0"/>
                <a:ea typeface="Aptos" pitchFamily="34" charset="-122"/>
                <a:cs typeface="Aptos" pitchFamily="34" charset="-120"/>
              </a:rPr>
              <a:t>LO2 FOUNDATIONS</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3100" b="1" dirty="0">
                <a:solidFill>
                  <a:srgbClr val="1B3448"/>
                </a:solidFill>
                <a:latin typeface="Aptos Display" pitchFamily="34" charset="0"/>
                <a:ea typeface="Aptos Display" pitchFamily="34" charset="-122"/>
                <a:cs typeface="Aptos Display" pitchFamily="34" charset="-120"/>
              </a:rPr>
              <a:t>Session outcomes and evidence</a:t>
            </a:r>
            <a:endParaRPr lang="en-US" sz="31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67512" y="1709928"/>
            <a:ext cx="2743200" cy="210312"/>
          </a:xfrm>
          <a:prstGeom prst="rect">
            <a:avLst/>
          </a:prstGeom>
          <a:noFill/>
          <a:ln/>
        </p:spPr>
        <p:txBody>
          <a:bodyPr wrap="square" lIns="0" tIns="0" rIns="0" bIns="0" rtlCol="0" anchor="ctr"/>
          <a:lstStyle/>
          <a:p>
            <a:pPr indent="0" marL="0">
              <a:buNone/>
            </a:pPr>
            <a:r>
              <a:rPr lang="en-US" sz="900" b="1" spc="100" kern="0" dirty="0">
                <a:solidFill>
                  <a:srgbClr val="087F8C"/>
                </a:solidFill>
                <a:latin typeface="Aptos" pitchFamily="34" charset="0"/>
                <a:ea typeface="Aptos" pitchFamily="34" charset="-122"/>
                <a:cs typeface="Aptos" pitchFamily="34" charset="-120"/>
              </a:rPr>
              <a:t>TEACHING POINTS</a:t>
            </a:r>
            <a:endParaRPr lang="en-US" sz="900" dirty="0"/>
          </a:p>
        </p:txBody>
      </p:sp>
      <p:sp>
        <p:nvSpPr>
          <p:cNvPr id="11" name="Shape 9"/>
          <p:cNvSpPr/>
          <p:nvPr/>
        </p:nvSpPr>
        <p:spPr>
          <a:xfrm>
            <a:off x="640080" y="1993392"/>
            <a:ext cx="6720840" cy="1328928"/>
          </a:xfrm>
          <a:prstGeom prst="rect">
            <a:avLst/>
          </a:prstGeom>
          <a:solidFill>
            <a:srgbClr val="FFFFFF"/>
          </a:solidFill>
          <a:ln w="8890">
            <a:solidFill>
              <a:srgbClr val="D5E0E7"/>
            </a:solidFill>
            <a:prstDash val="solid"/>
          </a:ln>
        </p:spPr>
      </p:sp>
      <p:sp>
        <p:nvSpPr>
          <p:cNvPr id="12" name="Shape 10"/>
          <p:cNvSpPr/>
          <p:nvPr/>
        </p:nvSpPr>
        <p:spPr>
          <a:xfrm>
            <a:off x="640080" y="1993392"/>
            <a:ext cx="50292" cy="1328928"/>
          </a:xfrm>
          <a:prstGeom prst="rect">
            <a:avLst/>
          </a:prstGeom>
          <a:solidFill>
            <a:srgbClr val="087F8C"/>
          </a:solidFill>
          <a:ln w="12700">
            <a:solidFill>
              <a:srgbClr val="087F8C">
                <a:alpha val="0"/>
              </a:srgbClr>
            </a:solidFill>
            <a:prstDash val="solid"/>
          </a:ln>
        </p:spPr>
      </p:sp>
      <p:sp>
        <p:nvSpPr>
          <p:cNvPr id="13" name="Text 11"/>
          <p:cNvSpPr/>
          <p:nvPr/>
        </p:nvSpPr>
        <p:spPr>
          <a:xfrm>
            <a:off x="786384" y="2084832"/>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01</a:t>
            </a:r>
            <a:endParaRPr lang="en-US" sz="950" dirty="0"/>
          </a:p>
        </p:txBody>
      </p:sp>
      <p:sp>
        <p:nvSpPr>
          <p:cNvPr id="14" name="Text 12"/>
          <p:cNvSpPr/>
          <p:nvPr/>
        </p:nvSpPr>
        <p:spPr>
          <a:xfrm>
            <a:off x="1197864" y="2075688"/>
            <a:ext cx="5989320" cy="1173480"/>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By the end, learners should trace a field signal to a program value and output, explain scan/filter/edge effects, and select a suitable method for capturing fast events.</a:t>
            </a:r>
            <a:endParaRPr lang="en-US" sz="1410" dirty="0"/>
          </a:p>
        </p:txBody>
      </p:sp>
      <p:sp>
        <p:nvSpPr>
          <p:cNvPr id="15" name="Shape 13"/>
          <p:cNvSpPr/>
          <p:nvPr/>
        </p:nvSpPr>
        <p:spPr>
          <a:xfrm>
            <a:off x="640080" y="3404616"/>
            <a:ext cx="6720840" cy="1328928"/>
          </a:xfrm>
          <a:prstGeom prst="rect">
            <a:avLst/>
          </a:prstGeom>
          <a:solidFill>
            <a:srgbClr val="FFFFFF"/>
          </a:solidFill>
          <a:ln w="8890">
            <a:solidFill>
              <a:srgbClr val="E7EDF1"/>
            </a:solidFill>
            <a:prstDash val="solid"/>
          </a:ln>
        </p:spPr>
      </p:sp>
      <p:sp>
        <p:nvSpPr>
          <p:cNvPr id="16" name="Shape 14"/>
          <p:cNvSpPr/>
          <p:nvPr/>
        </p:nvSpPr>
        <p:spPr>
          <a:xfrm>
            <a:off x="640080" y="3404616"/>
            <a:ext cx="50292" cy="1328928"/>
          </a:xfrm>
          <a:prstGeom prst="rect">
            <a:avLst/>
          </a:prstGeom>
          <a:solidFill>
            <a:srgbClr val="087F8C"/>
          </a:solidFill>
          <a:ln w="12700">
            <a:solidFill>
              <a:srgbClr val="087F8C">
                <a:alpha val="0"/>
              </a:srgbClr>
            </a:solidFill>
            <a:prstDash val="solid"/>
          </a:ln>
        </p:spPr>
      </p:sp>
      <p:sp>
        <p:nvSpPr>
          <p:cNvPr id="17" name="Text 15"/>
          <p:cNvSpPr/>
          <p:nvPr/>
        </p:nvSpPr>
        <p:spPr>
          <a:xfrm>
            <a:off x="786384" y="3496056"/>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02</a:t>
            </a:r>
            <a:endParaRPr lang="en-US" sz="950" dirty="0"/>
          </a:p>
        </p:txBody>
      </p:sp>
      <p:sp>
        <p:nvSpPr>
          <p:cNvPr id="18" name="Text 16"/>
          <p:cNvSpPr/>
          <p:nvPr/>
        </p:nvSpPr>
        <p:spPr>
          <a:xfrm>
            <a:off x="1197864" y="3486912"/>
            <a:ext cx="5989320" cy="1173480"/>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Practical evidence is a normal-cycle check plus a controlled fault test with conditions, expected result, observed result, diagnosis, correction, and retest recorded.</a:t>
            </a:r>
            <a:endParaRPr lang="en-US" sz="1410" dirty="0"/>
          </a:p>
        </p:txBody>
      </p:sp>
      <p:sp>
        <p:nvSpPr>
          <p:cNvPr id="19" name="Shape 17"/>
          <p:cNvSpPr/>
          <p:nvPr/>
        </p:nvSpPr>
        <p:spPr>
          <a:xfrm>
            <a:off x="640080" y="4815840"/>
            <a:ext cx="6720840" cy="1328928"/>
          </a:xfrm>
          <a:prstGeom prst="rect">
            <a:avLst/>
          </a:prstGeom>
          <a:solidFill>
            <a:srgbClr val="FFFFFF"/>
          </a:solidFill>
          <a:ln w="8890">
            <a:solidFill>
              <a:srgbClr val="E7EDF1"/>
            </a:solidFill>
            <a:prstDash val="solid"/>
          </a:ln>
        </p:spPr>
      </p:sp>
      <p:sp>
        <p:nvSpPr>
          <p:cNvPr id="20" name="Shape 18"/>
          <p:cNvSpPr/>
          <p:nvPr/>
        </p:nvSpPr>
        <p:spPr>
          <a:xfrm>
            <a:off x="640080" y="4815840"/>
            <a:ext cx="50292" cy="1328928"/>
          </a:xfrm>
          <a:prstGeom prst="rect">
            <a:avLst/>
          </a:prstGeom>
          <a:solidFill>
            <a:srgbClr val="087F8C"/>
          </a:solidFill>
          <a:ln w="12700">
            <a:solidFill>
              <a:srgbClr val="087F8C">
                <a:alpha val="0"/>
              </a:srgbClr>
            </a:solidFill>
            <a:prstDash val="solid"/>
          </a:ln>
        </p:spPr>
      </p:sp>
      <p:sp>
        <p:nvSpPr>
          <p:cNvPr id="21" name="Text 19"/>
          <p:cNvSpPr/>
          <p:nvPr/>
        </p:nvSpPr>
        <p:spPr>
          <a:xfrm>
            <a:off x="786384" y="4907280"/>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03</a:t>
            </a:r>
            <a:endParaRPr lang="en-US" sz="950" dirty="0"/>
          </a:p>
        </p:txBody>
      </p:sp>
      <p:sp>
        <p:nvSpPr>
          <p:cNvPr id="22" name="Text 20"/>
          <p:cNvSpPr/>
          <p:nvPr/>
        </p:nvSpPr>
        <p:spPr>
          <a:xfrm>
            <a:off x="1197864" y="4898136"/>
            <a:ext cx="5989320" cy="1173480"/>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This session supports LO2 wiring, operation, fault-finding, and signal-integrity evidence; Week 6 separately develops the P3 communication-link/protocol comparison.</a:t>
            </a:r>
            <a:endParaRPr lang="en-US" sz="1410" dirty="0"/>
          </a:p>
        </p:txBody>
      </p:sp>
      <p:sp>
        <p:nvSpPr>
          <p:cNvPr id="23" name="Shape 21"/>
          <p:cNvSpPr/>
          <p:nvPr/>
        </p:nvSpPr>
        <p:spPr>
          <a:xfrm>
            <a:off x="7662672" y="1746504"/>
            <a:ext cx="3922776" cy="4361688"/>
          </a:xfrm>
          <a:prstGeom prst="rect">
            <a:avLst/>
          </a:prstGeom>
          <a:solidFill>
            <a:srgbClr val="FFFFFF"/>
          </a:solidFill>
          <a:ln w="12700">
            <a:solidFill>
              <a:srgbClr val="D5E0E7"/>
            </a:solidFill>
            <a:prstDash val="solid"/>
          </a:ln>
        </p:spPr>
      </p:sp>
      <p:sp>
        <p:nvSpPr>
          <p:cNvPr id="24" name="Text 22"/>
          <p:cNvSpPr/>
          <p:nvPr/>
        </p:nvSpPr>
        <p:spPr>
          <a:xfrm>
            <a:off x="7863840" y="1892808"/>
            <a:ext cx="3520440" cy="219456"/>
          </a:xfrm>
          <a:prstGeom prst="rect">
            <a:avLst/>
          </a:prstGeom>
          <a:noFill/>
          <a:ln/>
        </p:spPr>
        <p:txBody>
          <a:bodyPr wrap="square" lIns="0" tIns="0" rIns="0" bIns="0" rtlCol="0" anchor="ctr"/>
          <a:lstStyle/>
          <a:p>
            <a:pPr indent="0" marL="0">
              <a:buNone/>
            </a:pPr>
            <a:r>
              <a:rPr lang="en-US" sz="900" b="1" spc="80" kern="0" dirty="0">
                <a:solidFill>
                  <a:srgbClr val="087F8C"/>
                </a:solidFill>
                <a:latin typeface="Aptos" pitchFamily="34" charset="0"/>
                <a:ea typeface="Aptos" pitchFamily="34" charset="-122"/>
                <a:cs typeface="Aptos" pitchFamily="34" charset="-120"/>
              </a:rPr>
              <a:t>FORMATIVE CHECK</a:t>
            </a:r>
            <a:endParaRPr lang="en-US" sz="900" dirty="0"/>
          </a:p>
        </p:txBody>
      </p:sp>
      <p:sp>
        <p:nvSpPr>
          <p:cNvPr id="25" name="Shape 23"/>
          <p:cNvSpPr/>
          <p:nvPr/>
        </p:nvSpPr>
        <p:spPr>
          <a:xfrm>
            <a:off x="7863840" y="2221992"/>
            <a:ext cx="3520440" cy="0"/>
          </a:xfrm>
          <a:prstGeom prst="line">
            <a:avLst/>
          </a:prstGeom>
          <a:noFill/>
          <a:ln w="8890">
            <a:solidFill>
              <a:srgbClr val="D5E0E7"/>
            </a:solidFill>
            <a:prstDash val="solid"/>
          </a:ln>
        </p:spPr>
      </p:sp>
      <p:sp>
        <p:nvSpPr>
          <p:cNvPr id="26" name="Shape 24"/>
          <p:cNvSpPr/>
          <p:nvPr/>
        </p:nvSpPr>
        <p:spPr>
          <a:xfrm>
            <a:off x="8138160" y="2697480"/>
            <a:ext cx="256032" cy="256032"/>
          </a:xfrm>
          <a:prstGeom prst="rect">
            <a:avLst/>
          </a:prstGeom>
          <a:solidFill>
            <a:srgbClr val="FFFFFF"/>
          </a:solidFill>
          <a:ln w="17780">
            <a:solidFill>
              <a:srgbClr val="087F8C"/>
            </a:solidFill>
            <a:prstDash val="solid"/>
          </a:ln>
        </p:spPr>
      </p:sp>
      <p:sp>
        <p:nvSpPr>
          <p:cNvPr id="27" name="Text 25"/>
          <p:cNvSpPr/>
          <p:nvPr/>
        </p:nvSpPr>
        <p:spPr>
          <a:xfrm>
            <a:off x="8558784" y="2660904"/>
            <a:ext cx="310896" cy="173736"/>
          </a:xfrm>
          <a:prstGeom prst="rect">
            <a:avLst/>
          </a:prstGeom>
          <a:noFill/>
          <a:ln/>
        </p:spPr>
        <p:txBody>
          <a:bodyPr wrap="square" lIns="0" tIns="0" rIns="0" bIns="0" rtlCol="0" anchor="ctr"/>
          <a:lstStyle/>
          <a:p>
            <a:pPr indent="0" marL="0">
              <a:buNone/>
            </a:pPr>
            <a:r>
              <a:rPr lang="en-US" sz="800" b="1" dirty="0">
                <a:solidFill>
                  <a:srgbClr val="087F8C"/>
                </a:solidFill>
                <a:latin typeface="Aptos" pitchFamily="34" charset="0"/>
                <a:ea typeface="Aptos" pitchFamily="34" charset="-122"/>
                <a:cs typeface="Aptos" pitchFamily="34" charset="-120"/>
              </a:rPr>
              <a:t>01</a:t>
            </a:r>
            <a:endParaRPr lang="en-US" sz="800" dirty="0"/>
          </a:p>
        </p:txBody>
      </p:sp>
      <p:sp>
        <p:nvSpPr>
          <p:cNvPr id="28" name="Text 26"/>
          <p:cNvSpPr/>
          <p:nvPr/>
        </p:nvSpPr>
        <p:spPr>
          <a:xfrm>
            <a:off x="8942832" y="2651760"/>
            <a:ext cx="2121408" cy="329184"/>
          </a:xfrm>
          <a:prstGeom prst="rect">
            <a:avLst/>
          </a:prstGeom>
          <a:noFill/>
          <a:ln/>
        </p:spPr>
        <p:txBody>
          <a:bodyPr wrap="square" lIns="0" tIns="0" rIns="0" bIns="0" rtlCol="0" anchor="ctr">
            <a:normAutofit/>
          </a:bodyPr>
          <a:lstStyle/>
          <a:p>
            <a:pPr indent="0" marL="0">
              <a:buNone/>
            </a:pPr>
            <a:r>
              <a:rPr lang="en-US" sz="1000" b="1" dirty="0">
                <a:solidFill>
                  <a:srgbClr val="1B3448"/>
                </a:solidFill>
                <a:latin typeface="Aptos" pitchFamily="34" charset="0"/>
                <a:ea typeface="Aptos" pitchFamily="34" charset="-122"/>
                <a:cs typeface="Aptos" pitchFamily="34" charset="-120"/>
              </a:rPr>
              <a:t>EXPECTED STATE</a:t>
            </a:r>
            <a:endParaRPr lang="en-US" sz="1000" dirty="0"/>
          </a:p>
        </p:txBody>
      </p:sp>
      <p:sp>
        <p:nvSpPr>
          <p:cNvPr id="29" name="Shape 27"/>
          <p:cNvSpPr/>
          <p:nvPr/>
        </p:nvSpPr>
        <p:spPr>
          <a:xfrm>
            <a:off x="8558784" y="3163824"/>
            <a:ext cx="2542032" cy="0"/>
          </a:xfrm>
          <a:prstGeom prst="line">
            <a:avLst/>
          </a:prstGeom>
          <a:noFill/>
          <a:ln w="8890">
            <a:solidFill>
              <a:srgbClr val="D5E0E7"/>
            </a:solidFill>
            <a:prstDash val="solid"/>
          </a:ln>
        </p:spPr>
      </p:sp>
      <p:sp>
        <p:nvSpPr>
          <p:cNvPr id="30" name="Shape 28"/>
          <p:cNvSpPr/>
          <p:nvPr/>
        </p:nvSpPr>
        <p:spPr>
          <a:xfrm>
            <a:off x="8138160" y="3447288"/>
            <a:ext cx="256032" cy="256032"/>
          </a:xfrm>
          <a:prstGeom prst="rect">
            <a:avLst/>
          </a:prstGeom>
          <a:solidFill>
            <a:srgbClr val="FFFFFF"/>
          </a:solidFill>
          <a:ln w="17780">
            <a:solidFill>
              <a:srgbClr val="087F8C"/>
            </a:solidFill>
            <a:prstDash val="solid"/>
          </a:ln>
        </p:spPr>
      </p:sp>
      <p:sp>
        <p:nvSpPr>
          <p:cNvPr id="31" name="Text 29"/>
          <p:cNvSpPr/>
          <p:nvPr/>
        </p:nvSpPr>
        <p:spPr>
          <a:xfrm>
            <a:off x="8558784" y="3410712"/>
            <a:ext cx="310896" cy="173736"/>
          </a:xfrm>
          <a:prstGeom prst="rect">
            <a:avLst/>
          </a:prstGeom>
          <a:noFill/>
          <a:ln/>
        </p:spPr>
        <p:txBody>
          <a:bodyPr wrap="square" lIns="0" tIns="0" rIns="0" bIns="0" rtlCol="0" anchor="ctr"/>
          <a:lstStyle/>
          <a:p>
            <a:pPr indent="0" marL="0">
              <a:buNone/>
            </a:pPr>
            <a:r>
              <a:rPr lang="en-US" sz="800" b="1" dirty="0">
                <a:solidFill>
                  <a:srgbClr val="087F8C"/>
                </a:solidFill>
                <a:latin typeface="Aptos" pitchFamily="34" charset="0"/>
                <a:ea typeface="Aptos" pitchFamily="34" charset="-122"/>
                <a:cs typeface="Aptos" pitchFamily="34" charset="-120"/>
              </a:rPr>
              <a:t>02</a:t>
            </a:r>
            <a:endParaRPr lang="en-US" sz="800" dirty="0"/>
          </a:p>
        </p:txBody>
      </p:sp>
      <p:sp>
        <p:nvSpPr>
          <p:cNvPr id="32" name="Text 30"/>
          <p:cNvSpPr/>
          <p:nvPr/>
        </p:nvSpPr>
        <p:spPr>
          <a:xfrm>
            <a:off x="8942832" y="3401568"/>
            <a:ext cx="2121408" cy="329184"/>
          </a:xfrm>
          <a:prstGeom prst="rect">
            <a:avLst/>
          </a:prstGeom>
          <a:noFill/>
          <a:ln/>
        </p:spPr>
        <p:txBody>
          <a:bodyPr wrap="square" lIns="0" tIns="0" rIns="0" bIns="0" rtlCol="0" anchor="ctr">
            <a:normAutofit/>
          </a:bodyPr>
          <a:lstStyle/>
          <a:p>
            <a:pPr indent="0" marL="0">
              <a:buNone/>
            </a:pPr>
            <a:r>
              <a:rPr lang="en-US" sz="1000" b="1" dirty="0">
                <a:solidFill>
                  <a:srgbClr val="1B3448"/>
                </a:solidFill>
                <a:latin typeface="Aptos" pitchFamily="34" charset="0"/>
                <a:ea typeface="Aptos" pitchFamily="34" charset="-122"/>
                <a:cs typeface="Aptos" pitchFamily="34" charset="-120"/>
              </a:rPr>
              <a:t>MEASURE SIGNAL</a:t>
            </a:r>
            <a:endParaRPr lang="en-US" sz="1000" dirty="0"/>
          </a:p>
        </p:txBody>
      </p:sp>
      <p:sp>
        <p:nvSpPr>
          <p:cNvPr id="33" name="Shape 31"/>
          <p:cNvSpPr/>
          <p:nvPr/>
        </p:nvSpPr>
        <p:spPr>
          <a:xfrm>
            <a:off x="8558784" y="3913632"/>
            <a:ext cx="2542032" cy="0"/>
          </a:xfrm>
          <a:prstGeom prst="line">
            <a:avLst/>
          </a:prstGeom>
          <a:noFill/>
          <a:ln w="8890">
            <a:solidFill>
              <a:srgbClr val="D5E0E7"/>
            </a:solidFill>
            <a:prstDash val="solid"/>
          </a:ln>
        </p:spPr>
      </p:sp>
      <p:sp>
        <p:nvSpPr>
          <p:cNvPr id="34" name="Shape 32"/>
          <p:cNvSpPr/>
          <p:nvPr/>
        </p:nvSpPr>
        <p:spPr>
          <a:xfrm>
            <a:off x="8138160" y="4197096"/>
            <a:ext cx="256032" cy="256032"/>
          </a:xfrm>
          <a:prstGeom prst="rect">
            <a:avLst/>
          </a:prstGeom>
          <a:solidFill>
            <a:srgbClr val="FFFFFF"/>
          </a:solidFill>
          <a:ln w="17780">
            <a:solidFill>
              <a:srgbClr val="087F8C"/>
            </a:solidFill>
            <a:prstDash val="solid"/>
          </a:ln>
        </p:spPr>
      </p:sp>
      <p:sp>
        <p:nvSpPr>
          <p:cNvPr id="35" name="Text 33"/>
          <p:cNvSpPr/>
          <p:nvPr/>
        </p:nvSpPr>
        <p:spPr>
          <a:xfrm>
            <a:off x="8558784" y="4160520"/>
            <a:ext cx="310896" cy="173736"/>
          </a:xfrm>
          <a:prstGeom prst="rect">
            <a:avLst/>
          </a:prstGeom>
          <a:noFill/>
          <a:ln/>
        </p:spPr>
        <p:txBody>
          <a:bodyPr wrap="square" lIns="0" tIns="0" rIns="0" bIns="0" rtlCol="0" anchor="ctr"/>
          <a:lstStyle/>
          <a:p>
            <a:pPr indent="0" marL="0">
              <a:buNone/>
            </a:pPr>
            <a:r>
              <a:rPr lang="en-US" sz="800" b="1" dirty="0">
                <a:solidFill>
                  <a:srgbClr val="087F8C"/>
                </a:solidFill>
                <a:latin typeface="Aptos" pitchFamily="34" charset="0"/>
                <a:ea typeface="Aptos" pitchFamily="34" charset="-122"/>
                <a:cs typeface="Aptos" pitchFamily="34" charset="-120"/>
              </a:rPr>
              <a:t>03</a:t>
            </a:r>
            <a:endParaRPr lang="en-US" sz="800" dirty="0"/>
          </a:p>
        </p:txBody>
      </p:sp>
      <p:sp>
        <p:nvSpPr>
          <p:cNvPr id="36" name="Text 34"/>
          <p:cNvSpPr/>
          <p:nvPr/>
        </p:nvSpPr>
        <p:spPr>
          <a:xfrm>
            <a:off x="8942832" y="4151376"/>
            <a:ext cx="2121408" cy="329184"/>
          </a:xfrm>
          <a:prstGeom prst="rect">
            <a:avLst/>
          </a:prstGeom>
          <a:noFill/>
          <a:ln/>
        </p:spPr>
        <p:txBody>
          <a:bodyPr wrap="square" lIns="0" tIns="0" rIns="0" bIns="0" rtlCol="0" anchor="ctr">
            <a:normAutofit/>
          </a:bodyPr>
          <a:lstStyle/>
          <a:p>
            <a:pPr indent="0" marL="0">
              <a:buNone/>
            </a:pPr>
            <a:r>
              <a:rPr lang="en-US" sz="1000" b="1" dirty="0">
                <a:solidFill>
                  <a:srgbClr val="1B3448"/>
                </a:solidFill>
                <a:latin typeface="Aptos" pitchFamily="34" charset="0"/>
                <a:ea typeface="Aptos" pitchFamily="34" charset="-122"/>
                <a:cs typeface="Aptos" pitchFamily="34" charset="-120"/>
              </a:rPr>
              <a:t>FIND BOUNDARY</a:t>
            </a:r>
            <a:endParaRPr lang="en-US" sz="1000" dirty="0"/>
          </a:p>
        </p:txBody>
      </p:sp>
      <p:sp>
        <p:nvSpPr>
          <p:cNvPr id="37" name="Shape 35"/>
          <p:cNvSpPr/>
          <p:nvPr/>
        </p:nvSpPr>
        <p:spPr>
          <a:xfrm>
            <a:off x="8558784" y="4663440"/>
            <a:ext cx="2542032" cy="0"/>
          </a:xfrm>
          <a:prstGeom prst="line">
            <a:avLst/>
          </a:prstGeom>
          <a:noFill/>
          <a:ln w="8890">
            <a:solidFill>
              <a:srgbClr val="D5E0E7"/>
            </a:solidFill>
            <a:prstDash val="solid"/>
          </a:ln>
        </p:spPr>
      </p:sp>
      <p:sp>
        <p:nvSpPr>
          <p:cNvPr id="38" name="Shape 36"/>
          <p:cNvSpPr/>
          <p:nvPr/>
        </p:nvSpPr>
        <p:spPr>
          <a:xfrm>
            <a:off x="8138160" y="4946904"/>
            <a:ext cx="256032" cy="256032"/>
          </a:xfrm>
          <a:prstGeom prst="rect">
            <a:avLst/>
          </a:prstGeom>
          <a:solidFill>
            <a:srgbClr val="FFFFFF"/>
          </a:solidFill>
          <a:ln w="17780">
            <a:solidFill>
              <a:srgbClr val="087F8C"/>
            </a:solidFill>
            <a:prstDash val="solid"/>
          </a:ln>
        </p:spPr>
      </p:sp>
      <p:sp>
        <p:nvSpPr>
          <p:cNvPr id="39" name="Text 37"/>
          <p:cNvSpPr/>
          <p:nvPr/>
        </p:nvSpPr>
        <p:spPr>
          <a:xfrm>
            <a:off x="8558784" y="4910328"/>
            <a:ext cx="310896" cy="173736"/>
          </a:xfrm>
          <a:prstGeom prst="rect">
            <a:avLst/>
          </a:prstGeom>
          <a:noFill/>
          <a:ln/>
        </p:spPr>
        <p:txBody>
          <a:bodyPr wrap="square" lIns="0" tIns="0" rIns="0" bIns="0" rtlCol="0" anchor="ctr"/>
          <a:lstStyle/>
          <a:p>
            <a:pPr indent="0" marL="0">
              <a:buNone/>
            </a:pPr>
            <a:r>
              <a:rPr lang="en-US" sz="800" b="1" dirty="0">
                <a:solidFill>
                  <a:srgbClr val="087F8C"/>
                </a:solidFill>
                <a:latin typeface="Aptos" pitchFamily="34" charset="0"/>
                <a:ea typeface="Aptos" pitchFamily="34" charset="-122"/>
                <a:cs typeface="Aptos" pitchFamily="34" charset="-120"/>
              </a:rPr>
              <a:t>04</a:t>
            </a:r>
            <a:endParaRPr lang="en-US" sz="800" dirty="0"/>
          </a:p>
        </p:txBody>
      </p:sp>
      <p:sp>
        <p:nvSpPr>
          <p:cNvPr id="40" name="Text 38"/>
          <p:cNvSpPr/>
          <p:nvPr/>
        </p:nvSpPr>
        <p:spPr>
          <a:xfrm>
            <a:off x="8942832" y="4901184"/>
            <a:ext cx="2121408" cy="329184"/>
          </a:xfrm>
          <a:prstGeom prst="rect">
            <a:avLst/>
          </a:prstGeom>
          <a:noFill/>
          <a:ln/>
        </p:spPr>
        <p:txBody>
          <a:bodyPr wrap="square" lIns="0" tIns="0" rIns="0" bIns="0" rtlCol="0" anchor="ctr">
            <a:normAutofit/>
          </a:bodyPr>
          <a:lstStyle/>
          <a:p>
            <a:pPr indent="0" marL="0">
              <a:buNone/>
            </a:pPr>
            <a:r>
              <a:rPr lang="en-US" sz="1000" b="1" dirty="0">
                <a:solidFill>
                  <a:srgbClr val="1B3448"/>
                </a:solidFill>
                <a:latin typeface="Aptos" pitchFamily="34" charset="0"/>
                <a:ea typeface="Aptos" pitchFamily="34" charset="-122"/>
                <a:cs typeface="Aptos" pitchFamily="34" charset="-120"/>
              </a:rPr>
              <a:t>RETEST + RECORD</a:t>
            </a:r>
            <a:endParaRPr lang="en-US" sz="1000" dirty="0"/>
          </a:p>
        </p:txBody>
      </p:sp>
      <p:sp>
        <p:nvSpPr>
          <p:cNvPr id="41" name="Shape 39"/>
          <p:cNvSpPr/>
          <p:nvPr/>
        </p:nvSpPr>
        <p:spPr>
          <a:xfrm>
            <a:off x="603504" y="6318504"/>
            <a:ext cx="10972800" cy="0"/>
          </a:xfrm>
          <a:prstGeom prst="line">
            <a:avLst/>
          </a:prstGeom>
          <a:noFill/>
          <a:ln w="10160">
            <a:solidFill>
              <a:srgbClr val="D5E0E7"/>
            </a:solidFill>
            <a:prstDash val="solid"/>
          </a:ln>
        </p:spPr>
      </p:sp>
      <p:sp>
        <p:nvSpPr>
          <p:cNvPr id="42" name="Text 40"/>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SIGNAL PROCESSING AND SIGNAL INTEGRITY</a:t>
            </a:r>
            <a:endParaRPr lang="en-US" sz="800" dirty="0"/>
          </a:p>
        </p:txBody>
      </p:sp>
      <p:sp>
        <p:nvSpPr>
          <p:cNvPr id="43" name="Text 41"/>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03 / 18</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087F8C"/>
          </a:solidFill>
          <a:ln w="12700">
            <a:solidFill>
              <a:srgbClr val="087F8C">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087F8C"/>
                </a:solidFill>
                <a:latin typeface="Aptos" pitchFamily="34" charset="0"/>
                <a:ea typeface="Aptos" pitchFamily="34" charset="-122"/>
                <a:cs typeface="Aptos" pitchFamily="34" charset="-120"/>
              </a:rPr>
              <a:t>UNIT 5009    /    WEEK 05    /    LO2</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12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087F8C"/>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087F8C"/>
                </a:solidFill>
                <a:latin typeface="Aptos" pitchFamily="34" charset="0"/>
                <a:ea typeface="Aptos" pitchFamily="34" charset="-122"/>
                <a:cs typeface="Aptos" pitchFamily="34" charset="-120"/>
              </a:rPr>
              <a:t>LO2 FOUNDATIONS</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3100" b="1" dirty="0">
                <a:solidFill>
                  <a:srgbClr val="1B3448"/>
                </a:solidFill>
                <a:latin typeface="Aptos Display" pitchFamily="34" charset="0"/>
                <a:ea typeface="Aptos Display" pitchFamily="34" charset="-122"/>
                <a:cs typeface="Aptos Display" pitchFamily="34" charset="-120"/>
              </a:rPr>
              <a:t>From physical event to PLC variable</a:t>
            </a:r>
            <a:endParaRPr lang="en-US" sz="31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67512" y="1709928"/>
            <a:ext cx="2743200" cy="210312"/>
          </a:xfrm>
          <a:prstGeom prst="rect">
            <a:avLst/>
          </a:prstGeom>
          <a:noFill/>
          <a:ln/>
        </p:spPr>
        <p:txBody>
          <a:bodyPr wrap="square" lIns="0" tIns="0" rIns="0" bIns="0" rtlCol="0" anchor="ctr"/>
          <a:lstStyle/>
          <a:p>
            <a:pPr indent="0" marL="0">
              <a:buNone/>
            </a:pPr>
            <a:r>
              <a:rPr lang="en-US" sz="900" b="1" spc="100" kern="0" dirty="0">
                <a:solidFill>
                  <a:srgbClr val="087F8C"/>
                </a:solidFill>
                <a:latin typeface="Aptos" pitchFamily="34" charset="0"/>
                <a:ea typeface="Aptos" pitchFamily="34" charset="-122"/>
                <a:cs typeface="Aptos" pitchFamily="34" charset="-120"/>
              </a:rPr>
              <a:t>TEACHING POINTS</a:t>
            </a:r>
            <a:endParaRPr lang="en-US" sz="900" dirty="0"/>
          </a:p>
        </p:txBody>
      </p:sp>
      <p:sp>
        <p:nvSpPr>
          <p:cNvPr id="11" name="Shape 9"/>
          <p:cNvSpPr/>
          <p:nvPr/>
        </p:nvSpPr>
        <p:spPr>
          <a:xfrm>
            <a:off x="640080" y="1993392"/>
            <a:ext cx="6720840" cy="1328928"/>
          </a:xfrm>
          <a:prstGeom prst="rect">
            <a:avLst/>
          </a:prstGeom>
          <a:solidFill>
            <a:srgbClr val="FFFFFF"/>
          </a:solidFill>
          <a:ln w="8890">
            <a:solidFill>
              <a:srgbClr val="D5E0E7"/>
            </a:solidFill>
            <a:prstDash val="solid"/>
          </a:ln>
        </p:spPr>
      </p:sp>
      <p:sp>
        <p:nvSpPr>
          <p:cNvPr id="12" name="Shape 10"/>
          <p:cNvSpPr/>
          <p:nvPr/>
        </p:nvSpPr>
        <p:spPr>
          <a:xfrm>
            <a:off x="640080" y="1993392"/>
            <a:ext cx="50292" cy="1328928"/>
          </a:xfrm>
          <a:prstGeom prst="rect">
            <a:avLst/>
          </a:prstGeom>
          <a:solidFill>
            <a:srgbClr val="087F8C"/>
          </a:solidFill>
          <a:ln w="12700">
            <a:solidFill>
              <a:srgbClr val="087F8C">
                <a:alpha val="0"/>
              </a:srgbClr>
            </a:solidFill>
            <a:prstDash val="solid"/>
          </a:ln>
        </p:spPr>
      </p:sp>
      <p:sp>
        <p:nvSpPr>
          <p:cNvPr id="13" name="Text 11"/>
          <p:cNvSpPr/>
          <p:nvPr/>
        </p:nvSpPr>
        <p:spPr>
          <a:xfrm>
            <a:off x="786384" y="2084832"/>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01</a:t>
            </a:r>
            <a:endParaRPr lang="en-US" sz="950" dirty="0"/>
          </a:p>
        </p:txBody>
      </p:sp>
      <p:sp>
        <p:nvSpPr>
          <p:cNvPr id="14" name="Text 12"/>
          <p:cNvSpPr/>
          <p:nvPr/>
        </p:nvSpPr>
        <p:spPr>
          <a:xfrm>
            <a:off x="1197864" y="2075688"/>
            <a:ext cx="5989320" cy="1173480"/>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Follow one MedPack pill event through target detection, sensor electrical output, cable and terminal, input channel, PLC task/process data, count logic, output channel, and actuator interface.</a:t>
            </a:r>
            <a:endParaRPr lang="en-US" sz="1410" dirty="0"/>
          </a:p>
        </p:txBody>
      </p:sp>
      <p:sp>
        <p:nvSpPr>
          <p:cNvPr id="15" name="Shape 13"/>
          <p:cNvSpPr/>
          <p:nvPr/>
        </p:nvSpPr>
        <p:spPr>
          <a:xfrm>
            <a:off x="640080" y="3404616"/>
            <a:ext cx="6720840" cy="1328928"/>
          </a:xfrm>
          <a:prstGeom prst="rect">
            <a:avLst/>
          </a:prstGeom>
          <a:solidFill>
            <a:srgbClr val="FFFFFF"/>
          </a:solidFill>
          <a:ln w="8890">
            <a:solidFill>
              <a:srgbClr val="E7EDF1"/>
            </a:solidFill>
            <a:prstDash val="solid"/>
          </a:ln>
        </p:spPr>
      </p:sp>
      <p:sp>
        <p:nvSpPr>
          <p:cNvPr id="16" name="Shape 14"/>
          <p:cNvSpPr/>
          <p:nvPr/>
        </p:nvSpPr>
        <p:spPr>
          <a:xfrm>
            <a:off x="640080" y="3404616"/>
            <a:ext cx="50292" cy="1328928"/>
          </a:xfrm>
          <a:prstGeom prst="rect">
            <a:avLst/>
          </a:prstGeom>
          <a:solidFill>
            <a:srgbClr val="087F8C"/>
          </a:solidFill>
          <a:ln w="12700">
            <a:solidFill>
              <a:srgbClr val="087F8C">
                <a:alpha val="0"/>
              </a:srgbClr>
            </a:solidFill>
            <a:prstDash val="solid"/>
          </a:ln>
        </p:spPr>
      </p:sp>
      <p:sp>
        <p:nvSpPr>
          <p:cNvPr id="17" name="Text 15"/>
          <p:cNvSpPr/>
          <p:nvPr/>
        </p:nvSpPr>
        <p:spPr>
          <a:xfrm>
            <a:off x="786384" y="3496056"/>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02</a:t>
            </a:r>
            <a:endParaRPr lang="en-US" sz="950" dirty="0"/>
          </a:p>
        </p:txBody>
      </p:sp>
      <p:sp>
        <p:nvSpPr>
          <p:cNvPr id="18" name="Text 16"/>
          <p:cNvSpPr/>
          <p:nvPr/>
        </p:nvSpPr>
        <p:spPr>
          <a:xfrm>
            <a:off x="1197864" y="3486912"/>
            <a:ext cx="5989320" cy="1173480"/>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Distinguish physical state from interpreted state: a sensor LED, module input LED, program tag, and output LED are separate observation points and may disagree when a fault lies between them.</a:t>
            </a:r>
            <a:endParaRPr lang="en-US" sz="1410" dirty="0"/>
          </a:p>
        </p:txBody>
      </p:sp>
      <p:sp>
        <p:nvSpPr>
          <p:cNvPr id="19" name="Shape 17"/>
          <p:cNvSpPr/>
          <p:nvPr/>
        </p:nvSpPr>
        <p:spPr>
          <a:xfrm>
            <a:off x="640080" y="4815840"/>
            <a:ext cx="6720840" cy="1328928"/>
          </a:xfrm>
          <a:prstGeom prst="rect">
            <a:avLst/>
          </a:prstGeom>
          <a:solidFill>
            <a:srgbClr val="FFFFFF"/>
          </a:solidFill>
          <a:ln w="8890">
            <a:solidFill>
              <a:srgbClr val="E7EDF1"/>
            </a:solidFill>
            <a:prstDash val="solid"/>
          </a:ln>
        </p:spPr>
      </p:sp>
      <p:sp>
        <p:nvSpPr>
          <p:cNvPr id="20" name="Shape 18"/>
          <p:cNvSpPr/>
          <p:nvPr/>
        </p:nvSpPr>
        <p:spPr>
          <a:xfrm>
            <a:off x="640080" y="4815840"/>
            <a:ext cx="50292" cy="1328928"/>
          </a:xfrm>
          <a:prstGeom prst="rect">
            <a:avLst/>
          </a:prstGeom>
          <a:solidFill>
            <a:srgbClr val="087F8C"/>
          </a:solidFill>
          <a:ln w="12700">
            <a:solidFill>
              <a:srgbClr val="087F8C">
                <a:alpha val="0"/>
              </a:srgbClr>
            </a:solidFill>
            <a:prstDash val="solid"/>
          </a:ln>
        </p:spPr>
      </p:sp>
      <p:sp>
        <p:nvSpPr>
          <p:cNvPr id="21" name="Text 19"/>
          <p:cNvSpPr/>
          <p:nvPr/>
        </p:nvSpPr>
        <p:spPr>
          <a:xfrm>
            <a:off x="786384" y="4907280"/>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03</a:t>
            </a:r>
            <a:endParaRPr lang="en-US" sz="950" dirty="0"/>
          </a:p>
        </p:txBody>
      </p:sp>
      <p:sp>
        <p:nvSpPr>
          <p:cNvPr id="22" name="Text 20"/>
          <p:cNvSpPr/>
          <p:nvPr/>
        </p:nvSpPr>
        <p:spPr>
          <a:xfrm>
            <a:off x="1197864" y="4898136"/>
            <a:ext cx="5989320" cy="1173480"/>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At each boundary verify the device/module documentation for signal type, rated range, common/reference, isolation, filter, and diagnostic behaviour; do not assume every input is 24 V DC.</a:t>
            </a:r>
            <a:endParaRPr lang="en-US" sz="1410" dirty="0"/>
          </a:p>
        </p:txBody>
      </p:sp>
      <p:sp>
        <p:nvSpPr>
          <p:cNvPr id="23" name="Shape 21"/>
          <p:cNvSpPr/>
          <p:nvPr/>
        </p:nvSpPr>
        <p:spPr>
          <a:xfrm>
            <a:off x="7662672" y="1746504"/>
            <a:ext cx="3922776" cy="4361688"/>
          </a:xfrm>
          <a:prstGeom prst="rect">
            <a:avLst/>
          </a:prstGeom>
          <a:solidFill>
            <a:srgbClr val="FFFFFF"/>
          </a:solidFill>
          <a:ln w="12700">
            <a:solidFill>
              <a:srgbClr val="D5E0E7"/>
            </a:solidFill>
            <a:prstDash val="solid"/>
          </a:ln>
        </p:spPr>
      </p:sp>
      <p:sp>
        <p:nvSpPr>
          <p:cNvPr id="24" name="Text 22"/>
          <p:cNvSpPr/>
          <p:nvPr/>
        </p:nvSpPr>
        <p:spPr>
          <a:xfrm>
            <a:off x="7863840" y="1892808"/>
            <a:ext cx="3520440" cy="219456"/>
          </a:xfrm>
          <a:prstGeom prst="rect">
            <a:avLst/>
          </a:prstGeom>
          <a:noFill/>
          <a:ln/>
        </p:spPr>
        <p:txBody>
          <a:bodyPr wrap="square" lIns="0" tIns="0" rIns="0" bIns="0" rtlCol="0" anchor="ctr"/>
          <a:lstStyle/>
          <a:p>
            <a:pPr indent="0" marL="0">
              <a:buNone/>
            </a:pPr>
            <a:r>
              <a:rPr lang="en-US" sz="900" b="1" spc="80" kern="0" dirty="0">
                <a:solidFill>
                  <a:srgbClr val="087F8C"/>
                </a:solidFill>
                <a:latin typeface="Aptos" pitchFamily="34" charset="0"/>
                <a:ea typeface="Aptos" pitchFamily="34" charset="-122"/>
                <a:cs typeface="Aptos" pitchFamily="34" charset="-120"/>
              </a:rPr>
              <a:t>SIGNAL PATH</a:t>
            </a:r>
            <a:endParaRPr lang="en-US" sz="900" dirty="0"/>
          </a:p>
        </p:txBody>
      </p:sp>
      <p:sp>
        <p:nvSpPr>
          <p:cNvPr id="25" name="Shape 23"/>
          <p:cNvSpPr/>
          <p:nvPr/>
        </p:nvSpPr>
        <p:spPr>
          <a:xfrm>
            <a:off x="7863840" y="2221992"/>
            <a:ext cx="3520440" cy="0"/>
          </a:xfrm>
          <a:prstGeom prst="line">
            <a:avLst/>
          </a:prstGeom>
          <a:noFill/>
          <a:ln w="8890">
            <a:solidFill>
              <a:srgbClr val="D5E0E7"/>
            </a:solidFill>
            <a:prstDash val="solid"/>
          </a:ln>
        </p:spPr>
      </p:sp>
      <p:sp>
        <p:nvSpPr>
          <p:cNvPr id="26" name="Shape 24"/>
          <p:cNvSpPr/>
          <p:nvPr/>
        </p:nvSpPr>
        <p:spPr>
          <a:xfrm>
            <a:off x="7827264" y="3438144"/>
            <a:ext cx="804672" cy="822960"/>
          </a:xfrm>
          <a:prstGeom prst="rect">
            <a:avLst/>
          </a:prstGeom>
          <a:solidFill>
            <a:srgbClr val="F4F8FA"/>
          </a:solidFill>
          <a:ln w="14605">
            <a:solidFill>
              <a:srgbClr val="087F8C"/>
            </a:solidFill>
            <a:prstDash val="solid"/>
          </a:ln>
        </p:spPr>
      </p:sp>
      <p:sp>
        <p:nvSpPr>
          <p:cNvPr id="27" name="Text 25"/>
          <p:cNvSpPr/>
          <p:nvPr/>
        </p:nvSpPr>
        <p:spPr>
          <a:xfrm>
            <a:off x="7900416" y="3493008"/>
            <a:ext cx="658368" cy="713232"/>
          </a:xfrm>
          <a:prstGeom prst="rect">
            <a:avLst/>
          </a:prstGeom>
          <a:noFill/>
          <a:ln/>
        </p:spPr>
        <p:txBody>
          <a:bodyPr wrap="square" lIns="0" tIns="0" rIns="0" bIns="0" rtlCol="0" anchor="ctr">
            <a:normAutofit/>
          </a:bodyPr>
          <a:lstStyle/>
          <a:p>
            <a:pPr algn="ctr" indent="0" marL="0">
              <a:buNone/>
            </a:pPr>
            <a:r>
              <a:rPr lang="en-US" sz="870" b="1" dirty="0">
                <a:solidFill>
                  <a:srgbClr val="1B3448"/>
                </a:solidFill>
                <a:latin typeface="Aptos" pitchFamily="34" charset="0"/>
                <a:ea typeface="Aptos" pitchFamily="34" charset="-122"/>
                <a:cs typeface="Aptos" pitchFamily="34" charset="-120"/>
              </a:rPr>
              <a:t>SENSOR +</a:t>
            </a:r>
            <a:endParaRPr lang="en-US" sz="870" dirty="0"/>
          </a:p>
          <a:p>
            <a:pPr algn="ctr" indent="0" marL="0">
              <a:buNone/>
            </a:pPr>
            <a:r>
              <a:rPr lang="en-US" sz="870" b="1" dirty="0">
                <a:solidFill>
                  <a:srgbClr val="1B3448"/>
                </a:solidFill>
                <a:latin typeface="Aptos" pitchFamily="34" charset="0"/>
                <a:ea typeface="Aptos" pitchFamily="34" charset="-122"/>
                <a:cs typeface="Aptos" pitchFamily="34" charset="-120"/>
              </a:rPr>
              <a:t>BUTTONS</a:t>
            </a:r>
            <a:endParaRPr lang="en-US" sz="870" dirty="0"/>
          </a:p>
        </p:txBody>
      </p:sp>
      <p:sp>
        <p:nvSpPr>
          <p:cNvPr id="28" name="Shape 26"/>
          <p:cNvSpPr/>
          <p:nvPr/>
        </p:nvSpPr>
        <p:spPr>
          <a:xfrm>
            <a:off x="8833104" y="3438144"/>
            <a:ext cx="685800" cy="822960"/>
          </a:xfrm>
          <a:prstGeom prst="rect">
            <a:avLst/>
          </a:prstGeom>
          <a:solidFill>
            <a:srgbClr val="F4F8FA"/>
          </a:solidFill>
          <a:ln w="14605">
            <a:solidFill>
              <a:srgbClr val="087F8C"/>
            </a:solidFill>
            <a:prstDash val="solid"/>
          </a:ln>
        </p:spPr>
      </p:sp>
      <p:sp>
        <p:nvSpPr>
          <p:cNvPr id="29" name="Text 27"/>
          <p:cNvSpPr/>
          <p:nvPr/>
        </p:nvSpPr>
        <p:spPr>
          <a:xfrm>
            <a:off x="8906256" y="3493008"/>
            <a:ext cx="539496" cy="713232"/>
          </a:xfrm>
          <a:prstGeom prst="rect">
            <a:avLst/>
          </a:prstGeom>
          <a:noFill/>
          <a:ln/>
        </p:spPr>
        <p:txBody>
          <a:bodyPr wrap="square" lIns="0" tIns="0" rIns="0" bIns="0" rtlCol="0" anchor="ctr">
            <a:normAutofit/>
          </a:bodyPr>
          <a:lstStyle/>
          <a:p>
            <a:pPr algn="ctr" indent="0" marL="0">
              <a:buNone/>
            </a:pPr>
            <a:r>
              <a:rPr lang="en-US" sz="880" b="1" dirty="0">
                <a:solidFill>
                  <a:srgbClr val="1B3448"/>
                </a:solidFill>
                <a:latin typeface="Aptos" pitchFamily="34" charset="0"/>
                <a:ea typeface="Aptos" pitchFamily="34" charset="-122"/>
                <a:cs typeface="Aptos" pitchFamily="34" charset="-120"/>
              </a:rPr>
              <a:t>PLC</a:t>
            </a:r>
            <a:endParaRPr lang="en-US" sz="880" dirty="0"/>
          </a:p>
          <a:p>
            <a:pPr algn="ctr" indent="0" marL="0">
              <a:buNone/>
            </a:pPr>
            <a:r>
              <a:rPr lang="en-US" sz="880" b="1" dirty="0">
                <a:solidFill>
                  <a:srgbClr val="1B3448"/>
                </a:solidFill>
                <a:latin typeface="Aptos" pitchFamily="34" charset="0"/>
                <a:ea typeface="Aptos" pitchFamily="34" charset="-122"/>
                <a:cs typeface="Aptos" pitchFamily="34" charset="-120"/>
              </a:rPr>
              <a:t>INPUTS</a:t>
            </a:r>
            <a:endParaRPr lang="en-US" sz="880" dirty="0"/>
          </a:p>
        </p:txBody>
      </p:sp>
      <p:sp>
        <p:nvSpPr>
          <p:cNvPr id="30" name="Shape 28"/>
          <p:cNvSpPr/>
          <p:nvPr/>
        </p:nvSpPr>
        <p:spPr>
          <a:xfrm>
            <a:off x="9720072" y="3438144"/>
            <a:ext cx="676656" cy="822960"/>
          </a:xfrm>
          <a:prstGeom prst="rect">
            <a:avLst/>
          </a:prstGeom>
          <a:solidFill>
            <a:srgbClr val="EAF3F4"/>
          </a:solidFill>
          <a:ln w="14605">
            <a:solidFill>
              <a:srgbClr val="087F8C"/>
            </a:solidFill>
            <a:prstDash val="solid"/>
          </a:ln>
        </p:spPr>
      </p:sp>
      <p:sp>
        <p:nvSpPr>
          <p:cNvPr id="31" name="Text 29"/>
          <p:cNvSpPr/>
          <p:nvPr/>
        </p:nvSpPr>
        <p:spPr>
          <a:xfrm>
            <a:off x="9793224" y="3493008"/>
            <a:ext cx="530352" cy="713232"/>
          </a:xfrm>
          <a:prstGeom prst="rect">
            <a:avLst/>
          </a:prstGeom>
          <a:noFill/>
          <a:ln/>
        </p:spPr>
        <p:txBody>
          <a:bodyPr wrap="square" lIns="0" tIns="0" rIns="0" bIns="0" rtlCol="0" anchor="ctr">
            <a:normAutofit/>
          </a:bodyPr>
          <a:lstStyle/>
          <a:p>
            <a:pPr algn="ctr" indent="0" marL="0">
              <a:buNone/>
            </a:pPr>
            <a:r>
              <a:rPr lang="en-US" sz="880" b="1" dirty="0">
                <a:solidFill>
                  <a:srgbClr val="1B3448"/>
                </a:solidFill>
                <a:latin typeface="Aptos" pitchFamily="34" charset="0"/>
                <a:ea typeface="Aptos" pitchFamily="34" charset="-122"/>
                <a:cs typeface="Aptos" pitchFamily="34" charset="-120"/>
              </a:rPr>
              <a:t>CPU</a:t>
            </a:r>
            <a:endParaRPr lang="en-US" sz="880" dirty="0"/>
          </a:p>
          <a:p>
            <a:pPr algn="ctr" indent="0" marL="0">
              <a:buNone/>
            </a:pPr>
            <a:r>
              <a:rPr lang="en-US" sz="880" b="1" dirty="0">
                <a:solidFill>
                  <a:srgbClr val="1B3448"/>
                </a:solidFill>
                <a:latin typeface="Aptos" pitchFamily="34" charset="0"/>
                <a:ea typeface="Aptos" pitchFamily="34" charset="-122"/>
                <a:cs typeface="Aptos" pitchFamily="34" charset="-120"/>
              </a:rPr>
              <a:t>LOGIC</a:t>
            </a:r>
            <a:endParaRPr lang="en-US" sz="880" dirty="0"/>
          </a:p>
        </p:txBody>
      </p:sp>
      <p:sp>
        <p:nvSpPr>
          <p:cNvPr id="32" name="Shape 30"/>
          <p:cNvSpPr/>
          <p:nvPr/>
        </p:nvSpPr>
        <p:spPr>
          <a:xfrm>
            <a:off x="10625328" y="3438144"/>
            <a:ext cx="722376" cy="822960"/>
          </a:xfrm>
          <a:prstGeom prst="rect">
            <a:avLst/>
          </a:prstGeom>
          <a:solidFill>
            <a:srgbClr val="F4F8FA"/>
          </a:solidFill>
          <a:ln w="14605">
            <a:solidFill>
              <a:srgbClr val="087F8C"/>
            </a:solidFill>
            <a:prstDash val="solid"/>
          </a:ln>
        </p:spPr>
      </p:sp>
      <p:sp>
        <p:nvSpPr>
          <p:cNvPr id="33" name="Text 31"/>
          <p:cNvSpPr/>
          <p:nvPr/>
        </p:nvSpPr>
        <p:spPr>
          <a:xfrm>
            <a:off x="10698480" y="3493008"/>
            <a:ext cx="576072" cy="713232"/>
          </a:xfrm>
          <a:prstGeom prst="rect">
            <a:avLst/>
          </a:prstGeom>
          <a:noFill/>
          <a:ln/>
        </p:spPr>
        <p:txBody>
          <a:bodyPr wrap="square" lIns="0" tIns="0" rIns="0" bIns="0" rtlCol="0" anchor="ctr">
            <a:normAutofit/>
          </a:bodyPr>
          <a:lstStyle/>
          <a:p>
            <a:pPr algn="ctr" indent="0" marL="0">
              <a:buNone/>
            </a:pPr>
            <a:r>
              <a:rPr lang="en-US" sz="820" b="1" dirty="0">
                <a:solidFill>
                  <a:srgbClr val="1B3448"/>
                </a:solidFill>
                <a:latin typeface="Aptos" pitchFamily="34" charset="0"/>
                <a:ea typeface="Aptos" pitchFamily="34" charset="-122"/>
                <a:cs typeface="Aptos" pitchFamily="34" charset="-120"/>
              </a:rPr>
              <a:t>OUTPUT</a:t>
            </a:r>
            <a:endParaRPr lang="en-US" sz="820" dirty="0"/>
          </a:p>
          <a:p>
            <a:pPr algn="ctr" indent="0" marL="0">
              <a:buNone/>
            </a:pPr>
            <a:r>
              <a:rPr lang="en-US" sz="820" b="1" dirty="0">
                <a:solidFill>
                  <a:srgbClr val="1B3448"/>
                </a:solidFill>
                <a:latin typeface="Aptos" pitchFamily="34" charset="0"/>
                <a:ea typeface="Aptos" pitchFamily="34" charset="-122"/>
                <a:cs typeface="Aptos" pitchFamily="34" charset="-120"/>
              </a:rPr>
              <a:t>INTERFACE</a:t>
            </a:r>
            <a:endParaRPr lang="en-US" sz="820" dirty="0"/>
          </a:p>
        </p:txBody>
      </p:sp>
      <p:sp>
        <p:nvSpPr>
          <p:cNvPr id="34" name="Shape 32"/>
          <p:cNvSpPr/>
          <p:nvPr/>
        </p:nvSpPr>
        <p:spPr>
          <a:xfrm>
            <a:off x="8650224" y="3849624"/>
            <a:ext cx="146304" cy="0"/>
          </a:xfrm>
          <a:prstGeom prst="line">
            <a:avLst/>
          </a:prstGeom>
          <a:noFill/>
          <a:ln w="22860">
            <a:solidFill>
              <a:srgbClr val="087F8C"/>
            </a:solidFill>
            <a:prstDash val="solid"/>
            <a:tailEnd type="triangle"/>
          </a:ln>
        </p:spPr>
      </p:sp>
      <p:sp>
        <p:nvSpPr>
          <p:cNvPr id="35" name="Shape 33"/>
          <p:cNvSpPr/>
          <p:nvPr/>
        </p:nvSpPr>
        <p:spPr>
          <a:xfrm>
            <a:off x="9537192" y="3849624"/>
            <a:ext cx="146304" cy="0"/>
          </a:xfrm>
          <a:prstGeom prst="line">
            <a:avLst/>
          </a:prstGeom>
          <a:noFill/>
          <a:ln w="22860">
            <a:solidFill>
              <a:srgbClr val="087F8C"/>
            </a:solidFill>
            <a:prstDash val="solid"/>
            <a:tailEnd type="triangle"/>
          </a:ln>
        </p:spPr>
      </p:sp>
      <p:sp>
        <p:nvSpPr>
          <p:cNvPr id="36" name="Shape 34"/>
          <p:cNvSpPr/>
          <p:nvPr/>
        </p:nvSpPr>
        <p:spPr>
          <a:xfrm>
            <a:off x="10415016" y="3849624"/>
            <a:ext cx="173736" cy="0"/>
          </a:xfrm>
          <a:prstGeom prst="line">
            <a:avLst/>
          </a:prstGeom>
          <a:noFill/>
          <a:ln w="22860">
            <a:solidFill>
              <a:srgbClr val="087F8C"/>
            </a:solidFill>
            <a:prstDash val="solid"/>
            <a:tailEnd type="triangle"/>
          </a:ln>
        </p:spPr>
      </p:sp>
      <p:sp>
        <p:nvSpPr>
          <p:cNvPr id="37" name="Text 35"/>
          <p:cNvSpPr/>
          <p:nvPr/>
        </p:nvSpPr>
        <p:spPr>
          <a:xfrm>
            <a:off x="8101584" y="4599432"/>
            <a:ext cx="2926080" cy="320040"/>
          </a:xfrm>
          <a:prstGeom prst="rect">
            <a:avLst/>
          </a:prstGeom>
          <a:noFill/>
          <a:ln/>
        </p:spPr>
        <p:txBody>
          <a:bodyPr wrap="square" lIns="0" tIns="0" rIns="0" bIns="0" rtlCol="0" anchor="ctr">
            <a:normAutofit/>
          </a:bodyPr>
          <a:lstStyle/>
          <a:p>
            <a:pPr algn="ctr" indent="0" marL="0">
              <a:buNone/>
            </a:pPr>
            <a:r>
              <a:rPr lang="en-US" sz="1000" b="1" dirty="0">
                <a:solidFill>
                  <a:srgbClr val="1B3448"/>
                </a:solidFill>
                <a:latin typeface="Aptos" pitchFamily="34" charset="0"/>
                <a:ea typeface="Aptos" pitchFamily="34" charset="-122"/>
                <a:cs typeface="Aptos" pitchFamily="34" charset="-120"/>
              </a:rPr>
              <a:t>ACTUATOR  /  BUZZER</a:t>
            </a:r>
            <a:endParaRPr lang="en-US" sz="1000" dirty="0"/>
          </a:p>
        </p:txBody>
      </p:sp>
      <p:sp>
        <p:nvSpPr>
          <p:cNvPr id="38" name="Text 36"/>
          <p:cNvSpPr/>
          <p:nvPr/>
        </p:nvSpPr>
        <p:spPr>
          <a:xfrm>
            <a:off x="8046720" y="5129784"/>
            <a:ext cx="3154680" cy="566928"/>
          </a:xfrm>
          <a:prstGeom prst="rect">
            <a:avLst/>
          </a:prstGeom>
          <a:noFill/>
          <a:ln/>
        </p:spPr>
        <p:txBody>
          <a:bodyPr wrap="square" lIns="0" tIns="0" rIns="0" bIns="0" rtlCol="0" anchor="ctr">
            <a:normAutofit/>
          </a:bodyPr>
          <a:lstStyle/>
          <a:p>
            <a:pPr algn="ctr" indent="0" marL="0">
              <a:buNone/>
            </a:pPr>
            <a:r>
              <a:rPr lang="en-US" sz="1050" dirty="0">
                <a:solidFill>
                  <a:srgbClr val="607585"/>
                </a:solidFill>
                <a:latin typeface="Aptos" pitchFamily="34" charset="0"/>
                <a:ea typeface="Aptos" pitchFamily="34" charset="-122"/>
                <a:cs typeface="Aptos" pitchFamily="34" charset="-120"/>
              </a:rPr>
              <a:t>Verify voltage, polarity, load current and channel limits</a:t>
            </a:r>
            <a:endParaRPr lang="en-US" sz="1050" dirty="0"/>
          </a:p>
        </p:txBody>
      </p:sp>
      <p:sp>
        <p:nvSpPr>
          <p:cNvPr id="39" name="Shape 37"/>
          <p:cNvSpPr/>
          <p:nvPr/>
        </p:nvSpPr>
        <p:spPr>
          <a:xfrm>
            <a:off x="603504" y="6318504"/>
            <a:ext cx="10972800" cy="0"/>
          </a:xfrm>
          <a:prstGeom prst="line">
            <a:avLst/>
          </a:prstGeom>
          <a:noFill/>
          <a:ln w="10160">
            <a:solidFill>
              <a:srgbClr val="D5E0E7"/>
            </a:solidFill>
            <a:prstDash val="solid"/>
          </a:ln>
        </p:spPr>
      </p:sp>
      <p:sp>
        <p:nvSpPr>
          <p:cNvPr id="40" name="Text 38"/>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SIGNAL PROCESSING AND SIGNAL INTEGRITY</a:t>
            </a:r>
            <a:endParaRPr lang="en-US" sz="800" dirty="0"/>
          </a:p>
        </p:txBody>
      </p:sp>
      <p:sp>
        <p:nvSpPr>
          <p:cNvPr id="41" name="Text 39"/>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04 / 18</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087F8C"/>
          </a:solidFill>
          <a:ln w="12700">
            <a:solidFill>
              <a:srgbClr val="087F8C">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087F8C"/>
                </a:solidFill>
                <a:latin typeface="Aptos" pitchFamily="34" charset="0"/>
                <a:ea typeface="Aptos" pitchFamily="34" charset="-122"/>
                <a:cs typeface="Aptos" pitchFamily="34" charset="-120"/>
              </a:rPr>
              <a:t>UNIT 5009    /    WEEK 05    /    LO2</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13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087F8C"/>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087F8C"/>
                </a:solidFill>
                <a:latin typeface="Aptos" pitchFamily="34" charset="0"/>
                <a:ea typeface="Aptos" pitchFamily="34" charset="-122"/>
                <a:cs typeface="Aptos" pitchFamily="34" charset="-120"/>
              </a:rPr>
              <a:t>LO2 FOUNDATIONS</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3100" b="1" dirty="0">
                <a:solidFill>
                  <a:srgbClr val="1B3448"/>
                </a:solidFill>
                <a:latin typeface="Aptos Display" pitchFamily="34" charset="0"/>
                <a:ea typeface="Aptos Display" pitchFamily="34" charset="-122"/>
                <a:cs typeface="Aptos Display" pitchFamily="34" charset="-120"/>
              </a:rPr>
              <a:t>Typical scan and response timeline</a:t>
            </a:r>
            <a:endParaRPr lang="en-US" sz="31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67512" y="1709928"/>
            <a:ext cx="2743200" cy="210312"/>
          </a:xfrm>
          <a:prstGeom prst="rect">
            <a:avLst/>
          </a:prstGeom>
          <a:noFill/>
          <a:ln/>
        </p:spPr>
        <p:txBody>
          <a:bodyPr wrap="square" lIns="0" tIns="0" rIns="0" bIns="0" rtlCol="0" anchor="ctr"/>
          <a:lstStyle/>
          <a:p>
            <a:pPr indent="0" marL="0">
              <a:buNone/>
            </a:pPr>
            <a:r>
              <a:rPr lang="en-US" sz="900" b="1" spc="100" kern="0" dirty="0">
                <a:solidFill>
                  <a:srgbClr val="087F8C"/>
                </a:solidFill>
                <a:latin typeface="Aptos" pitchFamily="34" charset="0"/>
                <a:ea typeface="Aptos" pitchFamily="34" charset="-122"/>
                <a:cs typeface="Aptos" pitchFamily="34" charset="-120"/>
              </a:rPr>
              <a:t>TEACHING POINTS</a:t>
            </a:r>
            <a:endParaRPr lang="en-US" sz="900" dirty="0"/>
          </a:p>
        </p:txBody>
      </p:sp>
      <p:sp>
        <p:nvSpPr>
          <p:cNvPr id="11" name="Shape 9"/>
          <p:cNvSpPr/>
          <p:nvPr/>
        </p:nvSpPr>
        <p:spPr>
          <a:xfrm>
            <a:off x="640080" y="1993392"/>
            <a:ext cx="6720840" cy="1328928"/>
          </a:xfrm>
          <a:prstGeom prst="rect">
            <a:avLst/>
          </a:prstGeom>
          <a:solidFill>
            <a:srgbClr val="FFFFFF"/>
          </a:solidFill>
          <a:ln w="8890">
            <a:solidFill>
              <a:srgbClr val="D5E0E7"/>
            </a:solidFill>
            <a:prstDash val="solid"/>
          </a:ln>
        </p:spPr>
      </p:sp>
      <p:sp>
        <p:nvSpPr>
          <p:cNvPr id="12" name="Shape 10"/>
          <p:cNvSpPr/>
          <p:nvPr/>
        </p:nvSpPr>
        <p:spPr>
          <a:xfrm>
            <a:off x="640080" y="1993392"/>
            <a:ext cx="50292" cy="1328928"/>
          </a:xfrm>
          <a:prstGeom prst="rect">
            <a:avLst/>
          </a:prstGeom>
          <a:solidFill>
            <a:srgbClr val="087F8C"/>
          </a:solidFill>
          <a:ln w="12700">
            <a:solidFill>
              <a:srgbClr val="087F8C">
                <a:alpha val="0"/>
              </a:srgbClr>
            </a:solidFill>
            <a:prstDash val="solid"/>
          </a:ln>
        </p:spPr>
      </p:sp>
      <p:sp>
        <p:nvSpPr>
          <p:cNvPr id="13" name="Text 11"/>
          <p:cNvSpPr/>
          <p:nvPr/>
        </p:nvSpPr>
        <p:spPr>
          <a:xfrm>
            <a:off x="786384" y="2084832"/>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01</a:t>
            </a:r>
            <a:endParaRPr lang="en-US" sz="950" dirty="0"/>
          </a:p>
        </p:txBody>
      </p:sp>
      <p:sp>
        <p:nvSpPr>
          <p:cNvPr id="14" name="Text 12"/>
          <p:cNvSpPr/>
          <p:nvPr/>
        </p:nvSpPr>
        <p:spPr>
          <a:xfrm>
            <a:off x="1197864" y="2075688"/>
            <a:ext cx="5989320" cy="1173480"/>
          </a:xfrm>
          <a:prstGeom prst="rect">
            <a:avLst/>
          </a:prstGeom>
          <a:noFill/>
          <a:ln/>
        </p:spPr>
        <p:txBody>
          <a:bodyPr wrap="square" lIns="0" tIns="0" rIns="0" bIns="0" rtlCol="0" anchor="ctr">
            <a:normAutofit/>
          </a:bodyPr>
          <a:lstStyle/>
          <a:p>
            <a:pPr indent="0" marL="0">
              <a:buNone/>
            </a:pPr>
            <a:r>
              <a:rPr lang="en-US" sz="1310" dirty="0">
                <a:solidFill>
                  <a:srgbClr val="334B5C"/>
                </a:solidFill>
                <a:latin typeface="Aptos" pitchFamily="34" charset="0"/>
                <a:ea typeface="Aptos" pitchFamily="34" charset="-122"/>
                <a:cs typeface="Aptos" pitchFamily="34" charset="-120"/>
              </a:rPr>
              <a:t>In a basic cyclic model, inputs are sampled, user logic executes, and outputs are updated; communications, task scheduling, and monitoring may run on separate or overlapping schedules.</a:t>
            </a:r>
            <a:endParaRPr lang="en-US" sz="1310" dirty="0"/>
          </a:p>
        </p:txBody>
      </p:sp>
      <p:sp>
        <p:nvSpPr>
          <p:cNvPr id="15" name="Shape 13"/>
          <p:cNvSpPr/>
          <p:nvPr/>
        </p:nvSpPr>
        <p:spPr>
          <a:xfrm>
            <a:off x="640080" y="3404616"/>
            <a:ext cx="6720840" cy="1328928"/>
          </a:xfrm>
          <a:prstGeom prst="rect">
            <a:avLst/>
          </a:prstGeom>
          <a:solidFill>
            <a:srgbClr val="FFFFFF"/>
          </a:solidFill>
          <a:ln w="8890">
            <a:solidFill>
              <a:srgbClr val="E7EDF1"/>
            </a:solidFill>
            <a:prstDash val="solid"/>
          </a:ln>
        </p:spPr>
      </p:sp>
      <p:sp>
        <p:nvSpPr>
          <p:cNvPr id="16" name="Shape 14"/>
          <p:cNvSpPr/>
          <p:nvPr/>
        </p:nvSpPr>
        <p:spPr>
          <a:xfrm>
            <a:off x="640080" y="3404616"/>
            <a:ext cx="50292" cy="1328928"/>
          </a:xfrm>
          <a:prstGeom prst="rect">
            <a:avLst/>
          </a:prstGeom>
          <a:solidFill>
            <a:srgbClr val="087F8C"/>
          </a:solidFill>
          <a:ln w="12700">
            <a:solidFill>
              <a:srgbClr val="087F8C">
                <a:alpha val="0"/>
              </a:srgbClr>
            </a:solidFill>
            <a:prstDash val="solid"/>
          </a:ln>
        </p:spPr>
      </p:sp>
      <p:sp>
        <p:nvSpPr>
          <p:cNvPr id="17" name="Text 15"/>
          <p:cNvSpPr/>
          <p:nvPr/>
        </p:nvSpPr>
        <p:spPr>
          <a:xfrm>
            <a:off x="786384" y="3496056"/>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02</a:t>
            </a:r>
            <a:endParaRPr lang="en-US" sz="950" dirty="0"/>
          </a:p>
        </p:txBody>
      </p:sp>
      <p:sp>
        <p:nvSpPr>
          <p:cNvPr id="18" name="Text 16"/>
          <p:cNvSpPr/>
          <p:nvPr/>
        </p:nvSpPr>
        <p:spPr>
          <a:xfrm>
            <a:off x="1197864" y="3486912"/>
            <a:ext cx="5989320" cy="1173480"/>
          </a:xfrm>
          <a:prstGeom prst="rect">
            <a:avLst/>
          </a:prstGeom>
          <a:noFill/>
          <a:ln/>
        </p:spPr>
        <p:txBody>
          <a:bodyPr wrap="square" lIns="0" tIns="0" rIns="0" bIns="0" rtlCol="0" anchor="ctr">
            <a:normAutofit/>
          </a:bodyPr>
          <a:lstStyle/>
          <a:p>
            <a:pPr indent="0" marL="0">
              <a:buNone/>
            </a:pPr>
            <a:r>
              <a:rPr lang="en-US" sz="1310" dirty="0">
                <a:solidFill>
                  <a:srgbClr val="334B5C"/>
                </a:solidFill>
                <a:latin typeface="Aptos" pitchFamily="34" charset="0"/>
                <a:ea typeface="Aptos" pitchFamily="34" charset="-122"/>
                <a:cs typeface="Aptos" pitchFamily="34" charset="-120"/>
              </a:rPr>
              <a:t>Real controllers may use periodic tasks, interrupts, remote-I/O update cycles, or immediate I/O instructions, so use the selected CPU and module manuals to interpret the timing diagram.</a:t>
            </a:r>
            <a:endParaRPr lang="en-US" sz="1310" dirty="0"/>
          </a:p>
        </p:txBody>
      </p:sp>
      <p:sp>
        <p:nvSpPr>
          <p:cNvPr id="19" name="Shape 17"/>
          <p:cNvSpPr/>
          <p:nvPr/>
        </p:nvSpPr>
        <p:spPr>
          <a:xfrm>
            <a:off x="640080" y="4815840"/>
            <a:ext cx="6720840" cy="1328928"/>
          </a:xfrm>
          <a:prstGeom prst="rect">
            <a:avLst/>
          </a:prstGeom>
          <a:solidFill>
            <a:srgbClr val="FFFFFF"/>
          </a:solidFill>
          <a:ln w="8890">
            <a:solidFill>
              <a:srgbClr val="E7EDF1"/>
            </a:solidFill>
            <a:prstDash val="solid"/>
          </a:ln>
        </p:spPr>
      </p:sp>
      <p:sp>
        <p:nvSpPr>
          <p:cNvPr id="20" name="Shape 18"/>
          <p:cNvSpPr/>
          <p:nvPr/>
        </p:nvSpPr>
        <p:spPr>
          <a:xfrm>
            <a:off x="640080" y="4815840"/>
            <a:ext cx="50292" cy="1328928"/>
          </a:xfrm>
          <a:prstGeom prst="rect">
            <a:avLst/>
          </a:prstGeom>
          <a:solidFill>
            <a:srgbClr val="087F8C"/>
          </a:solidFill>
          <a:ln w="12700">
            <a:solidFill>
              <a:srgbClr val="087F8C">
                <a:alpha val="0"/>
              </a:srgbClr>
            </a:solidFill>
            <a:prstDash val="solid"/>
          </a:ln>
        </p:spPr>
      </p:sp>
      <p:sp>
        <p:nvSpPr>
          <p:cNvPr id="21" name="Text 19"/>
          <p:cNvSpPr/>
          <p:nvPr/>
        </p:nvSpPr>
        <p:spPr>
          <a:xfrm>
            <a:off x="786384" y="4907280"/>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03</a:t>
            </a:r>
            <a:endParaRPr lang="en-US" sz="950" dirty="0"/>
          </a:p>
        </p:txBody>
      </p:sp>
      <p:sp>
        <p:nvSpPr>
          <p:cNvPr id="22" name="Text 20"/>
          <p:cNvSpPr/>
          <p:nvPr/>
        </p:nvSpPr>
        <p:spPr>
          <a:xfrm>
            <a:off x="1197864" y="4898136"/>
            <a:ext cx="5989320" cy="1173480"/>
          </a:xfrm>
          <a:prstGeom prst="rect">
            <a:avLst/>
          </a:prstGeom>
          <a:noFill/>
          <a:ln/>
        </p:spPr>
        <p:txBody>
          <a:bodyPr wrap="square" lIns="0" tIns="0" rIns="0" bIns="0" rtlCol="0" anchor="ctr">
            <a:normAutofit/>
          </a:bodyPr>
          <a:lstStyle/>
          <a:p>
            <a:pPr indent="0" marL="0">
              <a:buNone/>
            </a:pPr>
            <a:r>
              <a:rPr lang="en-US" sz="1310" dirty="0">
                <a:solidFill>
                  <a:srgbClr val="334B5C"/>
                </a:solidFill>
                <a:latin typeface="Aptos" pitchFamily="34" charset="0"/>
                <a:ea typeface="Aptos" pitchFamily="34" charset="-122"/>
                <a:cs typeface="Aptos" pitchFamily="34" charset="-120"/>
              </a:rPr>
              <a:t>In a hypothetical timing exercise, compare a 6 ms sensor pulse with a 10 ms task period and an input filter configured longer than the pulse; learners should predict a possible missed event, then identify what hardware documentation and test would settle it.</a:t>
            </a:r>
            <a:endParaRPr lang="en-US" sz="1310" dirty="0"/>
          </a:p>
        </p:txBody>
      </p:sp>
      <p:sp>
        <p:nvSpPr>
          <p:cNvPr id="23" name="Shape 21"/>
          <p:cNvSpPr/>
          <p:nvPr/>
        </p:nvSpPr>
        <p:spPr>
          <a:xfrm>
            <a:off x="7662672" y="1746504"/>
            <a:ext cx="3922776" cy="4361688"/>
          </a:xfrm>
          <a:prstGeom prst="rect">
            <a:avLst/>
          </a:prstGeom>
          <a:solidFill>
            <a:srgbClr val="FFFFFF"/>
          </a:solidFill>
          <a:ln w="12700">
            <a:solidFill>
              <a:srgbClr val="D5E0E7"/>
            </a:solidFill>
            <a:prstDash val="solid"/>
          </a:ln>
        </p:spPr>
      </p:sp>
      <p:sp>
        <p:nvSpPr>
          <p:cNvPr id="24" name="Text 22"/>
          <p:cNvSpPr/>
          <p:nvPr/>
        </p:nvSpPr>
        <p:spPr>
          <a:xfrm>
            <a:off x="7863840" y="1892808"/>
            <a:ext cx="3520440" cy="219456"/>
          </a:xfrm>
          <a:prstGeom prst="rect">
            <a:avLst/>
          </a:prstGeom>
          <a:noFill/>
          <a:ln/>
        </p:spPr>
        <p:txBody>
          <a:bodyPr wrap="square" lIns="0" tIns="0" rIns="0" bIns="0" rtlCol="0" anchor="ctr"/>
          <a:lstStyle/>
          <a:p>
            <a:pPr indent="0" marL="0">
              <a:buNone/>
            </a:pPr>
            <a:r>
              <a:rPr lang="en-US" sz="900" b="1" spc="80" kern="0" dirty="0">
                <a:solidFill>
                  <a:srgbClr val="087F8C"/>
                </a:solidFill>
                <a:latin typeface="Aptos" pitchFamily="34" charset="0"/>
                <a:ea typeface="Aptos" pitchFamily="34" charset="-122"/>
                <a:cs typeface="Aptos" pitchFamily="34" charset="-120"/>
              </a:rPr>
              <a:t>SIGNAL TIMING</a:t>
            </a:r>
            <a:endParaRPr lang="en-US" sz="900" dirty="0"/>
          </a:p>
        </p:txBody>
      </p:sp>
      <p:sp>
        <p:nvSpPr>
          <p:cNvPr id="25" name="Shape 23"/>
          <p:cNvSpPr/>
          <p:nvPr/>
        </p:nvSpPr>
        <p:spPr>
          <a:xfrm>
            <a:off x="7863840" y="2221992"/>
            <a:ext cx="3520440" cy="0"/>
          </a:xfrm>
          <a:prstGeom prst="line">
            <a:avLst/>
          </a:prstGeom>
          <a:noFill/>
          <a:ln w="8890">
            <a:solidFill>
              <a:srgbClr val="D5E0E7"/>
            </a:solidFill>
            <a:prstDash val="solid"/>
          </a:ln>
        </p:spPr>
      </p:sp>
      <p:sp>
        <p:nvSpPr>
          <p:cNvPr id="26" name="Text 24"/>
          <p:cNvSpPr/>
          <p:nvPr/>
        </p:nvSpPr>
        <p:spPr>
          <a:xfrm>
            <a:off x="8257032" y="3118104"/>
            <a:ext cx="2834640" cy="274320"/>
          </a:xfrm>
          <a:prstGeom prst="rect">
            <a:avLst/>
          </a:prstGeom>
          <a:noFill/>
          <a:ln/>
        </p:spPr>
        <p:txBody>
          <a:bodyPr wrap="square" lIns="0" tIns="0" rIns="0" bIns="0" rtlCol="0" anchor="ctr">
            <a:normAutofit/>
          </a:bodyPr>
          <a:lstStyle/>
          <a:p>
            <a:pPr algn="l" indent="0" marL="0">
              <a:buNone/>
            </a:pPr>
            <a:r>
              <a:rPr lang="en-US" sz="850" b="1" dirty="0">
                <a:solidFill>
                  <a:srgbClr val="607585"/>
                </a:solidFill>
                <a:latin typeface="Aptos" pitchFamily="34" charset="0"/>
                <a:ea typeface="Aptos" pitchFamily="34" charset="-122"/>
                <a:cs typeface="Aptos" pitchFamily="34" charset="-120"/>
              </a:rPr>
              <a:t>RAW SENSOR: VALID EVENTS + CHATTER</a:t>
            </a:r>
            <a:endParaRPr lang="en-US" sz="850" dirty="0"/>
          </a:p>
        </p:txBody>
      </p:sp>
      <p:sp>
        <p:nvSpPr>
          <p:cNvPr id="27" name="Shape 25"/>
          <p:cNvSpPr/>
          <p:nvPr/>
        </p:nvSpPr>
        <p:spPr>
          <a:xfrm>
            <a:off x="8257032" y="3941064"/>
            <a:ext cx="2834640" cy="0"/>
          </a:xfrm>
          <a:prstGeom prst="line">
            <a:avLst/>
          </a:prstGeom>
          <a:noFill/>
          <a:ln w="12700">
            <a:solidFill>
              <a:srgbClr val="D5E0E7"/>
            </a:solidFill>
            <a:prstDash val="solid"/>
          </a:ln>
        </p:spPr>
      </p:sp>
      <p:sp>
        <p:nvSpPr>
          <p:cNvPr id="28" name="Shape 26"/>
          <p:cNvSpPr/>
          <p:nvPr/>
        </p:nvSpPr>
        <p:spPr>
          <a:xfrm>
            <a:off x="8577072" y="3941064"/>
            <a:ext cx="0" cy="-484632"/>
          </a:xfrm>
          <a:prstGeom prst="line">
            <a:avLst/>
          </a:prstGeom>
          <a:noFill/>
          <a:ln w="31750">
            <a:solidFill>
              <a:srgbClr val="087F8C"/>
            </a:solidFill>
            <a:prstDash val="solid"/>
          </a:ln>
        </p:spPr>
      </p:sp>
      <p:sp>
        <p:nvSpPr>
          <p:cNvPr id="29" name="Shape 27"/>
          <p:cNvSpPr/>
          <p:nvPr/>
        </p:nvSpPr>
        <p:spPr>
          <a:xfrm>
            <a:off x="8577072" y="3456432"/>
            <a:ext cx="292608" cy="0"/>
          </a:xfrm>
          <a:prstGeom prst="line">
            <a:avLst/>
          </a:prstGeom>
          <a:noFill/>
          <a:ln w="31750">
            <a:solidFill>
              <a:srgbClr val="087F8C"/>
            </a:solidFill>
            <a:prstDash val="solid"/>
          </a:ln>
        </p:spPr>
      </p:sp>
      <p:sp>
        <p:nvSpPr>
          <p:cNvPr id="30" name="Shape 28"/>
          <p:cNvSpPr/>
          <p:nvPr/>
        </p:nvSpPr>
        <p:spPr>
          <a:xfrm>
            <a:off x="8869680" y="3456432"/>
            <a:ext cx="0" cy="484632"/>
          </a:xfrm>
          <a:prstGeom prst="line">
            <a:avLst/>
          </a:prstGeom>
          <a:noFill/>
          <a:ln w="31750">
            <a:solidFill>
              <a:srgbClr val="087F8C"/>
            </a:solidFill>
            <a:prstDash val="solid"/>
          </a:ln>
        </p:spPr>
      </p:sp>
      <p:sp>
        <p:nvSpPr>
          <p:cNvPr id="31" name="Shape 29"/>
          <p:cNvSpPr/>
          <p:nvPr/>
        </p:nvSpPr>
        <p:spPr>
          <a:xfrm>
            <a:off x="9427464" y="3941064"/>
            <a:ext cx="0" cy="-484632"/>
          </a:xfrm>
          <a:prstGeom prst="line">
            <a:avLst/>
          </a:prstGeom>
          <a:noFill/>
          <a:ln w="31750">
            <a:solidFill>
              <a:srgbClr val="087F8C"/>
            </a:solidFill>
            <a:prstDash val="solid"/>
          </a:ln>
        </p:spPr>
      </p:sp>
      <p:sp>
        <p:nvSpPr>
          <p:cNvPr id="32" name="Shape 30"/>
          <p:cNvSpPr/>
          <p:nvPr/>
        </p:nvSpPr>
        <p:spPr>
          <a:xfrm>
            <a:off x="9427464" y="3456432"/>
            <a:ext cx="292608" cy="0"/>
          </a:xfrm>
          <a:prstGeom prst="line">
            <a:avLst/>
          </a:prstGeom>
          <a:noFill/>
          <a:ln w="31750">
            <a:solidFill>
              <a:srgbClr val="087F8C"/>
            </a:solidFill>
            <a:prstDash val="solid"/>
          </a:ln>
        </p:spPr>
      </p:sp>
      <p:sp>
        <p:nvSpPr>
          <p:cNvPr id="33" name="Shape 31"/>
          <p:cNvSpPr/>
          <p:nvPr/>
        </p:nvSpPr>
        <p:spPr>
          <a:xfrm>
            <a:off x="9720072" y="3456432"/>
            <a:ext cx="0" cy="484632"/>
          </a:xfrm>
          <a:prstGeom prst="line">
            <a:avLst/>
          </a:prstGeom>
          <a:noFill/>
          <a:ln w="31750">
            <a:solidFill>
              <a:srgbClr val="087F8C"/>
            </a:solidFill>
            <a:prstDash val="solid"/>
          </a:ln>
        </p:spPr>
      </p:sp>
      <p:sp>
        <p:nvSpPr>
          <p:cNvPr id="34" name="Shape 32"/>
          <p:cNvSpPr/>
          <p:nvPr/>
        </p:nvSpPr>
        <p:spPr>
          <a:xfrm>
            <a:off x="10405872" y="3941064"/>
            <a:ext cx="0" cy="-484632"/>
          </a:xfrm>
          <a:prstGeom prst="line">
            <a:avLst/>
          </a:prstGeom>
          <a:noFill/>
          <a:ln w="31750">
            <a:solidFill>
              <a:srgbClr val="087F8C"/>
            </a:solidFill>
            <a:prstDash val="solid"/>
          </a:ln>
        </p:spPr>
      </p:sp>
      <p:sp>
        <p:nvSpPr>
          <p:cNvPr id="35" name="Shape 33"/>
          <p:cNvSpPr/>
          <p:nvPr/>
        </p:nvSpPr>
        <p:spPr>
          <a:xfrm>
            <a:off x="10405872" y="3456432"/>
            <a:ext cx="292608" cy="0"/>
          </a:xfrm>
          <a:prstGeom prst="line">
            <a:avLst/>
          </a:prstGeom>
          <a:noFill/>
          <a:ln w="31750">
            <a:solidFill>
              <a:srgbClr val="087F8C"/>
            </a:solidFill>
            <a:prstDash val="solid"/>
          </a:ln>
        </p:spPr>
      </p:sp>
      <p:sp>
        <p:nvSpPr>
          <p:cNvPr id="36" name="Shape 34"/>
          <p:cNvSpPr/>
          <p:nvPr/>
        </p:nvSpPr>
        <p:spPr>
          <a:xfrm>
            <a:off x="10698480" y="3456432"/>
            <a:ext cx="0" cy="484632"/>
          </a:xfrm>
          <a:prstGeom prst="line">
            <a:avLst/>
          </a:prstGeom>
          <a:noFill/>
          <a:ln w="31750">
            <a:solidFill>
              <a:srgbClr val="087F8C"/>
            </a:solidFill>
            <a:prstDash val="solid"/>
          </a:ln>
        </p:spPr>
      </p:sp>
      <p:sp>
        <p:nvSpPr>
          <p:cNvPr id="37" name="Shape 35"/>
          <p:cNvSpPr/>
          <p:nvPr/>
        </p:nvSpPr>
        <p:spPr>
          <a:xfrm>
            <a:off x="9829800" y="3941064"/>
            <a:ext cx="0" cy="-182880"/>
          </a:xfrm>
          <a:prstGeom prst="line">
            <a:avLst/>
          </a:prstGeom>
          <a:noFill/>
          <a:ln w="20320">
            <a:solidFill>
              <a:srgbClr val="C65E4E"/>
            </a:solidFill>
            <a:prstDash val="solid"/>
          </a:ln>
        </p:spPr>
      </p:sp>
      <p:sp>
        <p:nvSpPr>
          <p:cNvPr id="38" name="Shape 36"/>
          <p:cNvSpPr/>
          <p:nvPr/>
        </p:nvSpPr>
        <p:spPr>
          <a:xfrm>
            <a:off x="9829800" y="3758184"/>
            <a:ext cx="91440" cy="0"/>
          </a:xfrm>
          <a:prstGeom prst="line">
            <a:avLst/>
          </a:prstGeom>
          <a:noFill/>
          <a:ln w="20320">
            <a:solidFill>
              <a:srgbClr val="C65E4E"/>
            </a:solidFill>
            <a:prstDash val="solid"/>
          </a:ln>
        </p:spPr>
      </p:sp>
      <p:sp>
        <p:nvSpPr>
          <p:cNvPr id="39" name="Shape 37"/>
          <p:cNvSpPr/>
          <p:nvPr/>
        </p:nvSpPr>
        <p:spPr>
          <a:xfrm>
            <a:off x="9921240" y="3758184"/>
            <a:ext cx="0" cy="182880"/>
          </a:xfrm>
          <a:prstGeom prst="line">
            <a:avLst/>
          </a:prstGeom>
          <a:noFill/>
          <a:ln w="20320">
            <a:solidFill>
              <a:srgbClr val="C65E4E"/>
            </a:solidFill>
            <a:prstDash val="solid"/>
          </a:ln>
        </p:spPr>
      </p:sp>
      <p:sp>
        <p:nvSpPr>
          <p:cNvPr id="40" name="Text 38"/>
          <p:cNvSpPr/>
          <p:nvPr/>
        </p:nvSpPr>
        <p:spPr>
          <a:xfrm>
            <a:off x="8257032" y="4215384"/>
            <a:ext cx="2834640" cy="274320"/>
          </a:xfrm>
          <a:prstGeom prst="rect">
            <a:avLst/>
          </a:prstGeom>
          <a:noFill/>
          <a:ln/>
        </p:spPr>
        <p:txBody>
          <a:bodyPr wrap="square" lIns="0" tIns="0" rIns="0" bIns="0" rtlCol="0" anchor="ctr">
            <a:normAutofit/>
          </a:bodyPr>
          <a:lstStyle/>
          <a:p>
            <a:pPr algn="l" indent="0" marL="0">
              <a:buNone/>
            </a:pPr>
            <a:r>
              <a:rPr lang="en-US" sz="850" b="1" dirty="0">
                <a:solidFill>
                  <a:srgbClr val="607585"/>
                </a:solidFill>
                <a:latin typeface="Aptos" pitchFamily="34" charset="0"/>
                <a:ea typeface="Aptos" pitchFamily="34" charset="-122"/>
                <a:cs typeface="Aptos" pitchFamily="34" charset="-120"/>
              </a:rPr>
              <a:t>QUALIFIED INPUT / ONE-SHOT EVENTS</a:t>
            </a:r>
            <a:endParaRPr lang="en-US" sz="850" dirty="0"/>
          </a:p>
        </p:txBody>
      </p:sp>
      <p:sp>
        <p:nvSpPr>
          <p:cNvPr id="41" name="Shape 39"/>
          <p:cNvSpPr/>
          <p:nvPr/>
        </p:nvSpPr>
        <p:spPr>
          <a:xfrm>
            <a:off x="8257032" y="4946904"/>
            <a:ext cx="2834640" cy="0"/>
          </a:xfrm>
          <a:prstGeom prst="line">
            <a:avLst/>
          </a:prstGeom>
          <a:noFill/>
          <a:ln w="12700">
            <a:solidFill>
              <a:srgbClr val="D5E0E7"/>
            </a:solidFill>
            <a:prstDash val="solid"/>
          </a:ln>
        </p:spPr>
      </p:sp>
      <p:sp>
        <p:nvSpPr>
          <p:cNvPr id="42" name="Shape 40"/>
          <p:cNvSpPr/>
          <p:nvPr/>
        </p:nvSpPr>
        <p:spPr>
          <a:xfrm>
            <a:off x="8577072" y="4946904"/>
            <a:ext cx="0" cy="-438912"/>
          </a:xfrm>
          <a:prstGeom prst="line">
            <a:avLst/>
          </a:prstGeom>
          <a:noFill/>
          <a:ln w="31750">
            <a:solidFill>
              <a:srgbClr val="3F7394"/>
            </a:solidFill>
            <a:prstDash val="solid"/>
          </a:ln>
        </p:spPr>
      </p:sp>
      <p:sp>
        <p:nvSpPr>
          <p:cNvPr id="43" name="Shape 41"/>
          <p:cNvSpPr/>
          <p:nvPr/>
        </p:nvSpPr>
        <p:spPr>
          <a:xfrm>
            <a:off x="8577072" y="4507992"/>
            <a:ext cx="292608" cy="0"/>
          </a:xfrm>
          <a:prstGeom prst="line">
            <a:avLst/>
          </a:prstGeom>
          <a:noFill/>
          <a:ln w="31750">
            <a:solidFill>
              <a:srgbClr val="3F7394"/>
            </a:solidFill>
            <a:prstDash val="solid"/>
          </a:ln>
        </p:spPr>
      </p:sp>
      <p:sp>
        <p:nvSpPr>
          <p:cNvPr id="44" name="Shape 42"/>
          <p:cNvSpPr/>
          <p:nvPr/>
        </p:nvSpPr>
        <p:spPr>
          <a:xfrm>
            <a:off x="8869680" y="4507992"/>
            <a:ext cx="0" cy="438912"/>
          </a:xfrm>
          <a:prstGeom prst="line">
            <a:avLst/>
          </a:prstGeom>
          <a:noFill/>
          <a:ln w="31750">
            <a:solidFill>
              <a:srgbClr val="3F7394"/>
            </a:solidFill>
            <a:prstDash val="solid"/>
          </a:ln>
        </p:spPr>
      </p:sp>
      <p:sp>
        <p:nvSpPr>
          <p:cNvPr id="45" name="Shape 43"/>
          <p:cNvSpPr/>
          <p:nvPr/>
        </p:nvSpPr>
        <p:spPr>
          <a:xfrm>
            <a:off x="9427464" y="4946904"/>
            <a:ext cx="0" cy="-438912"/>
          </a:xfrm>
          <a:prstGeom prst="line">
            <a:avLst/>
          </a:prstGeom>
          <a:noFill/>
          <a:ln w="31750">
            <a:solidFill>
              <a:srgbClr val="3F7394"/>
            </a:solidFill>
            <a:prstDash val="solid"/>
          </a:ln>
        </p:spPr>
      </p:sp>
      <p:sp>
        <p:nvSpPr>
          <p:cNvPr id="46" name="Shape 44"/>
          <p:cNvSpPr/>
          <p:nvPr/>
        </p:nvSpPr>
        <p:spPr>
          <a:xfrm>
            <a:off x="9427464" y="4507992"/>
            <a:ext cx="292608" cy="0"/>
          </a:xfrm>
          <a:prstGeom prst="line">
            <a:avLst/>
          </a:prstGeom>
          <a:noFill/>
          <a:ln w="31750">
            <a:solidFill>
              <a:srgbClr val="3F7394"/>
            </a:solidFill>
            <a:prstDash val="solid"/>
          </a:ln>
        </p:spPr>
      </p:sp>
      <p:sp>
        <p:nvSpPr>
          <p:cNvPr id="47" name="Shape 45"/>
          <p:cNvSpPr/>
          <p:nvPr/>
        </p:nvSpPr>
        <p:spPr>
          <a:xfrm>
            <a:off x="9720072" y="4507992"/>
            <a:ext cx="0" cy="438912"/>
          </a:xfrm>
          <a:prstGeom prst="line">
            <a:avLst/>
          </a:prstGeom>
          <a:noFill/>
          <a:ln w="31750">
            <a:solidFill>
              <a:srgbClr val="3F7394"/>
            </a:solidFill>
            <a:prstDash val="solid"/>
          </a:ln>
        </p:spPr>
      </p:sp>
      <p:sp>
        <p:nvSpPr>
          <p:cNvPr id="48" name="Shape 46"/>
          <p:cNvSpPr/>
          <p:nvPr/>
        </p:nvSpPr>
        <p:spPr>
          <a:xfrm>
            <a:off x="10405872" y="4946904"/>
            <a:ext cx="0" cy="-438912"/>
          </a:xfrm>
          <a:prstGeom prst="line">
            <a:avLst/>
          </a:prstGeom>
          <a:noFill/>
          <a:ln w="31750">
            <a:solidFill>
              <a:srgbClr val="3F7394"/>
            </a:solidFill>
            <a:prstDash val="solid"/>
          </a:ln>
        </p:spPr>
      </p:sp>
      <p:sp>
        <p:nvSpPr>
          <p:cNvPr id="49" name="Shape 47"/>
          <p:cNvSpPr/>
          <p:nvPr/>
        </p:nvSpPr>
        <p:spPr>
          <a:xfrm>
            <a:off x="10405872" y="4507992"/>
            <a:ext cx="292608" cy="0"/>
          </a:xfrm>
          <a:prstGeom prst="line">
            <a:avLst/>
          </a:prstGeom>
          <a:noFill/>
          <a:ln w="31750">
            <a:solidFill>
              <a:srgbClr val="3F7394"/>
            </a:solidFill>
            <a:prstDash val="solid"/>
          </a:ln>
        </p:spPr>
      </p:sp>
      <p:sp>
        <p:nvSpPr>
          <p:cNvPr id="50" name="Shape 48"/>
          <p:cNvSpPr/>
          <p:nvPr/>
        </p:nvSpPr>
        <p:spPr>
          <a:xfrm>
            <a:off x="10698480" y="4507992"/>
            <a:ext cx="0" cy="438912"/>
          </a:xfrm>
          <a:prstGeom prst="line">
            <a:avLst/>
          </a:prstGeom>
          <a:noFill/>
          <a:ln w="31750">
            <a:solidFill>
              <a:srgbClr val="3F7394"/>
            </a:solidFill>
            <a:prstDash val="solid"/>
          </a:ln>
        </p:spPr>
      </p:sp>
      <p:sp>
        <p:nvSpPr>
          <p:cNvPr id="51" name="Text 49"/>
          <p:cNvSpPr/>
          <p:nvPr/>
        </p:nvSpPr>
        <p:spPr>
          <a:xfrm>
            <a:off x="8302752" y="5385816"/>
            <a:ext cx="2743200" cy="457200"/>
          </a:xfrm>
          <a:prstGeom prst="rect">
            <a:avLst/>
          </a:prstGeom>
          <a:noFill/>
          <a:ln/>
        </p:spPr>
        <p:txBody>
          <a:bodyPr wrap="square" lIns="0" tIns="0" rIns="0" bIns="0" rtlCol="0" anchor="ctr">
            <a:normAutofit/>
          </a:bodyPr>
          <a:lstStyle/>
          <a:p>
            <a:pPr algn="ctr" indent="0" marL="0">
              <a:buNone/>
            </a:pPr>
            <a:r>
              <a:rPr lang="en-US" sz="1050" b="1" dirty="0">
                <a:solidFill>
                  <a:srgbClr val="087F8C"/>
                </a:solidFill>
                <a:latin typeface="Aptos" pitchFamily="34" charset="0"/>
                <a:ea typeface="Aptos" pitchFamily="34" charset="-122"/>
                <a:cs typeface="Aptos" pitchFamily="34" charset="-120"/>
              </a:rPr>
              <a:t>Reject the short chatter; preserve all valid pill events</a:t>
            </a:r>
            <a:endParaRPr lang="en-US" sz="1050" dirty="0"/>
          </a:p>
        </p:txBody>
      </p:sp>
      <p:sp>
        <p:nvSpPr>
          <p:cNvPr id="52" name="Shape 50"/>
          <p:cNvSpPr/>
          <p:nvPr/>
        </p:nvSpPr>
        <p:spPr>
          <a:xfrm>
            <a:off x="603504" y="6318504"/>
            <a:ext cx="10972800" cy="0"/>
          </a:xfrm>
          <a:prstGeom prst="line">
            <a:avLst/>
          </a:prstGeom>
          <a:noFill/>
          <a:ln w="10160">
            <a:solidFill>
              <a:srgbClr val="D5E0E7"/>
            </a:solidFill>
            <a:prstDash val="solid"/>
          </a:ln>
        </p:spPr>
      </p:sp>
      <p:sp>
        <p:nvSpPr>
          <p:cNvPr id="53" name="Text 51"/>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SIGNAL PROCESSING AND SIGNAL INTEGRITY</a:t>
            </a:r>
            <a:endParaRPr lang="en-US" sz="800" dirty="0"/>
          </a:p>
        </p:txBody>
      </p:sp>
      <p:sp>
        <p:nvSpPr>
          <p:cNvPr id="54" name="Text 52"/>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05 / 18</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087F8C"/>
          </a:solidFill>
          <a:ln w="12700">
            <a:solidFill>
              <a:srgbClr val="087F8C">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087F8C"/>
                </a:solidFill>
                <a:latin typeface="Aptos" pitchFamily="34" charset="0"/>
                <a:ea typeface="Aptos" pitchFamily="34" charset="-122"/>
                <a:cs typeface="Aptos" pitchFamily="34" charset="-120"/>
              </a:rPr>
              <a:t>UNIT 5009    /    WEEK 05    /    LO2</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12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087F8C"/>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087F8C"/>
                </a:solidFill>
                <a:latin typeface="Aptos" pitchFamily="34" charset="0"/>
                <a:ea typeface="Aptos" pitchFamily="34" charset="-122"/>
                <a:cs typeface="Aptos" pitchFamily="34" charset="-120"/>
              </a:rPr>
              <a:t>LO2 FOUNDATIONS</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3100" b="1" dirty="0">
                <a:solidFill>
                  <a:srgbClr val="1B3448"/>
                </a:solidFill>
                <a:latin typeface="Aptos Display" pitchFamily="34" charset="0"/>
                <a:ea typeface="Aptos Display" pitchFamily="34" charset="-122"/>
                <a:cs typeface="Aptos Display" pitchFamily="34" charset="-120"/>
              </a:rPr>
              <a:t>Debounce and edge detection</a:t>
            </a:r>
            <a:endParaRPr lang="en-US" sz="31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67512" y="1709928"/>
            <a:ext cx="2743200" cy="210312"/>
          </a:xfrm>
          <a:prstGeom prst="rect">
            <a:avLst/>
          </a:prstGeom>
          <a:noFill/>
          <a:ln/>
        </p:spPr>
        <p:txBody>
          <a:bodyPr wrap="square" lIns="0" tIns="0" rIns="0" bIns="0" rtlCol="0" anchor="ctr"/>
          <a:lstStyle/>
          <a:p>
            <a:pPr indent="0" marL="0">
              <a:buNone/>
            </a:pPr>
            <a:r>
              <a:rPr lang="en-US" sz="900" b="1" spc="100" kern="0" dirty="0">
                <a:solidFill>
                  <a:srgbClr val="087F8C"/>
                </a:solidFill>
                <a:latin typeface="Aptos" pitchFamily="34" charset="0"/>
                <a:ea typeface="Aptos" pitchFamily="34" charset="-122"/>
                <a:cs typeface="Aptos" pitchFamily="34" charset="-120"/>
              </a:rPr>
              <a:t>TEACHING POINTS</a:t>
            </a:r>
            <a:endParaRPr lang="en-US" sz="900" dirty="0"/>
          </a:p>
        </p:txBody>
      </p:sp>
      <p:sp>
        <p:nvSpPr>
          <p:cNvPr id="11" name="Shape 9"/>
          <p:cNvSpPr/>
          <p:nvPr/>
        </p:nvSpPr>
        <p:spPr>
          <a:xfrm>
            <a:off x="640080" y="1993392"/>
            <a:ext cx="6720840" cy="976122"/>
          </a:xfrm>
          <a:prstGeom prst="rect">
            <a:avLst/>
          </a:prstGeom>
          <a:solidFill>
            <a:srgbClr val="FFFFFF"/>
          </a:solidFill>
          <a:ln w="8890">
            <a:solidFill>
              <a:srgbClr val="D5E0E7"/>
            </a:solidFill>
            <a:prstDash val="solid"/>
          </a:ln>
        </p:spPr>
      </p:sp>
      <p:sp>
        <p:nvSpPr>
          <p:cNvPr id="12" name="Shape 10"/>
          <p:cNvSpPr/>
          <p:nvPr/>
        </p:nvSpPr>
        <p:spPr>
          <a:xfrm>
            <a:off x="640080" y="1993392"/>
            <a:ext cx="50292" cy="976122"/>
          </a:xfrm>
          <a:prstGeom prst="rect">
            <a:avLst/>
          </a:prstGeom>
          <a:solidFill>
            <a:srgbClr val="087F8C"/>
          </a:solidFill>
          <a:ln w="12700">
            <a:solidFill>
              <a:srgbClr val="087F8C">
                <a:alpha val="0"/>
              </a:srgbClr>
            </a:solidFill>
            <a:prstDash val="solid"/>
          </a:ln>
        </p:spPr>
      </p:sp>
      <p:sp>
        <p:nvSpPr>
          <p:cNvPr id="13" name="Text 11"/>
          <p:cNvSpPr/>
          <p:nvPr/>
        </p:nvSpPr>
        <p:spPr>
          <a:xfrm>
            <a:off x="786384" y="2084832"/>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01</a:t>
            </a:r>
            <a:endParaRPr lang="en-US" sz="950" dirty="0"/>
          </a:p>
        </p:txBody>
      </p:sp>
      <p:sp>
        <p:nvSpPr>
          <p:cNvPr id="14" name="Text 12"/>
          <p:cNvSpPr/>
          <p:nvPr/>
        </p:nvSpPr>
        <p:spPr>
          <a:xfrm>
            <a:off x="1197864" y="2075688"/>
            <a:ext cx="5989320" cy="820674"/>
          </a:xfrm>
          <a:prstGeom prst="rect">
            <a:avLst/>
          </a:prstGeom>
          <a:noFill/>
          <a:ln/>
        </p:spPr>
        <p:txBody>
          <a:bodyPr wrap="square" lIns="0" tIns="0" rIns="0" bIns="0" rtlCol="0" anchor="ctr">
            <a:normAutofit/>
          </a:bodyPr>
          <a:lstStyle/>
          <a:p>
            <a:pPr indent="0" marL="0">
              <a:buNone/>
            </a:pPr>
            <a:r>
              <a:rPr lang="en-US" sz="1310" dirty="0">
                <a:solidFill>
                  <a:srgbClr val="334B5C"/>
                </a:solidFill>
                <a:latin typeface="Aptos" pitchFamily="34" charset="0"/>
                <a:ea typeface="Aptos" pitchFamily="34" charset="-122"/>
                <a:cs typeface="Aptos" pitchFamily="34" charset="-120"/>
              </a:rPr>
              <a:t>An input filter rejects or delays short transitions at the hardware/channel level; rising-edge logic detects a false-to-true transition in the program. They address related but different causes.</a:t>
            </a:r>
            <a:endParaRPr lang="en-US" sz="1310" dirty="0"/>
          </a:p>
        </p:txBody>
      </p:sp>
      <p:sp>
        <p:nvSpPr>
          <p:cNvPr id="15" name="Shape 13"/>
          <p:cNvSpPr/>
          <p:nvPr/>
        </p:nvSpPr>
        <p:spPr>
          <a:xfrm>
            <a:off x="640080" y="3051810"/>
            <a:ext cx="6720840" cy="976122"/>
          </a:xfrm>
          <a:prstGeom prst="rect">
            <a:avLst/>
          </a:prstGeom>
          <a:solidFill>
            <a:srgbClr val="FFFFFF"/>
          </a:solidFill>
          <a:ln w="8890">
            <a:solidFill>
              <a:srgbClr val="E7EDF1"/>
            </a:solidFill>
            <a:prstDash val="solid"/>
          </a:ln>
        </p:spPr>
      </p:sp>
      <p:sp>
        <p:nvSpPr>
          <p:cNvPr id="16" name="Shape 14"/>
          <p:cNvSpPr/>
          <p:nvPr/>
        </p:nvSpPr>
        <p:spPr>
          <a:xfrm>
            <a:off x="640080" y="3051810"/>
            <a:ext cx="50292" cy="976122"/>
          </a:xfrm>
          <a:prstGeom prst="rect">
            <a:avLst/>
          </a:prstGeom>
          <a:solidFill>
            <a:srgbClr val="087F8C"/>
          </a:solidFill>
          <a:ln w="12700">
            <a:solidFill>
              <a:srgbClr val="087F8C">
                <a:alpha val="0"/>
              </a:srgbClr>
            </a:solidFill>
            <a:prstDash val="solid"/>
          </a:ln>
        </p:spPr>
      </p:sp>
      <p:sp>
        <p:nvSpPr>
          <p:cNvPr id="17" name="Text 15"/>
          <p:cNvSpPr/>
          <p:nvPr/>
        </p:nvSpPr>
        <p:spPr>
          <a:xfrm>
            <a:off x="786384" y="3143250"/>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02</a:t>
            </a:r>
            <a:endParaRPr lang="en-US" sz="950" dirty="0"/>
          </a:p>
        </p:txBody>
      </p:sp>
      <p:sp>
        <p:nvSpPr>
          <p:cNvPr id="18" name="Text 16"/>
          <p:cNvSpPr/>
          <p:nvPr/>
        </p:nvSpPr>
        <p:spPr>
          <a:xfrm>
            <a:off x="1197864" y="3134106"/>
            <a:ext cx="5989320" cy="820674"/>
          </a:xfrm>
          <a:prstGeom prst="rect">
            <a:avLst/>
          </a:prstGeom>
          <a:noFill/>
          <a:ln/>
        </p:spPr>
        <p:txBody>
          <a:bodyPr wrap="square" lIns="0" tIns="0" rIns="0" bIns="0" rtlCol="0" anchor="ctr">
            <a:normAutofit/>
          </a:bodyPr>
          <a:lstStyle/>
          <a:p>
            <a:pPr indent="0" marL="0">
              <a:buNone/>
            </a:pPr>
            <a:r>
              <a:rPr lang="en-US" sz="1310" dirty="0">
                <a:solidFill>
                  <a:srgbClr val="334B5C"/>
                </a:solidFill>
                <a:latin typeface="Aptos" pitchFamily="34" charset="0"/>
                <a:ea typeface="Aptos" pitchFamily="34" charset="-122"/>
                <a:cs typeface="Aptos" pitchFamily="34" charset="-120"/>
              </a:rPr>
              <a:t>A held-high sensor represents one transition, not repeated pills; a one-shot should count once until the input returns low, while bouncing can create multiple edges if not conditioned.</a:t>
            </a:r>
            <a:endParaRPr lang="en-US" sz="1310" dirty="0"/>
          </a:p>
        </p:txBody>
      </p:sp>
      <p:sp>
        <p:nvSpPr>
          <p:cNvPr id="19" name="Shape 17"/>
          <p:cNvSpPr/>
          <p:nvPr/>
        </p:nvSpPr>
        <p:spPr>
          <a:xfrm>
            <a:off x="640080" y="4110228"/>
            <a:ext cx="6720840" cy="976122"/>
          </a:xfrm>
          <a:prstGeom prst="rect">
            <a:avLst/>
          </a:prstGeom>
          <a:solidFill>
            <a:srgbClr val="FFFFFF"/>
          </a:solidFill>
          <a:ln w="8890">
            <a:solidFill>
              <a:srgbClr val="E7EDF1"/>
            </a:solidFill>
            <a:prstDash val="solid"/>
          </a:ln>
        </p:spPr>
      </p:sp>
      <p:sp>
        <p:nvSpPr>
          <p:cNvPr id="20" name="Shape 18"/>
          <p:cNvSpPr/>
          <p:nvPr/>
        </p:nvSpPr>
        <p:spPr>
          <a:xfrm>
            <a:off x="640080" y="4110228"/>
            <a:ext cx="50292" cy="976122"/>
          </a:xfrm>
          <a:prstGeom prst="rect">
            <a:avLst/>
          </a:prstGeom>
          <a:solidFill>
            <a:srgbClr val="087F8C"/>
          </a:solidFill>
          <a:ln w="12700">
            <a:solidFill>
              <a:srgbClr val="087F8C">
                <a:alpha val="0"/>
              </a:srgbClr>
            </a:solidFill>
            <a:prstDash val="solid"/>
          </a:ln>
        </p:spPr>
      </p:sp>
      <p:sp>
        <p:nvSpPr>
          <p:cNvPr id="21" name="Text 19"/>
          <p:cNvSpPr/>
          <p:nvPr/>
        </p:nvSpPr>
        <p:spPr>
          <a:xfrm>
            <a:off x="786384" y="4201668"/>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03</a:t>
            </a:r>
            <a:endParaRPr lang="en-US" sz="950" dirty="0"/>
          </a:p>
        </p:txBody>
      </p:sp>
      <p:sp>
        <p:nvSpPr>
          <p:cNvPr id="22" name="Text 20"/>
          <p:cNvSpPr/>
          <p:nvPr/>
        </p:nvSpPr>
        <p:spPr>
          <a:xfrm>
            <a:off x="1197864" y="4192524"/>
            <a:ext cx="5989320" cy="820674"/>
          </a:xfrm>
          <a:prstGeom prst="rect">
            <a:avLst/>
          </a:prstGeom>
          <a:noFill/>
          <a:ln/>
        </p:spPr>
        <p:txBody>
          <a:bodyPr wrap="square" lIns="0" tIns="0" rIns="0" bIns="0" rtlCol="0" anchor="ctr">
            <a:normAutofit/>
          </a:bodyPr>
          <a:lstStyle/>
          <a:p>
            <a:pPr indent="0" marL="0">
              <a:buNone/>
            </a:pPr>
            <a:r>
              <a:rPr lang="en-US" sz="1310" dirty="0">
                <a:solidFill>
                  <a:srgbClr val="334B5C"/>
                </a:solidFill>
                <a:latin typeface="Aptos" pitchFamily="34" charset="0"/>
                <a:ea typeface="Aptos" pitchFamily="34" charset="-122"/>
                <a:cs typeface="Aptos" pitchFamily="34" charset="-120"/>
              </a:rPr>
              <a:t>Set filter time only after checking the sensor's minimum pulse width and maximum event rate; a filter that is too long can suppress valid MedPack events.</a:t>
            </a:r>
            <a:endParaRPr lang="en-US" sz="1310" dirty="0"/>
          </a:p>
        </p:txBody>
      </p:sp>
      <p:sp>
        <p:nvSpPr>
          <p:cNvPr id="23" name="Shape 21"/>
          <p:cNvSpPr/>
          <p:nvPr/>
        </p:nvSpPr>
        <p:spPr>
          <a:xfrm>
            <a:off x="640080" y="5168646"/>
            <a:ext cx="6720840" cy="976122"/>
          </a:xfrm>
          <a:prstGeom prst="rect">
            <a:avLst/>
          </a:prstGeom>
          <a:solidFill>
            <a:srgbClr val="FFFFFF"/>
          </a:solidFill>
          <a:ln w="8890">
            <a:solidFill>
              <a:srgbClr val="E7EDF1"/>
            </a:solidFill>
            <a:prstDash val="solid"/>
          </a:ln>
        </p:spPr>
      </p:sp>
      <p:sp>
        <p:nvSpPr>
          <p:cNvPr id="24" name="Shape 22"/>
          <p:cNvSpPr/>
          <p:nvPr/>
        </p:nvSpPr>
        <p:spPr>
          <a:xfrm>
            <a:off x="640080" y="5168646"/>
            <a:ext cx="50292" cy="976122"/>
          </a:xfrm>
          <a:prstGeom prst="rect">
            <a:avLst/>
          </a:prstGeom>
          <a:solidFill>
            <a:srgbClr val="087F8C"/>
          </a:solidFill>
          <a:ln w="12700">
            <a:solidFill>
              <a:srgbClr val="087F8C">
                <a:alpha val="0"/>
              </a:srgbClr>
            </a:solidFill>
            <a:prstDash val="solid"/>
          </a:ln>
        </p:spPr>
      </p:sp>
      <p:sp>
        <p:nvSpPr>
          <p:cNvPr id="25" name="Text 23"/>
          <p:cNvSpPr/>
          <p:nvPr/>
        </p:nvSpPr>
        <p:spPr>
          <a:xfrm>
            <a:off x="786384" y="5260086"/>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04</a:t>
            </a:r>
            <a:endParaRPr lang="en-US" sz="950" dirty="0"/>
          </a:p>
        </p:txBody>
      </p:sp>
      <p:sp>
        <p:nvSpPr>
          <p:cNvPr id="26" name="Text 24"/>
          <p:cNvSpPr/>
          <p:nvPr/>
        </p:nvSpPr>
        <p:spPr>
          <a:xfrm>
            <a:off x="1197864" y="5250942"/>
            <a:ext cx="5989320" cy="820674"/>
          </a:xfrm>
          <a:prstGeom prst="rect">
            <a:avLst/>
          </a:prstGeom>
          <a:noFill/>
          <a:ln/>
        </p:spPr>
        <p:txBody>
          <a:bodyPr wrap="square" lIns="0" tIns="0" rIns="0" bIns="0" rtlCol="0" anchor="ctr">
            <a:normAutofit/>
          </a:bodyPr>
          <a:lstStyle/>
          <a:p>
            <a:pPr indent="0" marL="0">
              <a:buNone/>
            </a:pPr>
            <a:r>
              <a:rPr lang="en-US" sz="1310" dirty="0">
                <a:solidFill>
                  <a:srgbClr val="334B5C"/>
                </a:solidFill>
                <a:latin typeface="Aptos" pitchFamily="34" charset="0"/>
                <a:ea typeface="Aptos" pitchFamily="34" charset="-122"/>
                <a:cs typeface="Aptos" pitchFamily="34" charset="-120"/>
              </a:rPr>
              <a:t>Test procedure: apply one clean pulse, a held-high input, and a bouncing trace in simulation; expected observation is one count for one valid rising edge, with bounce behaviour matching the configured filter and logic.</a:t>
            </a:r>
            <a:endParaRPr lang="en-US" sz="1310" dirty="0"/>
          </a:p>
        </p:txBody>
      </p:sp>
      <p:sp>
        <p:nvSpPr>
          <p:cNvPr id="27" name="Shape 25"/>
          <p:cNvSpPr/>
          <p:nvPr/>
        </p:nvSpPr>
        <p:spPr>
          <a:xfrm>
            <a:off x="7662672" y="1746504"/>
            <a:ext cx="3922776" cy="4361688"/>
          </a:xfrm>
          <a:prstGeom prst="rect">
            <a:avLst/>
          </a:prstGeom>
          <a:solidFill>
            <a:srgbClr val="FFFFFF"/>
          </a:solidFill>
          <a:ln w="12700">
            <a:solidFill>
              <a:srgbClr val="D5E0E7"/>
            </a:solidFill>
            <a:prstDash val="solid"/>
          </a:ln>
        </p:spPr>
      </p:sp>
      <p:sp>
        <p:nvSpPr>
          <p:cNvPr id="28" name="Text 26"/>
          <p:cNvSpPr/>
          <p:nvPr/>
        </p:nvSpPr>
        <p:spPr>
          <a:xfrm>
            <a:off x="7863840" y="1892808"/>
            <a:ext cx="3520440" cy="219456"/>
          </a:xfrm>
          <a:prstGeom prst="rect">
            <a:avLst/>
          </a:prstGeom>
          <a:noFill/>
          <a:ln/>
        </p:spPr>
        <p:txBody>
          <a:bodyPr wrap="square" lIns="0" tIns="0" rIns="0" bIns="0" rtlCol="0" anchor="ctr"/>
          <a:lstStyle/>
          <a:p>
            <a:pPr indent="0" marL="0">
              <a:buNone/>
            </a:pPr>
            <a:r>
              <a:rPr lang="en-US" sz="900" b="1" spc="80" kern="0" dirty="0">
                <a:solidFill>
                  <a:srgbClr val="087F8C"/>
                </a:solidFill>
                <a:latin typeface="Aptos" pitchFamily="34" charset="0"/>
                <a:ea typeface="Aptos" pitchFamily="34" charset="-122"/>
                <a:cs typeface="Aptos" pitchFamily="34" charset="-120"/>
              </a:rPr>
              <a:t>SIGNAL TIMING</a:t>
            </a:r>
            <a:endParaRPr lang="en-US" sz="900" dirty="0"/>
          </a:p>
        </p:txBody>
      </p:sp>
      <p:sp>
        <p:nvSpPr>
          <p:cNvPr id="29" name="Shape 27"/>
          <p:cNvSpPr/>
          <p:nvPr/>
        </p:nvSpPr>
        <p:spPr>
          <a:xfrm>
            <a:off x="7863840" y="2221992"/>
            <a:ext cx="3520440" cy="0"/>
          </a:xfrm>
          <a:prstGeom prst="line">
            <a:avLst/>
          </a:prstGeom>
          <a:noFill/>
          <a:ln w="8890">
            <a:solidFill>
              <a:srgbClr val="D5E0E7"/>
            </a:solidFill>
            <a:prstDash val="solid"/>
          </a:ln>
        </p:spPr>
      </p:sp>
      <p:sp>
        <p:nvSpPr>
          <p:cNvPr id="30" name="Text 28"/>
          <p:cNvSpPr/>
          <p:nvPr/>
        </p:nvSpPr>
        <p:spPr>
          <a:xfrm>
            <a:off x="8257032" y="3118104"/>
            <a:ext cx="2834640" cy="274320"/>
          </a:xfrm>
          <a:prstGeom prst="rect">
            <a:avLst/>
          </a:prstGeom>
          <a:noFill/>
          <a:ln/>
        </p:spPr>
        <p:txBody>
          <a:bodyPr wrap="square" lIns="0" tIns="0" rIns="0" bIns="0" rtlCol="0" anchor="ctr">
            <a:normAutofit/>
          </a:bodyPr>
          <a:lstStyle/>
          <a:p>
            <a:pPr algn="l" indent="0" marL="0">
              <a:buNone/>
            </a:pPr>
            <a:r>
              <a:rPr lang="en-US" sz="850" b="1" dirty="0">
                <a:solidFill>
                  <a:srgbClr val="607585"/>
                </a:solidFill>
                <a:latin typeface="Aptos" pitchFamily="34" charset="0"/>
                <a:ea typeface="Aptos" pitchFamily="34" charset="-122"/>
                <a:cs typeface="Aptos" pitchFamily="34" charset="-120"/>
              </a:rPr>
              <a:t>RAW SENSOR: VALID EVENTS + CHATTER</a:t>
            </a:r>
            <a:endParaRPr lang="en-US" sz="850" dirty="0"/>
          </a:p>
        </p:txBody>
      </p:sp>
      <p:sp>
        <p:nvSpPr>
          <p:cNvPr id="31" name="Shape 29"/>
          <p:cNvSpPr/>
          <p:nvPr/>
        </p:nvSpPr>
        <p:spPr>
          <a:xfrm>
            <a:off x="8257032" y="3941064"/>
            <a:ext cx="2834640" cy="0"/>
          </a:xfrm>
          <a:prstGeom prst="line">
            <a:avLst/>
          </a:prstGeom>
          <a:noFill/>
          <a:ln w="12700">
            <a:solidFill>
              <a:srgbClr val="D5E0E7"/>
            </a:solidFill>
            <a:prstDash val="solid"/>
          </a:ln>
        </p:spPr>
      </p:sp>
      <p:sp>
        <p:nvSpPr>
          <p:cNvPr id="32" name="Shape 30"/>
          <p:cNvSpPr/>
          <p:nvPr/>
        </p:nvSpPr>
        <p:spPr>
          <a:xfrm>
            <a:off x="8577072" y="3941064"/>
            <a:ext cx="0" cy="-484632"/>
          </a:xfrm>
          <a:prstGeom prst="line">
            <a:avLst/>
          </a:prstGeom>
          <a:noFill/>
          <a:ln w="31750">
            <a:solidFill>
              <a:srgbClr val="087F8C"/>
            </a:solidFill>
            <a:prstDash val="solid"/>
          </a:ln>
        </p:spPr>
      </p:sp>
      <p:sp>
        <p:nvSpPr>
          <p:cNvPr id="33" name="Shape 31"/>
          <p:cNvSpPr/>
          <p:nvPr/>
        </p:nvSpPr>
        <p:spPr>
          <a:xfrm>
            <a:off x="8577072" y="3456432"/>
            <a:ext cx="292608" cy="0"/>
          </a:xfrm>
          <a:prstGeom prst="line">
            <a:avLst/>
          </a:prstGeom>
          <a:noFill/>
          <a:ln w="31750">
            <a:solidFill>
              <a:srgbClr val="087F8C"/>
            </a:solidFill>
            <a:prstDash val="solid"/>
          </a:ln>
        </p:spPr>
      </p:sp>
      <p:sp>
        <p:nvSpPr>
          <p:cNvPr id="34" name="Shape 32"/>
          <p:cNvSpPr/>
          <p:nvPr/>
        </p:nvSpPr>
        <p:spPr>
          <a:xfrm>
            <a:off x="8869680" y="3456432"/>
            <a:ext cx="0" cy="484632"/>
          </a:xfrm>
          <a:prstGeom prst="line">
            <a:avLst/>
          </a:prstGeom>
          <a:noFill/>
          <a:ln w="31750">
            <a:solidFill>
              <a:srgbClr val="087F8C"/>
            </a:solidFill>
            <a:prstDash val="solid"/>
          </a:ln>
        </p:spPr>
      </p:sp>
      <p:sp>
        <p:nvSpPr>
          <p:cNvPr id="35" name="Shape 33"/>
          <p:cNvSpPr/>
          <p:nvPr/>
        </p:nvSpPr>
        <p:spPr>
          <a:xfrm>
            <a:off x="9427464" y="3941064"/>
            <a:ext cx="0" cy="-484632"/>
          </a:xfrm>
          <a:prstGeom prst="line">
            <a:avLst/>
          </a:prstGeom>
          <a:noFill/>
          <a:ln w="31750">
            <a:solidFill>
              <a:srgbClr val="087F8C"/>
            </a:solidFill>
            <a:prstDash val="solid"/>
          </a:ln>
        </p:spPr>
      </p:sp>
      <p:sp>
        <p:nvSpPr>
          <p:cNvPr id="36" name="Shape 34"/>
          <p:cNvSpPr/>
          <p:nvPr/>
        </p:nvSpPr>
        <p:spPr>
          <a:xfrm>
            <a:off x="9427464" y="3456432"/>
            <a:ext cx="292608" cy="0"/>
          </a:xfrm>
          <a:prstGeom prst="line">
            <a:avLst/>
          </a:prstGeom>
          <a:noFill/>
          <a:ln w="31750">
            <a:solidFill>
              <a:srgbClr val="087F8C"/>
            </a:solidFill>
            <a:prstDash val="solid"/>
          </a:ln>
        </p:spPr>
      </p:sp>
      <p:sp>
        <p:nvSpPr>
          <p:cNvPr id="37" name="Shape 35"/>
          <p:cNvSpPr/>
          <p:nvPr/>
        </p:nvSpPr>
        <p:spPr>
          <a:xfrm>
            <a:off x="9720072" y="3456432"/>
            <a:ext cx="0" cy="484632"/>
          </a:xfrm>
          <a:prstGeom prst="line">
            <a:avLst/>
          </a:prstGeom>
          <a:noFill/>
          <a:ln w="31750">
            <a:solidFill>
              <a:srgbClr val="087F8C"/>
            </a:solidFill>
            <a:prstDash val="solid"/>
          </a:ln>
        </p:spPr>
      </p:sp>
      <p:sp>
        <p:nvSpPr>
          <p:cNvPr id="38" name="Shape 36"/>
          <p:cNvSpPr/>
          <p:nvPr/>
        </p:nvSpPr>
        <p:spPr>
          <a:xfrm>
            <a:off x="10405872" y="3941064"/>
            <a:ext cx="0" cy="-484632"/>
          </a:xfrm>
          <a:prstGeom prst="line">
            <a:avLst/>
          </a:prstGeom>
          <a:noFill/>
          <a:ln w="31750">
            <a:solidFill>
              <a:srgbClr val="087F8C"/>
            </a:solidFill>
            <a:prstDash val="solid"/>
          </a:ln>
        </p:spPr>
      </p:sp>
      <p:sp>
        <p:nvSpPr>
          <p:cNvPr id="39" name="Shape 37"/>
          <p:cNvSpPr/>
          <p:nvPr/>
        </p:nvSpPr>
        <p:spPr>
          <a:xfrm>
            <a:off x="10405872" y="3456432"/>
            <a:ext cx="292608" cy="0"/>
          </a:xfrm>
          <a:prstGeom prst="line">
            <a:avLst/>
          </a:prstGeom>
          <a:noFill/>
          <a:ln w="31750">
            <a:solidFill>
              <a:srgbClr val="087F8C"/>
            </a:solidFill>
            <a:prstDash val="solid"/>
          </a:ln>
        </p:spPr>
      </p:sp>
      <p:sp>
        <p:nvSpPr>
          <p:cNvPr id="40" name="Shape 38"/>
          <p:cNvSpPr/>
          <p:nvPr/>
        </p:nvSpPr>
        <p:spPr>
          <a:xfrm>
            <a:off x="10698480" y="3456432"/>
            <a:ext cx="0" cy="484632"/>
          </a:xfrm>
          <a:prstGeom prst="line">
            <a:avLst/>
          </a:prstGeom>
          <a:noFill/>
          <a:ln w="31750">
            <a:solidFill>
              <a:srgbClr val="087F8C"/>
            </a:solidFill>
            <a:prstDash val="solid"/>
          </a:ln>
        </p:spPr>
      </p:sp>
      <p:sp>
        <p:nvSpPr>
          <p:cNvPr id="41" name="Shape 39"/>
          <p:cNvSpPr/>
          <p:nvPr/>
        </p:nvSpPr>
        <p:spPr>
          <a:xfrm>
            <a:off x="9829800" y="3941064"/>
            <a:ext cx="0" cy="-182880"/>
          </a:xfrm>
          <a:prstGeom prst="line">
            <a:avLst/>
          </a:prstGeom>
          <a:noFill/>
          <a:ln w="20320">
            <a:solidFill>
              <a:srgbClr val="C65E4E"/>
            </a:solidFill>
            <a:prstDash val="solid"/>
          </a:ln>
        </p:spPr>
      </p:sp>
      <p:sp>
        <p:nvSpPr>
          <p:cNvPr id="42" name="Shape 40"/>
          <p:cNvSpPr/>
          <p:nvPr/>
        </p:nvSpPr>
        <p:spPr>
          <a:xfrm>
            <a:off x="9829800" y="3758184"/>
            <a:ext cx="91440" cy="0"/>
          </a:xfrm>
          <a:prstGeom prst="line">
            <a:avLst/>
          </a:prstGeom>
          <a:noFill/>
          <a:ln w="20320">
            <a:solidFill>
              <a:srgbClr val="C65E4E"/>
            </a:solidFill>
            <a:prstDash val="solid"/>
          </a:ln>
        </p:spPr>
      </p:sp>
      <p:sp>
        <p:nvSpPr>
          <p:cNvPr id="43" name="Shape 41"/>
          <p:cNvSpPr/>
          <p:nvPr/>
        </p:nvSpPr>
        <p:spPr>
          <a:xfrm>
            <a:off x="9921240" y="3758184"/>
            <a:ext cx="0" cy="182880"/>
          </a:xfrm>
          <a:prstGeom prst="line">
            <a:avLst/>
          </a:prstGeom>
          <a:noFill/>
          <a:ln w="20320">
            <a:solidFill>
              <a:srgbClr val="C65E4E"/>
            </a:solidFill>
            <a:prstDash val="solid"/>
          </a:ln>
        </p:spPr>
      </p:sp>
      <p:sp>
        <p:nvSpPr>
          <p:cNvPr id="44" name="Text 42"/>
          <p:cNvSpPr/>
          <p:nvPr/>
        </p:nvSpPr>
        <p:spPr>
          <a:xfrm>
            <a:off x="8257032" y="4215384"/>
            <a:ext cx="2834640" cy="274320"/>
          </a:xfrm>
          <a:prstGeom prst="rect">
            <a:avLst/>
          </a:prstGeom>
          <a:noFill/>
          <a:ln/>
        </p:spPr>
        <p:txBody>
          <a:bodyPr wrap="square" lIns="0" tIns="0" rIns="0" bIns="0" rtlCol="0" anchor="ctr">
            <a:normAutofit/>
          </a:bodyPr>
          <a:lstStyle/>
          <a:p>
            <a:pPr algn="l" indent="0" marL="0">
              <a:buNone/>
            </a:pPr>
            <a:r>
              <a:rPr lang="en-US" sz="850" b="1" dirty="0">
                <a:solidFill>
                  <a:srgbClr val="607585"/>
                </a:solidFill>
                <a:latin typeface="Aptos" pitchFamily="34" charset="0"/>
                <a:ea typeface="Aptos" pitchFamily="34" charset="-122"/>
                <a:cs typeface="Aptos" pitchFamily="34" charset="-120"/>
              </a:rPr>
              <a:t>QUALIFIED INPUT / ONE-SHOT EVENTS</a:t>
            </a:r>
            <a:endParaRPr lang="en-US" sz="850" dirty="0"/>
          </a:p>
        </p:txBody>
      </p:sp>
      <p:sp>
        <p:nvSpPr>
          <p:cNvPr id="45" name="Shape 43"/>
          <p:cNvSpPr/>
          <p:nvPr/>
        </p:nvSpPr>
        <p:spPr>
          <a:xfrm>
            <a:off x="8257032" y="4946904"/>
            <a:ext cx="2834640" cy="0"/>
          </a:xfrm>
          <a:prstGeom prst="line">
            <a:avLst/>
          </a:prstGeom>
          <a:noFill/>
          <a:ln w="12700">
            <a:solidFill>
              <a:srgbClr val="D5E0E7"/>
            </a:solidFill>
            <a:prstDash val="solid"/>
          </a:ln>
        </p:spPr>
      </p:sp>
      <p:sp>
        <p:nvSpPr>
          <p:cNvPr id="46" name="Shape 44"/>
          <p:cNvSpPr/>
          <p:nvPr/>
        </p:nvSpPr>
        <p:spPr>
          <a:xfrm>
            <a:off x="8577072" y="4946904"/>
            <a:ext cx="0" cy="-438912"/>
          </a:xfrm>
          <a:prstGeom prst="line">
            <a:avLst/>
          </a:prstGeom>
          <a:noFill/>
          <a:ln w="31750">
            <a:solidFill>
              <a:srgbClr val="3F7394"/>
            </a:solidFill>
            <a:prstDash val="solid"/>
          </a:ln>
        </p:spPr>
      </p:sp>
      <p:sp>
        <p:nvSpPr>
          <p:cNvPr id="47" name="Shape 45"/>
          <p:cNvSpPr/>
          <p:nvPr/>
        </p:nvSpPr>
        <p:spPr>
          <a:xfrm>
            <a:off x="8577072" y="4507992"/>
            <a:ext cx="292608" cy="0"/>
          </a:xfrm>
          <a:prstGeom prst="line">
            <a:avLst/>
          </a:prstGeom>
          <a:noFill/>
          <a:ln w="31750">
            <a:solidFill>
              <a:srgbClr val="3F7394"/>
            </a:solidFill>
            <a:prstDash val="solid"/>
          </a:ln>
        </p:spPr>
      </p:sp>
      <p:sp>
        <p:nvSpPr>
          <p:cNvPr id="48" name="Shape 46"/>
          <p:cNvSpPr/>
          <p:nvPr/>
        </p:nvSpPr>
        <p:spPr>
          <a:xfrm>
            <a:off x="8869680" y="4507992"/>
            <a:ext cx="0" cy="438912"/>
          </a:xfrm>
          <a:prstGeom prst="line">
            <a:avLst/>
          </a:prstGeom>
          <a:noFill/>
          <a:ln w="31750">
            <a:solidFill>
              <a:srgbClr val="3F7394"/>
            </a:solidFill>
            <a:prstDash val="solid"/>
          </a:ln>
        </p:spPr>
      </p:sp>
      <p:sp>
        <p:nvSpPr>
          <p:cNvPr id="49" name="Shape 47"/>
          <p:cNvSpPr/>
          <p:nvPr/>
        </p:nvSpPr>
        <p:spPr>
          <a:xfrm>
            <a:off x="9427464" y="4946904"/>
            <a:ext cx="0" cy="-438912"/>
          </a:xfrm>
          <a:prstGeom prst="line">
            <a:avLst/>
          </a:prstGeom>
          <a:noFill/>
          <a:ln w="31750">
            <a:solidFill>
              <a:srgbClr val="3F7394"/>
            </a:solidFill>
            <a:prstDash val="solid"/>
          </a:ln>
        </p:spPr>
      </p:sp>
      <p:sp>
        <p:nvSpPr>
          <p:cNvPr id="50" name="Shape 48"/>
          <p:cNvSpPr/>
          <p:nvPr/>
        </p:nvSpPr>
        <p:spPr>
          <a:xfrm>
            <a:off x="9427464" y="4507992"/>
            <a:ext cx="292608" cy="0"/>
          </a:xfrm>
          <a:prstGeom prst="line">
            <a:avLst/>
          </a:prstGeom>
          <a:noFill/>
          <a:ln w="31750">
            <a:solidFill>
              <a:srgbClr val="3F7394"/>
            </a:solidFill>
            <a:prstDash val="solid"/>
          </a:ln>
        </p:spPr>
      </p:sp>
      <p:sp>
        <p:nvSpPr>
          <p:cNvPr id="51" name="Shape 49"/>
          <p:cNvSpPr/>
          <p:nvPr/>
        </p:nvSpPr>
        <p:spPr>
          <a:xfrm>
            <a:off x="9720072" y="4507992"/>
            <a:ext cx="0" cy="438912"/>
          </a:xfrm>
          <a:prstGeom prst="line">
            <a:avLst/>
          </a:prstGeom>
          <a:noFill/>
          <a:ln w="31750">
            <a:solidFill>
              <a:srgbClr val="3F7394"/>
            </a:solidFill>
            <a:prstDash val="solid"/>
          </a:ln>
        </p:spPr>
      </p:sp>
      <p:sp>
        <p:nvSpPr>
          <p:cNvPr id="52" name="Shape 50"/>
          <p:cNvSpPr/>
          <p:nvPr/>
        </p:nvSpPr>
        <p:spPr>
          <a:xfrm>
            <a:off x="10405872" y="4946904"/>
            <a:ext cx="0" cy="-438912"/>
          </a:xfrm>
          <a:prstGeom prst="line">
            <a:avLst/>
          </a:prstGeom>
          <a:noFill/>
          <a:ln w="31750">
            <a:solidFill>
              <a:srgbClr val="3F7394"/>
            </a:solidFill>
            <a:prstDash val="solid"/>
          </a:ln>
        </p:spPr>
      </p:sp>
      <p:sp>
        <p:nvSpPr>
          <p:cNvPr id="53" name="Shape 51"/>
          <p:cNvSpPr/>
          <p:nvPr/>
        </p:nvSpPr>
        <p:spPr>
          <a:xfrm>
            <a:off x="10405872" y="4507992"/>
            <a:ext cx="292608" cy="0"/>
          </a:xfrm>
          <a:prstGeom prst="line">
            <a:avLst/>
          </a:prstGeom>
          <a:noFill/>
          <a:ln w="31750">
            <a:solidFill>
              <a:srgbClr val="3F7394"/>
            </a:solidFill>
            <a:prstDash val="solid"/>
          </a:ln>
        </p:spPr>
      </p:sp>
      <p:sp>
        <p:nvSpPr>
          <p:cNvPr id="54" name="Shape 52"/>
          <p:cNvSpPr/>
          <p:nvPr/>
        </p:nvSpPr>
        <p:spPr>
          <a:xfrm>
            <a:off x="10698480" y="4507992"/>
            <a:ext cx="0" cy="438912"/>
          </a:xfrm>
          <a:prstGeom prst="line">
            <a:avLst/>
          </a:prstGeom>
          <a:noFill/>
          <a:ln w="31750">
            <a:solidFill>
              <a:srgbClr val="3F7394"/>
            </a:solidFill>
            <a:prstDash val="solid"/>
          </a:ln>
        </p:spPr>
      </p:sp>
      <p:sp>
        <p:nvSpPr>
          <p:cNvPr id="55" name="Text 53"/>
          <p:cNvSpPr/>
          <p:nvPr/>
        </p:nvSpPr>
        <p:spPr>
          <a:xfrm>
            <a:off x="8302752" y="5385816"/>
            <a:ext cx="2743200" cy="457200"/>
          </a:xfrm>
          <a:prstGeom prst="rect">
            <a:avLst/>
          </a:prstGeom>
          <a:noFill/>
          <a:ln/>
        </p:spPr>
        <p:txBody>
          <a:bodyPr wrap="square" lIns="0" tIns="0" rIns="0" bIns="0" rtlCol="0" anchor="ctr">
            <a:normAutofit/>
          </a:bodyPr>
          <a:lstStyle/>
          <a:p>
            <a:pPr algn="ctr" indent="0" marL="0">
              <a:buNone/>
            </a:pPr>
            <a:r>
              <a:rPr lang="en-US" sz="1050" b="1" dirty="0">
                <a:solidFill>
                  <a:srgbClr val="087F8C"/>
                </a:solidFill>
                <a:latin typeface="Aptos" pitchFamily="34" charset="0"/>
                <a:ea typeface="Aptos" pitchFamily="34" charset="-122"/>
                <a:cs typeface="Aptos" pitchFamily="34" charset="-120"/>
              </a:rPr>
              <a:t>Reject the short chatter; preserve all valid pill events</a:t>
            </a:r>
            <a:endParaRPr lang="en-US" sz="1050" dirty="0"/>
          </a:p>
        </p:txBody>
      </p:sp>
      <p:sp>
        <p:nvSpPr>
          <p:cNvPr id="56" name="Shape 54"/>
          <p:cNvSpPr/>
          <p:nvPr/>
        </p:nvSpPr>
        <p:spPr>
          <a:xfrm>
            <a:off x="603504" y="6318504"/>
            <a:ext cx="10972800" cy="0"/>
          </a:xfrm>
          <a:prstGeom prst="line">
            <a:avLst/>
          </a:prstGeom>
          <a:noFill/>
          <a:ln w="10160">
            <a:solidFill>
              <a:srgbClr val="D5E0E7"/>
            </a:solidFill>
            <a:prstDash val="solid"/>
          </a:ln>
        </p:spPr>
      </p:sp>
      <p:sp>
        <p:nvSpPr>
          <p:cNvPr id="57" name="Text 55"/>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SIGNAL PROCESSING AND SIGNAL INTEGRITY</a:t>
            </a:r>
            <a:endParaRPr lang="en-US" sz="800" dirty="0"/>
          </a:p>
        </p:txBody>
      </p:sp>
      <p:sp>
        <p:nvSpPr>
          <p:cNvPr id="58" name="Text 56"/>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06 / 18</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087F8C"/>
          </a:solidFill>
          <a:ln w="12700">
            <a:solidFill>
              <a:srgbClr val="087F8C">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087F8C"/>
                </a:solidFill>
                <a:latin typeface="Aptos" pitchFamily="34" charset="0"/>
                <a:ea typeface="Aptos" pitchFamily="34" charset="-122"/>
                <a:cs typeface="Aptos" pitchFamily="34" charset="-120"/>
              </a:rPr>
              <a:t>UNIT 5009    /    WEEK 05    /    LO2</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13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087F8C"/>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087F8C"/>
                </a:solidFill>
                <a:latin typeface="Aptos" pitchFamily="34" charset="0"/>
                <a:ea typeface="Aptos" pitchFamily="34" charset="-122"/>
                <a:cs typeface="Aptos" pitchFamily="34" charset="-120"/>
              </a:rPr>
              <a:t>LO2 FOUNDATIONS</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2800" b="1" dirty="0">
                <a:solidFill>
                  <a:srgbClr val="1B3448"/>
                </a:solidFill>
                <a:latin typeface="Aptos Display" pitchFamily="34" charset="0"/>
                <a:ea typeface="Aptos Display" pitchFamily="34" charset="-122"/>
                <a:cs typeface="Aptos Display" pitchFamily="34" charset="-120"/>
              </a:rPr>
              <a:t>High-speed pulse capture and count integrity</a:t>
            </a:r>
            <a:endParaRPr lang="en-US" sz="28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67512" y="1709928"/>
            <a:ext cx="2743200" cy="210312"/>
          </a:xfrm>
          <a:prstGeom prst="rect">
            <a:avLst/>
          </a:prstGeom>
          <a:noFill/>
          <a:ln/>
        </p:spPr>
        <p:txBody>
          <a:bodyPr wrap="square" lIns="0" tIns="0" rIns="0" bIns="0" rtlCol="0" anchor="ctr"/>
          <a:lstStyle/>
          <a:p>
            <a:pPr indent="0" marL="0">
              <a:buNone/>
            </a:pPr>
            <a:r>
              <a:rPr lang="en-US" sz="900" b="1" spc="100" kern="0" dirty="0">
                <a:solidFill>
                  <a:srgbClr val="087F8C"/>
                </a:solidFill>
                <a:latin typeface="Aptos" pitchFamily="34" charset="0"/>
                <a:ea typeface="Aptos" pitchFamily="34" charset="-122"/>
                <a:cs typeface="Aptos" pitchFamily="34" charset="-120"/>
              </a:rPr>
              <a:t>TEACHING POINTS</a:t>
            </a:r>
            <a:endParaRPr lang="en-US" sz="900" dirty="0"/>
          </a:p>
        </p:txBody>
      </p:sp>
      <p:sp>
        <p:nvSpPr>
          <p:cNvPr id="11" name="Shape 9"/>
          <p:cNvSpPr/>
          <p:nvPr/>
        </p:nvSpPr>
        <p:spPr>
          <a:xfrm>
            <a:off x="640080" y="1993392"/>
            <a:ext cx="6720840" cy="976122"/>
          </a:xfrm>
          <a:prstGeom prst="rect">
            <a:avLst/>
          </a:prstGeom>
          <a:solidFill>
            <a:srgbClr val="FFFFFF"/>
          </a:solidFill>
          <a:ln w="8890">
            <a:solidFill>
              <a:srgbClr val="D5E0E7"/>
            </a:solidFill>
            <a:prstDash val="solid"/>
          </a:ln>
        </p:spPr>
      </p:sp>
      <p:sp>
        <p:nvSpPr>
          <p:cNvPr id="12" name="Shape 10"/>
          <p:cNvSpPr/>
          <p:nvPr/>
        </p:nvSpPr>
        <p:spPr>
          <a:xfrm>
            <a:off x="640080" y="1993392"/>
            <a:ext cx="50292" cy="976122"/>
          </a:xfrm>
          <a:prstGeom prst="rect">
            <a:avLst/>
          </a:prstGeom>
          <a:solidFill>
            <a:srgbClr val="087F8C"/>
          </a:solidFill>
          <a:ln w="12700">
            <a:solidFill>
              <a:srgbClr val="087F8C">
                <a:alpha val="0"/>
              </a:srgbClr>
            </a:solidFill>
            <a:prstDash val="solid"/>
          </a:ln>
        </p:spPr>
      </p:sp>
      <p:sp>
        <p:nvSpPr>
          <p:cNvPr id="13" name="Text 11"/>
          <p:cNvSpPr/>
          <p:nvPr/>
        </p:nvSpPr>
        <p:spPr>
          <a:xfrm>
            <a:off x="786384" y="2084832"/>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01</a:t>
            </a:r>
            <a:endParaRPr lang="en-US" sz="950" dirty="0"/>
          </a:p>
        </p:txBody>
      </p:sp>
      <p:sp>
        <p:nvSpPr>
          <p:cNvPr id="14" name="Text 12"/>
          <p:cNvSpPr/>
          <p:nvPr/>
        </p:nvSpPr>
        <p:spPr>
          <a:xfrm>
            <a:off x="1197864" y="2075688"/>
            <a:ext cx="5989320" cy="820674"/>
          </a:xfrm>
          <a:prstGeom prst="rect">
            <a:avLst/>
          </a:prstGeom>
          <a:noFill/>
          <a:ln/>
        </p:spPr>
        <p:txBody>
          <a:bodyPr wrap="square" lIns="0" tIns="0" rIns="0" bIns="0" rtlCol="0" anchor="ctr">
            <a:normAutofit/>
          </a:bodyPr>
          <a:lstStyle/>
          <a:p>
            <a:pPr indent="0" marL="0">
              <a:buNone/>
            </a:pPr>
            <a:r>
              <a:rPr lang="en-US" sz="1310" dirty="0">
                <a:solidFill>
                  <a:srgbClr val="334B5C"/>
                </a:solidFill>
                <a:latin typeface="Aptos" pitchFamily="34" charset="0"/>
                <a:ea typeface="Aptos" pitchFamily="34" charset="-122"/>
                <a:cs typeface="Aptos" pitchFamily="34" charset="-120"/>
              </a:rPr>
              <a:t>High-speed counter or capture functions can register events independently of ordinary cyclic logic, but only on supported channels and within documented frequency, pulse-width, voltage, and filter limits.</a:t>
            </a:r>
            <a:endParaRPr lang="en-US" sz="1310" dirty="0"/>
          </a:p>
        </p:txBody>
      </p:sp>
      <p:sp>
        <p:nvSpPr>
          <p:cNvPr id="15" name="Shape 13"/>
          <p:cNvSpPr/>
          <p:nvPr/>
        </p:nvSpPr>
        <p:spPr>
          <a:xfrm>
            <a:off x="640080" y="3051810"/>
            <a:ext cx="6720840" cy="976122"/>
          </a:xfrm>
          <a:prstGeom prst="rect">
            <a:avLst/>
          </a:prstGeom>
          <a:solidFill>
            <a:srgbClr val="FFFFFF"/>
          </a:solidFill>
          <a:ln w="8890">
            <a:solidFill>
              <a:srgbClr val="E7EDF1"/>
            </a:solidFill>
            <a:prstDash val="solid"/>
          </a:ln>
        </p:spPr>
      </p:sp>
      <p:sp>
        <p:nvSpPr>
          <p:cNvPr id="16" name="Shape 14"/>
          <p:cNvSpPr/>
          <p:nvPr/>
        </p:nvSpPr>
        <p:spPr>
          <a:xfrm>
            <a:off x="640080" y="3051810"/>
            <a:ext cx="50292" cy="976122"/>
          </a:xfrm>
          <a:prstGeom prst="rect">
            <a:avLst/>
          </a:prstGeom>
          <a:solidFill>
            <a:srgbClr val="087F8C"/>
          </a:solidFill>
          <a:ln w="12700">
            <a:solidFill>
              <a:srgbClr val="087F8C">
                <a:alpha val="0"/>
              </a:srgbClr>
            </a:solidFill>
            <a:prstDash val="solid"/>
          </a:ln>
        </p:spPr>
      </p:sp>
      <p:sp>
        <p:nvSpPr>
          <p:cNvPr id="17" name="Text 15"/>
          <p:cNvSpPr/>
          <p:nvPr/>
        </p:nvSpPr>
        <p:spPr>
          <a:xfrm>
            <a:off x="786384" y="3143250"/>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02</a:t>
            </a:r>
            <a:endParaRPr lang="en-US" sz="950" dirty="0"/>
          </a:p>
        </p:txBody>
      </p:sp>
      <p:sp>
        <p:nvSpPr>
          <p:cNvPr id="18" name="Text 16"/>
          <p:cNvSpPr/>
          <p:nvPr/>
        </p:nvSpPr>
        <p:spPr>
          <a:xfrm>
            <a:off x="1197864" y="3134106"/>
            <a:ext cx="5989320" cy="820674"/>
          </a:xfrm>
          <a:prstGeom prst="rect">
            <a:avLst/>
          </a:prstGeom>
          <a:noFill/>
          <a:ln/>
        </p:spPr>
        <p:txBody>
          <a:bodyPr wrap="square" lIns="0" tIns="0" rIns="0" bIns="0" rtlCol="0" anchor="ctr">
            <a:normAutofit/>
          </a:bodyPr>
          <a:lstStyle/>
          <a:p>
            <a:pPr indent="0" marL="0">
              <a:buNone/>
            </a:pPr>
            <a:r>
              <a:rPr lang="en-US" sz="1310" dirty="0">
                <a:solidFill>
                  <a:srgbClr val="334B5C"/>
                </a:solidFill>
                <a:latin typeface="Aptos" pitchFamily="34" charset="0"/>
                <a:ea typeface="Aptos" pitchFamily="34" charset="-122"/>
                <a:cs typeface="Aptos" pitchFamily="34" charset="-120"/>
              </a:rPr>
              <a:t>Clearly hypothetical example: at 40 events/s, consecutive events are 25 ms apart; a standard 10 ms task may observe transitions depending on phase and input update behaviour, so this arithmetic alone does not prove reliable capture.</a:t>
            </a:r>
            <a:endParaRPr lang="en-US" sz="1310" dirty="0"/>
          </a:p>
        </p:txBody>
      </p:sp>
      <p:sp>
        <p:nvSpPr>
          <p:cNvPr id="19" name="Shape 17"/>
          <p:cNvSpPr/>
          <p:nvPr/>
        </p:nvSpPr>
        <p:spPr>
          <a:xfrm>
            <a:off x="640080" y="4110228"/>
            <a:ext cx="6720840" cy="976122"/>
          </a:xfrm>
          <a:prstGeom prst="rect">
            <a:avLst/>
          </a:prstGeom>
          <a:solidFill>
            <a:srgbClr val="FFFFFF"/>
          </a:solidFill>
          <a:ln w="8890">
            <a:solidFill>
              <a:srgbClr val="E7EDF1"/>
            </a:solidFill>
            <a:prstDash val="solid"/>
          </a:ln>
        </p:spPr>
      </p:sp>
      <p:sp>
        <p:nvSpPr>
          <p:cNvPr id="20" name="Shape 18"/>
          <p:cNvSpPr/>
          <p:nvPr/>
        </p:nvSpPr>
        <p:spPr>
          <a:xfrm>
            <a:off x="640080" y="4110228"/>
            <a:ext cx="50292" cy="976122"/>
          </a:xfrm>
          <a:prstGeom prst="rect">
            <a:avLst/>
          </a:prstGeom>
          <a:solidFill>
            <a:srgbClr val="087F8C"/>
          </a:solidFill>
          <a:ln w="12700">
            <a:solidFill>
              <a:srgbClr val="087F8C">
                <a:alpha val="0"/>
              </a:srgbClr>
            </a:solidFill>
            <a:prstDash val="solid"/>
          </a:ln>
        </p:spPr>
      </p:sp>
      <p:sp>
        <p:nvSpPr>
          <p:cNvPr id="21" name="Text 19"/>
          <p:cNvSpPr/>
          <p:nvPr/>
        </p:nvSpPr>
        <p:spPr>
          <a:xfrm>
            <a:off x="786384" y="4201668"/>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03</a:t>
            </a:r>
            <a:endParaRPr lang="en-US" sz="950" dirty="0"/>
          </a:p>
        </p:txBody>
      </p:sp>
      <p:sp>
        <p:nvSpPr>
          <p:cNvPr id="22" name="Text 20"/>
          <p:cNvSpPr/>
          <p:nvPr/>
        </p:nvSpPr>
        <p:spPr>
          <a:xfrm>
            <a:off x="1197864" y="4192524"/>
            <a:ext cx="5989320" cy="820674"/>
          </a:xfrm>
          <a:prstGeom prst="rect">
            <a:avLst/>
          </a:prstGeom>
          <a:noFill/>
          <a:ln/>
        </p:spPr>
        <p:txBody>
          <a:bodyPr wrap="square" lIns="0" tIns="0" rIns="0" bIns="0" rtlCol="0" anchor="ctr">
            <a:normAutofit/>
          </a:bodyPr>
          <a:lstStyle/>
          <a:p>
            <a:pPr indent="0" marL="0">
              <a:buNone/>
            </a:pPr>
            <a:r>
              <a:rPr lang="en-US" sz="1310" dirty="0">
                <a:solidFill>
                  <a:srgbClr val="334B5C"/>
                </a:solidFill>
                <a:latin typeface="Aptos" pitchFamily="34" charset="0"/>
                <a:ea typeface="Aptos" pitchFamily="34" charset="-122"/>
                <a:cs typeface="Aptos" pitchFamily="34" charset="-120"/>
              </a:rPr>
              <a:t>Check the actual PLC/module manual for maximum count rate, minimum on/off time, filter setting, and buffer/overflow behaviour; use the specified high-speed input when ordinary sampling cannot be shown to meet requirements.</a:t>
            </a:r>
            <a:endParaRPr lang="en-US" sz="1310" dirty="0"/>
          </a:p>
        </p:txBody>
      </p:sp>
      <p:sp>
        <p:nvSpPr>
          <p:cNvPr id="23" name="Shape 21"/>
          <p:cNvSpPr/>
          <p:nvPr/>
        </p:nvSpPr>
        <p:spPr>
          <a:xfrm>
            <a:off x="640080" y="5168646"/>
            <a:ext cx="6720840" cy="976122"/>
          </a:xfrm>
          <a:prstGeom prst="rect">
            <a:avLst/>
          </a:prstGeom>
          <a:solidFill>
            <a:srgbClr val="FFFFFF"/>
          </a:solidFill>
          <a:ln w="8890">
            <a:solidFill>
              <a:srgbClr val="E7EDF1"/>
            </a:solidFill>
            <a:prstDash val="solid"/>
          </a:ln>
        </p:spPr>
      </p:sp>
      <p:sp>
        <p:nvSpPr>
          <p:cNvPr id="24" name="Shape 22"/>
          <p:cNvSpPr/>
          <p:nvPr/>
        </p:nvSpPr>
        <p:spPr>
          <a:xfrm>
            <a:off x="640080" y="5168646"/>
            <a:ext cx="50292" cy="976122"/>
          </a:xfrm>
          <a:prstGeom prst="rect">
            <a:avLst/>
          </a:prstGeom>
          <a:solidFill>
            <a:srgbClr val="087F8C"/>
          </a:solidFill>
          <a:ln w="12700">
            <a:solidFill>
              <a:srgbClr val="087F8C">
                <a:alpha val="0"/>
              </a:srgbClr>
            </a:solidFill>
            <a:prstDash val="solid"/>
          </a:ln>
        </p:spPr>
      </p:sp>
      <p:sp>
        <p:nvSpPr>
          <p:cNvPr id="25" name="Text 23"/>
          <p:cNvSpPr/>
          <p:nvPr/>
        </p:nvSpPr>
        <p:spPr>
          <a:xfrm>
            <a:off x="786384" y="5260086"/>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04</a:t>
            </a:r>
            <a:endParaRPr lang="en-US" sz="950" dirty="0"/>
          </a:p>
        </p:txBody>
      </p:sp>
      <p:sp>
        <p:nvSpPr>
          <p:cNvPr id="26" name="Text 24"/>
          <p:cNvSpPr/>
          <p:nvPr/>
        </p:nvSpPr>
        <p:spPr>
          <a:xfrm>
            <a:off x="1197864" y="5250942"/>
            <a:ext cx="5989320" cy="820674"/>
          </a:xfrm>
          <a:prstGeom prst="rect">
            <a:avLst/>
          </a:prstGeom>
          <a:noFill/>
          <a:ln/>
        </p:spPr>
        <p:txBody>
          <a:bodyPr wrap="square" lIns="0" tIns="0" rIns="0" bIns="0" rtlCol="0" anchor="ctr">
            <a:normAutofit/>
          </a:bodyPr>
          <a:lstStyle/>
          <a:p>
            <a:pPr indent="0" marL="0">
              <a:buNone/>
            </a:pPr>
            <a:r>
              <a:rPr lang="en-US" sz="1310" dirty="0">
                <a:solidFill>
                  <a:srgbClr val="334B5C"/>
                </a:solidFill>
                <a:latin typeface="Aptos" pitchFamily="34" charset="0"/>
                <a:ea typeface="Aptos" pitchFamily="34" charset="-122"/>
                <a:cs typeface="Aptos" pitchFamily="34" charset="-120"/>
              </a:rPr>
              <a:t>Verification procedure: generate a known pulse train below the documented limit, compare source and PLC totals over a fixed test interval, then repeat at the intended operating rate and inspect overflow/diagnostic status.</a:t>
            </a:r>
            <a:endParaRPr lang="en-US" sz="1310" dirty="0"/>
          </a:p>
        </p:txBody>
      </p:sp>
      <p:sp>
        <p:nvSpPr>
          <p:cNvPr id="27" name="Shape 25"/>
          <p:cNvSpPr/>
          <p:nvPr/>
        </p:nvSpPr>
        <p:spPr>
          <a:xfrm>
            <a:off x="7662672" y="1746504"/>
            <a:ext cx="3922776" cy="4361688"/>
          </a:xfrm>
          <a:prstGeom prst="rect">
            <a:avLst/>
          </a:prstGeom>
          <a:solidFill>
            <a:srgbClr val="FFFFFF"/>
          </a:solidFill>
          <a:ln w="12700">
            <a:solidFill>
              <a:srgbClr val="D5E0E7"/>
            </a:solidFill>
            <a:prstDash val="solid"/>
          </a:ln>
        </p:spPr>
      </p:sp>
      <p:sp>
        <p:nvSpPr>
          <p:cNvPr id="28" name="Text 26"/>
          <p:cNvSpPr/>
          <p:nvPr/>
        </p:nvSpPr>
        <p:spPr>
          <a:xfrm>
            <a:off x="7863840" y="1892808"/>
            <a:ext cx="3520440" cy="219456"/>
          </a:xfrm>
          <a:prstGeom prst="rect">
            <a:avLst/>
          </a:prstGeom>
          <a:noFill/>
          <a:ln/>
        </p:spPr>
        <p:txBody>
          <a:bodyPr wrap="square" lIns="0" tIns="0" rIns="0" bIns="0" rtlCol="0" anchor="ctr"/>
          <a:lstStyle/>
          <a:p>
            <a:pPr indent="0" marL="0">
              <a:buNone/>
            </a:pPr>
            <a:r>
              <a:rPr lang="en-US" sz="900" b="1" spc="80" kern="0" dirty="0">
                <a:solidFill>
                  <a:srgbClr val="087F8C"/>
                </a:solidFill>
                <a:latin typeface="Aptos" pitchFamily="34" charset="0"/>
                <a:ea typeface="Aptos" pitchFamily="34" charset="-122"/>
                <a:cs typeface="Aptos" pitchFamily="34" charset="-120"/>
              </a:rPr>
              <a:t>SIGNAL TIMING</a:t>
            </a:r>
            <a:endParaRPr lang="en-US" sz="900" dirty="0"/>
          </a:p>
        </p:txBody>
      </p:sp>
      <p:sp>
        <p:nvSpPr>
          <p:cNvPr id="29" name="Shape 27"/>
          <p:cNvSpPr/>
          <p:nvPr/>
        </p:nvSpPr>
        <p:spPr>
          <a:xfrm>
            <a:off x="7863840" y="2221992"/>
            <a:ext cx="3520440" cy="0"/>
          </a:xfrm>
          <a:prstGeom prst="line">
            <a:avLst/>
          </a:prstGeom>
          <a:noFill/>
          <a:ln w="8890">
            <a:solidFill>
              <a:srgbClr val="D5E0E7"/>
            </a:solidFill>
            <a:prstDash val="solid"/>
          </a:ln>
        </p:spPr>
      </p:sp>
      <p:sp>
        <p:nvSpPr>
          <p:cNvPr id="30" name="Text 28"/>
          <p:cNvSpPr/>
          <p:nvPr/>
        </p:nvSpPr>
        <p:spPr>
          <a:xfrm>
            <a:off x="8257032" y="3118104"/>
            <a:ext cx="2834640" cy="274320"/>
          </a:xfrm>
          <a:prstGeom prst="rect">
            <a:avLst/>
          </a:prstGeom>
          <a:noFill/>
          <a:ln/>
        </p:spPr>
        <p:txBody>
          <a:bodyPr wrap="square" lIns="0" tIns="0" rIns="0" bIns="0" rtlCol="0" anchor="ctr">
            <a:normAutofit/>
          </a:bodyPr>
          <a:lstStyle/>
          <a:p>
            <a:pPr algn="l" indent="0" marL="0">
              <a:buNone/>
            </a:pPr>
            <a:r>
              <a:rPr lang="en-US" sz="850" b="1" dirty="0">
                <a:solidFill>
                  <a:srgbClr val="607585"/>
                </a:solidFill>
                <a:latin typeface="Aptos" pitchFamily="34" charset="0"/>
                <a:ea typeface="Aptos" pitchFamily="34" charset="-122"/>
                <a:cs typeface="Aptos" pitchFamily="34" charset="-120"/>
              </a:rPr>
              <a:t>RAW SENSOR: VALID EVENTS + CHATTER</a:t>
            </a:r>
            <a:endParaRPr lang="en-US" sz="850" dirty="0"/>
          </a:p>
        </p:txBody>
      </p:sp>
      <p:sp>
        <p:nvSpPr>
          <p:cNvPr id="31" name="Shape 29"/>
          <p:cNvSpPr/>
          <p:nvPr/>
        </p:nvSpPr>
        <p:spPr>
          <a:xfrm>
            <a:off x="8257032" y="3941064"/>
            <a:ext cx="2834640" cy="0"/>
          </a:xfrm>
          <a:prstGeom prst="line">
            <a:avLst/>
          </a:prstGeom>
          <a:noFill/>
          <a:ln w="12700">
            <a:solidFill>
              <a:srgbClr val="D5E0E7"/>
            </a:solidFill>
            <a:prstDash val="solid"/>
          </a:ln>
        </p:spPr>
      </p:sp>
      <p:sp>
        <p:nvSpPr>
          <p:cNvPr id="32" name="Shape 30"/>
          <p:cNvSpPr/>
          <p:nvPr/>
        </p:nvSpPr>
        <p:spPr>
          <a:xfrm>
            <a:off x="8577072" y="3941064"/>
            <a:ext cx="0" cy="-484632"/>
          </a:xfrm>
          <a:prstGeom prst="line">
            <a:avLst/>
          </a:prstGeom>
          <a:noFill/>
          <a:ln w="31750">
            <a:solidFill>
              <a:srgbClr val="087F8C"/>
            </a:solidFill>
            <a:prstDash val="solid"/>
          </a:ln>
        </p:spPr>
      </p:sp>
      <p:sp>
        <p:nvSpPr>
          <p:cNvPr id="33" name="Shape 31"/>
          <p:cNvSpPr/>
          <p:nvPr/>
        </p:nvSpPr>
        <p:spPr>
          <a:xfrm>
            <a:off x="8577072" y="3456432"/>
            <a:ext cx="292608" cy="0"/>
          </a:xfrm>
          <a:prstGeom prst="line">
            <a:avLst/>
          </a:prstGeom>
          <a:noFill/>
          <a:ln w="31750">
            <a:solidFill>
              <a:srgbClr val="087F8C"/>
            </a:solidFill>
            <a:prstDash val="solid"/>
          </a:ln>
        </p:spPr>
      </p:sp>
      <p:sp>
        <p:nvSpPr>
          <p:cNvPr id="34" name="Shape 32"/>
          <p:cNvSpPr/>
          <p:nvPr/>
        </p:nvSpPr>
        <p:spPr>
          <a:xfrm>
            <a:off x="8869680" y="3456432"/>
            <a:ext cx="0" cy="484632"/>
          </a:xfrm>
          <a:prstGeom prst="line">
            <a:avLst/>
          </a:prstGeom>
          <a:noFill/>
          <a:ln w="31750">
            <a:solidFill>
              <a:srgbClr val="087F8C"/>
            </a:solidFill>
            <a:prstDash val="solid"/>
          </a:ln>
        </p:spPr>
      </p:sp>
      <p:sp>
        <p:nvSpPr>
          <p:cNvPr id="35" name="Shape 33"/>
          <p:cNvSpPr/>
          <p:nvPr/>
        </p:nvSpPr>
        <p:spPr>
          <a:xfrm>
            <a:off x="9427464" y="3941064"/>
            <a:ext cx="0" cy="-484632"/>
          </a:xfrm>
          <a:prstGeom prst="line">
            <a:avLst/>
          </a:prstGeom>
          <a:noFill/>
          <a:ln w="31750">
            <a:solidFill>
              <a:srgbClr val="087F8C"/>
            </a:solidFill>
            <a:prstDash val="solid"/>
          </a:ln>
        </p:spPr>
      </p:sp>
      <p:sp>
        <p:nvSpPr>
          <p:cNvPr id="36" name="Shape 34"/>
          <p:cNvSpPr/>
          <p:nvPr/>
        </p:nvSpPr>
        <p:spPr>
          <a:xfrm>
            <a:off x="9427464" y="3456432"/>
            <a:ext cx="292608" cy="0"/>
          </a:xfrm>
          <a:prstGeom prst="line">
            <a:avLst/>
          </a:prstGeom>
          <a:noFill/>
          <a:ln w="31750">
            <a:solidFill>
              <a:srgbClr val="087F8C"/>
            </a:solidFill>
            <a:prstDash val="solid"/>
          </a:ln>
        </p:spPr>
      </p:sp>
      <p:sp>
        <p:nvSpPr>
          <p:cNvPr id="37" name="Shape 35"/>
          <p:cNvSpPr/>
          <p:nvPr/>
        </p:nvSpPr>
        <p:spPr>
          <a:xfrm>
            <a:off x="9720072" y="3456432"/>
            <a:ext cx="0" cy="484632"/>
          </a:xfrm>
          <a:prstGeom prst="line">
            <a:avLst/>
          </a:prstGeom>
          <a:noFill/>
          <a:ln w="31750">
            <a:solidFill>
              <a:srgbClr val="087F8C"/>
            </a:solidFill>
            <a:prstDash val="solid"/>
          </a:ln>
        </p:spPr>
      </p:sp>
      <p:sp>
        <p:nvSpPr>
          <p:cNvPr id="38" name="Shape 36"/>
          <p:cNvSpPr/>
          <p:nvPr/>
        </p:nvSpPr>
        <p:spPr>
          <a:xfrm>
            <a:off x="10405872" y="3941064"/>
            <a:ext cx="0" cy="-484632"/>
          </a:xfrm>
          <a:prstGeom prst="line">
            <a:avLst/>
          </a:prstGeom>
          <a:noFill/>
          <a:ln w="31750">
            <a:solidFill>
              <a:srgbClr val="087F8C"/>
            </a:solidFill>
            <a:prstDash val="solid"/>
          </a:ln>
        </p:spPr>
      </p:sp>
      <p:sp>
        <p:nvSpPr>
          <p:cNvPr id="39" name="Shape 37"/>
          <p:cNvSpPr/>
          <p:nvPr/>
        </p:nvSpPr>
        <p:spPr>
          <a:xfrm>
            <a:off x="10405872" y="3456432"/>
            <a:ext cx="292608" cy="0"/>
          </a:xfrm>
          <a:prstGeom prst="line">
            <a:avLst/>
          </a:prstGeom>
          <a:noFill/>
          <a:ln w="31750">
            <a:solidFill>
              <a:srgbClr val="087F8C"/>
            </a:solidFill>
            <a:prstDash val="solid"/>
          </a:ln>
        </p:spPr>
      </p:sp>
      <p:sp>
        <p:nvSpPr>
          <p:cNvPr id="40" name="Shape 38"/>
          <p:cNvSpPr/>
          <p:nvPr/>
        </p:nvSpPr>
        <p:spPr>
          <a:xfrm>
            <a:off x="10698480" y="3456432"/>
            <a:ext cx="0" cy="484632"/>
          </a:xfrm>
          <a:prstGeom prst="line">
            <a:avLst/>
          </a:prstGeom>
          <a:noFill/>
          <a:ln w="31750">
            <a:solidFill>
              <a:srgbClr val="087F8C"/>
            </a:solidFill>
            <a:prstDash val="solid"/>
          </a:ln>
        </p:spPr>
      </p:sp>
      <p:sp>
        <p:nvSpPr>
          <p:cNvPr id="41" name="Shape 39"/>
          <p:cNvSpPr/>
          <p:nvPr/>
        </p:nvSpPr>
        <p:spPr>
          <a:xfrm>
            <a:off x="9829800" y="3941064"/>
            <a:ext cx="0" cy="-182880"/>
          </a:xfrm>
          <a:prstGeom prst="line">
            <a:avLst/>
          </a:prstGeom>
          <a:noFill/>
          <a:ln w="20320">
            <a:solidFill>
              <a:srgbClr val="C65E4E"/>
            </a:solidFill>
            <a:prstDash val="solid"/>
          </a:ln>
        </p:spPr>
      </p:sp>
      <p:sp>
        <p:nvSpPr>
          <p:cNvPr id="42" name="Shape 40"/>
          <p:cNvSpPr/>
          <p:nvPr/>
        </p:nvSpPr>
        <p:spPr>
          <a:xfrm>
            <a:off x="9829800" y="3758184"/>
            <a:ext cx="91440" cy="0"/>
          </a:xfrm>
          <a:prstGeom prst="line">
            <a:avLst/>
          </a:prstGeom>
          <a:noFill/>
          <a:ln w="20320">
            <a:solidFill>
              <a:srgbClr val="C65E4E"/>
            </a:solidFill>
            <a:prstDash val="solid"/>
          </a:ln>
        </p:spPr>
      </p:sp>
      <p:sp>
        <p:nvSpPr>
          <p:cNvPr id="43" name="Shape 41"/>
          <p:cNvSpPr/>
          <p:nvPr/>
        </p:nvSpPr>
        <p:spPr>
          <a:xfrm>
            <a:off x="9921240" y="3758184"/>
            <a:ext cx="0" cy="182880"/>
          </a:xfrm>
          <a:prstGeom prst="line">
            <a:avLst/>
          </a:prstGeom>
          <a:noFill/>
          <a:ln w="20320">
            <a:solidFill>
              <a:srgbClr val="C65E4E"/>
            </a:solidFill>
            <a:prstDash val="solid"/>
          </a:ln>
        </p:spPr>
      </p:sp>
      <p:sp>
        <p:nvSpPr>
          <p:cNvPr id="44" name="Text 42"/>
          <p:cNvSpPr/>
          <p:nvPr/>
        </p:nvSpPr>
        <p:spPr>
          <a:xfrm>
            <a:off x="8257032" y="4215384"/>
            <a:ext cx="2834640" cy="274320"/>
          </a:xfrm>
          <a:prstGeom prst="rect">
            <a:avLst/>
          </a:prstGeom>
          <a:noFill/>
          <a:ln/>
        </p:spPr>
        <p:txBody>
          <a:bodyPr wrap="square" lIns="0" tIns="0" rIns="0" bIns="0" rtlCol="0" anchor="ctr">
            <a:normAutofit/>
          </a:bodyPr>
          <a:lstStyle/>
          <a:p>
            <a:pPr algn="l" indent="0" marL="0">
              <a:buNone/>
            </a:pPr>
            <a:r>
              <a:rPr lang="en-US" sz="850" b="1" dirty="0">
                <a:solidFill>
                  <a:srgbClr val="607585"/>
                </a:solidFill>
                <a:latin typeface="Aptos" pitchFamily="34" charset="0"/>
                <a:ea typeface="Aptos" pitchFamily="34" charset="-122"/>
                <a:cs typeface="Aptos" pitchFamily="34" charset="-120"/>
              </a:rPr>
              <a:t>QUALIFIED INPUT / ONE-SHOT EVENTS</a:t>
            </a:r>
            <a:endParaRPr lang="en-US" sz="850" dirty="0"/>
          </a:p>
        </p:txBody>
      </p:sp>
      <p:sp>
        <p:nvSpPr>
          <p:cNvPr id="45" name="Shape 43"/>
          <p:cNvSpPr/>
          <p:nvPr/>
        </p:nvSpPr>
        <p:spPr>
          <a:xfrm>
            <a:off x="8257032" y="4946904"/>
            <a:ext cx="2834640" cy="0"/>
          </a:xfrm>
          <a:prstGeom prst="line">
            <a:avLst/>
          </a:prstGeom>
          <a:noFill/>
          <a:ln w="12700">
            <a:solidFill>
              <a:srgbClr val="D5E0E7"/>
            </a:solidFill>
            <a:prstDash val="solid"/>
          </a:ln>
        </p:spPr>
      </p:sp>
      <p:sp>
        <p:nvSpPr>
          <p:cNvPr id="46" name="Shape 44"/>
          <p:cNvSpPr/>
          <p:nvPr/>
        </p:nvSpPr>
        <p:spPr>
          <a:xfrm>
            <a:off x="8577072" y="4946904"/>
            <a:ext cx="0" cy="-438912"/>
          </a:xfrm>
          <a:prstGeom prst="line">
            <a:avLst/>
          </a:prstGeom>
          <a:noFill/>
          <a:ln w="31750">
            <a:solidFill>
              <a:srgbClr val="3F7394"/>
            </a:solidFill>
            <a:prstDash val="solid"/>
          </a:ln>
        </p:spPr>
      </p:sp>
      <p:sp>
        <p:nvSpPr>
          <p:cNvPr id="47" name="Shape 45"/>
          <p:cNvSpPr/>
          <p:nvPr/>
        </p:nvSpPr>
        <p:spPr>
          <a:xfrm>
            <a:off x="8577072" y="4507992"/>
            <a:ext cx="292608" cy="0"/>
          </a:xfrm>
          <a:prstGeom prst="line">
            <a:avLst/>
          </a:prstGeom>
          <a:noFill/>
          <a:ln w="31750">
            <a:solidFill>
              <a:srgbClr val="3F7394"/>
            </a:solidFill>
            <a:prstDash val="solid"/>
          </a:ln>
        </p:spPr>
      </p:sp>
      <p:sp>
        <p:nvSpPr>
          <p:cNvPr id="48" name="Shape 46"/>
          <p:cNvSpPr/>
          <p:nvPr/>
        </p:nvSpPr>
        <p:spPr>
          <a:xfrm>
            <a:off x="8869680" y="4507992"/>
            <a:ext cx="0" cy="438912"/>
          </a:xfrm>
          <a:prstGeom prst="line">
            <a:avLst/>
          </a:prstGeom>
          <a:noFill/>
          <a:ln w="31750">
            <a:solidFill>
              <a:srgbClr val="3F7394"/>
            </a:solidFill>
            <a:prstDash val="solid"/>
          </a:ln>
        </p:spPr>
      </p:sp>
      <p:sp>
        <p:nvSpPr>
          <p:cNvPr id="49" name="Shape 47"/>
          <p:cNvSpPr/>
          <p:nvPr/>
        </p:nvSpPr>
        <p:spPr>
          <a:xfrm>
            <a:off x="9427464" y="4946904"/>
            <a:ext cx="0" cy="-438912"/>
          </a:xfrm>
          <a:prstGeom prst="line">
            <a:avLst/>
          </a:prstGeom>
          <a:noFill/>
          <a:ln w="31750">
            <a:solidFill>
              <a:srgbClr val="3F7394"/>
            </a:solidFill>
            <a:prstDash val="solid"/>
          </a:ln>
        </p:spPr>
      </p:sp>
      <p:sp>
        <p:nvSpPr>
          <p:cNvPr id="50" name="Shape 48"/>
          <p:cNvSpPr/>
          <p:nvPr/>
        </p:nvSpPr>
        <p:spPr>
          <a:xfrm>
            <a:off x="9427464" y="4507992"/>
            <a:ext cx="292608" cy="0"/>
          </a:xfrm>
          <a:prstGeom prst="line">
            <a:avLst/>
          </a:prstGeom>
          <a:noFill/>
          <a:ln w="31750">
            <a:solidFill>
              <a:srgbClr val="3F7394"/>
            </a:solidFill>
            <a:prstDash val="solid"/>
          </a:ln>
        </p:spPr>
      </p:sp>
      <p:sp>
        <p:nvSpPr>
          <p:cNvPr id="51" name="Shape 49"/>
          <p:cNvSpPr/>
          <p:nvPr/>
        </p:nvSpPr>
        <p:spPr>
          <a:xfrm>
            <a:off x="9720072" y="4507992"/>
            <a:ext cx="0" cy="438912"/>
          </a:xfrm>
          <a:prstGeom prst="line">
            <a:avLst/>
          </a:prstGeom>
          <a:noFill/>
          <a:ln w="31750">
            <a:solidFill>
              <a:srgbClr val="3F7394"/>
            </a:solidFill>
            <a:prstDash val="solid"/>
          </a:ln>
        </p:spPr>
      </p:sp>
      <p:sp>
        <p:nvSpPr>
          <p:cNvPr id="52" name="Shape 50"/>
          <p:cNvSpPr/>
          <p:nvPr/>
        </p:nvSpPr>
        <p:spPr>
          <a:xfrm>
            <a:off x="10405872" y="4946904"/>
            <a:ext cx="0" cy="-438912"/>
          </a:xfrm>
          <a:prstGeom prst="line">
            <a:avLst/>
          </a:prstGeom>
          <a:noFill/>
          <a:ln w="31750">
            <a:solidFill>
              <a:srgbClr val="3F7394"/>
            </a:solidFill>
            <a:prstDash val="solid"/>
          </a:ln>
        </p:spPr>
      </p:sp>
      <p:sp>
        <p:nvSpPr>
          <p:cNvPr id="53" name="Shape 51"/>
          <p:cNvSpPr/>
          <p:nvPr/>
        </p:nvSpPr>
        <p:spPr>
          <a:xfrm>
            <a:off x="10405872" y="4507992"/>
            <a:ext cx="292608" cy="0"/>
          </a:xfrm>
          <a:prstGeom prst="line">
            <a:avLst/>
          </a:prstGeom>
          <a:noFill/>
          <a:ln w="31750">
            <a:solidFill>
              <a:srgbClr val="3F7394"/>
            </a:solidFill>
            <a:prstDash val="solid"/>
          </a:ln>
        </p:spPr>
      </p:sp>
      <p:sp>
        <p:nvSpPr>
          <p:cNvPr id="54" name="Shape 52"/>
          <p:cNvSpPr/>
          <p:nvPr/>
        </p:nvSpPr>
        <p:spPr>
          <a:xfrm>
            <a:off x="10698480" y="4507992"/>
            <a:ext cx="0" cy="438912"/>
          </a:xfrm>
          <a:prstGeom prst="line">
            <a:avLst/>
          </a:prstGeom>
          <a:noFill/>
          <a:ln w="31750">
            <a:solidFill>
              <a:srgbClr val="3F7394"/>
            </a:solidFill>
            <a:prstDash val="solid"/>
          </a:ln>
        </p:spPr>
      </p:sp>
      <p:sp>
        <p:nvSpPr>
          <p:cNvPr id="55" name="Text 53"/>
          <p:cNvSpPr/>
          <p:nvPr/>
        </p:nvSpPr>
        <p:spPr>
          <a:xfrm>
            <a:off x="8302752" y="5385816"/>
            <a:ext cx="2743200" cy="457200"/>
          </a:xfrm>
          <a:prstGeom prst="rect">
            <a:avLst/>
          </a:prstGeom>
          <a:noFill/>
          <a:ln/>
        </p:spPr>
        <p:txBody>
          <a:bodyPr wrap="square" lIns="0" tIns="0" rIns="0" bIns="0" rtlCol="0" anchor="ctr">
            <a:normAutofit/>
          </a:bodyPr>
          <a:lstStyle/>
          <a:p>
            <a:pPr algn="ctr" indent="0" marL="0">
              <a:buNone/>
            </a:pPr>
            <a:r>
              <a:rPr lang="en-US" sz="1050" b="1" dirty="0">
                <a:solidFill>
                  <a:srgbClr val="087F8C"/>
                </a:solidFill>
                <a:latin typeface="Aptos" pitchFamily="34" charset="0"/>
                <a:ea typeface="Aptos" pitchFamily="34" charset="-122"/>
                <a:cs typeface="Aptos" pitchFamily="34" charset="-120"/>
              </a:rPr>
              <a:t>Reject the short chatter; preserve all valid pill events</a:t>
            </a:r>
            <a:endParaRPr lang="en-US" sz="1050" dirty="0"/>
          </a:p>
        </p:txBody>
      </p:sp>
      <p:sp>
        <p:nvSpPr>
          <p:cNvPr id="56" name="Shape 54"/>
          <p:cNvSpPr/>
          <p:nvPr/>
        </p:nvSpPr>
        <p:spPr>
          <a:xfrm>
            <a:off x="603504" y="6318504"/>
            <a:ext cx="10972800" cy="0"/>
          </a:xfrm>
          <a:prstGeom prst="line">
            <a:avLst/>
          </a:prstGeom>
          <a:noFill/>
          <a:ln w="10160">
            <a:solidFill>
              <a:srgbClr val="D5E0E7"/>
            </a:solidFill>
            <a:prstDash val="solid"/>
          </a:ln>
        </p:spPr>
      </p:sp>
      <p:sp>
        <p:nvSpPr>
          <p:cNvPr id="57" name="Text 55"/>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SIGNAL PROCESSING AND SIGNAL INTEGRITY</a:t>
            </a:r>
            <a:endParaRPr lang="en-US" sz="800" dirty="0"/>
          </a:p>
        </p:txBody>
      </p:sp>
      <p:sp>
        <p:nvSpPr>
          <p:cNvPr id="58" name="Text 56"/>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07 / 18</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087F8C"/>
          </a:solidFill>
          <a:ln w="12700">
            <a:solidFill>
              <a:srgbClr val="087F8C">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087F8C"/>
                </a:solidFill>
                <a:latin typeface="Aptos" pitchFamily="34" charset="0"/>
                <a:ea typeface="Aptos" pitchFamily="34" charset="-122"/>
                <a:cs typeface="Aptos" pitchFamily="34" charset="-120"/>
              </a:rPr>
              <a:t>UNIT 5009    /    WEEK 05    /    LO2</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10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087F8C"/>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087F8C"/>
                </a:solidFill>
                <a:latin typeface="Aptos" pitchFamily="34" charset="0"/>
                <a:ea typeface="Aptos" pitchFamily="34" charset="-122"/>
                <a:cs typeface="Aptos" pitchFamily="34" charset="-120"/>
              </a:rPr>
              <a:t>LO2 FOUNDATIONS</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3100" b="1" dirty="0">
                <a:solidFill>
                  <a:srgbClr val="1B3448"/>
                </a:solidFill>
                <a:latin typeface="Aptos Display" pitchFamily="34" charset="0"/>
                <a:ea typeface="Aptos Display" pitchFamily="34" charset="-122"/>
                <a:cs typeface="Aptos Display" pitchFamily="34" charset="-120"/>
              </a:rPr>
              <a:t>Analogue signals and scaling</a:t>
            </a:r>
            <a:endParaRPr lang="en-US" sz="31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67512" y="1709928"/>
            <a:ext cx="2743200" cy="210312"/>
          </a:xfrm>
          <a:prstGeom prst="rect">
            <a:avLst/>
          </a:prstGeom>
          <a:noFill/>
          <a:ln/>
        </p:spPr>
        <p:txBody>
          <a:bodyPr wrap="square" lIns="0" tIns="0" rIns="0" bIns="0" rtlCol="0" anchor="ctr"/>
          <a:lstStyle/>
          <a:p>
            <a:pPr indent="0" marL="0">
              <a:buNone/>
            </a:pPr>
            <a:r>
              <a:rPr lang="en-US" sz="900" b="1" spc="100" kern="0" dirty="0">
                <a:solidFill>
                  <a:srgbClr val="087F8C"/>
                </a:solidFill>
                <a:latin typeface="Aptos" pitchFamily="34" charset="0"/>
                <a:ea typeface="Aptos" pitchFamily="34" charset="-122"/>
                <a:cs typeface="Aptos" pitchFamily="34" charset="-120"/>
              </a:rPr>
              <a:t>TEACHING POINTS</a:t>
            </a:r>
            <a:endParaRPr lang="en-US" sz="900" dirty="0"/>
          </a:p>
        </p:txBody>
      </p:sp>
      <p:sp>
        <p:nvSpPr>
          <p:cNvPr id="11" name="Shape 9"/>
          <p:cNvSpPr/>
          <p:nvPr/>
        </p:nvSpPr>
        <p:spPr>
          <a:xfrm>
            <a:off x="640080" y="1993392"/>
            <a:ext cx="6720840" cy="976122"/>
          </a:xfrm>
          <a:prstGeom prst="rect">
            <a:avLst/>
          </a:prstGeom>
          <a:solidFill>
            <a:srgbClr val="FFFFFF"/>
          </a:solidFill>
          <a:ln w="8890">
            <a:solidFill>
              <a:srgbClr val="D5E0E7"/>
            </a:solidFill>
            <a:prstDash val="solid"/>
          </a:ln>
        </p:spPr>
      </p:sp>
      <p:sp>
        <p:nvSpPr>
          <p:cNvPr id="12" name="Shape 10"/>
          <p:cNvSpPr/>
          <p:nvPr/>
        </p:nvSpPr>
        <p:spPr>
          <a:xfrm>
            <a:off x="640080" y="1993392"/>
            <a:ext cx="50292" cy="976122"/>
          </a:xfrm>
          <a:prstGeom prst="rect">
            <a:avLst/>
          </a:prstGeom>
          <a:solidFill>
            <a:srgbClr val="087F8C"/>
          </a:solidFill>
          <a:ln w="12700">
            <a:solidFill>
              <a:srgbClr val="087F8C">
                <a:alpha val="0"/>
              </a:srgbClr>
            </a:solidFill>
            <a:prstDash val="solid"/>
          </a:ln>
        </p:spPr>
      </p:sp>
      <p:sp>
        <p:nvSpPr>
          <p:cNvPr id="13" name="Text 11"/>
          <p:cNvSpPr/>
          <p:nvPr/>
        </p:nvSpPr>
        <p:spPr>
          <a:xfrm>
            <a:off x="786384" y="2084832"/>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01</a:t>
            </a:r>
            <a:endParaRPr lang="en-US" sz="950" dirty="0"/>
          </a:p>
        </p:txBody>
      </p:sp>
      <p:sp>
        <p:nvSpPr>
          <p:cNvPr id="14" name="Text 12"/>
          <p:cNvSpPr/>
          <p:nvPr/>
        </p:nvSpPr>
        <p:spPr>
          <a:xfrm>
            <a:off x="1197864" y="2075688"/>
            <a:ext cx="5989320" cy="820674"/>
          </a:xfrm>
          <a:prstGeom prst="rect">
            <a:avLst/>
          </a:prstGeom>
          <a:noFill/>
          <a:ln/>
        </p:spPr>
        <p:txBody>
          <a:bodyPr wrap="square" lIns="0" tIns="0" rIns="0" bIns="0" rtlCol="0" anchor="ctr">
            <a:normAutofit/>
          </a:bodyPr>
          <a:lstStyle/>
          <a:p>
            <a:pPr indent="0" marL="0">
              <a:buNone/>
            </a:pPr>
            <a:r>
              <a:rPr lang="en-US" sz="1310" dirty="0">
                <a:solidFill>
                  <a:srgbClr val="334B5C"/>
                </a:solidFill>
                <a:latin typeface="Aptos" pitchFamily="34" charset="0"/>
                <a:ea typeface="Aptos" pitchFamily="34" charset="-122"/>
                <a:cs typeface="Aptos" pitchFamily="34" charset="-120"/>
              </a:rPr>
              <a:t>Analogue modules convert an input voltage or current to a raw digital value; the raw range, resolution, conversion time, and fault indications are specific to the module and configuration.</a:t>
            </a:r>
            <a:endParaRPr lang="en-US" sz="1310" dirty="0"/>
          </a:p>
        </p:txBody>
      </p:sp>
      <p:sp>
        <p:nvSpPr>
          <p:cNvPr id="15" name="Shape 13"/>
          <p:cNvSpPr/>
          <p:nvPr/>
        </p:nvSpPr>
        <p:spPr>
          <a:xfrm>
            <a:off x="640080" y="3051810"/>
            <a:ext cx="6720840" cy="976122"/>
          </a:xfrm>
          <a:prstGeom prst="rect">
            <a:avLst/>
          </a:prstGeom>
          <a:solidFill>
            <a:srgbClr val="FFFFFF"/>
          </a:solidFill>
          <a:ln w="8890">
            <a:solidFill>
              <a:srgbClr val="E7EDF1"/>
            </a:solidFill>
            <a:prstDash val="solid"/>
          </a:ln>
        </p:spPr>
      </p:sp>
      <p:sp>
        <p:nvSpPr>
          <p:cNvPr id="16" name="Shape 14"/>
          <p:cNvSpPr/>
          <p:nvPr/>
        </p:nvSpPr>
        <p:spPr>
          <a:xfrm>
            <a:off x="640080" y="3051810"/>
            <a:ext cx="50292" cy="976122"/>
          </a:xfrm>
          <a:prstGeom prst="rect">
            <a:avLst/>
          </a:prstGeom>
          <a:solidFill>
            <a:srgbClr val="087F8C"/>
          </a:solidFill>
          <a:ln w="12700">
            <a:solidFill>
              <a:srgbClr val="087F8C">
                <a:alpha val="0"/>
              </a:srgbClr>
            </a:solidFill>
            <a:prstDash val="solid"/>
          </a:ln>
        </p:spPr>
      </p:sp>
      <p:sp>
        <p:nvSpPr>
          <p:cNvPr id="17" name="Text 15"/>
          <p:cNvSpPr/>
          <p:nvPr/>
        </p:nvSpPr>
        <p:spPr>
          <a:xfrm>
            <a:off x="786384" y="3143250"/>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02</a:t>
            </a:r>
            <a:endParaRPr lang="en-US" sz="950" dirty="0"/>
          </a:p>
        </p:txBody>
      </p:sp>
      <p:sp>
        <p:nvSpPr>
          <p:cNvPr id="18" name="Text 16"/>
          <p:cNvSpPr/>
          <p:nvPr/>
        </p:nvSpPr>
        <p:spPr>
          <a:xfrm>
            <a:off x="1197864" y="3134106"/>
            <a:ext cx="5989320" cy="820674"/>
          </a:xfrm>
          <a:prstGeom prst="rect">
            <a:avLst/>
          </a:prstGeom>
          <a:noFill/>
          <a:ln/>
        </p:spPr>
        <p:txBody>
          <a:bodyPr wrap="square" lIns="0" tIns="0" rIns="0" bIns="0" rtlCol="0" anchor="ctr">
            <a:normAutofit/>
          </a:bodyPr>
          <a:lstStyle/>
          <a:p>
            <a:pPr indent="0" marL="0">
              <a:buNone/>
            </a:pPr>
            <a:r>
              <a:rPr lang="en-US" sz="1310" dirty="0">
                <a:solidFill>
                  <a:srgbClr val="334B5C"/>
                </a:solidFill>
                <a:latin typeface="Aptos" pitchFamily="34" charset="0"/>
                <a:ea typeface="Aptos" pitchFamily="34" charset="-122"/>
                <a:cs typeface="Aptos" pitchFamily="34" charset="-120"/>
              </a:rPr>
              <a:t>Clearly hypothetical linear example: a 4-20 mA transmitter represents 0-60 packs/min; 12 mA is halfway through the 16 mA span and therefore represents 30 packs/min if the transmitter and scaling are linear.</a:t>
            </a:r>
            <a:endParaRPr lang="en-US" sz="1310" dirty="0"/>
          </a:p>
        </p:txBody>
      </p:sp>
      <p:sp>
        <p:nvSpPr>
          <p:cNvPr id="19" name="Shape 17"/>
          <p:cNvSpPr/>
          <p:nvPr/>
        </p:nvSpPr>
        <p:spPr>
          <a:xfrm>
            <a:off x="640080" y="4110228"/>
            <a:ext cx="6720840" cy="976122"/>
          </a:xfrm>
          <a:prstGeom prst="rect">
            <a:avLst/>
          </a:prstGeom>
          <a:solidFill>
            <a:srgbClr val="FFFFFF"/>
          </a:solidFill>
          <a:ln w="8890">
            <a:solidFill>
              <a:srgbClr val="E7EDF1"/>
            </a:solidFill>
            <a:prstDash val="solid"/>
          </a:ln>
        </p:spPr>
      </p:sp>
      <p:sp>
        <p:nvSpPr>
          <p:cNvPr id="20" name="Shape 18"/>
          <p:cNvSpPr/>
          <p:nvPr/>
        </p:nvSpPr>
        <p:spPr>
          <a:xfrm>
            <a:off x="640080" y="4110228"/>
            <a:ext cx="50292" cy="976122"/>
          </a:xfrm>
          <a:prstGeom prst="rect">
            <a:avLst/>
          </a:prstGeom>
          <a:solidFill>
            <a:srgbClr val="087F8C"/>
          </a:solidFill>
          <a:ln w="12700">
            <a:solidFill>
              <a:srgbClr val="087F8C">
                <a:alpha val="0"/>
              </a:srgbClr>
            </a:solidFill>
            <a:prstDash val="solid"/>
          </a:ln>
        </p:spPr>
      </p:sp>
      <p:sp>
        <p:nvSpPr>
          <p:cNvPr id="21" name="Text 19"/>
          <p:cNvSpPr/>
          <p:nvPr/>
        </p:nvSpPr>
        <p:spPr>
          <a:xfrm>
            <a:off x="786384" y="4201668"/>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03</a:t>
            </a:r>
            <a:endParaRPr lang="en-US" sz="950" dirty="0"/>
          </a:p>
        </p:txBody>
      </p:sp>
      <p:sp>
        <p:nvSpPr>
          <p:cNvPr id="22" name="Text 20"/>
          <p:cNvSpPr/>
          <p:nvPr/>
        </p:nvSpPr>
        <p:spPr>
          <a:xfrm>
            <a:off x="1197864" y="4192524"/>
            <a:ext cx="5989320" cy="820674"/>
          </a:xfrm>
          <a:prstGeom prst="rect">
            <a:avLst/>
          </a:prstGeom>
          <a:noFill/>
          <a:ln/>
        </p:spPr>
        <p:txBody>
          <a:bodyPr wrap="square" lIns="0" tIns="0" rIns="0" bIns="0" rtlCol="0" anchor="ctr">
            <a:normAutofit/>
          </a:bodyPr>
          <a:lstStyle/>
          <a:p>
            <a:pPr indent="0" marL="0">
              <a:buNone/>
            </a:pPr>
            <a:r>
              <a:rPr lang="en-US" sz="1310" dirty="0">
                <a:solidFill>
                  <a:srgbClr val="334B5C"/>
                </a:solidFill>
                <a:latin typeface="Aptos" pitchFamily="34" charset="0"/>
                <a:ea typeface="Aptos" pitchFamily="34" charset="-122"/>
                <a:cs typeface="Aptos" pitchFamily="34" charset="-120"/>
              </a:rPr>
              <a:t>Scaling maps raw counts/current to engineering units; resolution is the smallest represented increment, while accuracy also includes sensor, module, wiring, and calibration error.</a:t>
            </a:r>
            <a:endParaRPr lang="en-US" sz="1310" dirty="0"/>
          </a:p>
        </p:txBody>
      </p:sp>
      <p:sp>
        <p:nvSpPr>
          <p:cNvPr id="23" name="Shape 21"/>
          <p:cNvSpPr/>
          <p:nvPr/>
        </p:nvSpPr>
        <p:spPr>
          <a:xfrm>
            <a:off x="640080" y="5168646"/>
            <a:ext cx="6720840" cy="976122"/>
          </a:xfrm>
          <a:prstGeom prst="rect">
            <a:avLst/>
          </a:prstGeom>
          <a:solidFill>
            <a:srgbClr val="FFFFFF"/>
          </a:solidFill>
          <a:ln w="8890">
            <a:solidFill>
              <a:srgbClr val="E7EDF1"/>
            </a:solidFill>
            <a:prstDash val="solid"/>
          </a:ln>
        </p:spPr>
      </p:sp>
      <p:sp>
        <p:nvSpPr>
          <p:cNvPr id="24" name="Shape 22"/>
          <p:cNvSpPr/>
          <p:nvPr/>
        </p:nvSpPr>
        <p:spPr>
          <a:xfrm>
            <a:off x="640080" y="5168646"/>
            <a:ext cx="50292" cy="976122"/>
          </a:xfrm>
          <a:prstGeom prst="rect">
            <a:avLst/>
          </a:prstGeom>
          <a:solidFill>
            <a:srgbClr val="087F8C"/>
          </a:solidFill>
          <a:ln w="12700">
            <a:solidFill>
              <a:srgbClr val="087F8C">
                <a:alpha val="0"/>
              </a:srgbClr>
            </a:solidFill>
            <a:prstDash val="solid"/>
          </a:ln>
        </p:spPr>
      </p:sp>
      <p:sp>
        <p:nvSpPr>
          <p:cNvPr id="25" name="Text 23"/>
          <p:cNvSpPr/>
          <p:nvPr/>
        </p:nvSpPr>
        <p:spPr>
          <a:xfrm>
            <a:off x="786384" y="5260086"/>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04</a:t>
            </a:r>
            <a:endParaRPr lang="en-US" sz="950" dirty="0"/>
          </a:p>
        </p:txBody>
      </p:sp>
      <p:sp>
        <p:nvSpPr>
          <p:cNvPr id="26" name="Text 24"/>
          <p:cNvSpPr/>
          <p:nvPr/>
        </p:nvSpPr>
        <p:spPr>
          <a:xfrm>
            <a:off x="1197864" y="5250942"/>
            <a:ext cx="5989320" cy="820674"/>
          </a:xfrm>
          <a:prstGeom prst="rect">
            <a:avLst/>
          </a:prstGeom>
          <a:noFill/>
          <a:ln/>
        </p:spPr>
        <p:txBody>
          <a:bodyPr wrap="square" lIns="0" tIns="0" rIns="0" bIns="0" rtlCol="0" anchor="ctr">
            <a:normAutofit/>
          </a:bodyPr>
          <a:lstStyle/>
          <a:p>
            <a:pPr indent="0" marL="0">
              <a:buNone/>
            </a:pPr>
            <a:r>
              <a:rPr lang="en-US" sz="1310" dirty="0">
                <a:solidFill>
                  <a:srgbClr val="334B5C"/>
                </a:solidFill>
                <a:latin typeface="Aptos" pitchFamily="34" charset="0"/>
                <a:ea typeface="Aptos" pitchFamily="34" charset="-122"/>
                <a:cs typeface="Aptos" pitchFamily="34" charset="-120"/>
              </a:rPr>
              <a:t>For a MedPack display, verify lower/upper range, units, underrange/overrange handling, and update time before treating a displayed value as a valid process measurement.</a:t>
            </a:r>
            <a:endParaRPr lang="en-US" sz="1310" dirty="0"/>
          </a:p>
        </p:txBody>
      </p:sp>
      <p:sp>
        <p:nvSpPr>
          <p:cNvPr id="27" name="Shape 25"/>
          <p:cNvSpPr/>
          <p:nvPr/>
        </p:nvSpPr>
        <p:spPr>
          <a:xfrm>
            <a:off x="7662672" y="1746504"/>
            <a:ext cx="3922776" cy="4361688"/>
          </a:xfrm>
          <a:prstGeom prst="rect">
            <a:avLst/>
          </a:prstGeom>
          <a:solidFill>
            <a:srgbClr val="FFFFFF"/>
          </a:solidFill>
          <a:ln w="12700">
            <a:solidFill>
              <a:srgbClr val="D5E0E7"/>
            </a:solidFill>
            <a:prstDash val="solid"/>
          </a:ln>
        </p:spPr>
      </p:sp>
      <p:sp>
        <p:nvSpPr>
          <p:cNvPr id="28" name="Text 26"/>
          <p:cNvSpPr/>
          <p:nvPr/>
        </p:nvSpPr>
        <p:spPr>
          <a:xfrm>
            <a:off x="7863840" y="1892808"/>
            <a:ext cx="3520440" cy="219456"/>
          </a:xfrm>
          <a:prstGeom prst="rect">
            <a:avLst/>
          </a:prstGeom>
          <a:noFill/>
          <a:ln/>
        </p:spPr>
        <p:txBody>
          <a:bodyPr wrap="square" lIns="0" tIns="0" rIns="0" bIns="0" rtlCol="0" anchor="ctr"/>
          <a:lstStyle/>
          <a:p>
            <a:pPr indent="0" marL="0">
              <a:buNone/>
            </a:pPr>
            <a:r>
              <a:rPr lang="en-US" sz="900" b="1" spc="80" kern="0" dirty="0">
                <a:solidFill>
                  <a:srgbClr val="087F8C"/>
                </a:solidFill>
                <a:latin typeface="Aptos" pitchFamily="34" charset="0"/>
                <a:ea typeface="Aptos" pitchFamily="34" charset="-122"/>
                <a:cs typeface="Aptos" pitchFamily="34" charset="-120"/>
              </a:rPr>
              <a:t>ANALOGUE SCALING</a:t>
            </a:r>
            <a:endParaRPr lang="en-US" sz="900" dirty="0"/>
          </a:p>
        </p:txBody>
      </p:sp>
      <p:sp>
        <p:nvSpPr>
          <p:cNvPr id="29" name="Shape 27"/>
          <p:cNvSpPr/>
          <p:nvPr/>
        </p:nvSpPr>
        <p:spPr>
          <a:xfrm>
            <a:off x="7863840" y="2221992"/>
            <a:ext cx="3520440" cy="0"/>
          </a:xfrm>
          <a:prstGeom prst="line">
            <a:avLst/>
          </a:prstGeom>
          <a:noFill/>
          <a:ln w="8890">
            <a:solidFill>
              <a:srgbClr val="D5E0E7"/>
            </a:solidFill>
            <a:prstDash val="solid"/>
          </a:ln>
        </p:spPr>
      </p:sp>
      <p:sp>
        <p:nvSpPr>
          <p:cNvPr id="30" name="Shape 28"/>
          <p:cNvSpPr/>
          <p:nvPr/>
        </p:nvSpPr>
        <p:spPr>
          <a:xfrm>
            <a:off x="8229600" y="5038344"/>
            <a:ext cx="2743200" cy="0"/>
          </a:xfrm>
          <a:prstGeom prst="line">
            <a:avLst/>
          </a:prstGeom>
          <a:noFill/>
          <a:ln w="15240">
            <a:solidFill>
              <a:srgbClr val="1B3448"/>
            </a:solidFill>
            <a:prstDash val="solid"/>
            <a:tailEnd type="triangle"/>
          </a:ln>
        </p:spPr>
      </p:sp>
      <p:sp>
        <p:nvSpPr>
          <p:cNvPr id="31" name="Shape 29"/>
          <p:cNvSpPr/>
          <p:nvPr/>
        </p:nvSpPr>
        <p:spPr>
          <a:xfrm>
            <a:off x="8229600" y="5038344"/>
            <a:ext cx="0" cy="-2240280"/>
          </a:xfrm>
          <a:prstGeom prst="line">
            <a:avLst/>
          </a:prstGeom>
          <a:noFill/>
          <a:ln w="15240">
            <a:solidFill>
              <a:srgbClr val="1B3448"/>
            </a:solidFill>
            <a:prstDash val="solid"/>
            <a:tailEnd type="triangle"/>
          </a:ln>
        </p:spPr>
      </p:sp>
      <p:sp>
        <p:nvSpPr>
          <p:cNvPr id="32" name="Shape 30"/>
          <p:cNvSpPr/>
          <p:nvPr/>
        </p:nvSpPr>
        <p:spPr>
          <a:xfrm>
            <a:off x="8394192" y="4809744"/>
            <a:ext cx="2395728" cy="-1691640"/>
          </a:xfrm>
          <a:prstGeom prst="line">
            <a:avLst/>
          </a:prstGeom>
          <a:noFill/>
          <a:ln w="33020">
            <a:solidFill>
              <a:srgbClr val="087F8C"/>
            </a:solidFill>
            <a:prstDash val="solid"/>
          </a:ln>
        </p:spPr>
      </p:sp>
      <p:sp>
        <p:nvSpPr>
          <p:cNvPr id="33" name="Text 31"/>
          <p:cNvSpPr/>
          <p:nvPr/>
        </p:nvSpPr>
        <p:spPr>
          <a:xfrm>
            <a:off x="8119872" y="5129784"/>
            <a:ext cx="914400" cy="274320"/>
          </a:xfrm>
          <a:prstGeom prst="rect">
            <a:avLst/>
          </a:prstGeom>
          <a:noFill/>
          <a:ln/>
        </p:spPr>
        <p:txBody>
          <a:bodyPr wrap="square" lIns="0" tIns="0" rIns="0" bIns="0" rtlCol="0" anchor="ctr">
            <a:normAutofit/>
          </a:bodyPr>
          <a:lstStyle/>
          <a:p>
            <a:pPr algn="ctr" indent="0" marL="0">
              <a:buNone/>
            </a:pPr>
            <a:r>
              <a:rPr lang="en-US" sz="900" dirty="0">
                <a:solidFill>
                  <a:srgbClr val="607585"/>
                </a:solidFill>
                <a:latin typeface="Aptos" pitchFamily="34" charset="0"/>
                <a:ea typeface="Aptos" pitchFamily="34" charset="-122"/>
                <a:cs typeface="Aptos" pitchFamily="34" charset="-120"/>
              </a:rPr>
              <a:t>RAW ADC</a:t>
            </a:r>
            <a:endParaRPr lang="en-US" sz="900" dirty="0"/>
          </a:p>
        </p:txBody>
      </p:sp>
      <p:sp>
        <p:nvSpPr>
          <p:cNvPr id="34" name="Text 32"/>
          <p:cNvSpPr/>
          <p:nvPr/>
        </p:nvSpPr>
        <p:spPr>
          <a:xfrm>
            <a:off x="9646920" y="5129784"/>
            <a:ext cx="1508760" cy="274320"/>
          </a:xfrm>
          <a:prstGeom prst="rect">
            <a:avLst/>
          </a:prstGeom>
          <a:noFill/>
          <a:ln/>
        </p:spPr>
        <p:txBody>
          <a:bodyPr wrap="square" lIns="0" tIns="0" rIns="0" bIns="0" rtlCol="0" anchor="ctr">
            <a:normAutofit/>
          </a:bodyPr>
          <a:lstStyle/>
          <a:p>
            <a:pPr algn="ctr" indent="0" marL="0">
              <a:buNone/>
            </a:pPr>
            <a:r>
              <a:rPr lang="en-US" sz="850" dirty="0">
                <a:solidFill>
                  <a:srgbClr val="607585"/>
                </a:solidFill>
                <a:latin typeface="Aptos" pitchFamily="34" charset="0"/>
                <a:ea typeface="Aptos" pitchFamily="34" charset="-122"/>
                <a:cs typeface="Aptos" pitchFamily="34" charset="-120"/>
              </a:rPr>
              <a:t>ENGINEERING VALUE</a:t>
            </a:r>
            <a:endParaRPr lang="en-US" sz="850" dirty="0"/>
          </a:p>
        </p:txBody>
      </p:sp>
      <p:sp>
        <p:nvSpPr>
          <p:cNvPr id="35" name="Text 33"/>
          <p:cNvSpPr/>
          <p:nvPr/>
        </p:nvSpPr>
        <p:spPr>
          <a:xfrm>
            <a:off x="7982712" y="5586984"/>
            <a:ext cx="3291840" cy="384048"/>
          </a:xfrm>
          <a:prstGeom prst="rect">
            <a:avLst/>
          </a:prstGeom>
          <a:noFill/>
          <a:ln/>
        </p:spPr>
        <p:txBody>
          <a:bodyPr wrap="square" lIns="0" tIns="0" rIns="0" bIns="0" rtlCol="0" anchor="ctr">
            <a:normAutofit/>
          </a:bodyPr>
          <a:lstStyle/>
          <a:p>
            <a:pPr algn="ctr" indent="0" marL="0">
              <a:buNone/>
            </a:pPr>
            <a:r>
              <a:rPr lang="en-US" sz="990" dirty="0">
                <a:solidFill>
                  <a:srgbClr val="1B3448"/>
                </a:solidFill>
                <a:latin typeface="Aptos" pitchFamily="34" charset="0"/>
                <a:ea typeface="Aptos" pitchFamily="34" charset="-122"/>
                <a:cs typeface="Aptos" pitchFamily="34" charset="-120"/>
              </a:rPr>
              <a:t>Scale using configured range; resolution is not accuracy</a:t>
            </a:r>
            <a:endParaRPr lang="en-US" sz="990" dirty="0"/>
          </a:p>
        </p:txBody>
      </p:sp>
      <p:sp>
        <p:nvSpPr>
          <p:cNvPr id="36" name="Shape 34"/>
          <p:cNvSpPr/>
          <p:nvPr/>
        </p:nvSpPr>
        <p:spPr>
          <a:xfrm>
            <a:off x="603504" y="6318504"/>
            <a:ext cx="10972800" cy="0"/>
          </a:xfrm>
          <a:prstGeom prst="line">
            <a:avLst/>
          </a:prstGeom>
          <a:noFill/>
          <a:ln w="10160">
            <a:solidFill>
              <a:srgbClr val="D5E0E7"/>
            </a:solidFill>
            <a:prstDash val="solid"/>
          </a:ln>
        </p:spPr>
      </p:sp>
      <p:sp>
        <p:nvSpPr>
          <p:cNvPr id="37" name="Text 35"/>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SIGNAL PROCESSING AND SIGNAL INTEGRITY</a:t>
            </a:r>
            <a:endParaRPr lang="en-US" sz="800" dirty="0"/>
          </a:p>
        </p:txBody>
      </p:sp>
      <p:sp>
        <p:nvSpPr>
          <p:cNvPr id="38" name="Text 36"/>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08 / 18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087F8C"/>
          </a:solidFill>
          <a:ln w="12700">
            <a:solidFill>
              <a:srgbClr val="087F8C">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087F8C"/>
                </a:solidFill>
                <a:latin typeface="Aptos" pitchFamily="34" charset="0"/>
                <a:ea typeface="Aptos" pitchFamily="34" charset="-122"/>
                <a:cs typeface="Aptos" pitchFamily="34" charset="-120"/>
              </a:rPr>
              <a:t>UNIT 5009    /    WEEK 05    /    LO2</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15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087F8C"/>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087F8C"/>
                </a:solidFill>
                <a:latin typeface="Aptos" pitchFamily="34" charset="0"/>
                <a:ea typeface="Aptos" pitchFamily="34" charset="-122"/>
                <a:cs typeface="Aptos" pitchFamily="34" charset="-120"/>
              </a:rPr>
              <a:t>LO2 FOUNDATIONS</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3100" b="1" dirty="0">
                <a:solidFill>
                  <a:srgbClr val="1B3448"/>
                </a:solidFill>
                <a:latin typeface="Aptos Display" pitchFamily="34" charset="0"/>
                <a:ea typeface="Aptos Display" pitchFamily="34" charset="-122"/>
                <a:cs typeface="Aptos Display" pitchFamily="34" charset="-120"/>
              </a:rPr>
              <a:t>Signal integrity and wiring practice</a:t>
            </a:r>
            <a:endParaRPr lang="en-US" sz="31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67512" y="1709928"/>
            <a:ext cx="2743200" cy="210312"/>
          </a:xfrm>
          <a:prstGeom prst="rect">
            <a:avLst/>
          </a:prstGeom>
          <a:noFill/>
          <a:ln/>
        </p:spPr>
        <p:txBody>
          <a:bodyPr wrap="square" lIns="0" tIns="0" rIns="0" bIns="0" rtlCol="0" anchor="ctr"/>
          <a:lstStyle/>
          <a:p>
            <a:pPr indent="0" marL="0">
              <a:buNone/>
            </a:pPr>
            <a:r>
              <a:rPr lang="en-US" sz="900" b="1" spc="100" kern="0" dirty="0">
                <a:solidFill>
                  <a:srgbClr val="087F8C"/>
                </a:solidFill>
                <a:latin typeface="Aptos" pitchFamily="34" charset="0"/>
                <a:ea typeface="Aptos" pitchFamily="34" charset="-122"/>
                <a:cs typeface="Aptos" pitchFamily="34" charset="-120"/>
              </a:rPr>
              <a:t>TEACHING POINTS</a:t>
            </a:r>
            <a:endParaRPr lang="en-US" sz="900" dirty="0"/>
          </a:p>
        </p:txBody>
      </p:sp>
      <p:sp>
        <p:nvSpPr>
          <p:cNvPr id="11" name="Shape 9"/>
          <p:cNvSpPr/>
          <p:nvPr/>
        </p:nvSpPr>
        <p:spPr>
          <a:xfrm>
            <a:off x="640080" y="1993392"/>
            <a:ext cx="6720840" cy="976122"/>
          </a:xfrm>
          <a:prstGeom prst="rect">
            <a:avLst/>
          </a:prstGeom>
          <a:solidFill>
            <a:srgbClr val="FFFFFF"/>
          </a:solidFill>
          <a:ln w="8890">
            <a:solidFill>
              <a:srgbClr val="D5E0E7"/>
            </a:solidFill>
            <a:prstDash val="solid"/>
          </a:ln>
        </p:spPr>
      </p:sp>
      <p:sp>
        <p:nvSpPr>
          <p:cNvPr id="12" name="Shape 10"/>
          <p:cNvSpPr/>
          <p:nvPr/>
        </p:nvSpPr>
        <p:spPr>
          <a:xfrm>
            <a:off x="640080" y="1993392"/>
            <a:ext cx="50292" cy="976122"/>
          </a:xfrm>
          <a:prstGeom prst="rect">
            <a:avLst/>
          </a:prstGeom>
          <a:solidFill>
            <a:srgbClr val="087F8C"/>
          </a:solidFill>
          <a:ln w="12700">
            <a:solidFill>
              <a:srgbClr val="087F8C">
                <a:alpha val="0"/>
              </a:srgbClr>
            </a:solidFill>
            <a:prstDash val="solid"/>
          </a:ln>
        </p:spPr>
      </p:sp>
      <p:sp>
        <p:nvSpPr>
          <p:cNvPr id="13" name="Text 11"/>
          <p:cNvSpPr/>
          <p:nvPr/>
        </p:nvSpPr>
        <p:spPr>
          <a:xfrm>
            <a:off x="786384" y="2084832"/>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01</a:t>
            </a:r>
            <a:endParaRPr lang="en-US" sz="950" dirty="0"/>
          </a:p>
        </p:txBody>
      </p:sp>
      <p:sp>
        <p:nvSpPr>
          <p:cNvPr id="14" name="Text 12"/>
          <p:cNvSpPr/>
          <p:nvPr/>
        </p:nvSpPr>
        <p:spPr>
          <a:xfrm>
            <a:off x="1197864" y="2075688"/>
            <a:ext cx="5989320" cy="820674"/>
          </a:xfrm>
          <a:prstGeom prst="rect">
            <a:avLst/>
          </a:prstGeom>
          <a:noFill/>
          <a:ln/>
        </p:spPr>
        <p:txBody>
          <a:bodyPr wrap="square" lIns="0" tIns="0" rIns="0" bIns="0" rtlCol="0" anchor="ctr">
            <a:normAutofit/>
          </a:bodyPr>
          <a:lstStyle/>
          <a:p>
            <a:pPr indent="0" marL="0">
              <a:buNone/>
            </a:pPr>
            <a:r>
              <a:rPr lang="en-US" sz="1240" dirty="0">
                <a:solidFill>
                  <a:srgbClr val="334B5C"/>
                </a:solidFill>
                <a:latin typeface="Aptos" pitchFamily="34" charset="0"/>
                <a:ea typeface="Aptos" pitchFamily="34" charset="-122"/>
                <a:cs typeface="Aptos" pitchFamily="34" charset="-120"/>
              </a:rPr>
              <a:t>Noise can couple into sensor wiring through electromagnetic fields, shared impedance/reference paths, long cable runs, poor terminations, or switching inductive loads; symptoms may be intermittent counts or unstable analogue readings.</a:t>
            </a:r>
            <a:endParaRPr lang="en-US" sz="1240" dirty="0"/>
          </a:p>
        </p:txBody>
      </p:sp>
      <p:sp>
        <p:nvSpPr>
          <p:cNvPr id="15" name="Shape 13"/>
          <p:cNvSpPr/>
          <p:nvPr/>
        </p:nvSpPr>
        <p:spPr>
          <a:xfrm>
            <a:off x="640080" y="3051810"/>
            <a:ext cx="6720840" cy="976122"/>
          </a:xfrm>
          <a:prstGeom prst="rect">
            <a:avLst/>
          </a:prstGeom>
          <a:solidFill>
            <a:srgbClr val="FFFFFF"/>
          </a:solidFill>
          <a:ln w="8890">
            <a:solidFill>
              <a:srgbClr val="E7EDF1"/>
            </a:solidFill>
            <a:prstDash val="solid"/>
          </a:ln>
        </p:spPr>
      </p:sp>
      <p:sp>
        <p:nvSpPr>
          <p:cNvPr id="16" name="Shape 14"/>
          <p:cNvSpPr/>
          <p:nvPr/>
        </p:nvSpPr>
        <p:spPr>
          <a:xfrm>
            <a:off x="640080" y="3051810"/>
            <a:ext cx="50292" cy="976122"/>
          </a:xfrm>
          <a:prstGeom prst="rect">
            <a:avLst/>
          </a:prstGeom>
          <a:solidFill>
            <a:srgbClr val="087F8C"/>
          </a:solidFill>
          <a:ln w="12700">
            <a:solidFill>
              <a:srgbClr val="087F8C">
                <a:alpha val="0"/>
              </a:srgbClr>
            </a:solidFill>
            <a:prstDash val="solid"/>
          </a:ln>
        </p:spPr>
      </p:sp>
      <p:sp>
        <p:nvSpPr>
          <p:cNvPr id="17" name="Text 15"/>
          <p:cNvSpPr/>
          <p:nvPr/>
        </p:nvSpPr>
        <p:spPr>
          <a:xfrm>
            <a:off x="786384" y="3143250"/>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02</a:t>
            </a:r>
            <a:endParaRPr lang="en-US" sz="950" dirty="0"/>
          </a:p>
        </p:txBody>
      </p:sp>
      <p:sp>
        <p:nvSpPr>
          <p:cNvPr id="18" name="Text 16"/>
          <p:cNvSpPr/>
          <p:nvPr/>
        </p:nvSpPr>
        <p:spPr>
          <a:xfrm>
            <a:off x="1197864" y="3134106"/>
            <a:ext cx="5989320" cy="820674"/>
          </a:xfrm>
          <a:prstGeom prst="rect">
            <a:avLst/>
          </a:prstGeom>
          <a:noFill/>
          <a:ln/>
        </p:spPr>
        <p:txBody>
          <a:bodyPr wrap="square" lIns="0" tIns="0" rIns="0" bIns="0" rtlCol="0" anchor="ctr">
            <a:normAutofit/>
          </a:bodyPr>
          <a:lstStyle/>
          <a:p>
            <a:pPr indent="0" marL="0">
              <a:buNone/>
            </a:pPr>
            <a:r>
              <a:rPr lang="en-US" sz="1240" dirty="0">
                <a:solidFill>
                  <a:srgbClr val="334B5C"/>
                </a:solidFill>
                <a:latin typeface="Aptos" pitchFamily="34" charset="0"/>
                <a:ea typeface="Aptos" pitchFamily="34" charset="-122"/>
                <a:cs typeface="Aptos" pitchFamily="34" charset="-120"/>
              </a:rPr>
              <a:t>On a MedPack panel drawing, route low-level sensor wiring separately from motor/contactor conductors where the installation rules require it, and inspect cable type, terminal tightness, grounding/reference, and load suppression against manufacturer instructions.</a:t>
            </a:r>
            <a:endParaRPr lang="en-US" sz="1240" dirty="0"/>
          </a:p>
        </p:txBody>
      </p:sp>
      <p:sp>
        <p:nvSpPr>
          <p:cNvPr id="19" name="Shape 17"/>
          <p:cNvSpPr/>
          <p:nvPr/>
        </p:nvSpPr>
        <p:spPr>
          <a:xfrm>
            <a:off x="640080" y="4110228"/>
            <a:ext cx="6720840" cy="976122"/>
          </a:xfrm>
          <a:prstGeom prst="rect">
            <a:avLst/>
          </a:prstGeom>
          <a:solidFill>
            <a:srgbClr val="FFFFFF"/>
          </a:solidFill>
          <a:ln w="8890">
            <a:solidFill>
              <a:srgbClr val="E7EDF1"/>
            </a:solidFill>
            <a:prstDash val="solid"/>
          </a:ln>
        </p:spPr>
      </p:sp>
      <p:sp>
        <p:nvSpPr>
          <p:cNvPr id="20" name="Shape 18"/>
          <p:cNvSpPr/>
          <p:nvPr/>
        </p:nvSpPr>
        <p:spPr>
          <a:xfrm>
            <a:off x="640080" y="4110228"/>
            <a:ext cx="50292" cy="976122"/>
          </a:xfrm>
          <a:prstGeom prst="rect">
            <a:avLst/>
          </a:prstGeom>
          <a:solidFill>
            <a:srgbClr val="087F8C"/>
          </a:solidFill>
          <a:ln w="12700">
            <a:solidFill>
              <a:srgbClr val="087F8C">
                <a:alpha val="0"/>
              </a:srgbClr>
            </a:solidFill>
            <a:prstDash val="solid"/>
          </a:ln>
        </p:spPr>
      </p:sp>
      <p:sp>
        <p:nvSpPr>
          <p:cNvPr id="21" name="Text 19"/>
          <p:cNvSpPr/>
          <p:nvPr/>
        </p:nvSpPr>
        <p:spPr>
          <a:xfrm>
            <a:off x="786384" y="4201668"/>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03</a:t>
            </a:r>
            <a:endParaRPr lang="en-US" sz="950" dirty="0"/>
          </a:p>
        </p:txBody>
      </p:sp>
      <p:sp>
        <p:nvSpPr>
          <p:cNvPr id="22" name="Text 20"/>
          <p:cNvSpPr/>
          <p:nvPr/>
        </p:nvSpPr>
        <p:spPr>
          <a:xfrm>
            <a:off x="1197864" y="4192524"/>
            <a:ext cx="5989320" cy="820674"/>
          </a:xfrm>
          <a:prstGeom prst="rect">
            <a:avLst/>
          </a:prstGeom>
          <a:noFill/>
          <a:ln/>
        </p:spPr>
        <p:txBody>
          <a:bodyPr wrap="square" lIns="0" tIns="0" rIns="0" bIns="0" rtlCol="0" anchor="ctr">
            <a:normAutofit/>
          </a:bodyPr>
          <a:lstStyle/>
          <a:p>
            <a:pPr indent="0" marL="0">
              <a:buNone/>
            </a:pPr>
            <a:r>
              <a:rPr lang="en-US" sz="1240" dirty="0">
                <a:solidFill>
                  <a:srgbClr val="334B5C"/>
                </a:solidFill>
                <a:latin typeface="Aptos" pitchFamily="34" charset="0"/>
                <a:ea typeface="Aptos" pitchFamily="34" charset="-122"/>
                <a:cs typeface="Aptos" pitchFamily="34" charset="-120"/>
              </a:rPr>
              <a:t>Shield bonding is installation- and equipment-dependent; follow the PLC, sensor, and site EMC documentation rather than applying a universal one-end/both-ends rule.</a:t>
            </a:r>
            <a:endParaRPr lang="en-US" sz="1240" dirty="0"/>
          </a:p>
        </p:txBody>
      </p:sp>
      <p:sp>
        <p:nvSpPr>
          <p:cNvPr id="23" name="Shape 21"/>
          <p:cNvSpPr/>
          <p:nvPr/>
        </p:nvSpPr>
        <p:spPr>
          <a:xfrm>
            <a:off x="640080" y="5168646"/>
            <a:ext cx="6720840" cy="976122"/>
          </a:xfrm>
          <a:prstGeom prst="rect">
            <a:avLst/>
          </a:prstGeom>
          <a:solidFill>
            <a:srgbClr val="FFFFFF"/>
          </a:solidFill>
          <a:ln w="8890">
            <a:solidFill>
              <a:srgbClr val="E7EDF1"/>
            </a:solidFill>
            <a:prstDash val="solid"/>
          </a:ln>
        </p:spPr>
      </p:sp>
      <p:sp>
        <p:nvSpPr>
          <p:cNvPr id="24" name="Shape 22"/>
          <p:cNvSpPr/>
          <p:nvPr/>
        </p:nvSpPr>
        <p:spPr>
          <a:xfrm>
            <a:off x="640080" y="5168646"/>
            <a:ext cx="50292" cy="976122"/>
          </a:xfrm>
          <a:prstGeom prst="rect">
            <a:avLst/>
          </a:prstGeom>
          <a:solidFill>
            <a:srgbClr val="087F8C"/>
          </a:solidFill>
          <a:ln w="12700">
            <a:solidFill>
              <a:srgbClr val="087F8C">
                <a:alpha val="0"/>
              </a:srgbClr>
            </a:solidFill>
            <a:prstDash val="solid"/>
          </a:ln>
        </p:spPr>
      </p:sp>
      <p:sp>
        <p:nvSpPr>
          <p:cNvPr id="25" name="Text 23"/>
          <p:cNvSpPr/>
          <p:nvPr/>
        </p:nvSpPr>
        <p:spPr>
          <a:xfrm>
            <a:off x="786384" y="5260086"/>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04</a:t>
            </a:r>
            <a:endParaRPr lang="en-US" sz="950" dirty="0"/>
          </a:p>
        </p:txBody>
      </p:sp>
      <p:sp>
        <p:nvSpPr>
          <p:cNvPr id="26" name="Text 24"/>
          <p:cNvSpPr/>
          <p:nvPr/>
        </p:nvSpPr>
        <p:spPr>
          <a:xfrm>
            <a:off x="1197864" y="5250942"/>
            <a:ext cx="5989320" cy="820674"/>
          </a:xfrm>
          <a:prstGeom prst="rect">
            <a:avLst/>
          </a:prstGeom>
          <a:noFill/>
          <a:ln/>
        </p:spPr>
        <p:txBody>
          <a:bodyPr wrap="square" lIns="0" tIns="0" rIns="0" bIns="0" rtlCol="0" anchor="ctr">
            <a:normAutofit/>
          </a:bodyPr>
          <a:lstStyle/>
          <a:p>
            <a:pPr indent="0" marL="0">
              <a:buNone/>
            </a:pPr>
            <a:r>
              <a:rPr lang="en-US" sz="1240" dirty="0">
                <a:solidFill>
                  <a:srgbClr val="334B5C"/>
                </a:solidFill>
                <a:latin typeface="Aptos" pitchFamily="34" charset="0"/>
                <a:ea typeface="Aptos" pitchFamily="34" charset="-122"/>
                <a:cs typeface="Aptos" pitchFamily="34" charset="-120"/>
              </a:rPr>
              <a:t>Debrief: a filter may reduce brief disturbances but can also hide valid short pulses; correct routing, compatible interfaces, sound terminations, and a measured diagnosis come first.</a:t>
            </a:r>
            <a:endParaRPr lang="en-US" sz="1240" dirty="0"/>
          </a:p>
        </p:txBody>
      </p:sp>
      <p:sp>
        <p:nvSpPr>
          <p:cNvPr id="27" name="Shape 25"/>
          <p:cNvSpPr/>
          <p:nvPr/>
        </p:nvSpPr>
        <p:spPr>
          <a:xfrm>
            <a:off x="7662672" y="1746504"/>
            <a:ext cx="3922776" cy="4361688"/>
          </a:xfrm>
          <a:prstGeom prst="rect">
            <a:avLst/>
          </a:prstGeom>
          <a:solidFill>
            <a:srgbClr val="FFFFFF"/>
          </a:solidFill>
          <a:ln w="12700">
            <a:solidFill>
              <a:srgbClr val="D5E0E7"/>
            </a:solidFill>
            <a:prstDash val="solid"/>
          </a:ln>
        </p:spPr>
      </p:sp>
      <p:sp>
        <p:nvSpPr>
          <p:cNvPr id="28" name="Text 26"/>
          <p:cNvSpPr/>
          <p:nvPr/>
        </p:nvSpPr>
        <p:spPr>
          <a:xfrm>
            <a:off x="7863840" y="1892808"/>
            <a:ext cx="3520440" cy="219456"/>
          </a:xfrm>
          <a:prstGeom prst="rect">
            <a:avLst/>
          </a:prstGeom>
          <a:noFill/>
          <a:ln/>
        </p:spPr>
        <p:txBody>
          <a:bodyPr wrap="square" lIns="0" tIns="0" rIns="0" bIns="0" rtlCol="0" anchor="ctr"/>
          <a:lstStyle/>
          <a:p>
            <a:pPr indent="0" marL="0">
              <a:buNone/>
            </a:pPr>
            <a:r>
              <a:rPr lang="en-US" sz="900" b="1" spc="80" kern="0" dirty="0">
                <a:solidFill>
                  <a:srgbClr val="087F8C"/>
                </a:solidFill>
                <a:latin typeface="Aptos" pitchFamily="34" charset="0"/>
                <a:ea typeface="Aptos" pitchFamily="34" charset="-122"/>
                <a:cs typeface="Aptos" pitchFamily="34" charset="-120"/>
              </a:rPr>
              <a:t>SUGGESTED VISUAL</a:t>
            </a:r>
            <a:endParaRPr lang="en-US" sz="900" dirty="0"/>
          </a:p>
        </p:txBody>
      </p:sp>
      <p:sp>
        <p:nvSpPr>
          <p:cNvPr id="29" name="Shape 27"/>
          <p:cNvSpPr/>
          <p:nvPr/>
        </p:nvSpPr>
        <p:spPr>
          <a:xfrm>
            <a:off x="7863840" y="2221992"/>
            <a:ext cx="3520440" cy="0"/>
          </a:xfrm>
          <a:prstGeom prst="line">
            <a:avLst/>
          </a:prstGeom>
          <a:noFill/>
          <a:ln w="8890">
            <a:solidFill>
              <a:srgbClr val="D5E0E7"/>
            </a:solidFill>
            <a:prstDash val="solid"/>
          </a:ln>
        </p:spPr>
      </p:sp>
      <p:sp>
        <p:nvSpPr>
          <p:cNvPr id="30" name="Shape 28"/>
          <p:cNvSpPr/>
          <p:nvPr/>
        </p:nvSpPr>
        <p:spPr>
          <a:xfrm>
            <a:off x="7882128" y="2432304"/>
            <a:ext cx="3483864" cy="3447288"/>
          </a:xfrm>
          <a:prstGeom prst="rect">
            <a:avLst/>
          </a:prstGeom>
          <a:solidFill>
            <a:srgbClr val="E8EFF3"/>
          </a:solidFill>
          <a:ln w="13970">
            <a:solidFill>
              <a:srgbClr val="AFC1CD"/>
            </a:solidFill>
            <a:prstDash val="solid"/>
          </a:ln>
        </p:spPr>
      </p:sp>
      <p:sp>
        <p:nvSpPr>
          <p:cNvPr id="31" name="Text 29"/>
          <p:cNvSpPr/>
          <p:nvPr/>
        </p:nvSpPr>
        <p:spPr>
          <a:xfrm>
            <a:off x="8138160" y="3666744"/>
            <a:ext cx="2971800" cy="384048"/>
          </a:xfrm>
          <a:prstGeom prst="rect">
            <a:avLst/>
          </a:prstGeom>
          <a:noFill/>
          <a:ln/>
        </p:spPr>
        <p:txBody>
          <a:bodyPr wrap="square" lIns="0" tIns="0" rIns="0" bIns="0" rtlCol="0" anchor="ctr">
            <a:normAutofit/>
          </a:bodyPr>
          <a:lstStyle/>
          <a:p>
            <a:pPr algn="ctr" indent="0" marL="0">
              <a:buNone/>
            </a:pPr>
            <a:r>
              <a:rPr lang="en-US" sz="1800" b="1" dirty="0">
                <a:solidFill>
                  <a:srgbClr val="087F8C"/>
                </a:solidFill>
                <a:latin typeface="Aptos Display" pitchFamily="34" charset="0"/>
                <a:ea typeface="Aptos Display" pitchFamily="34" charset="-122"/>
                <a:cs typeface="Aptos Display" pitchFamily="34" charset="-120"/>
              </a:rPr>
              <a:t>IMAGE SPACE</a:t>
            </a:r>
            <a:endParaRPr lang="en-US" sz="1800" dirty="0"/>
          </a:p>
        </p:txBody>
      </p:sp>
      <p:sp>
        <p:nvSpPr>
          <p:cNvPr id="32" name="Text 30"/>
          <p:cNvSpPr/>
          <p:nvPr/>
        </p:nvSpPr>
        <p:spPr>
          <a:xfrm>
            <a:off x="8229600" y="4123944"/>
            <a:ext cx="2788920" cy="502920"/>
          </a:xfrm>
          <a:prstGeom prst="rect">
            <a:avLst/>
          </a:prstGeom>
          <a:noFill/>
          <a:ln/>
        </p:spPr>
        <p:txBody>
          <a:bodyPr wrap="square" lIns="0" tIns="0" rIns="0" bIns="0" rtlCol="0" anchor="ctr">
            <a:normAutofit/>
          </a:bodyPr>
          <a:lstStyle/>
          <a:p>
            <a:pPr algn="ctr" indent="0" marL="0">
              <a:buNone/>
            </a:pPr>
            <a:r>
              <a:rPr lang="en-US" sz="1050" dirty="0">
                <a:solidFill>
                  <a:srgbClr val="607585"/>
                </a:solidFill>
                <a:latin typeface="Aptos" pitchFamily="34" charset="0"/>
                <a:ea typeface="Aptos" pitchFamily="34" charset="-122"/>
                <a:cs typeface="Aptos" pitchFamily="34" charset="-120"/>
              </a:rPr>
              <a:t>Insert the visual described in the speaker notes</a:t>
            </a:r>
            <a:endParaRPr lang="en-US" sz="1050" dirty="0"/>
          </a:p>
        </p:txBody>
      </p:sp>
      <p:sp>
        <p:nvSpPr>
          <p:cNvPr id="33" name="Shape 31"/>
          <p:cNvSpPr/>
          <p:nvPr/>
        </p:nvSpPr>
        <p:spPr>
          <a:xfrm>
            <a:off x="603504" y="6318504"/>
            <a:ext cx="10972800" cy="0"/>
          </a:xfrm>
          <a:prstGeom prst="line">
            <a:avLst/>
          </a:prstGeom>
          <a:noFill/>
          <a:ln w="10160">
            <a:solidFill>
              <a:srgbClr val="D5E0E7"/>
            </a:solidFill>
            <a:prstDash val="solid"/>
          </a:ln>
        </p:spPr>
      </p:sp>
      <p:sp>
        <p:nvSpPr>
          <p:cNvPr id="34" name="Text 32"/>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SIGNAL PROCESSING AND SIGNAL INTEGRITY</a:t>
            </a:r>
            <a:endParaRPr lang="en-US" sz="800" dirty="0"/>
          </a:p>
        </p:txBody>
      </p:sp>
      <p:sp>
        <p:nvSpPr>
          <p:cNvPr id="35" name="Text 33"/>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09 / 18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087F8C"/>
          </a:solidFill>
          <a:ln w="12700">
            <a:solidFill>
              <a:srgbClr val="087F8C">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087F8C"/>
                </a:solidFill>
                <a:latin typeface="Aptos" pitchFamily="34" charset="0"/>
                <a:ea typeface="Aptos" pitchFamily="34" charset="-122"/>
                <a:cs typeface="Aptos" pitchFamily="34" charset="-120"/>
              </a:rPr>
              <a:t>UNIT 5009    /    WEEK 05    /    LO2</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10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087F8C"/>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087F8C"/>
                </a:solidFill>
                <a:latin typeface="Aptos" pitchFamily="34" charset="0"/>
                <a:ea typeface="Aptos" pitchFamily="34" charset="-122"/>
                <a:cs typeface="Aptos" pitchFamily="34" charset="-120"/>
              </a:rPr>
              <a:t>LO2 FOUNDATIONS</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3100" b="1" dirty="0">
                <a:solidFill>
                  <a:srgbClr val="1B3448"/>
                </a:solidFill>
                <a:latin typeface="Aptos Display" pitchFamily="34" charset="0"/>
                <a:ea typeface="Aptos Display" pitchFamily="34" charset="-122"/>
                <a:cs typeface="Aptos Display" pitchFamily="34" charset="-120"/>
              </a:rPr>
              <a:t>First-line troubleshooting flow</a:t>
            </a:r>
            <a:endParaRPr lang="en-US" sz="31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67512" y="1709928"/>
            <a:ext cx="2743200" cy="210312"/>
          </a:xfrm>
          <a:prstGeom prst="rect">
            <a:avLst/>
          </a:prstGeom>
          <a:noFill/>
          <a:ln/>
        </p:spPr>
        <p:txBody>
          <a:bodyPr wrap="square" lIns="0" tIns="0" rIns="0" bIns="0" rtlCol="0" anchor="ctr"/>
          <a:lstStyle/>
          <a:p>
            <a:pPr indent="0" marL="0">
              <a:buNone/>
            </a:pPr>
            <a:r>
              <a:rPr lang="en-US" sz="900" b="1" spc="100" kern="0" dirty="0">
                <a:solidFill>
                  <a:srgbClr val="087F8C"/>
                </a:solidFill>
                <a:latin typeface="Aptos" pitchFamily="34" charset="0"/>
                <a:ea typeface="Aptos" pitchFamily="34" charset="-122"/>
                <a:cs typeface="Aptos" pitchFamily="34" charset="-120"/>
              </a:rPr>
              <a:t>TEACHING POINTS</a:t>
            </a:r>
            <a:endParaRPr lang="en-US" sz="900" dirty="0"/>
          </a:p>
        </p:txBody>
      </p:sp>
      <p:sp>
        <p:nvSpPr>
          <p:cNvPr id="11" name="Shape 9"/>
          <p:cNvSpPr/>
          <p:nvPr/>
        </p:nvSpPr>
        <p:spPr>
          <a:xfrm>
            <a:off x="640080" y="1993392"/>
            <a:ext cx="6720840" cy="976122"/>
          </a:xfrm>
          <a:prstGeom prst="rect">
            <a:avLst/>
          </a:prstGeom>
          <a:solidFill>
            <a:srgbClr val="FFFFFF"/>
          </a:solidFill>
          <a:ln w="8890">
            <a:solidFill>
              <a:srgbClr val="D5E0E7"/>
            </a:solidFill>
            <a:prstDash val="solid"/>
          </a:ln>
        </p:spPr>
      </p:sp>
      <p:sp>
        <p:nvSpPr>
          <p:cNvPr id="12" name="Shape 10"/>
          <p:cNvSpPr/>
          <p:nvPr/>
        </p:nvSpPr>
        <p:spPr>
          <a:xfrm>
            <a:off x="640080" y="1993392"/>
            <a:ext cx="50292" cy="976122"/>
          </a:xfrm>
          <a:prstGeom prst="rect">
            <a:avLst/>
          </a:prstGeom>
          <a:solidFill>
            <a:srgbClr val="087F8C"/>
          </a:solidFill>
          <a:ln w="12700">
            <a:solidFill>
              <a:srgbClr val="087F8C">
                <a:alpha val="0"/>
              </a:srgbClr>
            </a:solidFill>
            <a:prstDash val="solid"/>
          </a:ln>
        </p:spPr>
      </p:sp>
      <p:sp>
        <p:nvSpPr>
          <p:cNvPr id="13" name="Text 11"/>
          <p:cNvSpPr/>
          <p:nvPr/>
        </p:nvSpPr>
        <p:spPr>
          <a:xfrm>
            <a:off x="786384" y="2084832"/>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01</a:t>
            </a:r>
            <a:endParaRPr lang="en-US" sz="950" dirty="0"/>
          </a:p>
        </p:txBody>
      </p:sp>
      <p:sp>
        <p:nvSpPr>
          <p:cNvPr id="14" name="Text 12"/>
          <p:cNvSpPr/>
          <p:nvPr/>
        </p:nvSpPr>
        <p:spPr>
          <a:xfrm>
            <a:off x="1197864" y="2075688"/>
            <a:ext cx="5989320" cy="820674"/>
          </a:xfrm>
          <a:prstGeom prst="rect">
            <a:avLst/>
          </a:prstGeom>
          <a:noFill/>
          <a:ln/>
        </p:spPr>
        <p:txBody>
          <a:bodyPr wrap="square" lIns="0" tIns="0" rIns="0" bIns="0" rtlCol="0" anchor="ctr">
            <a:normAutofit/>
          </a:bodyPr>
          <a:lstStyle/>
          <a:p>
            <a:pPr indent="0" marL="0">
              <a:buNone/>
            </a:pPr>
            <a:r>
              <a:rPr lang="en-US" sz="1310" dirty="0">
                <a:solidFill>
                  <a:srgbClr val="334B5C"/>
                </a:solidFill>
                <a:latin typeface="Aptos" pitchFamily="34" charset="0"/>
                <a:ea typeface="Aptos" pitchFamily="34" charset="-122"/>
                <a:cs typeface="Aptos" pitchFamily="34" charset="-120"/>
              </a:rPr>
              <a:t>Procedure: confirm the safe test state and expected I/O map, then check supply and wiring, field-device indicator, terminal signal, input-channel indication, program tag, logic/filter, output-channel indication, and load in that order.</a:t>
            </a:r>
            <a:endParaRPr lang="en-US" sz="1310" dirty="0"/>
          </a:p>
        </p:txBody>
      </p:sp>
      <p:sp>
        <p:nvSpPr>
          <p:cNvPr id="15" name="Shape 13"/>
          <p:cNvSpPr/>
          <p:nvPr/>
        </p:nvSpPr>
        <p:spPr>
          <a:xfrm>
            <a:off x="640080" y="3051810"/>
            <a:ext cx="6720840" cy="976122"/>
          </a:xfrm>
          <a:prstGeom prst="rect">
            <a:avLst/>
          </a:prstGeom>
          <a:solidFill>
            <a:srgbClr val="FFFFFF"/>
          </a:solidFill>
          <a:ln w="8890">
            <a:solidFill>
              <a:srgbClr val="E7EDF1"/>
            </a:solidFill>
            <a:prstDash val="solid"/>
          </a:ln>
        </p:spPr>
      </p:sp>
      <p:sp>
        <p:nvSpPr>
          <p:cNvPr id="16" name="Shape 14"/>
          <p:cNvSpPr/>
          <p:nvPr/>
        </p:nvSpPr>
        <p:spPr>
          <a:xfrm>
            <a:off x="640080" y="3051810"/>
            <a:ext cx="50292" cy="976122"/>
          </a:xfrm>
          <a:prstGeom prst="rect">
            <a:avLst/>
          </a:prstGeom>
          <a:solidFill>
            <a:srgbClr val="087F8C"/>
          </a:solidFill>
          <a:ln w="12700">
            <a:solidFill>
              <a:srgbClr val="087F8C">
                <a:alpha val="0"/>
              </a:srgbClr>
            </a:solidFill>
            <a:prstDash val="solid"/>
          </a:ln>
        </p:spPr>
      </p:sp>
      <p:sp>
        <p:nvSpPr>
          <p:cNvPr id="17" name="Text 15"/>
          <p:cNvSpPr/>
          <p:nvPr/>
        </p:nvSpPr>
        <p:spPr>
          <a:xfrm>
            <a:off x="786384" y="3143250"/>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02</a:t>
            </a:r>
            <a:endParaRPr lang="en-US" sz="950" dirty="0"/>
          </a:p>
        </p:txBody>
      </p:sp>
      <p:sp>
        <p:nvSpPr>
          <p:cNvPr id="18" name="Text 16"/>
          <p:cNvSpPr/>
          <p:nvPr/>
        </p:nvSpPr>
        <p:spPr>
          <a:xfrm>
            <a:off x="1197864" y="3134106"/>
            <a:ext cx="5989320" cy="820674"/>
          </a:xfrm>
          <a:prstGeom prst="rect">
            <a:avLst/>
          </a:prstGeom>
          <a:noFill/>
          <a:ln/>
        </p:spPr>
        <p:txBody>
          <a:bodyPr wrap="square" lIns="0" tIns="0" rIns="0" bIns="0" rtlCol="0" anchor="ctr">
            <a:normAutofit/>
          </a:bodyPr>
          <a:lstStyle/>
          <a:p>
            <a:pPr indent="0" marL="0">
              <a:buNone/>
            </a:pPr>
            <a:r>
              <a:rPr lang="en-US" sz="1310" dirty="0">
                <a:solidFill>
                  <a:srgbClr val="334B5C"/>
                </a:solidFill>
                <a:latin typeface="Aptos" pitchFamily="34" charset="0"/>
                <a:ea typeface="Aptos" pitchFamily="34" charset="-122"/>
                <a:cs typeface="Aptos" pitchFamily="34" charset="-120"/>
              </a:rPr>
              <a:t>At each boundary record the expected state/value beside the observed one; the first mismatch narrows the fault to the interval since the previous confirmed-good point.</a:t>
            </a:r>
            <a:endParaRPr lang="en-US" sz="1310" dirty="0"/>
          </a:p>
        </p:txBody>
      </p:sp>
      <p:sp>
        <p:nvSpPr>
          <p:cNvPr id="19" name="Shape 17"/>
          <p:cNvSpPr/>
          <p:nvPr/>
        </p:nvSpPr>
        <p:spPr>
          <a:xfrm>
            <a:off x="640080" y="4110228"/>
            <a:ext cx="6720840" cy="976122"/>
          </a:xfrm>
          <a:prstGeom prst="rect">
            <a:avLst/>
          </a:prstGeom>
          <a:solidFill>
            <a:srgbClr val="FFFFFF"/>
          </a:solidFill>
          <a:ln w="8890">
            <a:solidFill>
              <a:srgbClr val="E7EDF1"/>
            </a:solidFill>
            <a:prstDash val="solid"/>
          </a:ln>
        </p:spPr>
      </p:sp>
      <p:sp>
        <p:nvSpPr>
          <p:cNvPr id="20" name="Shape 18"/>
          <p:cNvSpPr/>
          <p:nvPr/>
        </p:nvSpPr>
        <p:spPr>
          <a:xfrm>
            <a:off x="640080" y="4110228"/>
            <a:ext cx="50292" cy="976122"/>
          </a:xfrm>
          <a:prstGeom prst="rect">
            <a:avLst/>
          </a:prstGeom>
          <a:solidFill>
            <a:srgbClr val="087F8C"/>
          </a:solidFill>
          <a:ln w="12700">
            <a:solidFill>
              <a:srgbClr val="087F8C">
                <a:alpha val="0"/>
              </a:srgbClr>
            </a:solidFill>
            <a:prstDash val="solid"/>
          </a:ln>
        </p:spPr>
      </p:sp>
      <p:sp>
        <p:nvSpPr>
          <p:cNvPr id="21" name="Text 19"/>
          <p:cNvSpPr/>
          <p:nvPr/>
        </p:nvSpPr>
        <p:spPr>
          <a:xfrm>
            <a:off x="786384" y="4201668"/>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03</a:t>
            </a:r>
            <a:endParaRPr lang="en-US" sz="950" dirty="0"/>
          </a:p>
        </p:txBody>
      </p:sp>
      <p:sp>
        <p:nvSpPr>
          <p:cNvPr id="22" name="Text 20"/>
          <p:cNvSpPr/>
          <p:nvPr/>
        </p:nvSpPr>
        <p:spPr>
          <a:xfrm>
            <a:off x="1197864" y="4192524"/>
            <a:ext cx="5989320" cy="820674"/>
          </a:xfrm>
          <a:prstGeom prst="rect">
            <a:avLst/>
          </a:prstGeom>
          <a:noFill/>
          <a:ln/>
        </p:spPr>
        <p:txBody>
          <a:bodyPr wrap="square" lIns="0" tIns="0" rIns="0" bIns="0" rtlCol="0" anchor="ctr">
            <a:normAutofit/>
          </a:bodyPr>
          <a:lstStyle/>
          <a:p>
            <a:pPr indent="0" marL="0">
              <a:buNone/>
            </a:pPr>
            <a:r>
              <a:rPr lang="en-US" sz="1310" dirty="0">
                <a:solidFill>
                  <a:srgbClr val="334B5C"/>
                </a:solidFill>
                <a:latin typeface="Aptos" pitchFamily="34" charset="0"/>
                <a:ea typeface="Aptos" pitchFamily="34" charset="-122"/>
                <a:cs typeface="Aptos" pitchFamily="34" charset="-120"/>
              </a:rPr>
              <a:t>Example debrief: sensor LED changes but the PLC input LED does not, so investigate the cable, common/reference, terminal, channel configuration, and input circuit before editing count logic.</a:t>
            </a:r>
            <a:endParaRPr lang="en-US" sz="1310" dirty="0"/>
          </a:p>
        </p:txBody>
      </p:sp>
      <p:sp>
        <p:nvSpPr>
          <p:cNvPr id="23" name="Shape 21"/>
          <p:cNvSpPr/>
          <p:nvPr/>
        </p:nvSpPr>
        <p:spPr>
          <a:xfrm>
            <a:off x="640080" y="5168646"/>
            <a:ext cx="6720840" cy="976122"/>
          </a:xfrm>
          <a:prstGeom prst="rect">
            <a:avLst/>
          </a:prstGeom>
          <a:solidFill>
            <a:srgbClr val="FFFFFF"/>
          </a:solidFill>
          <a:ln w="8890">
            <a:solidFill>
              <a:srgbClr val="E7EDF1"/>
            </a:solidFill>
            <a:prstDash val="solid"/>
          </a:ln>
        </p:spPr>
      </p:sp>
      <p:sp>
        <p:nvSpPr>
          <p:cNvPr id="24" name="Shape 22"/>
          <p:cNvSpPr/>
          <p:nvPr/>
        </p:nvSpPr>
        <p:spPr>
          <a:xfrm>
            <a:off x="640080" y="5168646"/>
            <a:ext cx="50292" cy="976122"/>
          </a:xfrm>
          <a:prstGeom prst="rect">
            <a:avLst/>
          </a:prstGeom>
          <a:solidFill>
            <a:srgbClr val="087F8C"/>
          </a:solidFill>
          <a:ln w="12700">
            <a:solidFill>
              <a:srgbClr val="087F8C">
                <a:alpha val="0"/>
              </a:srgbClr>
            </a:solidFill>
            <a:prstDash val="solid"/>
          </a:ln>
        </p:spPr>
      </p:sp>
      <p:sp>
        <p:nvSpPr>
          <p:cNvPr id="25" name="Text 23"/>
          <p:cNvSpPr/>
          <p:nvPr/>
        </p:nvSpPr>
        <p:spPr>
          <a:xfrm>
            <a:off x="786384" y="5260086"/>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04</a:t>
            </a:r>
            <a:endParaRPr lang="en-US" sz="950" dirty="0"/>
          </a:p>
        </p:txBody>
      </p:sp>
      <p:sp>
        <p:nvSpPr>
          <p:cNvPr id="26" name="Text 24"/>
          <p:cNvSpPr/>
          <p:nvPr/>
        </p:nvSpPr>
        <p:spPr>
          <a:xfrm>
            <a:off x="1197864" y="5250942"/>
            <a:ext cx="5989320" cy="820674"/>
          </a:xfrm>
          <a:prstGeom prst="rect">
            <a:avLst/>
          </a:prstGeom>
          <a:noFill/>
          <a:ln/>
        </p:spPr>
        <p:txBody>
          <a:bodyPr wrap="square" lIns="0" tIns="0" rIns="0" bIns="0" rtlCol="0" anchor="ctr">
            <a:normAutofit/>
          </a:bodyPr>
          <a:lstStyle/>
          <a:p>
            <a:pPr indent="0" marL="0">
              <a:buNone/>
            </a:pPr>
            <a:r>
              <a:rPr lang="en-US" sz="1310" dirty="0">
                <a:solidFill>
                  <a:srgbClr val="334B5C"/>
                </a:solidFill>
                <a:latin typeface="Aptos" pitchFamily="34" charset="0"/>
                <a:ea typeface="Aptos" pitchFamily="34" charset="-122"/>
                <a:cs typeface="Aptos" pitchFamily="34" charset="-120"/>
              </a:rPr>
              <a:t>Never force an output or bypass a safety device on live equipment; use an authorised, risk-assessed test procedure and suitable isolation.</a:t>
            </a:r>
            <a:endParaRPr lang="en-US" sz="1310" dirty="0"/>
          </a:p>
        </p:txBody>
      </p:sp>
      <p:sp>
        <p:nvSpPr>
          <p:cNvPr id="27" name="Shape 25"/>
          <p:cNvSpPr/>
          <p:nvPr/>
        </p:nvSpPr>
        <p:spPr>
          <a:xfrm>
            <a:off x="7662672" y="1746504"/>
            <a:ext cx="3922776" cy="4361688"/>
          </a:xfrm>
          <a:prstGeom prst="rect">
            <a:avLst/>
          </a:prstGeom>
          <a:solidFill>
            <a:srgbClr val="FFFFFF"/>
          </a:solidFill>
          <a:ln w="12700">
            <a:solidFill>
              <a:srgbClr val="D5E0E7"/>
            </a:solidFill>
            <a:prstDash val="solid"/>
          </a:ln>
        </p:spPr>
      </p:sp>
      <p:sp>
        <p:nvSpPr>
          <p:cNvPr id="28" name="Text 26"/>
          <p:cNvSpPr/>
          <p:nvPr/>
        </p:nvSpPr>
        <p:spPr>
          <a:xfrm>
            <a:off x="7863840" y="1892808"/>
            <a:ext cx="3520440" cy="219456"/>
          </a:xfrm>
          <a:prstGeom prst="rect">
            <a:avLst/>
          </a:prstGeom>
          <a:noFill/>
          <a:ln/>
        </p:spPr>
        <p:txBody>
          <a:bodyPr wrap="square" lIns="0" tIns="0" rIns="0" bIns="0" rtlCol="0" anchor="ctr"/>
          <a:lstStyle/>
          <a:p>
            <a:pPr indent="0" marL="0">
              <a:buNone/>
            </a:pPr>
            <a:r>
              <a:rPr lang="en-US" sz="900" b="1" spc="80" kern="0" dirty="0">
                <a:solidFill>
                  <a:srgbClr val="087F8C"/>
                </a:solidFill>
                <a:latin typeface="Aptos" pitchFamily="34" charset="0"/>
                <a:ea typeface="Aptos" pitchFamily="34" charset="-122"/>
                <a:cs typeface="Aptos" pitchFamily="34" charset="-120"/>
              </a:rPr>
              <a:t>APPLICATION WORKFLOW</a:t>
            </a:r>
            <a:endParaRPr lang="en-US" sz="900" dirty="0"/>
          </a:p>
        </p:txBody>
      </p:sp>
      <p:sp>
        <p:nvSpPr>
          <p:cNvPr id="29" name="Shape 27"/>
          <p:cNvSpPr/>
          <p:nvPr/>
        </p:nvSpPr>
        <p:spPr>
          <a:xfrm>
            <a:off x="7863840" y="2221992"/>
            <a:ext cx="3520440" cy="0"/>
          </a:xfrm>
          <a:prstGeom prst="line">
            <a:avLst/>
          </a:prstGeom>
          <a:noFill/>
          <a:ln w="8890">
            <a:solidFill>
              <a:srgbClr val="D5E0E7"/>
            </a:solidFill>
            <a:prstDash val="solid"/>
          </a:ln>
        </p:spPr>
      </p:sp>
      <p:sp>
        <p:nvSpPr>
          <p:cNvPr id="30" name="Shape 28"/>
          <p:cNvSpPr/>
          <p:nvPr/>
        </p:nvSpPr>
        <p:spPr>
          <a:xfrm>
            <a:off x="7955280" y="3593592"/>
            <a:ext cx="713232" cy="658368"/>
          </a:xfrm>
          <a:prstGeom prst="rect">
            <a:avLst/>
          </a:prstGeom>
          <a:solidFill>
            <a:srgbClr val="F4F8FA"/>
          </a:solidFill>
          <a:ln w="14605">
            <a:solidFill>
              <a:srgbClr val="087F8C"/>
            </a:solidFill>
            <a:prstDash val="solid"/>
          </a:ln>
        </p:spPr>
      </p:sp>
      <p:sp>
        <p:nvSpPr>
          <p:cNvPr id="31" name="Text 29"/>
          <p:cNvSpPr/>
          <p:nvPr/>
        </p:nvSpPr>
        <p:spPr>
          <a:xfrm>
            <a:off x="8028432" y="3648456"/>
            <a:ext cx="566928" cy="548640"/>
          </a:xfrm>
          <a:prstGeom prst="rect">
            <a:avLst/>
          </a:prstGeom>
          <a:noFill/>
          <a:ln/>
        </p:spPr>
        <p:txBody>
          <a:bodyPr wrap="square" lIns="0" tIns="0" rIns="0" bIns="0" rtlCol="0" anchor="ctr">
            <a:normAutofit/>
          </a:bodyPr>
          <a:lstStyle/>
          <a:p>
            <a:pPr algn="ctr" indent="0" marL="0">
              <a:buNone/>
            </a:pPr>
            <a:r>
              <a:rPr lang="en-US" sz="950" b="1" dirty="0">
                <a:solidFill>
                  <a:srgbClr val="1B3448"/>
                </a:solidFill>
                <a:latin typeface="Aptos" pitchFamily="34" charset="0"/>
                <a:ea typeface="Aptos" pitchFamily="34" charset="-122"/>
                <a:cs typeface="Aptos" pitchFamily="34" charset="-120"/>
              </a:rPr>
              <a:t>Sensor</a:t>
            </a:r>
            <a:endParaRPr lang="en-US" sz="950" dirty="0"/>
          </a:p>
        </p:txBody>
      </p:sp>
      <p:sp>
        <p:nvSpPr>
          <p:cNvPr id="32" name="Shape 30"/>
          <p:cNvSpPr/>
          <p:nvPr/>
        </p:nvSpPr>
        <p:spPr>
          <a:xfrm>
            <a:off x="8686800" y="3922776"/>
            <a:ext cx="182880" cy="0"/>
          </a:xfrm>
          <a:prstGeom prst="line">
            <a:avLst/>
          </a:prstGeom>
          <a:noFill/>
          <a:ln w="19050">
            <a:solidFill>
              <a:srgbClr val="087F8C"/>
            </a:solidFill>
            <a:prstDash val="solid"/>
            <a:tailEnd type="triangle"/>
          </a:ln>
        </p:spPr>
      </p:sp>
      <p:sp>
        <p:nvSpPr>
          <p:cNvPr id="33" name="Shape 31"/>
          <p:cNvSpPr/>
          <p:nvPr/>
        </p:nvSpPr>
        <p:spPr>
          <a:xfrm>
            <a:off x="8897112" y="3593592"/>
            <a:ext cx="713232" cy="658368"/>
          </a:xfrm>
          <a:prstGeom prst="rect">
            <a:avLst/>
          </a:prstGeom>
          <a:solidFill>
            <a:srgbClr val="F4F8FA"/>
          </a:solidFill>
          <a:ln w="14605">
            <a:solidFill>
              <a:srgbClr val="087F8C"/>
            </a:solidFill>
            <a:prstDash val="solid"/>
          </a:ln>
        </p:spPr>
      </p:sp>
      <p:sp>
        <p:nvSpPr>
          <p:cNvPr id="34" name="Text 32"/>
          <p:cNvSpPr/>
          <p:nvPr/>
        </p:nvSpPr>
        <p:spPr>
          <a:xfrm>
            <a:off x="8970264" y="3648456"/>
            <a:ext cx="566928" cy="548640"/>
          </a:xfrm>
          <a:prstGeom prst="rect">
            <a:avLst/>
          </a:prstGeom>
          <a:noFill/>
          <a:ln/>
        </p:spPr>
        <p:txBody>
          <a:bodyPr wrap="square" lIns="0" tIns="0" rIns="0" bIns="0" rtlCol="0" anchor="ctr">
            <a:normAutofit/>
          </a:bodyPr>
          <a:lstStyle/>
          <a:p>
            <a:pPr algn="ctr" indent="0" marL="0">
              <a:buNone/>
            </a:pPr>
            <a:r>
              <a:rPr lang="en-US" sz="950" b="1" dirty="0">
                <a:solidFill>
                  <a:srgbClr val="1B3448"/>
                </a:solidFill>
                <a:latin typeface="Aptos" pitchFamily="34" charset="0"/>
                <a:ea typeface="Aptos" pitchFamily="34" charset="-122"/>
                <a:cs typeface="Aptos" pitchFamily="34" charset="-120"/>
              </a:rPr>
              <a:t>Input filter</a:t>
            </a:r>
            <a:endParaRPr lang="en-US" sz="950" dirty="0"/>
          </a:p>
        </p:txBody>
      </p:sp>
      <p:sp>
        <p:nvSpPr>
          <p:cNvPr id="35" name="Shape 33"/>
          <p:cNvSpPr/>
          <p:nvPr/>
        </p:nvSpPr>
        <p:spPr>
          <a:xfrm>
            <a:off x="9628632" y="3922776"/>
            <a:ext cx="182880" cy="0"/>
          </a:xfrm>
          <a:prstGeom prst="line">
            <a:avLst/>
          </a:prstGeom>
          <a:noFill/>
          <a:ln w="19050">
            <a:solidFill>
              <a:srgbClr val="087F8C"/>
            </a:solidFill>
            <a:prstDash val="solid"/>
            <a:tailEnd type="triangle"/>
          </a:ln>
        </p:spPr>
      </p:sp>
      <p:sp>
        <p:nvSpPr>
          <p:cNvPr id="36" name="Shape 34"/>
          <p:cNvSpPr/>
          <p:nvPr/>
        </p:nvSpPr>
        <p:spPr>
          <a:xfrm>
            <a:off x="9838944" y="3593592"/>
            <a:ext cx="713232" cy="658368"/>
          </a:xfrm>
          <a:prstGeom prst="rect">
            <a:avLst/>
          </a:prstGeom>
          <a:solidFill>
            <a:srgbClr val="F4F8FA"/>
          </a:solidFill>
          <a:ln w="14605">
            <a:solidFill>
              <a:srgbClr val="087F8C"/>
            </a:solidFill>
            <a:prstDash val="solid"/>
          </a:ln>
        </p:spPr>
      </p:sp>
      <p:sp>
        <p:nvSpPr>
          <p:cNvPr id="37" name="Text 35"/>
          <p:cNvSpPr/>
          <p:nvPr/>
        </p:nvSpPr>
        <p:spPr>
          <a:xfrm>
            <a:off x="9912096" y="3648456"/>
            <a:ext cx="566928" cy="548640"/>
          </a:xfrm>
          <a:prstGeom prst="rect">
            <a:avLst/>
          </a:prstGeom>
          <a:noFill/>
          <a:ln/>
        </p:spPr>
        <p:txBody>
          <a:bodyPr wrap="square" lIns="0" tIns="0" rIns="0" bIns="0" rtlCol="0" anchor="ctr">
            <a:normAutofit/>
          </a:bodyPr>
          <a:lstStyle/>
          <a:p>
            <a:pPr algn="ctr" indent="0" marL="0">
              <a:buNone/>
            </a:pPr>
            <a:r>
              <a:rPr lang="en-US" sz="950" b="1" dirty="0">
                <a:solidFill>
                  <a:srgbClr val="1B3448"/>
                </a:solidFill>
                <a:latin typeface="Aptos" pitchFamily="34" charset="0"/>
                <a:ea typeface="Aptos" pitchFamily="34" charset="-122"/>
                <a:cs typeface="Aptos" pitchFamily="34" charset="-120"/>
              </a:rPr>
              <a:t>PLC logic</a:t>
            </a:r>
            <a:endParaRPr lang="en-US" sz="950" dirty="0"/>
          </a:p>
        </p:txBody>
      </p:sp>
      <p:sp>
        <p:nvSpPr>
          <p:cNvPr id="38" name="Shape 36"/>
          <p:cNvSpPr/>
          <p:nvPr/>
        </p:nvSpPr>
        <p:spPr>
          <a:xfrm>
            <a:off x="10570464" y="3922776"/>
            <a:ext cx="182880" cy="0"/>
          </a:xfrm>
          <a:prstGeom prst="line">
            <a:avLst/>
          </a:prstGeom>
          <a:noFill/>
          <a:ln w="19050">
            <a:solidFill>
              <a:srgbClr val="087F8C"/>
            </a:solidFill>
            <a:prstDash val="solid"/>
            <a:tailEnd type="triangle"/>
          </a:ln>
        </p:spPr>
      </p:sp>
      <p:sp>
        <p:nvSpPr>
          <p:cNvPr id="39" name="Shape 37"/>
          <p:cNvSpPr/>
          <p:nvPr/>
        </p:nvSpPr>
        <p:spPr>
          <a:xfrm>
            <a:off x="10780776" y="3593592"/>
            <a:ext cx="713232" cy="658368"/>
          </a:xfrm>
          <a:prstGeom prst="rect">
            <a:avLst/>
          </a:prstGeom>
          <a:solidFill>
            <a:srgbClr val="F4F8FA"/>
          </a:solidFill>
          <a:ln w="14605">
            <a:solidFill>
              <a:srgbClr val="087F8C"/>
            </a:solidFill>
            <a:prstDash val="solid"/>
          </a:ln>
        </p:spPr>
      </p:sp>
      <p:sp>
        <p:nvSpPr>
          <p:cNvPr id="40" name="Text 38"/>
          <p:cNvSpPr/>
          <p:nvPr/>
        </p:nvSpPr>
        <p:spPr>
          <a:xfrm>
            <a:off x="10853928" y="3648456"/>
            <a:ext cx="566928" cy="548640"/>
          </a:xfrm>
          <a:prstGeom prst="rect">
            <a:avLst/>
          </a:prstGeom>
          <a:noFill/>
          <a:ln/>
        </p:spPr>
        <p:txBody>
          <a:bodyPr wrap="square" lIns="0" tIns="0" rIns="0" bIns="0" rtlCol="0" anchor="ctr">
            <a:normAutofit/>
          </a:bodyPr>
          <a:lstStyle/>
          <a:p>
            <a:pPr algn="ctr" indent="0" marL="0">
              <a:buNone/>
            </a:pPr>
            <a:r>
              <a:rPr lang="en-US" sz="950" b="1" dirty="0">
                <a:solidFill>
                  <a:srgbClr val="1B3448"/>
                </a:solidFill>
                <a:latin typeface="Aptos" pitchFamily="34" charset="0"/>
                <a:ea typeface="Aptos" pitchFamily="34" charset="-122"/>
                <a:cs typeface="Aptos" pitchFamily="34" charset="-120"/>
              </a:rPr>
              <a:t>Actuator</a:t>
            </a:r>
            <a:endParaRPr lang="en-US" sz="950" dirty="0"/>
          </a:p>
        </p:txBody>
      </p:sp>
      <p:sp>
        <p:nvSpPr>
          <p:cNvPr id="41" name="Text 39"/>
          <p:cNvSpPr/>
          <p:nvPr/>
        </p:nvSpPr>
        <p:spPr>
          <a:xfrm>
            <a:off x="8046720" y="4617720"/>
            <a:ext cx="3154680" cy="566928"/>
          </a:xfrm>
          <a:prstGeom prst="rect">
            <a:avLst/>
          </a:prstGeom>
          <a:noFill/>
          <a:ln/>
        </p:spPr>
        <p:txBody>
          <a:bodyPr wrap="square" lIns="0" tIns="0" rIns="0" bIns="0" rtlCol="0" anchor="ctr">
            <a:normAutofit/>
          </a:bodyPr>
          <a:lstStyle/>
          <a:p>
            <a:pPr algn="ctr" indent="0" marL="0">
              <a:buNone/>
            </a:pPr>
            <a:r>
              <a:rPr lang="en-US" sz="1150" dirty="0">
                <a:solidFill>
                  <a:srgbClr val="334B5C"/>
                </a:solidFill>
                <a:latin typeface="Aptos" pitchFamily="34" charset="0"/>
                <a:ea typeface="Aptos" pitchFamily="34" charset="-122"/>
                <a:cs typeface="Aptos" pitchFamily="34" charset="-120"/>
              </a:rPr>
              <a:t>Trace the requirement from the device to its verified result</a:t>
            </a:r>
            <a:endParaRPr lang="en-US" sz="1150" dirty="0"/>
          </a:p>
        </p:txBody>
      </p:sp>
      <p:sp>
        <p:nvSpPr>
          <p:cNvPr id="42" name="Shape 40"/>
          <p:cNvSpPr/>
          <p:nvPr/>
        </p:nvSpPr>
        <p:spPr>
          <a:xfrm>
            <a:off x="603504" y="6318504"/>
            <a:ext cx="10972800" cy="0"/>
          </a:xfrm>
          <a:prstGeom prst="line">
            <a:avLst/>
          </a:prstGeom>
          <a:noFill/>
          <a:ln w="10160">
            <a:solidFill>
              <a:srgbClr val="D5E0E7"/>
            </a:solidFill>
            <a:prstDash val="solid"/>
          </a:ln>
        </p:spPr>
      </p:sp>
      <p:sp>
        <p:nvSpPr>
          <p:cNvPr id="43" name="Text 41"/>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SIGNAL PROCESSING AND SIGNAL INTEGRITY</a:t>
            </a:r>
            <a:endParaRPr lang="en-US" sz="800" dirty="0"/>
          </a:p>
        </p:txBody>
      </p:sp>
      <p:sp>
        <p:nvSpPr>
          <p:cNvPr id="44" name="Text 42"/>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10 / 18</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087F8C"/>
          </a:solidFill>
          <a:ln w="12700">
            <a:solidFill>
              <a:srgbClr val="087F8C">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087F8C"/>
                </a:solidFill>
                <a:latin typeface="Aptos" pitchFamily="34" charset="0"/>
                <a:ea typeface="Aptos" pitchFamily="34" charset="-122"/>
                <a:cs typeface="Aptos" pitchFamily="34" charset="-120"/>
              </a:rPr>
              <a:t>UNIT 5009    /    WEEK 05    /    LO2</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10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087F8C"/>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087F8C"/>
                </a:solidFill>
                <a:latin typeface="Aptos" pitchFamily="34" charset="0"/>
                <a:ea typeface="Aptos" pitchFamily="34" charset="-122"/>
                <a:cs typeface="Aptos" pitchFamily="34" charset="-120"/>
              </a:rPr>
              <a:t>LO2 FOUNDATIONS</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3100" b="1" dirty="0">
                <a:solidFill>
                  <a:srgbClr val="1B3448"/>
                </a:solidFill>
                <a:latin typeface="Aptos Display" pitchFamily="34" charset="0"/>
                <a:ea typeface="Aptos Display" pitchFamily="34" charset="-122"/>
                <a:cs typeface="Aptos Display" pitchFamily="34" charset="-120"/>
              </a:rPr>
              <a:t>Read the MedPack wiring diagram</a:t>
            </a:r>
            <a:endParaRPr lang="en-US" sz="31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67512" y="1709928"/>
            <a:ext cx="2743200" cy="210312"/>
          </a:xfrm>
          <a:prstGeom prst="rect">
            <a:avLst/>
          </a:prstGeom>
          <a:noFill/>
          <a:ln/>
        </p:spPr>
        <p:txBody>
          <a:bodyPr wrap="square" lIns="0" tIns="0" rIns="0" bIns="0" rtlCol="0" anchor="ctr"/>
          <a:lstStyle/>
          <a:p>
            <a:pPr indent="0" marL="0">
              <a:buNone/>
            </a:pPr>
            <a:r>
              <a:rPr lang="en-US" sz="900" b="1" spc="100" kern="0" dirty="0">
                <a:solidFill>
                  <a:srgbClr val="087F8C"/>
                </a:solidFill>
                <a:latin typeface="Aptos" pitchFamily="34" charset="0"/>
                <a:ea typeface="Aptos" pitchFamily="34" charset="-122"/>
                <a:cs typeface="Aptos" pitchFamily="34" charset="-120"/>
              </a:rPr>
              <a:t>TEACHING POINTS</a:t>
            </a:r>
            <a:endParaRPr lang="en-US" sz="900" dirty="0"/>
          </a:p>
        </p:txBody>
      </p:sp>
      <p:sp>
        <p:nvSpPr>
          <p:cNvPr id="11" name="Shape 9"/>
          <p:cNvSpPr/>
          <p:nvPr/>
        </p:nvSpPr>
        <p:spPr>
          <a:xfrm>
            <a:off x="640080" y="1993392"/>
            <a:ext cx="6720840" cy="976122"/>
          </a:xfrm>
          <a:prstGeom prst="rect">
            <a:avLst/>
          </a:prstGeom>
          <a:solidFill>
            <a:srgbClr val="FFFFFF"/>
          </a:solidFill>
          <a:ln w="8890">
            <a:solidFill>
              <a:srgbClr val="D5E0E7"/>
            </a:solidFill>
            <a:prstDash val="solid"/>
          </a:ln>
        </p:spPr>
      </p:sp>
      <p:sp>
        <p:nvSpPr>
          <p:cNvPr id="12" name="Shape 10"/>
          <p:cNvSpPr/>
          <p:nvPr/>
        </p:nvSpPr>
        <p:spPr>
          <a:xfrm>
            <a:off x="640080" y="1993392"/>
            <a:ext cx="50292" cy="976122"/>
          </a:xfrm>
          <a:prstGeom prst="rect">
            <a:avLst/>
          </a:prstGeom>
          <a:solidFill>
            <a:srgbClr val="087F8C"/>
          </a:solidFill>
          <a:ln w="12700">
            <a:solidFill>
              <a:srgbClr val="087F8C">
                <a:alpha val="0"/>
              </a:srgbClr>
            </a:solidFill>
            <a:prstDash val="solid"/>
          </a:ln>
        </p:spPr>
      </p:sp>
      <p:sp>
        <p:nvSpPr>
          <p:cNvPr id="13" name="Text 11"/>
          <p:cNvSpPr/>
          <p:nvPr/>
        </p:nvSpPr>
        <p:spPr>
          <a:xfrm>
            <a:off x="786384" y="2084832"/>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01</a:t>
            </a:r>
            <a:endParaRPr lang="en-US" sz="950" dirty="0"/>
          </a:p>
        </p:txBody>
      </p:sp>
      <p:sp>
        <p:nvSpPr>
          <p:cNvPr id="14" name="Text 12"/>
          <p:cNvSpPr/>
          <p:nvPr/>
        </p:nvSpPr>
        <p:spPr>
          <a:xfrm>
            <a:off x="1197864" y="2075688"/>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Procedure: use the selected wiring diagram and I/O table to trace Start, Reset, pill sensor, actuator command, buzzer, and any E-stop status feedback from device terminal to PLC channel/tag.</a:t>
            </a:r>
            <a:endParaRPr lang="en-US" sz="1410" dirty="0"/>
          </a:p>
        </p:txBody>
      </p:sp>
      <p:sp>
        <p:nvSpPr>
          <p:cNvPr id="15" name="Shape 13"/>
          <p:cNvSpPr/>
          <p:nvPr/>
        </p:nvSpPr>
        <p:spPr>
          <a:xfrm>
            <a:off x="640080" y="3051810"/>
            <a:ext cx="6720840" cy="976122"/>
          </a:xfrm>
          <a:prstGeom prst="rect">
            <a:avLst/>
          </a:prstGeom>
          <a:solidFill>
            <a:srgbClr val="FFFFFF"/>
          </a:solidFill>
          <a:ln w="8890">
            <a:solidFill>
              <a:srgbClr val="E7EDF1"/>
            </a:solidFill>
            <a:prstDash val="solid"/>
          </a:ln>
        </p:spPr>
      </p:sp>
      <p:sp>
        <p:nvSpPr>
          <p:cNvPr id="16" name="Shape 14"/>
          <p:cNvSpPr/>
          <p:nvPr/>
        </p:nvSpPr>
        <p:spPr>
          <a:xfrm>
            <a:off x="640080" y="3051810"/>
            <a:ext cx="50292" cy="976122"/>
          </a:xfrm>
          <a:prstGeom prst="rect">
            <a:avLst/>
          </a:prstGeom>
          <a:solidFill>
            <a:srgbClr val="087F8C"/>
          </a:solidFill>
          <a:ln w="12700">
            <a:solidFill>
              <a:srgbClr val="087F8C">
                <a:alpha val="0"/>
              </a:srgbClr>
            </a:solidFill>
            <a:prstDash val="solid"/>
          </a:ln>
        </p:spPr>
      </p:sp>
      <p:sp>
        <p:nvSpPr>
          <p:cNvPr id="17" name="Text 15"/>
          <p:cNvSpPr/>
          <p:nvPr/>
        </p:nvSpPr>
        <p:spPr>
          <a:xfrm>
            <a:off x="786384" y="3143250"/>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02</a:t>
            </a:r>
            <a:endParaRPr lang="en-US" sz="950" dirty="0"/>
          </a:p>
        </p:txBody>
      </p:sp>
      <p:sp>
        <p:nvSpPr>
          <p:cNvPr id="18" name="Text 16"/>
          <p:cNvSpPr/>
          <p:nvPr/>
        </p:nvSpPr>
        <p:spPr>
          <a:xfrm>
            <a:off x="1197864" y="3134106"/>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Mark supply, common/reference, polarity, and output load type only after checking the selected sensor, CPU/module, and interface documentation; do not infer 24 V DC from a generic example.</a:t>
            </a:r>
            <a:endParaRPr lang="en-US" sz="1410" dirty="0"/>
          </a:p>
        </p:txBody>
      </p:sp>
      <p:sp>
        <p:nvSpPr>
          <p:cNvPr id="19" name="Shape 17"/>
          <p:cNvSpPr/>
          <p:nvPr/>
        </p:nvSpPr>
        <p:spPr>
          <a:xfrm>
            <a:off x="640080" y="4110228"/>
            <a:ext cx="6720840" cy="976122"/>
          </a:xfrm>
          <a:prstGeom prst="rect">
            <a:avLst/>
          </a:prstGeom>
          <a:solidFill>
            <a:srgbClr val="FFFFFF"/>
          </a:solidFill>
          <a:ln w="8890">
            <a:solidFill>
              <a:srgbClr val="E7EDF1"/>
            </a:solidFill>
            <a:prstDash val="solid"/>
          </a:ln>
        </p:spPr>
      </p:sp>
      <p:sp>
        <p:nvSpPr>
          <p:cNvPr id="20" name="Shape 18"/>
          <p:cNvSpPr/>
          <p:nvPr/>
        </p:nvSpPr>
        <p:spPr>
          <a:xfrm>
            <a:off x="640080" y="4110228"/>
            <a:ext cx="50292" cy="976122"/>
          </a:xfrm>
          <a:prstGeom prst="rect">
            <a:avLst/>
          </a:prstGeom>
          <a:solidFill>
            <a:srgbClr val="087F8C"/>
          </a:solidFill>
          <a:ln w="12700">
            <a:solidFill>
              <a:srgbClr val="087F8C">
                <a:alpha val="0"/>
              </a:srgbClr>
            </a:solidFill>
            <a:prstDash val="solid"/>
          </a:ln>
        </p:spPr>
      </p:sp>
      <p:sp>
        <p:nvSpPr>
          <p:cNvPr id="21" name="Text 19"/>
          <p:cNvSpPr/>
          <p:nvPr/>
        </p:nvSpPr>
        <p:spPr>
          <a:xfrm>
            <a:off x="786384" y="4201668"/>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03</a:t>
            </a:r>
            <a:endParaRPr lang="en-US" sz="950" dirty="0"/>
          </a:p>
        </p:txBody>
      </p:sp>
      <p:sp>
        <p:nvSpPr>
          <p:cNvPr id="22" name="Text 20"/>
          <p:cNvSpPr/>
          <p:nvPr/>
        </p:nvSpPr>
        <p:spPr>
          <a:xfrm>
            <a:off x="1197864" y="4192524"/>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Expected observation: each documented field signal has one traceable terminal/channel/tag assignment, while the safety circuit and any status-only feedback are visibly distinguished.</a:t>
            </a:r>
            <a:endParaRPr lang="en-US" sz="1410" dirty="0"/>
          </a:p>
        </p:txBody>
      </p:sp>
      <p:sp>
        <p:nvSpPr>
          <p:cNvPr id="23" name="Shape 21"/>
          <p:cNvSpPr/>
          <p:nvPr/>
        </p:nvSpPr>
        <p:spPr>
          <a:xfrm>
            <a:off x="640080" y="5168646"/>
            <a:ext cx="6720840" cy="976122"/>
          </a:xfrm>
          <a:prstGeom prst="rect">
            <a:avLst/>
          </a:prstGeom>
          <a:solidFill>
            <a:srgbClr val="FFFFFF"/>
          </a:solidFill>
          <a:ln w="8890">
            <a:solidFill>
              <a:srgbClr val="E7EDF1"/>
            </a:solidFill>
            <a:prstDash val="solid"/>
          </a:ln>
        </p:spPr>
      </p:sp>
      <p:sp>
        <p:nvSpPr>
          <p:cNvPr id="24" name="Shape 22"/>
          <p:cNvSpPr/>
          <p:nvPr/>
        </p:nvSpPr>
        <p:spPr>
          <a:xfrm>
            <a:off x="640080" y="5168646"/>
            <a:ext cx="50292" cy="976122"/>
          </a:xfrm>
          <a:prstGeom prst="rect">
            <a:avLst/>
          </a:prstGeom>
          <a:solidFill>
            <a:srgbClr val="087F8C"/>
          </a:solidFill>
          <a:ln w="12700">
            <a:solidFill>
              <a:srgbClr val="087F8C">
                <a:alpha val="0"/>
              </a:srgbClr>
            </a:solidFill>
            <a:prstDash val="solid"/>
          </a:ln>
        </p:spPr>
      </p:sp>
      <p:sp>
        <p:nvSpPr>
          <p:cNvPr id="25" name="Text 23"/>
          <p:cNvSpPr/>
          <p:nvPr/>
        </p:nvSpPr>
        <p:spPr>
          <a:xfrm>
            <a:off x="786384" y="5260086"/>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04</a:t>
            </a:r>
            <a:endParaRPr lang="en-US" sz="950" dirty="0"/>
          </a:p>
        </p:txBody>
      </p:sp>
      <p:sp>
        <p:nvSpPr>
          <p:cNvPr id="26" name="Text 24"/>
          <p:cNvSpPr/>
          <p:nvPr/>
        </p:nvSpPr>
        <p:spPr>
          <a:xfrm>
            <a:off x="1197864" y="5250942"/>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Ordinary HMI/SCADA or standard PLC logic must not be treated as the independent emergency-stop safety function; follow the training rig's safety design and local procedure.</a:t>
            </a:r>
            <a:endParaRPr lang="en-US" sz="1410" dirty="0"/>
          </a:p>
        </p:txBody>
      </p:sp>
      <p:sp>
        <p:nvSpPr>
          <p:cNvPr id="27" name="Shape 25"/>
          <p:cNvSpPr/>
          <p:nvPr/>
        </p:nvSpPr>
        <p:spPr>
          <a:xfrm>
            <a:off x="7662672" y="1746504"/>
            <a:ext cx="3922776" cy="4361688"/>
          </a:xfrm>
          <a:prstGeom prst="rect">
            <a:avLst/>
          </a:prstGeom>
          <a:solidFill>
            <a:srgbClr val="FFFFFF"/>
          </a:solidFill>
          <a:ln w="12700">
            <a:solidFill>
              <a:srgbClr val="D5E0E7"/>
            </a:solidFill>
            <a:prstDash val="solid"/>
          </a:ln>
        </p:spPr>
      </p:sp>
      <p:sp>
        <p:nvSpPr>
          <p:cNvPr id="28" name="Text 26"/>
          <p:cNvSpPr/>
          <p:nvPr/>
        </p:nvSpPr>
        <p:spPr>
          <a:xfrm>
            <a:off x="7863840" y="1892808"/>
            <a:ext cx="3520440" cy="219456"/>
          </a:xfrm>
          <a:prstGeom prst="rect">
            <a:avLst/>
          </a:prstGeom>
          <a:noFill/>
          <a:ln/>
        </p:spPr>
        <p:txBody>
          <a:bodyPr wrap="square" lIns="0" tIns="0" rIns="0" bIns="0" rtlCol="0" anchor="ctr"/>
          <a:lstStyle/>
          <a:p>
            <a:pPr indent="0" marL="0">
              <a:buNone/>
            </a:pPr>
            <a:r>
              <a:rPr lang="en-US" sz="900" b="1" spc="80" kern="0" dirty="0">
                <a:solidFill>
                  <a:srgbClr val="087F8C"/>
                </a:solidFill>
                <a:latin typeface="Aptos" pitchFamily="34" charset="0"/>
                <a:ea typeface="Aptos" pitchFamily="34" charset="-122"/>
                <a:cs typeface="Aptos" pitchFamily="34" charset="-120"/>
              </a:rPr>
              <a:t>SIGNAL PATH</a:t>
            </a:r>
            <a:endParaRPr lang="en-US" sz="900" dirty="0"/>
          </a:p>
        </p:txBody>
      </p:sp>
      <p:sp>
        <p:nvSpPr>
          <p:cNvPr id="29" name="Shape 27"/>
          <p:cNvSpPr/>
          <p:nvPr/>
        </p:nvSpPr>
        <p:spPr>
          <a:xfrm>
            <a:off x="7863840" y="2221992"/>
            <a:ext cx="3520440" cy="0"/>
          </a:xfrm>
          <a:prstGeom prst="line">
            <a:avLst/>
          </a:prstGeom>
          <a:noFill/>
          <a:ln w="8890">
            <a:solidFill>
              <a:srgbClr val="D5E0E7"/>
            </a:solidFill>
            <a:prstDash val="solid"/>
          </a:ln>
        </p:spPr>
      </p:sp>
      <p:sp>
        <p:nvSpPr>
          <p:cNvPr id="30" name="Shape 28"/>
          <p:cNvSpPr/>
          <p:nvPr/>
        </p:nvSpPr>
        <p:spPr>
          <a:xfrm>
            <a:off x="7827264" y="3438144"/>
            <a:ext cx="804672" cy="822960"/>
          </a:xfrm>
          <a:prstGeom prst="rect">
            <a:avLst/>
          </a:prstGeom>
          <a:solidFill>
            <a:srgbClr val="F4F8FA"/>
          </a:solidFill>
          <a:ln w="14605">
            <a:solidFill>
              <a:srgbClr val="087F8C"/>
            </a:solidFill>
            <a:prstDash val="solid"/>
          </a:ln>
        </p:spPr>
      </p:sp>
      <p:sp>
        <p:nvSpPr>
          <p:cNvPr id="31" name="Text 29"/>
          <p:cNvSpPr/>
          <p:nvPr/>
        </p:nvSpPr>
        <p:spPr>
          <a:xfrm>
            <a:off x="7900416" y="3493008"/>
            <a:ext cx="658368" cy="713232"/>
          </a:xfrm>
          <a:prstGeom prst="rect">
            <a:avLst/>
          </a:prstGeom>
          <a:noFill/>
          <a:ln/>
        </p:spPr>
        <p:txBody>
          <a:bodyPr wrap="square" lIns="0" tIns="0" rIns="0" bIns="0" rtlCol="0" anchor="ctr">
            <a:normAutofit/>
          </a:bodyPr>
          <a:lstStyle/>
          <a:p>
            <a:pPr algn="ctr" indent="0" marL="0">
              <a:buNone/>
            </a:pPr>
            <a:r>
              <a:rPr lang="en-US" sz="870" b="1" dirty="0">
                <a:solidFill>
                  <a:srgbClr val="1B3448"/>
                </a:solidFill>
                <a:latin typeface="Aptos" pitchFamily="34" charset="0"/>
                <a:ea typeface="Aptos" pitchFamily="34" charset="-122"/>
                <a:cs typeface="Aptos" pitchFamily="34" charset="-120"/>
              </a:rPr>
              <a:t>SENSOR +</a:t>
            </a:r>
            <a:endParaRPr lang="en-US" sz="870" dirty="0"/>
          </a:p>
          <a:p>
            <a:pPr algn="ctr" indent="0" marL="0">
              <a:buNone/>
            </a:pPr>
            <a:r>
              <a:rPr lang="en-US" sz="870" b="1" dirty="0">
                <a:solidFill>
                  <a:srgbClr val="1B3448"/>
                </a:solidFill>
                <a:latin typeface="Aptos" pitchFamily="34" charset="0"/>
                <a:ea typeface="Aptos" pitchFamily="34" charset="-122"/>
                <a:cs typeface="Aptos" pitchFamily="34" charset="-120"/>
              </a:rPr>
              <a:t>BUTTONS</a:t>
            </a:r>
            <a:endParaRPr lang="en-US" sz="870" dirty="0"/>
          </a:p>
        </p:txBody>
      </p:sp>
      <p:sp>
        <p:nvSpPr>
          <p:cNvPr id="32" name="Shape 30"/>
          <p:cNvSpPr/>
          <p:nvPr/>
        </p:nvSpPr>
        <p:spPr>
          <a:xfrm>
            <a:off x="8833104" y="3438144"/>
            <a:ext cx="685800" cy="822960"/>
          </a:xfrm>
          <a:prstGeom prst="rect">
            <a:avLst/>
          </a:prstGeom>
          <a:solidFill>
            <a:srgbClr val="F4F8FA"/>
          </a:solidFill>
          <a:ln w="14605">
            <a:solidFill>
              <a:srgbClr val="087F8C"/>
            </a:solidFill>
            <a:prstDash val="solid"/>
          </a:ln>
        </p:spPr>
      </p:sp>
      <p:sp>
        <p:nvSpPr>
          <p:cNvPr id="33" name="Text 31"/>
          <p:cNvSpPr/>
          <p:nvPr/>
        </p:nvSpPr>
        <p:spPr>
          <a:xfrm>
            <a:off x="8906256" y="3493008"/>
            <a:ext cx="539496" cy="713232"/>
          </a:xfrm>
          <a:prstGeom prst="rect">
            <a:avLst/>
          </a:prstGeom>
          <a:noFill/>
          <a:ln/>
        </p:spPr>
        <p:txBody>
          <a:bodyPr wrap="square" lIns="0" tIns="0" rIns="0" bIns="0" rtlCol="0" anchor="ctr">
            <a:normAutofit/>
          </a:bodyPr>
          <a:lstStyle/>
          <a:p>
            <a:pPr algn="ctr" indent="0" marL="0">
              <a:buNone/>
            </a:pPr>
            <a:r>
              <a:rPr lang="en-US" sz="880" b="1" dirty="0">
                <a:solidFill>
                  <a:srgbClr val="1B3448"/>
                </a:solidFill>
                <a:latin typeface="Aptos" pitchFamily="34" charset="0"/>
                <a:ea typeface="Aptos" pitchFamily="34" charset="-122"/>
                <a:cs typeface="Aptos" pitchFamily="34" charset="-120"/>
              </a:rPr>
              <a:t>PLC</a:t>
            </a:r>
            <a:endParaRPr lang="en-US" sz="880" dirty="0"/>
          </a:p>
          <a:p>
            <a:pPr algn="ctr" indent="0" marL="0">
              <a:buNone/>
            </a:pPr>
            <a:r>
              <a:rPr lang="en-US" sz="880" b="1" dirty="0">
                <a:solidFill>
                  <a:srgbClr val="1B3448"/>
                </a:solidFill>
                <a:latin typeface="Aptos" pitchFamily="34" charset="0"/>
                <a:ea typeface="Aptos" pitchFamily="34" charset="-122"/>
                <a:cs typeface="Aptos" pitchFamily="34" charset="-120"/>
              </a:rPr>
              <a:t>INPUTS</a:t>
            </a:r>
            <a:endParaRPr lang="en-US" sz="880" dirty="0"/>
          </a:p>
        </p:txBody>
      </p:sp>
      <p:sp>
        <p:nvSpPr>
          <p:cNvPr id="34" name="Shape 32"/>
          <p:cNvSpPr/>
          <p:nvPr/>
        </p:nvSpPr>
        <p:spPr>
          <a:xfrm>
            <a:off x="9720072" y="3438144"/>
            <a:ext cx="676656" cy="822960"/>
          </a:xfrm>
          <a:prstGeom prst="rect">
            <a:avLst/>
          </a:prstGeom>
          <a:solidFill>
            <a:srgbClr val="EAF3F4"/>
          </a:solidFill>
          <a:ln w="14605">
            <a:solidFill>
              <a:srgbClr val="087F8C"/>
            </a:solidFill>
            <a:prstDash val="solid"/>
          </a:ln>
        </p:spPr>
      </p:sp>
      <p:sp>
        <p:nvSpPr>
          <p:cNvPr id="35" name="Text 33"/>
          <p:cNvSpPr/>
          <p:nvPr/>
        </p:nvSpPr>
        <p:spPr>
          <a:xfrm>
            <a:off x="9793224" y="3493008"/>
            <a:ext cx="530352" cy="713232"/>
          </a:xfrm>
          <a:prstGeom prst="rect">
            <a:avLst/>
          </a:prstGeom>
          <a:noFill/>
          <a:ln/>
        </p:spPr>
        <p:txBody>
          <a:bodyPr wrap="square" lIns="0" tIns="0" rIns="0" bIns="0" rtlCol="0" anchor="ctr">
            <a:normAutofit/>
          </a:bodyPr>
          <a:lstStyle/>
          <a:p>
            <a:pPr algn="ctr" indent="0" marL="0">
              <a:buNone/>
            </a:pPr>
            <a:r>
              <a:rPr lang="en-US" sz="880" b="1" dirty="0">
                <a:solidFill>
                  <a:srgbClr val="1B3448"/>
                </a:solidFill>
                <a:latin typeface="Aptos" pitchFamily="34" charset="0"/>
                <a:ea typeface="Aptos" pitchFamily="34" charset="-122"/>
                <a:cs typeface="Aptos" pitchFamily="34" charset="-120"/>
              </a:rPr>
              <a:t>CPU</a:t>
            </a:r>
            <a:endParaRPr lang="en-US" sz="880" dirty="0"/>
          </a:p>
          <a:p>
            <a:pPr algn="ctr" indent="0" marL="0">
              <a:buNone/>
            </a:pPr>
            <a:r>
              <a:rPr lang="en-US" sz="880" b="1" dirty="0">
                <a:solidFill>
                  <a:srgbClr val="1B3448"/>
                </a:solidFill>
                <a:latin typeface="Aptos" pitchFamily="34" charset="0"/>
                <a:ea typeface="Aptos" pitchFamily="34" charset="-122"/>
                <a:cs typeface="Aptos" pitchFamily="34" charset="-120"/>
              </a:rPr>
              <a:t>LOGIC</a:t>
            </a:r>
            <a:endParaRPr lang="en-US" sz="880" dirty="0"/>
          </a:p>
        </p:txBody>
      </p:sp>
      <p:sp>
        <p:nvSpPr>
          <p:cNvPr id="36" name="Shape 34"/>
          <p:cNvSpPr/>
          <p:nvPr/>
        </p:nvSpPr>
        <p:spPr>
          <a:xfrm>
            <a:off x="10625328" y="3438144"/>
            <a:ext cx="722376" cy="822960"/>
          </a:xfrm>
          <a:prstGeom prst="rect">
            <a:avLst/>
          </a:prstGeom>
          <a:solidFill>
            <a:srgbClr val="F4F8FA"/>
          </a:solidFill>
          <a:ln w="14605">
            <a:solidFill>
              <a:srgbClr val="087F8C"/>
            </a:solidFill>
            <a:prstDash val="solid"/>
          </a:ln>
        </p:spPr>
      </p:sp>
      <p:sp>
        <p:nvSpPr>
          <p:cNvPr id="37" name="Text 35"/>
          <p:cNvSpPr/>
          <p:nvPr/>
        </p:nvSpPr>
        <p:spPr>
          <a:xfrm>
            <a:off x="10698480" y="3493008"/>
            <a:ext cx="576072" cy="713232"/>
          </a:xfrm>
          <a:prstGeom prst="rect">
            <a:avLst/>
          </a:prstGeom>
          <a:noFill/>
          <a:ln/>
        </p:spPr>
        <p:txBody>
          <a:bodyPr wrap="square" lIns="0" tIns="0" rIns="0" bIns="0" rtlCol="0" anchor="ctr">
            <a:normAutofit/>
          </a:bodyPr>
          <a:lstStyle/>
          <a:p>
            <a:pPr algn="ctr" indent="0" marL="0">
              <a:buNone/>
            </a:pPr>
            <a:r>
              <a:rPr lang="en-US" sz="820" b="1" dirty="0">
                <a:solidFill>
                  <a:srgbClr val="1B3448"/>
                </a:solidFill>
                <a:latin typeface="Aptos" pitchFamily="34" charset="0"/>
                <a:ea typeface="Aptos" pitchFamily="34" charset="-122"/>
                <a:cs typeface="Aptos" pitchFamily="34" charset="-120"/>
              </a:rPr>
              <a:t>OUTPUT</a:t>
            </a:r>
            <a:endParaRPr lang="en-US" sz="820" dirty="0"/>
          </a:p>
          <a:p>
            <a:pPr algn="ctr" indent="0" marL="0">
              <a:buNone/>
            </a:pPr>
            <a:r>
              <a:rPr lang="en-US" sz="820" b="1" dirty="0">
                <a:solidFill>
                  <a:srgbClr val="1B3448"/>
                </a:solidFill>
                <a:latin typeface="Aptos" pitchFamily="34" charset="0"/>
                <a:ea typeface="Aptos" pitchFamily="34" charset="-122"/>
                <a:cs typeface="Aptos" pitchFamily="34" charset="-120"/>
              </a:rPr>
              <a:t>INTERFACE</a:t>
            </a:r>
            <a:endParaRPr lang="en-US" sz="820" dirty="0"/>
          </a:p>
        </p:txBody>
      </p:sp>
      <p:sp>
        <p:nvSpPr>
          <p:cNvPr id="38" name="Shape 36"/>
          <p:cNvSpPr/>
          <p:nvPr/>
        </p:nvSpPr>
        <p:spPr>
          <a:xfrm>
            <a:off x="8650224" y="3849624"/>
            <a:ext cx="146304" cy="0"/>
          </a:xfrm>
          <a:prstGeom prst="line">
            <a:avLst/>
          </a:prstGeom>
          <a:noFill/>
          <a:ln w="22860">
            <a:solidFill>
              <a:srgbClr val="087F8C"/>
            </a:solidFill>
            <a:prstDash val="solid"/>
            <a:tailEnd type="triangle"/>
          </a:ln>
        </p:spPr>
      </p:sp>
      <p:sp>
        <p:nvSpPr>
          <p:cNvPr id="39" name="Shape 37"/>
          <p:cNvSpPr/>
          <p:nvPr/>
        </p:nvSpPr>
        <p:spPr>
          <a:xfrm>
            <a:off x="9537192" y="3849624"/>
            <a:ext cx="146304" cy="0"/>
          </a:xfrm>
          <a:prstGeom prst="line">
            <a:avLst/>
          </a:prstGeom>
          <a:noFill/>
          <a:ln w="22860">
            <a:solidFill>
              <a:srgbClr val="087F8C"/>
            </a:solidFill>
            <a:prstDash val="solid"/>
            <a:tailEnd type="triangle"/>
          </a:ln>
        </p:spPr>
      </p:sp>
      <p:sp>
        <p:nvSpPr>
          <p:cNvPr id="40" name="Shape 38"/>
          <p:cNvSpPr/>
          <p:nvPr/>
        </p:nvSpPr>
        <p:spPr>
          <a:xfrm>
            <a:off x="10415016" y="3849624"/>
            <a:ext cx="173736" cy="0"/>
          </a:xfrm>
          <a:prstGeom prst="line">
            <a:avLst/>
          </a:prstGeom>
          <a:noFill/>
          <a:ln w="22860">
            <a:solidFill>
              <a:srgbClr val="087F8C"/>
            </a:solidFill>
            <a:prstDash val="solid"/>
            <a:tailEnd type="triangle"/>
          </a:ln>
        </p:spPr>
      </p:sp>
      <p:sp>
        <p:nvSpPr>
          <p:cNvPr id="41" name="Text 39"/>
          <p:cNvSpPr/>
          <p:nvPr/>
        </p:nvSpPr>
        <p:spPr>
          <a:xfrm>
            <a:off x="8101584" y="4599432"/>
            <a:ext cx="2926080" cy="320040"/>
          </a:xfrm>
          <a:prstGeom prst="rect">
            <a:avLst/>
          </a:prstGeom>
          <a:noFill/>
          <a:ln/>
        </p:spPr>
        <p:txBody>
          <a:bodyPr wrap="square" lIns="0" tIns="0" rIns="0" bIns="0" rtlCol="0" anchor="ctr">
            <a:normAutofit/>
          </a:bodyPr>
          <a:lstStyle/>
          <a:p>
            <a:pPr algn="ctr" indent="0" marL="0">
              <a:buNone/>
            </a:pPr>
            <a:r>
              <a:rPr lang="en-US" sz="1000" b="1" dirty="0">
                <a:solidFill>
                  <a:srgbClr val="1B3448"/>
                </a:solidFill>
                <a:latin typeface="Aptos" pitchFamily="34" charset="0"/>
                <a:ea typeface="Aptos" pitchFamily="34" charset="-122"/>
                <a:cs typeface="Aptos" pitchFamily="34" charset="-120"/>
              </a:rPr>
              <a:t>ACTUATOR  /  BUZZER</a:t>
            </a:r>
            <a:endParaRPr lang="en-US" sz="1000" dirty="0"/>
          </a:p>
        </p:txBody>
      </p:sp>
      <p:sp>
        <p:nvSpPr>
          <p:cNvPr id="42" name="Text 40"/>
          <p:cNvSpPr/>
          <p:nvPr/>
        </p:nvSpPr>
        <p:spPr>
          <a:xfrm>
            <a:off x="8046720" y="5129784"/>
            <a:ext cx="3154680" cy="566928"/>
          </a:xfrm>
          <a:prstGeom prst="rect">
            <a:avLst/>
          </a:prstGeom>
          <a:noFill/>
          <a:ln/>
        </p:spPr>
        <p:txBody>
          <a:bodyPr wrap="square" lIns="0" tIns="0" rIns="0" bIns="0" rtlCol="0" anchor="ctr">
            <a:normAutofit/>
          </a:bodyPr>
          <a:lstStyle/>
          <a:p>
            <a:pPr algn="ctr" indent="0" marL="0">
              <a:buNone/>
            </a:pPr>
            <a:r>
              <a:rPr lang="en-US" sz="1050" dirty="0">
                <a:solidFill>
                  <a:srgbClr val="607585"/>
                </a:solidFill>
                <a:latin typeface="Aptos" pitchFamily="34" charset="0"/>
                <a:ea typeface="Aptos" pitchFamily="34" charset="-122"/>
                <a:cs typeface="Aptos" pitchFamily="34" charset="-120"/>
              </a:rPr>
              <a:t>Verify voltage, polarity, load current and channel limits</a:t>
            </a:r>
            <a:endParaRPr lang="en-US" sz="1050" dirty="0"/>
          </a:p>
        </p:txBody>
      </p:sp>
      <p:sp>
        <p:nvSpPr>
          <p:cNvPr id="43" name="Shape 41"/>
          <p:cNvSpPr/>
          <p:nvPr/>
        </p:nvSpPr>
        <p:spPr>
          <a:xfrm>
            <a:off x="603504" y="6318504"/>
            <a:ext cx="10972800" cy="0"/>
          </a:xfrm>
          <a:prstGeom prst="line">
            <a:avLst/>
          </a:prstGeom>
          <a:noFill/>
          <a:ln w="10160">
            <a:solidFill>
              <a:srgbClr val="D5E0E7"/>
            </a:solidFill>
            <a:prstDash val="solid"/>
          </a:ln>
        </p:spPr>
      </p:sp>
      <p:sp>
        <p:nvSpPr>
          <p:cNvPr id="44" name="Text 42"/>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SIGNAL PROCESSING AND SIGNAL INTEGRITY</a:t>
            </a:r>
            <a:endParaRPr lang="en-US" sz="800" dirty="0"/>
          </a:p>
        </p:txBody>
      </p:sp>
      <p:sp>
        <p:nvSpPr>
          <p:cNvPr id="45" name="Text 43"/>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11 / 18</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087F8C"/>
          </a:solidFill>
          <a:ln w="12700">
            <a:solidFill>
              <a:srgbClr val="087F8C">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087F8C"/>
                </a:solidFill>
                <a:latin typeface="Aptos" pitchFamily="34" charset="0"/>
                <a:ea typeface="Aptos" pitchFamily="34" charset="-122"/>
                <a:cs typeface="Aptos" pitchFamily="34" charset="-120"/>
              </a:rPr>
              <a:t>UNIT 5009    /    WEEK 05    /    LO2</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15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087F8C"/>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087F8C"/>
                </a:solidFill>
                <a:latin typeface="Aptos" pitchFamily="34" charset="0"/>
                <a:ea typeface="Aptos" pitchFamily="34" charset="-122"/>
                <a:cs typeface="Aptos" pitchFamily="34" charset="-120"/>
              </a:rPr>
              <a:t>LO2 FOUNDATIONS</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3100" b="1" dirty="0">
                <a:solidFill>
                  <a:srgbClr val="1B3448"/>
                </a:solidFill>
                <a:latin typeface="Aptos Display" pitchFamily="34" charset="0"/>
                <a:ea typeface="Aptos Display" pitchFamily="34" charset="-122"/>
                <a:cs typeface="Aptos Display" pitchFamily="34" charset="-120"/>
              </a:rPr>
              <a:t>Map terminals to program tags</a:t>
            </a:r>
            <a:endParaRPr lang="en-US" sz="31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67512" y="1709928"/>
            <a:ext cx="2743200" cy="210312"/>
          </a:xfrm>
          <a:prstGeom prst="rect">
            <a:avLst/>
          </a:prstGeom>
          <a:noFill/>
          <a:ln/>
        </p:spPr>
        <p:txBody>
          <a:bodyPr wrap="square" lIns="0" tIns="0" rIns="0" bIns="0" rtlCol="0" anchor="ctr"/>
          <a:lstStyle/>
          <a:p>
            <a:pPr indent="0" marL="0">
              <a:buNone/>
            </a:pPr>
            <a:r>
              <a:rPr lang="en-US" sz="900" b="1" spc="100" kern="0" dirty="0">
                <a:solidFill>
                  <a:srgbClr val="087F8C"/>
                </a:solidFill>
                <a:latin typeface="Aptos" pitchFamily="34" charset="0"/>
                <a:ea typeface="Aptos" pitchFamily="34" charset="-122"/>
                <a:cs typeface="Aptos" pitchFamily="34" charset="-120"/>
              </a:rPr>
              <a:t>TEACHING POINTS</a:t>
            </a:r>
            <a:endParaRPr lang="en-US" sz="900" dirty="0"/>
          </a:p>
        </p:txBody>
      </p:sp>
      <p:sp>
        <p:nvSpPr>
          <p:cNvPr id="11" name="Shape 9"/>
          <p:cNvSpPr/>
          <p:nvPr/>
        </p:nvSpPr>
        <p:spPr>
          <a:xfrm>
            <a:off x="640080" y="1993392"/>
            <a:ext cx="6720840" cy="1328928"/>
          </a:xfrm>
          <a:prstGeom prst="rect">
            <a:avLst/>
          </a:prstGeom>
          <a:solidFill>
            <a:srgbClr val="FFFFFF"/>
          </a:solidFill>
          <a:ln w="8890">
            <a:solidFill>
              <a:srgbClr val="D5E0E7"/>
            </a:solidFill>
            <a:prstDash val="solid"/>
          </a:ln>
        </p:spPr>
      </p:sp>
      <p:sp>
        <p:nvSpPr>
          <p:cNvPr id="12" name="Shape 10"/>
          <p:cNvSpPr/>
          <p:nvPr/>
        </p:nvSpPr>
        <p:spPr>
          <a:xfrm>
            <a:off x="640080" y="1993392"/>
            <a:ext cx="50292" cy="1328928"/>
          </a:xfrm>
          <a:prstGeom prst="rect">
            <a:avLst/>
          </a:prstGeom>
          <a:solidFill>
            <a:srgbClr val="087F8C"/>
          </a:solidFill>
          <a:ln w="12700">
            <a:solidFill>
              <a:srgbClr val="087F8C">
                <a:alpha val="0"/>
              </a:srgbClr>
            </a:solidFill>
            <a:prstDash val="solid"/>
          </a:ln>
        </p:spPr>
      </p:sp>
      <p:sp>
        <p:nvSpPr>
          <p:cNvPr id="13" name="Text 11"/>
          <p:cNvSpPr/>
          <p:nvPr/>
        </p:nvSpPr>
        <p:spPr>
          <a:xfrm>
            <a:off x="786384" y="2084832"/>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01</a:t>
            </a:r>
            <a:endParaRPr lang="en-US" sz="950" dirty="0"/>
          </a:p>
        </p:txBody>
      </p:sp>
      <p:sp>
        <p:nvSpPr>
          <p:cNvPr id="14" name="Text 12"/>
          <p:cNvSpPr/>
          <p:nvPr/>
        </p:nvSpPr>
        <p:spPr>
          <a:xfrm>
            <a:off x="1197864" y="2075688"/>
            <a:ext cx="5989320" cy="1173480"/>
          </a:xfrm>
          <a:prstGeom prst="rect">
            <a:avLst/>
          </a:prstGeom>
          <a:noFill/>
          <a:ln/>
        </p:spPr>
        <p:txBody>
          <a:bodyPr wrap="square" lIns="0" tIns="0" rIns="0" bIns="0" rtlCol="0" anchor="ctr">
            <a:normAutofit/>
          </a:bodyPr>
          <a:lstStyle/>
          <a:p>
            <a:pPr indent="0" marL="0">
              <a:buNone/>
            </a:pPr>
            <a:r>
              <a:rPr lang="en-US" sz="1310" dirty="0">
                <a:solidFill>
                  <a:srgbClr val="334B5C"/>
                </a:solidFill>
                <a:latin typeface="Aptos" pitchFamily="34" charset="0"/>
                <a:ea typeface="Aptos" pitchFamily="34" charset="-122"/>
                <a:cs typeface="Aptos" pitchFamily="34" charset="-120"/>
              </a:rPr>
              <a:t>Procedure: inspect the actual CPU, slot/module order, channel configuration, terminal numbers, and project hardware tree before assigning each physical point to a symbolic tag.</a:t>
            </a:r>
            <a:endParaRPr lang="en-US" sz="1310" dirty="0"/>
          </a:p>
        </p:txBody>
      </p:sp>
      <p:sp>
        <p:nvSpPr>
          <p:cNvPr id="15" name="Shape 13"/>
          <p:cNvSpPr/>
          <p:nvPr/>
        </p:nvSpPr>
        <p:spPr>
          <a:xfrm>
            <a:off x="640080" y="3404616"/>
            <a:ext cx="6720840" cy="1328928"/>
          </a:xfrm>
          <a:prstGeom prst="rect">
            <a:avLst/>
          </a:prstGeom>
          <a:solidFill>
            <a:srgbClr val="FFFFFF"/>
          </a:solidFill>
          <a:ln w="8890">
            <a:solidFill>
              <a:srgbClr val="E7EDF1"/>
            </a:solidFill>
            <a:prstDash val="solid"/>
          </a:ln>
        </p:spPr>
      </p:sp>
      <p:sp>
        <p:nvSpPr>
          <p:cNvPr id="16" name="Shape 14"/>
          <p:cNvSpPr/>
          <p:nvPr/>
        </p:nvSpPr>
        <p:spPr>
          <a:xfrm>
            <a:off x="640080" y="3404616"/>
            <a:ext cx="50292" cy="1328928"/>
          </a:xfrm>
          <a:prstGeom prst="rect">
            <a:avLst/>
          </a:prstGeom>
          <a:solidFill>
            <a:srgbClr val="087F8C"/>
          </a:solidFill>
          <a:ln w="12700">
            <a:solidFill>
              <a:srgbClr val="087F8C">
                <a:alpha val="0"/>
              </a:srgbClr>
            </a:solidFill>
            <a:prstDash val="solid"/>
          </a:ln>
        </p:spPr>
      </p:sp>
      <p:sp>
        <p:nvSpPr>
          <p:cNvPr id="17" name="Text 15"/>
          <p:cNvSpPr/>
          <p:nvPr/>
        </p:nvSpPr>
        <p:spPr>
          <a:xfrm>
            <a:off x="786384" y="3496056"/>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02</a:t>
            </a:r>
            <a:endParaRPr lang="en-US" sz="950" dirty="0"/>
          </a:p>
        </p:txBody>
      </p:sp>
      <p:sp>
        <p:nvSpPr>
          <p:cNvPr id="18" name="Text 16"/>
          <p:cNvSpPr/>
          <p:nvPr/>
        </p:nvSpPr>
        <p:spPr>
          <a:xfrm>
            <a:off x="1197864" y="3486912"/>
            <a:ext cx="5989320" cy="1173480"/>
          </a:xfrm>
          <a:prstGeom prst="rect">
            <a:avLst/>
          </a:prstGeom>
          <a:noFill/>
          <a:ln/>
        </p:spPr>
        <p:txBody>
          <a:bodyPr wrap="square" lIns="0" tIns="0" rIns="0" bIns="0" rtlCol="0" anchor="ctr">
            <a:normAutofit/>
          </a:bodyPr>
          <a:lstStyle/>
          <a:p>
            <a:pPr indent="0" marL="0">
              <a:buNone/>
            </a:pPr>
            <a:r>
              <a:rPr lang="en-US" sz="1310" dirty="0">
                <a:solidFill>
                  <a:srgbClr val="334B5C"/>
                </a:solidFill>
                <a:latin typeface="Aptos" pitchFamily="34" charset="0"/>
                <a:ea typeface="Aptos" pitchFamily="34" charset="-122"/>
                <a:cs typeface="Aptos" pitchFamily="34" charset="-120"/>
              </a:rPr>
              <a:t>For each MedPack input/output, record terminal, electrical type/polarity, normal state, tag name, logic use, and load/interface; distinguish a normally closed contact's healthy state from an asserted program bit.</a:t>
            </a:r>
            <a:endParaRPr lang="en-US" sz="1310" dirty="0"/>
          </a:p>
        </p:txBody>
      </p:sp>
      <p:sp>
        <p:nvSpPr>
          <p:cNvPr id="19" name="Shape 17"/>
          <p:cNvSpPr/>
          <p:nvPr/>
        </p:nvSpPr>
        <p:spPr>
          <a:xfrm>
            <a:off x="640080" y="4815840"/>
            <a:ext cx="6720840" cy="1328928"/>
          </a:xfrm>
          <a:prstGeom prst="rect">
            <a:avLst/>
          </a:prstGeom>
          <a:solidFill>
            <a:srgbClr val="FFFFFF"/>
          </a:solidFill>
          <a:ln w="8890">
            <a:solidFill>
              <a:srgbClr val="E7EDF1"/>
            </a:solidFill>
            <a:prstDash val="solid"/>
          </a:ln>
        </p:spPr>
      </p:sp>
      <p:sp>
        <p:nvSpPr>
          <p:cNvPr id="20" name="Shape 18"/>
          <p:cNvSpPr/>
          <p:nvPr/>
        </p:nvSpPr>
        <p:spPr>
          <a:xfrm>
            <a:off x="640080" y="4815840"/>
            <a:ext cx="50292" cy="1328928"/>
          </a:xfrm>
          <a:prstGeom prst="rect">
            <a:avLst/>
          </a:prstGeom>
          <a:solidFill>
            <a:srgbClr val="087F8C"/>
          </a:solidFill>
          <a:ln w="12700">
            <a:solidFill>
              <a:srgbClr val="087F8C">
                <a:alpha val="0"/>
              </a:srgbClr>
            </a:solidFill>
            <a:prstDash val="solid"/>
          </a:ln>
        </p:spPr>
      </p:sp>
      <p:sp>
        <p:nvSpPr>
          <p:cNvPr id="21" name="Text 19"/>
          <p:cNvSpPr/>
          <p:nvPr/>
        </p:nvSpPr>
        <p:spPr>
          <a:xfrm>
            <a:off x="786384" y="4907280"/>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03</a:t>
            </a:r>
            <a:endParaRPr lang="en-US" sz="950" dirty="0"/>
          </a:p>
        </p:txBody>
      </p:sp>
      <p:sp>
        <p:nvSpPr>
          <p:cNvPr id="22" name="Text 20"/>
          <p:cNvSpPr/>
          <p:nvPr/>
        </p:nvSpPr>
        <p:spPr>
          <a:xfrm>
            <a:off x="1197864" y="4898136"/>
            <a:ext cx="5989320" cy="1173480"/>
          </a:xfrm>
          <a:prstGeom prst="rect">
            <a:avLst/>
          </a:prstGeom>
          <a:noFill/>
          <a:ln/>
        </p:spPr>
        <p:txBody>
          <a:bodyPr wrap="square" lIns="0" tIns="0" rIns="0" bIns="0" rtlCol="0" anchor="ctr">
            <a:normAutofit/>
          </a:bodyPr>
          <a:lstStyle/>
          <a:p>
            <a:pPr indent="0" marL="0">
              <a:buNone/>
            </a:pPr>
            <a:r>
              <a:rPr lang="en-US" sz="1310" dirty="0">
                <a:solidFill>
                  <a:srgbClr val="334B5C"/>
                </a:solidFill>
                <a:latin typeface="Aptos" pitchFamily="34" charset="0"/>
                <a:ea typeface="Aptos" pitchFamily="34" charset="-122"/>
                <a:cs typeface="Aptos" pitchFamily="34" charset="-120"/>
              </a:rPr>
              <a:t>Cross-check the wiring diagram, I/O schedule, and downloaded project; expected result is a one-to-one documented mapping with no assumed sample addresses.</a:t>
            </a:r>
            <a:endParaRPr lang="en-US" sz="1310" dirty="0"/>
          </a:p>
        </p:txBody>
      </p:sp>
      <p:sp>
        <p:nvSpPr>
          <p:cNvPr id="23" name="Shape 21"/>
          <p:cNvSpPr/>
          <p:nvPr/>
        </p:nvSpPr>
        <p:spPr>
          <a:xfrm>
            <a:off x="7662672" y="1746504"/>
            <a:ext cx="3922776" cy="4361688"/>
          </a:xfrm>
          <a:prstGeom prst="rect">
            <a:avLst/>
          </a:prstGeom>
          <a:solidFill>
            <a:srgbClr val="FFFFFF"/>
          </a:solidFill>
          <a:ln w="12700">
            <a:solidFill>
              <a:srgbClr val="D5E0E7"/>
            </a:solidFill>
            <a:prstDash val="solid"/>
          </a:ln>
        </p:spPr>
      </p:sp>
      <p:sp>
        <p:nvSpPr>
          <p:cNvPr id="24" name="Text 22"/>
          <p:cNvSpPr/>
          <p:nvPr/>
        </p:nvSpPr>
        <p:spPr>
          <a:xfrm>
            <a:off x="7863840" y="1892808"/>
            <a:ext cx="3520440" cy="219456"/>
          </a:xfrm>
          <a:prstGeom prst="rect">
            <a:avLst/>
          </a:prstGeom>
          <a:noFill/>
          <a:ln/>
        </p:spPr>
        <p:txBody>
          <a:bodyPr wrap="square" lIns="0" tIns="0" rIns="0" bIns="0" rtlCol="0" anchor="ctr"/>
          <a:lstStyle/>
          <a:p>
            <a:pPr indent="0" marL="0">
              <a:buNone/>
            </a:pPr>
            <a:r>
              <a:rPr lang="en-US" sz="900" b="1" spc="80" kern="0" dirty="0">
                <a:solidFill>
                  <a:srgbClr val="087F8C"/>
                </a:solidFill>
                <a:latin typeface="Aptos" pitchFamily="34" charset="0"/>
                <a:ea typeface="Aptos" pitchFamily="34" charset="-122"/>
                <a:cs typeface="Aptos" pitchFamily="34" charset="-120"/>
              </a:rPr>
              <a:t>SIGNAL PATH</a:t>
            </a:r>
            <a:endParaRPr lang="en-US" sz="900" dirty="0"/>
          </a:p>
        </p:txBody>
      </p:sp>
      <p:sp>
        <p:nvSpPr>
          <p:cNvPr id="25" name="Shape 23"/>
          <p:cNvSpPr/>
          <p:nvPr/>
        </p:nvSpPr>
        <p:spPr>
          <a:xfrm>
            <a:off x="7863840" y="2221992"/>
            <a:ext cx="3520440" cy="0"/>
          </a:xfrm>
          <a:prstGeom prst="line">
            <a:avLst/>
          </a:prstGeom>
          <a:noFill/>
          <a:ln w="8890">
            <a:solidFill>
              <a:srgbClr val="D5E0E7"/>
            </a:solidFill>
            <a:prstDash val="solid"/>
          </a:ln>
        </p:spPr>
      </p:sp>
      <p:sp>
        <p:nvSpPr>
          <p:cNvPr id="26" name="Shape 24"/>
          <p:cNvSpPr/>
          <p:nvPr/>
        </p:nvSpPr>
        <p:spPr>
          <a:xfrm>
            <a:off x="7827264" y="3438144"/>
            <a:ext cx="804672" cy="822960"/>
          </a:xfrm>
          <a:prstGeom prst="rect">
            <a:avLst/>
          </a:prstGeom>
          <a:solidFill>
            <a:srgbClr val="F4F8FA"/>
          </a:solidFill>
          <a:ln w="14605">
            <a:solidFill>
              <a:srgbClr val="087F8C"/>
            </a:solidFill>
            <a:prstDash val="solid"/>
          </a:ln>
        </p:spPr>
      </p:sp>
      <p:sp>
        <p:nvSpPr>
          <p:cNvPr id="27" name="Text 25"/>
          <p:cNvSpPr/>
          <p:nvPr/>
        </p:nvSpPr>
        <p:spPr>
          <a:xfrm>
            <a:off x="7900416" y="3493008"/>
            <a:ext cx="658368" cy="713232"/>
          </a:xfrm>
          <a:prstGeom prst="rect">
            <a:avLst/>
          </a:prstGeom>
          <a:noFill/>
          <a:ln/>
        </p:spPr>
        <p:txBody>
          <a:bodyPr wrap="square" lIns="0" tIns="0" rIns="0" bIns="0" rtlCol="0" anchor="ctr">
            <a:normAutofit/>
          </a:bodyPr>
          <a:lstStyle/>
          <a:p>
            <a:pPr algn="ctr" indent="0" marL="0">
              <a:buNone/>
            </a:pPr>
            <a:r>
              <a:rPr lang="en-US" sz="870" b="1" dirty="0">
                <a:solidFill>
                  <a:srgbClr val="1B3448"/>
                </a:solidFill>
                <a:latin typeface="Aptos" pitchFamily="34" charset="0"/>
                <a:ea typeface="Aptos" pitchFamily="34" charset="-122"/>
                <a:cs typeface="Aptos" pitchFamily="34" charset="-120"/>
              </a:rPr>
              <a:t>SENSOR +</a:t>
            </a:r>
            <a:endParaRPr lang="en-US" sz="870" dirty="0"/>
          </a:p>
          <a:p>
            <a:pPr algn="ctr" indent="0" marL="0">
              <a:buNone/>
            </a:pPr>
            <a:r>
              <a:rPr lang="en-US" sz="870" b="1" dirty="0">
                <a:solidFill>
                  <a:srgbClr val="1B3448"/>
                </a:solidFill>
                <a:latin typeface="Aptos" pitchFamily="34" charset="0"/>
                <a:ea typeface="Aptos" pitchFamily="34" charset="-122"/>
                <a:cs typeface="Aptos" pitchFamily="34" charset="-120"/>
              </a:rPr>
              <a:t>BUTTONS</a:t>
            </a:r>
            <a:endParaRPr lang="en-US" sz="870" dirty="0"/>
          </a:p>
        </p:txBody>
      </p:sp>
      <p:sp>
        <p:nvSpPr>
          <p:cNvPr id="28" name="Shape 26"/>
          <p:cNvSpPr/>
          <p:nvPr/>
        </p:nvSpPr>
        <p:spPr>
          <a:xfrm>
            <a:off x="8833104" y="3438144"/>
            <a:ext cx="685800" cy="822960"/>
          </a:xfrm>
          <a:prstGeom prst="rect">
            <a:avLst/>
          </a:prstGeom>
          <a:solidFill>
            <a:srgbClr val="F4F8FA"/>
          </a:solidFill>
          <a:ln w="14605">
            <a:solidFill>
              <a:srgbClr val="087F8C"/>
            </a:solidFill>
            <a:prstDash val="solid"/>
          </a:ln>
        </p:spPr>
      </p:sp>
      <p:sp>
        <p:nvSpPr>
          <p:cNvPr id="29" name="Text 27"/>
          <p:cNvSpPr/>
          <p:nvPr/>
        </p:nvSpPr>
        <p:spPr>
          <a:xfrm>
            <a:off x="8906256" y="3493008"/>
            <a:ext cx="539496" cy="713232"/>
          </a:xfrm>
          <a:prstGeom prst="rect">
            <a:avLst/>
          </a:prstGeom>
          <a:noFill/>
          <a:ln/>
        </p:spPr>
        <p:txBody>
          <a:bodyPr wrap="square" lIns="0" tIns="0" rIns="0" bIns="0" rtlCol="0" anchor="ctr">
            <a:normAutofit/>
          </a:bodyPr>
          <a:lstStyle/>
          <a:p>
            <a:pPr algn="ctr" indent="0" marL="0">
              <a:buNone/>
            </a:pPr>
            <a:r>
              <a:rPr lang="en-US" sz="880" b="1" dirty="0">
                <a:solidFill>
                  <a:srgbClr val="1B3448"/>
                </a:solidFill>
                <a:latin typeface="Aptos" pitchFamily="34" charset="0"/>
                <a:ea typeface="Aptos" pitchFamily="34" charset="-122"/>
                <a:cs typeface="Aptos" pitchFamily="34" charset="-120"/>
              </a:rPr>
              <a:t>PLC</a:t>
            </a:r>
            <a:endParaRPr lang="en-US" sz="880" dirty="0"/>
          </a:p>
          <a:p>
            <a:pPr algn="ctr" indent="0" marL="0">
              <a:buNone/>
            </a:pPr>
            <a:r>
              <a:rPr lang="en-US" sz="880" b="1" dirty="0">
                <a:solidFill>
                  <a:srgbClr val="1B3448"/>
                </a:solidFill>
                <a:latin typeface="Aptos" pitchFamily="34" charset="0"/>
                <a:ea typeface="Aptos" pitchFamily="34" charset="-122"/>
                <a:cs typeface="Aptos" pitchFamily="34" charset="-120"/>
              </a:rPr>
              <a:t>INPUTS</a:t>
            </a:r>
            <a:endParaRPr lang="en-US" sz="880" dirty="0"/>
          </a:p>
        </p:txBody>
      </p:sp>
      <p:sp>
        <p:nvSpPr>
          <p:cNvPr id="30" name="Shape 28"/>
          <p:cNvSpPr/>
          <p:nvPr/>
        </p:nvSpPr>
        <p:spPr>
          <a:xfrm>
            <a:off x="9720072" y="3438144"/>
            <a:ext cx="676656" cy="822960"/>
          </a:xfrm>
          <a:prstGeom prst="rect">
            <a:avLst/>
          </a:prstGeom>
          <a:solidFill>
            <a:srgbClr val="EAF3F4"/>
          </a:solidFill>
          <a:ln w="14605">
            <a:solidFill>
              <a:srgbClr val="087F8C"/>
            </a:solidFill>
            <a:prstDash val="solid"/>
          </a:ln>
        </p:spPr>
      </p:sp>
      <p:sp>
        <p:nvSpPr>
          <p:cNvPr id="31" name="Text 29"/>
          <p:cNvSpPr/>
          <p:nvPr/>
        </p:nvSpPr>
        <p:spPr>
          <a:xfrm>
            <a:off x="9793224" y="3493008"/>
            <a:ext cx="530352" cy="713232"/>
          </a:xfrm>
          <a:prstGeom prst="rect">
            <a:avLst/>
          </a:prstGeom>
          <a:noFill/>
          <a:ln/>
        </p:spPr>
        <p:txBody>
          <a:bodyPr wrap="square" lIns="0" tIns="0" rIns="0" bIns="0" rtlCol="0" anchor="ctr">
            <a:normAutofit/>
          </a:bodyPr>
          <a:lstStyle/>
          <a:p>
            <a:pPr algn="ctr" indent="0" marL="0">
              <a:buNone/>
            </a:pPr>
            <a:r>
              <a:rPr lang="en-US" sz="880" b="1" dirty="0">
                <a:solidFill>
                  <a:srgbClr val="1B3448"/>
                </a:solidFill>
                <a:latin typeface="Aptos" pitchFamily="34" charset="0"/>
                <a:ea typeface="Aptos" pitchFamily="34" charset="-122"/>
                <a:cs typeface="Aptos" pitchFamily="34" charset="-120"/>
              </a:rPr>
              <a:t>CPU</a:t>
            </a:r>
            <a:endParaRPr lang="en-US" sz="880" dirty="0"/>
          </a:p>
          <a:p>
            <a:pPr algn="ctr" indent="0" marL="0">
              <a:buNone/>
            </a:pPr>
            <a:r>
              <a:rPr lang="en-US" sz="880" b="1" dirty="0">
                <a:solidFill>
                  <a:srgbClr val="1B3448"/>
                </a:solidFill>
                <a:latin typeface="Aptos" pitchFamily="34" charset="0"/>
                <a:ea typeface="Aptos" pitchFamily="34" charset="-122"/>
                <a:cs typeface="Aptos" pitchFamily="34" charset="-120"/>
              </a:rPr>
              <a:t>LOGIC</a:t>
            </a:r>
            <a:endParaRPr lang="en-US" sz="880" dirty="0"/>
          </a:p>
        </p:txBody>
      </p:sp>
      <p:sp>
        <p:nvSpPr>
          <p:cNvPr id="32" name="Shape 30"/>
          <p:cNvSpPr/>
          <p:nvPr/>
        </p:nvSpPr>
        <p:spPr>
          <a:xfrm>
            <a:off x="10625328" y="3438144"/>
            <a:ext cx="722376" cy="822960"/>
          </a:xfrm>
          <a:prstGeom prst="rect">
            <a:avLst/>
          </a:prstGeom>
          <a:solidFill>
            <a:srgbClr val="F4F8FA"/>
          </a:solidFill>
          <a:ln w="14605">
            <a:solidFill>
              <a:srgbClr val="087F8C"/>
            </a:solidFill>
            <a:prstDash val="solid"/>
          </a:ln>
        </p:spPr>
      </p:sp>
      <p:sp>
        <p:nvSpPr>
          <p:cNvPr id="33" name="Text 31"/>
          <p:cNvSpPr/>
          <p:nvPr/>
        </p:nvSpPr>
        <p:spPr>
          <a:xfrm>
            <a:off x="10698480" y="3493008"/>
            <a:ext cx="576072" cy="713232"/>
          </a:xfrm>
          <a:prstGeom prst="rect">
            <a:avLst/>
          </a:prstGeom>
          <a:noFill/>
          <a:ln/>
        </p:spPr>
        <p:txBody>
          <a:bodyPr wrap="square" lIns="0" tIns="0" rIns="0" bIns="0" rtlCol="0" anchor="ctr">
            <a:normAutofit/>
          </a:bodyPr>
          <a:lstStyle/>
          <a:p>
            <a:pPr algn="ctr" indent="0" marL="0">
              <a:buNone/>
            </a:pPr>
            <a:r>
              <a:rPr lang="en-US" sz="820" b="1" dirty="0">
                <a:solidFill>
                  <a:srgbClr val="1B3448"/>
                </a:solidFill>
                <a:latin typeface="Aptos" pitchFamily="34" charset="0"/>
                <a:ea typeface="Aptos" pitchFamily="34" charset="-122"/>
                <a:cs typeface="Aptos" pitchFamily="34" charset="-120"/>
              </a:rPr>
              <a:t>OUTPUT</a:t>
            </a:r>
            <a:endParaRPr lang="en-US" sz="820" dirty="0"/>
          </a:p>
          <a:p>
            <a:pPr algn="ctr" indent="0" marL="0">
              <a:buNone/>
            </a:pPr>
            <a:r>
              <a:rPr lang="en-US" sz="820" b="1" dirty="0">
                <a:solidFill>
                  <a:srgbClr val="1B3448"/>
                </a:solidFill>
                <a:latin typeface="Aptos" pitchFamily="34" charset="0"/>
                <a:ea typeface="Aptos" pitchFamily="34" charset="-122"/>
                <a:cs typeface="Aptos" pitchFamily="34" charset="-120"/>
              </a:rPr>
              <a:t>INTERFACE</a:t>
            </a:r>
            <a:endParaRPr lang="en-US" sz="820" dirty="0"/>
          </a:p>
        </p:txBody>
      </p:sp>
      <p:sp>
        <p:nvSpPr>
          <p:cNvPr id="34" name="Shape 32"/>
          <p:cNvSpPr/>
          <p:nvPr/>
        </p:nvSpPr>
        <p:spPr>
          <a:xfrm>
            <a:off x="8650224" y="3849624"/>
            <a:ext cx="146304" cy="0"/>
          </a:xfrm>
          <a:prstGeom prst="line">
            <a:avLst/>
          </a:prstGeom>
          <a:noFill/>
          <a:ln w="22860">
            <a:solidFill>
              <a:srgbClr val="087F8C"/>
            </a:solidFill>
            <a:prstDash val="solid"/>
            <a:tailEnd type="triangle"/>
          </a:ln>
        </p:spPr>
      </p:sp>
      <p:sp>
        <p:nvSpPr>
          <p:cNvPr id="35" name="Shape 33"/>
          <p:cNvSpPr/>
          <p:nvPr/>
        </p:nvSpPr>
        <p:spPr>
          <a:xfrm>
            <a:off x="9537192" y="3849624"/>
            <a:ext cx="146304" cy="0"/>
          </a:xfrm>
          <a:prstGeom prst="line">
            <a:avLst/>
          </a:prstGeom>
          <a:noFill/>
          <a:ln w="22860">
            <a:solidFill>
              <a:srgbClr val="087F8C"/>
            </a:solidFill>
            <a:prstDash val="solid"/>
            <a:tailEnd type="triangle"/>
          </a:ln>
        </p:spPr>
      </p:sp>
      <p:sp>
        <p:nvSpPr>
          <p:cNvPr id="36" name="Shape 34"/>
          <p:cNvSpPr/>
          <p:nvPr/>
        </p:nvSpPr>
        <p:spPr>
          <a:xfrm>
            <a:off x="10415016" y="3849624"/>
            <a:ext cx="173736" cy="0"/>
          </a:xfrm>
          <a:prstGeom prst="line">
            <a:avLst/>
          </a:prstGeom>
          <a:noFill/>
          <a:ln w="22860">
            <a:solidFill>
              <a:srgbClr val="087F8C"/>
            </a:solidFill>
            <a:prstDash val="solid"/>
            <a:tailEnd type="triangle"/>
          </a:ln>
        </p:spPr>
      </p:sp>
      <p:sp>
        <p:nvSpPr>
          <p:cNvPr id="37" name="Text 35"/>
          <p:cNvSpPr/>
          <p:nvPr/>
        </p:nvSpPr>
        <p:spPr>
          <a:xfrm>
            <a:off x="8101584" y="4599432"/>
            <a:ext cx="2926080" cy="320040"/>
          </a:xfrm>
          <a:prstGeom prst="rect">
            <a:avLst/>
          </a:prstGeom>
          <a:noFill/>
          <a:ln/>
        </p:spPr>
        <p:txBody>
          <a:bodyPr wrap="square" lIns="0" tIns="0" rIns="0" bIns="0" rtlCol="0" anchor="ctr">
            <a:normAutofit/>
          </a:bodyPr>
          <a:lstStyle/>
          <a:p>
            <a:pPr algn="ctr" indent="0" marL="0">
              <a:buNone/>
            </a:pPr>
            <a:r>
              <a:rPr lang="en-US" sz="1000" b="1" dirty="0">
                <a:solidFill>
                  <a:srgbClr val="1B3448"/>
                </a:solidFill>
                <a:latin typeface="Aptos" pitchFamily="34" charset="0"/>
                <a:ea typeface="Aptos" pitchFamily="34" charset="-122"/>
                <a:cs typeface="Aptos" pitchFamily="34" charset="-120"/>
              </a:rPr>
              <a:t>ACTUATOR  /  BUZZER</a:t>
            </a:r>
            <a:endParaRPr lang="en-US" sz="1000" dirty="0"/>
          </a:p>
        </p:txBody>
      </p:sp>
      <p:sp>
        <p:nvSpPr>
          <p:cNvPr id="38" name="Text 36"/>
          <p:cNvSpPr/>
          <p:nvPr/>
        </p:nvSpPr>
        <p:spPr>
          <a:xfrm>
            <a:off x="8046720" y="5129784"/>
            <a:ext cx="3154680" cy="566928"/>
          </a:xfrm>
          <a:prstGeom prst="rect">
            <a:avLst/>
          </a:prstGeom>
          <a:noFill/>
          <a:ln/>
        </p:spPr>
        <p:txBody>
          <a:bodyPr wrap="square" lIns="0" tIns="0" rIns="0" bIns="0" rtlCol="0" anchor="ctr">
            <a:normAutofit/>
          </a:bodyPr>
          <a:lstStyle/>
          <a:p>
            <a:pPr algn="ctr" indent="0" marL="0">
              <a:buNone/>
            </a:pPr>
            <a:r>
              <a:rPr lang="en-US" sz="1050" dirty="0">
                <a:solidFill>
                  <a:srgbClr val="607585"/>
                </a:solidFill>
                <a:latin typeface="Aptos" pitchFamily="34" charset="0"/>
                <a:ea typeface="Aptos" pitchFamily="34" charset="-122"/>
                <a:cs typeface="Aptos" pitchFamily="34" charset="-120"/>
              </a:rPr>
              <a:t>Verify voltage, polarity, load current and channel limits</a:t>
            </a:r>
            <a:endParaRPr lang="en-US" sz="1050" dirty="0"/>
          </a:p>
        </p:txBody>
      </p:sp>
      <p:sp>
        <p:nvSpPr>
          <p:cNvPr id="39" name="Shape 37"/>
          <p:cNvSpPr/>
          <p:nvPr/>
        </p:nvSpPr>
        <p:spPr>
          <a:xfrm>
            <a:off x="603504" y="6318504"/>
            <a:ext cx="10972800" cy="0"/>
          </a:xfrm>
          <a:prstGeom prst="line">
            <a:avLst/>
          </a:prstGeom>
          <a:noFill/>
          <a:ln w="10160">
            <a:solidFill>
              <a:srgbClr val="D5E0E7"/>
            </a:solidFill>
            <a:prstDash val="solid"/>
          </a:ln>
        </p:spPr>
      </p:sp>
      <p:sp>
        <p:nvSpPr>
          <p:cNvPr id="40" name="Text 38"/>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SIGNAL PROCESSING AND SIGNAL INTEGRITY</a:t>
            </a:r>
            <a:endParaRPr lang="en-US" sz="800" dirty="0"/>
          </a:p>
        </p:txBody>
      </p:sp>
      <p:sp>
        <p:nvSpPr>
          <p:cNvPr id="41" name="Text 39"/>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12 / 18</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087F8C"/>
          </a:solidFill>
          <a:ln w="12700">
            <a:solidFill>
              <a:srgbClr val="087F8C">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087F8C"/>
                </a:solidFill>
                <a:latin typeface="Aptos" pitchFamily="34" charset="0"/>
                <a:ea typeface="Aptos" pitchFamily="34" charset="-122"/>
                <a:cs typeface="Aptos" pitchFamily="34" charset="-120"/>
              </a:rPr>
              <a:t>UNIT 5009    /    WEEK 05    /    LO2</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10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087F8C"/>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087F8C"/>
                </a:solidFill>
                <a:latin typeface="Aptos" pitchFamily="34" charset="0"/>
                <a:ea typeface="Aptos" pitchFamily="34" charset="-122"/>
                <a:cs typeface="Aptos" pitchFamily="34" charset="-120"/>
              </a:rPr>
              <a:t>LO2 FOUNDATIONS</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3100" b="1" dirty="0">
                <a:solidFill>
                  <a:srgbClr val="1B3448"/>
                </a:solidFill>
                <a:latin typeface="Aptos Display" pitchFamily="34" charset="0"/>
                <a:ea typeface="Aptos Display" pitchFamily="34" charset="-122"/>
                <a:cs typeface="Aptos Display" pitchFamily="34" charset="-120"/>
              </a:rPr>
              <a:t>Demonstrate the normal operating cycle</a:t>
            </a:r>
            <a:endParaRPr lang="en-US" sz="31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67512" y="1709928"/>
            <a:ext cx="2743200" cy="210312"/>
          </a:xfrm>
          <a:prstGeom prst="rect">
            <a:avLst/>
          </a:prstGeom>
          <a:noFill/>
          <a:ln/>
        </p:spPr>
        <p:txBody>
          <a:bodyPr wrap="square" lIns="0" tIns="0" rIns="0" bIns="0" rtlCol="0" anchor="ctr"/>
          <a:lstStyle/>
          <a:p>
            <a:pPr indent="0" marL="0">
              <a:buNone/>
            </a:pPr>
            <a:r>
              <a:rPr lang="en-US" sz="900" b="1" spc="100" kern="0" dirty="0">
                <a:solidFill>
                  <a:srgbClr val="087F8C"/>
                </a:solidFill>
                <a:latin typeface="Aptos" pitchFamily="34" charset="0"/>
                <a:ea typeface="Aptos" pitchFamily="34" charset="-122"/>
                <a:cs typeface="Aptos" pitchFamily="34" charset="-120"/>
              </a:rPr>
              <a:t>TEACHING POINTS</a:t>
            </a:r>
            <a:endParaRPr lang="en-US" sz="900" dirty="0"/>
          </a:p>
        </p:txBody>
      </p:sp>
      <p:sp>
        <p:nvSpPr>
          <p:cNvPr id="11" name="Shape 9"/>
          <p:cNvSpPr/>
          <p:nvPr/>
        </p:nvSpPr>
        <p:spPr>
          <a:xfrm>
            <a:off x="640080" y="1993392"/>
            <a:ext cx="6720840" cy="1328928"/>
          </a:xfrm>
          <a:prstGeom prst="rect">
            <a:avLst/>
          </a:prstGeom>
          <a:solidFill>
            <a:srgbClr val="FFFFFF"/>
          </a:solidFill>
          <a:ln w="8890">
            <a:solidFill>
              <a:srgbClr val="D5E0E7"/>
            </a:solidFill>
            <a:prstDash val="solid"/>
          </a:ln>
        </p:spPr>
      </p:sp>
      <p:sp>
        <p:nvSpPr>
          <p:cNvPr id="12" name="Shape 10"/>
          <p:cNvSpPr/>
          <p:nvPr/>
        </p:nvSpPr>
        <p:spPr>
          <a:xfrm>
            <a:off x="640080" y="1993392"/>
            <a:ext cx="50292" cy="1328928"/>
          </a:xfrm>
          <a:prstGeom prst="rect">
            <a:avLst/>
          </a:prstGeom>
          <a:solidFill>
            <a:srgbClr val="087F8C"/>
          </a:solidFill>
          <a:ln w="12700">
            <a:solidFill>
              <a:srgbClr val="087F8C">
                <a:alpha val="0"/>
              </a:srgbClr>
            </a:solidFill>
            <a:prstDash val="solid"/>
          </a:ln>
        </p:spPr>
      </p:sp>
      <p:sp>
        <p:nvSpPr>
          <p:cNvPr id="13" name="Text 11"/>
          <p:cNvSpPr/>
          <p:nvPr/>
        </p:nvSpPr>
        <p:spPr>
          <a:xfrm>
            <a:off x="786384" y="2084832"/>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01</a:t>
            </a:r>
            <a:endParaRPr lang="en-US" sz="950" dirty="0"/>
          </a:p>
        </p:txBody>
      </p:sp>
      <p:sp>
        <p:nvSpPr>
          <p:cNvPr id="14" name="Text 12"/>
          <p:cNvSpPr/>
          <p:nvPr/>
        </p:nvSpPr>
        <p:spPr>
          <a:xfrm>
            <a:off x="1197864" y="2075688"/>
            <a:ext cx="5989320" cy="1173480"/>
          </a:xfrm>
          <a:prstGeom prst="rect">
            <a:avLst/>
          </a:prstGeom>
          <a:noFill/>
          <a:ln/>
        </p:spPr>
        <p:txBody>
          <a:bodyPr wrap="square" lIns="0" tIns="0" rIns="0" bIns="0" rtlCol="0" anchor="ctr">
            <a:normAutofit/>
          </a:bodyPr>
          <a:lstStyle/>
          <a:p>
            <a:pPr indent="0" marL="0">
              <a:buNone/>
            </a:pPr>
            <a:r>
              <a:rPr lang="en-US" sz="1310" dirty="0">
                <a:solidFill>
                  <a:srgbClr val="334B5C"/>
                </a:solidFill>
                <a:latin typeface="Aptos" pitchFamily="34" charset="0"/>
                <a:ea typeface="Aptos" pitchFamily="34" charset="-122"/>
                <a:cs typeface="Aptos" pitchFamily="34" charset="-120"/>
              </a:rPr>
              <a:t>Procedure on the authorised simulator/training rig: confirm safe idle, issue Start, generate one pill-sensor event at a time, observe count and state, reach the configured target, inspect the actuator/buzzer request, then reset using the documented sequence.</a:t>
            </a:r>
            <a:endParaRPr lang="en-US" sz="1310" dirty="0"/>
          </a:p>
        </p:txBody>
      </p:sp>
      <p:sp>
        <p:nvSpPr>
          <p:cNvPr id="15" name="Shape 13"/>
          <p:cNvSpPr/>
          <p:nvPr/>
        </p:nvSpPr>
        <p:spPr>
          <a:xfrm>
            <a:off x="640080" y="3404616"/>
            <a:ext cx="6720840" cy="1328928"/>
          </a:xfrm>
          <a:prstGeom prst="rect">
            <a:avLst/>
          </a:prstGeom>
          <a:solidFill>
            <a:srgbClr val="FFFFFF"/>
          </a:solidFill>
          <a:ln w="8890">
            <a:solidFill>
              <a:srgbClr val="E7EDF1"/>
            </a:solidFill>
            <a:prstDash val="solid"/>
          </a:ln>
        </p:spPr>
      </p:sp>
      <p:sp>
        <p:nvSpPr>
          <p:cNvPr id="16" name="Shape 14"/>
          <p:cNvSpPr/>
          <p:nvPr/>
        </p:nvSpPr>
        <p:spPr>
          <a:xfrm>
            <a:off x="640080" y="3404616"/>
            <a:ext cx="50292" cy="1328928"/>
          </a:xfrm>
          <a:prstGeom prst="rect">
            <a:avLst/>
          </a:prstGeom>
          <a:solidFill>
            <a:srgbClr val="087F8C"/>
          </a:solidFill>
          <a:ln w="12700">
            <a:solidFill>
              <a:srgbClr val="087F8C">
                <a:alpha val="0"/>
              </a:srgbClr>
            </a:solidFill>
            <a:prstDash val="solid"/>
          </a:ln>
        </p:spPr>
      </p:sp>
      <p:sp>
        <p:nvSpPr>
          <p:cNvPr id="17" name="Text 15"/>
          <p:cNvSpPr/>
          <p:nvPr/>
        </p:nvSpPr>
        <p:spPr>
          <a:xfrm>
            <a:off x="786384" y="3496056"/>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02</a:t>
            </a:r>
            <a:endParaRPr lang="en-US" sz="950" dirty="0"/>
          </a:p>
        </p:txBody>
      </p:sp>
      <p:sp>
        <p:nvSpPr>
          <p:cNvPr id="18" name="Text 16"/>
          <p:cNvSpPr/>
          <p:nvPr/>
        </p:nvSpPr>
        <p:spPr>
          <a:xfrm>
            <a:off x="1197864" y="3486912"/>
            <a:ext cx="5989320" cy="1173480"/>
          </a:xfrm>
          <a:prstGeom prst="rect">
            <a:avLst/>
          </a:prstGeom>
          <a:noFill/>
          <a:ln/>
        </p:spPr>
        <p:txBody>
          <a:bodyPr wrap="square" lIns="0" tIns="0" rIns="0" bIns="0" rtlCol="0" anchor="ctr">
            <a:normAutofit/>
          </a:bodyPr>
          <a:lstStyle/>
          <a:p>
            <a:pPr indent="0" marL="0">
              <a:buNone/>
            </a:pPr>
            <a:r>
              <a:rPr lang="en-US" sz="1310" dirty="0">
                <a:solidFill>
                  <a:srgbClr val="334B5C"/>
                </a:solidFill>
                <a:latin typeface="Aptos" pitchFamily="34" charset="0"/>
                <a:ea typeface="Aptos" pitchFamily="34" charset="-122"/>
                <a:cs typeface="Aptos" pitchFamily="34" charset="-120"/>
              </a:rPr>
              <a:t>Expected observations: each valid event increments the count once; the target transition occurs at the configured value; outputs respond only when the program's permissives are true.</a:t>
            </a:r>
            <a:endParaRPr lang="en-US" sz="1310" dirty="0"/>
          </a:p>
        </p:txBody>
      </p:sp>
      <p:sp>
        <p:nvSpPr>
          <p:cNvPr id="19" name="Shape 17"/>
          <p:cNvSpPr/>
          <p:nvPr/>
        </p:nvSpPr>
        <p:spPr>
          <a:xfrm>
            <a:off x="640080" y="4815840"/>
            <a:ext cx="6720840" cy="1328928"/>
          </a:xfrm>
          <a:prstGeom prst="rect">
            <a:avLst/>
          </a:prstGeom>
          <a:solidFill>
            <a:srgbClr val="FFFFFF"/>
          </a:solidFill>
          <a:ln w="8890">
            <a:solidFill>
              <a:srgbClr val="E7EDF1"/>
            </a:solidFill>
            <a:prstDash val="solid"/>
          </a:ln>
        </p:spPr>
      </p:sp>
      <p:sp>
        <p:nvSpPr>
          <p:cNvPr id="20" name="Shape 18"/>
          <p:cNvSpPr/>
          <p:nvPr/>
        </p:nvSpPr>
        <p:spPr>
          <a:xfrm>
            <a:off x="640080" y="4815840"/>
            <a:ext cx="50292" cy="1328928"/>
          </a:xfrm>
          <a:prstGeom prst="rect">
            <a:avLst/>
          </a:prstGeom>
          <a:solidFill>
            <a:srgbClr val="087F8C"/>
          </a:solidFill>
          <a:ln w="12700">
            <a:solidFill>
              <a:srgbClr val="087F8C">
                <a:alpha val="0"/>
              </a:srgbClr>
            </a:solidFill>
            <a:prstDash val="solid"/>
          </a:ln>
        </p:spPr>
      </p:sp>
      <p:sp>
        <p:nvSpPr>
          <p:cNvPr id="21" name="Text 19"/>
          <p:cNvSpPr/>
          <p:nvPr/>
        </p:nvSpPr>
        <p:spPr>
          <a:xfrm>
            <a:off x="786384" y="4907280"/>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03</a:t>
            </a:r>
            <a:endParaRPr lang="en-US" sz="950" dirty="0"/>
          </a:p>
        </p:txBody>
      </p:sp>
      <p:sp>
        <p:nvSpPr>
          <p:cNvPr id="22" name="Text 20"/>
          <p:cNvSpPr/>
          <p:nvPr/>
        </p:nvSpPr>
        <p:spPr>
          <a:xfrm>
            <a:off x="1197864" y="4898136"/>
            <a:ext cx="5989320" cy="1173480"/>
          </a:xfrm>
          <a:prstGeom prst="rect">
            <a:avLst/>
          </a:prstGeom>
          <a:noFill/>
          <a:ln/>
        </p:spPr>
        <p:txBody>
          <a:bodyPr wrap="square" lIns="0" tIns="0" rIns="0" bIns="0" rtlCol="0" anchor="ctr">
            <a:normAutofit/>
          </a:bodyPr>
          <a:lstStyle/>
          <a:p>
            <a:pPr indent="0" marL="0">
              <a:buNone/>
            </a:pPr>
            <a:r>
              <a:rPr lang="en-US" sz="1310" dirty="0">
                <a:solidFill>
                  <a:srgbClr val="334B5C"/>
                </a:solidFill>
                <a:latin typeface="Aptos" pitchFamily="34" charset="0"/>
                <a:ea typeface="Aptos" pitchFamily="34" charset="-122"/>
                <a:cs typeface="Aptos" pitchFamily="34" charset="-120"/>
              </a:rPr>
              <a:t>Monitor the physical/module indication and program tags together, and pause at each transition to explain which input or condition changed the state.</a:t>
            </a:r>
            <a:endParaRPr lang="en-US" sz="1310" dirty="0"/>
          </a:p>
        </p:txBody>
      </p:sp>
      <p:sp>
        <p:nvSpPr>
          <p:cNvPr id="23" name="Shape 21"/>
          <p:cNvSpPr/>
          <p:nvPr/>
        </p:nvSpPr>
        <p:spPr>
          <a:xfrm>
            <a:off x="7662672" y="1746504"/>
            <a:ext cx="3922776" cy="4361688"/>
          </a:xfrm>
          <a:prstGeom prst="rect">
            <a:avLst/>
          </a:prstGeom>
          <a:solidFill>
            <a:srgbClr val="FFFFFF"/>
          </a:solidFill>
          <a:ln w="12700">
            <a:solidFill>
              <a:srgbClr val="D5E0E7"/>
            </a:solidFill>
            <a:prstDash val="solid"/>
          </a:ln>
        </p:spPr>
      </p:sp>
      <p:sp>
        <p:nvSpPr>
          <p:cNvPr id="24" name="Text 22"/>
          <p:cNvSpPr/>
          <p:nvPr/>
        </p:nvSpPr>
        <p:spPr>
          <a:xfrm>
            <a:off x="7863840" y="1892808"/>
            <a:ext cx="3520440" cy="219456"/>
          </a:xfrm>
          <a:prstGeom prst="rect">
            <a:avLst/>
          </a:prstGeom>
          <a:noFill/>
          <a:ln/>
        </p:spPr>
        <p:txBody>
          <a:bodyPr wrap="square" lIns="0" tIns="0" rIns="0" bIns="0" rtlCol="0" anchor="ctr"/>
          <a:lstStyle/>
          <a:p>
            <a:pPr indent="0" marL="0">
              <a:buNone/>
            </a:pPr>
            <a:r>
              <a:rPr lang="en-US" sz="900" b="1" spc="80" kern="0" dirty="0">
                <a:solidFill>
                  <a:srgbClr val="087F8C"/>
                </a:solidFill>
                <a:latin typeface="Aptos" pitchFamily="34" charset="0"/>
                <a:ea typeface="Aptos" pitchFamily="34" charset="-122"/>
                <a:cs typeface="Aptos" pitchFamily="34" charset="-120"/>
              </a:rPr>
              <a:t>PROCESS STATE MODEL</a:t>
            </a:r>
            <a:endParaRPr lang="en-US" sz="900" dirty="0"/>
          </a:p>
        </p:txBody>
      </p:sp>
      <p:sp>
        <p:nvSpPr>
          <p:cNvPr id="25" name="Shape 23"/>
          <p:cNvSpPr/>
          <p:nvPr/>
        </p:nvSpPr>
        <p:spPr>
          <a:xfrm>
            <a:off x="7863840" y="2221992"/>
            <a:ext cx="3520440" cy="0"/>
          </a:xfrm>
          <a:prstGeom prst="line">
            <a:avLst/>
          </a:prstGeom>
          <a:noFill/>
          <a:ln w="8890">
            <a:solidFill>
              <a:srgbClr val="D5E0E7"/>
            </a:solidFill>
            <a:prstDash val="solid"/>
          </a:ln>
        </p:spPr>
      </p:sp>
      <p:sp>
        <p:nvSpPr>
          <p:cNvPr id="26" name="Shape 24"/>
          <p:cNvSpPr/>
          <p:nvPr/>
        </p:nvSpPr>
        <p:spPr>
          <a:xfrm>
            <a:off x="8046720" y="2770632"/>
            <a:ext cx="1225296" cy="530352"/>
          </a:xfrm>
          <a:prstGeom prst="rect">
            <a:avLst/>
          </a:prstGeom>
          <a:solidFill>
            <a:srgbClr val="F4F8FA"/>
          </a:solidFill>
          <a:ln w="14605">
            <a:solidFill>
              <a:srgbClr val="087F8C"/>
            </a:solidFill>
            <a:prstDash val="solid"/>
          </a:ln>
        </p:spPr>
      </p:sp>
      <p:sp>
        <p:nvSpPr>
          <p:cNvPr id="27" name="Text 25"/>
          <p:cNvSpPr/>
          <p:nvPr/>
        </p:nvSpPr>
        <p:spPr>
          <a:xfrm>
            <a:off x="8119872" y="2825496"/>
            <a:ext cx="1078992" cy="420624"/>
          </a:xfrm>
          <a:prstGeom prst="rect">
            <a:avLst/>
          </a:prstGeom>
          <a:noFill/>
          <a:ln/>
        </p:spPr>
        <p:txBody>
          <a:bodyPr wrap="square" lIns="0" tIns="0" rIns="0" bIns="0" rtlCol="0" anchor="ctr">
            <a:normAutofit/>
          </a:bodyPr>
          <a:lstStyle/>
          <a:p>
            <a:pPr algn="ctr" indent="0" marL="0">
              <a:buNone/>
            </a:pPr>
            <a:r>
              <a:rPr lang="en-US" sz="1050" b="1" dirty="0">
                <a:solidFill>
                  <a:srgbClr val="1B3448"/>
                </a:solidFill>
                <a:latin typeface="Aptos" pitchFamily="34" charset="0"/>
                <a:ea typeface="Aptos" pitchFamily="34" charset="-122"/>
                <a:cs typeface="Aptos" pitchFamily="34" charset="-120"/>
              </a:rPr>
              <a:t>READY</a:t>
            </a:r>
            <a:endParaRPr lang="en-US" sz="1050" dirty="0"/>
          </a:p>
        </p:txBody>
      </p:sp>
      <p:sp>
        <p:nvSpPr>
          <p:cNvPr id="28" name="Shape 26"/>
          <p:cNvSpPr/>
          <p:nvPr/>
        </p:nvSpPr>
        <p:spPr>
          <a:xfrm>
            <a:off x="9921240" y="2770632"/>
            <a:ext cx="1225296" cy="530352"/>
          </a:xfrm>
          <a:prstGeom prst="rect">
            <a:avLst/>
          </a:prstGeom>
          <a:solidFill>
            <a:srgbClr val="F4F8FA"/>
          </a:solidFill>
          <a:ln w="14605">
            <a:solidFill>
              <a:srgbClr val="087F8C"/>
            </a:solidFill>
            <a:prstDash val="solid"/>
          </a:ln>
        </p:spPr>
      </p:sp>
      <p:sp>
        <p:nvSpPr>
          <p:cNvPr id="29" name="Text 27"/>
          <p:cNvSpPr/>
          <p:nvPr/>
        </p:nvSpPr>
        <p:spPr>
          <a:xfrm>
            <a:off x="9994392" y="2825496"/>
            <a:ext cx="1078992" cy="420624"/>
          </a:xfrm>
          <a:prstGeom prst="rect">
            <a:avLst/>
          </a:prstGeom>
          <a:noFill/>
          <a:ln/>
        </p:spPr>
        <p:txBody>
          <a:bodyPr wrap="square" lIns="0" tIns="0" rIns="0" bIns="0" rtlCol="0" anchor="ctr">
            <a:normAutofit/>
          </a:bodyPr>
          <a:lstStyle/>
          <a:p>
            <a:pPr algn="ctr" indent="0" marL="0">
              <a:buNone/>
            </a:pPr>
            <a:r>
              <a:rPr lang="en-US" sz="1050" b="1" dirty="0">
                <a:solidFill>
                  <a:srgbClr val="1B3448"/>
                </a:solidFill>
                <a:latin typeface="Aptos" pitchFamily="34" charset="0"/>
                <a:ea typeface="Aptos" pitchFamily="34" charset="-122"/>
                <a:cs typeface="Aptos" pitchFamily="34" charset="-120"/>
              </a:rPr>
              <a:t>COUNT</a:t>
            </a:r>
            <a:endParaRPr lang="en-US" sz="1050" dirty="0"/>
          </a:p>
        </p:txBody>
      </p:sp>
      <p:sp>
        <p:nvSpPr>
          <p:cNvPr id="30" name="Shape 28"/>
          <p:cNvSpPr/>
          <p:nvPr/>
        </p:nvSpPr>
        <p:spPr>
          <a:xfrm>
            <a:off x="9921240" y="3959352"/>
            <a:ext cx="1225296" cy="530352"/>
          </a:xfrm>
          <a:prstGeom prst="rect">
            <a:avLst/>
          </a:prstGeom>
          <a:solidFill>
            <a:srgbClr val="F4F8FA"/>
          </a:solidFill>
          <a:ln w="14605">
            <a:solidFill>
              <a:srgbClr val="087F8C"/>
            </a:solidFill>
            <a:prstDash val="solid"/>
          </a:ln>
        </p:spPr>
      </p:sp>
      <p:sp>
        <p:nvSpPr>
          <p:cNvPr id="31" name="Text 29"/>
          <p:cNvSpPr/>
          <p:nvPr/>
        </p:nvSpPr>
        <p:spPr>
          <a:xfrm>
            <a:off x="9994392" y="4014216"/>
            <a:ext cx="1078992" cy="420624"/>
          </a:xfrm>
          <a:prstGeom prst="rect">
            <a:avLst/>
          </a:prstGeom>
          <a:noFill/>
          <a:ln/>
        </p:spPr>
        <p:txBody>
          <a:bodyPr wrap="square" lIns="0" tIns="0" rIns="0" bIns="0" rtlCol="0" anchor="ctr">
            <a:normAutofit/>
          </a:bodyPr>
          <a:lstStyle/>
          <a:p>
            <a:pPr algn="ctr" indent="0" marL="0">
              <a:buNone/>
            </a:pPr>
            <a:r>
              <a:rPr lang="en-US" sz="1050" b="1" dirty="0">
                <a:solidFill>
                  <a:srgbClr val="1B3448"/>
                </a:solidFill>
                <a:latin typeface="Aptos" pitchFamily="34" charset="0"/>
                <a:ea typeface="Aptos" pitchFamily="34" charset="-122"/>
                <a:cs typeface="Aptos" pitchFamily="34" charset="-120"/>
              </a:rPr>
              <a:t>PACKAGE</a:t>
            </a:r>
            <a:endParaRPr lang="en-US" sz="1050" dirty="0"/>
          </a:p>
        </p:txBody>
      </p:sp>
      <p:sp>
        <p:nvSpPr>
          <p:cNvPr id="32" name="Shape 30"/>
          <p:cNvSpPr/>
          <p:nvPr/>
        </p:nvSpPr>
        <p:spPr>
          <a:xfrm>
            <a:off x="8046720" y="3959352"/>
            <a:ext cx="1225296" cy="530352"/>
          </a:xfrm>
          <a:prstGeom prst="rect">
            <a:avLst/>
          </a:prstGeom>
          <a:solidFill>
            <a:srgbClr val="F4F8FA"/>
          </a:solidFill>
          <a:ln w="14605">
            <a:solidFill>
              <a:srgbClr val="087F8C"/>
            </a:solidFill>
            <a:prstDash val="solid"/>
          </a:ln>
        </p:spPr>
      </p:sp>
      <p:sp>
        <p:nvSpPr>
          <p:cNvPr id="33" name="Text 31"/>
          <p:cNvSpPr/>
          <p:nvPr/>
        </p:nvSpPr>
        <p:spPr>
          <a:xfrm>
            <a:off x="8119872" y="4014216"/>
            <a:ext cx="1078992" cy="420624"/>
          </a:xfrm>
          <a:prstGeom prst="rect">
            <a:avLst/>
          </a:prstGeom>
          <a:noFill/>
          <a:ln/>
        </p:spPr>
        <p:txBody>
          <a:bodyPr wrap="square" lIns="0" tIns="0" rIns="0" bIns="0" rtlCol="0" anchor="ctr">
            <a:normAutofit/>
          </a:bodyPr>
          <a:lstStyle/>
          <a:p>
            <a:pPr algn="ctr" indent="0" marL="0">
              <a:buNone/>
            </a:pPr>
            <a:r>
              <a:rPr lang="en-US" sz="1050" b="1" dirty="0">
                <a:solidFill>
                  <a:srgbClr val="1B3448"/>
                </a:solidFill>
                <a:latin typeface="Aptos" pitchFamily="34" charset="0"/>
                <a:ea typeface="Aptos" pitchFamily="34" charset="-122"/>
                <a:cs typeface="Aptos" pitchFamily="34" charset="-120"/>
              </a:rPr>
              <a:t>COMPLETE</a:t>
            </a:r>
            <a:endParaRPr lang="en-US" sz="1050" dirty="0"/>
          </a:p>
        </p:txBody>
      </p:sp>
      <p:sp>
        <p:nvSpPr>
          <p:cNvPr id="34" name="Shape 32"/>
          <p:cNvSpPr/>
          <p:nvPr/>
        </p:nvSpPr>
        <p:spPr>
          <a:xfrm>
            <a:off x="9272016" y="3035808"/>
            <a:ext cx="539496" cy="0"/>
          </a:xfrm>
          <a:prstGeom prst="line">
            <a:avLst/>
          </a:prstGeom>
          <a:noFill/>
          <a:ln w="22860">
            <a:solidFill>
              <a:srgbClr val="087F8C"/>
            </a:solidFill>
            <a:prstDash val="solid"/>
            <a:tailEnd type="triangle"/>
          </a:ln>
        </p:spPr>
      </p:sp>
      <p:sp>
        <p:nvSpPr>
          <p:cNvPr id="35" name="Shape 33"/>
          <p:cNvSpPr/>
          <p:nvPr/>
        </p:nvSpPr>
        <p:spPr>
          <a:xfrm>
            <a:off x="10533888" y="3300984"/>
            <a:ext cx="0" cy="566928"/>
          </a:xfrm>
          <a:prstGeom prst="line">
            <a:avLst/>
          </a:prstGeom>
          <a:noFill/>
          <a:ln w="22860">
            <a:solidFill>
              <a:srgbClr val="087F8C"/>
            </a:solidFill>
            <a:prstDash val="solid"/>
            <a:tailEnd type="triangle"/>
          </a:ln>
        </p:spPr>
      </p:sp>
      <p:sp>
        <p:nvSpPr>
          <p:cNvPr id="36" name="Shape 34"/>
          <p:cNvSpPr/>
          <p:nvPr/>
        </p:nvSpPr>
        <p:spPr>
          <a:xfrm>
            <a:off x="9902952" y="4224528"/>
            <a:ext cx="-557784" cy="0"/>
          </a:xfrm>
          <a:prstGeom prst="line">
            <a:avLst/>
          </a:prstGeom>
          <a:noFill/>
          <a:ln w="22860">
            <a:solidFill>
              <a:srgbClr val="087F8C"/>
            </a:solidFill>
            <a:prstDash val="solid"/>
            <a:tailEnd type="triangle"/>
          </a:ln>
        </p:spPr>
      </p:sp>
      <p:sp>
        <p:nvSpPr>
          <p:cNvPr id="37" name="Shape 35"/>
          <p:cNvSpPr/>
          <p:nvPr/>
        </p:nvSpPr>
        <p:spPr>
          <a:xfrm>
            <a:off x="8988552" y="5074920"/>
            <a:ext cx="1371600" cy="493776"/>
          </a:xfrm>
          <a:prstGeom prst="rect">
            <a:avLst/>
          </a:prstGeom>
          <a:solidFill>
            <a:srgbClr val="FBF2F0"/>
          </a:solidFill>
          <a:ln w="14605">
            <a:solidFill>
              <a:srgbClr val="C65E4E"/>
            </a:solidFill>
            <a:prstDash val="solid"/>
          </a:ln>
        </p:spPr>
      </p:sp>
      <p:sp>
        <p:nvSpPr>
          <p:cNvPr id="38" name="Text 36"/>
          <p:cNvSpPr/>
          <p:nvPr/>
        </p:nvSpPr>
        <p:spPr>
          <a:xfrm>
            <a:off x="9061704" y="5129784"/>
            <a:ext cx="1225296" cy="384048"/>
          </a:xfrm>
          <a:prstGeom prst="rect">
            <a:avLst/>
          </a:prstGeom>
          <a:noFill/>
          <a:ln/>
        </p:spPr>
        <p:txBody>
          <a:bodyPr wrap="square" lIns="0" tIns="0" rIns="0" bIns="0" rtlCol="0" anchor="ctr">
            <a:normAutofit/>
          </a:bodyPr>
          <a:lstStyle/>
          <a:p>
            <a:pPr algn="ctr" indent="0" marL="0">
              <a:buNone/>
            </a:pPr>
            <a:r>
              <a:rPr lang="en-US" sz="1050" b="1" dirty="0">
                <a:solidFill>
                  <a:srgbClr val="C65E4E"/>
                </a:solidFill>
                <a:latin typeface="Aptos" pitchFamily="34" charset="0"/>
                <a:ea typeface="Aptos" pitchFamily="34" charset="-122"/>
                <a:cs typeface="Aptos" pitchFamily="34" charset="-120"/>
              </a:rPr>
              <a:t>FAULT / HOLD</a:t>
            </a:r>
            <a:endParaRPr lang="en-US" sz="1050" dirty="0"/>
          </a:p>
        </p:txBody>
      </p:sp>
      <p:sp>
        <p:nvSpPr>
          <p:cNvPr id="39" name="Shape 37"/>
          <p:cNvSpPr/>
          <p:nvPr/>
        </p:nvSpPr>
        <p:spPr>
          <a:xfrm>
            <a:off x="8613648" y="3364992"/>
            <a:ext cx="804672" cy="1618488"/>
          </a:xfrm>
          <a:prstGeom prst="line">
            <a:avLst/>
          </a:prstGeom>
          <a:noFill/>
          <a:ln w="15240">
            <a:solidFill>
              <a:srgbClr val="C65E4E"/>
            </a:solidFill>
            <a:prstDash val="solid"/>
            <a:tailEnd type="triangle"/>
          </a:ln>
        </p:spPr>
      </p:sp>
      <p:sp>
        <p:nvSpPr>
          <p:cNvPr id="40" name="Text 38"/>
          <p:cNvSpPr/>
          <p:nvPr/>
        </p:nvSpPr>
        <p:spPr>
          <a:xfrm>
            <a:off x="8074152" y="5559552"/>
            <a:ext cx="2743200" cy="384048"/>
          </a:xfrm>
          <a:prstGeom prst="rect">
            <a:avLst/>
          </a:prstGeom>
          <a:noFill/>
          <a:ln/>
        </p:spPr>
        <p:txBody>
          <a:bodyPr wrap="square" lIns="0" tIns="0" rIns="0" bIns="0" rtlCol="0" anchor="ctr">
            <a:normAutofit/>
          </a:bodyPr>
          <a:lstStyle/>
          <a:p>
            <a:pPr algn="ctr" indent="0" marL="0">
              <a:buNone/>
            </a:pPr>
            <a:r>
              <a:rPr lang="en-US" sz="950" dirty="0">
                <a:solidFill>
                  <a:srgbClr val="607585"/>
                </a:solidFill>
                <a:latin typeface="Aptos" pitchFamily="34" charset="0"/>
                <a:ea typeface="Aptos" pitchFamily="34" charset="-122"/>
                <a:cs typeface="Aptos" pitchFamily="34" charset="-120"/>
              </a:rPr>
              <a:t>Reset returns to ready only after the defined recovery checks</a:t>
            </a:r>
            <a:endParaRPr lang="en-US" sz="950" dirty="0"/>
          </a:p>
        </p:txBody>
      </p:sp>
      <p:sp>
        <p:nvSpPr>
          <p:cNvPr id="41" name="Shape 39"/>
          <p:cNvSpPr/>
          <p:nvPr/>
        </p:nvSpPr>
        <p:spPr>
          <a:xfrm>
            <a:off x="603504" y="6318504"/>
            <a:ext cx="10972800" cy="0"/>
          </a:xfrm>
          <a:prstGeom prst="line">
            <a:avLst/>
          </a:prstGeom>
          <a:noFill/>
          <a:ln w="10160">
            <a:solidFill>
              <a:srgbClr val="D5E0E7"/>
            </a:solidFill>
            <a:prstDash val="solid"/>
          </a:ln>
        </p:spPr>
      </p:sp>
      <p:sp>
        <p:nvSpPr>
          <p:cNvPr id="42" name="Text 40"/>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SIGNAL PROCESSING AND SIGNAL INTEGRITY</a:t>
            </a:r>
            <a:endParaRPr lang="en-US" sz="800" dirty="0"/>
          </a:p>
        </p:txBody>
      </p:sp>
      <p:sp>
        <p:nvSpPr>
          <p:cNvPr id="43" name="Text 41"/>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13 / 18</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087F8C"/>
          </a:solidFill>
          <a:ln w="12700">
            <a:solidFill>
              <a:srgbClr val="087F8C">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087F8C"/>
                </a:solidFill>
                <a:latin typeface="Aptos" pitchFamily="34" charset="0"/>
                <a:ea typeface="Aptos" pitchFamily="34" charset="-122"/>
                <a:cs typeface="Aptos" pitchFamily="34" charset="-120"/>
              </a:rPr>
              <a:t>UNIT 5009    /    WEEK 05    /    LO2</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10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087F8C"/>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087F8C"/>
                </a:solidFill>
                <a:latin typeface="Aptos" pitchFamily="34" charset="0"/>
                <a:ea typeface="Aptos" pitchFamily="34" charset="-122"/>
                <a:cs typeface="Aptos" pitchFamily="34" charset="-120"/>
              </a:rPr>
              <a:t>LO2 FOUNDATIONS</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3100" b="1" dirty="0">
                <a:solidFill>
                  <a:srgbClr val="1B3448"/>
                </a:solidFill>
                <a:latin typeface="Aptos Display" pitchFamily="34" charset="0"/>
                <a:ea typeface="Aptos Display" pitchFamily="34" charset="-122"/>
                <a:cs typeface="Aptos Display" pitchFamily="34" charset="-120"/>
              </a:rPr>
              <a:t>Observe, measure, and explain</a:t>
            </a:r>
            <a:endParaRPr lang="en-US" sz="31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67512" y="1709928"/>
            <a:ext cx="2743200" cy="210312"/>
          </a:xfrm>
          <a:prstGeom prst="rect">
            <a:avLst/>
          </a:prstGeom>
          <a:noFill/>
          <a:ln/>
        </p:spPr>
        <p:txBody>
          <a:bodyPr wrap="square" lIns="0" tIns="0" rIns="0" bIns="0" rtlCol="0" anchor="ctr"/>
          <a:lstStyle/>
          <a:p>
            <a:pPr indent="0" marL="0">
              <a:buNone/>
            </a:pPr>
            <a:r>
              <a:rPr lang="en-US" sz="900" b="1" spc="100" kern="0" dirty="0">
                <a:solidFill>
                  <a:srgbClr val="087F8C"/>
                </a:solidFill>
                <a:latin typeface="Aptos" pitchFamily="34" charset="0"/>
                <a:ea typeface="Aptos" pitchFamily="34" charset="-122"/>
                <a:cs typeface="Aptos" pitchFamily="34" charset="-120"/>
              </a:rPr>
              <a:t>TEACHING POINTS</a:t>
            </a:r>
            <a:endParaRPr lang="en-US" sz="900" dirty="0"/>
          </a:p>
        </p:txBody>
      </p:sp>
      <p:sp>
        <p:nvSpPr>
          <p:cNvPr id="11" name="Shape 9"/>
          <p:cNvSpPr/>
          <p:nvPr/>
        </p:nvSpPr>
        <p:spPr>
          <a:xfrm>
            <a:off x="640080" y="1993392"/>
            <a:ext cx="6720840" cy="1328928"/>
          </a:xfrm>
          <a:prstGeom prst="rect">
            <a:avLst/>
          </a:prstGeom>
          <a:solidFill>
            <a:srgbClr val="FFFFFF"/>
          </a:solidFill>
          <a:ln w="8890">
            <a:solidFill>
              <a:srgbClr val="D5E0E7"/>
            </a:solidFill>
            <a:prstDash val="solid"/>
          </a:ln>
        </p:spPr>
      </p:sp>
      <p:sp>
        <p:nvSpPr>
          <p:cNvPr id="12" name="Shape 10"/>
          <p:cNvSpPr/>
          <p:nvPr/>
        </p:nvSpPr>
        <p:spPr>
          <a:xfrm>
            <a:off x="640080" y="1993392"/>
            <a:ext cx="50292" cy="1328928"/>
          </a:xfrm>
          <a:prstGeom prst="rect">
            <a:avLst/>
          </a:prstGeom>
          <a:solidFill>
            <a:srgbClr val="087F8C"/>
          </a:solidFill>
          <a:ln w="12700">
            <a:solidFill>
              <a:srgbClr val="087F8C">
                <a:alpha val="0"/>
              </a:srgbClr>
            </a:solidFill>
            <a:prstDash val="solid"/>
          </a:ln>
        </p:spPr>
      </p:sp>
      <p:sp>
        <p:nvSpPr>
          <p:cNvPr id="13" name="Text 11"/>
          <p:cNvSpPr/>
          <p:nvPr/>
        </p:nvSpPr>
        <p:spPr>
          <a:xfrm>
            <a:off x="786384" y="2084832"/>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01</a:t>
            </a:r>
            <a:endParaRPr lang="en-US" sz="950" dirty="0"/>
          </a:p>
        </p:txBody>
      </p:sp>
      <p:sp>
        <p:nvSpPr>
          <p:cNvPr id="14" name="Text 12"/>
          <p:cNvSpPr/>
          <p:nvPr/>
        </p:nvSpPr>
        <p:spPr>
          <a:xfrm>
            <a:off x="1197864" y="2075688"/>
            <a:ext cx="5989320" cy="1173480"/>
          </a:xfrm>
          <a:prstGeom prst="rect">
            <a:avLst/>
          </a:prstGeom>
          <a:noFill/>
          <a:ln/>
        </p:spPr>
        <p:txBody>
          <a:bodyPr wrap="square" lIns="0" tIns="0" rIns="0" bIns="0" rtlCol="0" anchor="ctr">
            <a:normAutofit/>
          </a:bodyPr>
          <a:lstStyle/>
          <a:p>
            <a:pPr indent="0" marL="0">
              <a:buNone/>
            </a:pPr>
            <a:r>
              <a:rPr lang="en-US" sz="1310" dirty="0">
                <a:solidFill>
                  <a:srgbClr val="334B5C"/>
                </a:solidFill>
                <a:latin typeface="Aptos" pitchFamily="34" charset="0"/>
                <a:ea typeface="Aptos" pitchFamily="34" charset="-122"/>
                <a:cs typeface="Aptos" pitchFamily="34" charset="-120"/>
              </a:rPr>
              <a:t>Procedure: choose one sensor event and record its physical action, terminal-level signal, module indication, program tag, logic result, output indication, and load response in sequence.</a:t>
            </a:r>
            <a:endParaRPr lang="en-US" sz="1310" dirty="0"/>
          </a:p>
        </p:txBody>
      </p:sp>
      <p:sp>
        <p:nvSpPr>
          <p:cNvPr id="15" name="Shape 13"/>
          <p:cNvSpPr/>
          <p:nvPr/>
        </p:nvSpPr>
        <p:spPr>
          <a:xfrm>
            <a:off x="640080" y="3404616"/>
            <a:ext cx="6720840" cy="1328928"/>
          </a:xfrm>
          <a:prstGeom prst="rect">
            <a:avLst/>
          </a:prstGeom>
          <a:solidFill>
            <a:srgbClr val="FFFFFF"/>
          </a:solidFill>
          <a:ln w="8890">
            <a:solidFill>
              <a:srgbClr val="E7EDF1"/>
            </a:solidFill>
            <a:prstDash val="solid"/>
          </a:ln>
        </p:spPr>
      </p:sp>
      <p:sp>
        <p:nvSpPr>
          <p:cNvPr id="16" name="Shape 14"/>
          <p:cNvSpPr/>
          <p:nvPr/>
        </p:nvSpPr>
        <p:spPr>
          <a:xfrm>
            <a:off x="640080" y="3404616"/>
            <a:ext cx="50292" cy="1328928"/>
          </a:xfrm>
          <a:prstGeom prst="rect">
            <a:avLst/>
          </a:prstGeom>
          <a:solidFill>
            <a:srgbClr val="087F8C"/>
          </a:solidFill>
          <a:ln w="12700">
            <a:solidFill>
              <a:srgbClr val="087F8C">
                <a:alpha val="0"/>
              </a:srgbClr>
            </a:solidFill>
            <a:prstDash val="solid"/>
          </a:ln>
        </p:spPr>
      </p:sp>
      <p:sp>
        <p:nvSpPr>
          <p:cNvPr id="17" name="Text 15"/>
          <p:cNvSpPr/>
          <p:nvPr/>
        </p:nvSpPr>
        <p:spPr>
          <a:xfrm>
            <a:off x="786384" y="3496056"/>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02</a:t>
            </a:r>
            <a:endParaRPr lang="en-US" sz="950" dirty="0"/>
          </a:p>
        </p:txBody>
      </p:sp>
      <p:sp>
        <p:nvSpPr>
          <p:cNvPr id="18" name="Text 16"/>
          <p:cNvSpPr/>
          <p:nvPr/>
        </p:nvSpPr>
        <p:spPr>
          <a:xfrm>
            <a:off x="1197864" y="3486912"/>
            <a:ext cx="5989320" cy="1173480"/>
          </a:xfrm>
          <a:prstGeom prst="rect">
            <a:avLst/>
          </a:prstGeom>
          <a:noFill/>
          <a:ln/>
        </p:spPr>
        <p:txBody>
          <a:bodyPr wrap="square" lIns="0" tIns="0" rIns="0" bIns="0" rtlCol="0" anchor="ctr">
            <a:normAutofit/>
          </a:bodyPr>
          <a:lstStyle/>
          <a:p>
            <a:pPr indent="0" marL="0">
              <a:buNone/>
            </a:pPr>
            <a:r>
              <a:rPr lang="en-US" sz="1310" dirty="0">
                <a:solidFill>
                  <a:srgbClr val="334B5C"/>
                </a:solidFill>
                <a:latin typeface="Aptos" pitchFamily="34" charset="0"/>
                <a:ea typeface="Aptos" pitchFamily="34" charset="-122"/>
                <a:cs typeface="Aptos" pitchFamily="34" charset="-120"/>
              </a:rPr>
              <a:t>Use an approved meter or simulator monitor at the designated test points; compare like-for-like voltage/current/state values and avoid probing live circuits outside the authorised method.</a:t>
            </a:r>
            <a:endParaRPr lang="en-US" sz="1310" dirty="0"/>
          </a:p>
        </p:txBody>
      </p:sp>
      <p:sp>
        <p:nvSpPr>
          <p:cNvPr id="19" name="Shape 17"/>
          <p:cNvSpPr/>
          <p:nvPr/>
        </p:nvSpPr>
        <p:spPr>
          <a:xfrm>
            <a:off x="640080" y="4815840"/>
            <a:ext cx="6720840" cy="1328928"/>
          </a:xfrm>
          <a:prstGeom prst="rect">
            <a:avLst/>
          </a:prstGeom>
          <a:solidFill>
            <a:srgbClr val="FFFFFF"/>
          </a:solidFill>
          <a:ln w="8890">
            <a:solidFill>
              <a:srgbClr val="E7EDF1"/>
            </a:solidFill>
            <a:prstDash val="solid"/>
          </a:ln>
        </p:spPr>
      </p:sp>
      <p:sp>
        <p:nvSpPr>
          <p:cNvPr id="20" name="Shape 18"/>
          <p:cNvSpPr/>
          <p:nvPr/>
        </p:nvSpPr>
        <p:spPr>
          <a:xfrm>
            <a:off x="640080" y="4815840"/>
            <a:ext cx="50292" cy="1328928"/>
          </a:xfrm>
          <a:prstGeom prst="rect">
            <a:avLst/>
          </a:prstGeom>
          <a:solidFill>
            <a:srgbClr val="087F8C"/>
          </a:solidFill>
          <a:ln w="12700">
            <a:solidFill>
              <a:srgbClr val="087F8C">
                <a:alpha val="0"/>
              </a:srgbClr>
            </a:solidFill>
            <a:prstDash val="solid"/>
          </a:ln>
        </p:spPr>
      </p:sp>
      <p:sp>
        <p:nvSpPr>
          <p:cNvPr id="21" name="Text 19"/>
          <p:cNvSpPr/>
          <p:nvPr/>
        </p:nvSpPr>
        <p:spPr>
          <a:xfrm>
            <a:off x="786384" y="4907280"/>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03</a:t>
            </a:r>
            <a:endParaRPr lang="en-US" sz="950" dirty="0"/>
          </a:p>
        </p:txBody>
      </p:sp>
      <p:sp>
        <p:nvSpPr>
          <p:cNvPr id="22" name="Text 20"/>
          <p:cNvSpPr/>
          <p:nvPr/>
        </p:nvSpPr>
        <p:spPr>
          <a:xfrm>
            <a:off x="1197864" y="4898136"/>
            <a:ext cx="5989320" cy="1173480"/>
          </a:xfrm>
          <a:prstGeom prst="rect">
            <a:avLst/>
          </a:prstGeom>
          <a:noFill/>
          <a:ln/>
        </p:spPr>
        <p:txBody>
          <a:bodyPr wrap="square" lIns="0" tIns="0" rIns="0" bIns="0" rtlCol="0" anchor="ctr">
            <a:normAutofit/>
          </a:bodyPr>
          <a:lstStyle/>
          <a:p>
            <a:pPr indent="0" marL="0">
              <a:buNone/>
            </a:pPr>
            <a:r>
              <a:rPr lang="en-US" sz="1310" dirty="0">
                <a:solidFill>
                  <a:srgbClr val="334B5C"/>
                </a:solidFill>
                <a:latin typeface="Aptos" pitchFamily="34" charset="0"/>
                <a:ea typeface="Aptos" pitchFamily="34" charset="-122"/>
                <a:cs typeface="Aptos" pitchFamily="34" charset="-120"/>
              </a:rPr>
              <a:t>Expected debrief: if the terminal is correct but the channel/tag is not, inspect channel configuration or mapping; if the tag is correct but the output is not, inspect logic conditions and output assignment.</a:t>
            </a:r>
            <a:endParaRPr lang="en-US" sz="1310" dirty="0"/>
          </a:p>
        </p:txBody>
      </p:sp>
      <p:sp>
        <p:nvSpPr>
          <p:cNvPr id="23" name="Shape 21"/>
          <p:cNvSpPr/>
          <p:nvPr/>
        </p:nvSpPr>
        <p:spPr>
          <a:xfrm>
            <a:off x="7662672" y="1746504"/>
            <a:ext cx="3922776" cy="4361688"/>
          </a:xfrm>
          <a:prstGeom prst="rect">
            <a:avLst/>
          </a:prstGeom>
          <a:solidFill>
            <a:srgbClr val="FFFFFF"/>
          </a:solidFill>
          <a:ln w="12700">
            <a:solidFill>
              <a:srgbClr val="D5E0E7"/>
            </a:solidFill>
            <a:prstDash val="solid"/>
          </a:ln>
        </p:spPr>
      </p:sp>
      <p:sp>
        <p:nvSpPr>
          <p:cNvPr id="24" name="Text 22"/>
          <p:cNvSpPr/>
          <p:nvPr/>
        </p:nvSpPr>
        <p:spPr>
          <a:xfrm>
            <a:off x="7863840" y="1892808"/>
            <a:ext cx="3520440" cy="219456"/>
          </a:xfrm>
          <a:prstGeom prst="rect">
            <a:avLst/>
          </a:prstGeom>
          <a:noFill/>
          <a:ln/>
        </p:spPr>
        <p:txBody>
          <a:bodyPr wrap="square" lIns="0" tIns="0" rIns="0" bIns="0" rtlCol="0" anchor="ctr"/>
          <a:lstStyle/>
          <a:p>
            <a:pPr indent="0" marL="0">
              <a:buNone/>
            </a:pPr>
            <a:r>
              <a:rPr lang="en-US" sz="900" b="1" spc="80" kern="0" dirty="0">
                <a:solidFill>
                  <a:srgbClr val="087F8C"/>
                </a:solidFill>
                <a:latin typeface="Aptos" pitchFamily="34" charset="0"/>
                <a:ea typeface="Aptos" pitchFamily="34" charset="-122"/>
                <a:cs typeface="Aptos" pitchFamily="34" charset="-120"/>
              </a:rPr>
              <a:t>SIGNAL TIMING</a:t>
            </a:r>
            <a:endParaRPr lang="en-US" sz="900" dirty="0"/>
          </a:p>
        </p:txBody>
      </p:sp>
      <p:sp>
        <p:nvSpPr>
          <p:cNvPr id="25" name="Shape 23"/>
          <p:cNvSpPr/>
          <p:nvPr/>
        </p:nvSpPr>
        <p:spPr>
          <a:xfrm>
            <a:off x="7863840" y="2221992"/>
            <a:ext cx="3520440" cy="0"/>
          </a:xfrm>
          <a:prstGeom prst="line">
            <a:avLst/>
          </a:prstGeom>
          <a:noFill/>
          <a:ln w="8890">
            <a:solidFill>
              <a:srgbClr val="D5E0E7"/>
            </a:solidFill>
            <a:prstDash val="solid"/>
          </a:ln>
        </p:spPr>
      </p:sp>
      <p:sp>
        <p:nvSpPr>
          <p:cNvPr id="26" name="Text 24"/>
          <p:cNvSpPr/>
          <p:nvPr/>
        </p:nvSpPr>
        <p:spPr>
          <a:xfrm>
            <a:off x="8257032" y="3118104"/>
            <a:ext cx="2834640" cy="274320"/>
          </a:xfrm>
          <a:prstGeom prst="rect">
            <a:avLst/>
          </a:prstGeom>
          <a:noFill/>
          <a:ln/>
        </p:spPr>
        <p:txBody>
          <a:bodyPr wrap="square" lIns="0" tIns="0" rIns="0" bIns="0" rtlCol="0" anchor="ctr">
            <a:normAutofit/>
          </a:bodyPr>
          <a:lstStyle/>
          <a:p>
            <a:pPr algn="l" indent="0" marL="0">
              <a:buNone/>
            </a:pPr>
            <a:r>
              <a:rPr lang="en-US" sz="850" b="1" dirty="0">
                <a:solidFill>
                  <a:srgbClr val="607585"/>
                </a:solidFill>
                <a:latin typeface="Aptos" pitchFamily="34" charset="0"/>
                <a:ea typeface="Aptos" pitchFamily="34" charset="-122"/>
                <a:cs typeface="Aptos" pitchFamily="34" charset="-120"/>
              </a:rPr>
              <a:t>RAW SENSOR: VALID EVENTS + CHATTER</a:t>
            </a:r>
            <a:endParaRPr lang="en-US" sz="850" dirty="0"/>
          </a:p>
        </p:txBody>
      </p:sp>
      <p:sp>
        <p:nvSpPr>
          <p:cNvPr id="27" name="Shape 25"/>
          <p:cNvSpPr/>
          <p:nvPr/>
        </p:nvSpPr>
        <p:spPr>
          <a:xfrm>
            <a:off x="8257032" y="3941064"/>
            <a:ext cx="2834640" cy="0"/>
          </a:xfrm>
          <a:prstGeom prst="line">
            <a:avLst/>
          </a:prstGeom>
          <a:noFill/>
          <a:ln w="12700">
            <a:solidFill>
              <a:srgbClr val="D5E0E7"/>
            </a:solidFill>
            <a:prstDash val="solid"/>
          </a:ln>
        </p:spPr>
      </p:sp>
      <p:sp>
        <p:nvSpPr>
          <p:cNvPr id="28" name="Shape 26"/>
          <p:cNvSpPr/>
          <p:nvPr/>
        </p:nvSpPr>
        <p:spPr>
          <a:xfrm>
            <a:off x="8577072" y="3941064"/>
            <a:ext cx="0" cy="-484632"/>
          </a:xfrm>
          <a:prstGeom prst="line">
            <a:avLst/>
          </a:prstGeom>
          <a:noFill/>
          <a:ln w="31750">
            <a:solidFill>
              <a:srgbClr val="087F8C"/>
            </a:solidFill>
            <a:prstDash val="solid"/>
          </a:ln>
        </p:spPr>
      </p:sp>
      <p:sp>
        <p:nvSpPr>
          <p:cNvPr id="29" name="Shape 27"/>
          <p:cNvSpPr/>
          <p:nvPr/>
        </p:nvSpPr>
        <p:spPr>
          <a:xfrm>
            <a:off x="8577072" y="3456432"/>
            <a:ext cx="292608" cy="0"/>
          </a:xfrm>
          <a:prstGeom prst="line">
            <a:avLst/>
          </a:prstGeom>
          <a:noFill/>
          <a:ln w="31750">
            <a:solidFill>
              <a:srgbClr val="087F8C"/>
            </a:solidFill>
            <a:prstDash val="solid"/>
          </a:ln>
        </p:spPr>
      </p:sp>
      <p:sp>
        <p:nvSpPr>
          <p:cNvPr id="30" name="Shape 28"/>
          <p:cNvSpPr/>
          <p:nvPr/>
        </p:nvSpPr>
        <p:spPr>
          <a:xfrm>
            <a:off x="8869680" y="3456432"/>
            <a:ext cx="0" cy="484632"/>
          </a:xfrm>
          <a:prstGeom prst="line">
            <a:avLst/>
          </a:prstGeom>
          <a:noFill/>
          <a:ln w="31750">
            <a:solidFill>
              <a:srgbClr val="087F8C"/>
            </a:solidFill>
            <a:prstDash val="solid"/>
          </a:ln>
        </p:spPr>
      </p:sp>
      <p:sp>
        <p:nvSpPr>
          <p:cNvPr id="31" name="Shape 29"/>
          <p:cNvSpPr/>
          <p:nvPr/>
        </p:nvSpPr>
        <p:spPr>
          <a:xfrm>
            <a:off x="9427464" y="3941064"/>
            <a:ext cx="0" cy="-484632"/>
          </a:xfrm>
          <a:prstGeom prst="line">
            <a:avLst/>
          </a:prstGeom>
          <a:noFill/>
          <a:ln w="31750">
            <a:solidFill>
              <a:srgbClr val="087F8C"/>
            </a:solidFill>
            <a:prstDash val="solid"/>
          </a:ln>
        </p:spPr>
      </p:sp>
      <p:sp>
        <p:nvSpPr>
          <p:cNvPr id="32" name="Shape 30"/>
          <p:cNvSpPr/>
          <p:nvPr/>
        </p:nvSpPr>
        <p:spPr>
          <a:xfrm>
            <a:off x="9427464" y="3456432"/>
            <a:ext cx="292608" cy="0"/>
          </a:xfrm>
          <a:prstGeom prst="line">
            <a:avLst/>
          </a:prstGeom>
          <a:noFill/>
          <a:ln w="31750">
            <a:solidFill>
              <a:srgbClr val="087F8C"/>
            </a:solidFill>
            <a:prstDash val="solid"/>
          </a:ln>
        </p:spPr>
      </p:sp>
      <p:sp>
        <p:nvSpPr>
          <p:cNvPr id="33" name="Shape 31"/>
          <p:cNvSpPr/>
          <p:nvPr/>
        </p:nvSpPr>
        <p:spPr>
          <a:xfrm>
            <a:off x="9720072" y="3456432"/>
            <a:ext cx="0" cy="484632"/>
          </a:xfrm>
          <a:prstGeom prst="line">
            <a:avLst/>
          </a:prstGeom>
          <a:noFill/>
          <a:ln w="31750">
            <a:solidFill>
              <a:srgbClr val="087F8C"/>
            </a:solidFill>
            <a:prstDash val="solid"/>
          </a:ln>
        </p:spPr>
      </p:sp>
      <p:sp>
        <p:nvSpPr>
          <p:cNvPr id="34" name="Shape 32"/>
          <p:cNvSpPr/>
          <p:nvPr/>
        </p:nvSpPr>
        <p:spPr>
          <a:xfrm>
            <a:off x="10405872" y="3941064"/>
            <a:ext cx="0" cy="-484632"/>
          </a:xfrm>
          <a:prstGeom prst="line">
            <a:avLst/>
          </a:prstGeom>
          <a:noFill/>
          <a:ln w="31750">
            <a:solidFill>
              <a:srgbClr val="087F8C"/>
            </a:solidFill>
            <a:prstDash val="solid"/>
          </a:ln>
        </p:spPr>
      </p:sp>
      <p:sp>
        <p:nvSpPr>
          <p:cNvPr id="35" name="Shape 33"/>
          <p:cNvSpPr/>
          <p:nvPr/>
        </p:nvSpPr>
        <p:spPr>
          <a:xfrm>
            <a:off x="10405872" y="3456432"/>
            <a:ext cx="292608" cy="0"/>
          </a:xfrm>
          <a:prstGeom prst="line">
            <a:avLst/>
          </a:prstGeom>
          <a:noFill/>
          <a:ln w="31750">
            <a:solidFill>
              <a:srgbClr val="087F8C"/>
            </a:solidFill>
            <a:prstDash val="solid"/>
          </a:ln>
        </p:spPr>
      </p:sp>
      <p:sp>
        <p:nvSpPr>
          <p:cNvPr id="36" name="Shape 34"/>
          <p:cNvSpPr/>
          <p:nvPr/>
        </p:nvSpPr>
        <p:spPr>
          <a:xfrm>
            <a:off x="10698480" y="3456432"/>
            <a:ext cx="0" cy="484632"/>
          </a:xfrm>
          <a:prstGeom prst="line">
            <a:avLst/>
          </a:prstGeom>
          <a:noFill/>
          <a:ln w="31750">
            <a:solidFill>
              <a:srgbClr val="087F8C"/>
            </a:solidFill>
            <a:prstDash val="solid"/>
          </a:ln>
        </p:spPr>
      </p:sp>
      <p:sp>
        <p:nvSpPr>
          <p:cNvPr id="37" name="Shape 35"/>
          <p:cNvSpPr/>
          <p:nvPr/>
        </p:nvSpPr>
        <p:spPr>
          <a:xfrm>
            <a:off x="9829800" y="3941064"/>
            <a:ext cx="0" cy="-182880"/>
          </a:xfrm>
          <a:prstGeom prst="line">
            <a:avLst/>
          </a:prstGeom>
          <a:noFill/>
          <a:ln w="20320">
            <a:solidFill>
              <a:srgbClr val="C65E4E"/>
            </a:solidFill>
            <a:prstDash val="solid"/>
          </a:ln>
        </p:spPr>
      </p:sp>
      <p:sp>
        <p:nvSpPr>
          <p:cNvPr id="38" name="Shape 36"/>
          <p:cNvSpPr/>
          <p:nvPr/>
        </p:nvSpPr>
        <p:spPr>
          <a:xfrm>
            <a:off x="9829800" y="3758184"/>
            <a:ext cx="91440" cy="0"/>
          </a:xfrm>
          <a:prstGeom prst="line">
            <a:avLst/>
          </a:prstGeom>
          <a:noFill/>
          <a:ln w="20320">
            <a:solidFill>
              <a:srgbClr val="C65E4E"/>
            </a:solidFill>
            <a:prstDash val="solid"/>
          </a:ln>
        </p:spPr>
      </p:sp>
      <p:sp>
        <p:nvSpPr>
          <p:cNvPr id="39" name="Shape 37"/>
          <p:cNvSpPr/>
          <p:nvPr/>
        </p:nvSpPr>
        <p:spPr>
          <a:xfrm>
            <a:off x="9921240" y="3758184"/>
            <a:ext cx="0" cy="182880"/>
          </a:xfrm>
          <a:prstGeom prst="line">
            <a:avLst/>
          </a:prstGeom>
          <a:noFill/>
          <a:ln w="20320">
            <a:solidFill>
              <a:srgbClr val="C65E4E"/>
            </a:solidFill>
            <a:prstDash val="solid"/>
          </a:ln>
        </p:spPr>
      </p:sp>
      <p:sp>
        <p:nvSpPr>
          <p:cNvPr id="40" name="Text 38"/>
          <p:cNvSpPr/>
          <p:nvPr/>
        </p:nvSpPr>
        <p:spPr>
          <a:xfrm>
            <a:off x="8257032" y="4215384"/>
            <a:ext cx="2834640" cy="274320"/>
          </a:xfrm>
          <a:prstGeom prst="rect">
            <a:avLst/>
          </a:prstGeom>
          <a:noFill/>
          <a:ln/>
        </p:spPr>
        <p:txBody>
          <a:bodyPr wrap="square" lIns="0" tIns="0" rIns="0" bIns="0" rtlCol="0" anchor="ctr">
            <a:normAutofit/>
          </a:bodyPr>
          <a:lstStyle/>
          <a:p>
            <a:pPr algn="l" indent="0" marL="0">
              <a:buNone/>
            </a:pPr>
            <a:r>
              <a:rPr lang="en-US" sz="850" b="1" dirty="0">
                <a:solidFill>
                  <a:srgbClr val="607585"/>
                </a:solidFill>
                <a:latin typeface="Aptos" pitchFamily="34" charset="0"/>
                <a:ea typeface="Aptos" pitchFamily="34" charset="-122"/>
                <a:cs typeface="Aptos" pitchFamily="34" charset="-120"/>
              </a:rPr>
              <a:t>QUALIFIED INPUT / ONE-SHOT EVENTS</a:t>
            </a:r>
            <a:endParaRPr lang="en-US" sz="850" dirty="0"/>
          </a:p>
        </p:txBody>
      </p:sp>
      <p:sp>
        <p:nvSpPr>
          <p:cNvPr id="41" name="Shape 39"/>
          <p:cNvSpPr/>
          <p:nvPr/>
        </p:nvSpPr>
        <p:spPr>
          <a:xfrm>
            <a:off x="8257032" y="4946904"/>
            <a:ext cx="2834640" cy="0"/>
          </a:xfrm>
          <a:prstGeom prst="line">
            <a:avLst/>
          </a:prstGeom>
          <a:noFill/>
          <a:ln w="12700">
            <a:solidFill>
              <a:srgbClr val="D5E0E7"/>
            </a:solidFill>
            <a:prstDash val="solid"/>
          </a:ln>
        </p:spPr>
      </p:sp>
      <p:sp>
        <p:nvSpPr>
          <p:cNvPr id="42" name="Shape 40"/>
          <p:cNvSpPr/>
          <p:nvPr/>
        </p:nvSpPr>
        <p:spPr>
          <a:xfrm>
            <a:off x="8577072" y="4946904"/>
            <a:ext cx="0" cy="-438912"/>
          </a:xfrm>
          <a:prstGeom prst="line">
            <a:avLst/>
          </a:prstGeom>
          <a:noFill/>
          <a:ln w="31750">
            <a:solidFill>
              <a:srgbClr val="3F7394"/>
            </a:solidFill>
            <a:prstDash val="solid"/>
          </a:ln>
        </p:spPr>
      </p:sp>
      <p:sp>
        <p:nvSpPr>
          <p:cNvPr id="43" name="Shape 41"/>
          <p:cNvSpPr/>
          <p:nvPr/>
        </p:nvSpPr>
        <p:spPr>
          <a:xfrm>
            <a:off x="8577072" y="4507992"/>
            <a:ext cx="292608" cy="0"/>
          </a:xfrm>
          <a:prstGeom prst="line">
            <a:avLst/>
          </a:prstGeom>
          <a:noFill/>
          <a:ln w="31750">
            <a:solidFill>
              <a:srgbClr val="3F7394"/>
            </a:solidFill>
            <a:prstDash val="solid"/>
          </a:ln>
        </p:spPr>
      </p:sp>
      <p:sp>
        <p:nvSpPr>
          <p:cNvPr id="44" name="Shape 42"/>
          <p:cNvSpPr/>
          <p:nvPr/>
        </p:nvSpPr>
        <p:spPr>
          <a:xfrm>
            <a:off x="8869680" y="4507992"/>
            <a:ext cx="0" cy="438912"/>
          </a:xfrm>
          <a:prstGeom prst="line">
            <a:avLst/>
          </a:prstGeom>
          <a:noFill/>
          <a:ln w="31750">
            <a:solidFill>
              <a:srgbClr val="3F7394"/>
            </a:solidFill>
            <a:prstDash val="solid"/>
          </a:ln>
        </p:spPr>
      </p:sp>
      <p:sp>
        <p:nvSpPr>
          <p:cNvPr id="45" name="Shape 43"/>
          <p:cNvSpPr/>
          <p:nvPr/>
        </p:nvSpPr>
        <p:spPr>
          <a:xfrm>
            <a:off x="9427464" y="4946904"/>
            <a:ext cx="0" cy="-438912"/>
          </a:xfrm>
          <a:prstGeom prst="line">
            <a:avLst/>
          </a:prstGeom>
          <a:noFill/>
          <a:ln w="31750">
            <a:solidFill>
              <a:srgbClr val="3F7394"/>
            </a:solidFill>
            <a:prstDash val="solid"/>
          </a:ln>
        </p:spPr>
      </p:sp>
      <p:sp>
        <p:nvSpPr>
          <p:cNvPr id="46" name="Shape 44"/>
          <p:cNvSpPr/>
          <p:nvPr/>
        </p:nvSpPr>
        <p:spPr>
          <a:xfrm>
            <a:off x="9427464" y="4507992"/>
            <a:ext cx="292608" cy="0"/>
          </a:xfrm>
          <a:prstGeom prst="line">
            <a:avLst/>
          </a:prstGeom>
          <a:noFill/>
          <a:ln w="31750">
            <a:solidFill>
              <a:srgbClr val="3F7394"/>
            </a:solidFill>
            <a:prstDash val="solid"/>
          </a:ln>
        </p:spPr>
      </p:sp>
      <p:sp>
        <p:nvSpPr>
          <p:cNvPr id="47" name="Shape 45"/>
          <p:cNvSpPr/>
          <p:nvPr/>
        </p:nvSpPr>
        <p:spPr>
          <a:xfrm>
            <a:off x="9720072" y="4507992"/>
            <a:ext cx="0" cy="438912"/>
          </a:xfrm>
          <a:prstGeom prst="line">
            <a:avLst/>
          </a:prstGeom>
          <a:noFill/>
          <a:ln w="31750">
            <a:solidFill>
              <a:srgbClr val="3F7394"/>
            </a:solidFill>
            <a:prstDash val="solid"/>
          </a:ln>
        </p:spPr>
      </p:sp>
      <p:sp>
        <p:nvSpPr>
          <p:cNvPr id="48" name="Shape 46"/>
          <p:cNvSpPr/>
          <p:nvPr/>
        </p:nvSpPr>
        <p:spPr>
          <a:xfrm>
            <a:off x="10405872" y="4946904"/>
            <a:ext cx="0" cy="-438912"/>
          </a:xfrm>
          <a:prstGeom prst="line">
            <a:avLst/>
          </a:prstGeom>
          <a:noFill/>
          <a:ln w="31750">
            <a:solidFill>
              <a:srgbClr val="3F7394"/>
            </a:solidFill>
            <a:prstDash val="solid"/>
          </a:ln>
        </p:spPr>
      </p:sp>
      <p:sp>
        <p:nvSpPr>
          <p:cNvPr id="49" name="Shape 47"/>
          <p:cNvSpPr/>
          <p:nvPr/>
        </p:nvSpPr>
        <p:spPr>
          <a:xfrm>
            <a:off x="10405872" y="4507992"/>
            <a:ext cx="292608" cy="0"/>
          </a:xfrm>
          <a:prstGeom prst="line">
            <a:avLst/>
          </a:prstGeom>
          <a:noFill/>
          <a:ln w="31750">
            <a:solidFill>
              <a:srgbClr val="3F7394"/>
            </a:solidFill>
            <a:prstDash val="solid"/>
          </a:ln>
        </p:spPr>
      </p:sp>
      <p:sp>
        <p:nvSpPr>
          <p:cNvPr id="50" name="Shape 48"/>
          <p:cNvSpPr/>
          <p:nvPr/>
        </p:nvSpPr>
        <p:spPr>
          <a:xfrm>
            <a:off x="10698480" y="4507992"/>
            <a:ext cx="0" cy="438912"/>
          </a:xfrm>
          <a:prstGeom prst="line">
            <a:avLst/>
          </a:prstGeom>
          <a:noFill/>
          <a:ln w="31750">
            <a:solidFill>
              <a:srgbClr val="3F7394"/>
            </a:solidFill>
            <a:prstDash val="solid"/>
          </a:ln>
        </p:spPr>
      </p:sp>
      <p:sp>
        <p:nvSpPr>
          <p:cNvPr id="51" name="Text 49"/>
          <p:cNvSpPr/>
          <p:nvPr/>
        </p:nvSpPr>
        <p:spPr>
          <a:xfrm>
            <a:off x="8302752" y="5385816"/>
            <a:ext cx="2743200" cy="457200"/>
          </a:xfrm>
          <a:prstGeom prst="rect">
            <a:avLst/>
          </a:prstGeom>
          <a:noFill/>
          <a:ln/>
        </p:spPr>
        <p:txBody>
          <a:bodyPr wrap="square" lIns="0" tIns="0" rIns="0" bIns="0" rtlCol="0" anchor="ctr">
            <a:normAutofit/>
          </a:bodyPr>
          <a:lstStyle/>
          <a:p>
            <a:pPr algn="ctr" indent="0" marL="0">
              <a:buNone/>
            </a:pPr>
            <a:r>
              <a:rPr lang="en-US" sz="1050" b="1" dirty="0">
                <a:solidFill>
                  <a:srgbClr val="087F8C"/>
                </a:solidFill>
                <a:latin typeface="Aptos" pitchFamily="34" charset="0"/>
                <a:ea typeface="Aptos" pitchFamily="34" charset="-122"/>
                <a:cs typeface="Aptos" pitchFamily="34" charset="-120"/>
              </a:rPr>
              <a:t>Reject the short chatter; preserve all valid pill events</a:t>
            </a:r>
            <a:endParaRPr lang="en-US" sz="1050" dirty="0"/>
          </a:p>
        </p:txBody>
      </p:sp>
      <p:sp>
        <p:nvSpPr>
          <p:cNvPr id="52" name="Shape 50"/>
          <p:cNvSpPr/>
          <p:nvPr/>
        </p:nvSpPr>
        <p:spPr>
          <a:xfrm>
            <a:off x="603504" y="6318504"/>
            <a:ext cx="10972800" cy="0"/>
          </a:xfrm>
          <a:prstGeom prst="line">
            <a:avLst/>
          </a:prstGeom>
          <a:noFill/>
          <a:ln w="10160">
            <a:solidFill>
              <a:srgbClr val="D5E0E7"/>
            </a:solidFill>
            <a:prstDash val="solid"/>
          </a:ln>
        </p:spPr>
      </p:sp>
      <p:sp>
        <p:nvSpPr>
          <p:cNvPr id="53" name="Text 51"/>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SIGNAL PROCESSING AND SIGNAL INTEGRITY</a:t>
            </a:r>
            <a:endParaRPr lang="en-US" sz="800" dirty="0"/>
          </a:p>
        </p:txBody>
      </p:sp>
      <p:sp>
        <p:nvSpPr>
          <p:cNvPr id="54" name="Text 52"/>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14 / 18</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087F8C"/>
          </a:solidFill>
          <a:ln w="12700">
            <a:solidFill>
              <a:srgbClr val="087F8C">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087F8C"/>
                </a:solidFill>
                <a:latin typeface="Aptos" pitchFamily="34" charset="0"/>
                <a:ea typeface="Aptos" pitchFamily="34" charset="-122"/>
                <a:cs typeface="Aptos" pitchFamily="34" charset="-120"/>
              </a:rPr>
              <a:t>UNIT 5009    /    WEEK 05    /    LO2</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20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087F8C"/>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087F8C"/>
                </a:solidFill>
                <a:latin typeface="Aptos" pitchFamily="34" charset="0"/>
                <a:ea typeface="Aptos" pitchFamily="34" charset="-122"/>
                <a:cs typeface="Aptos" pitchFamily="34" charset="-120"/>
              </a:rPr>
              <a:t>LO2 FOUNDATIONS</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2800" b="1" dirty="0">
                <a:solidFill>
                  <a:srgbClr val="1B3448"/>
                </a:solidFill>
                <a:latin typeface="Aptos Display" pitchFamily="34" charset="0"/>
                <a:ea typeface="Aptos Display" pitchFamily="34" charset="-122"/>
                <a:cs typeface="Aptos Display" pitchFamily="34" charset="-120"/>
              </a:rPr>
              <a:t>Fault case A: sensor chatter or stuck input</a:t>
            </a:r>
            <a:endParaRPr lang="en-US" sz="28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67512" y="1709928"/>
            <a:ext cx="2743200" cy="210312"/>
          </a:xfrm>
          <a:prstGeom prst="rect">
            <a:avLst/>
          </a:prstGeom>
          <a:noFill/>
          <a:ln/>
        </p:spPr>
        <p:txBody>
          <a:bodyPr wrap="square" lIns="0" tIns="0" rIns="0" bIns="0" rtlCol="0" anchor="ctr"/>
          <a:lstStyle/>
          <a:p>
            <a:pPr indent="0" marL="0">
              <a:buNone/>
            </a:pPr>
            <a:r>
              <a:rPr lang="en-US" sz="900" b="1" spc="100" kern="0" dirty="0">
                <a:solidFill>
                  <a:srgbClr val="087F8C"/>
                </a:solidFill>
                <a:latin typeface="Aptos" pitchFamily="34" charset="0"/>
                <a:ea typeface="Aptos" pitchFamily="34" charset="-122"/>
                <a:cs typeface="Aptos" pitchFamily="34" charset="-120"/>
              </a:rPr>
              <a:t>TEACHING POINTS</a:t>
            </a:r>
            <a:endParaRPr lang="en-US" sz="900" dirty="0"/>
          </a:p>
        </p:txBody>
      </p:sp>
      <p:sp>
        <p:nvSpPr>
          <p:cNvPr id="11" name="Shape 9"/>
          <p:cNvSpPr/>
          <p:nvPr/>
        </p:nvSpPr>
        <p:spPr>
          <a:xfrm>
            <a:off x="640080" y="1993392"/>
            <a:ext cx="6720840" cy="976122"/>
          </a:xfrm>
          <a:prstGeom prst="rect">
            <a:avLst/>
          </a:prstGeom>
          <a:solidFill>
            <a:srgbClr val="FFFFFF"/>
          </a:solidFill>
          <a:ln w="8890">
            <a:solidFill>
              <a:srgbClr val="D5E0E7"/>
            </a:solidFill>
            <a:prstDash val="solid"/>
          </a:ln>
        </p:spPr>
      </p:sp>
      <p:sp>
        <p:nvSpPr>
          <p:cNvPr id="12" name="Shape 10"/>
          <p:cNvSpPr/>
          <p:nvPr/>
        </p:nvSpPr>
        <p:spPr>
          <a:xfrm>
            <a:off x="640080" y="1993392"/>
            <a:ext cx="50292" cy="976122"/>
          </a:xfrm>
          <a:prstGeom prst="rect">
            <a:avLst/>
          </a:prstGeom>
          <a:solidFill>
            <a:srgbClr val="087F8C"/>
          </a:solidFill>
          <a:ln w="12700">
            <a:solidFill>
              <a:srgbClr val="087F8C">
                <a:alpha val="0"/>
              </a:srgbClr>
            </a:solidFill>
            <a:prstDash val="solid"/>
          </a:ln>
        </p:spPr>
      </p:sp>
      <p:sp>
        <p:nvSpPr>
          <p:cNvPr id="13" name="Text 11"/>
          <p:cNvSpPr/>
          <p:nvPr/>
        </p:nvSpPr>
        <p:spPr>
          <a:xfrm>
            <a:off x="786384" y="2084832"/>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01</a:t>
            </a:r>
            <a:endParaRPr lang="en-US" sz="950" dirty="0"/>
          </a:p>
        </p:txBody>
      </p:sp>
      <p:sp>
        <p:nvSpPr>
          <p:cNvPr id="14" name="Text 12"/>
          <p:cNvSpPr/>
          <p:nvPr/>
        </p:nvSpPr>
        <p:spPr>
          <a:xfrm>
            <a:off x="1197864" y="2075688"/>
            <a:ext cx="5989320" cy="820674"/>
          </a:xfrm>
          <a:prstGeom prst="rect">
            <a:avLst/>
          </a:prstGeom>
          <a:noFill/>
          <a:ln/>
        </p:spPr>
        <p:txBody>
          <a:bodyPr wrap="square" lIns="0" tIns="0" rIns="0" bIns="0" rtlCol="0" anchor="ctr">
            <a:normAutofit/>
          </a:bodyPr>
          <a:lstStyle/>
          <a:p>
            <a:pPr indent="0" marL="0">
              <a:buNone/>
            </a:pPr>
            <a:r>
              <a:rPr lang="en-US" sz="1310" dirty="0">
                <a:solidFill>
                  <a:srgbClr val="334B5C"/>
                </a:solidFill>
                <a:latin typeface="Aptos" pitchFamily="34" charset="0"/>
                <a:ea typeface="Aptos" pitchFamily="34" charset="-122"/>
                <a:cs typeface="Aptos" pitchFamily="34" charset="-120"/>
              </a:rPr>
              <a:t>Procedure: in simulation or the approved de-energised/training setup, select chatter, stuck-high, or stuck-low; record the initial filter/edge settings and predict the count/status before applying the fault.</a:t>
            </a:r>
            <a:endParaRPr lang="en-US" sz="1310" dirty="0"/>
          </a:p>
        </p:txBody>
      </p:sp>
      <p:sp>
        <p:nvSpPr>
          <p:cNvPr id="15" name="Shape 13"/>
          <p:cNvSpPr/>
          <p:nvPr/>
        </p:nvSpPr>
        <p:spPr>
          <a:xfrm>
            <a:off x="640080" y="3051810"/>
            <a:ext cx="6720840" cy="976122"/>
          </a:xfrm>
          <a:prstGeom prst="rect">
            <a:avLst/>
          </a:prstGeom>
          <a:solidFill>
            <a:srgbClr val="FFFFFF"/>
          </a:solidFill>
          <a:ln w="8890">
            <a:solidFill>
              <a:srgbClr val="E7EDF1"/>
            </a:solidFill>
            <a:prstDash val="solid"/>
          </a:ln>
        </p:spPr>
      </p:sp>
      <p:sp>
        <p:nvSpPr>
          <p:cNvPr id="16" name="Shape 14"/>
          <p:cNvSpPr/>
          <p:nvPr/>
        </p:nvSpPr>
        <p:spPr>
          <a:xfrm>
            <a:off x="640080" y="3051810"/>
            <a:ext cx="50292" cy="976122"/>
          </a:xfrm>
          <a:prstGeom prst="rect">
            <a:avLst/>
          </a:prstGeom>
          <a:solidFill>
            <a:srgbClr val="087F8C"/>
          </a:solidFill>
          <a:ln w="12700">
            <a:solidFill>
              <a:srgbClr val="087F8C">
                <a:alpha val="0"/>
              </a:srgbClr>
            </a:solidFill>
            <a:prstDash val="solid"/>
          </a:ln>
        </p:spPr>
      </p:sp>
      <p:sp>
        <p:nvSpPr>
          <p:cNvPr id="17" name="Text 15"/>
          <p:cNvSpPr/>
          <p:nvPr/>
        </p:nvSpPr>
        <p:spPr>
          <a:xfrm>
            <a:off x="786384" y="3143250"/>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02</a:t>
            </a:r>
            <a:endParaRPr lang="en-US" sz="950" dirty="0"/>
          </a:p>
        </p:txBody>
      </p:sp>
      <p:sp>
        <p:nvSpPr>
          <p:cNvPr id="18" name="Text 16"/>
          <p:cNvSpPr/>
          <p:nvPr/>
        </p:nvSpPr>
        <p:spPr>
          <a:xfrm>
            <a:off x="1197864" y="3134106"/>
            <a:ext cx="5989320" cy="820674"/>
          </a:xfrm>
          <a:prstGeom prst="rect">
            <a:avLst/>
          </a:prstGeom>
          <a:noFill/>
          <a:ln/>
        </p:spPr>
        <p:txBody>
          <a:bodyPr wrap="square" lIns="0" tIns="0" rIns="0" bIns="0" rtlCol="0" anchor="ctr">
            <a:normAutofit/>
          </a:bodyPr>
          <a:lstStyle/>
          <a:p>
            <a:pPr indent="0" marL="0">
              <a:buNone/>
            </a:pPr>
            <a:r>
              <a:rPr lang="en-US" sz="1310" dirty="0">
                <a:solidFill>
                  <a:srgbClr val="334B5C"/>
                </a:solidFill>
                <a:latin typeface="Aptos" pitchFamily="34" charset="0"/>
                <a:ea typeface="Aptos" pitchFamily="34" charset="-122"/>
                <a:cs typeface="Aptos" pitchFamily="34" charset="-120"/>
              </a:rPr>
              <a:t>Apply the fault, observe sensor/channel/tag/count and any diagnostic, then identify the first point where behaviour differs from expectation; do not alter wiring on an energised rig unless the approved procedure allows it.</a:t>
            </a:r>
            <a:endParaRPr lang="en-US" sz="1310" dirty="0"/>
          </a:p>
        </p:txBody>
      </p:sp>
      <p:sp>
        <p:nvSpPr>
          <p:cNvPr id="19" name="Shape 17"/>
          <p:cNvSpPr/>
          <p:nvPr/>
        </p:nvSpPr>
        <p:spPr>
          <a:xfrm>
            <a:off x="640080" y="4110228"/>
            <a:ext cx="6720840" cy="976122"/>
          </a:xfrm>
          <a:prstGeom prst="rect">
            <a:avLst/>
          </a:prstGeom>
          <a:solidFill>
            <a:srgbClr val="FFFFFF"/>
          </a:solidFill>
          <a:ln w="8890">
            <a:solidFill>
              <a:srgbClr val="E7EDF1"/>
            </a:solidFill>
            <a:prstDash val="solid"/>
          </a:ln>
        </p:spPr>
      </p:sp>
      <p:sp>
        <p:nvSpPr>
          <p:cNvPr id="20" name="Shape 18"/>
          <p:cNvSpPr/>
          <p:nvPr/>
        </p:nvSpPr>
        <p:spPr>
          <a:xfrm>
            <a:off x="640080" y="4110228"/>
            <a:ext cx="50292" cy="976122"/>
          </a:xfrm>
          <a:prstGeom prst="rect">
            <a:avLst/>
          </a:prstGeom>
          <a:solidFill>
            <a:srgbClr val="087F8C"/>
          </a:solidFill>
          <a:ln w="12700">
            <a:solidFill>
              <a:srgbClr val="087F8C">
                <a:alpha val="0"/>
              </a:srgbClr>
            </a:solidFill>
            <a:prstDash val="solid"/>
          </a:ln>
        </p:spPr>
      </p:sp>
      <p:sp>
        <p:nvSpPr>
          <p:cNvPr id="21" name="Text 19"/>
          <p:cNvSpPr/>
          <p:nvPr/>
        </p:nvSpPr>
        <p:spPr>
          <a:xfrm>
            <a:off x="786384" y="4201668"/>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03</a:t>
            </a:r>
            <a:endParaRPr lang="en-US" sz="950" dirty="0"/>
          </a:p>
        </p:txBody>
      </p:sp>
      <p:sp>
        <p:nvSpPr>
          <p:cNvPr id="22" name="Text 20"/>
          <p:cNvSpPr/>
          <p:nvPr/>
        </p:nvSpPr>
        <p:spPr>
          <a:xfrm>
            <a:off x="1197864" y="4192524"/>
            <a:ext cx="5989320" cy="820674"/>
          </a:xfrm>
          <a:prstGeom prst="rect">
            <a:avLst/>
          </a:prstGeom>
          <a:noFill/>
          <a:ln/>
        </p:spPr>
        <p:txBody>
          <a:bodyPr wrap="square" lIns="0" tIns="0" rIns="0" bIns="0" rtlCol="0" anchor="ctr">
            <a:normAutofit/>
          </a:bodyPr>
          <a:lstStyle/>
          <a:p>
            <a:pPr indent="0" marL="0">
              <a:buNone/>
            </a:pPr>
            <a:r>
              <a:rPr lang="en-US" sz="1310" dirty="0">
                <a:solidFill>
                  <a:srgbClr val="334B5C"/>
                </a:solidFill>
                <a:latin typeface="Aptos" pitchFamily="34" charset="0"/>
                <a:ea typeface="Aptos" pitchFamily="34" charset="-122"/>
                <a:cs typeface="Aptos" pitchFamily="34" charset="-120"/>
              </a:rPr>
              <a:t>Correct the cause using documented mapping, edge logic, filter, or sensor/wiring checks; repeat the same input sequence and compare before/after results.</a:t>
            </a:r>
            <a:endParaRPr lang="en-US" sz="1310" dirty="0"/>
          </a:p>
        </p:txBody>
      </p:sp>
      <p:sp>
        <p:nvSpPr>
          <p:cNvPr id="23" name="Shape 21"/>
          <p:cNvSpPr/>
          <p:nvPr/>
        </p:nvSpPr>
        <p:spPr>
          <a:xfrm>
            <a:off x="640080" y="5168646"/>
            <a:ext cx="6720840" cy="976122"/>
          </a:xfrm>
          <a:prstGeom prst="rect">
            <a:avLst/>
          </a:prstGeom>
          <a:solidFill>
            <a:srgbClr val="FFFFFF"/>
          </a:solidFill>
          <a:ln w="8890">
            <a:solidFill>
              <a:srgbClr val="E7EDF1"/>
            </a:solidFill>
            <a:prstDash val="solid"/>
          </a:ln>
        </p:spPr>
      </p:sp>
      <p:sp>
        <p:nvSpPr>
          <p:cNvPr id="24" name="Shape 22"/>
          <p:cNvSpPr/>
          <p:nvPr/>
        </p:nvSpPr>
        <p:spPr>
          <a:xfrm>
            <a:off x="640080" y="5168646"/>
            <a:ext cx="50292" cy="976122"/>
          </a:xfrm>
          <a:prstGeom prst="rect">
            <a:avLst/>
          </a:prstGeom>
          <a:solidFill>
            <a:srgbClr val="087F8C"/>
          </a:solidFill>
          <a:ln w="12700">
            <a:solidFill>
              <a:srgbClr val="087F8C">
                <a:alpha val="0"/>
              </a:srgbClr>
            </a:solidFill>
            <a:prstDash val="solid"/>
          </a:ln>
        </p:spPr>
      </p:sp>
      <p:sp>
        <p:nvSpPr>
          <p:cNvPr id="25" name="Text 23"/>
          <p:cNvSpPr/>
          <p:nvPr/>
        </p:nvSpPr>
        <p:spPr>
          <a:xfrm>
            <a:off x="786384" y="5260086"/>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04</a:t>
            </a:r>
            <a:endParaRPr lang="en-US" sz="950" dirty="0"/>
          </a:p>
        </p:txBody>
      </p:sp>
      <p:sp>
        <p:nvSpPr>
          <p:cNvPr id="26" name="Text 24"/>
          <p:cNvSpPr/>
          <p:nvPr/>
        </p:nvSpPr>
        <p:spPr>
          <a:xfrm>
            <a:off x="1197864" y="5250942"/>
            <a:ext cx="5989320" cy="820674"/>
          </a:xfrm>
          <a:prstGeom prst="rect">
            <a:avLst/>
          </a:prstGeom>
          <a:noFill/>
          <a:ln/>
        </p:spPr>
        <p:txBody>
          <a:bodyPr wrap="square" lIns="0" tIns="0" rIns="0" bIns="0" rtlCol="0" anchor="ctr">
            <a:normAutofit/>
          </a:bodyPr>
          <a:lstStyle/>
          <a:p>
            <a:pPr indent="0" marL="0">
              <a:buNone/>
            </a:pPr>
            <a:r>
              <a:rPr lang="en-US" sz="1310" dirty="0">
                <a:solidFill>
                  <a:srgbClr val="334B5C"/>
                </a:solidFill>
                <a:latin typeface="Aptos" pitchFamily="34" charset="0"/>
                <a:ea typeface="Aptos" pitchFamily="34" charset="-122"/>
                <a:cs typeface="Aptos" pitchFamily="34" charset="-120"/>
              </a:rPr>
              <a:t>Expected debrief: chatter may create extra edges, a stuck-high may produce only one edge then no further counts, and stuck-low produces no event; final behaviour depends on the configured program and diagnostics.</a:t>
            </a:r>
            <a:endParaRPr lang="en-US" sz="1310" dirty="0"/>
          </a:p>
        </p:txBody>
      </p:sp>
      <p:sp>
        <p:nvSpPr>
          <p:cNvPr id="27" name="Shape 25"/>
          <p:cNvSpPr/>
          <p:nvPr/>
        </p:nvSpPr>
        <p:spPr>
          <a:xfrm>
            <a:off x="7662672" y="1746504"/>
            <a:ext cx="3922776" cy="4361688"/>
          </a:xfrm>
          <a:prstGeom prst="rect">
            <a:avLst/>
          </a:prstGeom>
          <a:solidFill>
            <a:srgbClr val="FFFFFF"/>
          </a:solidFill>
          <a:ln w="12700">
            <a:solidFill>
              <a:srgbClr val="D5E0E7"/>
            </a:solidFill>
            <a:prstDash val="solid"/>
          </a:ln>
        </p:spPr>
      </p:sp>
      <p:sp>
        <p:nvSpPr>
          <p:cNvPr id="28" name="Text 26"/>
          <p:cNvSpPr/>
          <p:nvPr/>
        </p:nvSpPr>
        <p:spPr>
          <a:xfrm>
            <a:off x="7863840" y="1892808"/>
            <a:ext cx="3520440" cy="219456"/>
          </a:xfrm>
          <a:prstGeom prst="rect">
            <a:avLst/>
          </a:prstGeom>
          <a:noFill/>
          <a:ln/>
        </p:spPr>
        <p:txBody>
          <a:bodyPr wrap="square" lIns="0" tIns="0" rIns="0" bIns="0" rtlCol="0" anchor="ctr"/>
          <a:lstStyle/>
          <a:p>
            <a:pPr indent="0" marL="0">
              <a:buNone/>
            </a:pPr>
            <a:r>
              <a:rPr lang="en-US" sz="900" b="1" spc="80" kern="0" dirty="0">
                <a:solidFill>
                  <a:srgbClr val="087F8C"/>
                </a:solidFill>
                <a:latin typeface="Aptos" pitchFamily="34" charset="0"/>
                <a:ea typeface="Aptos" pitchFamily="34" charset="-122"/>
                <a:cs typeface="Aptos" pitchFamily="34" charset="-120"/>
              </a:rPr>
              <a:t>SUGGESTED VISUAL</a:t>
            </a:r>
            <a:endParaRPr lang="en-US" sz="900" dirty="0"/>
          </a:p>
        </p:txBody>
      </p:sp>
      <p:sp>
        <p:nvSpPr>
          <p:cNvPr id="29" name="Shape 27"/>
          <p:cNvSpPr/>
          <p:nvPr/>
        </p:nvSpPr>
        <p:spPr>
          <a:xfrm>
            <a:off x="7863840" y="2221992"/>
            <a:ext cx="3520440" cy="0"/>
          </a:xfrm>
          <a:prstGeom prst="line">
            <a:avLst/>
          </a:prstGeom>
          <a:noFill/>
          <a:ln w="8890">
            <a:solidFill>
              <a:srgbClr val="D5E0E7"/>
            </a:solidFill>
            <a:prstDash val="solid"/>
          </a:ln>
        </p:spPr>
      </p:sp>
      <p:sp>
        <p:nvSpPr>
          <p:cNvPr id="30" name="Shape 28"/>
          <p:cNvSpPr/>
          <p:nvPr/>
        </p:nvSpPr>
        <p:spPr>
          <a:xfrm>
            <a:off x="7882128" y="2432304"/>
            <a:ext cx="3483864" cy="3447288"/>
          </a:xfrm>
          <a:prstGeom prst="rect">
            <a:avLst/>
          </a:prstGeom>
          <a:solidFill>
            <a:srgbClr val="E8EFF3"/>
          </a:solidFill>
          <a:ln w="13970">
            <a:solidFill>
              <a:srgbClr val="AFC1CD"/>
            </a:solidFill>
            <a:prstDash val="solid"/>
          </a:ln>
        </p:spPr>
      </p:sp>
      <p:sp>
        <p:nvSpPr>
          <p:cNvPr id="31" name="Text 29"/>
          <p:cNvSpPr/>
          <p:nvPr/>
        </p:nvSpPr>
        <p:spPr>
          <a:xfrm>
            <a:off x="8138160" y="3666744"/>
            <a:ext cx="2971800" cy="384048"/>
          </a:xfrm>
          <a:prstGeom prst="rect">
            <a:avLst/>
          </a:prstGeom>
          <a:noFill/>
          <a:ln/>
        </p:spPr>
        <p:txBody>
          <a:bodyPr wrap="square" lIns="0" tIns="0" rIns="0" bIns="0" rtlCol="0" anchor="ctr">
            <a:normAutofit/>
          </a:bodyPr>
          <a:lstStyle/>
          <a:p>
            <a:pPr algn="ctr" indent="0" marL="0">
              <a:buNone/>
            </a:pPr>
            <a:r>
              <a:rPr lang="en-US" sz="1800" b="1" dirty="0">
                <a:solidFill>
                  <a:srgbClr val="087F8C"/>
                </a:solidFill>
                <a:latin typeface="Aptos Display" pitchFamily="34" charset="0"/>
                <a:ea typeface="Aptos Display" pitchFamily="34" charset="-122"/>
                <a:cs typeface="Aptos Display" pitchFamily="34" charset="-120"/>
              </a:rPr>
              <a:t>IMAGE SPACE</a:t>
            </a:r>
            <a:endParaRPr lang="en-US" sz="1800" dirty="0"/>
          </a:p>
        </p:txBody>
      </p:sp>
      <p:sp>
        <p:nvSpPr>
          <p:cNvPr id="32" name="Text 30"/>
          <p:cNvSpPr/>
          <p:nvPr/>
        </p:nvSpPr>
        <p:spPr>
          <a:xfrm>
            <a:off x="8229600" y="4123944"/>
            <a:ext cx="2788920" cy="502920"/>
          </a:xfrm>
          <a:prstGeom prst="rect">
            <a:avLst/>
          </a:prstGeom>
          <a:noFill/>
          <a:ln/>
        </p:spPr>
        <p:txBody>
          <a:bodyPr wrap="square" lIns="0" tIns="0" rIns="0" bIns="0" rtlCol="0" anchor="ctr">
            <a:normAutofit/>
          </a:bodyPr>
          <a:lstStyle/>
          <a:p>
            <a:pPr algn="ctr" indent="0" marL="0">
              <a:buNone/>
            </a:pPr>
            <a:r>
              <a:rPr lang="en-US" sz="1050" dirty="0">
                <a:solidFill>
                  <a:srgbClr val="607585"/>
                </a:solidFill>
                <a:latin typeface="Aptos" pitchFamily="34" charset="0"/>
                <a:ea typeface="Aptos" pitchFamily="34" charset="-122"/>
                <a:cs typeface="Aptos" pitchFamily="34" charset="-120"/>
              </a:rPr>
              <a:t>Insert the visual described in the speaker notes</a:t>
            </a:r>
            <a:endParaRPr lang="en-US" sz="1050" dirty="0"/>
          </a:p>
        </p:txBody>
      </p:sp>
      <p:sp>
        <p:nvSpPr>
          <p:cNvPr id="33" name="Shape 31"/>
          <p:cNvSpPr/>
          <p:nvPr/>
        </p:nvSpPr>
        <p:spPr>
          <a:xfrm>
            <a:off x="603504" y="6318504"/>
            <a:ext cx="10972800" cy="0"/>
          </a:xfrm>
          <a:prstGeom prst="line">
            <a:avLst/>
          </a:prstGeom>
          <a:noFill/>
          <a:ln w="10160">
            <a:solidFill>
              <a:srgbClr val="D5E0E7"/>
            </a:solidFill>
            <a:prstDash val="solid"/>
          </a:ln>
        </p:spPr>
      </p:sp>
      <p:sp>
        <p:nvSpPr>
          <p:cNvPr id="34" name="Text 32"/>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SIGNAL PROCESSING AND SIGNAL INTEGRITY</a:t>
            </a:r>
            <a:endParaRPr lang="en-US" sz="800" dirty="0"/>
          </a:p>
        </p:txBody>
      </p:sp>
      <p:sp>
        <p:nvSpPr>
          <p:cNvPr id="35" name="Text 33"/>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15 / 18</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087F8C"/>
          </a:solidFill>
          <a:ln w="12700">
            <a:solidFill>
              <a:srgbClr val="087F8C">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087F8C"/>
                </a:solidFill>
                <a:latin typeface="Aptos" pitchFamily="34" charset="0"/>
                <a:ea typeface="Aptos" pitchFamily="34" charset="-122"/>
                <a:cs typeface="Aptos" pitchFamily="34" charset="-120"/>
              </a:rPr>
              <a:t>UNIT 5009    /    WEEK 05    /    LO2</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20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087F8C"/>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087F8C"/>
                </a:solidFill>
                <a:latin typeface="Aptos" pitchFamily="34" charset="0"/>
                <a:ea typeface="Aptos" pitchFamily="34" charset="-122"/>
                <a:cs typeface="Aptos" pitchFamily="34" charset="-120"/>
              </a:rPr>
              <a:t>LO2 FOUNDATIONS</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2800" b="1" dirty="0">
                <a:solidFill>
                  <a:srgbClr val="1B3448"/>
                </a:solidFill>
                <a:latin typeface="Aptos Display" pitchFamily="34" charset="0"/>
                <a:ea typeface="Aptos Display" pitchFamily="34" charset="-122"/>
                <a:cs typeface="Aptos Display" pitchFamily="34" charset="-120"/>
              </a:rPr>
              <a:t>Fault case B: E-stop and output response</a:t>
            </a:r>
            <a:endParaRPr lang="en-US" sz="28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67512" y="1709928"/>
            <a:ext cx="2743200" cy="210312"/>
          </a:xfrm>
          <a:prstGeom prst="rect">
            <a:avLst/>
          </a:prstGeom>
          <a:noFill/>
          <a:ln/>
        </p:spPr>
        <p:txBody>
          <a:bodyPr wrap="square" lIns="0" tIns="0" rIns="0" bIns="0" rtlCol="0" anchor="ctr"/>
          <a:lstStyle/>
          <a:p>
            <a:pPr indent="0" marL="0">
              <a:buNone/>
            </a:pPr>
            <a:r>
              <a:rPr lang="en-US" sz="900" b="1" spc="100" kern="0" dirty="0">
                <a:solidFill>
                  <a:srgbClr val="087F8C"/>
                </a:solidFill>
                <a:latin typeface="Aptos" pitchFamily="34" charset="0"/>
                <a:ea typeface="Aptos" pitchFamily="34" charset="-122"/>
                <a:cs typeface="Aptos" pitchFamily="34" charset="-120"/>
              </a:rPr>
              <a:t>TEACHING POINTS</a:t>
            </a:r>
            <a:endParaRPr lang="en-US" sz="900" dirty="0"/>
          </a:p>
        </p:txBody>
      </p:sp>
      <p:sp>
        <p:nvSpPr>
          <p:cNvPr id="11" name="Shape 9"/>
          <p:cNvSpPr/>
          <p:nvPr/>
        </p:nvSpPr>
        <p:spPr>
          <a:xfrm>
            <a:off x="640080" y="1993392"/>
            <a:ext cx="6720840" cy="976122"/>
          </a:xfrm>
          <a:prstGeom prst="rect">
            <a:avLst/>
          </a:prstGeom>
          <a:solidFill>
            <a:srgbClr val="FFFFFF"/>
          </a:solidFill>
          <a:ln w="8890">
            <a:solidFill>
              <a:srgbClr val="D5E0E7"/>
            </a:solidFill>
            <a:prstDash val="solid"/>
          </a:ln>
        </p:spPr>
      </p:sp>
      <p:sp>
        <p:nvSpPr>
          <p:cNvPr id="12" name="Shape 10"/>
          <p:cNvSpPr/>
          <p:nvPr/>
        </p:nvSpPr>
        <p:spPr>
          <a:xfrm>
            <a:off x="640080" y="1993392"/>
            <a:ext cx="50292" cy="976122"/>
          </a:xfrm>
          <a:prstGeom prst="rect">
            <a:avLst/>
          </a:prstGeom>
          <a:solidFill>
            <a:srgbClr val="087F8C"/>
          </a:solidFill>
          <a:ln w="12700">
            <a:solidFill>
              <a:srgbClr val="087F8C">
                <a:alpha val="0"/>
              </a:srgbClr>
            </a:solidFill>
            <a:prstDash val="solid"/>
          </a:ln>
        </p:spPr>
      </p:sp>
      <p:sp>
        <p:nvSpPr>
          <p:cNvPr id="13" name="Text 11"/>
          <p:cNvSpPr/>
          <p:nvPr/>
        </p:nvSpPr>
        <p:spPr>
          <a:xfrm>
            <a:off x="786384" y="2084832"/>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01</a:t>
            </a:r>
            <a:endParaRPr lang="en-US" sz="950" dirty="0"/>
          </a:p>
        </p:txBody>
      </p:sp>
      <p:sp>
        <p:nvSpPr>
          <p:cNvPr id="14" name="Text 12"/>
          <p:cNvSpPr/>
          <p:nvPr/>
        </p:nvSpPr>
        <p:spPr>
          <a:xfrm>
            <a:off x="1197864" y="2075688"/>
            <a:ext cx="5989320" cy="820674"/>
          </a:xfrm>
          <a:prstGeom prst="rect">
            <a:avLst/>
          </a:prstGeom>
          <a:noFill/>
          <a:ln/>
        </p:spPr>
        <p:txBody>
          <a:bodyPr wrap="square" lIns="0" tIns="0" rIns="0" bIns="0" rtlCol="0" anchor="ctr">
            <a:normAutofit/>
          </a:bodyPr>
          <a:lstStyle/>
          <a:p>
            <a:pPr indent="0" marL="0">
              <a:buNone/>
            </a:pPr>
            <a:r>
              <a:rPr lang="en-US" sz="1310" dirty="0">
                <a:solidFill>
                  <a:srgbClr val="334B5C"/>
                </a:solidFill>
                <a:latin typeface="Aptos" pitchFamily="34" charset="0"/>
                <a:ea typeface="Aptos" pitchFamily="34" charset="-122"/>
                <a:cs typeface="Aptos" pitchFamily="34" charset="-120"/>
              </a:rPr>
              <a:t>Procedure: under the instructor's authorised rig procedure, verify the E-stop device and safety design before testing; actuate it and observe the designed safe response, then inspect standard PLC status feedback and alarm indication separately.</a:t>
            </a:r>
            <a:endParaRPr lang="en-US" sz="1310" dirty="0"/>
          </a:p>
        </p:txBody>
      </p:sp>
      <p:sp>
        <p:nvSpPr>
          <p:cNvPr id="15" name="Shape 13"/>
          <p:cNvSpPr/>
          <p:nvPr/>
        </p:nvSpPr>
        <p:spPr>
          <a:xfrm>
            <a:off x="640080" y="3051810"/>
            <a:ext cx="6720840" cy="976122"/>
          </a:xfrm>
          <a:prstGeom prst="rect">
            <a:avLst/>
          </a:prstGeom>
          <a:solidFill>
            <a:srgbClr val="FFFFFF"/>
          </a:solidFill>
          <a:ln w="8890">
            <a:solidFill>
              <a:srgbClr val="E7EDF1"/>
            </a:solidFill>
            <a:prstDash val="solid"/>
          </a:ln>
        </p:spPr>
      </p:sp>
      <p:sp>
        <p:nvSpPr>
          <p:cNvPr id="16" name="Shape 14"/>
          <p:cNvSpPr/>
          <p:nvPr/>
        </p:nvSpPr>
        <p:spPr>
          <a:xfrm>
            <a:off x="640080" y="3051810"/>
            <a:ext cx="50292" cy="976122"/>
          </a:xfrm>
          <a:prstGeom prst="rect">
            <a:avLst/>
          </a:prstGeom>
          <a:solidFill>
            <a:srgbClr val="087F8C"/>
          </a:solidFill>
          <a:ln w="12700">
            <a:solidFill>
              <a:srgbClr val="087F8C">
                <a:alpha val="0"/>
              </a:srgbClr>
            </a:solidFill>
            <a:prstDash val="solid"/>
          </a:ln>
        </p:spPr>
      </p:sp>
      <p:sp>
        <p:nvSpPr>
          <p:cNvPr id="17" name="Text 15"/>
          <p:cNvSpPr/>
          <p:nvPr/>
        </p:nvSpPr>
        <p:spPr>
          <a:xfrm>
            <a:off x="786384" y="3143250"/>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02</a:t>
            </a:r>
            <a:endParaRPr lang="en-US" sz="950" dirty="0"/>
          </a:p>
        </p:txBody>
      </p:sp>
      <p:sp>
        <p:nvSpPr>
          <p:cNvPr id="18" name="Text 16"/>
          <p:cNvSpPr/>
          <p:nvPr/>
        </p:nvSpPr>
        <p:spPr>
          <a:xfrm>
            <a:off x="1197864" y="3134106"/>
            <a:ext cx="5989320" cy="820674"/>
          </a:xfrm>
          <a:prstGeom prst="rect">
            <a:avLst/>
          </a:prstGeom>
          <a:noFill/>
          <a:ln/>
        </p:spPr>
        <p:txBody>
          <a:bodyPr wrap="square" lIns="0" tIns="0" rIns="0" bIns="0" rtlCol="0" anchor="ctr">
            <a:normAutofit/>
          </a:bodyPr>
          <a:lstStyle/>
          <a:p>
            <a:pPr indent="0" marL="0">
              <a:buNone/>
            </a:pPr>
            <a:r>
              <a:rPr lang="en-US" sz="1310" dirty="0">
                <a:solidFill>
                  <a:srgbClr val="334B5C"/>
                </a:solidFill>
                <a:latin typeface="Aptos" pitchFamily="34" charset="0"/>
                <a:ea typeface="Aptos" pitchFamily="34" charset="-122"/>
                <a:cs typeface="Aptos" pitchFamily="34" charset="-120"/>
              </a:rPr>
              <a:t>Expected observation: the safety function reaches its specified safe state independently of ordinary HMI/SCADA availability; a standard PLC tag may report status but is not proof of a safety-rated action.</a:t>
            </a:r>
            <a:endParaRPr lang="en-US" sz="1310" dirty="0"/>
          </a:p>
        </p:txBody>
      </p:sp>
      <p:sp>
        <p:nvSpPr>
          <p:cNvPr id="19" name="Shape 17"/>
          <p:cNvSpPr/>
          <p:nvPr/>
        </p:nvSpPr>
        <p:spPr>
          <a:xfrm>
            <a:off x="640080" y="4110228"/>
            <a:ext cx="6720840" cy="976122"/>
          </a:xfrm>
          <a:prstGeom prst="rect">
            <a:avLst/>
          </a:prstGeom>
          <a:solidFill>
            <a:srgbClr val="FFFFFF"/>
          </a:solidFill>
          <a:ln w="8890">
            <a:solidFill>
              <a:srgbClr val="E7EDF1"/>
            </a:solidFill>
            <a:prstDash val="solid"/>
          </a:ln>
        </p:spPr>
      </p:sp>
      <p:sp>
        <p:nvSpPr>
          <p:cNvPr id="20" name="Shape 18"/>
          <p:cNvSpPr/>
          <p:nvPr/>
        </p:nvSpPr>
        <p:spPr>
          <a:xfrm>
            <a:off x="640080" y="4110228"/>
            <a:ext cx="50292" cy="976122"/>
          </a:xfrm>
          <a:prstGeom prst="rect">
            <a:avLst/>
          </a:prstGeom>
          <a:solidFill>
            <a:srgbClr val="087F8C"/>
          </a:solidFill>
          <a:ln w="12700">
            <a:solidFill>
              <a:srgbClr val="087F8C">
                <a:alpha val="0"/>
              </a:srgbClr>
            </a:solidFill>
            <a:prstDash val="solid"/>
          </a:ln>
        </p:spPr>
      </p:sp>
      <p:sp>
        <p:nvSpPr>
          <p:cNvPr id="21" name="Text 19"/>
          <p:cNvSpPr/>
          <p:nvPr/>
        </p:nvSpPr>
        <p:spPr>
          <a:xfrm>
            <a:off x="786384" y="4201668"/>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03</a:t>
            </a:r>
            <a:endParaRPr lang="en-US" sz="950" dirty="0"/>
          </a:p>
        </p:txBody>
      </p:sp>
      <p:sp>
        <p:nvSpPr>
          <p:cNvPr id="22" name="Text 20"/>
          <p:cNvSpPr/>
          <p:nvPr/>
        </p:nvSpPr>
        <p:spPr>
          <a:xfrm>
            <a:off x="1197864" y="4192524"/>
            <a:ext cx="5989320" cy="820674"/>
          </a:xfrm>
          <a:prstGeom prst="rect">
            <a:avLst/>
          </a:prstGeom>
          <a:noFill/>
          <a:ln/>
        </p:spPr>
        <p:txBody>
          <a:bodyPr wrap="square" lIns="0" tIns="0" rIns="0" bIns="0" rtlCol="0" anchor="ctr">
            <a:normAutofit/>
          </a:bodyPr>
          <a:lstStyle/>
          <a:p>
            <a:pPr indent="0" marL="0">
              <a:buNone/>
            </a:pPr>
            <a:r>
              <a:rPr lang="en-US" sz="1310" dirty="0">
                <a:solidFill>
                  <a:srgbClr val="334B5C"/>
                </a:solidFill>
                <a:latin typeface="Aptos" pitchFamily="34" charset="0"/>
                <a:ea typeface="Aptos" pitchFamily="34" charset="-122"/>
                <a:cs typeface="Aptos" pitchFamily="34" charset="-120"/>
              </a:rPr>
              <a:t>Check reset and restart permissives: releasing/resetting the E-stop must not itself cause an unexpected automatic restart; follow the actual safety relay/controller documentation.</a:t>
            </a:r>
            <a:endParaRPr lang="en-US" sz="1310" dirty="0"/>
          </a:p>
        </p:txBody>
      </p:sp>
      <p:sp>
        <p:nvSpPr>
          <p:cNvPr id="23" name="Shape 21"/>
          <p:cNvSpPr/>
          <p:nvPr/>
        </p:nvSpPr>
        <p:spPr>
          <a:xfrm>
            <a:off x="640080" y="5168646"/>
            <a:ext cx="6720840" cy="976122"/>
          </a:xfrm>
          <a:prstGeom prst="rect">
            <a:avLst/>
          </a:prstGeom>
          <a:solidFill>
            <a:srgbClr val="FFFFFF"/>
          </a:solidFill>
          <a:ln w="8890">
            <a:solidFill>
              <a:srgbClr val="E7EDF1"/>
            </a:solidFill>
            <a:prstDash val="solid"/>
          </a:ln>
        </p:spPr>
      </p:sp>
      <p:sp>
        <p:nvSpPr>
          <p:cNvPr id="24" name="Shape 22"/>
          <p:cNvSpPr/>
          <p:nvPr/>
        </p:nvSpPr>
        <p:spPr>
          <a:xfrm>
            <a:off x="640080" y="5168646"/>
            <a:ext cx="50292" cy="976122"/>
          </a:xfrm>
          <a:prstGeom prst="rect">
            <a:avLst/>
          </a:prstGeom>
          <a:solidFill>
            <a:srgbClr val="087F8C"/>
          </a:solidFill>
          <a:ln w="12700">
            <a:solidFill>
              <a:srgbClr val="087F8C">
                <a:alpha val="0"/>
              </a:srgbClr>
            </a:solidFill>
            <a:prstDash val="solid"/>
          </a:ln>
        </p:spPr>
      </p:sp>
      <p:sp>
        <p:nvSpPr>
          <p:cNvPr id="25" name="Text 23"/>
          <p:cNvSpPr/>
          <p:nvPr/>
        </p:nvSpPr>
        <p:spPr>
          <a:xfrm>
            <a:off x="786384" y="5260086"/>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04</a:t>
            </a:r>
            <a:endParaRPr lang="en-US" sz="950" dirty="0"/>
          </a:p>
        </p:txBody>
      </p:sp>
      <p:sp>
        <p:nvSpPr>
          <p:cNvPr id="26" name="Text 24"/>
          <p:cNvSpPr/>
          <p:nvPr/>
        </p:nvSpPr>
        <p:spPr>
          <a:xfrm>
            <a:off x="1197864" y="5250942"/>
            <a:ext cx="5989320" cy="820674"/>
          </a:xfrm>
          <a:prstGeom prst="rect">
            <a:avLst/>
          </a:prstGeom>
          <a:noFill/>
          <a:ln/>
        </p:spPr>
        <p:txBody>
          <a:bodyPr wrap="square" lIns="0" tIns="0" rIns="0" bIns="0" rtlCol="0" anchor="ctr">
            <a:normAutofit/>
          </a:bodyPr>
          <a:lstStyle/>
          <a:p>
            <a:pPr indent="0" marL="0">
              <a:buNone/>
            </a:pPr>
            <a:r>
              <a:rPr lang="en-US" sz="1310" dirty="0">
                <a:solidFill>
                  <a:srgbClr val="334B5C"/>
                </a:solidFill>
                <a:latin typeface="Aptos" pitchFamily="34" charset="0"/>
                <a:ea typeface="Aptos" pitchFamily="34" charset="-122"/>
                <a:cs typeface="Aptos" pitchFamily="34" charset="-120"/>
              </a:rPr>
              <a:t>Keep buzzer/fault handling distinct from the safety function, and never simulate by bypassing or defeating an E-stop circuit.</a:t>
            </a:r>
            <a:endParaRPr lang="en-US" sz="1310" dirty="0"/>
          </a:p>
        </p:txBody>
      </p:sp>
      <p:sp>
        <p:nvSpPr>
          <p:cNvPr id="27" name="Shape 25"/>
          <p:cNvSpPr/>
          <p:nvPr/>
        </p:nvSpPr>
        <p:spPr>
          <a:xfrm>
            <a:off x="7662672" y="1746504"/>
            <a:ext cx="3922776" cy="4361688"/>
          </a:xfrm>
          <a:prstGeom prst="rect">
            <a:avLst/>
          </a:prstGeom>
          <a:solidFill>
            <a:srgbClr val="FFFFFF"/>
          </a:solidFill>
          <a:ln w="12700">
            <a:solidFill>
              <a:srgbClr val="D5E0E7"/>
            </a:solidFill>
            <a:prstDash val="solid"/>
          </a:ln>
        </p:spPr>
      </p:sp>
      <p:sp>
        <p:nvSpPr>
          <p:cNvPr id="28" name="Text 26"/>
          <p:cNvSpPr/>
          <p:nvPr/>
        </p:nvSpPr>
        <p:spPr>
          <a:xfrm>
            <a:off x="7863840" y="1892808"/>
            <a:ext cx="3520440" cy="219456"/>
          </a:xfrm>
          <a:prstGeom prst="rect">
            <a:avLst/>
          </a:prstGeom>
          <a:noFill/>
          <a:ln/>
        </p:spPr>
        <p:txBody>
          <a:bodyPr wrap="square" lIns="0" tIns="0" rIns="0" bIns="0" rtlCol="0" anchor="ctr"/>
          <a:lstStyle/>
          <a:p>
            <a:pPr indent="0" marL="0">
              <a:buNone/>
            </a:pPr>
            <a:r>
              <a:rPr lang="en-US" sz="900" b="1" spc="80" kern="0" dirty="0">
                <a:solidFill>
                  <a:srgbClr val="087F8C"/>
                </a:solidFill>
                <a:latin typeface="Aptos" pitchFamily="34" charset="0"/>
                <a:ea typeface="Aptos" pitchFamily="34" charset="-122"/>
                <a:cs typeface="Aptos" pitchFamily="34" charset="-120"/>
              </a:rPr>
              <a:t>SAFE RESPONSE PATH</a:t>
            </a:r>
            <a:endParaRPr lang="en-US" sz="900" dirty="0"/>
          </a:p>
        </p:txBody>
      </p:sp>
      <p:sp>
        <p:nvSpPr>
          <p:cNvPr id="29" name="Shape 27"/>
          <p:cNvSpPr/>
          <p:nvPr/>
        </p:nvSpPr>
        <p:spPr>
          <a:xfrm>
            <a:off x="7863840" y="2221992"/>
            <a:ext cx="3520440" cy="0"/>
          </a:xfrm>
          <a:prstGeom prst="line">
            <a:avLst/>
          </a:prstGeom>
          <a:noFill/>
          <a:ln w="8890">
            <a:solidFill>
              <a:srgbClr val="D5E0E7"/>
            </a:solidFill>
            <a:prstDash val="solid"/>
          </a:ln>
        </p:spPr>
      </p:sp>
      <p:sp>
        <p:nvSpPr>
          <p:cNvPr id="30" name="Text 28"/>
          <p:cNvSpPr/>
          <p:nvPr/>
        </p:nvSpPr>
        <p:spPr>
          <a:xfrm>
            <a:off x="8010144" y="2688336"/>
            <a:ext cx="3200400" cy="320040"/>
          </a:xfrm>
          <a:prstGeom prst="rect">
            <a:avLst/>
          </a:prstGeom>
          <a:noFill/>
          <a:ln/>
        </p:spPr>
        <p:txBody>
          <a:bodyPr wrap="square" lIns="0" tIns="0" rIns="0" bIns="0" rtlCol="0" anchor="ctr">
            <a:normAutofit/>
          </a:bodyPr>
          <a:lstStyle/>
          <a:p>
            <a:pPr algn="ctr" indent="0" marL="0">
              <a:buNone/>
            </a:pPr>
            <a:r>
              <a:rPr lang="en-US" sz="900" b="1" dirty="0">
                <a:solidFill>
                  <a:srgbClr val="C65E4E"/>
                </a:solidFill>
                <a:latin typeface="Aptos" pitchFamily="34" charset="0"/>
                <a:ea typeface="Aptos" pitchFamily="34" charset="-122"/>
                <a:cs typeface="Aptos" pitchFamily="34" charset="-120"/>
              </a:rPr>
              <a:t>KEEP THE SAFETY FUNCTION DISTINCT</a:t>
            </a:r>
            <a:endParaRPr lang="en-US" sz="900" dirty="0"/>
          </a:p>
        </p:txBody>
      </p:sp>
      <p:sp>
        <p:nvSpPr>
          <p:cNvPr id="31" name="Shape 29"/>
          <p:cNvSpPr/>
          <p:nvPr/>
        </p:nvSpPr>
        <p:spPr>
          <a:xfrm>
            <a:off x="8055864" y="3328416"/>
            <a:ext cx="841248" cy="658368"/>
          </a:xfrm>
          <a:prstGeom prst="rect">
            <a:avLst/>
          </a:prstGeom>
          <a:solidFill>
            <a:srgbClr val="FBF2F0"/>
          </a:solidFill>
          <a:ln w="14605">
            <a:solidFill>
              <a:srgbClr val="C65E4E"/>
            </a:solidFill>
            <a:prstDash val="solid"/>
          </a:ln>
        </p:spPr>
      </p:sp>
      <p:sp>
        <p:nvSpPr>
          <p:cNvPr id="32" name="Text 30"/>
          <p:cNvSpPr/>
          <p:nvPr/>
        </p:nvSpPr>
        <p:spPr>
          <a:xfrm>
            <a:off x="8129016" y="3383280"/>
            <a:ext cx="694944" cy="548640"/>
          </a:xfrm>
          <a:prstGeom prst="rect">
            <a:avLst/>
          </a:prstGeom>
          <a:noFill/>
          <a:ln/>
        </p:spPr>
        <p:txBody>
          <a:bodyPr wrap="square" lIns="0" tIns="0" rIns="0" bIns="0" rtlCol="0" anchor="ctr">
            <a:normAutofit/>
          </a:bodyPr>
          <a:lstStyle/>
          <a:p>
            <a:pPr algn="ctr" indent="0" marL="0">
              <a:buNone/>
            </a:pPr>
            <a:r>
              <a:rPr lang="en-US" sz="900" b="1" dirty="0">
                <a:solidFill>
                  <a:srgbClr val="1B3448"/>
                </a:solidFill>
                <a:latin typeface="Aptos" pitchFamily="34" charset="0"/>
                <a:ea typeface="Aptos" pitchFamily="34" charset="-122"/>
                <a:cs typeface="Aptos" pitchFamily="34" charset="-120"/>
              </a:rPr>
              <a:t>E-STOP</a:t>
            </a:r>
            <a:endParaRPr lang="en-US" sz="900" dirty="0"/>
          </a:p>
          <a:p>
            <a:pPr algn="ctr" indent="0" marL="0">
              <a:buNone/>
            </a:pPr>
            <a:r>
              <a:rPr lang="en-US" sz="900" b="1" dirty="0">
                <a:solidFill>
                  <a:srgbClr val="1B3448"/>
                </a:solidFill>
                <a:latin typeface="Aptos" pitchFamily="34" charset="0"/>
                <a:ea typeface="Aptos" pitchFamily="34" charset="-122"/>
                <a:cs typeface="Aptos" pitchFamily="34" charset="-120"/>
              </a:rPr>
              <a:t>DEVICE</a:t>
            </a:r>
            <a:endParaRPr lang="en-US" sz="900" dirty="0"/>
          </a:p>
        </p:txBody>
      </p:sp>
      <p:sp>
        <p:nvSpPr>
          <p:cNvPr id="33" name="Shape 31"/>
          <p:cNvSpPr/>
          <p:nvPr/>
        </p:nvSpPr>
        <p:spPr>
          <a:xfrm>
            <a:off x="9427464" y="3328416"/>
            <a:ext cx="1005840" cy="658368"/>
          </a:xfrm>
          <a:prstGeom prst="rect">
            <a:avLst/>
          </a:prstGeom>
          <a:solidFill>
            <a:srgbClr val="FBF2F0"/>
          </a:solidFill>
          <a:ln w="14605">
            <a:solidFill>
              <a:srgbClr val="C65E4E"/>
            </a:solidFill>
            <a:prstDash val="solid"/>
          </a:ln>
        </p:spPr>
      </p:sp>
      <p:sp>
        <p:nvSpPr>
          <p:cNvPr id="34" name="Text 32"/>
          <p:cNvSpPr/>
          <p:nvPr/>
        </p:nvSpPr>
        <p:spPr>
          <a:xfrm>
            <a:off x="9500616" y="3383280"/>
            <a:ext cx="859536" cy="548640"/>
          </a:xfrm>
          <a:prstGeom prst="rect">
            <a:avLst/>
          </a:prstGeom>
          <a:noFill/>
          <a:ln/>
        </p:spPr>
        <p:txBody>
          <a:bodyPr wrap="square" lIns="0" tIns="0" rIns="0" bIns="0" rtlCol="0" anchor="ctr">
            <a:normAutofit/>
          </a:bodyPr>
          <a:lstStyle/>
          <a:p>
            <a:pPr algn="ctr" indent="0" marL="0">
              <a:buNone/>
            </a:pPr>
            <a:r>
              <a:rPr lang="en-US" sz="900" b="1" dirty="0">
                <a:solidFill>
                  <a:srgbClr val="1B3448"/>
                </a:solidFill>
                <a:latin typeface="Aptos" pitchFamily="34" charset="0"/>
                <a:ea typeface="Aptos" pitchFamily="34" charset="-122"/>
                <a:cs typeface="Aptos" pitchFamily="34" charset="-120"/>
              </a:rPr>
              <a:t>SAFETY</a:t>
            </a:r>
            <a:endParaRPr lang="en-US" sz="900" dirty="0"/>
          </a:p>
          <a:p>
            <a:pPr algn="ctr" indent="0" marL="0">
              <a:buNone/>
            </a:pPr>
            <a:r>
              <a:rPr lang="en-US" sz="900" b="1" dirty="0">
                <a:solidFill>
                  <a:srgbClr val="1B3448"/>
                </a:solidFill>
                <a:latin typeface="Aptos" pitchFamily="34" charset="0"/>
                <a:ea typeface="Aptos" pitchFamily="34" charset="-122"/>
                <a:cs typeface="Aptos" pitchFamily="34" charset="-120"/>
              </a:rPr>
              <a:t>RELAY / PLC</a:t>
            </a:r>
            <a:endParaRPr lang="en-US" sz="900" dirty="0"/>
          </a:p>
        </p:txBody>
      </p:sp>
      <p:sp>
        <p:nvSpPr>
          <p:cNvPr id="35" name="Shape 33"/>
          <p:cNvSpPr/>
          <p:nvPr/>
        </p:nvSpPr>
        <p:spPr>
          <a:xfrm>
            <a:off x="10799064" y="3328416"/>
            <a:ext cx="786384" cy="658368"/>
          </a:xfrm>
          <a:prstGeom prst="rect">
            <a:avLst/>
          </a:prstGeom>
          <a:solidFill>
            <a:srgbClr val="FBF2F0"/>
          </a:solidFill>
          <a:ln w="14605">
            <a:solidFill>
              <a:srgbClr val="C65E4E"/>
            </a:solidFill>
            <a:prstDash val="solid"/>
          </a:ln>
        </p:spPr>
      </p:sp>
      <p:sp>
        <p:nvSpPr>
          <p:cNvPr id="36" name="Text 34"/>
          <p:cNvSpPr/>
          <p:nvPr/>
        </p:nvSpPr>
        <p:spPr>
          <a:xfrm>
            <a:off x="10872216" y="3383280"/>
            <a:ext cx="640080" cy="548640"/>
          </a:xfrm>
          <a:prstGeom prst="rect">
            <a:avLst/>
          </a:prstGeom>
          <a:noFill/>
          <a:ln/>
        </p:spPr>
        <p:txBody>
          <a:bodyPr wrap="square" lIns="0" tIns="0" rIns="0" bIns="0" rtlCol="0" anchor="ctr">
            <a:normAutofit/>
          </a:bodyPr>
          <a:lstStyle/>
          <a:p>
            <a:pPr algn="ctr" indent="0" marL="0">
              <a:buNone/>
            </a:pPr>
            <a:r>
              <a:rPr lang="en-US" sz="840" b="1" dirty="0">
                <a:solidFill>
                  <a:srgbClr val="1B3448"/>
                </a:solidFill>
                <a:latin typeface="Aptos" pitchFamily="34" charset="0"/>
                <a:ea typeface="Aptos" pitchFamily="34" charset="-122"/>
                <a:cs typeface="Aptos" pitchFamily="34" charset="-120"/>
              </a:rPr>
              <a:t>HAZARDOUS</a:t>
            </a:r>
            <a:endParaRPr lang="en-US" sz="840" dirty="0"/>
          </a:p>
          <a:p>
            <a:pPr algn="ctr" indent="0" marL="0">
              <a:buNone/>
            </a:pPr>
            <a:r>
              <a:rPr lang="en-US" sz="840" b="1" dirty="0">
                <a:solidFill>
                  <a:srgbClr val="1B3448"/>
                </a:solidFill>
                <a:latin typeface="Aptos" pitchFamily="34" charset="0"/>
                <a:ea typeface="Aptos" pitchFamily="34" charset="-122"/>
                <a:cs typeface="Aptos" pitchFamily="34" charset="-120"/>
              </a:rPr>
              <a:t>ENERGY</a:t>
            </a:r>
            <a:endParaRPr lang="en-US" sz="840" dirty="0"/>
          </a:p>
        </p:txBody>
      </p:sp>
      <p:sp>
        <p:nvSpPr>
          <p:cNvPr id="37" name="Shape 35"/>
          <p:cNvSpPr/>
          <p:nvPr/>
        </p:nvSpPr>
        <p:spPr>
          <a:xfrm>
            <a:off x="8915400" y="3657600"/>
            <a:ext cx="448056" cy="0"/>
          </a:xfrm>
          <a:prstGeom prst="line">
            <a:avLst/>
          </a:prstGeom>
          <a:noFill/>
          <a:ln w="22860">
            <a:solidFill>
              <a:srgbClr val="C65E4E"/>
            </a:solidFill>
            <a:prstDash val="solid"/>
            <a:tailEnd type="triangle"/>
          </a:ln>
        </p:spPr>
      </p:sp>
      <p:sp>
        <p:nvSpPr>
          <p:cNvPr id="38" name="Shape 36"/>
          <p:cNvSpPr/>
          <p:nvPr/>
        </p:nvSpPr>
        <p:spPr>
          <a:xfrm>
            <a:off x="10451592" y="3657600"/>
            <a:ext cx="283464" cy="0"/>
          </a:xfrm>
          <a:prstGeom prst="line">
            <a:avLst/>
          </a:prstGeom>
          <a:noFill/>
          <a:ln w="22860">
            <a:solidFill>
              <a:srgbClr val="C65E4E"/>
            </a:solidFill>
            <a:prstDash val="solid"/>
            <a:tailEnd type="triangle"/>
          </a:ln>
        </p:spPr>
      </p:sp>
      <p:sp>
        <p:nvSpPr>
          <p:cNvPr id="39" name="Shape 37"/>
          <p:cNvSpPr/>
          <p:nvPr/>
        </p:nvSpPr>
        <p:spPr>
          <a:xfrm>
            <a:off x="8723376" y="4700016"/>
            <a:ext cx="2423160" cy="530352"/>
          </a:xfrm>
          <a:prstGeom prst="rect">
            <a:avLst/>
          </a:prstGeom>
          <a:solidFill>
            <a:srgbClr val="F4F8FA"/>
          </a:solidFill>
          <a:ln w="14605">
            <a:solidFill>
              <a:srgbClr val="087F8C"/>
            </a:solidFill>
            <a:prstDash val="solid"/>
          </a:ln>
        </p:spPr>
      </p:sp>
      <p:sp>
        <p:nvSpPr>
          <p:cNvPr id="40" name="Text 38"/>
          <p:cNvSpPr/>
          <p:nvPr/>
        </p:nvSpPr>
        <p:spPr>
          <a:xfrm>
            <a:off x="8796528" y="4754880"/>
            <a:ext cx="2276856" cy="420624"/>
          </a:xfrm>
          <a:prstGeom prst="rect">
            <a:avLst/>
          </a:prstGeom>
          <a:noFill/>
          <a:ln/>
        </p:spPr>
        <p:txBody>
          <a:bodyPr wrap="square" lIns="0" tIns="0" rIns="0" bIns="0" rtlCol="0" anchor="ctr">
            <a:normAutofit/>
          </a:bodyPr>
          <a:lstStyle/>
          <a:p>
            <a:pPr algn="ctr" indent="0" marL="0">
              <a:buNone/>
            </a:pPr>
            <a:r>
              <a:rPr lang="en-US" sz="920" b="1" dirty="0">
                <a:solidFill>
                  <a:srgbClr val="1B3448"/>
                </a:solidFill>
                <a:latin typeface="Aptos" pitchFamily="34" charset="0"/>
                <a:ea typeface="Aptos" pitchFamily="34" charset="-122"/>
                <a:cs typeface="Aptos" pitchFamily="34" charset="-120"/>
              </a:rPr>
              <a:t>STANDARD PLC: STATUS MONITORING</a:t>
            </a:r>
            <a:endParaRPr lang="en-US" sz="920" dirty="0"/>
          </a:p>
        </p:txBody>
      </p:sp>
      <p:sp>
        <p:nvSpPr>
          <p:cNvPr id="41" name="Shape 39"/>
          <p:cNvSpPr/>
          <p:nvPr/>
        </p:nvSpPr>
        <p:spPr>
          <a:xfrm>
            <a:off x="9930384" y="4041648"/>
            <a:ext cx="0" cy="566928"/>
          </a:xfrm>
          <a:prstGeom prst="line">
            <a:avLst/>
          </a:prstGeom>
          <a:noFill/>
          <a:ln w="13970">
            <a:solidFill>
              <a:srgbClr val="087F8C"/>
            </a:solidFill>
            <a:prstDash val="solid"/>
            <a:tailEnd type="triangle"/>
          </a:ln>
        </p:spPr>
      </p:sp>
      <p:sp>
        <p:nvSpPr>
          <p:cNvPr id="42" name="Text 40"/>
          <p:cNvSpPr/>
          <p:nvPr/>
        </p:nvSpPr>
        <p:spPr>
          <a:xfrm>
            <a:off x="8156448" y="5468112"/>
            <a:ext cx="3246120" cy="502920"/>
          </a:xfrm>
          <a:prstGeom prst="rect">
            <a:avLst/>
          </a:prstGeom>
          <a:noFill/>
          <a:ln/>
        </p:spPr>
        <p:txBody>
          <a:bodyPr wrap="square" lIns="0" tIns="0" rIns="0" bIns="0" rtlCol="0" anchor="ctr">
            <a:normAutofit/>
          </a:bodyPr>
          <a:lstStyle/>
          <a:p>
            <a:pPr algn="ctr" indent="0" marL="0">
              <a:buNone/>
            </a:pPr>
            <a:r>
              <a:rPr lang="en-US" sz="1010" dirty="0">
                <a:solidFill>
                  <a:srgbClr val="334B5C"/>
                </a:solidFill>
                <a:latin typeface="Aptos" pitchFamily="34" charset="0"/>
                <a:ea typeface="Aptos" pitchFamily="34" charset="-122"/>
                <a:cs typeface="Aptos" pitchFamily="34" charset="-120"/>
              </a:rPr>
              <a:t>Risk assessment defines the required architecture and reset behaviour</a:t>
            </a:r>
            <a:endParaRPr lang="en-US" sz="1010" dirty="0"/>
          </a:p>
        </p:txBody>
      </p:sp>
      <p:sp>
        <p:nvSpPr>
          <p:cNvPr id="43" name="Shape 41"/>
          <p:cNvSpPr/>
          <p:nvPr/>
        </p:nvSpPr>
        <p:spPr>
          <a:xfrm>
            <a:off x="603504" y="6318504"/>
            <a:ext cx="10972800" cy="0"/>
          </a:xfrm>
          <a:prstGeom prst="line">
            <a:avLst/>
          </a:prstGeom>
          <a:noFill/>
          <a:ln w="10160">
            <a:solidFill>
              <a:srgbClr val="D5E0E7"/>
            </a:solidFill>
            <a:prstDash val="solid"/>
          </a:ln>
        </p:spPr>
      </p:sp>
      <p:sp>
        <p:nvSpPr>
          <p:cNvPr id="44" name="Text 42"/>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SIGNAL PROCESSING AND SIGNAL INTEGRITY</a:t>
            </a:r>
            <a:endParaRPr lang="en-US" sz="800" dirty="0"/>
          </a:p>
        </p:txBody>
      </p:sp>
      <p:sp>
        <p:nvSpPr>
          <p:cNvPr id="45" name="Text 43"/>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16 / 18</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087F8C"/>
          </a:solidFill>
          <a:ln w="12700">
            <a:solidFill>
              <a:srgbClr val="087F8C">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087F8C"/>
                </a:solidFill>
                <a:latin typeface="Aptos" pitchFamily="34" charset="0"/>
                <a:ea typeface="Aptos" pitchFamily="34" charset="-122"/>
                <a:cs typeface="Aptos" pitchFamily="34" charset="-120"/>
              </a:rPr>
              <a:t>UNIT 5009    /    WEEK 05    /    LO2</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7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087F8C"/>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087F8C"/>
                </a:solidFill>
                <a:latin typeface="Aptos" pitchFamily="34" charset="0"/>
                <a:ea typeface="Aptos" pitchFamily="34" charset="-122"/>
                <a:cs typeface="Aptos" pitchFamily="34" charset="-120"/>
              </a:rPr>
              <a:t>LO2 FOUNDATIONS</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3100" b="1" dirty="0">
                <a:solidFill>
                  <a:srgbClr val="1B3448"/>
                </a:solidFill>
                <a:latin typeface="Aptos Display" pitchFamily="34" charset="0"/>
                <a:ea typeface="Aptos Display" pitchFamily="34" charset="-122"/>
                <a:cs typeface="Aptos Display" pitchFamily="34" charset="-120"/>
              </a:rPr>
              <a:t>Lab-record quality review</a:t>
            </a:r>
            <a:endParaRPr lang="en-US" sz="31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67512" y="1709928"/>
            <a:ext cx="2743200" cy="210312"/>
          </a:xfrm>
          <a:prstGeom prst="rect">
            <a:avLst/>
          </a:prstGeom>
          <a:noFill/>
          <a:ln/>
        </p:spPr>
        <p:txBody>
          <a:bodyPr wrap="square" lIns="0" tIns="0" rIns="0" bIns="0" rtlCol="0" anchor="ctr"/>
          <a:lstStyle/>
          <a:p>
            <a:pPr indent="0" marL="0">
              <a:buNone/>
            </a:pPr>
            <a:r>
              <a:rPr lang="en-US" sz="900" b="1" spc="100" kern="0" dirty="0">
                <a:solidFill>
                  <a:srgbClr val="087F8C"/>
                </a:solidFill>
                <a:latin typeface="Aptos" pitchFamily="34" charset="0"/>
                <a:ea typeface="Aptos" pitchFamily="34" charset="-122"/>
                <a:cs typeface="Aptos" pitchFamily="34" charset="-120"/>
              </a:rPr>
              <a:t>TEACHING POINTS</a:t>
            </a:r>
            <a:endParaRPr lang="en-US" sz="900" dirty="0"/>
          </a:p>
        </p:txBody>
      </p:sp>
      <p:sp>
        <p:nvSpPr>
          <p:cNvPr id="11" name="Shape 9"/>
          <p:cNvSpPr/>
          <p:nvPr/>
        </p:nvSpPr>
        <p:spPr>
          <a:xfrm>
            <a:off x="640080" y="1993392"/>
            <a:ext cx="6720840" cy="1328928"/>
          </a:xfrm>
          <a:prstGeom prst="rect">
            <a:avLst/>
          </a:prstGeom>
          <a:solidFill>
            <a:srgbClr val="FFFFFF"/>
          </a:solidFill>
          <a:ln w="8890">
            <a:solidFill>
              <a:srgbClr val="D5E0E7"/>
            </a:solidFill>
            <a:prstDash val="solid"/>
          </a:ln>
        </p:spPr>
      </p:sp>
      <p:sp>
        <p:nvSpPr>
          <p:cNvPr id="12" name="Shape 10"/>
          <p:cNvSpPr/>
          <p:nvPr/>
        </p:nvSpPr>
        <p:spPr>
          <a:xfrm>
            <a:off x="640080" y="1993392"/>
            <a:ext cx="50292" cy="1328928"/>
          </a:xfrm>
          <a:prstGeom prst="rect">
            <a:avLst/>
          </a:prstGeom>
          <a:solidFill>
            <a:srgbClr val="087F8C"/>
          </a:solidFill>
          <a:ln w="12700">
            <a:solidFill>
              <a:srgbClr val="087F8C">
                <a:alpha val="0"/>
              </a:srgbClr>
            </a:solidFill>
            <a:prstDash val="solid"/>
          </a:ln>
        </p:spPr>
      </p:sp>
      <p:sp>
        <p:nvSpPr>
          <p:cNvPr id="13" name="Text 11"/>
          <p:cNvSpPr/>
          <p:nvPr/>
        </p:nvSpPr>
        <p:spPr>
          <a:xfrm>
            <a:off x="786384" y="2084832"/>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01</a:t>
            </a:r>
            <a:endParaRPr lang="en-US" sz="950" dirty="0"/>
          </a:p>
        </p:txBody>
      </p:sp>
      <p:sp>
        <p:nvSpPr>
          <p:cNvPr id="14" name="Text 12"/>
          <p:cNvSpPr/>
          <p:nvPr/>
        </p:nvSpPr>
        <p:spPr>
          <a:xfrm>
            <a:off x="1197864" y="2075688"/>
            <a:ext cx="5989320" cy="1173480"/>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Check the dated record identifies the rig/PLC configuration, project version, wiring diagram, I/O map, test conditions, and safe test method.</a:t>
            </a:r>
            <a:endParaRPr lang="en-US" sz="1410" dirty="0"/>
          </a:p>
        </p:txBody>
      </p:sp>
      <p:sp>
        <p:nvSpPr>
          <p:cNvPr id="15" name="Shape 13"/>
          <p:cNvSpPr/>
          <p:nvPr/>
        </p:nvSpPr>
        <p:spPr>
          <a:xfrm>
            <a:off x="640080" y="3404616"/>
            <a:ext cx="6720840" cy="1328928"/>
          </a:xfrm>
          <a:prstGeom prst="rect">
            <a:avLst/>
          </a:prstGeom>
          <a:solidFill>
            <a:srgbClr val="FFFFFF"/>
          </a:solidFill>
          <a:ln w="8890">
            <a:solidFill>
              <a:srgbClr val="E7EDF1"/>
            </a:solidFill>
            <a:prstDash val="solid"/>
          </a:ln>
        </p:spPr>
      </p:sp>
      <p:sp>
        <p:nvSpPr>
          <p:cNvPr id="16" name="Shape 14"/>
          <p:cNvSpPr/>
          <p:nvPr/>
        </p:nvSpPr>
        <p:spPr>
          <a:xfrm>
            <a:off x="640080" y="3404616"/>
            <a:ext cx="50292" cy="1328928"/>
          </a:xfrm>
          <a:prstGeom prst="rect">
            <a:avLst/>
          </a:prstGeom>
          <a:solidFill>
            <a:srgbClr val="087F8C"/>
          </a:solidFill>
          <a:ln w="12700">
            <a:solidFill>
              <a:srgbClr val="087F8C">
                <a:alpha val="0"/>
              </a:srgbClr>
            </a:solidFill>
            <a:prstDash val="solid"/>
          </a:ln>
        </p:spPr>
      </p:sp>
      <p:sp>
        <p:nvSpPr>
          <p:cNvPr id="17" name="Text 15"/>
          <p:cNvSpPr/>
          <p:nvPr/>
        </p:nvSpPr>
        <p:spPr>
          <a:xfrm>
            <a:off x="786384" y="3496056"/>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02</a:t>
            </a:r>
            <a:endParaRPr lang="en-US" sz="950" dirty="0"/>
          </a:p>
        </p:txBody>
      </p:sp>
      <p:sp>
        <p:nvSpPr>
          <p:cNvPr id="18" name="Text 16"/>
          <p:cNvSpPr/>
          <p:nvPr/>
        </p:nvSpPr>
        <p:spPr>
          <a:xfrm>
            <a:off x="1197864" y="3486912"/>
            <a:ext cx="5989320" cy="1173480"/>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Confirm each test has a reproducible procedure, predicted result, measured/observed result, diagnosis, corrective action, and retest outcome.</a:t>
            </a:r>
            <a:endParaRPr lang="en-US" sz="1410" dirty="0"/>
          </a:p>
        </p:txBody>
      </p:sp>
      <p:sp>
        <p:nvSpPr>
          <p:cNvPr id="19" name="Shape 17"/>
          <p:cNvSpPr/>
          <p:nvPr/>
        </p:nvSpPr>
        <p:spPr>
          <a:xfrm>
            <a:off x="640080" y="4815840"/>
            <a:ext cx="6720840" cy="1328928"/>
          </a:xfrm>
          <a:prstGeom prst="rect">
            <a:avLst/>
          </a:prstGeom>
          <a:solidFill>
            <a:srgbClr val="FFFFFF"/>
          </a:solidFill>
          <a:ln w="8890">
            <a:solidFill>
              <a:srgbClr val="E7EDF1"/>
            </a:solidFill>
            <a:prstDash val="solid"/>
          </a:ln>
        </p:spPr>
      </p:sp>
      <p:sp>
        <p:nvSpPr>
          <p:cNvPr id="20" name="Shape 18"/>
          <p:cNvSpPr/>
          <p:nvPr/>
        </p:nvSpPr>
        <p:spPr>
          <a:xfrm>
            <a:off x="640080" y="4815840"/>
            <a:ext cx="50292" cy="1328928"/>
          </a:xfrm>
          <a:prstGeom prst="rect">
            <a:avLst/>
          </a:prstGeom>
          <a:solidFill>
            <a:srgbClr val="087F8C"/>
          </a:solidFill>
          <a:ln w="12700">
            <a:solidFill>
              <a:srgbClr val="087F8C">
                <a:alpha val="0"/>
              </a:srgbClr>
            </a:solidFill>
            <a:prstDash val="solid"/>
          </a:ln>
        </p:spPr>
      </p:sp>
      <p:sp>
        <p:nvSpPr>
          <p:cNvPr id="21" name="Text 19"/>
          <p:cNvSpPr/>
          <p:nvPr/>
        </p:nvSpPr>
        <p:spPr>
          <a:xfrm>
            <a:off x="786384" y="4907280"/>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03</a:t>
            </a:r>
            <a:endParaRPr lang="en-US" sz="950" dirty="0"/>
          </a:p>
        </p:txBody>
      </p:sp>
      <p:sp>
        <p:nvSpPr>
          <p:cNvPr id="22" name="Text 20"/>
          <p:cNvSpPr/>
          <p:nvPr/>
        </p:nvSpPr>
        <p:spPr>
          <a:xfrm>
            <a:off x="1197864" y="4898136"/>
            <a:ext cx="5989320" cy="1173480"/>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Expected review finding: a screenshot or trend without setup, tag/address context, or expected-versus-observed comparison is not sufficient to reproduce the test.</a:t>
            </a:r>
            <a:endParaRPr lang="en-US" sz="1410" dirty="0"/>
          </a:p>
        </p:txBody>
      </p:sp>
      <p:sp>
        <p:nvSpPr>
          <p:cNvPr id="23" name="Shape 21"/>
          <p:cNvSpPr/>
          <p:nvPr/>
        </p:nvSpPr>
        <p:spPr>
          <a:xfrm>
            <a:off x="7662672" y="1746504"/>
            <a:ext cx="3922776" cy="4361688"/>
          </a:xfrm>
          <a:prstGeom prst="rect">
            <a:avLst/>
          </a:prstGeom>
          <a:solidFill>
            <a:srgbClr val="FFFFFF"/>
          </a:solidFill>
          <a:ln w="12700">
            <a:solidFill>
              <a:srgbClr val="D5E0E7"/>
            </a:solidFill>
            <a:prstDash val="solid"/>
          </a:ln>
        </p:spPr>
      </p:sp>
      <p:sp>
        <p:nvSpPr>
          <p:cNvPr id="24" name="Text 22"/>
          <p:cNvSpPr/>
          <p:nvPr/>
        </p:nvSpPr>
        <p:spPr>
          <a:xfrm>
            <a:off x="7863840" y="1892808"/>
            <a:ext cx="3520440" cy="219456"/>
          </a:xfrm>
          <a:prstGeom prst="rect">
            <a:avLst/>
          </a:prstGeom>
          <a:noFill/>
          <a:ln/>
        </p:spPr>
        <p:txBody>
          <a:bodyPr wrap="square" lIns="0" tIns="0" rIns="0" bIns="0" rtlCol="0" anchor="ctr"/>
          <a:lstStyle/>
          <a:p>
            <a:pPr indent="0" marL="0">
              <a:buNone/>
            </a:pPr>
            <a:r>
              <a:rPr lang="en-US" sz="900" b="1" spc="80" kern="0" dirty="0">
                <a:solidFill>
                  <a:srgbClr val="087F8C"/>
                </a:solidFill>
                <a:latin typeface="Aptos" pitchFamily="34" charset="0"/>
                <a:ea typeface="Aptos" pitchFamily="34" charset="-122"/>
                <a:cs typeface="Aptos" pitchFamily="34" charset="-120"/>
              </a:rPr>
              <a:t>FORMATIVE CHECK</a:t>
            </a:r>
            <a:endParaRPr lang="en-US" sz="900" dirty="0"/>
          </a:p>
        </p:txBody>
      </p:sp>
      <p:sp>
        <p:nvSpPr>
          <p:cNvPr id="25" name="Shape 23"/>
          <p:cNvSpPr/>
          <p:nvPr/>
        </p:nvSpPr>
        <p:spPr>
          <a:xfrm>
            <a:off x="7863840" y="2221992"/>
            <a:ext cx="3520440" cy="0"/>
          </a:xfrm>
          <a:prstGeom prst="line">
            <a:avLst/>
          </a:prstGeom>
          <a:noFill/>
          <a:ln w="8890">
            <a:solidFill>
              <a:srgbClr val="D5E0E7"/>
            </a:solidFill>
            <a:prstDash val="solid"/>
          </a:ln>
        </p:spPr>
      </p:sp>
      <p:sp>
        <p:nvSpPr>
          <p:cNvPr id="26" name="Shape 24"/>
          <p:cNvSpPr/>
          <p:nvPr/>
        </p:nvSpPr>
        <p:spPr>
          <a:xfrm>
            <a:off x="8138160" y="2697480"/>
            <a:ext cx="256032" cy="256032"/>
          </a:xfrm>
          <a:prstGeom prst="rect">
            <a:avLst/>
          </a:prstGeom>
          <a:solidFill>
            <a:srgbClr val="FFFFFF"/>
          </a:solidFill>
          <a:ln w="17780">
            <a:solidFill>
              <a:srgbClr val="087F8C"/>
            </a:solidFill>
            <a:prstDash val="solid"/>
          </a:ln>
        </p:spPr>
      </p:sp>
      <p:sp>
        <p:nvSpPr>
          <p:cNvPr id="27" name="Text 25"/>
          <p:cNvSpPr/>
          <p:nvPr/>
        </p:nvSpPr>
        <p:spPr>
          <a:xfrm>
            <a:off x="8558784" y="2660904"/>
            <a:ext cx="310896" cy="173736"/>
          </a:xfrm>
          <a:prstGeom prst="rect">
            <a:avLst/>
          </a:prstGeom>
          <a:noFill/>
          <a:ln/>
        </p:spPr>
        <p:txBody>
          <a:bodyPr wrap="square" lIns="0" tIns="0" rIns="0" bIns="0" rtlCol="0" anchor="ctr"/>
          <a:lstStyle/>
          <a:p>
            <a:pPr indent="0" marL="0">
              <a:buNone/>
            </a:pPr>
            <a:r>
              <a:rPr lang="en-US" sz="800" b="1" dirty="0">
                <a:solidFill>
                  <a:srgbClr val="087F8C"/>
                </a:solidFill>
                <a:latin typeface="Aptos" pitchFamily="34" charset="0"/>
                <a:ea typeface="Aptos" pitchFamily="34" charset="-122"/>
                <a:cs typeface="Aptos" pitchFamily="34" charset="-120"/>
              </a:rPr>
              <a:t>01</a:t>
            </a:r>
            <a:endParaRPr lang="en-US" sz="800" dirty="0"/>
          </a:p>
        </p:txBody>
      </p:sp>
      <p:sp>
        <p:nvSpPr>
          <p:cNvPr id="28" name="Text 26"/>
          <p:cNvSpPr/>
          <p:nvPr/>
        </p:nvSpPr>
        <p:spPr>
          <a:xfrm>
            <a:off x="8942832" y="2651760"/>
            <a:ext cx="2121408" cy="329184"/>
          </a:xfrm>
          <a:prstGeom prst="rect">
            <a:avLst/>
          </a:prstGeom>
          <a:noFill/>
          <a:ln/>
        </p:spPr>
        <p:txBody>
          <a:bodyPr wrap="square" lIns="0" tIns="0" rIns="0" bIns="0" rtlCol="0" anchor="ctr">
            <a:normAutofit/>
          </a:bodyPr>
          <a:lstStyle/>
          <a:p>
            <a:pPr indent="0" marL="0">
              <a:buNone/>
            </a:pPr>
            <a:r>
              <a:rPr lang="en-US" sz="1000" b="1" dirty="0">
                <a:solidFill>
                  <a:srgbClr val="1B3448"/>
                </a:solidFill>
                <a:latin typeface="Aptos" pitchFamily="34" charset="0"/>
                <a:ea typeface="Aptos" pitchFamily="34" charset="-122"/>
                <a:cs typeface="Aptos" pitchFamily="34" charset="-120"/>
              </a:rPr>
              <a:t>EXPECTED STATE</a:t>
            </a:r>
            <a:endParaRPr lang="en-US" sz="1000" dirty="0"/>
          </a:p>
        </p:txBody>
      </p:sp>
      <p:sp>
        <p:nvSpPr>
          <p:cNvPr id="29" name="Shape 27"/>
          <p:cNvSpPr/>
          <p:nvPr/>
        </p:nvSpPr>
        <p:spPr>
          <a:xfrm>
            <a:off x="8558784" y="3163824"/>
            <a:ext cx="2542032" cy="0"/>
          </a:xfrm>
          <a:prstGeom prst="line">
            <a:avLst/>
          </a:prstGeom>
          <a:noFill/>
          <a:ln w="8890">
            <a:solidFill>
              <a:srgbClr val="D5E0E7"/>
            </a:solidFill>
            <a:prstDash val="solid"/>
          </a:ln>
        </p:spPr>
      </p:sp>
      <p:sp>
        <p:nvSpPr>
          <p:cNvPr id="30" name="Shape 28"/>
          <p:cNvSpPr/>
          <p:nvPr/>
        </p:nvSpPr>
        <p:spPr>
          <a:xfrm>
            <a:off x="8138160" y="3447288"/>
            <a:ext cx="256032" cy="256032"/>
          </a:xfrm>
          <a:prstGeom prst="rect">
            <a:avLst/>
          </a:prstGeom>
          <a:solidFill>
            <a:srgbClr val="FFFFFF"/>
          </a:solidFill>
          <a:ln w="17780">
            <a:solidFill>
              <a:srgbClr val="087F8C"/>
            </a:solidFill>
            <a:prstDash val="solid"/>
          </a:ln>
        </p:spPr>
      </p:sp>
      <p:sp>
        <p:nvSpPr>
          <p:cNvPr id="31" name="Text 29"/>
          <p:cNvSpPr/>
          <p:nvPr/>
        </p:nvSpPr>
        <p:spPr>
          <a:xfrm>
            <a:off x="8558784" y="3410712"/>
            <a:ext cx="310896" cy="173736"/>
          </a:xfrm>
          <a:prstGeom prst="rect">
            <a:avLst/>
          </a:prstGeom>
          <a:noFill/>
          <a:ln/>
        </p:spPr>
        <p:txBody>
          <a:bodyPr wrap="square" lIns="0" tIns="0" rIns="0" bIns="0" rtlCol="0" anchor="ctr"/>
          <a:lstStyle/>
          <a:p>
            <a:pPr indent="0" marL="0">
              <a:buNone/>
            </a:pPr>
            <a:r>
              <a:rPr lang="en-US" sz="800" b="1" dirty="0">
                <a:solidFill>
                  <a:srgbClr val="087F8C"/>
                </a:solidFill>
                <a:latin typeface="Aptos" pitchFamily="34" charset="0"/>
                <a:ea typeface="Aptos" pitchFamily="34" charset="-122"/>
                <a:cs typeface="Aptos" pitchFamily="34" charset="-120"/>
              </a:rPr>
              <a:t>02</a:t>
            </a:r>
            <a:endParaRPr lang="en-US" sz="800" dirty="0"/>
          </a:p>
        </p:txBody>
      </p:sp>
      <p:sp>
        <p:nvSpPr>
          <p:cNvPr id="32" name="Text 30"/>
          <p:cNvSpPr/>
          <p:nvPr/>
        </p:nvSpPr>
        <p:spPr>
          <a:xfrm>
            <a:off x="8942832" y="3401568"/>
            <a:ext cx="2121408" cy="329184"/>
          </a:xfrm>
          <a:prstGeom prst="rect">
            <a:avLst/>
          </a:prstGeom>
          <a:noFill/>
          <a:ln/>
        </p:spPr>
        <p:txBody>
          <a:bodyPr wrap="square" lIns="0" tIns="0" rIns="0" bIns="0" rtlCol="0" anchor="ctr">
            <a:normAutofit/>
          </a:bodyPr>
          <a:lstStyle/>
          <a:p>
            <a:pPr indent="0" marL="0">
              <a:buNone/>
            </a:pPr>
            <a:r>
              <a:rPr lang="en-US" sz="1000" b="1" dirty="0">
                <a:solidFill>
                  <a:srgbClr val="1B3448"/>
                </a:solidFill>
                <a:latin typeface="Aptos" pitchFamily="34" charset="0"/>
                <a:ea typeface="Aptos" pitchFamily="34" charset="-122"/>
                <a:cs typeface="Aptos" pitchFamily="34" charset="-120"/>
              </a:rPr>
              <a:t>MEASURE SIGNAL</a:t>
            </a:r>
            <a:endParaRPr lang="en-US" sz="1000" dirty="0"/>
          </a:p>
        </p:txBody>
      </p:sp>
      <p:sp>
        <p:nvSpPr>
          <p:cNvPr id="33" name="Shape 31"/>
          <p:cNvSpPr/>
          <p:nvPr/>
        </p:nvSpPr>
        <p:spPr>
          <a:xfrm>
            <a:off x="8558784" y="3913632"/>
            <a:ext cx="2542032" cy="0"/>
          </a:xfrm>
          <a:prstGeom prst="line">
            <a:avLst/>
          </a:prstGeom>
          <a:noFill/>
          <a:ln w="8890">
            <a:solidFill>
              <a:srgbClr val="D5E0E7"/>
            </a:solidFill>
            <a:prstDash val="solid"/>
          </a:ln>
        </p:spPr>
      </p:sp>
      <p:sp>
        <p:nvSpPr>
          <p:cNvPr id="34" name="Shape 32"/>
          <p:cNvSpPr/>
          <p:nvPr/>
        </p:nvSpPr>
        <p:spPr>
          <a:xfrm>
            <a:off x="8138160" y="4197096"/>
            <a:ext cx="256032" cy="256032"/>
          </a:xfrm>
          <a:prstGeom prst="rect">
            <a:avLst/>
          </a:prstGeom>
          <a:solidFill>
            <a:srgbClr val="FFFFFF"/>
          </a:solidFill>
          <a:ln w="17780">
            <a:solidFill>
              <a:srgbClr val="087F8C"/>
            </a:solidFill>
            <a:prstDash val="solid"/>
          </a:ln>
        </p:spPr>
      </p:sp>
      <p:sp>
        <p:nvSpPr>
          <p:cNvPr id="35" name="Text 33"/>
          <p:cNvSpPr/>
          <p:nvPr/>
        </p:nvSpPr>
        <p:spPr>
          <a:xfrm>
            <a:off x="8558784" y="4160520"/>
            <a:ext cx="310896" cy="173736"/>
          </a:xfrm>
          <a:prstGeom prst="rect">
            <a:avLst/>
          </a:prstGeom>
          <a:noFill/>
          <a:ln/>
        </p:spPr>
        <p:txBody>
          <a:bodyPr wrap="square" lIns="0" tIns="0" rIns="0" bIns="0" rtlCol="0" anchor="ctr"/>
          <a:lstStyle/>
          <a:p>
            <a:pPr indent="0" marL="0">
              <a:buNone/>
            </a:pPr>
            <a:r>
              <a:rPr lang="en-US" sz="800" b="1" dirty="0">
                <a:solidFill>
                  <a:srgbClr val="087F8C"/>
                </a:solidFill>
                <a:latin typeface="Aptos" pitchFamily="34" charset="0"/>
                <a:ea typeface="Aptos" pitchFamily="34" charset="-122"/>
                <a:cs typeface="Aptos" pitchFamily="34" charset="-120"/>
              </a:rPr>
              <a:t>03</a:t>
            </a:r>
            <a:endParaRPr lang="en-US" sz="800" dirty="0"/>
          </a:p>
        </p:txBody>
      </p:sp>
      <p:sp>
        <p:nvSpPr>
          <p:cNvPr id="36" name="Text 34"/>
          <p:cNvSpPr/>
          <p:nvPr/>
        </p:nvSpPr>
        <p:spPr>
          <a:xfrm>
            <a:off x="8942832" y="4151376"/>
            <a:ext cx="2121408" cy="329184"/>
          </a:xfrm>
          <a:prstGeom prst="rect">
            <a:avLst/>
          </a:prstGeom>
          <a:noFill/>
          <a:ln/>
        </p:spPr>
        <p:txBody>
          <a:bodyPr wrap="square" lIns="0" tIns="0" rIns="0" bIns="0" rtlCol="0" anchor="ctr">
            <a:normAutofit/>
          </a:bodyPr>
          <a:lstStyle/>
          <a:p>
            <a:pPr indent="0" marL="0">
              <a:buNone/>
            </a:pPr>
            <a:r>
              <a:rPr lang="en-US" sz="1000" b="1" dirty="0">
                <a:solidFill>
                  <a:srgbClr val="1B3448"/>
                </a:solidFill>
                <a:latin typeface="Aptos" pitchFamily="34" charset="0"/>
                <a:ea typeface="Aptos" pitchFamily="34" charset="-122"/>
                <a:cs typeface="Aptos" pitchFamily="34" charset="-120"/>
              </a:rPr>
              <a:t>FIND BOUNDARY</a:t>
            </a:r>
            <a:endParaRPr lang="en-US" sz="1000" dirty="0"/>
          </a:p>
        </p:txBody>
      </p:sp>
      <p:sp>
        <p:nvSpPr>
          <p:cNvPr id="37" name="Shape 35"/>
          <p:cNvSpPr/>
          <p:nvPr/>
        </p:nvSpPr>
        <p:spPr>
          <a:xfrm>
            <a:off x="8558784" y="4663440"/>
            <a:ext cx="2542032" cy="0"/>
          </a:xfrm>
          <a:prstGeom prst="line">
            <a:avLst/>
          </a:prstGeom>
          <a:noFill/>
          <a:ln w="8890">
            <a:solidFill>
              <a:srgbClr val="D5E0E7"/>
            </a:solidFill>
            <a:prstDash val="solid"/>
          </a:ln>
        </p:spPr>
      </p:sp>
      <p:sp>
        <p:nvSpPr>
          <p:cNvPr id="38" name="Shape 36"/>
          <p:cNvSpPr/>
          <p:nvPr/>
        </p:nvSpPr>
        <p:spPr>
          <a:xfrm>
            <a:off x="8138160" y="4946904"/>
            <a:ext cx="256032" cy="256032"/>
          </a:xfrm>
          <a:prstGeom prst="rect">
            <a:avLst/>
          </a:prstGeom>
          <a:solidFill>
            <a:srgbClr val="FFFFFF"/>
          </a:solidFill>
          <a:ln w="17780">
            <a:solidFill>
              <a:srgbClr val="087F8C"/>
            </a:solidFill>
            <a:prstDash val="solid"/>
          </a:ln>
        </p:spPr>
      </p:sp>
      <p:sp>
        <p:nvSpPr>
          <p:cNvPr id="39" name="Text 37"/>
          <p:cNvSpPr/>
          <p:nvPr/>
        </p:nvSpPr>
        <p:spPr>
          <a:xfrm>
            <a:off x="8558784" y="4910328"/>
            <a:ext cx="310896" cy="173736"/>
          </a:xfrm>
          <a:prstGeom prst="rect">
            <a:avLst/>
          </a:prstGeom>
          <a:noFill/>
          <a:ln/>
        </p:spPr>
        <p:txBody>
          <a:bodyPr wrap="square" lIns="0" tIns="0" rIns="0" bIns="0" rtlCol="0" anchor="ctr"/>
          <a:lstStyle/>
          <a:p>
            <a:pPr indent="0" marL="0">
              <a:buNone/>
            </a:pPr>
            <a:r>
              <a:rPr lang="en-US" sz="800" b="1" dirty="0">
                <a:solidFill>
                  <a:srgbClr val="087F8C"/>
                </a:solidFill>
                <a:latin typeface="Aptos" pitchFamily="34" charset="0"/>
                <a:ea typeface="Aptos" pitchFamily="34" charset="-122"/>
                <a:cs typeface="Aptos" pitchFamily="34" charset="-120"/>
              </a:rPr>
              <a:t>04</a:t>
            </a:r>
            <a:endParaRPr lang="en-US" sz="800" dirty="0"/>
          </a:p>
        </p:txBody>
      </p:sp>
      <p:sp>
        <p:nvSpPr>
          <p:cNvPr id="40" name="Text 38"/>
          <p:cNvSpPr/>
          <p:nvPr/>
        </p:nvSpPr>
        <p:spPr>
          <a:xfrm>
            <a:off x="8942832" y="4901184"/>
            <a:ext cx="2121408" cy="329184"/>
          </a:xfrm>
          <a:prstGeom prst="rect">
            <a:avLst/>
          </a:prstGeom>
          <a:noFill/>
          <a:ln/>
        </p:spPr>
        <p:txBody>
          <a:bodyPr wrap="square" lIns="0" tIns="0" rIns="0" bIns="0" rtlCol="0" anchor="ctr">
            <a:normAutofit/>
          </a:bodyPr>
          <a:lstStyle/>
          <a:p>
            <a:pPr indent="0" marL="0">
              <a:buNone/>
            </a:pPr>
            <a:r>
              <a:rPr lang="en-US" sz="1000" b="1" dirty="0">
                <a:solidFill>
                  <a:srgbClr val="1B3448"/>
                </a:solidFill>
                <a:latin typeface="Aptos" pitchFamily="34" charset="0"/>
                <a:ea typeface="Aptos" pitchFamily="34" charset="-122"/>
                <a:cs typeface="Aptos" pitchFamily="34" charset="-120"/>
              </a:rPr>
              <a:t>RETEST + RECORD</a:t>
            </a:r>
            <a:endParaRPr lang="en-US" sz="1000" dirty="0"/>
          </a:p>
        </p:txBody>
      </p:sp>
      <p:sp>
        <p:nvSpPr>
          <p:cNvPr id="41" name="Shape 39"/>
          <p:cNvSpPr/>
          <p:nvPr/>
        </p:nvSpPr>
        <p:spPr>
          <a:xfrm>
            <a:off x="603504" y="6318504"/>
            <a:ext cx="10972800" cy="0"/>
          </a:xfrm>
          <a:prstGeom prst="line">
            <a:avLst/>
          </a:prstGeom>
          <a:noFill/>
          <a:ln w="10160">
            <a:solidFill>
              <a:srgbClr val="D5E0E7"/>
            </a:solidFill>
            <a:prstDash val="solid"/>
          </a:ln>
        </p:spPr>
      </p:sp>
      <p:sp>
        <p:nvSpPr>
          <p:cNvPr id="42" name="Text 40"/>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SIGNAL PROCESSING AND SIGNAL INTEGRITY</a:t>
            </a:r>
            <a:endParaRPr lang="en-US" sz="800" dirty="0"/>
          </a:p>
        </p:txBody>
      </p:sp>
      <p:sp>
        <p:nvSpPr>
          <p:cNvPr id="43" name="Text 41"/>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17 / 18</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087F8C"/>
          </a:solidFill>
          <a:ln w="12700">
            <a:solidFill>
              <a:srgbClr val="087F8C">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087F8C"/>
                </a:solidFill>
                <a:latin typeface="Aptos" pitchFamily="34" charset="0"/>
                <a:ea typeface="Aptos" pitchFamily="34" charset="-122"/>
                <a:cs typeface="Aptos" pitchFamily="34" charset="-120"/>
              </a:rPr>
              <a:t>UNIT 5009    /    WEEK 05    /    LO2</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8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087F8C"/>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087F8C"/>
                </a:solidFill>
                <a:latin typeface="Aptos" pitchFamily="34" charset="0"/>
                <a:ea typeface="Aptos" pitchFamily="34" charset="-122"/>
                <a:cs typeface="Aptos" pitchFamily="34" charset="-120"/>
              </a:rPr>
              <a:t>LO2 FOUNDATIONS</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2800" b="1" dirty="0">
                <a:solidFill>
                  <a:srgbClr val="1B3448"/>
                </a:solidFill>
                <a:latin typeface="Aptos Display" pitchFamily="34" charset="0"/>
                <a:ea typeface="Aptos Display" pitchFamily="34" charset="-122"/>
                <a:cs typeface="Aptos Display" pitchFamily="34" charset="-120"/>
              </a:rPr>
              <a:t>Exit ticket: diagnose the first boundary</a:t>
            </a:r>
            <a:endParaRPr lang="en-US" sz="28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67512" y="1709928"/>
            <a:ext cx="2743200" cy="210312"/>
          </a:xfrm>
          <a:prstGeom prst="rect">
            <a:avLst/>
          </a:prstGeom>
          <a:noFill/>
          <a:ln/>
        </p:spPr>
        <p:txBody>
          <a:bodyPr wrap="square" lIns="0" tIns="0" rIns="0" bIns="0" rtlCol="0" anchor="ctr"/>
          <a:lstStyle/>
          <a:p>
            <a:pPr indent="0" marL="0">
              <a:buNone/>
            </a:pPr>
            <a:r>
              <a:rPr lang="en-US" sz="900" b="1" spc="100" kern="0" dirty="0">
                <a:solidFill>
                  <a:srgbClr val="087F8C"/>
                </a:solidFill>
                <a:latin typeface="Aptos" pitchFamily="34" charset="0"/>
                <a:ea typeface="Aptos" pitchFamily="34" charset="-122"/>
                <a:cs typeface="Aptos" pitchFamily="34" charset="-120"/>
              </a:rPr>
              <a:t>TEACHING POINTS</a:t>
            </a:r>
            <a:endParaRPr lang="en-US" sz="900" dirty="0"/>
          </a:p>
        </p:txBody>
      </p:sp>
      <p:sp>
        <p:nvSpPr>
          <p:cNvPr id="11" name="Shape 9"/>
          <p:cNvSpPr/>
          <p:nvPr/>
        </p:nvSpPr>
        <p:spPr>
          <a:xfrm>
            <a:off x="640080" y="1993392"/>
            <a:ext cx="6720840" cy="1328928"/>
          </a:xfrm>
          <a:prstGeom prst="rect">
            <a:avLst/>
          </a:prstGeom>
          <a:solidFill>
            <a:srgbClr val="FFFFFF"/>
          </a:solidFill>
          <a:ln w="8890">
            <a:solidFill>
              <a:srgbClr val="D5E0E7"/>
            </a:solidFill>
            <a:prstDash val="solid"/>
          </a:ln>
        </p:spPr>
      </p:sp>
      <p:sp>
        <p:nvSpPr>
          <p:cNvPr id="12" name="Shape 10"/>
          <p:cNvSpPr/>
          <p:nvPr/>
        </p:nvSpPr>
        <p:spPr>
          <a:xfrm>
            <a:off x="640080" y="1993392"/>
            <a:ext cx="50292" cy="1328928"/>
          </a:xfrm>
          <a:prstGeom prst="rect">
            <a:avLst/>
          </a:prstGeom>
          <a:solidFill>
            <a:srgbClr val="087F8C"/>
          </a:solidFill>
          <a:ln w="12700">
            <a:solidFill>
              <a:srgbClr val="087F8C">
                <a:alpha val="0"/>
              </a:srgbClr>
            </a:solidFill>
            <a:prstDash val="solid"/>
          </a:ln>
        </p:spPr>
      </p:sp>
      <p:sp>
        <p:nvSpPr>
          <p:cNvPr id="13" name="Text 11"/>
          <p:cNvSpPr/>
          <p:nvPr/>
        </p:nvSpPr>
        <p:spPr>
          <a:xfrm>
            <a:off x="786384" y="2084832"/>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01</a:t>
            </a:r>
            <a:endParaRPr lang="en-US" sz="950" dirty="0"/>
          </a:p>
        </p:txBody>
      </p:sp>
      <p:sp>
        <p:nvSpPr>
          <p:cNvPr id="14" name="Text 12"/>
          <p:cNvSpPr/>
          <p:nvPr/>
        </p:nvSpPr>
        <p:spPr>
          <a:xfrm>
            <a:off x="1197864" y="2075688"/>
            <a:ext cx="5989320" cy="1173480"/>
          </a:xfrm>
          <a:prstGeom prst="rect">
            <a:avLst/>
          </a:prstGeom>
          <a:noFill/>
          <a:ln/>
        </p:spPr>
        <p:txBody>
          <a:bodyPr wrap="square" lIns="0" tIns="0" rIns="0" bIns="0" rtlCol="0" anchor="ctr">
            <a:normAutofit/>
          </a:bodyPr>
          <a:lstStyle/>
          <a:p>
            <a:pPr indent="0" marL="0">
              <a:buNone/>
            </a:pPr>
            <a:r>
              <a:rPr lang="en-US" sz="1310" dirty="0">
                <a:solidFill>
                  <a:srgbClr val="334B5C"/>
                </a:solidFill>
                <a:latin typeface="Aptos" pitchFamily="34" charset="0"/>
                <a:ea typeface="Aptos" pitchFamily="34" charset="-122"/>
                <a:cs typeface="Aptos" pitchFamily="34" charset="-120"/>
              </a:rPr>
              <a:t>Given a sensor LED that changes while the PLC input indication stays off, identify the terminal/channel boundary as the next check and give one plausible cause such as wiring, reference, configuration, or channel fault.</a:t>
            </a:r>
            <a:endParaRPr lang="en-US" sz="1310" dirty="0"/>
          </a:p>
        </p:txBody>
      </p:sp>
      <p:sp>
        <p:nvSpPr>
          <p:cNvPr id="15" name="Shape 13"/>
          <p:cNvSpPr/>
          <p:nvPr/>
        </p:nvSpPr>
        <p:spPr>
          <a:xfrm>
            <a:off x="640080" y="3404616"/>
            <a:ext cx="6720840" cy="1328928"/>
          </a:xfrm>
          <a:prstGeom prst="rect">
            <a:avLst/>
          </a:prstGeom>
          <a:solidFill>
            <a:srgbClr val="FFFFFF"/>
          </a:solidFill>
          <a:ln w="8890">
            <a:solidFill>
              <a:srgbClr val="E7EDF1"/>
            </a:solidFill>
            <a:prstDash val="solid"/>
          </a:ln>
        </p:spPr>
      </p:sp>
      <p:sp>
        <p:nvSpPr>
          <p:cNvPr id="16" name="Shape 14"/>
          <p:cNvSpPr/>
          <p:nvPr/>
        </p:nvSpPr>
        <p:spPr>
          <a:xfrm>
            <a:off x="640080" y="3404616"/>
            <a:ext cx="50292" cy="1328928"/>
          </a:xfrm>
          <a:prstGeom prst="rect">
            <a:avLst/>
          </a:prstGeom>
          <a:solidFill>
            <a:srgbClr val="087F8C"/>
          </a:solidFill>
          <a:ln w="12700">
            <a:solidFill>
              <a:srgbClr val="087F8C">
                <a:alpha val="0"/>
              </a:srgbClr>
            </a:solidFill>
            <a:prstDash val="solid"/>
          </a:ln>
        </p:spPr>
      </p:sp>
      <p:sp>
        <p:nvSpPr>
          <p:cNvPr id="17" name="Text 15"/>
          <p:cNvSpPr/>
          <p:nvPr/>
        </p:nvSpPr>
        <p:spPr>
          <a:xfrm>
            <a:off x="786384" y="3496056"/>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02</a:t>
            </a:r>
            <a:endParaRPr lang="en-US" sz="950" dirty="0"/>
          </a:p>
        </p:txBody>
      </p:sp>
      <p:sp>
        <p:nvSpPr>
          <p:cNvPr id="18" name="Text 16"/>
          <p:cNvSpPr/>
          <p:nvPr/>
        </p:nvSpPr>
        <p:spPr>
          <a:xfrm>
            <a:off x="1197864" y="3486912"/>
            <a:ext cx="5989320" cy="1173480"/>
          </a:xfrm>
          <a:prstGeom prst="rect">
            <a:avLst/>
          </a:prstGeom>
          <a:noFill/>
          <a:ln/>
        </p:spPr>
        <p:txBody>
          <a:bodyPr wrap="square" lIns="0" tIns="0" rIns="0" bIns="0" rtlCol="0" anchor="ctr">
            <a:normAutofit/>
          </a:bodyPr>
          <a:lstStyle/>
          <a:p>
            <a:pPr indent="0" marL="0">
              <a:buNone/>
            </a:pPr>
            <a:r>
              <a:rPr lang="en-US" sz="1310" dirty="0">
                <a:solidFill>
                  <a:srgbClr val="334B5C"/>
                </a:solidFill>
                <a:latin typeface="Aptos" pitchFamily="34" charset="0"/>
                <a:ea typeface="Aptos" pitchFamily="34" charset="-122"/>
                <a:cs typeface="Aptos" pitchFamily="34" charset="-120"/>
              </a:rPr>
              <a:t>State that input filtering can reject short unwanted transitions, but an excessive setting can suppress valid short pulses and delay response.</a:t>
            </a:r>
            <a:endParaRPr lang="en-US" sz="1310" dirty="0"/>
          </a:p>
        </p:txBody>
      </p:sp>
      <p:sp>
        <p:nvSpPr>
          <p:cNvPr id="19" name="Shape 17"/>
          <p:cNvSpPr/>
          <p:nvPr/>
        </p:nvSpPr>
        <p:spPr>
          <a:xfrm>
            <a:off x="640080" y="4815840"/>
            <a:ext cx="6720840" cy="1328928"/>
          </a:xfrm>
          <a:prstGeom prst="rect">
            <a:avLst/>
          </a:prstGeom>
          <a:solidFill>
            <a:srgbClr val="FFFFFF"/>
          </a:solidFill>
          <a:ln w="8890">
            <a:solidFill>
              <a:srgbClr val="E7EDF1"/>
            </a:solidFill>
            <a:prstDash val="solid"/>
          </a:ln>
        </p:spPr>
      </p:sp>
      <p:sp>
        <p:nvSpPr>
          <p:cNvPr id="20" name="Shape 18"/>
          <p:cNvSpPr/>
          <p:nvPr/>
        </p:nvSpPr>
        <p:spPr>
          <a:xfrm>
            <a:off x="640080" y="4815840"/>
            <a:ext cx="50292" cy="1328928"/>
          </a:xfrm>
          <a:prstGeom prst="rect">
            <a:avLst/>
          </a:prstGeom>
          <a:solidFill>
            <a:srgbClr val="087F8C"/>
          </a:solidFill>
          <a:ln w="12700">
            <a:solidFill>
              <a:srgbClr val="087F8C">
                <a:alpha val="0"/>
              </a:srgbClr>
            </a:solidFill>
            <a:prstDash val="solid"/>
          </a:ln>
        </p:spPr>
      </p:sp>
      <p:sp>
        <p:nvSpPr>
          <p:cNvPr id="21" name="Text 19"/>
          <p:cNvSpPr/>
          <p:nvPr/>
        </p:nvSpPr>
        <p:spPr>
          <a:xfrm>
            <a:off x="786384" y="4907280"/>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03</a:t>
            </a:r>
            <a:endParaRPr lang="en-US" sz="950" dirty="0"/>
          </a:p>
        </p:txBody>
      </p:sp>
      <p:sp>
        <p:nvSpPr>
          <p:cNvPr id="22" name="Text 20"/>
          <p:cNvSpPr/>
          <p:nvPr/>
        </p:nvSpPr>
        <p:spPr>
          <a:xfrm>
            <a:off x="1197864" y="4898136"/>
            <a:ext cx="5989320" cy="1173480"/>
          </a:xfrm>
          <a:prstGeom prst="rect">
            <a:avLst/>
          </a:prstGeom>
          <a:noFill/>
          <a:ln/>
        </p:spPr>
        <p:txBody>
          <a:bodyPr wrap="square" lIns="0" tIns="0" rIns="0" bIns="0" rtlCol="0" anchor="ctr">
            <a:normAutofit/>
          </a:bodyPr>
          <a:lstStyle/>
          <a:p>
            <a:pPr indent="0" marL="0">
              <a:buNone/>
            </a:pPr>
            <a:r>
              <a:rPr lang="en-US" sz="1310" dirty="0">
                <a:solidFill>
                  <a:srgbClr val="334B5C"/>
                </a:solidFill>
                <a:latin typeface="Aptos" pitchFamily="34" charset="0"/>
                <a:ea typeface="Aptos" pitchFamily="34" charset="-122"/>
                <a:cs typeface="Aptos" pitchFamily="34" charset="-120"/>
              </a:rPr>
              <a:t>Hand in one concise answer with the test point, expected observation, and evidence that would distinguish the likely causes.</a:t>
            </a:r>
            <a:endParaRPr lang="en-US" sz="1310" dirty="0"/>
          </a:p>
        </p:txBody>
      </p:sp>
      <p:sp>
        <p:nvSpPr>
          <p:cNvPr id="23" name="Shape 21"/>
          <p:cNvSpPr/>
          <p:nvPr/>
        </p:nvSpPr>
        <p:spPr>
          <a:xfrm>
            <a:off x="7662672" y="1746504"/>
            <a:ext cx="3922776" cy="4361688"/>
          </a:xfrm>
          <a:prstGeom prst="rect">
            <a:avLst/>
          </a:prstGeom>
          <a:solidFill>
            <a:srgbClr val="FFFFFF"/>
          </a:solidFill>
          <a:ln w="12700">
            <a:solidFill>
              <a:srgbClr val="D5E0E7"/>
            </a:solidFill>
            <a:prstDash val="solid"/>
          </a:ln>
        </p:spPr>
      </p:sp>
      <p:sp>
        <p:nvSpPr>
          <p:cNvPr id="24" name="Text 22"/>
          <p:cNvSpPr/>
          <p:nvPr/>
        </p:nvSpPr>
        <p:spPr>
          <a:xfrm>
            <a:off x="7863840" y="1892808"/>
            <a:ext cx="3520440" cy="219456"/>
          </a:xfrm>
          <a:prstGeom prst="rect">
            <a:avLst/>
          </a:prstGeom>
          <a:noFill/>
          <a:ln/>
        </p:spPr>
        <p:txBody>
          <a:bodyPr wrap="square" lIns="0" tIns="0" rIns="0" bIns="0" rtlCol="0" anchor="ctr"/>
          <a:lstStyle/>
          <a:p>
            <a:pPr indent="0" marL="0">
              <a:buNone/>
            </a:pPr>
            <a:r>
              <a:rPr lang="en-US" sz="900" b="1" spc="80" kern="0" dirty="0">
                <a:solidFill>
                  <a:srgbClr val="087F8C"/>
                </a:solidFill>
                <a:latin typeface="Aptos" pitchFamily="34" charset="0"/>
                <a:ea typeface="Aptos" pitchFamily="34" charset="-122"/>
                <a:cs typeface="Aptos" pitchFamily="34" charset="-120"/>
              </a:rPr>
              <a:t>FORMATIVE CHECK</a:t>
            </a:r>
            <a:endParaRPr lang="en-US" sz="900" dirty="0"/>
          </a:p>
        </p:txBody>
      </p:sp>
      <p:sp>
        <p:nvSpPr>
          <p:cNvPr id="25" name="Shape 23"/>
          <p:cNvSpPr/>
          <p:nvPr/>
        </p:nvSpPr>
        <p:spPr>
          <a:xfrm>
            <a:off x="7863840" y="2221992"/>
            <a:ext cx="3520440" cy="0"/>
          </a:xfrm>
          <a:prstGeom prst="line">
            <a:avLst/>
          </a:prstGeom>
          <a:noFill/>
          <a:ln w="8890">
            <a:solidFill>
              <a:srgbClr val="D5E0E7"/>
            </a:solidFill>
            <a:prstDash val="solid"/>
          </a:ln>
        </p:spPr>
      </p:sp>
      <p:sp>
        <p:nvSpPr>
          <p:cNvPr id="26" name="Shape 24"/>
          <p:cNvSpPr/>
          <p:nvPr/>
        </p:nvSpPr>
        <p:spPr>
          <a:xfrm>
            <a:off x="8138160" y="2697480"/>
            <a:ext cx="256032" cy="256032"/>
          </a:xfrm>
          <a:prstGeom prst="rect">
            <a:avLst/>
          </a:prstGeom>
          <a:solidFill>
            <a:srgbClr val="FFFFFF"/>
          </a:solidFill>
          <a:ln w="17780">
            <a:solidFill>
              <a:srgbClr val="087F8C"/>
            </a:solidFill>
            <a:prstDash val="solid"/>
          </a:ln>
        </p:spPr>
      </p:sp>
      <p:sp>
        <p:nvSpPr>
          <p:cNvPr id="27" name="Text 25"/>
          <p:cNvSpPr/>
          <p:nvPr/>
        </p:nvSpPr>
        <p:spPr>
          <a:xfrm>
            <a:off x="8558784" y="2660904"/>
            <a:ext cx="310896" cy="173736"/>
          </a:xfrm>
          <a:prstGeom prst="rect">
            <a:avLst/>
          </a:prstGeom>
          <a:noFill/>
          <a:ln/>
        </p:spPr>
        <p:txBody>
          <a:bodyPr wrap="square" lIns="0" tIns="0" rIns="0" bIns="0" rtlCol="0" anchor="ctr"/>
          <a:lstStyle/>
          <a:p>
            <a:pPr indent="0" marL="0">
              <a:buNone/>
            </a:pPr>
            <a:r>
              <a:rPr lang="en-US" sz="800" b="1" dirty="0">
                <a:solidFill>
                  <a:srgbClr val="087F8C"/>
                </a:solidFill>
                <a:latin typeface="Aptos" pitchFamily="34" charset="0"/>
                <a:ea typeface="Aptos" pitchFamily="34" charset="-122"/>
                <a:cs typeface="Aptos" pitchFamily="34" charset="-120"/>
              </a:rPr>
              <a:t>01</a:t>
            </a:r>
            <a:endParaRPr lang="en-US" sz="800" dirty="0"/>
          </a:p>
        </p:txBody>
      </p:sp>
      <p:sp>
        <p:nvSpPr>
          <p:cNvPr id="28" name="Text 26"/>
          <p:cNvSpPr/>
          <p:nvPr/>
        </p:nvSpPr>
        <p:spPr>
          <a:xfrm>
            <a:off x="8942832" y="2651760"/>
            <a:ext cx="2121408" cy="329184"/>
          </a:xfrm>
          <a:prstGeom prst="rect">
            <a:avLst/>
          </a:prstGeom>
          <a:noFill/>
          <a:ln/>
        </p:spPr>
        <p:txBody>
          <a:bodyPr wrap="square" lIns="0" tIns="0" rIns="0" bIns="0" rtlCol="0" anchor="ctr">
            <a:normAutofit/>
          </a:bodyPr>
          <a:lstStyle/>
          <a:p>
            <a:pPr indent="0" marL="0">
              <a:buNone/>
            </a:pPr>
            <a:r>
              <a:rPr lang="en-US" sz="1000" b="1" dirty="0">
                <a:solidFill>
                  <a:srgbClr val="1B3448"/>
                </a:solidFill>
                <a:latin typeface="Aptos" pitchFamily="34" charset="0"/>
                <a:ea typeface="Aptos" pitchFamily="34" charset="-122"/>
                <a:cs typeface="Aptos" pitchFamily="34" charset="-120"/>
              </a:rPr>
              <a:t>EXPECTED STATE</a:t>
            </a:r>
            <a:endParaRPr lang="en-US" sz="1000" dirty="0"/>
          </a:p>
        </p:txBody>
      </p:sp>
      <p:sp>
        <p:nvSpPr>
          <p:cNvPr id="29" name="Shape 27"/>
          <p:cNvSpPr/>
          <p:nvPr/>
        </p:nvSpPr>
        <p:spPr>
          <a:xfrm>
            <a:off x="8558784" y="3163824"/>
            <a:ext cx="2542032" cy="0"/>
          </a:xfrm>
          <a:prstGeom prst="line">
            <a:avLst/>
          </a:prstGeom>
          <a:noFill/>
          <a:ln w="8890">
            <a:solidFill>
              <a:srgbClr val="D5E0E7"/>
            </a:solidFill>
            <a:prstDash val="solid"/>
          </a:ln>
        </p:spPr>
      </p:sp>
      <p:sp>
        <p:nvSpPr>
          <p:cNvPr id="30" name="Shape 28"/>
          <p:cNvSpPr/>
          <p:nvPr/>
        </p:nvSpPr>
        <p:spPr>
          <a:xfrm>
            <a:off x="8138160" y="3447288"/>
            <a:ext cx="256032" cy="256032"/>
          </a:xfrm>
          <a:prstGeom prst="rect">
            <a:avLst/>
          </a:prstGeom>
          <a:solidFill>
            <a:srgbClr val="FFFFFF"/>
          </a:solidFill>
          <a:ln w="17780">
            <a:solidFill>
              <a:srgbClr val="087F8C"/>
            </a:solidFill>
            <a:prstDash val="solid"/>
          </a:ln>
        </p:spPr>
      </p:sp>
      <p:sp>
        <p:nvSpPr>
          <p:cNvPr id="31" name="Text 29"/>
          <p:cNvSpPr/>
          <p:nvPr/>
        </p:nvSpPr>
        <p:spPr>
          <a:xfrm>
            <a:off x="8558784" y="3410712"/>
            <a:ext cx="310896" cy="173736"/>
          </a:xfrm>
          <a:prstGeom prst="rect">
            <a:avLst/>
          </a:prstGeom>
          <a:noFill/>
          <a:ln/>
        </p:spPr>
        <p:txBody>
          <a:bodyPr wrap="square" lIns="0" tIns="0" rIns="0" bIns="0" rtlCol="0" anchor="ctr"/>
          <a:lstStyle/>
          <a:p>
            <a:pPr indent="0" marL="0">
              <a:buNone/>
            </a:pPr>
            <a:r>
              <a:rPr lang="en-US" sz="800" b="1" dirty="0">
                <a:solidFill>
                  <a:srgbClr val="087F8C"/>
                </a:solidFill>
                <a:latin typeface="Aptos" pitchFamily="34" charset="0"/>
                <a:ea typeface="Aptos" pitchFamily="34" charset="-122"/>
                <a:cs typeface="Aptos" pitchFamily="34" charset="-120"/>
              </a:rPr>
              <a:t>02</a:t>
            </a:r>
            <a:endParaRPr lang="en-US" sz="800" dirty="0"/>
          </a:p>
        </p:txBody>
      </p:sp>
      <p:sp>
        <p:nvSpPr>
          <p:cNvPr id="32" name="Text 30"/>
          <p:cNvSpPr/>
          <p:nvPr/>
        </p:nvSpPr>
        <p:spPr>
          <a:xfrm>
            <a:off x="8942832" y="3401568"/>
            <a:ext cx="2121408" cy="329184"/>
          </a:xfrm>
          <a:prstGeom prst="rect">
            <a:avLst/>
          </a:prstGeom>
          <a:noFill/>
          <a:ln/>
        </p:spPr>
        <p:txBody>
          <a:bodyPr wrap="square" lIns="0" tIns="0" rIns="0" bIns="0" rtlCol="0" anchor="ctr">
            <a:normAutofit/>
          </a:bodyPr>
          <a:lstStyle/>
          <a:p>
            <a:pPr indent="0" marL="0">
              <a:buNone/>
            </a:pPr>
            <a:r>
              <a:rPr lang="en-US" sz="1000" b="1" dirty="0">
                <a:solidFill>
                  <a:srgbClr val="1B3448"/>
                </a:solidFill>
                <a:latin typeface="Aptos" pitchFamily="34" charset="0"/>
                <a:ea typeface="Aptos" pitchFamily="34" charset="-122"/>
                <a:cs typeface="Aptos" pitchFamily="34" charset="-120"/>
              </a:rPr>
              <a:t>MEASURE SIGNAL</a:t>
            </a:r>
            <a:endParaRPr lang="en-US" sz="1000" dirty="0"/>
          </a:p>
        </p:txBody>
      </p:sp>
      <p:sp>
        <p:nvSpPr>
          <p:cNvPr id="33" name="Shape 31"/>
          <p:cNvSpPr/>
          <p:nvPr/>
        </p:nvSpPr>
        <p:spPr>
          <a:xfrm>
            <a:off x="8558784" y="3913632"/>
            <a:ext cx="2542032" cy="0"/>
          </a:xfrm>
          <a:prstGeom prst="line">
            <a:avLst/>
          </a:prstGeom>
          <a:noFill/>
          <a:ln w="8890">
            <a:solidFill>
              <a:srgbClr val="D5E0E7"/>
            </a:solidFill>
            <a:prstDash val="solid"/>
          </a:ln>
        </p:spPr>
      </p:sp>
      <p:sp>
        <p:nvSpPr>
          <p:cNvPr id="34" name="Shape 32"/>
          <p:cNvSpPr/>
          <p:nvPr/>
        </p:nvSpPr>
        <p:spPr>
          <a:xfrm>
            <a:off x="8138160" y="4197096"/>
            <a:ext cx="256032" cy="256032"/>
          </a:xfrm>
          <a:prstGeom prst="rect">
            <a:avLst/>
          </a:prstGeom>
          <a:solidFill>
            <a:srgbClr val="FFFFFF"/>
          </a:solidFill>
          <a:ln w="17780">
            <a:solidFill>
              <a:srgbClr val="087F8C"/>
            </a:solidFill>
            <a:prstDash val="solid"/>
          </a:ln>
        </p:spPr>
      </p:sp>
      <p:sp>
        <p:nvSpPr>
          <p:cNvPr id="35" name="Text 33"/>
          <p:cNvSpPr/>
          <p:nvPr/>
        </p:nvSpPr>
        <p:spPr>
          <a:xfrm>
            <a:off x="8558784" y="4160520"/>
            <a:ext cx="310896" cy="173736"/>
          </a:xfrm>
          <a:prstGeom prst="rect">
            <a:avLst/>
          </a:prstGeom>
          <a:noFill/>
          <a:ln/>
        </p:spPr>
        <p:txBody>
          <a:bodyPr wrap="square" lIns="0" tIns="0" rIns="0" bIns="0" rtlCol="0" anchor="ctr"/>
          <a:lstStyle/>
          <a:p>
            <a:pPr indent="0" marL="0">
              <a:buNone/>
            </a:pPr>
            <a:r>
              <a:rPr lang="en-US" sz="800" b="1" dirty="0">
                <a:solidFill>
                  <a:srgbClr val="087F8C"/>
                </a:solidFill>
                <a:latin typeface="Aptos" pitchFamily="34" charset="0"/>
                <a:ea typeface="Aptos" pitchFamily="34" charset="-122"/>
                <a:cs typeface="Aptos" pitchFamily="34" charset="-120"/>
              </a:rPr>
              <a:t>03</a:t>
            </a:r>
            <a:endParaRPr lang="en-US" sz="800" dirty="0"/>
          </a:p>
        </p:txBody>
      </p:sp>
      <p:sp>
        <p:nvSpPr>
          <p:cNvPr id="36" name="Text 34"/>
          <p:cNvSpPr/>
          <p:nvPr/>
        </p:nvSpPr>
        <p:spPr>
          <a:xfrm>
            <a:off x="8942832" y="4151376"/>
            <a:ext cx="2121408" cy="329184"/>
          </a:xfrm>
          <a:prstGeom prst="rect">
            <a:avLst/>
          </a:prstGeom>
          <a:noFill/>
          <a:ln/>
        </p:spPr>
        <p:txBody>
          <a:bodyPr wrap="square" lIns="0" tIns="0" rIns="0" bIns="0" rtlCol="0" anchor="ctr">
            <a:normAutofit/>
          </a:bodyPr>
          <a:lstStyle/>
          <a:p>
            <a:pPr indent="0" marL="0">
              <a:buNone/>
            </a:pPr>
            <a:r>
              <a:rPr lang="en-US" sz="1000" b="1" dirty="0">
                <a:solidFill>
                  <a:srgbClr val="1B3448"/>
                </a:solidFill>
                <a:latin typeface="Aptos" pitchFamily="34" charset="0"/>
                <a:ea typeface="Aptos" pitchFamily="34" charset="-122"/>
                <a:cs typeface="Aptos" pitchFamily="34" charset="-120"/>
              </a:rPr>
              <a:t>FIND BOUNDARY</a:t>
            </a:r>
            <a:endParaRPr lang="en-US" sz="1000" dirty="0"/>
          </a:p>
        </p:txBody>
      </p:sp>
      <p:sp>
        <p:nvSpPr>
          <p:cNvPr id="37" name="Shape 35"/>
          <p:cNvSpPr/>
          <p:nvPr/>
        </p:nvSpPr>
        <p:spPr>
          <a:xfrm>
            <a:off x="8558784" y="4663440"/>
            <a:ext cx="2542032" cy="0"/>
          </a:xfrm>
          <a:prstGeom prst="line">
            <a:avLst/>
          </a:prstGeom>
          <a:noFill/>
          <a:ln w="8890">
            <a:solidFill>
              <a:srgbClr val="D5E0E7"/>
            </a:solidFill>
            <a:prstDash val="solid"/>
          </a:ln>
        </p:spPr>
      </p:sp>
      <p:sp>
        <p:nvSpPr>
          <p:cNvPr id="38" name="Shape 36"/>
          <p:cNvSpPr/>
          <p:nvPr/>
        </p:nvSpPr>
        <p:spPr>
          <a:xfrm>
            <a:off x="8138160" y="4946904"/>
            <a:ext cx="256032" cy="256032"/>
          </a:xfrm>
          <a:prstGeom prst="rect">
            <a:avLst/>
          </a:prstGeom>
          <a:solidFill>
            <a:srgbClr val="FFFFFF"/>
          </a:solidFill>
          <a:ln w="17780">
            <a:solidFill>
              <a:srgbClr val="087F8C"/>
            </a:solidFill>
            <a:prstDash val="solid"/>
          </a:ln>
        </p:spPr>
      </p:sp>
      <p:sp>
        <p:nvSpPr>
          <p:cNvPr id="39" name="Text 37"/>
          <p:cNvSpPr/>
          <p:nvPr/>
        </p:nvSpPr>
        <p:spPr>
          <a:xfrm>
            <a:off x="8558784" y="4910328"/>
            <a:ext cx="310896" cy="173736"/>
          </a:xfrm>
          <a:prstGeom prst="rect">
            <a:avLst/>
          </a:prstGeom>
          <a:noFill/>
          <a:ln/>
        </p:spPr>
        <p:txBody>
          <a:bodyPr wrap="square" lIns="0" tIns="0" rIns="0" bIns="0" rtlCol="0" anchor="ctr"/>
          <a:lstStyle/>
          <a:p>
            <a:pPr indent="0" marL="0">
              <a:buNone/>
            </a:pPr>
            <a:r>
              <a:rPr lang="en-US" sz="800" b="1" dirty="0">
                <a:solidFill>
                  <a:srgbClr val="087F8C"/>
                </a:solidFill>
                <a:latin typeface="Aptos" pitchFamily="34" charset="0"/>
                <a:ea typeface="Aptos" pitchFamily="34" charset="-122"/>
                <a:cs typeface="Aptos" pitchFamily="34" charset="-120"/>
              </a:rPr>
              <a:t>04</a:t>
            </a:r>
            <a:endParaRPr lang="en-US" sz="800" dirty="0"/>
          </a:p>
        </p:txBody>
      </p:sp>
      <p:sp>
        <p:nvSpPr>
          <p:cNvPr id="40" name="Text 38"/>
          <p:cNvSpPr/>
          <p:nvPr/>
        </p:nvSpPr>
        <p:spPr>
          <a:xfrm>
            <a:off x="8942832" y="4901184"/>
            <a:ext cx="2121408" cy="329184"/>
          </a:xfrm>
          <a:prstGeom prst="rect">
            <a:avLst/>
          </a:prstGeom>
          <a:noFill/>
          <a:ln/>
        </p:spPr>
        <p:txBody>
          <a:bodyPr wrap="square" lIns="0" tIns="0" rIns="0" bIns="0" rtlCol="0" anchor="ctr">
            <a:normAutofit/>
          </a:bodyPr>
          <a:lstStyle/>
          <a:p>
            <a:pPr indent="0" marL="0">
              <a:buNone/>
            </a:pPr>
            <a:r>
              <a:rPr lang="en-US" sz="1000" b="1" dirty="0">
                <a:solidFill>
                  <a:srgbClr val="1B3448"/>
                </a:solidFill>
                <a:latin typeface="Aptos" pitchFamily="34" charset="0"/>
                <a:ea typeface="Aptos" pitchFamily="34" charset="-122"/>
                <a:cs typeface="Aptos" pitchFamily="34" charset="-120"/>
              </a:rPr>
              <a:t>RETEST + RECORD</a:t>
            </a:r>
            <a:endParaRPr lang="en-US" sz="1000" dirty="0"/>
          </a:p>
        </p:txBody>
      </p:sp>
      <p:sp>
        <p:nvSpPr>
          <p:cNvPr id="41" name="Shape 39"/>
          <p:cNvSpPr/>
          <p:nvPr/>
        </p:nvSpPr>
        <p:spPr>
          <a:xfrm>
            <a:off x="603504" y="6318504"/>
            <a:ext cx="10972800" cy="0"/>
          </a:xfrm>
          <a:prstGeom prst="line">
            <a:avLst/>
          </a:prstGeom>
          <a:noFill/>
          <a:ln w="10160">
            <a:solidFill>
              <a:srgbClr val="D5E0E7"/>
            </a:solidFill>
            <a:prstDash val="solid"/>
          </a:ln>
        </p:spPr>
      </p:sp>
      <p:sp>
        <p:nvSpPr>
          <p:cNvPr id="42" name="Text 40"/>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SIGNAL PROCESSING AND SIGNAL INTEGRITY</a:t>
            </a:r>
            <a:endParaRPr lang="en-US" sz="800" dirty="0"/>
          </a:p>
        </p:txBody>
      </p:sp>
      <p:sp>
        <p:nvSpPr>
          <p:cNvPr id="43" name="Text 41"/>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18 / 18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Unit 5009</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05: Signal Processing and Signal Integrity</dc:title>
  <dc:subject>LO2 weekly teaching presentation</dc:subject>
  <dc:creator>Unit 5009 Teaching Materials</dc:creator>
  <cp:lastModifiedBy>Unit 5009 Teaching Materials</cp:lastModifiedBy>
  <cp:revision>1</cp:revision>
  <dcterms:created xsi:type="dcterms:W3CDTF">2026-10-13T19:42:18Z</dcterms:created>
  <dcterms:modified xsi:type="dcterms:W3CDTF">2026-10-13T19:42:18Z</dcterms:modified>
</cp:coreProperties>
</file>