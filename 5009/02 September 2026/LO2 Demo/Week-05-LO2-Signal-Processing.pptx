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 of 18 | Suggested time: 5 minutes | Criteria: LO2 foundations
TEACHING NOTES AND ACTIVITY CUES
1. Present a pill-sensor trace with bounce or a missed short pulse.
2. Ask learners to predict the PLC count and downstream actuator behaviour.
IMAGE PROMPT
Create an original, technically plausible landscape visual for a vocational engineering presentation about A false count can stop a production line. Show: Present a pill-sensor trace with bounce or a missed short pulse. Ask learners to predict the PLC count and downstream actuator behaviour..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2 of 18 | Suggested time: 5 minutes | Criteria: LO2 foundations
TEACHING NOTES AND ACTIVITY CUES
1. Reuse the selected PLC, sensor, I/O map, and load assumptions from Weeks 1-4.
2. Explain that hardware selection and signal processing must agree.
IMAGE PROMPT
Create an original, technically plausible landscape visual for a vocational engineering presentation about Reconnect LO1 to LO2. Show: Reuse the selected PLC, sensor, I/O map, and load assumptions from Weeks 1-4. Explain that hardware selection and signal processing must agree..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3 of 18 | Suggested time: 5 minutes | Criteria: LO2 foundations
TEACHING NOTES AND ACTIVITY CUES
1. Show signal chain, scan, filtering, scaling, troubleshooting, and lab-record goals.
2. Explain that this session prepares the demonstration evidence but does not replace the P3/P4 communication topics.
IMAGE PROMPT
Create an original, technically plausible landscape visual for a vocational engineering presentation about Session outcomes and evidence. Show: Show signal chain, scan, filtering, scaling, troubleshooting, and lab-record goals. Explain that this session prepares the demonstration evidence but does not replace the P3/P4 communication topics..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4 of 18 | Suggested time: 12 minutes | Criteria: LO2 foundations
TEACHING NOTES AND ACTIVITY CUES
1. Trace sensor target -&gt; electrical output -&gt; cable/terminal -&gt; input circuit -&gt; process image/task -&gt; logic -&gt; output circuit -&gt; load.
2. Mark voltage/current compatibility, isolation, filtering, and diagnostics.
IMAGE PROMPT
Create an original, technically plausible landscape visual for a vocational engineering presentation about From physical event to PLC variable. Show: Trace sensor target -&gt; electrical output -&gt; cable/terminal -&gt; input circuit -&gt; process image/task -&gt; logic -&gt; output circuit -&gt; load. Mark voltage/current compatibility, isolation, filtering, and diagnostics..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5 of 18 | Suggested time: 13 minutes | Criteria: LO2 foundations
TEACHING NOTES AND ACTIVITY CUES
1. Explain input acquisition, logic execution, output update, communications, and variable monitoring.
2. Qualify the diagram: some PLCs use tasks, interrupts, remote I/O updates, or immediate access; consult the exact manual.
3. Compare input pulse duration with filter and update timing.
IMAGE PROMPT
Create an original, technically plausible landscape visual for a vocational engineering presentation about Typical scan and response timeline. Show: Explain input acquisition, logic execution, output update, communications, and variable monitoring. Qualify the diagram: some PLCs use tasks, interrupts, remote I/O updates, or immediate access; consult the exact manual..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6 of 18 | Suggested time: 12 minutes | Criteria: LO2 foundations
TEACHING NOTES AND ACTIVITY CUES
1. Distinguish contact debounce/filtering from rising-edge one-shot logic.
2. Show why a held-high input should not repeatedly count and why bounce can create false counts.
3. Configure a hypothetical filter only after checking sensor pulse width and required count rate.
IMAGE PROMPT
Create an original, technically plausible landscape visual for a vocational engineering presentation about Debounce and edge detection. Show: Distinguish contact debounce/filtering from rising-edge one-shot logic. Show why a held-high input should not repeatedly count and why bounce can create false counts..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7 of 18 | Suggested time: 13 minutes | Criteria: LO2 foundations
TEACHING NOTES AND ACTIVITY CUES
1. Explain high-speed counter/capture inputs, maximum frequency, pulse width, input filter, and event buffering.
2. Work through a maximum-rate example with stated assumptions.
3. Identify when standard cyclic logic may miss events and what verification test should be run.
IMAGE PROMPT
Create an original, technically plausible landscape visual for a vocational engineering presentation about High-speed pulse capture and count integrity. Show: Explain high-speed counter/capture inputs, maximum frequency, pulse width, input filter, and event buffering. Work through a maximum-rate example with stated assumptions..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8 of 18 | Suggested time: 10 minutes | Criteria: LO2 foundations
TEACHING NOTES AND ACTIVITY CUES
1. Introduce 0-10 V and 4-20 mA sensor signals, ADC conversion, raw value, engineering range, scaling, and update time.
2. Use a hypothetical example and label all ranges; explain resolution versus accuracy.
IMAGE PROMPT
Create an original, technically plausible landscape visual for a vocational engineering presentation about Analogue signals and scaling. Show: Introduce 0-10 V and 4-20 mA sensor signals, ADC conversion, raw value, engineering range, scaling, and update time. Use a hypothetical example and label all ranges; explain resolution versus accuracy..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9 of 18 | Suggested time: 15 minutes | Criteria: LO2 foundations
TEACHING NOTES AND ACTIVITY CUES
1. Explore EMI, common/ground issues, long cables, routing near power wiring, loose terminals, inductive loads, and poor shielding.
2. Mitigate with suitable cable, routing/separation, isolation, input filter, correctly applied shield/bonding, and suppression per manufacturer/site rules.
3. Avoid universal shield termination advice; follow the equipment documentation and plant EMC design.
IMAGE PROMPT
Create an original, technically plausible landscape visual for a vocational engineering presentation about Signal integrity and wiring practice. Show: Explore EMI, common/ground issues, long cables, routing near power wiring, loose terminals, inductive loads, and poor shielding. Mitigate with suitable cable, routing/separation, isolation, input filter, correctly applied shield/bonding, and suppression per manufacturer/site rules..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10 of 18 | Suggested time: 10 minutes | Criteria: LO2 foundations
TEACHING NOTES AND ACTIVITY CUES
1. Check supply/wiring -&gt; field device indicator -&gt; terminal signal -&gt; PLC channel/LED -&gt; variable/tag -&gt; logic/filter -&gt; output channel -&gt; load.
2. Record expected and observed values at each boundary.
3. Do not force outputs or bypass safety devices on live equipment without authorised safe procedure.
IMAGE PROMPT
Create an original, technically plausible landscape visual for a vocational engineering presentation about First-line troubleshooting flow. Show: Check supply/wiring -&gt; field device indicator -&gt; terminal signal -&gt; PLC channel/LED -&gt; variable/tag -&gt; logic/filter -&gt; output channel -&gt; load. Record expected and observed values at each boundary..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11 of 18 | Suggested time: 10 minutes | Criteria: LO2 foundations
TEACHING NOTES AND ACTIVITY CUES
1. Trace Start, Reset, E-stop status feedback, pill sensor, actuator, and buzzer against the I/O table.
2. Mark 24 V DC/common only where the chosen hardware confirms it.
3. Identify the independent safety circuit; standard PLC monitoring is not the sole E-stop function.
IMAGE PROMPT
Create an original, technically plausible landscape visual for a vocational engineering presentation about Read the MedPack wiring diagram. Show: Trace Start, Reset, E-stop status feedback, pill sensor, actuator, and buzzer against the I/O table. Mark 24 V DC/common only where the chosen hardware confirms it..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12 of 18 | Suggested time: 15 minutes | Criteria: LO2 foundations
TEACHING NOTES AND ACTIVITY CUES
1. Demonstrate address/tag mapping, normal state, input polarity, output load, and comments.
2. Confirm the wiring diagram, PLC project, and I/O schedule agree.
3. Use the actual CPU/module configuration; do not reuse sample addresses without verification.
IMAGE PROMPT
Create an original, technically plausible landscape visual for a vocational engineering presentation about Map terminals to program tags. Show: Demonstrate address/tag mapping, normal state, input polarity, output load, and comments. Confirm the wiring diagram, PLC project, and I/O schedule agree..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13 of 18 | Suggested time: 10 minutes | Criteria: LO2 foundations
TEACHING NOTES AND ACTIVITY CUES
1. Start the process, generate individual sensor events, observe count and status, reach target, trigger actuator/buzzer response, and reset.
2. Show online monitoring and explain the PLC state change at each step.
IMAGE PROMPT
Create an original, technically plausible landscape visual for a vocational engineering presentation about Demonstrate the normal operating cycle. Show: Start the process, generate individual sensor events, observe count and status, reach target, trigger actuator/buzzer response, and reset. Show online monitoring and explain the PLC state change at each step..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14 of 18 | Suggested time: 10 minutes | Criteria: LO2 foundations
TEACHING NOTES AND ACTIVITY CUES
1. Learners compare physical/terminal/PLC/program/output status.
2. Ask them to explain where a discrepancy first appears and what that narrows down.
IMAGE PROMPT
Create an original, technically plausible landscape visual for a vocational engineering presentation about Observe, measure, and explain. Show: Learners compare physical/terminal/PLC/program/output status. Ask them to explain where a discrepancy first appears and what that narrows down..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15 of 18 | Suggested time: 20 minutes | Criteria: LO2 foundations
TEACHING NOTES AND ACTIVITY CUES
1. Safely simulate chatter or stuck-high/low behaviour in software/training rig.
2. Predict expected event count, observe the response, apply/adjust filtering or edge logic, then repeat the test.
3. Record test conditions, expected result, observed result, diagnosis, correction, and retest.
IMAGE PROMPT
Create an original, technically plausible landscape visual for a vocational engineering presentation about Fault case A: sensor chatter or stuck input. Show: Safely simulate chatter or stuck-high/low behaviour in software/training rig. Predict expected event count, observe the response, apply/adjust filtering or edge logic, then repeat the test..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16 of 18 | Suggested time: 20 minutes | Criteria: LO2 foundations
TEACHING NOTES AND ACTIVITY CUES
1. Demonstrate the safe training setup's E-stop action and verify motion/output response according to the safety design.
2. Show PLC status indication and buzzer/fault handling separately from the safety function.
3. Discuss reset/restart permissives and why an HMI/standard PLC must not bypass safety.
IMAGE PROMPT
Create an original, technically plausible landscape visual for a vocational engineering presentation about Fault case B: E-stop and output response. Show: Demonstrate the safe training setup's E-stop action and verify motion/output response according to the safety design. Show PLC status indication and buzzer/fault handling separately from the safety function..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17 of 18 | Suggested time: 7 minutes | Criteria: LO2 foundations
TEACHING NOTES AND ACTIVITY CUES
1. Check date, setup/version, wiring/I/O map, test steps, expected/observed results, fault, corrective action, and retest evidence.
IMAGE PROMPT
Create an original, technically plausible landscape visual for a vocational engineering presentation about Lab-record quality review. Show: Check date, setup/version, wiring/I/O map, test steps, expected/observed results, fault, corrective action, and retest evidence..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Processing and Signal Integrity | Week 05 | LO2
Slide 18 of 18 | Suggested time: 8 minutes | Criteria: LO2 foundations
TEACHING NOTES AND ACTIVITY CUES
1. Given a signal mismatch, identify the first test point and one likely cause.
2. State one filter benefit and one possible downside.
IMAGE PROMPT
Create an original, technically plausible landscape visual for a vocational engineering presentation about Exit ticket: diagnose the first boundary. Show: Given a signal mismatch, identify the first test point and one likely cause. State one filter benefit and one possible downside.. Use an editorial technical-illustration style with accurate industrial components, a clean pale background, and restrained navy, teal, and muted amber accents. Compose the subject clearly for a right-side image panel. Do not include text, labels, numbers, logos, watermarks, or branded equipment.
IMAGE PLACEMENT
Replace the labelled image placeholder on the right with the generated or selected visual. Keep the title and key ideas unobstructed.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A false count can stop a production line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Present a pill-sensor trace with bounce or a missed short pulse.</a:t>
            </a:r>
            <a:endParaRPr lang="en-US" sz="1650" dirty="0"/>
          </a:p>
        </p:txBody>
      </p:sp>
      <p:sp>
        <p:nvSpPr>
          <p:cNvPr id="13" name="Shape 11"/>
          <p:cNvSpPr/>
          <p:nvPr/>
        </p:nvSpPr>
        <p:spPr>
          <a:xfrm>
            <a:off x="713232" y="2578608"/>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4688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Ask learners to predict the PLC count and downstream actuator behaviour.</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A false count can stop a production line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Reconnect LO1 to LO2</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Reuse the selected PLC, sensor, I/O map, and load assumptions from Weeks 1-4.</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hardware selection and signal processing must agree.</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Reconnect LO1 to LO2</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Session outcomes and evidence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signal chain, scan, filtering, scaling, troubleshooting, and lab-record goals.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that this session prepares the demonstration evidence but does not replace the P3/P4 communication topics.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Session outcomes and evidence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From physical event to PLC variable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Trace sensor target -&gt; electrical output -&gt; cable/terminal -&gt; input circuit -&gt; process image/task -&gt; logic -&gt; output circuit -&gt; load.</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Mark voltage/current compatibility, isolation, filtering, and diagnostics.</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From physical event to PLC variable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Typical scan and response timeline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input acquisition, logic execution, output update, communications, and variable monitoring.</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Qualify the diagram: some PLCs use tasks, interrupts, remote I/O updates, or immediate access; consult the exact manual.</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Compare input pulse duration with filter and update timing.</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Typical scan and response timeline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Debounce and edge detection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Distinguish contact debounce/filtering from rising-edge one-shot logic.</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why a held-high input should not repeatedly count and why bounce can create false counts.</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Configure a hypothetical filter only after checking sensor pulse width and required count rate.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Debounce and edge detection</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High-speed pulse capture and count integrity</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Explain high-speed counter/capture inputs, maximum frequency, pulse width, input filter, and event buffering.</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Work through a maximum-rate example with stated assumptions.</a:t>
            </a:r>
            <a:endParaRPr lang="en-US" sz="1650" dirty="0"/>
          </a:p>
        </p:txBody>
      </p:sp>
      <p:sp>
        <p:nvSpPr>
          <p:cNvPr id="15" name="Shape 13"/>
          <p:cNvSpPr/>
          <p:nvPr/>
        </p:nvSpPr>
        <p:spPr>
          <a:xfrm>
            <a:off x="713232" y="3255264"/>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145536"/>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when standard cyclic logic may miss events and what verification test should be run.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High-speed pulse capture and count integrity</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Analogue signals and scaling</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Introduce 0-10 V and 4-20 mA sensor signals, ADC conversion, raw value, engineering range, scaling, and update time.</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a hypothetical example and label all ranges; explain resolution versus accuracy.</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Analogue signals and scaling</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Signal integrity and wiring practice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Explore EMI, common/ground issues, long cables, routing near power wiring, loose terminals, inductive loads, and poor shielding.</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Mitigate with suitable cable, routing/separation, isolation, input filter, correctly applied shield/bonding, and suppression per manufacturer/site rules.</a:t>
            </a:r>
            <a:endParaRPr lang="en-US" sz="1650" dirty="0"/>
          </a:p>
        </p:txBody>
      </p:sp>
      <p:sp>
        <p:nvSpPr>
          <p:cNvPr id="15" name="Shape 13"/>
          <p:cNvSpPr/>
          <p:nvPr/>
        </p:nvSpPr>
        <p:spPr>
          <a:xfrm>
            <a:off x="713232" y="3730752"/>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6210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Avoid universal shield termination advice; follow the equipment documentation and plant EMC design.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Signal integrity and wiring practice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First-line troubleshooting flow</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Check supply/wiring -&gt; field device indicator -&gt; terminal signal -&gt; PLC channel/LED -&gt; variable/tag -&gt; logic/filter -&gt; output channel -&gt; load.</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Record expected and observed values at each boundary.</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Do not force outputs or bypass safety devices on live equipment without authorised safe procedure.</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First-line troubleshooting flow</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Read the MedPack wiring diagram</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Trace Start, Reset, E-stop status feedback, pill sensor, actuator, and buzzer against the I/O table.</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Mark 24 V DC/common only where the chosen hardware confirms it.</a:t>
            </a:r>
            <a:endParaRPr lang="en-US" sz="1650" dirty="0"/>
          </a:p>
        </p:txBody>
      </p:sp>
      <p:sp>
        <p:nvSpPr>
          <p:cNvPr id="15" name="Shape 13"/>
          <p:cNvSpPr/>
          <p:nvPr/>
        </p:nvSpPr>
        <p:spPr>
          <a:xfrm>
            <a:off x="713232" y="3255264"/>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145536"/>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Identify the independent safety circuit; standard PLC monitoring is not the sole E-stop function.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Read the MedPack wiring diagram</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Map terminals to program tags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Demonstrate address/tag mapping, normal state, input polarity, output load, and comments.</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Confirm the wiring diagram, PLC project, and I/O schedule agree.</a:t>
            </a:r>
            <a:endParaRPr lang="en-US" sz="1650" dirty="0"/>
          </a:p>
        </p:txBody>
      </p:sp>
      <p:sp>
        <p:nvSpPr>
          <p:cNvPr id="15" name="Shape 13"/>
          <p:cNvSpPr/>
          <p:nvPr/>
        </p:nvSpPr>
        <p:spPr>
          <a:xfrm>
            <a:off x="713232" y="3255264"/>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145536"/>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Use the actual CPU/module configuration; do not reuse sample addresses without verification.</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Map terminals to program tags</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Demonstrate the normal operating cycle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804672"/>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Start the process, generate individual sensor events, observe count and status, reach target, trigger actuator/buzzer response, and reset.</a:t>
            </a:r>
            <a:endParaRPr lang="en-US" sz="1650" dirty="0"/>
          </a:p>
        </p:txBody>
      </p:sp>
      <p:sp>
        <p:nvSpPr>
          <p:cNvPr id="13" name="Shape 11"/>
          <p:cNvSpPr/>
          <p:nvPr/>
        </p:nvSpPr>
        <p:spPr>
          <a:xfrm>
            <a:off x="713232" y="3054096"/>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9443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online monitoring and explain the PLC state change at each step.</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Demonstrate the normal operating cycle</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Observe, measure, and explain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Learners compare physical/terminal/PLC/program/output status.</a:t>
            </a:r>
            <a:endParaRPr lang="en-US" sz="1650" dirty="0"/>
          </a:p>
        </p:txBody>
      </p:sp>
      <p:sp>
        <p:nvSpPr>
          <p:cNvPr id="13" name="Shape 11"/>
          <p:cNvSpPr/>
          <p:nvPr/>
        </p:nvSpPr>
        <p:spPr>
          <a:xfrm>
            <a:off x="713232" y="2578608"/>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4688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Ask them to explain where a discrepancy first appears and what that narrows down.</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Observe, measure, and explain</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Fault case A: sensor chatter or stuck input</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Safely simulate chatter or stuck-high/low behaviour in software/training rig.</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Predict expected event count, observe the response, apply/adjust filtering or edge logic, then repeat the test.</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Record test conditions, expected result, observed result, diagnosis, correction, and retest.</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Fault case A: sensor chatter or stuck input</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Fault case B: E-stop and output response</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Demonstrate the safe training setup's E-stop action and verify motion/output response according to the safety design.</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Show PLC status indication and buzzer/fault handling separately from the safety function.</a:t>
            </a:r>
            <a:endParaRPr lang="en-US" sz="1650" dirty="0"/>
          </a:p>
        </p:txBody>
      </p:sp>
      <p:sp>
        <p:nvSpPr>
          <p:cNvPr id="15" name="Shape 13"/>
          <p:cNvSpPr/>
          <p:nvPr/>
        </p:nvSpPr>
        <p:spPr>
          <a:xfrm>
            <a:off x="713232" y="3493008"/>
            <a:ext cx="100584" cy="100584"/>
          </a:xfrm>
          <a:prstGeom prst="ellipse">
            <a:avLst/>
          </a:prstGeom>
          <a:solidFill>
            <a:srgbClr val="087F8C"/>
          </a:solidFill>
          <a:ln w="12700">
            <a:solidFill>
              <a:srgbClr val="087F8C">
                <a:alpha val="0"/>
              </a:srgbClr>
            </a:solidFill>
            <a:prstDash val="solid"/>
          </a:ln>
        </p:spPr>
      </p:sp>
      <p:sp>
        <p:nvSpPr>
          <p:cNvPr id="16" name="Text 14"/>
          <p:cNvSpPr/>
          <p:nvPr/>
        </p:nvSpPr>
        <p:spPr>
          <a:xfrm>
            <a:off x="969264" y="3383280"/>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Discuss reset/restart permissives and why an HMI/standard PLC must not bypass safety.</a:t>
            </a:r>
            <a:endParaRPr lang="en-US" sz="1650" dirty="0"/>
          </a:p>
        </p:txBody>
      </p:sp>
      <p:sp>
        <p:nvSpPr>
          <p:cNvPr id="17" name="Shape 15"/>
          <p:cNvSpPr/>
          <p:nvPr/>
        </p:nvSpPr>
        <p:spPr>
          <a:xfrm>
            <a:off x="7644384" y="1746504"/>
            <a:ext cx="3941064" cy="4352544"/>
          </a:xfrm>
          <a:prstGeom prst="rect">
            <a:avLst/>
          </a:prstGeom>
          <a:solidFill>
            <a:srgbClr val="E8EFF3"/>
          </a:solidFill>
          <a:ln w="15240">
            <a:solidFill>
              <a:srgbClr val="C8D5DE"/>
            </a:solidFill>
            <a:prstDash val="solid"/>
          </a:ln>
        </p:spPr>
      </p:sp>
      <p:sp>
        <p:nvSpPr>
          <p:cNvPr id="18" name="Text 16"/>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9" name="Text 17"/>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20" name="Text 18"/>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21" name="Shape 19"/>
          <p:cNvSpPr/>
          <p:nvPr/>
        </p:nvSpPr>
        <p:spPr>
          <a:xfrm>
            <a:off x="7845552" y="5111496"/>
            <a:ext cx="3538728" cy="0"/>
          </a:xfrm>
          <a:prstGeom prst="line">
            <a:avLst/>
          </a:prstGeom>
          <a:noFill/>
          <a:ln w="12700">
            <a:solidFill>
              <a:srgbClr val="C8D5DE"/>
            </a:solidFill>
            <a:prstDash val="solid"/>
          </a:ln>
        </p:spPr>
      </p:sp>
      <p:sp>
        <p:nvSpPr>
          <p:cNvPr id="22" name="Text 20"/>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Fault case B: E-stop and output response</a:t>
            </a:r>
            <a:endParaRPr lang="en-US" sz="1050" dirty="0"/>
          </a:p>
        </p:txBody>
      </p:sp>
      <p:sp>
        <p:nvSpPr>
          <p:cNvPr id="23" name="Text 21"/>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4" name="Shape 22"/>
          <p:cNvSpPr/>
          <p:nvPr/>
        </p:nvSpPr>
        <p:spPr>
          <a:xfrm>
            <a:off x="603504" y="6318504"/>
            <a:ext cx="10972800" cy="0"/>
          </a:xfrm>
          <a:prstGeom prst="line">
            <a:avLst/>
          </a:prstGeom>
          <a:noFill/>
          <a:ln w="10160">
            <a:solidFill>
              <a:srgbClr val="D5E0E7"/>
            </a:solidFill>
            <a:prstDash val="solid"/>
          </a:ln>
        </p:spPr>
      </p:sp>
      <p:sp>
        <p:nvSpPr>
          <p:cNvPr id="25" name="Text 23"/>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6" name="Text 24"/>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Lab-record quality review</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Check date, setup/version, wiring/I/O map, test steps, expected/observed results, fault, corrective action, and retest evidence.</a:t>
            </a:r>
            <a:endParaRPr lang="en-US" sz="1650" dirty="0"/>
          </a:p>
        </p:txBody>
      </p:sp>
      <p:sp>
        <p:nvSpPr>
          <p:cNvPr id="13" name="Shape 11"/>
          <p:cNvSpPr/>
          <p:nvPr/>
        </p:nvSpPr>
        <p:spPr>
          <a:xfrm>
            <a:off x="7644384" y="1746504"/>
            <a:ext cx="3941064" cy="4352544"/>
          </a:xfrm>
          <a:prstGeom prst="rect">
            <a:avLst/>
          </a:prstGeom>
          <a:solidFill>
            <a:srgbClr val="E8EFF3"/>
          </a:solidFill>
          <a:ln w="15240">
            <a:solidFill>
              <a:srgbClr val="C8D5DE"/>
            </a:solidFill>
            <a:prstDash val="solid"/>
          </a:ln>
        </p:spPr>
      </p:sp>
      <p:sp>
        <p:nvSpPr>
          <p:cNvPr id="14" name="Text 12"/>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5" name="Text 13"/>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6" name="Text 14"/>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7" name="Shape 15"/>
          <p:cNvSpPr/>
          <p:nvPr/>
        </p:nvSpPr>
        <p:spPr>
          <a:xfrm>
            <a:off x="7845552" y="5111496"/>
            <a:ext cx="3538728" cy="0"/>
          </a:xfrm>
          <a:prstGeom prst="line">
            <a:avLst/>
          </a:prstGeom>
          <a:noFill/>
          <a:ln w="12700">
            <a:solidFill>
              <a:srgbClr val="C8D5DE"/>
            </a:solidFill>
            <a:prstDash val="solid"/>
          </a:ln>
        </p:spPr>
      </p:sp>
      <p:sp>
        <p:nvSpPr>
          <p:cNvPr id="18" name="Text 16"/>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Lab-record quality review</a:t>
            </a:r>
            <a:endParaRPr lang="en-US" sz="1050" dirty="0"/>
          </a:p>
        </p:txBody>
      </p:sp>
      <p:sp>
        <p:nvSpPr>
          <p:cNvPr id="19" name="Text 17"/>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0" name="Shape 18"/>
          <p:cNvSpPr/>
          <p:nvPr/>
        </p:nvSpPr>
        <p:spPr>
          <a:xfrm>
            <a:off x="603504" y="6318504"/>
            <a:ext cx="10972800" cy="0"/>
          </a:xfrm>
          <a:prstGeom prst="line">
            <a:avLst/>
          </a:prstGeom>
          <a:noFill/>
          <a:ln w="10160">
            <a:solidFill>
              <a:srgbClr val="D5E0E7"/>
            </a:solidFill>
            <a:prstDash val="solid"/>
          </a:ln>
        </p:spPr>
      </p:sp>
      <p:sp>
        <p:nvSpPr>
          <p:cNvPr id="21" name="Text 19"/>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2" name="Text 20"/>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087F8C"/>
          </a:solidFill>
          <a:ln w="12700">
            <a:solidFill>
              <a:srgbClr val="087F8C">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087F8C"/>
                </a:solidFill>
                <a:latin typeface="Aptos" pitchFamily="34" charset="0"/>
                <a:ea typeface="Aptos" pitchFamily="34" charset="-122"/>
                <a:cs typeface="Aptos" pitchFamily="34" charset="-120"/>
              </a:rPr>
              <a:t>UNIT 5009    /    WEEK 05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087F8C"/>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087F8C"/>
                </a:solidFill>
                <a:latin typeface="Aptos" pitchFamily="34" charset="0"/>
                <a:ea typeface="Aptos" pitchFamily="34" charset="-122"/>
                <a:cs typeface="Aptos" pitchFamily="34" charset="-120"/>
              </a:rPr>
              <a:t>LO2 FOUNDATIONS</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Exit ticket: diagnose the first boundary</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76656" y="1719072"/>
            <a:ext cx="1828800" cy="210312"/>
          </a:xfrm>
          <a:prstGeom prst="rect">
            <a:avLst/>
          </a:prstGeom>
          <a:noFill/>
          <a:ln/>
        </p:spPr>
        <p:txBody>
          <a:bodyPr wrap="square" lIns="0" tIns="0" rIns="0" bIns="0" rtlCol="0" anchor="ctr"/>
          <a:lstStyle/>
          <a:p>
            <a:pPr indent="0" marL="0">
              <a:buNone/>
            </a:pPr>
            <a:r>
              <a:rPr lang="en-US" sz="900" b="1" spc="100" kern="0" dirty="0">
                <a:solidFill>
                  <a:srgbClr val="087F8C"/>
                </a:solidFill>
                <a:latin typeface="Aptos" pitchFamily="34" charset="0"/>
                <a:ea typeface="Aptos" pitchFamily="34" charset="-122"/>
                <a:cs typeface="Aptos" pitchFamily="34" charset="-120"/>
              </a:rPr>
              <a:t>KEY IDEAS</a:t>
            </a:r>
            <a:endParaRPr lang="en-US" sz="900" dirty="0"/>
          </a:p>
        </p:txBody>
      </p:sp>
      <p:sp>
        <p:nvSpPr>
          <p:cNvPr id="11" name="Shape 9"/>
          <p:cNvSpPr/>
          <p:nvPr/>
        </p:nvSpPr>
        <p:spPr>
          <a:xfrm>
            <a:off x="713232" y="2139696"/>
            <a:ext cx="100584" cy="100584"/>
          </a:xfrm>
          <a:prstGeom prst="ellipse">
            <a:avLst/>
          </a:prstGeom>
          <a:solidFill>
            <a:srgbClr val="087F8C"/>
          </a:solidFill>
          <a:ln w="12700">
            <a:solidFill>
              <a:srgbClr val="087F8C">
                <a:alpha val="0"/>
              </a:srgbClr>
            </a:solidFill>
            <a:prstDash val="solid"/>
          </a:ln>
        </p:spPr>
      </p:sp>
      <p:sp>
        <p:nvSpPr>
          <p:cNvPr id="12" name="Text 10"/>
          <p:cNvSpPr/>
          <p:nvPr/>
        </p:nvSpPr>
        <p:spPr>
          <a:xfrm>
            <a:off x="969264" y="2029968"/>
            <a:ext cx="6327648" cy="566928"/>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Given a signal mismatch, identify the first test point and one likely cause.</a:t>
            </a:r>
            <a:endParaRPr lang="en-US" sz="1650" dirty="0"/>
          </a:p>
        </p:txBody>
      </p:sp>
      <p:sp>
        <p:nvSpPr>
          <p:cNvPr id="13" name="Shape 11"/>
          <p:cNvSpPr/>
          <p:nvPr/>
        </p:nvSpPr>
        <p:spPr>
          <a:xfrm>
            <a:off x="713232" y="2816352"/>
            <a:ext cx="100584" cy="100584"/>
          </a:xfrm>
          <a:prstGeom prst="ellipse">
            <a:avLst/>
          </a:prstGeom>
          <a:solidFill>
            <a:srgbClr val="087F8C"/>
          </a:solidFill>
          <a:ln w="12700">
            <a:solidFill>
              <a:srgbClr val="087F8C">
                <a:alpha val="0"/>
              </a:srgbClr>
            </a:solidFill>
            <a:prstDash val="solid"/>
          </a:ln>
        </p:spPr>
      </p:sp>
      <p:sp>
        <p:nvSpPr>
          <p:cNvPr id="14" name="Text 12"/>
          <p:cNvSpPr/>
          <p:nvPr/>
        </p:nvSpPr>
        <p:spPr>
          <a:xfrm>
            <a:off x="969264" y="2706624"/>
            <a:ext cx="6327648" cy="329184"/>
          </a:xfrm>
          <a:prstGeom prst="rect">
            <a:avLst/>
          </a:prstGeom>
          <a:noFill/>
          <a:ln/>
        </p:spPr>
        <p:txBody>
          <a:bodyPr wrap="square" lIns="0" tIns="0" rIns="0" bIns="0" rtlCol="0" anchor="t">
            <a:normAutofit/>
          </a:bodyPr>
          <a:lstStyle/>
          <a:p>
            <a:pPr indent="0" marL="0">
              <a:buNone/>
            </a:pPr>
            <a:r>
              <a:rPr lang="en-US" sz="1650" dirty="0">
                <a:solidFill>
                  <a:srgbClr val="334B5C"/>
                </a:solidFill>
                <a:latin typeface="Aptos" pitchFamily="34" charset="0"/>
                <a:ea typeface="Aptos" pitchFamily="34" charset="-122"/>
                <a:cs typeface="Aptos" pitchFamily="34" charset="-120"/>
              </a:rPr>
              <a:t>State one filter benefit and one possible downside.</a:t>
            </a:r>
            <a:endParaRPr lang="en-US" sz="1650" dirty="0"/>
          </a:p>
        </p:txBody>
      </p:sp>
      <p:sp>
        <p:nvSpPr>
          <p:cNvPr id="15" name="Shape 13"/>
          <p:cNvSpPr/>
          <p:nvPr/>
        </p:nvSpPr>
        <p:spPr>
          <a:xfrm>
            <a:off x="7644384" y="1746504"/>
            <a:ext cx="3941064" cy="4352544"/>
          </a:xfrm>
          <a:prstGeom prst="rect">
            <a:avLst/>
          </a:prstGeom>
          <a:solidFill>
            <a:srgbClr val="E8EFF3"/>
          </a:solidFill>
          <a:ln w="15240">
            <a:solidFill>
              <a:srgbClr val="C8D5DE"/>
            </a:solidFill>
            <a:prstDash val="solid"/>
          </a:ln>
        </p:spPr>
      </p:sp>
      <p:sp>
        <p:nvSpPr>
          <p:cNvPr id="16" name="Text 14"/>
          <p:cNvSpPr/>
          <p:nvPr/>
        </p:nvSpPr>
        <p:spPr>
          <a:xfrm>
            <a:off x="7845552" y="1911096"/>
            <a:ext cx="3538728" cy="246888"/>
          </a:xfrm>
          <a:prstGeom prst="rect">
            <a:avLst/>
          </a:prstGeom>
          <a:noFill/>
          <a:ln/>
        </p:spPr>
        <p:txBody>
          <a:bodyPr wrap="square" lIns="0" tIns="0" rIns="0" bIns="0" rtlCol="0" anchor="ctr"/>
          <a:lstStyle/>
          <a:p>
            <a:pPr indent="0" marL="0">
              <a:buNone/>
            </a:pPr>
            <a:r>
              <a:rPr lang="en-US" sz="900" b="1" spc="80" kern="0" dirty="0">
                <a:solidFill>
                  <a:srgbClr val="087F8C"/>
                </a:solidFill>
                <a:latin typeface="Aptos" pitchFamily="34" charset="0"/>
                <a:ea typeface="Aptos" pitchFamily="34" charset="-122"/>
                <a:cs typeface="Aptos" pitchFamily="34" charset="-120"/>
              </a:rPr>
              <a:t>IMAGE PLACEHOLDER</a:t>
            </a:r>
            <a:endParaRPr lang="en-US" sz="900" dirty="0"/>
          </a:p>
        </p:txBody>
      </p:sp>
      <p:sp>
        <p:nvSpPr>
          <p:cNvPr id="17" name="Text 15"/>
          <p:cNvSpPr/>
          <p:nvPr/>
        </p:nvSpPr>
        <p:spPr>
          <a:xfrm>
            <a:off x="7900416" y="3072384"/>
            <a:ext cx="3429000" cy="347472"/>
          </a:xfrm>
          <a:prstGeom prst="rect">
            <a:avLst/>
          </a:prstGeom>
          <a:noFill/>
          <a:ln/>
        </p:spPr>
        <p:txBody>
          <a:bodyPr wrap="square" lIns="0" tIns="0" rIns="0" bIns="0" rtlCol="0" anchor="ctr"/>
          <a:lstStyle/>
          <a:p>
            <a:pPr algn="ctr" indent="0" marL="0">
              <a:buNone/>
            </a:pPr>
            <a:r>
              <a:rPr lang="en-US" sz="1700" b="1" dirty="0">
                <a:solidFill>
                  <a:srgbClr val="7A8F9D"/>
                </a:solidFill>
                <a:latin typeface="Aptos Display" pitchFamily="34" charset="0"/>
                <a:ea typeface="Aptos Display" pitchFamily="34" charset="-122"/>
                <a:cs typeface="Aptos Display" pitchFamily="34" charset="-120"/>
              </a:rPr>
              <a:t>ADD PHOTO OR DIAGRAM</a:t>
            </a:r>
            <a:endParaRPr lang="en-US" sz="1700" dirty="0"/>
          </a:p>
        </p:txBody>
      </p:sp>
      <p:sp>
        <p:nvSpPr>
          <p:cNvPr id="18" name="Text 16"/>
          <p:cNvSpPr/>
          <p:nvPr/>
        </p:nvSpPr>
        <p:spPr>
          <a:xfrm>
            <a:off x="7900416" y="3465576"/>
            <a:ext cx="3429000" cy="301752"/>
          </a:xfrm>
          <a:prstGeom prst="rect">
            <a:avLst/>
          </a:prstGeom>
          <a:noFill/>
          <a:ln/>
        </p:spPr>
        <p:txBody>
          <a:bodyPr wrap="square" lIns="0" tIns="0" rIns="0" bIns="0" rtlCol="0" anchor="ctr"/>
          <a:lstStyle/>
          <a:p>
            <a:pPr algn="ctr" indent="0" marL="0">
              <a:buNone/>
            </a:pPr>
            <a:r>
              <a:rPr lang="en-US" sz="1150" dirty="0">
                <a:solidFill>
                  <a:srgbClr val="607585"/>
                </a:solidFill>
                <a:latin typeface="Aptos" pitchFamily="34" charset="0"/>
                <a:ea typeface="Aptos" pitchFamily="34" charset="-122"/>
                <a:cs typeface="Aptos" pitchFamily="34" charset="-120"/>
              </a:rPr>
              <a:t>Leave this area open for the final visual</a:t>
            </a:r>
            <a:endParaRPr lang="en-US" sz="1150" dirty="0"/>
          </a:p>
        </p:txBody>
      </p:sp>
      <p:sp>
        <p:nvSpPr>
          <p:cNvPr id="19" name="Shape 17"/>
          <p:cNvSpPr/>
          <p:nvPr/>
        </p:nvSpPr>
        <p:spPr>
          <a:xfrm>
            <a:off x="7845552" y="5111496"/>
            <a:ext cx="3538728" cy="0"/>
          </a:xfrm>
          <a:prstGeom prst="line">
            <a:avLst/>
          </a:prstGeom>
          <a:noFill/>
          <a:ln w="12700">
            <a:solidFill>
              <a:srgbClr val="C8D5DE"/>
            </a:solidFill>
            <a:prstDash val="solid"/>
          </a:ln>
        </p:spPr>
      </p:sp>
      <p:sp>
        <p:nvSpPr>
          <p:cNvPr id="20" name="Text 18"/>
          <p:cNvSpPr/>
          <p:nvPr/>
        </p:nvSpPr>
        <p:spPr>
          <a:xfrm>
            <a:off x="7845552" y="5239512"/>
            <a:ext cx="3538728" cy="384048"/>
          </a:xfrm>
          <a:prstGeom prst="rect">
            <a:avLst/>
          </a:prstGeom>
          <a:noFill/>
          <a:ln/>
        </p:spPr>
        <p:txBody>
          <a:bodyPr wrap="square" lIns="0" tIns="0" rIns="0" bIns="0" rtlCol="0" anchor="ctr"/>
          <a:lstStyle/>
          <a:p>
            <a:pPr indent="0" marL="0">
              <a:buNone/>
            </a:pPr>
            <a:r>
              <a:rPr lang="en-US" sz="1050" b="1" dirty="0">
                <a:solidFill>
                  <a:srgbClr val="1B3448"/>
                </a:solidFill>
                <a:latin typeface="Aptos" pitchFamily="34" charset="0"/>
                <a:ea typeface="Aptos" pitchFamily="34" charset="-122"/>
                <a:cs typeface="Aptos" pitchFamily="34" charset="-120"/>
              </a:rPr>
              <a:t>VISUAL BRIEF  /  Exit ticket: diagnose the first boundary</a:t>
            </a:r>
            <a:endParaRPr lang="en-US" sz="1050" dirty="0"/>
          </a:p>
        </p:txBody>
      </p:sp>
      <p:sp>
        <p:nvSpPr>
          <p:cNvPr id="21" name="Text 19"/>
          <p:cNvSpPr/>
          <p:nvPr/>
        </p:nvSpPr>
        <p:spPr>
          <a:xfrm>
            <a:off x="7845552" y="5650992"/>
            <a:ext cx="3538728" cy="265176"/>
          </a:xfrm>
          <a:prstGeom prst="rect">
            <a:avLst/>
          </a:prstGeom>
          <a:noFill/>
          <a:ln/>
        </p:spPr>
        <p:txBody>
          <a:bodyPr wrap="square" lIns="0" tIns="0" rIns="0" bIns="0" rtlCol="0" anchor="ctr"/>
          <a:lstStyle/>
          <a:p>
            <a:pPr indent="0" marL="0">
              <a:buNone/>
            </a:pPr>
            <a:r>
              <a:rPr lang="en-US" sz="900" dirty="0">
                <a:solidFill>
                  <a:srgbClr val="607585"/>
                </a:solidFill>
                <a:latin typeface="Aptos" pitchFamily="34" charset="0"/>
                <a:ea typeface="Aptos" pitchFamily="34" charset="-122"/>
                <a:cs typeface="Aptos" pitchFamily="34" charset="-120"/>
              </a:rPr>
              <a:t>Full image-generation prompt is in this slide's speaker notes.</a:t>
            </a:r>
            <a:endParaRPr lang="en-US" sz="900" dirty="0"/>
          </a:p>
        </p:txBody>
      </p:sp>
      <p:sp>
        <p:nvSpPr>
          <p:cNvPr id="22" name="Shape 20"/>
          <p:cNvSpPr/>
          <p:nvPr/>
        </p:nvSpPr>
        <p:spPr>
          <a:xfrm>
            <a:off x="603504" y="6318504"/>
            <a:ext cx="10972800" cy="0"/>
          </a:xfrm>
          <a:prstGeom prst="line">
            <a:avLst/>
          </a:prstGeom>
          <a:noFill/>
          <a:ln w="10160">
            <a:solidFill>
              <a:srgbClr val="D5E0E7"/>
            </a:solidFill>
            <a:prstDash val="solid"/>
          </a:ln>
        </p:spPr>
      </p:sp>
      <p:sp>
        <p:nvSpPr>
          <p:cNvPr id="23" name="Text 2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SIGNAL PROCESSING AND SIGNAL INTEGRITY</a:t>
            </a:r>
            <a:endParaRPr lang="en-US" sz="800" dirty="0"/>
          </a:p>
        </p:txBody>
      </p:sp>
      <p:sp>
        <p:nvSpPr>
          <p:cNvPr id="24" name="Text 2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05: Signal Processing and Signal Integrity</dc:title>
  <dc:subject>LO2 weekly teaching presentation</dc:subject>
  <dc:creator>Unit 5009 Teaching Materials</dc:creator>
  <cp:lastModifiedBy>Unit 5009 Teaching Materials</cp:lastModifiedBy>
  <cp:revision>1</cp:revision>
  <dcterms:created xsi:type="dcterms:W3CDTF">2026-10-13T19:12:29Z</dcterms:created>
  <dcterms:modified xsi:type="dcterms:W3CDTF">2026-10-13T19:12:29Z</dcterms:modified>
</cp:coreProperties>
</file>