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Networked Buses and HMI/SCADA Integration | Week 07 | LO2
Slide 1 of 18 | Suggested time: 5 minutes | Criteria: P4 / M2
TEACHING NOTES AND ACTIVITY CUES
1. Learners label one physical link, one protocol, one endpoint, and one data value from their Week 6 diagram.
IMAGE PROMPT
Create an original, technically plausible landscape visual for a vocational engineering presentation about Rebuild last week's connection. Show: Learners label one physical link, one protocol, one endpoint, and one data value from their Week 6 diagram..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Networked Buses and HMI/SCADA Integration | Week 07 | LO2
Slide 2 of 18 | Suggested time: 5 minutes | Criteria: P4 / M2
TEACHING NOTES AND ACTIVITY CUES
1. Add a second station and maintenance workstation to MedPack; ask how wiring, diagnosis, and data access change.
IMAGE PROMPT
Create an original, technically plausible landscape visual for a vocational engineering presentation about Packaging line expansion scenario. Show: Add a second station and maintenance workstation to MedPack; ask how wiring, diagnosis, and data access change..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Networked Buses and HMI/SCADA Integration | Week 07 | LO2
Slide 3 of 18 | Suggested time: 5 minutes | Criteria: P4 / M2
TEACHING NOTES AND ACTIVITY CUES
1. P4 requires a contextual review of bus advantages; M2 requires showing integration, not merely defining HMI and SCADA.
IMAGE PROMPT
Create an original, technically plausible landscape visual for a vocational engineering presentation about P4/M2 outcomes. Show: P4 requires a contextual review of bus advantages; M2 requires showing integration, not merely defining HMI and SCADA..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Networked Buses and HMI/SCADA Integration | Week 07 | LO2
Slide 4 of 18 | Suggested time: 12 minutes | Criteria: P4 / M2
TEACHING NOTES AND ACTIVITY CUES
1. Compare central PLC wiring with remote I/O or bus-connected devices.
2. Identify PLC, network, remote-I/O coupler, device, power, and engineering diagnostics.
IMAGE PROMPT
Create an original, technically plausible landscape visual for a vocational engineering presentation about Point-to-point wiring versus networked I/O. Show: Compare central PLC wiring with remote I/O or bus-connected devices. Identify PLC, network, remote-I/O coupler, device, power, and engineering diagnostics..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Networked Buses and HMI/SCADA Integration | Week 07 | LO2
Slide 5 of 18 | Suggested time: 13 minutes | Criteria: P4 / M2
TEACHING NOTES AND ACTIVITY CUES
1. Review line, star, ring, and bus arrangements and the role of switches, termination, addressing, and redundancy where supported.
2. Discuss cable distance, EMC, segmentation, power supply, and configuration management.
IMAGE PROMPT
Create an original, technically plausible landscape visual for a vocational engineering presentation about Network topology and system boundaries. Show: Review line, star, ring, and bus arrangements and the role of switches, termination, addressing, and redundancy where supported. Discuss cable distance, EMC, segmentation, power supply, and configuration management..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Networked Buses and HMI/SCADA Integration | Week 07 | LO2
Slide 6 of 18 | Suggested time: 12 minutes | Criteria: P4 / M2
TEACHING NOTES AND ACTIVITY CUES
1. Explain how remote I/O places channels nearer field devices and sends data to the PLC over a supported network.
2. Consider update time, module diagnostics, channel configuration, node loss, and local/remote fault isolation.
IMAGE PROMPT
Create an original, technically plausible landscape visual for a vocational engineering presentation about Distributed I/O architecture. Show: Explain how remote I/O places channels nearer field devices and sends data to the PLC over a supported network. Consider update time, module diagnostics, channel configuration, node loss, and local/remote fault isolation..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Networked Buses and HMI/SCADA Integration | Week 07 | LO2
Slide 7 of 18 | Suggested time: 13 minutes | Criteria: P4 / M2
TEACHING NOTES AND ACTIVITY CUES
1. Teams map PLC, local I/O, remote I/O, pill sensor, actuator interface, HMI, SCADA workstation, and engineering access.
2. Label each link and protocol; show the safety boundary and identify local control dependencies.
IMAGE PROMPT
Create an original, technically plausible landscape visual for a vocational engineering presentation about Draw a MedPack bus architecture. Show: Teams map PLC, local I/O, remote I/O, pill sensor, actuator interface, HMI, SCADA workstation, and engineering access. Label each link and protocol; show the safety boundary and identify local control dependencies..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Networked Buses and HMI/SCADA Integration | Week 07 | LO2
Slide 8 of 18 | Suggested time: 10 minutes | Criteria: P4 / M2
TEACHING NOTES AND ACTIVITY CUES
1. Explain reduced point-to-point wiring, easier expansion, modularity, distributed I/O, device diagnostics, maintenance visibility, and data availability.
2. Tie every advantage to line installation, downtime, or maintenance in the scenario.
IMAGE PROMPT
Create an original, technically plausible landscape visual for a vocational engineering presentation about Review bus-system advantages. Show: Explain reduced point-to-point wiring, easier expansion, modularity, distributed I/O, device diagnostics, maintenance visibility, and data availability. Tie every advantage to line installation, downtime, or maintenance in the scenario..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Networked Buses and HMI/SCADA Integration | Week 07 | LO2
Slide 9 of 18 | Suggested time: 15 minutes | Criteria: P4 / M2
TEACHING NOTES AND ACTIVITY CUES
1. Evaluate network hardware cost, configuration skill, interoperability, vendor dependence, cyber exposure, shared failure domains, latency/update limits, and recovery planning.
2. Ask when a hardwired design may remain preferable.
IMAGE PROMPT
Create an original, technically plausible landscape visual for a vocational engineering presentation about Review constraints and failure modes. Show: Evaluate network hardware cost, configuration skill, interoperability, vendor dependence, cyber exposure, shared failure domains, latency/update limits, and recovery planning. Ask when a hardwired design may remain preferable..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Networked Buses and HMI/SCADA Integration | Week 07 | LO2
Slide 10 of 18 | Suggested time: 10 minutes | Criteria: P4 / M2
TEACHING NOTES AND ACTIVITY CUES
1. Teams make two claims about bus-system value and support each with a MedPack consequence and a counterpoint.
2. Reject generic claims such as "less wiring is always cheaper" unless installed cost is demonstrated.
IMAGE PROMPT
Create an original, technically plausible landscape visual for a vocational engineering presentation about P4 claim-evidence-consequence activity. Show: Teams make two claims about bus-system value and support each with a MedPack consequence and a counterpoint. Reject generic claims such as "less wiring is always cheaper" unless installed cost is demonstrated..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Networked Buses and HMI/SCADA Integration | Week 07 | LO2
Slide 11 of 18 | Suggested time: 10 minutes | Criteria: P4 / M2
TEACHING NOTES AND ACTIVITY CUES
1. HMI: local operator status, commands, alarms, and process navigation.
2. SCADA: supervisory acquisition, alarm/event management, trends, historian, and multiple assets; products can combine roles.
3. Explain that role and system scale matter more than product label.
IMAGE PROMPT
Create an original, technically plausible landscape visual for a vocational engineering presentation about HMI and SCADA roles. Show: HMI: local operator status, commands, alarms, and process navigation. SCADA: supervisory acquisition, alarm/event management, trends, historian, and multiple assets; products can combine roles..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Networked Buses and HMI/SCADA Integration | Week 07 | LO2
Slide 12 of 18 | Suggested time: 15 minutes | Criteria: P4 / M2
TEACHING NOTES AND ACTIVITY CUES
1. Draw field devices -&gt; PLC local control -&gt; industrial network -&gt; HMI/SCADA services/client -&gt; history/reporting.
2. Mark protocols, data direction, network boundaries, ownership of logic, and failure behaviour.
3. Keep essential sequencing and safety functions independent of supervisory availability.
IMAGE PROMPT
Create an original, technically plausible landscape visual for a vocational engineering presentation about PLC-HMI-SCADA architecture. Show: Draw field devices -&gt; PLC local control -&gt; industrial network -&gt; HMI/SCADA services/client -&gt; history/reporting. Mark protocols, data direction, network boundaries, ownership of logic, and failure behaviour..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Networked Buses and HMI/SCADA Integration | Week 07 | LO2
Slide 13 of 18 | Suggested time: 10 minutes | Criteria: P4 / M2
TEACHING NOTES AND ACTIVITY CUES
1. Read-only examples: RunState, PillCount, TargetCount, FaultCode, ActuatorStatus, EStopStatusReadOnly.
2. Requested commands: StartRequest and ResetRequest; PLC validates permissives and process state.
3. Include tag type, units, address/name, update rate, alarm/quality handling, and read/write permission.
IMAGE PROMPT
Create an original, technically plausible landscape visual for a vocational engineering presentation about MedPack tag list and access rights. Show: Read-only examples: RunState, PillCount, TargetCount, FaultCode, ActuatorStatus, EStopStatusReadOnly. Requested commands: StartRequest and ResetRequest; PLC validates permissives and process state..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Networked Buses and HMI/SCADA Integration | Week 07 | LO2
Slide 14 of 18 | Suggested time: 10 minutes | Criteria: P4 / M2
TEACHING NOTES AND ACTIVITY CUES
1. Explain stale/unknown quality, scaling, address offsets, data type, units, alarm acknowledgement, and clear status indication.
2. Dashboard must distinguish disconnected/stale data from a valid zero.
3. Avoid using an HMI control as an E-stop or safety reset path.
IMAGE PROMPT
Create an original, technically plausible landscape visual for a vocational engineering presentation about Data-quality and operator-display rules. Show: Explain stale/unknown quality, scaling, address offsets, data type, units, alarm acknowledgement, and clear status indication. Dashboard must distinguish disconnected/stale data from a valid zero..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Networked Buses and HMI/SCADA Integration | Week 07 | LO2
Slide 15 of 18 | Suggested time: 20 minutes | Criteria: P4 / M2
TEACHING NOTES AND ACTIVITY CUES
1. If available, use Node-RED/Modbus TCP or the actual supported protocol to read a verified PLC tag and display state/count.
2. Demonstrate endpoint, protocol, address, data type, scaling, polling/update, and bad-connection indication.
3. If hardware is unavailable, use a fully labelled architecture, tag mapping, and example data flow.
4. The local guide's example addresses are illustrative; verify the live PLC map and zero/one-based convention.
IMAGE PROMPT
Create an original, technically plausible landscape visual for a vocational engineering presentation about PLC-to-dashboard demonstration. Show: If available, use Node-RED/Modbus TCP or the actual supported protocol to read a verified PLC tag and display state/count. Demonstrate endpoint, protocol, address, data type, scaling, polling/update, and bad-connection indication..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Networked Buses and HMI/SCADA Integration | Week 07 | LO2
Slide 16 of 18 | Suggested time: 20 minutes | Criteria: P4 / M2
TEACHING NOTES AND ACTIVITY CUES
1. Teams produce architecture plus tag table and explain one read value and one requested command end-to-end.
2. Peer asks where the PLC validates the command, what the screen shows during connection loss, and what evidence proves the mapping.
IMAGE PROMPT
Create an original, technically plausible landscape visual for a vocational engineering presentation about M2 integration design challenge. Show: Teams produce architecture plus tag table and explain one read value and one requested command end-to-end. Peer asks where the PLC validates the command, what the screen shows during connection loss, and what evidence proves the mapping..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Networked Buses and HMI/SCADA Integration | Week 07 | LO2
Slide 17 of 18 | Suggested time: 7 minutes | Criteria: P4 / M2
TEACHING NOTES AND ACTIVITY CUES
1. P4: explain reduced wiring, expansion, diagnostics, modularity/distributed I/O, and monitoring data with station-specific consequences and trade-offs.
2. M2: show protocol, architecture, named tags, and data flow through working evidence or clear equivalent documentation.
IMAGE PROMPT
Create an original, technically plausible landscape visual for a vocational engineering presentation about Criteria evidence review. Show: P4: explain reduced wiring, expansion, diagnostics, modularity/distributed I/O, and monitoring data with station-specific consequences and trade-offs. M2: show protocol, architecture, named tags, and data flow through working evidence or clear equivalent documentation..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Networked Buses and HMI/SCADA Integration | Week 07 | LO2
Slide 18 of 18 | Suggested time: 8 minutes | Criteria: P4 / M2
TEACHING NOTES AND ACTIVITY CUES
1. State one justified bus advantage and one limitation; name the artifact that proves PLC-HMI/SCADA integration.
IMAGE PROMPT
Create an original, technically plausible landscape visual for a vocational engineering presentation about Exit ticket: one bus benefit, one integration proof. Show: State one justified bus advantage and one limitation; name the artifact that proves PLC-HMI/SCADA integration..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07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P4 / M2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Rebuild last week's connection</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Learners label one physical link, one protocol, one endpoint, and one data value from their Week 6 diagram.</a:t>
            </a:r>
            <a:endParaRPr lang="en-US" sz="1650" dirty="0"/>
          </a:p>
        </p:txBody>
      </p:sp>
      <p:sp>
        <p:nvSpPr>
          <p:cNvPr id="13" name="Shape 11"/>
          <p:cNvSpPr/>
          <p:nvPr/>
        </p:nvSpPr>
        <p:spPr>
          <a:xfrm>
            <a:off x="7644384" y="1746504"/>
            <a:ext cx="3941064" cy="4352544"/>
          </a:xfrm>
          <a:prstGeom prst="rect">
            <a:avLst/>
          </a:prstGeom>
          <a:solidFill>
            <a:srgbClr val="E8EFF3"/>
          </a:solidFill>
          <a:ln w="15240">
            <a:solidFill>
              <a:srgbClr val="C8D5DE"/>
            </a:solidFill>
            <a:prstDash val="solid"/>
          </a:ln>
        </p:spPr>
      </p:sp>
      <p:sp>
        <p:nvSpPr>
          <p:cNvPr id="14" name="Text 12"/>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5" name="Text 13"/>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6" name="Text 14"/>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7" name="Shape 15"/>
          <p:cNvSpPr/>
          <p:nvPr/>
        </p:nvSpPr>
        <p:spPr>
          <a:xfrm>
            <a:off x="7845552" y="5111496"/>
            <a:ext cx="3538728" cy="0"/>
          </a:xfrm>
          <a:prstGeom prst="line">
            <a:avLst/>
          </a:prstGeom>
          <a:noFill/>
          <a:ln w="12700">
            <a:solidFill>
              <a:srgbClr val="C8D5DE"/>
            </a:solidFill>
            <a:prstDash val="solid"/>
          </a:ln>
        </p:spPr>
      </p:sp>
      <p:sp>
        <p:nvSpPr>
          <p:cNvPr id="18" name="Text 16"/>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Rebuild last week's connection</a:t>
            </a:r>
            <a:endParaRPr lang="en-US" sz="1050" dirty="0"/>
          </a:p>
        </p:txBody>
      </p:sp>
      <p:sp>
        <p:nvSpPr>
          <p:cNvPr id="19" name="Text 17"/>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0" name="Shape 18"/>
          <p:cNvSpPr/>
          <p:nvPr/>
        </p:nvSpPr>
        <p:spPr>
          <a:xfrm>
            <a:off x="603504" y="6318504"/>
            <a:ext cx="10972800" cy="0"/>
          </a:xfrm>
          <a:prstGeom prst="line">
            <a:avLst/>
          </a:prstGeom>
          <a:noFill/>
          <a:ln w="10160">
            <a:solidFill>
              <a:srgbClr val="D5E0E7"/>
            </a:solidFill>
            <a:prstDash val="solid"/>
          </a:ln>
        </p:spPr>
      </p:sp>
      <p:sp>
        <p:nvSpPr>
          <p:cNvPr id="21" name="Text 19"/>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NETWORKED BUSES AND HMI/SCADA INTEGRATION</a:t>
            </a:r>
            <a:endParaRPr lang="en-US" sz="800" dirty="0"/>
          </a:p>
        </p:txBody>
      </p:sp>
      <p:sp>
        <p:nvSpPr>
          <p:cNvPr id="22" name="Text 20"/>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01 / 18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07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P4 / M2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Packaging line expansion scenario</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Add a second station and maintenance workstation to MedPack; ask how wiring, diagnosis, and data access change.</a:t>
            </a:r>
            <a:endParaRPr lang="en-US" sz="1650" dirty="0"/>
          </a:p>
        </p:txBody>
      </p:sp>
      <p:sp>
        <p:nvSpPr>
          <p:cNvPr id="13" name="Shape 11"/>
          <p:cNvSpPr/>
          <p:nvPr/>
        </p:nvSpPr>
        <p:spPr>
          <a:xfrm>
            <a:off x="7644384" y="1746504"/>
            <a:ext cx="3941064" cy="4352544"/>
          </a:xfrm>
          <a:prstGeom prst="rect">
            <a:avLst/>
          </a:prstGeom>
          <a:solidFill>
            <a:srgbClr val="E8EFF3"/>
          </a:solidFill>
          <a:ln w="15240">
            <a:solidFill>
              <a:srgbClr val="C8D5DE"/>
            </a:solidFill>
            <a:prstDash val="solid"/>
          </a:ln>
        </p:spPr>
      </p:sp>
      <p:sp>
        <p:nvSpPr>
          <p:cNvPr id="14" name="Text 12"/>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5" name="Text 13"/>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6" name="Text 14"/>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7" name="Shape 15"/>
          <p:cNvSpPr/>
          <p:nvPr/>
        </p:nvSpPr>
        <p:spPr>
          <a:xfrm>
            <a:off x="7845552" y="5111496"/>
            <a:ext cx="3538728" cy="0"/>
          </a:xfrm>
          <a:prstGeom prst="line">
            <a:avLst/>
          </a:prstGeom>
          <a:noFill/>
          <a:ln w="12700">
            <a:solidFill>
              <a:srgbClr val="C8D5DE"/>
            </a:solidFill>
            <a:prstDash val="solid"/>
          </a:ln>
        </p:spPr>
      </p:sp>
      <p:sp>
        <p:nvSpPr>
          <p:cNvPr id="18" name="Text 16"/>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Packaging line expansion scenario</a:t>
            </a:r>
            <a:endParaRPr lang="en-US" sz="1050" dirty="0"/>
          </a:p>
        </p:txBody>
      </p:sp>
      <p:sp>
        <p:nvSpPr>
          <p:cNvPr id="19" name="Text 17"/>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0" name="Shape 18"/>
          <p:cNvSpPr/>
          <p:nvPr/>
        </p:nvSpPr>
        <p:spPr>
          <a:xfrm>
            <a:off x="603504" y="6318504"/>
            <a:ext cx="10972800" cy="0"/>
          </a:xfrm>
          <a:prstGeom prst="line">
            <a:avLst/>
          </a:prstGeom>
          <a:noFill/>
          <a:ln w="10160">
            <a:solidFill>
              <a:srgbClr val="D5E0E7"/>
            </a:solidFill>
            <a:prstDash val="solid"/>
          </a:ln>
        </p:spPr>
      </p:sp>
      <p:sp>
        <p:nvSpPr>
          <p:cNvPr id="21" name="Text 19"/>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NETWORKED BUSES AND HMI/SCADA INTEGRATION</a:t>
            </a:r>
            <a:endParaRPr lang="en-US" sz="800" dirty="0"/>
          </a:p>
        </p:txBody>
      </p:sp>
      <p:sp>
        <p:nvSpPr>
          <p:cNvPr id="22" name="Text 20"/>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07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P4 / M2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P4/M2 outcomes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P4 requires a contextual review of bus advantages; M2 requires showing integration, not merely defining HMI and SCADA.</a:t>
            </a:r>
            <a:endParaRPr lang="en-US" sz="1650" dirty="0"/>
          </a:p>
        </p:txBody>
      </p:sp>
      <p:sp>
        <p:nvSpPr>
          <p:cNvPr id="13" name="Shape 11"/>
          <p:cNvSpPr/>
          <p:nvPr/>
        </p:nvSpPr>
        <p:spPr>
          <a:xfrm>
            <a:off x="7644384" y="1746504"/>
            <a:ext cx="3941064" cy="4352544"/>
          </a:xfrm>
          <a:prstGeom prst="rect">
            <a:avLst/>
          </a:prstGeom>
          <a:solidFill>
            <a:srgbClr val="E8EFF3"/>
          </a:solidFill>
          <a:ln w="15240">
            <a:solidFill>
              <a:srgbClr val="C8D5DE"/>
            </a:solidFill>
            <a:prstDash val="solid"/>
          </a:ln>
        </p:spPr>
      </p:sp>
      <p:sp>
        <p:nvSpPr>
          <p:cNvPr id="14" name="Text 12"/>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5" name="Text 13"/>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6" name="Text 14"/>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7" name="Shape 15"/>
          <p:cNvSpPr/>
          <p:nvPr/>
        </p:nvSpPr>
        <p:spPr>
          <a:xfrm>
            <a:off x="7845552" y="5111496"/>
            <a:ext cx="3538728" cy="0"/>
          </a:xfrm>
          <a:prstGeom prst="line">
            <a:avLst/>
          </a:prstGeom>
          <a:noFill/>
          <a:ln w="12700">
            <a:solidFill>
              <a:srgbClr val="C8D5DE"/>
            </a:solidFill>
            <a:prstDash val="solid"/>
          </a:ln>
        </p:spPr>
      </p:sp>
      <p:sp>
        <p:nvSpPr>
          <p:cNvPr id="18" name="Text 16"/>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P4/M2 outcomes</a:t>
            </a:r>
            <a:endParaRPr lang="en-US" sz="1050" dirty="0"/>
          </a:p>
        </p:txBody>
      </p:sp>
      <p:sp>
        <p:nvSpPr>
          <p:cNvPr id="19" name="Text 17"/>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0" name="Shape 18"/>
          <p:cNvSpPr/>
          <p:nvPr/>
        </p:nvSpPr>
        <p:spPr>
          <a:xfrm>
            <a:off x="603504" y="6318504"/>
            <a:ext cx="10972800" cy="0"/>
          </a:xfrm>
          <a:prstGeom prst="line">
            <a:avLst/>
          </a:prstGeom>
          <a:noFill/>
          <a:ln w="10160">
            <a:solidFill>
              <a:srgbClr val="D5E0E7"/>
            </a:solidFill>
            <a:prstDash val="solid"/>
          </a:ln>
        </p:spPr>
      </p:sp>
      <p:sp>
        <p:nvSpPr>
          <p:cNvPr id="21" name="Text 19"/>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NETWORKED BUSES AND HMI/SCADA INTEGRATION</a:t>
            </a:r>
            <a:endParaRPr lang="en-US" sz="800" dirty="0"/>
          </a:p>
        </p:txBody>
      </p:sp>
      <p:sp>
        <p:nvSpPr>
          <p:cNvPr id="22" name="Text 20"/>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07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12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P4 / M2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Point-to-point wiring versus networked I/O</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Compare central PLC wiring with remote I/O or bus-connected devices.</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Identify PLC, network, remote-I/O coupler, device, power, and engineering diagnostics.</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Point-to-point wiring versus networked I/O</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NETWORKED BUSES AND HMI/SCADA INTEGRATION</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07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13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P4 / M2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Network topology and system boundaries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Review line, star, ring, and bus arrangements and the role of switches, termination, addressing, and redundancy where supported.</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Discuss cable distance, EMC, segmentation, power supply, and configuration management.</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Network topology and system boundaries</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NETWORKED BUSES AND HMI/SCADA INTEGRATION</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07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12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P4 / M2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Distributed I/O architecture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Explain how remote I/O places channels nearer field devices and sends data to the PLC over a supported network.</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Consider update time, module diagnostics, channel configuration, node loss, and local/remote fault isolation.</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Distributed I/O architecture</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NETWORKED BUSES AND HMI/SCADA INTEGRATION</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07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13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P4 / M2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Draw a MedPack bus architecture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Teams map PLC, local I/O, remote I/O, pill sensor, actuator interface, HMI, SCADA workstation, and engineering access.</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Label each link and protocol; show the safety boundary and identify local control dependencies.</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Draw a MedPack bus architecture</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NETWORKED BUSES AND HMI/SCADA INTEGRATION</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07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P4 / M2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Review bus-system advantages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Explain reduced point-to-point wiring, easier expansion, modularity, distributed I/O, device diagnostics, maintenance visibility, and data availability.</a:t>
            </a:r>
            <a:endParaRPr lang="en-US" sz="1650" dirty="0"/>
          </a:p>
        </p:txBody>
      </p:sp>
      <p:sp>
        <p:nvSpPr>
          <p:cNvPr id="13" name="Shape 11"/>
          <p:cNvSpPr/>
          <p:nvPr/>
        </p:nvSpPr>
        <p:spPr>
          <a:xfrm>
            <a:off x="713232" y="3054096"/>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9443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Tie every advantage to line installation, downtime, or maintenance in the scenario.</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Review bus-system advantages</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NETWORKED BUSES AND HMI/SCADA INTEGRATION</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07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P4 / M2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Review constraints and failure modes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Evaluate network hardware cost, configuration skill, interoperability, vendor dependence, cyber exposure, shared failure domains, latency/update limits, and recovery planning.</a:t>
            </a:r>
            <a:endParaRPr lang="en-US" sz="1650" dirty="0"/>
          </a:p>
        </p:txBody>
      </p:sp>
      <p:sp>
        <p:nvSpPr>
          <p:cNvPr id="13" name="Shape 11"/>
          <p:cNvSpPr/>
          <p:nvPr/>
        </p:nvSpPr>
        <p:spPr>
          <a:xfrm>
            <a:off x="713232" y="3054096"/>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944368"/>
            <a:ext cx="6327648" cy="329184"/>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Ask when a hardwired design may remain preferable.</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Review constraints and failure modes</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NETWORKED BUSES AND HMI/SCADA INTEGRATION</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07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P4 / M2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P4 claim-evidence-consequence activity</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Teams make two claims about bus-system value and support each with a MedPack consequence and a counterpoint.</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Reject generic claims such as "less wiring is always cheaper" unless installed cost is demonstrated.</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P4 claim-evidence-consequence activity</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NETWORKED BUSES AND HMI/SCADA INTEGRATION</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07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P4 / M2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HMI and SCADA roles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HMI: local operator status, commands, alarms, and process navigation.</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SCADA: supervisory acquisition, alarm/event management, trends, historian, and multiple assets; products can combine roles.</a:t>
            </a:r>
            <a:endParaRPr lang="en-US" sz="1650" dirty="0"/>
          </a:p>
        </p:txBody>
      </p:sp>
      <p:sp>
        <p:nvSpPr>
          <p:cNvPr id="15" name="Shape 13"/>
          <p:cNvSpPr/>
          <p:nvPr/>
        </p:nvSpPr>
        <p:spPr>
          <a:xfrm>
            <a:off x="713232" y="3493008"/>
            <a:ext cx="100584" cy="100584"/>
          </a:xfrm>
          <a:prstGeom prst="ellipse">
            <a:avLst/>
          </a:prstGeom>
          <a:solidFill>
            <a:srgbClr val="C58B28"/>
          </a:solidFill>
          <a:ln w="12700">
            <a:solidFill>
              <a:srgbClr val="C58B28">
                <a:alpha val="0"/>
              </a:srgbClr>
            </a:solidFill>
            <a:prstDash val="solid"/>
          </a:ln>
        </p:spPr>
      </p:sp>
      <p:sp>
        <p:nvSpPr>
          <p:cNvPr id="16" name="Text 14"/>
          <p:cNvSpPr/>
          <p:nvPr/>
        </p:nvSpPr>
        <p:spPr>
          <a:xfrm>
            <a:off x="969264" y="3383280"/>
            <a:ext cx="6327648" cy="329184"/>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Explain that role and system scale matter more than product label.</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HMI and SCADA roles</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NETWORKED BUSES AND HMI/SCADA INTEGRATION</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07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P4 / M2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PLC-HMI-SCADA architecture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Draw field devices -&gt; PLC local control -&gt; industrial network -&gt; HMI/SCADA services/client -&gt; history/reporting.</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Mark protocols, data direction, network boundaries, ownership of logic, and failure behaviour.</a:t>
            </a:r>
            <a:endParaRPr lang="en-US" sz="1650" dirty="0"/>
          </a:p>
        </p:txBody>
      </p:sp>
      <p:sp>
        <p:nvSpPr>
          <p:cNvPr id="15" name="Shape 13"/>
          <p:cNvSpPr/>
          <p:nvPr/>
        </p:nvSpPr>
        <p:spPr>
          <a:xfrm>
            <a:off x="713232" y="3493008"/>
            <a:ext cx="100584" cy="100584"/>
          </a:xfrm>
          <a:prstGeom prst="ellipse">
            <a:avLst/>
          </a:prstGeom>
          <a:solidFill>
            <a:srgbClr val="C58B28"/>
          </a:solidFill>
          <a:ln w="12700">
            <a:solidFill>
              <a:srgbClr val="C58B28">
                <a:alpha val="0"/>
              </a:srgbClr>
            </a:solidFill>
            <a:prstDash val="solid"/>
          </a:ln>
        </p:spPr>
      </p:sp>
      <p:sp>
        <p:nvSpPr>
          <p:cNvPr id="16" name="Text 14"/>
          <p:cNvSpPr/>
          <p:nvPr/>
        </p:nvSpPr>
        <p:spPr>
          <a:xfrm>
            <a:off x="969264" y="3383280"/>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Keep essential sequencing and safety functions independent of supervisory availability.</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PLC-HMI-SCADA architecture</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NETWORKED BUSES AND HMI/SCADA INTEGRATION</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07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P4 / M2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MedPack tag list and access rights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Read-only examples: RunState, PillCount, TargetCount, FaultCode, ActuatorStatus, EStopStatusReadOnly.</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Requested commands: StartRequest and ResetRequest; PLC validates permissives and process state.</a:t>
            </a:r>
            <a:endParaRPr lang="en-US" sz="1650" dirty="0"/>
          </a:p>
        </p:txBody>
      </p:sp>
      <p:sp>
        <p:nvSpPr>
          <p:cNvPr id="15" name="Shape 13"/>
          <p:cNvSpPr/>
          <p:nvPr/>
        </p:nvSpPr>
        <p:spPr>
          <a:xfrm>
            <a:off x="713232" y="3493008"/>
            <a:ext cx="100584" cy="100584"/>
          </a:xfrm>
          <a:prstGeom prst="ellipse">
            <a:avLst/>
          </a:prstGeom>
          <a:solidFill>
            <a:srgbClr val="C58B28"/>
          </a:solidFill>
          <a:ln w="12700">
            <a:solidFill>
              <a:srgbClr val="C58B28">
                <a:alpha val="0"/>
              </a:srgbClr>
            </a:solidFill>
            <a:prstDash val="solid"/>
          </a:ln>
        </p:spPr>
      </p:sp>
      <p:sp>
        <p:nvSpPr>
          <p:cNvPr id="16" name="Text 14"/>
          <p:cNvSpPr/>
          <p:nvPr/>
        </p:nvSpPr>
        <p:spPr>
          <a:xfrm>
            <a:off x="969264" y="3383280"/>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Include tag type, units, address/name, update rate, alarm/quality handling, and read/write permission.</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MedPack tag list and access rights</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NETWORKED BUSES AND HMI/SCADA INTEGRATION</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07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P4 / M2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Data-quality and operator-display rules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Explain stale/unknown quality, scaling, address offsets, data type, units, alarm acknowledgement, and clear status indication.</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Dashboard must distinguish disconnected/stale data from a valid zero.</a:t>
            </a:r>
            <a:endParaRPr lang="en-US" sz="1650" dirty="0"/>
          </a:p>
        </p:txBody>
      </p:sp>
      <p:sp>
        <p:nvSpPr>
          <p:cNvPr id="15" name="Shape 13"/>
          <p:cNvSpPr/>
          <p:nvPr/>
        </p:nvSpPr>
        <p:spPr>
          <a:xfrm>
            <a:off x="713232" y="3493008"/>
            <a:ext cx="100584" cy="100584"/>
          </a:xfrm>
          <a:prstGeom prst="ellipse">
            <a:avLst/>
          </a:prstGeom>
          <a:solidFill>
            <a:srgbClr val="C58B28"/>
          </a:solidFill>
          <a:ln w="12700">
            <a:solidFill>
              <a:srgbClr val="C58B28">
                <a:alpha val="0"/>
              </a:srgbClr>
            </a:solidFill>
            <a:prstDash val="solid"/>
          </a:ln>
        </p:spPr>
      </p:sp>
      <p:sp>
        <p:nvSpPr>
          <p:cNvPr id="16" name="Text 14"/>
          <p:cNvSpPr/>
          <p:nvPr/>
        </p:nvSpPr>
        <p:spPr>
          <a:xfrm>
            <a:off x="969264" y="3383280"/>
            <a:ext cx="6327648" cy="329184"/>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Avoid using an HMI control as an E-stop or safety reset path.</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Data-quality and operator-display rules</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NETWORKED BUSES AND HMI/SCADA INTEGRATION</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07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20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P4 / M2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PLC-to-dashboard demonstration</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If available, use Node-RED/Modbus TCP or the actual supported protocol to read a verified PLC tag and display state/count.</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Demonstrate endpoint, protocol, address, data type, scaling, polling/update, and bad-connection indication.</a:t>
            </a:r>
            <a:endParaRPr lang="en-US" sz="1650" dirty="0"/>
          </a:p>
        </p:txBody>
      </p:sp>
      <p:sp>
        <p:nvSpPr>
          <p:cNvPr id="15" name="Shape 13"/>
          <p:cNvSpPr/>
          <p:nvPr/>
        </p:nvSpPr>
        <p:spPr>
          <a:xfrm>
            <a:off x="713232" y="3493008"/>
            <a:ext cx="100584" cy="100584"/>
          </a:xfrm>
          <a:prstGeom prst="ellipse">
            <a:avLst/>
          </a:prstGeom>
          <a:solidFill>
            <a:srgbClr val="C58B28"/>
          </a:solidFill>
          <a:ln w="12700">
            <a:solidFill>
              <a:srgbClr val="C58B28">
                <a:alpha val="0"/>
              </a:srgbClr>
            </a:solidFill>
            <a:prstDash val="solid"/>
          </a:ln>
        </p:spPr>
      </p:sp>
      <p:sp>
        <p:nvSpPr>
          <p:cNvPr id="16" name="Text 14"/>
          <p:cNvSpPr/>
          <p:nvPr/>
        </p:nvSpPr>
        <p:spPr>
          <a:xfrm>
            <a:off x="969264" y="3383280"/>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If hardware is unavailable, use a fully labelled architecture, tag mapping, and example data flow.</a:t>
            </a:r>
            <a:endParaRPr lang="en-US" sz="1650" dirty="0"/>
          </a:p>
        </p:txBody>
      </p:sp>
      <p:sp>
        <p:nvSpPr>
          <p:cNvPr id="17" name="Shape 15"/>
          <p:cNvSpPr/>
          <p:nvPr/>
        </p:nvSpPr>
        <p:spPr>
          <a:xfrm>
            <a:off x="713232" y="4169664"/>
            <a:ext cx="100584" cy="100584"/>
          </a:xfrm>
          <a:prstGeom prst="ellipse">
            <a:avLst/>
          </a:prstGeom>
          <a:solidFill>
            <a:srgbClr val="C58B28"/>
          </a:solidFill>
          <a:ln w="12700">
            <a:solidFill>
              <a:srgbClr val="C58B28">
                <a:alpha val="0"/>
              </a:srgbClr>
            </a:solidFill>
            <a:prstDash val="solid"/>
          </a:ln>
        </p:spPr>
      </p:sp>
      <p:sp>
        <p:nvSpPr>
          <p:cNvPr id="18" name="Text 16"/>
          <p:cNvSpPr/>
          <p:nvPr/>
        </p:nvSpPr>
        <p:spPr>
          <a:xfrm>
            <a:off x="969264" y="4059936"/>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The local guide's example addresses are illustrative; verify the live PLC map and zero/one-based convention.</a:t>
            </a:r>
            <a:endParaRPr lang="en-US" sz="1650" dirty="0"/>
          </a:p>
        </p:txBody>
      </p:sp>
      <p:sp>
        <p:nvSpPr>
          <p:cNvPr id="19" name="Shape 17"/>
          <p:cNvSpPr/>
          <p:nvPr/>
        </p:nvSpPr>
        <p:spPr>
          <a:xfrm>
            <a:off x="7644384" y="1746504"/>
            <a:ext cx="3941064" cy="4352544"/>
          </a:xfrm>
          <a:prstGeom prst="rect">
            <a:avLst/>
          </a:prstGeom>
          <a:solidFill>
            <a:srgbClr val="E8EFF3"/>
          </a:solidFill>
          <a:ln w="15240">
            <a:solidFill>
              <a:srgbClr val="C8D5DE"/>
            </a:solidFill>
            <a:prstDash val="solid"/>
          </a:ln>
        </p:spPr>
      </p:sp>
      <p:sp>
        <p:nvSpPr>
          <p:cNvPr id="20" name="Text 18"/>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21" name="Text 19"/>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2" name="Text 20"/>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3" name="Shape 21"/>
          <p:cNvSpPr/>
          <p:nvPr/>
        </p:nvSpPr>
        <p:spPr>
          <a:xfrm>
            <a:off x="7845552" y="5111496"/>
            <a:ext cx="3538728" cy="0"/>
          </a:xfrm>
          <a:prstGeom prst="line">
            <a:avLst/>
          </a:prstGeom>
          <a:noFill/>
          <a:ln w="12700">
            <a:solidFill>
              <a:srgbClr val="C8D5DE"/>
            </a:solidFill>
            <a:prstDash val="solid"/>
          </a:ln>
        </p:spPr>
      </p:sp>
      <p:sp>
        <p:nvSpPr>
          <p:cNvPr id="24" name="Text 22"/>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PLC-to-dashboard demonstration</a:t>
            </a:r>
            <a:endParaRPr lang="en-US" sz="1050" dirty="0"/>
          </a:p>
        </p:txBody>
      </p:sp>
      <p:sp>
        <p:nvSpPr>
          <p:cNvPr id="25" name="Text 23"/>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6" name="Shape 24"/>
          <p:cNvSpPr/>
          <p:nvPr/>
        </p:nvSpPr>
        <p:spPr>
          <a:xfrm>
            <a:off x="603504" y="6318504"/>
            <a:ext cx="10972800" cy="0"/>
          </a:xfrm>
          <a:prstGeom prst="line">
            <a:avLst/>
          </a:prstGeom>
          <a:noFill/>
          <a:ln w="10160">
            <a:solidFill>
              <a:srgbClr val="D5E0E7"/>
            </a:solidFill>
            <a:prstDash val="solid"/>
          </a:ln>
        </p:spPr>
      </p:sp>
      <p:sp>
        <p:nvSpPr>
          <p:cNvPr id="27" name="Text 25"/>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NETWORKED BUSES AND HMI/SCADA INTEGRATION</a:t>
            </a:r>
            <a:endParaRPr lang="en-US" sz="800" dirty="0"/>
          </a:p>
        </p:txBody>
      </p:sp>
      <p:sp>
        <p:nvSpPr>
          <p:cNvPr id="28" name="Text 26"/>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07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20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P4 / M2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M2 integration design challenge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Teams produce architecture plus tag table and explain one read value and one requested command end-to-end.</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Peer asks where the PLC validates the command, what the screen shows during connection loss, and what evidence proves the mapping.</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M2 integration design challenge</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NETWORKED BUSES AND HMI/SCADA INTEGRATION</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07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7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P4 / M2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Criteria evidence review</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P4: explain reduced wiring, expansion, diagnostics, modularity/distributed I/O, and monitoring data with station-specific consequences and trade-offs.</a:t>
            </a:r>
            <a:endParaRPr lang="en-US" sz="1650" dirty="0"/>
          </a:p>
        </p:txBody>
      </p:sp>
      <p:sp>
        <p:nvSpPr>
          <p:cNvPr id="13" name="Shape 11"/>
          <p:cNvSpPr/>
          <p:nvPr/>
        </p:nvSpPr>
        <p:spPr>
          <a:xfrm>
            <a:off x="713232" y="3054096"/>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9443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M2: show protocol, architecture, named tags, and data flow through working evidence or clear equivalent documentation.</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Criteria evidence review</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NETWORKED BUSES AND HMI/SCADA INTEGRATION</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07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8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P4 / M2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Exit ticket: one bus benefit, one integration proof</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State one justified bus advantage and one limitation; name the artifact that proves PLC-HMI/SCADA integration.</a:t>
            </a:r>
            <a:endParaRPr lang="en-US" sz="1650" dirty="0"/>
          </a:p>
        </p:txBody>
      </p:sp>
      <p:sp>
        <p:nvSpPr>
          <p:cNvPr id="13" name="Shape 11"/>
          <p:cNvSpPr/>
          <p:nvPr/>
        </p:nvSpPr>
        <p:spPr>
          <a:xfrm>
            <a:off x="7644384" y="1746504"/>
            <a:ext cx="3941064" cy="4352544"/>
          </a:xfrm>
          <a:prstGeom prst="rect">
            <a:avLst/>
          </a:prstGeom>
          <a:solidFill>
            <a:srgbClr val="E8EFF3"/>
          </a:solidFill>
          <a:ln w="15240">
            <a:solidFill>
              <a:srgbClr val="C8D5DE"/>
            </a:solidFill>
            <a:prstDash val="solid"/>
          </a:ln>
        </p:spPr>
      </p:sp>
      <p:sp>
        <p:nvSpPr>
          <p:cNvPr id="14" name="Text 12"/>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5" name="Text 13"/>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6" name="Text 14"/>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7" name="Shape 15"/>
          <p:cNvSpPr/>
          <p:nvPr/>
        </p:nvSpPr>
        <p:spPr>
          <a:xfrm>
            <a:off x="7845552" y="5111496"/>
            <a:ext cx="3538728" cy="0"/>
          </a:xfrm>
          <a:prstGeom prst="line">
            <a:avLst/>
          </a:prstGeom>
          <a:noFill/>
          <a:ln w="12700">
            <a:solidFill>
              <a:srgbClr val="C8D5DE"/>
            </a:solidFill>
            <a:prstDash val="solid"/>
          </a:ln>
        </p:spPr>
      </p:sp>
      <p:sp>
        <p:nvSpPr>
          <p:cNvPr id="18" name="Text 16"/>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Exit ticket: one bus benefit, one integration proof</a:t>
            </a:r>
            <a:endParaRPr lang="en-US" sz="1050" dirty="0"/>
          </a:p>
        </p:txBody>
      </p:sp>
      <p:sp>
        <p:nvSpPr>
          <p:cNvPr id="19" name="Text 17"/>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0" name="Shape 18"/>
          <p:cNvSpPr/>
          <p:nvPr/>
        </p:nvSpPr>
        <p:spPr>
          <a:xfrm>
            <a:off x="603504" y="6318504"/>
            <a:ext cx="10972800" cy="0"/>
          </a:xfrm>
          <a:prstGeom prst="line">
            <a:avLst/>
          </a:prstGeom>
          <a:noFill/>
          <a:ln w="10160">
            <a:solidFill>
              <a:srgbClr val="D5E0E7"/>
            </a:solidFill>
            <a:prstDash val="solid"/>
          </a:ln>
        </p:spPr>
      </p:sp>
      <p:sp>
        <p:nvSpPr>
          <p:cNvPr id="21" name="Text 19"/>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NETWORKED BUSES AND HMI/SCADA INTEGRATION</a:t>
            </a:r>
            <a:endParaRPr lang="en-US" sz="800" dirty="0"/>
          </a:p>
        </p:txBody>
      </p:sp>
      <p:sp>
        <p:nvSpPr>
          <p:cNvPr id="22" name="Text 20"/>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Unit 5009</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07: Networked Buses and HMI/SCADA Integration</dc:title>
  <dc:subject>LO2 weekly teaching presentation</dc:subject>
  <dc:creator>Unit 5009 Teaching Materials</dc:creator>
  <cp:lastModifiedBy>Unit 5009 Teaching Materials</cp:lastModifiedBy>
  <cp:revision>1</cp:revision>
  <dcterms:created xsi:type="dcterms:W3CDTF">2026-10-13T19:12:29Z</dcterms:created>
  <dcterms:modified xsi:type="dcterms:W3CDTF">2026-10-13T19:12:29Z</dcterms:modified>
</cp:coreProperties>
</file>