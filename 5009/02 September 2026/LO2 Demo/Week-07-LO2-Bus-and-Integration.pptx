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 of 18 | Suggested time: 5 minutes | Criteria: P4 / M2
TEACHING NOTES AND ACTIVITY CUES
1. Retrieve the selected Week 6 PLC-to-HMI or PLC-to-device example and identify the actual cable/interface, protocol, endpoint roles, and one mapped value.
2. Expected response distinguishes the medium/interface from the protocol and identifies where PillCount or another MedPack value is sourced and displayed.
3. Correct any guessed address or capability against the selected PLC, HMI, and network manuals before reusing the diagram.
TEACHING VISUAL
This slide has a reserved image bay. Add the image described below.
OPTIONAL IMAGE PROMPT
Original PLC-to-HMI connection diagram showing a cable/interface, protocol exchange, endpoint devices, and one count value flowing to a screen; no text or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2 of 18 | Suggested time: 5 minutes | Criteria: P4 / M2
TEACHING NOTES AND ACTIVITY CUES
1. Add a second MedPack station and a maintenance workstation to the starting architecture; mark new field devices, PLC/I/O, operator interface, and supervisory data needs.
2. Compare a separate point-to-point wiring approach with a supported networked-I/O/bus approach; consider cable routes, expansion effort, diagnostics, and failure boundaries.
3. Expected discussion: a network may reduce some home-run wiring and improve shared visibility, but introduces configuration, network, and cybersecurity dependencies that must be engineered.
TEACHING VISUAL
The slide uses an editable communication architecture diagram. Keep it unless the prompted image communicates the idea more clearly.
OPTIONAL IMAGE PROMPT
Original packaging-line layout expanding from one to two stations, with local PLC panels, a maintenance workstation, and alternative field wiring paths;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3 of 18 | Suggested time: 5 minutes | Criteria: P4 / M2
TEACHING NOTES AND ACTIVITY CUES
1. LO2.P4 asks for a review of networked-bus advantages tied to industrial use, including conditions and trade-offs rather than an unconditional sales claim.
2. LO2.M2 requires showing how PLC data reaches an HMI/SCADA system through a real or clearly documented architecture, protocol, and tag map.
3. Today’s evidence is a labelled MedPack topology plus a verified data path or equivalent architecture, tag table, and demonstration record.
TEACHING VISUAL
The slide uses an editable formative check diagram. Keep it unless the prompted image communicates the idea more clearly.
OPTIONAL IMAGE PROMPT
Original two-part evidence illustration with a networked PLC bus topology on one side and an HMI data-flow diagram on the other, using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4 of 18 | Suggested time: 12 minutes | Criteria: P4 / M2
TEACHING NOTES AND ACTIVITY CUES
1. Central I/O brings field conductors back to the PLC panel; remote I/O places an I/O coupler nearer field devices and carries channel data over a supported network.
2. In MedPack, compare the pill sensor and actuator interface cable routes, local/remote power needs, panel space, connector count, and maintenance access for each architecture.
3. Networked I/O can reduce some long individual runs and provide module/channel diagnostics, but adds couplers, network configuration, update timing, and node-loss behavior to commission.
4. Expected observation: draw every required component and power path; a network cable does not replace device power or the output interface to a load.
TEACHING VISUAL
The slide uses an editable communication architecture diagram. Keep it unless the prompted image communicates the idea more clearly.
OPTIONAL IMAGE PROMPT
Original side-by-side wiring comparison of central PLC I/O home runs and a remote-I/O coupler mounted near a MedPack sensor bank;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5 of 18 | Suggested time: 13 minutes | Criteria: P4 / M2
TEACHING NOTES AND ACTIVITY CUES
1. Distinguish physical layouts such as star, line, ring, and a shared bus; the correct topology and termination depend on the chosen medium, protocol, devices, and manufacturer design rules.
2. Map PLC, remote I/O, HMI, SCADA client, engineering access, switches/gateways, power domains, and network boundaries for the actual MedPack candidate.
3. Cable limits, EMC installation, addressing, segmentation, and recovery behavior are product/design-specific; Ethernet does not become deterministic or redundant merely because a switch is present.
4. Mark redundancy only when the selected devices, protocol, switch configuration, and tested recovery design support it; identify which single failure could disconnect a station.
TEACHING VISUAL
The slide uses an editable communication architecture diagram. Keep it unless the prompted image communicates the idea more clearly.
OPTIONAL IMAGE PROMPT
Original industrial topology comparison showing star, line, ring, and shared-bus device arrangements with distinct switches and termination where appropriate;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6 of 18 | Suggested time: 12 minutes | Criteria: P4 / M2
TEACHING NOTES AND ACTIVITY CUES
1. Trace a remote MedPack input from sensor terminal through the remote-I/O channel and coupler, across its configured network, into the PLC tag and count logic.
2. Check module/channel configuration, network update interval, diagnostics, power source, and supported data size in the actual CPU/coupler manuals.
3. Define node-loss behavior from the configured system: the PLC may set bad quality, substitute configured values, enter a fault state, or take another documented action; never assume a universal fallback.
4. Practical diagnosis: compare sensor/channel indications with PLC communication status and tag quality; expected result is to distinguish a field-channel fault from a lost coupler/network path.
TEACHING VISUAL
The slide uses an editable communication architecture diagram. Keep it unless the prompted image communicates the idea more clearly.
OPTIONAL IMAGE PROMPT
Original remote-I/O path diagram showing a sensor, channel module, coupler, industrial network, PLC tag, and separate power feed; no text or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7 of 18 | Suggested time: 13 minutes | Criteria: P4 / M2
TEACHING NOTES AND ACTIVITY CUES
1. Activity procedure: place the MedPack PLC, local I/O, optional remote-I/O node, pill sensor, actuator interface, HMI, SCADA/maintenance workstation, and network switches on one architecture diagram.
2. For every connection, label medium/interface, protocol, endpoint role, data direction, and any gateway; verify device capability from the selected manuals or mark it as a design assumption.
3. Draw the safety function boundary separately and mark which local sequencing must continue or stop safely if HMI, SCADA, or a supervisory network is unavailable.
4. Peer debrief: another team traces PillCount to an HMI and identifies the PLC's response to a lost remote-I/O node and to a lost supervisory connection.
TEACHING VISUAL
This slide has a reserved image bay. Add the image described below.
OPTIONAL IMAGE PROMPT
Original MedPack architecture drawing with PLC, local and remote I/O, sensor, actuator interface, HMI, SCADA workstation, engineering laptop, network boundaries, and a separate safety path;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8 of 18 | Suggested time: 10 minutes | Criteria: P4 / M2
TEACHING NOTES AND ACTIVITY CUES
1. Reduced long individual cable runs may lower installation effort when remote I/O is placed near a MedPack station, but total cost must include network devices, enclosures, power, configuration, and commissioning.
2. Modular nodes can make a second station easier to add if spare capacity, compatible devices, network loading, addressing, and validated configuration are planned.
3. Channel/device diagnostics and shared process data can help maintenance locate a failed sensor or compare station states, provided the protocol exposes useful diagnostics and quality is visible.
4. For each claimed advantage, name the user, task, expected time/downtime or visibility improvement, and one condition that must hold for the benefit to occur.
TEACHING VISUAL
The slide uses an editable communication architecture diagram. Keep it unless the prompted image communicates the idea more clearly.
OPTIONAL IMAGE PROMPT
Original maintenance technician diagnosing a distributed-I/O node beside two packaging stations, with reduced cable runs and a visible network switch;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9 of 18 | Suggested time: 15 minutes | Criteria: P4 / M2
TEACHING NOTES AND ACTIVITY CUES
1. A bus adds devices, configuration/version management, specialist skills, spare-parts planning, and possible vendor dependencies; compare lifecycle and installed cost, not cable quantity alone.
2. Shared switches, power supplies, couplers, or configuration errors can create common failure domains; assess node loss, network recovery, stale data, and the effect on each station.
3. Check interoperability and update timing using device profiles, PLC/module support, actual traffic/load design, and tested response requirements; never infer deterministic response from Ethernet alone.
4. A simple hardwired connection may remain preferable for a small, fixed, low-data-count function when it gives clearer diagnosis or fewer dependencies; safety circuits follow their required safety design, not a cost-only choice.
TEACHING VISUAL
The slide uses an editable fault and risk path diagram. Keep it unless the prompted image communicates the idea more clearly.
OPTIONAL IMAGE PROMPT
Original risk map around a PLC bus showing a switch, remote-I/O coupler, power supply, multiple stations, and alternative hardwired safety path;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10 of 18 | Suggested time: 10 minutes | Criteria: P4 / M2
TEACHING NOTES AND ACTIVITY CUES
1. Activity procedure: each team writes two claims about a proposed MedPack bus, then attaches one site-specific evidence item, an operational consequence, and a counterpoint to each.
2. Example claim: remote I/O may shorten sensor cable routes for the second station; evidence should show route lengths/panel layout, consequence should identify installation or diagnosis impact, and counterpoint should include node/network cost and failure behavior.
3. Expected debrief rejects “less wiring is always cheaper” unless total installed and lifecycle cost is compared; distinguish a measured fact from a design assumption.
TEACHING VISUAL
The slide uses an editable formative check diagram. Keep it unless the prompted image communicates the idea more clearly.
OPTIONAL IMAGE PROMPT
Original claim-evidence-consequence workshop board represented by three connected blank panels beside a bus topology sketch, with no words or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11 of 18 | Suggested time: 10 minutes | Criteria: P4 / M2
TEACHING NOTES AND ACTIVITY CUES
1. An HMI presents local operator status, permitted commands, alarms, and navigation; MedPack examples include run state, count/target, fault cause, and a validated Start request.
2. SCADA commonly supervises multiple assets with data acquisition, alarm/event management, trends, and history; one product may combine HMI and SCADA functions, so describe capabilities and scope.
3. Identify the user and decision for each screen/data item; a count is useful only with known units, freshness, quality, and correct tag mapping.
4. Expected distinction: product name does not prove system role; explain what data is acquired, who acts on it, and where the control logic resides.
TEACHING VISUAL
The slide uses an editable control system layers diagram. Keep it unless the prompted image communicates the idea more clearly.
OPTIONAL IMAGE PROMPT
Original operator station showing a local MedPack HMI beside a multi-station SCADA overview and trend display, screens with abstract shapes only and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12 of 18 | Suggested time: 15 minutes | Criteria: P4 / M2
TEACHING NOTES AND ACTIVITY CUES
1. Trace sensor/actuator signals into local PLC control, then show the supported PLC-to-HMI/SCADA protocol path, client/server roles, optional historian, and reporting path.
2. Mark data direction and ownership: PLC retains sequence/permissive logic; the HMI requests bounded actions and displays status; supervisory services collect or present data according to configured permissions.
3. For each network boundary, document protocol, endpoint, tag source, quality/freshness handling, and failure response; use actual product roles and maps rather than a generic “Ethernet” label.
4. Expected failure review: loss of ordinary HMI/SCADA should not defeat an independent safety function or essential local control; the actual safe/continued operating state must be defined by the control design.
TEACHING VISUAL
The slide uses an editable control system layers diagram. Keep it unless the prompted image communicates the idea more clearly.
OPTIONAL IMAGE PROMPT
Original layered architecture showing field sensor and actuator, local PLC control, industrial network, HMI/SCADA clients, historian, and a separate safety system boundary;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13 of 18 | Suggested time: 10 minutes | Criteria: P4 / M2
TEACHING NOTES AND ACTIVITY CUES
1. Create entries for RunState, PillCount, TargetCount, FaultCode, and ActuatorStatus, specifying type, units, source tag/address, update expectation, quality behavior, and read-only access.
2. Define StartRequest and ResetRequest as requests, not direct output writes; the PLC checks mode, permissives, process state, and reset conditions before acting.
3. Keep EStopStatusReadOnly as status feedback only; a displayed value or HMI control is not the safety function or an authorised safety reset path.
4. Expected review: every writable item has a named owner, allowed range/command semantics, role permission, and PLC-side validation.
TEACHING VISUAL
The slide uses an editable signal path diagram. Keep it unless the prompted image communicates the idea more clearly.
OPTIONAL IMAGE PROMPT
Original access-control tag table visual with read-only MedPack status values and two guarded command requests flowing to PLC validation logic;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14 of 18 | Suggested time: 10 minutes | Criteria: P4 / M2
TEACHING NOTES AND ACTIVITY CUES
1. Distinguish a valid zero count from stale, disconnected, out-of-range, or unknown-quality data; represent invalidity visibly rather than leaving the last number looking current.
2. Verify address offset, data type, scaling, units, update interval, and alarm state against the live PLC map; a plausible-looking display can still be mapped incorrectly.
3. Design MedPack screens so operator actions, alarm acknowledgement, and process state are distinguishable, with alarm priority and recovery instructions appropriate to the actual fault.
4. HMI buttons are ordinary control requests and must never serve as E-stop devices or bypass safety reset requirements.
TEACHING VISUAL
The slide uses an editable formative check diagram. Keep it unless the prompted image communicates the idea more clearly.
OPTIONAL IMAGE PROMPT
Original HMI screen concept with clear run state, pill count, target, fault banner, and a visibly stale-data overlay, using abstract shapes and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15 of 18 | Suggested time: 20 minutes | Criteria: P4 / M2
TEACHING NOTES AND ACTIVITY CUES
1. Procedure: select the actual PLC endpoint and supported protocol, verify the live device map and access permissions, then read one safe status/count tag into the dashboard using its documented type and scaling.
2. Show endpoint/role, protocol, address or symbol, update/poll interval, value quality, and the observed response to a deliberately disconnected simulator or test endpoint.
3. Expected observation: a valid known PLC value is displayed with correct units; a communication failure becomes stale/invalid rather than a false zero, and no safety function depends on the dashboard.
4. If no hardware is available, present a fully labelled architecture, actual or explicitly hypothetical tag mapping, step-by-step data path, and clearly marked simulated readings; never copy sample addresses without verification.
TEACHING VISUAL
This slide has a reserved image bay. Add the image described below.
OPTIONAL IMAGE PROMPT
Original live demonstration scene with a PLC simulator, network connection, dashboard showing a count and a disconnected-state indicator, with all screens free of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16 of 18 | Suggested time: 20 minutes | Criteria: P4 / M2
TEACHING NOTES AND ACTIVITY CUES
1. Activity procedure: teams create an architecture and tag table, then trace one read value such as PillCount and one request such as StartRequest through every device, protocol, address/type, and logic boundary.
2. For the command path, show where the PLC validates permissives and process state; for the read path, show scaling, units, quality, and display update behavior.
3. Peer review asks what the HMI displays during connection loss, how a stale value is distinguished from zero, and which manual/map or live test proves the mapping.
4. Expected submission is a readable diagram plus evidence or a transparent simulation; a screen mock-up alone does not show integration.
TEACHING VISUAL
The slide uses an editable control system layers diagram. Keep it unless the prompted image communicates the idea more clearly.
OPTIONAL IMAGE PROMPT
Original team design-review scene with an architecture diagram, tag map, PLC, HMI, and arrows tracing one read and one request; no readable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17 of 18 | Suggested time: 7 minutes | Criteria: P4 / M2
TEACHING NOTES AND ACTIVITY CUES
1. P4 evidence should connect reduced wiring, expansion, diagnostics, modularity/distributed I/O, and monitoring to specific MedPack installation or maintenance consequences and stated limitations.
2. M2 evidence should show protocol and endpoint roles, architecture, named tags/data types, read/write direction, and a working data path or clear equivalent documentation.
3. Check evidence provenance: manual/map references, tested values, quality/failure behavior, and clear distinction between measured result and hypothetical example.
4. Expected gap action: name the missing artifact, owner, and test needed before the next assessment review.
TEACHING VISUAL
The slide uses an editable formative check diagram. Keep it unless the prompted image communicates the idea more clearly.
OPTIONAL IMAGE PROMPT
Original assessor review layout showing a topology diagram, mapped tag path, manual pages, and a test evidence record arranged side by side without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Networked Buses and HMI/SCADA Integration | Week 07 | LO2
Slide 18 of 18 | Suggested time: 8 minutes | Criteria: P4 / M2
TEACHING NOTES AND ACTIVITY CUES
1. State one MedPack bus advantage, the operational evidence supporting it, and one constraint or condition that could reduce the benefit.
2. Name one artifact that proves PLC-HMI/SCADA integration, such as a verified architecture plus tag map and known-value test or an observed working exchange.
3. Include the protocol/data-map check and one failure-quality behavior that should be visible to the operator.
TEACHING VISUAL
The slide uses an editable formative check diagram. Keep it unless the prompted image communicates the idea more clearly.
OPTIONAL IMAGE PROMPT
Original completed engineering evidence pack with a network topology sketch, tag map, and dashboard test trace but blank/no-text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Rebuild last week's connection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Retrieve the selected Week 6 PLC-to-HMI or PLC-to-device example and identify the actual cable/interface, protocol, endpoint roles, and one mapped value.</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58B28"/>
          </a:solidFill>
          <a:ln w="12700">
            <a:solidFill>
              <a:srgbClr val="C58B28">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response distinguishes the medium/interface from the protocol and identifies where PillCount or another MedPack value is sourced and displayed.</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58B28"/>
          </a:solidFill>
          <a:ln w="12700">
            <a:solidFill>
              <a:srgbClr val="C58B28">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Correct any guessed address or capability against the selected PLC, HMI, and network manuals before reusing the diagram.</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7882128" y="2432304"/>
            <a:ext cx="3483864" cy="3447288"/>
          </a:xfrm>
          <a:prstGeom prst="rect">
            <a:avLst/>
          </a:prstGeom>
          <a:solidFill>
            <a:srgbClr val="E8EFF3"/>
          </a:solidFill>
          <a:ln w="13970">
            <a:solidFill>
              <a:srgbClr val="AFC1CD"/>
            </a:solidFill>
            <a:prstDash val="solid"/>
          </a:ln>
        </p:spPr>
      </p:sp>
      <p:sp>
        <p:nvSpPr>
          <p:cNvPr id="27" name="Text 25"/>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28" name="Text 26"/>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29" name="Shape 27"/>
          <p:cNvSpPr/>
          <p:nvPr/>
        </p:nvSpPr>
        <p:spPr>
          <a:xfrm>
            <a:off x="603504" y="6318504"/>
            <a:ext cx="10972800" cy="0"/>
          </a:xfrm>
          <a:prstGeom prst="line">
            <a:avLst/>
          </a:prstGeom>
          <a:noFill/>
          <a:ln w="10160">
            <a:solidFill>
              <a:srgbClr val="D5E0E7"/>
            </a:solidFill>
            <a:prstDash val="solid"/>
          </a:ln>
        </p:spPr>
      </p:sp>
      <p:sp>
        <p:nvSpPr>
          <p:cNvPr id="30" name="Text 28"/>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31" name="Text 29"/>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Packaging line expansion scenario</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Add a second MedPack station and a maintenance workstation to the starting architecture; mark new field devices, PLC/I/O, operator interface, and supervisory data needs.</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58B28"/>
          </a:solidFill>
          <a:ln w="12700">
            <a:solidFill>
              <a:srgbClr val="C58B28">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Compare a separate point-to-point wiring approach with a supported networked-I/O/bus approach; consider cable routes, expansion effort, diagnostics, and failure boundaries.</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58B28"/>
          </a:solidFill>
          <a:ln w="12700">
            <a:solidFill>
              <a:srgbClr val="C58B28">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discussion: a network may reduce some home-run wiring and improve shared visibility, but introduces configuration, network, and cybersecurity dependencies that must be engineered.</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COMMUNICATION ARCHITECTURE</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9217152" y="4005072"/>
            <a:ext cx="868680" cy="694944"/>
          </a:xfrm>
          <a:prstGeom prst="rect">
            <a:avLst/>
          </a:prstGeom>
          <a:solidFill>
            <a:srgbClr val="F4F8FA"/>
          </a:solidFill>
          <a:ln w="14605">
            <a:solidFill>
              <a:srgbClr val="C58B28"/>
            </a:solidFill>
            <a:prstDash val="solid"/>
          </a:ln>
        </p:spPr>
      </p:sp>
      <p:sp>
        <p:nvSpPr>
          <p:cNvPr id="27" name="Text 25"/>
          <p:cNvSpPr/>
          <p:nvPr/>
        </p:nvSpPr>
        <p:spPr>
          <a:xfrm>
            <a:off x="9290304" y="4059936"/>
            <a:ext cx="722376" cy="585216"/>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NETWORK</a:t>
            </a:r>
            <a:endParaRPr lang="en-US" sz="950" dirty="0"/>
          </a:p>
          <a:p>
            <a:pPr algn="ctr" indent="0" marL="0">
              <a:buNone/>
            </a:pPr>
            <a:r>
              <a:rPr lang="en-US" sz="950" b="1" dirty="0">
                <a:solidFill>
                  <a:srgbClr val="1B3448"/>
                </a:solidFill>
                <a:latin typeface="Aptos" pitchFamily="34" charset="0"/>
                <a:ea typeface="Aptos" pitchFamily="34" charset="-122"/>
                <a:cs typeface="Aptos" pitchFamily="34" charset="-120"/>
              </a:rPr>
              <a:t>BUS</a:t>
            </a:r>
            <a:endParaRPr lang="en-US" sz="950" dirty="0"/>
          </a:p>
        </p:txBody>
      </p:sp>
      <p:sp>
        <p:nvSpPr>
          <p:cNvPr id="28" name="Shape 26"/>
          <p:cNvSpPr/>
          <p:nvPr/>
        </p:nvSpPr>
        <p:spPr>
          <a:xfrm>
            <a:off x="7936992" y="3236976"/>
            <a:ext cx="868680" cy="530352"/>
          </a:xfrm>
          <a:prstGeom prst="rect">
            <a:avLst/>
          </a:prstGeom>
          <a:solidFill>
            <a:srgbClr val="F4F8FA"/>
          </a:solidFill>
          <a:ln w="14605">
            <a:solidFill>
              <a:srgbClr val="C58B28"/>
            </a:solidFill>
            <a:prstDash val="solid"/>
          </a:ln>
        </p:spPr>
      </p:sp>
      <p:sp>
        <p:nvSpPr>
          <p:cNvPr id="29" name="Text 27"/>
          <p:cNvSpPr/>
          <p:nvPr/>
        </p:nvSpPr>
        <p:spPr>
          <a:xfrm>
            <a:off x="80101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LOCAL I/O</a:t>
            </a:r>
            <a:endParaRPr lang="en-US" sz="900" dirty="0"/>
          </a:p>
        </p:txBody>
      </p:sp>
      <p:sp>
        <p:nvSpPr>
          <p:cNvPr id="30" name="Shape 28"/>
          <p:cNvSpPr/>
          <p:nvPr/>
        </p:nvSpPr>
        <p:spPr>
          <a:xfrm>
            <a:off x="9656064" y="4352544"/>
            <a:ext cx="-1289304" cy="-841248"/>
          </a:xfrm>
          <a:prstGeom prst="line">
            <a:avLst/>
          </a:prstGeom>
          <a:noFill/>
          <a:ln w="14605">
            <a:solidFill>
              <a:srgbClr val="607585"/>
            </a:solidFill>
            <a:prstDash val="solid"/>
            <a:tailEnd type="triangle"/>
          </a:ln>
        </p:spPr>
      </p:sp>
      <p:sp>
        <p:nvSpPr>
          <p:cNvPr id="31" name="Shape 29"/>
          <p:cNvSpPr/>
          <p:nvPr/>
        </p:nvSpPr>
        <p:spPr>
          <a:xfrm>
            <a:off x="10451592" y="3236976"/>
            <a:ext cx="868680" cy="530352"/>
          </a:xfrm>
          <a:prstGeom prst="rect">
            <a:avLst/>
          </a:prstGeom>
          <a:solidFill>
            <a:srgbClr val="F4F8FA"/>
          </a:solidFill>
          <a:ln w="14605">
            <a:solidFill>
              <a:srgbClr val="C58B28"/>
            </a:solidFill>
            <a:prstDash val="solid"/>
          </a:ln>
        </p:spPr>
      </p:sp>
      <p:sp>
        <p:nvSpPr>
          <p:cNvPr id="32" name="Text 30"/>
          <p:cNvSpPr/>
          <p:nvPr/>
        </p:nvSpPr>
        <p:spPr>
          <a:xfrm>
            <a:off x="105247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REMOTE I/O</a:t>
            </a:r>
            <a:endParaRPr lang="en-US" sz="900" dirty="0"/>
          </a:p>
        </p:txBody>
      </p:sp>
      <p:sp>
        <p:nvSpPr>
          <p:cNvPr id="33" name="Shape 31"/>
          <p:cNvSpPr/>
          <p:nvPr/>
        </p:nvSpPr>
        <p:spPr>
          <a:xfrm>
            <a:off x="9656064" y="4352544"/>
            <a:ext cx="1225296" cy="-841248"/>
          </a:xfrm>
          <a:prstGeom prst="line">
            <a:avLst/>
          </a:prstGeom>
          <a:noFill/>
          <a:ln w="14605">
            <a:solidFill>
              <a:srgbClr val="607585"/>
            </a:solidFill>
            <a:prstDash val="solid"/>
            <a:tailEnd type="triangle"/>
          </a:ln>
        </p:spPr>
      </p:sp>
      <p:sp>
        <p:nvSpPr>
          <p:cNvPr id="34" name="Shape 32"/>
          <p:cNvSpPr/>
          <p:nvPr/>
        </p:nvSpPr>
        <p:spPr>
          <a:xfrm>
            <a:off x="7936992" y="4974336"/>
            <a:ext cx="868680" cy="530352"/>
          </a:xfrm>
          <a:prstGeom prst="rect">
            <a:avLst/>
          </a:prstGeom>
          <a:solidFill>
            <a:srgbClr val="F4F8FA"/>
          </a:solidFill>
          <a:ln w="14605">
            <a:solidFill>
              <a:srgbClr val="C58B28"/>
            </a:solidFill>
            <a:prstDash val="solid"/>
          </a:ln>
        </p:spPr>
      </p:sp>
      <p:sp>
        <p:nvSpPr>
          <p:cNvPr id="35" name="Text 33"/>
          <p:cNvSpPr/>
          <p:nvPr/>
        </p:nvSpPr>
        <p:spPr>
          <a:xfrm>
            <a:off x="80101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HMI</a:t>
            </a:r>
            <a:endParaRPr lang="en-US" sz="900" dirty="0"/>
          </a:p>
        </p:txBody>
      </p:sp>
      <p:sp>
        <p:nvSpPr>
          <p:cNvPr id="36" name="Shape 34"/>
          <p:cNvSpPr/>
          <p:nvPr/>
        </p:nvSpPr>
        <p:spPr>
          <a:xfrm>
            <a:off x="9656064" y="4352544"/>
            <a:ext cx="-1289304" cy="896112"/>
          </a:xfrm>
          <a:prstGeom prst="line">
            <a:avLst/>
          </a:prstGeom>
          <a:noFill/>
          <a:ln w="14605">
            <a:solidFill>
              <a:srgbClr val="607585"/>
            </a:solidFill>
            <a:prstDash val="solid"/>
            <a:tailEnd type="triangle"/>
          </a:ln>
        </p:spPr>
      </p:sp>
      <p:sp>
        <p:nvSpPr>
          <p:cNvPr id="37" name="Shape 35"/>
          <p:cNvSpPr/>
          <p:nvPr/>
        </p:nvSpPr>
        <p:spPr>
          <a:xfrm>
            <a:off x="10451592" y="4974336"/>
            <a:ext cx="868680" cy="530352"/>
          </a:xfrm>
          <a:prstGeom prst="rect">
            <a:avLst/>
          </a:prstGeom>
          <a:solidFill>
            <a:srgbClr val="F4F8FA"/>
          </a:solidFill>
          <a:ln w="14605">
            <a:solidFill>
              <a:srgbClr val="C58B28"/>
            </a:solidFill>
            <a:prstDash val="solid"/>
          </a:ln>
        </p:spPr>
      </p:sp>
      <p:sp>
        <p:nvSpPr>
          <p:cNvPr id="38" name="Text 36"/>
          <p:cNvSpPr/>
          <p:nvPr/>
        </p:nvSpPr>
        <p:spPr>
          <a:xfrm>
            <a:off x="105247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SCADA</a:t>
            </a:r>
            <a:endParaRPr lang="en-US" sz="900" dirty="0"/>
          </a:p>
        </p:txBody>
      </p:sp>
      <p:sp>
        <p:nvSpPr>
          <p:cNvPr id="39" name="Shape 37"/>
          <p:cNvSpPr/>
          <p:nvPr/>
        </p:nvSpPr>
        <p:spPr>
          <a:xfrm>
            <a:off x="9656064" y="4352544"/>
            <a:ext cx="1225296" cy="896112"/>
          </a:xfrm>
          <a:prstGeom prst="line">
            <a:avLst/>
          </a:prstGeom>
          <a:noFill/>
          <a:ln w="14605">
            <a:solidFill>
              <a:srgbClr val="607585"/>
            </a:solidFill>
            <a:prstDash val="solid"/>
            <a:tailEnd type="triangle"/>
          </a:ln>
        </p:spPr>
      </p:sp>
      <p:sp>
        <p:nvSpPr>
          <p:cNvPr id="40" name="Text 38"/>
          <p:cNvSpPr/>
          <p:nvPr/>
        </p:nvSpPr>
        <p:spPr>
          <a:xfrm>
            <a:off x="8010144" y="5632704"/>
            <a:ext cx="3236976" cy="384048"/>
          </a:xfrm>
          <a:prstGeom prst="rect">
            <a:avLst/>
          </a:prstGeom>
          <a:noFill/>
          <a:ln/>
        </p:spPr>
        <p:txBody>
          <a:bodyPr wrap="square" lIns="0" tIns="0" rIns="0" bIns="0" rtlCol="0" anchor="ctr">
            <a:normAutofit/>
          </a:bodyPr>
          <a:lstStyle/>
          <a:p>
            <a:pPr algn="ctr" indent="0" marL="0">
              <a:buNone/>
            </a:pPr>
            <a:r>
              <a:rPr lang="en-US" sz="970" dirty="0">
                <a:solidFill>
                  <a:srgbClr val="607585"/>
                </a:solidFill>
                <a:latin typeface="Aptos" pitchFamily="34" charset="0"/>
                <a:ea typeface="Aptos" pitchFamily="34" charset="-122"/>
                <a:cs typeface="Aptos" pitchFamily="34" charset="-120"/>
              </a:rPr>
              <a:t>Label the medium and protocol on every connection</a:t>
            </a:r>
            <a:endParaRPr lang="en-US" sz="97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P4/M2 outcomes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LO2.P4 asks for a review of networked-bus advantages tied to industrial use, including conditions and trade-offs rather than an unconditional sales claim.</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58B28"/>
          </a:solidFill>
          <a:ln w="12700">
            <a:solidFill>
              <a:srgbClr val="C58B28">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LO2.M2 requires showing how PLC data reaches an HMI/SCADA system through a real or clearly documented architecture, protocol, and tag map.</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58B28"/>
          </a:solidFill>
          <a:ln w="12700">
            <a:solidFill>
              <a:srgbClr val="C58B28">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Today’s evidence is a labelled MedPack topology plus a verified data path or equivalent architecture, tag table, and demonstration record.</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8138160" y="2697480"/>
            <a:ext cx="256032" cy="256032"/>
          </a:xfrm>
          <a:prstGeom prst="rect">
            <a:avLst/>
          </a:prstGeom>
          <a:solidFill>
            <a:srgbClr val="FFFFFF"/>
          </a:solidFill>
          <a:ln w="17780">
            <a:solidFill>
              <a:srgbClr val="C58B28"/>
            </a:solidFill>
            <a:prstDash val="solid"/>
          </a:ln>
        </p:spPr>
      </p:sp>
      <p:sp>
        <p:nvSpPr>
          <p:cNvPr id="27" name="Text 25"/>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28" name="Text 26"/>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TOPOLOGY</a:t>
            </a:r>
            <a:endParaRPr lang="en-US" sz="1000" dirty="0"/>
          </a:p>
        </p:txBody>
      </p:sp>
      <p:sp>
        <p:nvSpPr>
          <p:cNvPr id="29" name="Shape 27"/>
          <p:cNvSpPr/>
          <p:nvPr/>
        </p:nvSpPr>
        <p:spPr>
          <a:xfrm>
            <a:off x="8558784" y="3163824"/>
            <a:ext cx="2542032" cy="0"/>
          </a:xfrm>
          <a:prstGeom prst="line">
            <a:avLst/>
          </a:prstGeom>
          <a:noFill/>
          <a:ln w="8890">
            <a:solidFill>
              <a:srgbClr val="D5E0E7"/>
            </a:solidFill>
            <a:prstDash val="solid"/>
          </a:ln>
        </p:spPr>
      </p:sp>
      <p:sp>
        <p:nvSpPr>
          <p:cNvPr id="30" name="Shape 28"/>
          <p:cNvSpPr/>
          <p:nvPr/>
        </p:nvSpPr>
        <p:spPr>
          <a:xfrm>
            <a:off x="8138160" y="3447288"/>
            <a:ext cx="256032" cy="256032"/>
          </a:xfrm>
          <a:prstGeom prst="rect">
            <a:avLst/>
          </a:prstGeom>
          <a:solidFill>
            <a:srgbClr val="FFFFFF"/>
          </a:solidFill>
          <a:ln w="17780">
            <a:solidFill>
              <a:srgbClr val="C58B28"/>
            </a:solidFill>
            <a:prstDash val="solid"/>
          </a:ln>
        </p:spPr>
      </p:sp>
      <p:sp>
        <p:nvSpPr>
          <p:cNvPr id="31" name="Text 29"/>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2" name="Text 30"/>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DATA / TAG MAP</a:t>
            </a:r>
            <a:endParaRPr lang="en-US" sz="1000" dirty="0"/>
          </a:p>
        </p:txBody>
      </p:sp>
      <p:sp>
        <p:nvSpPr>
          <p:cNvPr id="33" name="Shape 31"/>
          <p:cNvSpPr/>
          <p:nvPr/>
        </p:nvSpPr>
        <p:spPr>
          <a:xfrm>
            <a:off x="8558784" y="3913632"/>
            <a:ext cx="2542032" cy="0"/>
          </a:xfrm>
          <a:prstGeom prst="line">
            <a:avLst/>
          </a:prstGeom>
          <a:noFill/>
          <a:ln w="8890">
            <a:solidFill>
              <a:srgbClr val="D5E0E7"/>
            </a:solidFill>
            <a:prstDash val="solid"/>
          </a:ln>
        </p:spPr>
      </p:sp>
      <p:sp>
        <p:nvSpPr>
          <p:cNvPr id="34" name="Shape 32"/>
          <p:cNvSpPr/>
          <p:nvPr/>
        </p:nvSpPr>
        <p:spPr>
          <a:xfrm>
            <a:off x="8138160" y="4197096"/>
            <a:ext cx="256032" cy="256032"/>
          </a:xfrm>
          <a:prstGeom prst="rect">
            <a:avLst/>
          </a:prstGeom>
          <a:solidFill>
            <a:srgbClr val="FFFFFF"/>
          </a:solidFill>
          <a:ln w="17780">
            <a:solidFill>
              <a:srgbClr val="C58B28"/>
            </a:solidFill>
            <a:prstDash val="solid"/>
          </a:ln>
        </p:spPr>
      </p:sp>
      <p:sp>
        <p:nvSpPr>
          <p:cNvPr id="35" name="Text 33"/>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36" name="Text 34"/>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PERMISSIONS</a:t>
            </a:r>
            <a:endParaRPr lang="en-US" sz="1000" dirty="0"/>
          </a:p>
        </p:txBody>
      </p:sp>
      <p:sp>
        <p:nvSpPr>
          <p:cNvPr id="37" name="Shape 35"/>
          <p:cNvSpPr/>
          <p:nvPr/>
        </p:nvSpPr>
        <p:spPr>
          <a:xfrm>
            <a:off x="8558784" y="4663440"/>
            <a:ext cx="2542032" cy="0"/>
          </a:xfrm>
          <a:prstGeom prst="line">
            <a:avLst/>
          </a:prstGeom>
          <a:noFill/>
          <a:ln w="8890">
            <a:solidFill>
              <a:srgbClr val="D5E0E7"/>
            </a:solidFill>
            <a:prstDash val="solid"/>
          </a:ln>
        </p:spPr>
      </p:sp>
      <p:sp>
        <p:nvSpPr>
          <p:cNvPr id="38" name="Shape 36"/>
          <p:cNvSpPr/>
          <p:nvPr/>
        </p:nvSpPr>
        <p:spPr>
          <a:xfrm>
            <a:off x="8138160" y="4946904"/>
            <a:ext cx="256032" cy="256032"/>
          </a:xfrm>
          <a:prstGeom prst="rect">
            <a:avLst/>
          </a:prstGeom>
          <a:solidFill>
            <a:srgbClr val="FFFFFF"/>
          </a:solidFill>
          <a:ln w="17780">
            <a:solidFill>
              <a:srgbClr val="C58B28"/>
            </a:solidFill>
            <a:prstDash val="solid"/>
          </a:ln>
        </p:spPr>
      </p:sp>
      <p:sp>
        <p:nvSpPr>
          <p:cNvPr id="39" name="Text 37"/>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0" name="Text 38"/>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LOSS-OF-LINK STATE</a:t>
            </a:r>
            <a:endParaRPr lang="en-US" sz="100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Point-to-point wiring versus networked I/O</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Central I/O brings field conductors back to the PLC panel; remote I/O places an I/O coupler nearer field devices and carries channel data over a supported network.</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In MedPack, compare the pill sensor and actuator interface cable routes, local/remote power needs, panel space, connector count, and maintenance access for each architecture.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Networked I/O can reduce some long individual runs and provide module/channel diagnostics, but adds couplers, network configuration, update timing, and node-loss behavior to commission.</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observation: draw every required component and power path; a network cable does not replace device power or the output interface to a load.</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COMMUNICATION ARCHITECTURE</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9217152" y="4005072"/>
            <a:ext cx="868680" cy="694944"/>
          </a:xfrm>
          <a:prstGeom prst="rect">
            <a:avLst/>
          </a:prstGeom>
          <a:solidFill>
            <a:srgbClr val="F4F8FA"/>
          </a:solidFill>
          <a:ln w="14605">
            <a:solidFill>
              <a:srgbClr val="C58B28"/>
            </a:solidFill>
            <a:prstDash val="solid"/>
          </a:ln>
        </p:spPr>
      </p:sp>
      <p:sp>
        <p:nvSpPr>
          <p:cNvPr id="31" name="Text 29"/>
          <p:cNvSpPr/>
          <p:nvPr/>
        </p:nvSpPr>
        <p:spPr>
          <a:xfrm>
            <a:off x="9290304" y="4059936"/>
            <a:ext cx="722376" cy="585216"/>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NETWORK</a:t>
            </a:r>
            <a:endParaRPr lang="en-US" sz="950" dirty="0"/>
          </a:p>
          <a:p>
            <a:pPr algn="ctr" indent="0" marL="0">
              <a:buNone/>
            </a:pPr>
            <a:r>
              <a:rPr lang="en-US" sz="950" b="1" dirty="0">
                <a:solidFill>
                  <a:srgbClr val="1B3448"/>
                </a:solidFill>
                <a:latin typeface="Aptos" pitchFamily="34" charset="0"/>
                <a:ea typeface="Aptos" pitchFamily="34" charset="-122"/>
                <a:cs typeface="Aptos" pitchFamily="34" charset="-120"/>
              </a:rPr>
              <a:t>BUS</a:t>
            </a:r>
            <a:endParaRPr lang="en-US" sz="950" dirty="0"/>
          </a:p>
        </p:txBody>
      </p:sp>
      <p:sp>
        <p:nvSpPr>
          <p:cNvPr id="32" name="Shape 30"/>
          <p:cNvSpPr/>
          <p:nvPr/>
        </p:nvSpPr>
        <p:spPr>
          <a:xfrm>
            <a:off x="7936992" y="3236976"/>
            <a:ext cx="868680" cy="530352"/>
          </a:xfrm>
          <a:prstGeom prst="rect">
            <a:avLst/>
          </a:prstGeom>
          <a:solidFill>
            <a:srgbClr val="F4F8FA"/>
          </a:solidFill>
          <a:ln w="14605">
            <a:solidFill>
              <a:srgbClr val="C58B28"/>
            </a:solidFill>
            <a:prstDash val="solid"/>
          </a:ln>
        </p:spPr>
      </p:sp>
      <p:sp>
        <p:nvSpPr>
          <p:cNvPr id="33" name="Text 31"/>
          <p:cNvSpPr/>
          <p:nvPr/>
        </p:nvSpPr>
        <p:spPr>
          <a:xfrm>
            <a:off x="80101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LOCAL I/O</a:t>
            </a:r>
            <a:endParaRPr lang="en-US" sz="900" dirty="0"/>
          </a:p>
        </p:txBody>
      </p:sp>
      <p:sp>
        <p:nvSpPr>
          <p:cNvPr id="34" name="Shape 32"/>
          <p:cNvSpPr/>
          <p:nvPr/>
        </p:nvSpPr>
        <p:spPr>
          <a:xfrm>
            <a:off x="9656064" y="4352544"/>
            <a:ext cx="-1289304" cy="-841248"/>
          </a:xfrm>
          <a:prstGeom prst="line">
            <a:avLst/>
          </a:prstGeom>
          <a:noFill/>
          <a:ln w="14605">
            <a:solidFill>
              <a:srgbClr val="607585"/>
            </a:solidFill>
            <a:prstDash val="solid"/>
            <a:tailEnd type="triangle"/>
          </a:ln>
        </p:spPr>
      </p:sp>
      <p:sp>
        <p:nvSpPr>
          <p:cNvPr id="35" name="Shape 33"/>
          <p:cNvSpPr/>
          <p:nvPr/>
        </p:nvSpPr>
        <p:spPr>
          <a:xfrm>
            <a:off x="10451592" y="3236976"/>
            <a:ext cx="868680" cy="530352"/>
          </a:xfrm>
          <a:prstGeom prst="rect">
            <a:avLst/>
          </a:prstGeom>
          <a:solidFill>
            <a:srgbClr val="F4F8FA"/>
          </a:solidFill>
          <a:ln w="14605">
            <a:solidFill>
              <a:srgbClr val="C58B28"/>
            </a:solidFill>
            <a:prstDash val="solid"/>
          </a:ln>
        </p:spPr>
      </p:sp>
      <p:sp>
        <p:nvSpPr>
          <p:cNvPr id="36" name="Text 34"/>
          <p:cNvSpPr/>
          <p:nvPr/>
        </p:nvSpPr>
        <p:spPr>
          <a:xfrm>
            <a:off x="105247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REMOTE I/O</a:t>
            </a:r>
            <a:endParaRPr lang="en-US" sz="900" dirty="0"/>
          </a:p>
        </p:txBody>
      </p:sp>
      <p:sp>
        <p:nvSpPr>
          <p:cNvPr id="37" name="Shape 35"/>
          <p:cNvSpPr/>
          <p:nvPr/>
        </p:nvSpPr>
        <p:spPr>
          <a:xfrm>
            <a:off x="9656064" y="4352544"/>
            <a:ext cx="1225296" cy="-841248"/>
          </a:xfrm>
          <a:prstGeom prst="line">
            <a:avLst/>
          </a:prstGeom>
          <a:noFill/>
          <a:ln w="14605">
            <a:solidFill>
              <a:srgbClr val="607585"/>
            </a:solidFill>
            <a:prstDash val="solid"/>
            <a:tailEnd type="triangle"/>
          </a:ln>
        </p:spPr>
      </p:sp>
      <p:sp>
        <p:nvSpPr>
          <p:cNvPr id="38" name="Shape 36"/>
          <p:cNvSpPr/>
          <p:nvPr/>
        </p:nvSpPr>
        <p:spPr>
          <a:xfrm>
            <a:off x="7936992" y="4974336"/>
            <a:ext cx="868680" cy="530352"/>
          </a:xfrm>
          <a:prstGeom prst="rect">
            <a:avLst/>
          </a:prstGeom>
          <a:solidFill>
            <a:srgbClr val="F4F8FA"/>
          </a:solidFill>
          <a:ln w="14605">
            <a:solidFill>
              <a:srgbClr val="C58B28"/>
            </a:solidFill>
            <a:prstDash val="solid"/>
          </a:ln>
        </p:spPr>
      </p:sp>
      <p:sp>
        <p:nvSpPr>
          <p:cNvPr id="39" name="Text 37"/>
          <p:cNvSpPr/>
          <p:nvPr/>
        </p:nvSpPr>
        <p:spPr>
          <a:xfrm>
            <a:off x="80101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HMI</a:t>
            </a:r>
            <a:endParaRPr lang="en-US" sz="900" dirty="0"/>
          </a:p>
        </p:txBody>
      </p:sp>
      <p:sp>
        <p:nvSpPr>
          <p:cNvPr id="40" name="Shape 38"/>
          <p:cNvSpPr/>
          <p:nvPr/>
        </p:nvSpPr>
        <p:spPr>
          <a:xfrm>
            <a:off x="9656064" y="4352544"/>
            <a:ext cx="-1289304" cy="896112"/>
          </a:xfrm>
          <a:prstGeom prst="line">
            <a:avLst/>
          </a:prstGeom>
          <a:noFill/>
          <a:ln w="14605">
            <a:solidFill>
              <a:srgbClr val="607585"/>
            </a:solidFill>
            <a:prstDash val="solid"/>
            <a:tailEnd type="triangle"/>
          </a:ln>
        </p:spPr>
      </p:sp>
      <p:sp>
        <p:nvSpPr>
          <p:cNvPr id="41" name="Shape 39"/>
          <p:cNvSpPr/>
          <p:nvPr/>
        </p:nvSpPr>
        <p:spPr>
          <a:xfrm>
            <a:off x="10451592" y="4974336"/>
            <a:ext cx="868680" cy="530352"/>
          </a:xfrm>
          <a:prstGeom prst="rect">
            <a:avLst/>
          </a:prstGeom>
          <a:solidFill>
            <a:srgbClr val="F4F8FA"/>
          </a:solidFill>
          <a:ln w="14605">
            <a:solidFill>
              <a:srgbClr val="C58B28"/>
            </a:solidFill>
            <a:prstDash val="solid"/>
          </a:ln>
        </p:spPr>
      </p:sp>
      <p:sp>
        <p:nvSpPr>
          <p:cNvPr id="42" name="Text 40"/>
          <p:cNvSpPr/>
          <p:nvPr/>
        </p:nvSpPr>
        <p:spPr>
          <a:xfrm>
            <a:off x="105247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SCADA</a:t>
            </a:r>
            <a:endParaRPr lang="en-US" sz="900" dirty="0"/>
          </a:p>
        </p:txBody>
      </p:sp>
      <p:sp>
        <p:nvSpPr>
          <p:cNvPr id="43" name="Shape 41"/>
          <p:cNvSpPr/>
          <p:nvPr/>
        </p:nvSpPr>
        <p:spPr>
          <a:xfrm>
            <a:off x="9656064" y="4352544"/>
            <a:ext cx="1225296" cy="896112"/>
          </a:xfrm>
          <a:prstGeom prst="line">
            <a:avLst/>
          </a:prstGeom>
          <a:noFill/>
          <a:ln w="14605">
            <a:solidFill>
              <a:srgbClr val="607585"/>
            </a:solidFill>
            <a:prstDash val="solid"/>
            <a:tailEnd type="triangle"/>
          </a:ln>
        </p:spPr>
      </p:sp>
      <p:sp>
        <p:nvSpPr>
          <p:cNvPr id="44" name="Text 42"/>
          <p:cNvSpPr/>
          <p:nvPr/>
        </p:nvSpPr>
        <p:spPr>
          <a:xfrm>
            <a:off x="8010144" y="5632704"/>
            <a:ext cx="3236976" cy="384048"/>
          </a:xfrm>
          <a:prstGeom prst="rect">
            <a:avLst/>
          </a:prstGeom>
          <a:noFill/>
          <a:ln/>
        </p:spPr>
        <p:txBody>
          <a:bodyPr wrap="square" lIns="0" tIns="0" rIns="0" bIns="0" rtlCol="0" anchor="ctr">
            <a:normAutofit/>
          </a:bodyPr>
          <a:lstStyle/>
          <a:p>
            <a:pPr algn="ctr" indent="0" marL="0">
              <a:buNone/>
            </a:pPr>
            <a:r>
              <a:rPr lang="en-US" sz="970" dirty="0">
                <a:solidFill>
                  <a:srgbClr val="607585"/>
                </a:solidFill>
                <a:latin typeface="Aptos" pitchFamily="34" charset="0"/>
                <a:ea typeface="Aptos" pitchFamily="34" charset="-122"/>
                <a:cs typeface="Aptos" pitchFamily="34" charset="-120"/>
              </a:rPr>
              <a:t>Label the medium and protocol on every connection</a:t>
            </a:r>
            <a:endParaRPr lang="en-US" sz="97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Network topology and system boundaries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Distinguish physical layouts such as star, line, ring, and a shared bus; the correct topology and termination depend on the chosen medium, protocol, devices, and manufacturer design rules.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Map PLC, remote I/O, HMI, SCADA client, engineering access, switches/gateways, power domains, and network boundaries for the actual MedPack candidate.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Cable limits, EMC installation, addressing, segmentation, and recovery behavior are product/design-specific; Ethernet does not become deterministic or redundant merely because a switch is present.</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Mark redundancy only when the selected devices, protocol, switch configuration, and tested recovery design support it; identify which single failure could disconnect a station.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COMMUNICATION ARCHITECTURE</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9217152" y="4005072"/>
            <a:ext cx="868680" cy="694944"/>
          </a:xfrm>
          <a:prstGeom prst="rect">
            <a:avLst/>
          </a:prstGeom>
          <a:solidFill>
            <a:srgbClr val="F4F8FA"/>
          </a:solidFill>
          <a:ln w="14605">
            <a:solidFill>
              <a:srgbClr val="C58B28"/>
            </a:solidFill>
            <a:prstDash val="solid"/>
          </a:ln>
        </p:spPr>
      </p:sp>
      <p:sp>
        <p:nvSpPr>
          <p:cNvPr id="31" name="Text 29"/>
          <p:cNvSpPr/>
          <p:nvPr/>
        </p:nvSpPr>
        <p:spPr>
          <a:xfrm>
            <a:off x="9290304" y="4059936"/>
            <a:ext cx="722376" cy="585216"/>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NETWORK</a:t>
            </a:r>
            <a:endParaRPr lang="en-US" sz="950" dirty="0"/>
          </a:p>
          <a:p>
            <a:pPr algn="ctr" indent="0" marL="0">
              <a:buNone/>
            </a:pPr>
            <a:r>
              <a:rPr lang="en-US" sz="950" b="1" dirty="0">
                <a:solidFill>
                  <a:srgbClr val="1B3448"/>
                </a:solidFill>
                <a:latin typeface="Aptos" pitchFamily="34" charset="0"/>
                <a:ea typeface="Aptos" pitchFamily="34" charset="-122"/>
                <a:cs typeface="Aptos" pitchFamily="34" charset="-120"/>
              </a:rPr>
              <a:t>BUS</a:t>
            </a:r>
            <a:endParaRPr lang="en-US" sz="950" dirty="0"/>
          </a:p>
        </p:txBody>
      </p:sp>
      <p:sp>
        <p:nvSpPr>
          <p:cNvPr id="32" name="Shape 30"/>
          <p:cNvSpPr/>
          <p:nvPr/>
        </p:nvSpPr>
        <p:spPr>
          <a:xfrm>
            <a:off x="7936992" y="3236976"/>
            <a:ext cx="868680" cy="530352"/>
          </a:xfrm>
          <a:prstGeom prst="rect">
            <a:avLst/>
          </a:prstGeom>
          <a:solidFill>
            <a:srgbClr val="F4F8FA"/>
          </a:solidFill>
          <a:ln w="14605">
            <a:solidFill>
              <a:srgbClr val="C58B28"/>
            </a:solidFill>
            <a:prstDash val="solid"/>
          </a:ln>
        </p:spPr>
      </p:sp>
      <p:sp>
        <p:nvSpPr>
          <p:cNvPr id="33" name="Text 31"/>
          <p:cNvSpPr/>
          <p:nvPr/>
        </p:nvSpPr>
        <p:spPr>
          <a:xfrm>
            <a:off x="80101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LOCAL I/O</a:t>
            </a:r>
            <a:endParaRPr lang="en-US" sz="900" dirty="0"/>
          </a:p>
        </p:txBody>
      </p:sp>
      <p:sp>
        <p:nvSpPr>
          <p:cNvPr id="34" name="Shape 32"/>
          <p:cNvSpPr/>
          <p:nvPr/>
        </p:nvSpPr>
        <p:spPr>
          <a:xfrm>
            <a:off x="9656064" y="4352544"/>
            <a:ext cx="-1289304" cy="-841248"/>
          </a:xfrm>
          <a:prstGeom prst="line">
            <a:avLst/>
          </a:prstGeom>
          <a:noFill/>
          <a:ln w="14605">
            <a:solidFill>
              <a:srgbClr val="607585"/>
            </a:solidFill>
            <a:prstDash val="solid"/>
            <a:tailEnd type="triangle"/>
          </a:ln>
        </p:spPr>
      </p:sp>
      <p:sp>
        <p:nvSpPr>
          <p:cNvPr id="35" name="Shape 33"/>
          <p:cNvSpPr/>
          <p:nvPr/>
        </p:nvSpPr>
        <p:spPr>
          <a:xfrm>
            <a:off x="10451592" y="3236976"/>
            <a:ext cx="868680" cy="530352"/>
          </a:xfrm>
          <a:prstGeom prst="rect">
            <a:avLst/>
          </a:prstGeom>
          <a:solidFill>
            <a:srgbClr val="F4F8FA"/>
          </a:solidFill>
          <a:ln w="14605">
            <a:solidFill>
              <a:srgbClr val="C58B28"/>
            </a:solidFill>
            <a:prstDash val="solid"/>
          </a:ln>
        </p:spPr>
      </p:sp>
      <p:sp>
        <p:nvSpPr>
          <p:cNvPr id="36" name="Text 34"/>
          <p:cNvSpPr/>
          <p:nvPr/>
        </p:nvSpPr>
        <p:spPr>
          <a:xfrm>
            <a:off x="105247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REMOTE I/O</a:t>
            </a:r>
            <a:endParaRPr lang="en-US" sz="900" dirty="0"/>
          </a:p>
        </p:txBody>
      </p:sp>
      <p:sp>
        <p:nvSpPr>
          <p:cNvPr id="37" name="Shape 35"/>
          <p:cNvSpPr/>
          <p:nvPr/>
        </p:nvSpPr>
        <p:spPr>
          <a:xfrm>
            <a:off x="9656064" y="4352544"/>
            <a:ext cx="1225296" cy="-841248"/>
          </a:xfrm>
          <a:prstGeom prst="line">
            <a:avLst/>
          </a:prstGeom>
          <a:noFill/>
          <a:ln w="14605">
            <a:solidFill>
              <a:srgbClr val="607585"/>
            </a:solidFill>
            <a:prstDash val="solid"/>
            <a:tailEnd type="triangle"/>
          </a:ln>
        </p:spPr>
      </p:sp>
      <p:sp>
        <p:nvSpPr>
          <p:cNvPr id="38" name="Shape 36"/>
          <p:cNvSpPr/>
          <p:nvPr/>
        </p:nvSpPr>
        <p:spPr>
          <a:xfrm>
            <a:off x="7936992" y="4974336"/>
            <a:ext cx="868680" cy="530352"/>
          </a:xfrm>
          <a:prstGeom prst="rect">
            <a:avLst/>
          </a:prstGeom>
          <a:solidFill>
            <a:srgbClr val="F4F8FA"/>
          </a:solidFill>
          <a:ln w="14605">
            <a:solidFill>
              <a:srgbClr val="C58B28"/>
            </a:solidFill>
            <a:prstDash val="solid"/>
          </a:ln>
        </p:spPr>
      </p:sp>
      <p:sp>
        <p:nvSpPr>
          <p:cNvPr id="39" name="Text 37"/>
          <p:cNvSpPr/>
          <p:nvPr/>
        </p:nvSpPr>
        <p:spPr>
          <a:xfrm>
            <a:off x="80101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HMI</a:t>
            </a:r>
            <a:endParaRPr lang="en-US" sz="900" dirty="0"/>
          </a:p>
        </p:txBody>
      </p:sp>
      <p:sp>
        <p:nvSpPr>
          <p:cNvPr id="40" name="Shape 38"/>
          <p:cNvSpPr/>
          <p:nvPr/>
        </p:nvSpPr>
        <p:spPr>
          <a:xfrm>
            <a:off x="9656064" y="4352544"/>
            <a:ext cx="-1289304" cy="896112"/>
          </a:xfrm>
          <a:prstGeom prst="line">
            <a:avLst/>
          </a:prstGeom>
          <a:noFill/>
          <a:ln w="14605">
            <a:solidFill>
              <a:srgbClr val="607585"/>
            </a:solidFill>
            <a:prstDash val="solid"/>
            <a:tailEnd type="triangle"/>
          </a:ln>
        </p:spPr>
      </p:sp>
      <p:sp>
        <p:nvSpPr>
          <p:cNvPr id="41" name="Shape 39"/>
          <p:cNvSpPr/>
          <p:nvPr/>
        </p:nvSpPr>
        <p:spPr>
          <a:xfrm>
            <a:off x="10451592" y="4974336"/>
            <a:ext cx="868680" cy="530352"/>
          </a:xfrm>
          <a:prstGeom prst="rect">
            <a:avLst/>
          </a:prstGeom>
          <a:solidFill>
            <a:srgbClr val="F4F8FA"/>
          </a:solidFill>
          <a:ln w="14605">
            <a:solidFill>
              <a:srgbClr val="C58B28"/>
            </a:solidFill>
            <a:prstDash val="solid"/>
          </a:ln>
        </p:spPr>
      </p:sp>
      <p:sp>
        <p:nvSpPr>
          <p:cNvPr id="42" name="Text 40"/>
          <p:cNvSpPr/>
          <p:nvPr/>
        </p:nvSpPr>
        <p:spPr>
          <a:xfrm>
            <a:off x="105247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SCADA</a:t>
            </a:r>
            <a:endParaRPr lang="en-US" sz="900" dirty="0"/>
          </a:p>
        </p:txBody>
      </p:sp>
      <p:sp>
        <p:nvSpPr>
          <p:cNvPr id="43" name="Shape 41"/>
          <p:cNvSpPr/>
          <p:nvPr/>
        </p:nvSpPr>
        <p:spPr>
          <a:xfrm>
            <a:off x="9656064" y="4352544"/>
            <a:ext cx="1225296" cy="896112"/>
          </a:xfrm>
          <a:prstGeom prst="line">
            <a:avLst/>
          </a:prstGeom>
          <a:noFill/>
          <a:ln w="14605">
            <a:solidFill>
              <a:srgbClr val="607585"/>
            </a:solidFill>
            <a:prstDash val="solid"/>
            <a:tailEnd type="triangle"/>
          </a:ln>
        </p:spPr>
      </p:sp>
      <p:sp>
        <p:nvSpPr>
          <p:cNvPr id="44" name="Text 42"/>
          <p:cNvSpPr/>
          <p:nvPr/>
        </p:nvSpPr>
        <p:spPr>
          <a:xfrm>
            <a:off x="8010144" y="5632704"/>
            <a:ext cx="3236976" cy="384048"/>
          </a:xfrm>
          <a:prstGeom prst="rect">
            <a:avLst/>
          </a:prstGeom>
          <a:noFill/>
          <a:ln/>
        </p:spPr>
        <p:txBody>
          <a:bodyPr wrap="square" lIns="0" tIns="0" rIns="0" bIns="0" rtlCol="0" anchor="ctr">
            <a:normAutofit/>
          </a:bodyPr>
          <a:lstStyle/>
          <a:p>
            <a:pPr algn="ctr" indent="0" marL="0">
              <a:buNone/>
            </a:pPr>
            <a:r>
              <a:rPr lang="en-US" sz="970" dirty="0">
                <a:solidFill>
                  <a:srgbClr val="607585"/>
                </a:solidFill>
                <a:latin typeface="Aptos" pitchFamily="34" charset="0"/>
                <a:ea typeface="Aptos" pitchFamily="34" charset="-122"/>
                <a:cs typeface="Aptos" pitchFamily="34" charset="-120"/>
              </a:rPr>
              <a:t>Label the medium and protocol on every connection</a:t>
            </a:r>
            <a:endParaRPr lang="en-US" sz="97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Distributed I/O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Trace a remote MedPack input from sensor terminal through the remote-I/O channel and coupler, across its configured network, into the PLC tag and count logic.</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Check module/channel configuration, network update interval, diagnostics, power source, and supported data size in the actual CPU/coupler manuals.</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Define node-loss behavior from the configured system: the PLC may set bad quality, substitute configured values, enter a fault state, or take another documented action; never assume a universal fallback.</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Practical diagnosis: compare sensor/channel indications with PLC communication status and tag quality; expected result is to distinguish a field-channel fault from a lost coupler/network path.</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COMMUNICATION ARCHITECTURE</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9217152" y="4005072"/>
            <a:ext cx="868680" cy="694944"/>
          </a:xfrm>
          <a:prstGeom prst="rect">
            <a:avLst/>
          </a:prstGeom>
          <a:solidFill>
            <a:srgbClr val="F4F8FA"/>
          </a:solidFill>
          <a:ln w="14605">
            <a:solidFill>
              <a:srgbClr val="C58B28"/>
            </a:solidFill>
            <a:prstDash val="solid"/>
          </a:ln>
        </p:spPr>
      </p:sp>
      <p:sp>
        <p:nvSpPr>
          <p:cNvPr id="31" name="Text 29"/>
          <p:cNvSpPr/>
          <p:nvPr/>
        </p:nvSpPr>
        <p:spPr>
          <a:xfrm>
            <a:off x="9290304" y="4059936"/>
            <a:ext cx="722376" cy="585216"/>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NETWORK</a:t>
            </a:r>
            <a:endParaRPr lang="en-US" sz="950" dirty="0"/>
          </a:p>
          <a:p>
            <a:pPr algn="ctr" indent="0" marL="0">
              <a:buNone/>
            </a:pPr>
            <a:r>
              <a:rPr lang="en-US" sz="950" b="1" dirty="0">
                <a:solidFill>
                  <a:srgbClr val="1B3448"/>
                </a:solidFill>
                <a:latin typeface="Aptos" pitchFamily="34" charset="0"/>
                <a:ea typeface="Aptos" pitchFamily="34" charset="-122"/>
                <a:cs typeface="Aptos" pitchFamily="34" charset="-120"/>
              </a:rPr>
              <a:t>BUS</a:t>
            </a:r>
            <a:endParaRPr lang="en-US" sz="950" dirty="0"/>
          </a:p>
        </p:txBody>
      </p:sp>
      <p:sp>
        <p:nvSpPr>
          <p:cNvPr id="32" name="Shape 30"/>
          <p:cNvSpPr/>
          <p:nvPr/>
        </p:nvSpPr>
        <p:spPr>
          <a:xfrm>
            <a:off x="7936992" y="3236976"/>
            <a:ext cx="868680" cy="530352"/>
          </a:xfrm>
          <a:prstGeom prst="rect">
            <a:avLst/>
          </a:prstGeom>
          <a:solidFill>
            <a:srgbClr val="F4F8FA"/>
          </a:solidFill>
          <a:ln w="14605">
            <a:solidFill>
              <a:srgbClr val="C58B28"/>
            </a:solidFill>
            <a:prstDash val="solid"/>
          </a:ln>
        </p:spPr>
      </p:sp>
      <p:sp>
        <p:nvSpPr>
          <p:cNvPr id="33" name="Text 31"/>
          <p:cNvSpPr/>
          <p:nvPr/>
        </p:nvSpPr>
        <p:spPr>
          <a:xfrm>
            <a:off x="80101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LOCAL I/O</a:t>
            </a:r>
            <a:endParaRPr lang="en-US" sz="900" dirty="0"/>
          </a:p>
        </p:txBody>
      </p:sp>
      <p:sp>
        <p:nvSpPr>
          <p:cNvPr id="34" name="Shape 32"/>
          <p:cNvSpPr/>
          <p:nvPr/>
        </p:nvSpPr>
        <p:spPr>
          <a:xfrm>
            <a:off x="9656064" y="4352544"/>
            <a:ext cx="-1289304" cy="-841248"/>
          </a:xfrm>
          <a:prstGeom prst="line">
            <a:avLst/>
          </a:prstGeom>
          <a:noFill/>
          <a:ln w="14605">
            <a:solidFill>
              <a:srgbClr val="607585"/>
            </a:solidFill>
            <a:prstDash val="solid"/>
            <a:tailEnd type="triangle"/>
          </a:ln>
        </p:spPr>
      </p:sp>
      <p:sp>
        <p:nvSpPr>
          <p:cNvPr id="35" name="Shape 33"/>
          <p:cNvSpPr/>
          <p:nvPr/>
        </p:nvSpPr>
        <p:spPr>
          <a:xfrm>
            <a:off x="10451592" y="3236976"/>
            <a:ext cx="868680" cy="530352"/>
          </a:xfrm>
          <a:prstGeom prst="rect">
            <a:avLst/>
          </a:prstGeom>
          <a:solidFill>
            <a:srgbClr val="F4F8FA"/>
          </a:solidFill>
          <a:ln w="14605">
            <a:solidFill>
              <a:srgbClr val="C58B28"/>
            </a:solidFill>
            <a:prstDash val="solid"/>
          </a:ln>
        </p:spPr>
      </p:sp>
      <p:sp>
        <p:nvSpPr>
          <p:cNvPr id="36" name="Text 34"/>
          <p:cNvSpPr/>
          <p:nvPr/>
        </p:nvSpPr>
        <p:spPr>
          <a:xfrm>
            <a:off x="105247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REMOTE I/O</a:t>
            </a:r>
            <a:endParaRPr lang="en-US" sz="900" dirty="0"/>
          </a:p>
        </p:txBody>
      </p:sp>
      <p:sp>
        <p:nvSpPr>
          <p:cNvPr id="37" name="Shape 35"/>
          <p:cNvSpPr/>
          <p:nvPr/>
        </p:nvSpPr>
        <p:spPr>
          <a:xfrm>
            <a:off x="9656064" y="4352544"/>
            <a:ext cx="1225296" cy="-841248"/>
          </a:xfrm>
          <a:prstGeom prst="line">
            <a:avLst/>
          </a:prstGeom>
          <a:noFill/>
          <a:ln w="14605">
            <a:solidFill>
              <a:srgbClr val="607585"/>
            </a:solidFill>
            <a:prstDash val="solid"/>
            <a:tailEnd type="triangle"/>
          </a:ln>
        </p:spPr>
      </p:sp>
      <p:sp>
        <p:nvSpPr>
          <p:cNvPr id="38" name="Shape 36"/>
          <p:cNvSpPr/>
          <p:nvPr/>
        </p:nvSpPr>
        <p:spPr>
          <a:xfrm>
            <a:off x="7936992" y="4974336"/>
            <a:ext cx="868680" cy="530352"/>
          </a:xfrm>
          <a:prstGeom prst="rect">
            <a:avLst/>
          </a:prstGeom>
          <a:solidFill>
            <a:srgbClr val="F4F8FA"/>
          </a:solidFill>
          <a:ln w="14605">
            <a:solidFill>
              <a:srgbClr val="C58B28"/>
            </a:solidFill>
            <a:prstDash val="solid"/>
          </a:ln>
        </p:spPr>
      </p:sp>
      <p:sp>
        <p:nvSpPr>
          <p:cNvPr id="39" name="Text 37"/>
          <p:cNvSpPr/>
          <p:nvPr/>
        </p:nvSpPr>
        <p:spPr>
          <a:xfrm>
            <a:off x="80101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HMI</a:t>
            </a:r>
            <a:endParaRPr lang="en-US" sz="900" dirty="0"/>
          </a:p>
        </p:txBody>
      </p:sp>
      <p:sp>
        <p:nvSpPr>
          <p:cNvPr id="40" name="Shape 38"/>
          <p:cNvSpPr/>
          <p:nvPr/>
        </p:nvSpPr>
        <p:spPr>
          <a:xfrm>
            <a:off x="9656064" y="4352544"/>
            <a:ext cx="-1289304" cy="896112"/>
          </a:xfrm>
          <a:prstGeom prst="line">
            <a:avLst/>
          </a:prstGeom>
          <a:noFill/>
          <a:ln w="14605">
            <a:solidFill>
              <a:srgbClr val="607585"/>
            </a:solidFill>
            <a:prstDash val="solid"/>
            <a:tailEnd type="triangle"/>
          </a:ln>
        </p:spPr>
      </p:sp>
      <p:sp>
        <p:nvSpPr>
          <p:cNvPr id="41" name="Shape 39"/>
          <p:cNvSpPr/>
          <p:nvPr/>
        </p:nvSpPr>
        <p:spPr>
          <a:xfrm>
            <a:off x="10451592" y="4974336"/>
            <a:ext cx="868680" cy="530352"/>
          </a:xfrm>
          <a:prstGeom prst="rect">
            <a:avLst/>
          </a:prstGeom>
          <a:solidFill>
            <a:srgbClr val="F4F8FA"/>
          </a:solidFill>
          <a:ln w="14605">
            <a:solidFill>
              <a:srgbClr val="C58B28"/>
            </a:solidFill>
            <a:prstDash val="solid"/>
          </a:ln>
        </p:spPr>
      </p:sp>
      <p:sp>
        <p:nvSpPr>
          <p:cNvPr id="42" name="Text 40"/>
          <p:cNvSpPr/>
          <p:nvPr/>
        </p:nvSpPr>
        <p:spPr>
          <a:xfrm>
            <a:off x="105247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SCADA</a:t>
            </a:r>
            <a:endParaRPr lang="en-US" sz="900" dirty="0"/>
          </a:p>
        </p:txBody>
      </p:sp>
      <p:sp>
        <p:nvSpPr>
          <p:cNvPr id="43" name="Shape 41"/>
          <p:cNvSpPr/>
          <p:nvPr/>
        </p:nvSpPr>
        <p:spPr>
          <a:xfrm>
            <a:off x="9656064" y="4352544"/>
            <a:ext cx="1225296" cy="896112"/>
          </a:xfrm>
          <a:prstGeom prst="line">
            <a:avLst/>
          </a:prstGeom>
          <a:noFill/>
          <a:ln w="14605">
            <a:solidFill>
              <a:srgbClr val="607585"/>
            </a:solidFill>
            <a:prstDash val="solid"/>
            <a:tailEnd type="triangle"/>
          </a:ln>
        </p:spPr>
      </p:sp>
      <p:sp>
        <p:nvSpPr>
          <p:cNvPr id="44" name="Text 42"/>
          <p:cNvSpPr/>
          <p:nvPr/>
        </p:nvSpPr>
        <p:spPr>
          <a:xfrm>
            <a:off x="8010144" y="5632704"/>
            <a:ext cx="3236976" cy="384048"/>
          </a:xfrm>
          <a:prstGeom prst="rect">
            <a:avLst/>
          </a:prstGeom>
          <a:noFill/>
          <a:ln/>
        </p:spPr>
        <p:txBody>
          <a:bodyPr wrap="square" lIns="0" tIns="0" rIns="0" bIns="0" rtlCol="0" anchor="ctr">
            <a:normAutofit/>
          </a:bodyPr>
          <a:lstStyle/>
          <a:p>
            <a:pPr algn="ctr" indent="0" marL="0">
              <a:buNone/>
            </a:pPr>
            <a:r>
              <a:rPr lang="en-US" sz="970" dirty="0">
                <a:solidFill>
                  <a:srgbClr val="607585"/>
                </a:solidFill>
                <a:latin typeface="Aptos" pitchFamily="34" charset="0"/>
                <a:ea typeface="Aptos" pitchFamily="34" charset="-122"/>
                <a:cs typeface="Aptos" pitchFamily="34" charset="-120"/>
              </a:rPr>
              <a:t>Label the medium and protocol on every connection</a:t>
            </a:r>
            <a:endParaRPr lang="en-US" sz="97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Draw a MedPack bus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Activity procedure: place the MedPack PLC, local I/O, optional remote-I/O node, pill sensor, actuator interface, HMI, SCADA/maintenance workstation, and network switches on one architecture diagram.</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For every connection, label medium/interface, protocol, endpoint role, data direction, and any gateway; verify device capability from the selected manuals or mark it as a design assumption.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Draw the safety function boundary separately and mark which local sequencing must continue or stop safely if HMI, SCADA, or a supervisory network is unavailable.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Peer debrief: another team traces PillCount to an HMI and identifies the PLC's response to a lost remote-I/O node and to a lost supervisory connection.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Review bus-system advantages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Reduced long individual cable runs may lower installation effort when remote I/O is placed near a MedPack station, but total cost must include network devices, enclosures, power, configuration, and commissioning.</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Modular nodes can make a second station easier to add if spare capacity, compatible devices, network loading, addressing, and validated configuration are planned.</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Channel/device diagnostics and shared process data can help maintenance locate a failed sensor or compare station states, provided the protocol exposes useful diagnostics and quality is visible.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each claimed advantage, name the user, task, expected time/downtime or visibility improvement, and one condition that must hold for the benefit to occur.</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COMMUNICATION ARCHITECTURE</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9217152" y="4005072"/>
            <a:ext cx="868680" cy="694944"/>
          </a:xfrm>
          <a:prstGeom prst="rect">
            <a:avLst/>
          </a:prstGeom>
          <a:solidFill>
            <a:srgbClr val="F4F8FA"/>
          </a:solidFill>
          <a:ln w="14605">
            <a:solidFill>
              <a:srgbClr val="C58B28"/>
            </a:solidFill>
            <a:prstDash val="solid"/>
          </a:ln>
        </p:spPr>
      </p:sp>
      <p:sp>
        <p:nvSpPr>
          <p:cNvPr id="31" name="Text 29"/>
          <p:cNvSpPr/>
          <p:nvPr/>
        </p:nvSpPr>
        <p:spPr>
          <a:xfrm>
            <a:off x="9290304" y="4059936"/>
            <a:ext cx="722376" cy="585216"/>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NETWORK</a:t>
            </a:r>
            <a:endParaRPr lang="en-US" sz="950" dirty="0"/>
          </a:p>
          <a:p>
            <a:pPr algn="ctr" indent="0" marL="0">
              <a:buNone/>
            </a:pPr>
            <a:r>
              <a:rPr lang="en-US" sz="950" b="1" dirty="0">
                <a:solidFill>
                  <a:srgbClr val="1B3448"/>
                </a:solidFill>
                <a:latin typeface="Aptos" pitchFamily="34" charset="0"/>
                <a:ea typeface="Aptos" pitchFamily="34" charset="-122"/>
                <a:cs typeface="Aptos" pitchFamily="34" charset="-120"/>
              </a:rPr>
              <a:t>BUS</a:t>
            </a:r>
            <a:endParaRPr lang="en-US" sz="950" dirty="0"/>
          </a:p>
        </p:txBody>
      </p:sp>
      <p:sp>
        <p:nvSpPr>
          <p:cNvPr id="32" name="Shape 30"/>
          <p:cNvSpPr/>
          <p:nvPr/>
        </p:nvSpPr>
        <p:spPr>
          <a:xfrm>
            <a:off x="7936992" y="3236976"/>
            <a:ext cx="868680" cy="530352"/>
          </a:xfrm>
          <a:prstGeom prst="rect">
            <a:avLst/>
          </a:prstGeom>
          <a:solidFill>
            <a:srgbClr val="F4F8FA"/>
          </a:solidFill>
          <a:ln w="14605">
            <a:solidFill>
              <a:srgbClr val="C58B28"/>
            </a:solidFill>
            <a:prstDash val="solid"/>
          </a:ln>
        </p:spPr>
      </p:sp>
      <p:sp>
        <p:nvSpPr>
          <p:cNvPr id="33" name="Text 31"/>
          <p:cNvSpPr/>
          <p:nvPr/>
        </p:nvSpPr>
        <p:spPr>
          <a:xfrm>
            <a:off x="80101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LOCAL I/O</a:t>
            </a:r>
            <a:endParaRPr lang="en-US" sz="900" dirty="0"/>
          </a:p>
        </p:txBody>
      </p:sp>
      <p:sp>
        <p:nvSpPr>
          <p:cNvPr id="34" name="Shape 32"/>
          <p:cNvSpPr/>
          <p:nvPr/>
        </p:nvSpPr>
        <p:spPr>
          <a:xfrm>
            <a:off x="9656064" y="4352544"/>
            <a:ext cx="-1289304" cy="-841248"/>
          </a:xfrm>
          <a:prstGeom prst="line">
            <a:avLst/>
          </a:prstGeom>
          <a:noFill/>
          <a:ln w="14605">
            <a:solidFill>
              <a:srgbClr val="607585"/>
            </a:solidFill>
            <a:prstDash val="solid"/>
            <a:tailEnd type="triangle"/>
          </a:ln>
        </p:spPr>
      </p:sp>
      <p:sp>
        <p:nvSpPr>
          <p:cNvPr id="35" name="Shape 33"/>
          <p:cNvSpPr/>
          <p:nvPr/>
        </p:nvSpPr>
        <p:spPr>
          <a:xfrm>
            <a:off x="10451592" y="3236976"/>
            <a:ext cx="868680" cy="530352"/>
          </a:xfrm>
          <a:prstGeom prst="rect">
            <a:avLst/>
          </a:prstGeom>
          <a:solidFill>
            <a:srgbClr val="F4F8FA"/>
          </a:solidFill>
          <a:ln w="14605">
            <a:solidFill>
              <a:srgbClr val="C58B28"/>
            </a:solidFill>
            <a:prstDash val="solid"/>
          </a:ln>
        </p:spPr>
      </p:sp>
      <p:sp>
        <p:nvSpPr>
          <p:cNvPr id="36" name="Text 34"/>
          <p:cNvSpPr/>
          <p:nvPr/>
        </p:nvSpPr>
        <p:spPr>
          <a:xfrm>
            <a:off x="10524744" y="329184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REMOTE I/O</a:t>
            </a:r>
            <a:endParaRPr lang="en-US" sz="900" dirty="0"/>
          </a:p>
        </p:txBody>
      </p:sp>
      <p:sp>
        <p:nvSpPr>
          <p:cNvPr id="37" name="Shape 35"/>
          <p:cNvSpPr/>
          <p:nvPr/>
        </p:nvSpPr>
        <p:spPr>
          <a:xfrm>
            <a:off x="9656064" y="4352544"/>
            <a:ext cx="1225296" cy="-841248"/>
          </a:xfrm>
          <a:prstGeom prst="line">
            <a:avLst/>
          </a:prstGeom>
          <a:noFill/>
          <a:ln w="14605">
            <a:solidFill>
              <a:srgbClr val="607585"/>
            </a:solidFill>
            <a:prstDash val="solid"/>
            <a:tailEnd type="triangle"/>
          </a:ln>
        </p:spPr>
      </p:sp>
      <p:sp>
        <p:nvSpPr>
          <p:cNvPr id="38" name="Shape 36"/>
          <p:cNvSpPr/>
          <p:nvPr/>
        </p:nvSpPr>
        <p:spPr>
          <a:xfrm>
            <a:off x="7936992" y="4974336"/>
            <a:ext cx="868680" cy="530352"/>
          </a:xfrm>
          <a:prstGeom prst="rect">
            <a:avLst/>
          </a:prstGeom>
          <a:solidFill>
            <a:srgbClr val="F4F8FA"/>
          </a:solidFill>
          <a:ln w="14605">
            <a:solidFill>
              <a:srgbClr val="C58B28"/>
            </a:solidFill>
            <a:prstDash val="solid"/>
          </a:ln>
        </p:spPr>
      </p:sp>
      <p:sp>
        <p:nvSpPr>
          <p:cNvPr id="39" name="Text 37"/>
          <p:cNvSpPr/>
          <p:nvPr/>
        </p:nvSpPr>
        <p:spPr>
          <a:xfrm>
            <a:off x="80101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HMI</a:t>
            </a:r>
            <a:endParaRPr lang="en-US" sz="900" dirty="0"/>
          </a:p>
        </p:txBody>
      </p:sp>
      <p:sp>
        <p:nvSpPr>
          <p:cNvPr id="40" name="Shape 38"/>
          <p:cNvSpPr/>
          <p:nvPr/>
        </p:nvSpPr>
        <p:spPr>
          <a:xfrm>
            <a:off x="9656064" y="4352544"/>
            <a:ext cx="-1289304" cy="896112"/>
          </a:xfrm>
          <a:prstGeom prst="line">
            <a:avLst/>
          </a:prstGeom>
          <a:noFill/>
          <a:ln w="14605">
            <a:solidFill>
              <a:srgbClr val="607585"/>
            </a:solidFill>
            <a:prstDash val="solid"/>
            <a:tailEnd type="triangle"/>
          </a:ln>
        </p:spPr>
      </p:sp>
      <p:sp>
        <p:nvSpPr>
          <p:cNvPr id="41" name="Shape 39"/>
          <p:cNvSpPr/>
          <p:nvPr/>
        </p:nvSpPr>
        <p:spPr>
          <a:xfrm>
            <a:off x="10451592" y="4974336"/>
            <a:ext cx="868680" cy="530352"/>
          </a:xfrm>
          <a:prstGeom prst="rect">
            <a:avLst/>
          </a:prstGeom>
          <a:solidFill>
            <a:srgbClr val="F4F8FA"/>
          </a:solidFill>
          <a:ln w="14605">
            <a:solidFill>
              <a:srgbClr val="C58B28"/>
            </a:solidFill>
            <a:prstDash val="solid"/>
          </a:ln>
        </p:spPr>
      </p:sp>
      <p:sp>
        <p:nvSpPr>
          <p:cNvPr id="42" name="Text 40"/>
          <p:cNvSpPr/>
          <p:nvPr/>
        </p:nvSpPr>
        <p:spPr>
          <a:xfrm>
            <a:off x="10524744" y="5029200"/>
            <a:ext cx="722376" cy="420624"/>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SCADA</a:t>
            </a:r>
            <a:endParaRPr lang="en-US" sz="900" dirty="0"/>
          </a:p>
        </p:txBody>
      </p:sp>
      <p:sp>
        <p:nvSpPr>
          <p:cNvPr id="43" name="Shape 41"/>
          <p:cNvSpPr/>
          <p:nvPr/>
        </p:nvSpPr>
        <p:spPr>
          <a:xfrm>
            <a:off x="9656064" y="4352544"/>
            <a:ext cx="1225296" cy="896112"/>
          </a:xfrm>
          <a:prstGeom prst="line">
            <a:avLst/>
          </a:prstGeom>
          <a:noFill/>
          <a:ln w="14605">
            <a:solidFill>
              <a:srgbClr val="607585"/>
            </a:solidFill>
            <a:prstDash val="solid"/>
            <a:tailEnd type="triangle"/>
          </a:ln>
        </p:spPr>
      </p:sp>
      <p:sp>
        <p:nvSpPr>
          <p:cNvPr id="44" name="Text 42"/>
          <p:cNvSpPr/>
          <p:nvPr/>
        </p:nvSpPr>
        <p:spPr>
          <a:xfrm>
            <a:off x="8010144" y="5632704"/>
            <a:ext cx="3236976" cy="384048"/>
          </a:xfrm>
          <a:prstGeom prst="rect">
            <a:avLst/>
          </a:prstGeom>
          <a:noFill/>
          <a:ln/>
        </p:spPr>
        <p:txBody>
          <a:bodyPr wrap="square" lIns="0" tIns="0" rIns="0" bIns="0" rtlCol="0" anchor="ctr">
            <a:normAutofit/>
          </a:bodyPr>
          <a:lstStyle/>
          <a:p>
            <a:pPr algn="ctr" indent="0" marL="0">
              <a:buNone/>
            </a:pPr>
            <a:r>
              <a:rPr lang="en-US" sz="970" dirty="0">
                <a:solidFill>
                  <a:srgbClr val="607585"/>
                </a:solidFill>
                <a:latin typeface="Aptos" pitchFamily="34" charset="0"/>
                <a:ea typeface="Aptos" pitchFamily="34" charset="-122"/>
                <a:cs typeface="Aptos" pitchFamily="34" charset="-120"/>
              </a:rPr>
              <a:t>Label the medium and protocol on every connection</a:t>
            </a:r>
            <a:endParaRPr lang="en-US" sz="97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Review constraints and failure modes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 bus adds devices, configuration/version management, specialist skills, spare-parts planning, and possible vendor dependencies; compare lifecycle and installed cost, not cable quantity alone.</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Shared switches, power supplies, couplers, or configuration errors can create common failure domains; assess node loss, network recovery, stale data, and the effect on each station.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Check interoperability and update timing using device profiles, PLC/module support, actual traffic/load design, and tested response requirements; never infer deterministic response from Ethernet alone.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 simple hardwired connection may remain preferable for a small, fixed, low-data-count function when it gives clearer diagnosis or fewer dependencies; safety circuits follow their required safety design, not a cost-only choice.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FAULT AND RISK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092440" y="2734056"/>
            <a:ext cx="1389888" cy="484632"/>
          </a:xfrm>
          <a:prstGeom prst="rect">
            <a:avLst/>
          </a:prstGeom>
          <a:solidFill>
            <a:srgbClr val="F6F8FA"/>
          </a:solidFill>
          <a:ln w="14605">
            <a:solidFill>
              <a:srgbClr val="C58B28"/>
            </a:solidFill>
            <a:prstDash val="solid"/>
          </a:ln>
        </p:spPr>
      </p:sp>
      <p:sp>
        <p:nvSpPr>
          <p:cNvPr id="31" name="Text 29"/>
          <p:cNvSpPr/>
          <p:nvPr/>
        </p:nvSpPr>
        <p:spPr>
          <a:xfrm>
            <a:off x="8165592" y="2788920"/>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Initiating event</a:t>
            </a:r>
            <a:endParaRPr lang="en-US" sz="930" dirty="0"/>
          </a:p>
        </p:txBody>
      </p:sp>
      <p:sp>
        <p:nvSpPr>
          <p:cNvPr id="32" name="Shape 30"/>
          <p:cNvSpPr/>
          <p:nvPr/>
        </p:nvSpPr>
        <p:spPr>
          <a:xfrm>
            <a:off x="9656064" y="2980944"/>
            <a:ext cx="1207008" cy="0"/>
          </a:xfrm>
          <a:prstGeom prst="line">
            <a:avLst/>
          </a:prstGeom>
          <a:noFill/>
          <a:ln w="16510">
            <a:solidFill>
              <a:srgbClr val="607585"/>
            </a:solidFill>
            <a:prstDash val="solid"/>
            <a:tailEnd type="triangle"/>
          </a:ln>
        </p:spPr>
      </p:sp>
      <p:sp>
        <p:nvSpPr>
          <p:cNvPr id="33" name="Shape 31"/>
          <p:cNvSpPr/>
          <p:nvPr/>
        </p:nvSpPr>
        <p:spPr>
          <a:xfrm>
            <a:off x="8092440" y="3438144"/>
            <a:ext cx="1389888" cy="484632"/>
          </a:xfrm>
          <a:prstGeom prst="rect">
            <a:avLst/>
          </a:prstGeom>
          <a:solidFill>
            <a:srgbClr val="F6F8FA"/>
          </a:solidFill>
          <a:ln w="14605">
            <a:solidFill>
              <a:srgbClr val="C58B28"/>
            </a:solidFill>
            <a:prstDash val="solid"/>
          </a:ln>
        </p:spPr>
      </p:sp>
      <p:sp>
        <p:nvSpPr>
          <p:cNvPr id="34" name="Text 32"/>
          <p:cNvSpPr/>
          <p:nvPr/>
        </p:nvSpPr>
        <p:spPr>
          <a:xfrm>
            <a:off x="8165592" y="3493008"/>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Process effect</a:t>
            </a:r>
            <a:endParaRPr lang="en-US" sz="930" dirty="0"/>
          </a:p>
        </p:txBody>
      </p:sp>
      <p:sp>
        <p:nvSpPr>
          <p:cNvPr id="35" name="Shape 33"/>
          <p:cNvSpPr/>
          <p:nvPr/>
        </p:nvSpPr>
        <p:spPr>
          <a:xfrm>
            <a:off x="9656064" y="3685032"/>
            <a:ext cx="1207008" cy="0"/>
          </a:xfrm>
          <a:prstGeom prst="line">
            <a:avLst/>
          </a:prstGeom>
          <a:noFill/>
          <a:ln w="16510">
            <a:solidFill>
              <a:srgbClr val="607585"/>
            </a:solidFill>
            <a:prstDash val="solid"/>
            <a:tailEnd type="triangle"/>
          </a:ln>
        </p:spPr>
      </p:sp>
      <p:sp>
        <p:nvSpPr>
          <p:cNvPr id="36" name="Shape 34"/>
          <p:cNvSpPr/>
          <p:nvPr/>
        </p:nvSpPr>
        <p:spPr>
          <a:xfrm>
            <a:off x="8092440" y="4142232"/>
            <a:ext cx="1389888" cy="484632"/>
          </a:xfrm>
          <a:prstGeom prst="rect">
            <a:avLst/>
          </a:prstGeom>
          <a:solidFill>
            <a:srgbClr val="F6F8FA"/>
          </a:solidFill>
          <a:ln w="14605">
            <a:solidFill>
              <a:srgbClr val="C58B28"/>
            </a:solidFill>
            <a:prstDash val="solid"/>
          </a:ln>
        </p:spPr>
      </p:sp>
      <p:sp>
        <p:nvSpPr>
          <p:cNvPr id="37" name="Text 35"/>
          <p:cNvSpPr/>
          <p:nvPr/>
        </p:nvSpPr>
        <p:spPr>
          <a:xfrm>
            <a:off x="8165592" y="4197096"/>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Detection</a:t>
            </a:r>
            <a:endParaRPr lang="en-US" sz="930" dirty="0"/>
          </a:p>
        </p:txBody>
      </p:sp>
      <p:sp>
        <p:nvSpPr>
          <p:cNvPr id="38" name="Shape 36"/>
          <p:cNvSpPr/>
          <p:nvPr/>
        </p:nvSpPr>
        <p:spPr>
          <a:xfrm>
            <a:off x="9656064" y="4389120"/>
            <a:ext cx="1207008" cy="0"/>
          </a:xfrm>
          <a:prstGeom prst="line">
            <a:avLst/>
          </a:prstGeom>
          <a:noFill/>
          <a:ln w="16510">
            <a:solidFill>
              <a:srgbClr val="087F8C"/>
            </a:solidFill>
            <a:prstDash val="solid"/>
            <a:tailEnd type="triangle"/>
          </a:ln>
        </p:spPr>
      </p:sp>
      <p:sp>
        <p:nvSpPr>
          <p:cNvPr id="39" name="Shape 37"/>
          <p:cNvSpPr/>
          <p:nvPr/>
        </p:nvSpPr>
        <p:spPr>
          <a:xfrm>
            <a:off x="8092440" y="4846320"/>
            <a:ext cx="1389888" cy="484632"/>
          </a:xfrm>
          <a:prstGeom prst="rect">
            <a:avLst/>
          </a:prstGeom>
          <a:solidFill>
            <a:srgbClr val="EAF3F0"/>
          </a:solidFill>
          <a:ln w="14605">
            <a:solidFill>
              <a:srgbClr val="087F8C"/>
            </a:solidFill>
            <a:prstDash val="solid"/>
          </a:ln>
        </p:spPr>
      </p:sp>
      <p:sp>
        <p:nvSpPr>
          <p:cNvPr id="40" name="Text 38"/>
          <p:cNvSpPr/>
          <p:nvPr/>
        </p:nvSpPr>
        <p:spPr>
          <a:xfrm>
            <a:off x="8165592" y="4901184"/>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Response / recovery</a:t>
            </a:r>
            <a:endParaRPr lang="en-US" sz="930" dirty="0"/>
          </a:p>
        </p:txBody>
      </p:sp>
      <p:sp>
        <p:nvSpPr>
          <p:cNvPr id="41" name="Text 39"/>
          <p:cNvSpPr/>
          <p:nvPr/>
        </p:nvSpPr>
        <p:spPr>
          <a:xfrm>
            <a:off x="8037576" y="5586984"/>
            <a:ext cx="3337560" cy="384048"/>
          </a:xfrm>
          <a:prstGeom prst="rect">
            <a:avLst/>
          </a:prstGeom>
          <a:noFill/>
          <a:ln/>
        </p:spPr>
        <p:txBody>
          <a:bodyPr wrap="square" lIns="0" tIns="0" rIns="0" bIns="0" rtlCol="0" anchor="ctr">
            <a:normAutofit/>
          </a:bodyPr>
          <a:lstStyle/>
          <a:p>
            <a:pPr algn="ctr" indent="0" marL="0">
              <a:buNone/>
            </a:pPr>
            <a:r>
              <a:rPr lang="en-US" sz="920" dirty="0">
                <a:solidFill>
                  <a:srgbClr val="1B3448"/>
                </a:solidFill>
                <a:latin typeface="Aptos" pitchFamily="34" charset="0"/>
                <a:ea typeface="Aptos" pitchFamily="34" charset="-122"/>
                <a:cs typeface="Aptos" pitchFamily="34" charset="-120"/>
              </a:rPr>
              <a:t>Estimate likelihood and severity from evidence, not guesswork</a:t>
            </a:r>
            <a:endParaRPr lang="en-US" sz="920" dirty="0"/>
          </a:p>
        </p:txBody>
      </p:sp>
      <p:sp>
        <p:nvSpPr>
          <p:cNvPr id="42" name="Shape 40"/>
          <p:cNvSpPr/>
          <p:nvPr/>
        </p:nvSpPr>
        <p:spPr>
          <a:xfrm>
            <a:off x="603504" y="6318504"/>
            <a:ext cx="10972800" cy="0"/>
          </a:xfrm>
          <a:prstGeom prst="line">
            <a:avLst/>
          </a:prstGeom>
          <a:noFill/>
          <a:ln w="10160">
            <a:solidFill>
              <a:srgbClr val="D5E0E7"/>
            </a:solidFill>
            <a:prstDash val="solid"/>
          </a:ln>
        </p:spPr>
      </p:sp>
      <p:sp>
        <p:nvSpPr>
          <p:cNvPr id="43" name="Text 4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4" name="Text 4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P4 claim-evidence-consequence activity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240" dirty="0">
                <a:solidFill>
                  <a:srgbClr val="334B5C"/>
                </a:solidFill>
                <a:latin typeface="Aptos" pitchFamily="34" charset="0"/>
                <a:ea typeface="Aptos" pitchFamily="34" charset="-122"/>
                <a:cs typeface="Aptos" pitchFamily="34" charset="-120"/>
              </a:rPr>
              <a:t>Activity procedure: each team writes two claims about a proposed MedPack bus, then attaches one site-specific evidence item, an operational consequence, and a counterpoint to each.</a:t>
            </a:r>
            <a:endParaRPr lang="en-US" sz="124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58B28"/>
          </a:solidFill>
          <a:ln w="12700">
            <a:solidFill>
              <a:srgbClr val="C58B28">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240" dirty="0">
                <a:solidFill>
                  <a:srgbClr val="334B5C"/>
                </a:solidFill>
                <a:latin typeface="Aptos" pitchFamily="34" charset="0"/>
                <a:ea typeface="Aptos" pitchFamily="34" charset="-122"/>
                <a:cs typeface="Aptos" pitchFamily="34" charset="-120"/>
              </a:rPr>
              <a:t>Example claim: remote I/O may shorten sensor cable routes for the second station; evidence should show route lengths/panel layout, consequence should identify installation or diagnosis impact, and counterpoint should include node/network cost and failure behavior.</a:t>
            </a:r>
            <a:endParaRPr lang="en-US" sz="124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58B28"/>
          </a:solidFill>
          <a:ln w="12700">
            <a:solidFill>
              <a:srgbClr val="C58B28">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240" dirty="0">
                <a:solidFill>
                  <a:srgbClr val="334B5C"/>
                </a:solidFill>
                <a:latin typeface="Aptos" pitchFamily="34" charset="0"/>
                <a:ea typeface="Aptos" pitchFamily="34" charset="-122"/>
                <a:cs typeface="Aptos" pitchFamily="34" charset="-120"/>
              </a:rPr>
              <a:t>Expected debrief rejects “less wiring is always cheaper” unless total installed and lifecycle cost is compared; distinguish a measured fact from a design assumption.</a:t>
            </a:r>
            <a:endParaRPr lang="en-US" sz="124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8138160" y="2697480"/>
            <a:ext cx="256032" cy="256032"/>
          </a:xfrm>
          <a:prstGeom prst="rect">
            <a:avLst/>
          </a:prstGeom>
          <a:solidFill>
            <a:srgbClr val="FFFFFF"/>
          </a:solidFill>
          <a:ln w="17780">
            <a:solidFill>
              <a:srgbClr val="C58B28"/>
            </a:solidFill>
            <a:prstDash val="solid"/>
          </a:ln>
        </p:spPr>
      </p:sp>
      <p:sp>
        <p:nvSpPr>
          <p:cNvPr id="27" name="Text 25"/>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28" name="Text 26"/>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TOPOLOGY</a:t>
            </a:r>
            <a:endParaRPr lang="en-US" sz="1000" dirty="0"/>
          </a:p>
        </p:txBody>
      </p:sp>
      <p:sp>
        <p:nvSpPr>
          <p:cNvPr id="29" name="Shape 27"/>
          <p:cNvSpPr/>
          <p:nvPr/>
        </p:nvSpPr>
        <p:spPr>
          <a:xfrm>
            <a:off x="8558784" y="3163824"/>
            <a:ext cx="2542032" cy="0"/>
          </a:xfrm>
          <a:prstGeom prst="line">
            <a:avLst/>
          </a:prstGeom>
          <a:noFill/>
          <a:ln w="8890">
            <a:solidFill>
              <a:srgbClr val="D5E0E7"/>
            </a:solidFill>
            <a:prstDash val="solid"/>
          </a:ln>
        </p:spPr>
      </p:sp>
      <p:sp>
        <p:nvSpPr>
          <p:cNvPr id="30" name="Shape 28"/>
          <p:cNvSpPr/>
          <p:nvPr/>
        </p:nvSpPr>
        <p:spPr>
          <a:xfrm>
            <a:off x="8138160" y="3447288"/>
            <a:ext cx="256032" cy="256032"/>
          </a:xfrm>
          <a:prstGeom prst="rect">
            <a:avLst/>
          </a:prstGeom>
          <a:solidFill>
            <a:srgbClr val="FFFFFF"/>
          </a:solidFill>
          <a:ln w="17780">
            <a:solidFill>
              <a:srgbClr val="C58B28"/>
            </a:solidFill>
            <a:prstDash val="solid"/>
          </a:ln>
        </p:spPr>
      </p:sp>
      <p:sp>
        <p:nvSpPr>
          <p:cNvPr id="31" name="Text 29"/>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2" name="Text 30"/>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DATA / TAG MAP</a:t>
            </a:r>
            <a:endParaRPr lang="en-US" sz="1000" dirty="0"/>
          </a:p>
        </p:txBody>
      </p:sp>
      <p:sp>
        <p:nvSpPr>
          <p:cNvPr id="33" name="Shape 31"/>
          <p:cNvSpPr/>
          <p:nvPr/>
        </p:nvSpPr>
        <p:spPr>
          <a:xfrm>
            <a:off x="8558784" y="3913632"/>
            <a:ext cx="2542032" cy="0"/>
          </a:xfrm>
          <a:prstGeom prst="line">
            <a:avLst/>
          </a:prstGeom>
          <a:noFill/>
          <a:ln w="8890">
            <a:solidFill>
              <a:srgbClr val="D5E0E7"/>
            </a:solidFill>
            <a:prstDash val="solid"/>
          </a:ln>
        </p:spPr>
      </p:sp>
      <p:sp>
        <p:nvSpPr>
          <p:cNvPr id="34" name="Shape 32"/>
          <p:cNvSpPr/>
          <p:nvPr/>
        </p:nvSpPr>
        <p:spPr>
          <a:xfrm>
            <a:off x="8138160" y="4197096"/>
            <a:ext cx="256032" cy="256032"/>
          </a:xfrm>
          <a:prstGeom prst="rect">
            <a:avLst/>
          </a:prstGeom>
          <a:solidFill>
            <a:srgbClr val="FFFFFF"/>
          </a:solidFill>
          <a:ln w="17780">
            <a:solidFill>
              <a:srgbClr val="C58B28"/>
            </a:solidFill>
            <a:prstDash val="solid"/>
          </a:ln>
        </p:spPr>
      </p:sp>
      <p:sp>
        <p:nvSpPr>
          <p:cNvPr id="35" name="Text 33"/>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36" name="Text 34"/>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PERMISSIONS</a:t>
            </a:r>
            <a:endParaRPr lang="en-US" sz="1000" dirty="0"/>
          </a:p>
        </p:txBody>
      </p:sp>
      <p:sp>
        <p:nvSpPr>
          <p:cNvPr id="37" name="Shape 35"/>
          <p:cNvSpPr/>
          <p:nvPr/>
        </p:nvSpPr>
        <p:spPr>
          <a:xfrm>
            <a:off x="8558784" y="4663440"/>
            <a:ext cx="2542032" cy="0"/>
          </a:xfrm>
          <a:prstGeom prst="line">
            <a:avLst/>
          </a:prstGeom>
          <a:noFill/>
          <a:ln w="8890">
            <a:solidFill>
              <a:srgbClr val="D5E0E7"/>
            </a:solidFill>
            <a:prstDash val="solid"/>
          </a:ln>
        </p:spPr>
      </p:sp>
      <p:sp>
        <p:nvSpPr>
          <p:cNvPr id="38" name="Shape 36"/>
          <p:cNvSpPr/>
          <p:nvPr/>
        </p:nvSpPr>
        <p:spPr>
          <a:xfrm>
            <a:off x="8138160" y="4946904"/>
            <a:ext cx="256032" cy="256032"/>
          </a:xfrm>
          <a:prstGeom prst="rect">
            <a:avLst/>
          </a:prstGeom>
          <a:solidFill>
            <a:srgbClr val="FFFFFF"/>
          </a:solidFill>
          <a:ln w="17780">
            <a:solidFill>
              <a:srgbClr val="C58B28"/>
            </a:solidFill>
            <a:prstDash val="solid"/>
          </a:ln>
        </p:spPr>
      </p:sp>
      <p:sp>
        <p:nvSpPr>
          <p:cNvPr id="39" name="Text 37"/>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0" name="Text 38"/>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LOSS-OF-LINK STATE</a:t>
            </a:r>
            <a:endParaRPr lang="en-US" sz="100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HMI and SCADA roles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An HMI presents local operator status, permitted commands, alarms, and navigation; MedPack examples include run state, count/target, fault cause, and a validated Start request.</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SCADA commonly supervises multiple assets with data acquisition, alarm/event management, trends, and history; one product may combine HMI and SCADA functions, so describe capabilities and scope.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Identify the user and decision for each screen/data item; a count is useful only with known units, freshness, quality, and correct tag mapping.</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distinction: product name does not prove system role; explain what data is acquired, who acts on it, and where the control logic resides.</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58B28"/>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58B28"/>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58B28"/>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PLC-HMI-SCADA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Trace sensor/actuator signals into local PLC control, then show the supported PLC-to-HMI/SCADA protocol path, client/server roles, optional historian, and reporting path.</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Mark data direction and ownership: PLC retains sequence/permissive logic; the HMI requests bounded actions and displays status; supervisory services collect or present data according to configured permissions.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each network boundary, document protocol, endpoint, tag source, quality/freshness handling, and failure response; use actual product roles and maps rather than a generic “Ethernet” label.</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failure review: loss of ordinary HMI/SCADA should not defeat an independent safety function or essential local control; the actual safe/continued operating state must be defined by the control design.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58B28"/>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58B28"/>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58B28"/>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MedPack tag list and access rights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Create entries for RunState, PillCount, TargetCount, FaultCode, and ActuatorStatus, specifying type, units, source tag/address, update expectation, quality behavior, and read-only access.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Define StartRequest and ResetRequest as requests, not direct output writes; the PLC checks mode, permissives, process state, and reset conditions before acting.</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Keep EStopStatusReadOnly as status feedback only; a displayed value or HMI control is not the safety function or an authorised safety reset path.</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review: every writable item has a named owner, allowed range/command semantics, role permission, and PLC-side validation.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SIGNAL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27264" y="3438144"/>
            <a:ext cx="804672" cy="822960"/>
          </a:xfrm>
          <a:prstGeom prst="rect">
            <a:avLst/>
          </a:prstGeom>
          <a:solidFill>
            <a:srgbClr val="F4F8FA"/>
          </a:solidFill>
          <a:ln w="14605">
            <a:solidFill>
              <a:srgbClr val="C58B28"/>
            </a:solidFill>
            <a:prstDash val="solid"/>
          </a:ln>
        </p:spPr>
      </p:sp>
      <p:sp>
        <p:nvSpPr>
          <p:cNvPr id="31" name="Text 29"/>
          <p:cNvSpPr/>
          <p:nvPr/>
        </p:nvSpPr>
        <p:spPr>
          <a:xfrm>
            <a:off x="7900416" y="3493008"/>
            <a:ext cx="658368" cy="713232"/>
          </a:xfrm>
          <a:prstGeom prst="rect">
            <a:avLst/>
          </a:prstGeom>
          <a:noFill/>
          <a:ln/>
        </p:spPr>
        <p:txBody>
          <a:bodyPr wrap="square" lIns="0" tIns="0" rIns="0" bIns="0" rtlCol="0" anchor="ctr">
            <a:normAutofit/>
          </a:bodyPr>
          <a:lstStyle/>
          <a:p>
            <a:pPr algn="ctr" indent="0" marL="0">
              <a:buNone/>
            </a:pPr>
            <a:r>
              <a:rPr lang="en-US" sz="870" b="1" dirty="0">
                <a:solidFill>
                  <a:srgbClr val="1B3448"/>
                </a:solidFill>
                <a:latin typeface="Aptos" pitchFamily="34" charset="0"/>
                <a:ea typeface="Aptos" pitchFamily="34" charset="-122"/>
                <a:cs typeface="Aptos" pitchFamily="34" charset="-120"/>
              </a:rPr>
              <a:t>SENSOR +</a:t>
            </a:r>
            <a:endParaRPr lang="en-US" sz="870" dirty="0"/>
          </a:p>
          <a:p>
            <a:pPr algn="ctr" indent="0" marL="0">
              <a:buNone/>
            </a:pPr>
            <a:r>
              <a:rPr lang="en-US" sz="870" b="1" dirty="0">
                <a:solidFill>
                  <a:srgbClr val="1B3448"/>
                </a:solidFill>
                <a:latin typeface="Aptos" pitchFamily="34" charset="0"/>
                <a:ea typeface="Aptos" pitchFamily="34" charset="-122"/>
                <a:cs typeface="Aptos" pitchFamily="34" charset="-120"/>
              </a:rPr>
              <a:t>BUTTONS</a:t>
            </a:r>
            <a:endParaRPr lang="en-US" sz="870" dirty="0"/>
          </a:p>
        </p:txBody>
      </p:sp>
      <p:sp>
        <p:nvSpPr>
          <p:cNvPr id="32" name="Shape 30"/>
          <p:cNvSpPr/>
          <p:nvPr/>
        </p:nvSpPr>
        <p:spPr>
          <a:xfrm>
            <a:off x="8833104" y="3438144"/>
            <a:ext cx="685800" cy="822960"/>
          </a:xfrm>
          <a:prstGeom prst="rect">
            <a:avLst/>
          </a:prstGeom>
          <a:solidFill>
            <a:srgbClr val="F4F8FA"/>
          </a:solidFill>
          <a:ln w="14605">
            <a:solidFill>
              <a:srgbClr val="C58B28"/>
            </a:solidFill>
            <a:prstDash val="solid"/>
          </a:ln>
        </p:spPr>
      </p:sp>
      <p:sp>
        <p:nvSpPr>
          <p:cNvPr id="33" name="Text 31"/>
          <p:cNvSpPr/>
          <p:nvPr/>
        </p:nvSpPr>
        <p:spPr>
          <a:xfrm>
            <a:off x="8906256" y="3493008"/>
            <a:ext cx="539496"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PLC</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INPUTS</a:t>
            </a:r>
            <a:endParaRPr lang="en-US" sz="880" dirty="0"/>
          </a:p>
        </p:txBody>
      </p:sp>
      <p:sp>
        <p:nvSpPr>
          <p:cNvPr id="34" name="Shape 32"/>
          <p:cNvSpPr/>
          <p:nvPr/>
        </p:nvSpPr>
        <p:spPr>
          <a:xfrm>
            <a:off x="9720072" y="3438144"/>
            <a:ext cx="676656" cy="822960"/>
          </a:xfrm>
          <a:prstGeom prst="rect">
            <a:avLst/>
          </a:prstGeom>
          <a:solidFill>
            <a:srgbClr val="EAF3F4"/>
          </a:solidFill>
          <a:ln w="14605">
            <a:solidFill>
              <a:srgbClr val="C58B28"/>
            </a:solidFill>
            <a:prstDash val="solid"/>
          </a:ln>
        </p:spPr>
      </p:sp>
      <p:sp>
        <p:nvSpPr>
          <p:cNvPr id="35" name="Text 33"/>
          <p:cNvSpPr/>
          <p:nvPr/>
        </p:nvSpPr>
        <p:spPr>
          <a:xfrm>
            <a:off x="9793224" y="3493008"/>
            <a:ext cx="530352"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CPU</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LOGIC</a:t>
            </a:r>
            <a:endParaRPr lang="en-US" sz="880" dirty="0"/>
          </a:p>
        </p:txBody>
      </p:sp>
      <p:sp>
        <p:nvSpPr>
          <p:cNvPr id="36" name="Shape 34"/>
          <p:cNvSpPr/>
          <p:nvPr/>
        </p:nvSpPr>
        <p:spPr>
          <a:xfrm>
            <a:off x="10625328" y="3438144"/>
            <a:ext cx="722376" cy="822960"/>
          </a:xfrm>
          <a:prstGeom prst="rect">
            <a:avLst/>
          </a:prstGeom>
          <a:solidFill>
            <a:srgbClr val="F4F8FA"/>
          </a:solidFill>
          <a:ln w="14605">
            <a:solidFill>
              <a:srgbClr val="C58B28"/>
            </a:solidFill>
            <a:prstDash val="solid"/>
          </a:ln>
        </p:spPr>
      </p:sp>
      <p:sp>
        <p:nvSpPr>
          <p:cNvPr id="37" name="Text 35"/>
          <p:cNvSpPr/>
          <p:nvPr/>
        </p:nvSpPr>
        <p:spPr>
          <a:xfrm>
            <a:off x="10698480" y="3493008"/>
            <a:ext cx="576072" cy="713232"/>
          </a:xfrm>
          <a:prstGeom prst="rect">
            <a:avLst/>
          </a:prstGeom>
          <a:noFill/>
          <a:ln/>
        </p:spPr>
        <p:txBody>
          <a:bodyPr wrap="square" lIns="0" tIns="0" rIns="0" bIns="0" rtlCol="0" anchor="ctr">
            <a:normAutofit/>
          </a:bodyPr>
          <a:lstStyle/>
          <a:p>
            <a:pPr algn="ctr" indent="0" marL="0">
              <a:buNone/>
            </a:pPr>
            <a:r>
              <a:rPr lang="en-US" sz="820" b="1" dirty="0">
                <a:solidFill>
                  <a:srgbClr val="1B3448"/>
                </a:solidFill>
                <a:latin typeface="Aptos" pitchFamily="34" charset="0"/>
                <a:ea typeface="Aptos" pitchFamily="34" charset="-122"/>
                <a:cs typeface="Aptos" pitchFamily="34" charset="-120"/>
              </a:rPr>
              <a:t>OUTPUT</a:t>
            </a:r>
            <a:endParaRPr lang="en-US" sz="820" dirty="0"/>
          </a:p>
          <a:p>
            <a:pPr algn="ctr" indent="0" marL="0">
              <a:buNone/>
            </a:pPr>
            <a:r>
              <a:rPr lang="en-US" sz="820" b="1" dirty="0">
                <a:solidFill>
                  <a:srgbClr val="1B3448"/>
                </a:solidFill>
                <a:latin typeface="Aptos" pitchFamily="34" charset="0"/>
                <a:ea typeface="Aptos" pitchFamily="34" charset="-122"/>
                <a:cs typeface="Aptos" pitchFamily="34" charset="-120"/>
              </a:rPr>
              <a:t>INTERFACE</a:t>
            </a:r>
            <a:endParaRPr lang="en-US" sz="820" dirty="0"/>
          </a:p>
        </p:txBody>
      </p:sp>
      <p:sp>
        <p:nvSpPr>
          <p:cNvPr id="38" name="Shape 36"/>
          <p:cNvSpPr/>
          <p:nvPr/>
        </p:nvSpPr>
        <p:spPr>
          <a:xfrm>
            <a:off x="8650224" y="3849624"/>
            <a:ext cx="146304" cy="0"/>
          </a:xfrm>
          <a:prstGeom prst="line">
            <a:avLst/>
          </a:prstGeom>
          <a:noFill/>
          <a:ln w="22860">
            <a:solidFill>
              <a:srgbClr val="C58B28"/>
            </a:solidFill>
            <a:prstDash val="solid"/>
            <a:tailEnd type="triangle"/>
          </a:ln>
        </p:spPr>
      </p:sp>
      <p:sp>
        <p:nvSpPr>
          <p:cNvPr id="39" name="Shape 37"/>
          <p:cNvSpPr/>
          <p:nvPr/>
        </p:nvSpPr>
        <p:spPr>
          <a:xfrm>
            <a:off x="9537192" y="3849624"/>
            <a:ext cx="146304" cy="0"/>
          </a:xfrm>
          <a:prstGeom prst="line">
            <a:avLst/>
          </a:prstGeom>
          <a:noFill/>
          <a:ln w="22860">
            <a:solidFill>
              <a:srgbClr val="C58B28"/>
            </a:solidFill>
            <a:prstDash val="solid"/>
            <a:tailEnd type="triangle"/>
          </a:ln>
        </p:spPr>
      </p:sp>
      <p:sp>
        <p:nvSpPr>
          <p:cNvPr id="40" name="Shape 38"/>
          <p:cNvSpPr/>
          <p:nvPr/>
        </p:nvSpPr>
        <p:spPr>
          <a:xfrm>
            <a:off x="10415016" y="3849624"/>
            <a:ext cx="173736" cy="0"/>
          </a:xfrm>
          <a:prstGeom prst="line">
            <a:avLst/>
          </a:prstGeom>
          <a:noFill/>
          <a:ln w="22860">
            <a:solidFill>
              <a:srgbClr val="C58B28"/>
            </a:solidFill>
            <a:prstDash val="solid"/>
            <a:tailEnd type="triangle"/>
          </a:ln>
        </p:spPr>
      </p:sp>
      <p:sp>
        <p:nvSpPr>
          <p:cNvPr id="41" name="Text 39"/>
          <p:cNvSpPr/>
          <p:nvPr/>
        </p:nvSpPr>
        <p:spPr>
          <a:xfrm>
            <a:off x="8101584" y="4599432"/>
            <a:ext cx="2926080" cy="320040"/>
          </a:xfrm>
          <a:prstGeom prst="rect">
            <a:avLst/>
          </a:prstGeom>
          <a:noFill/>
          <a:ln/>
        </p:spPr>
        <p:txBody>
          <a:bodyPr wrap="square" lIns="0" tIns="0" rIns="0" bIns="0" rtlCol="0" anchor="ctr">
            <a:normAutofit/>
          </a:bodyPr>
          <a:lstStyle/>
          <a:p>
            <a:pPr algn="ctr" indent="0" marL="0">
              <a:buNone/>
            </a:pPr>
            <a:r>
              <a:rPr lang="en-US" sz="1000" b="1" dirty="0">
                <a:solidFill>
                  <a:srgbClr val="1B3448"/>
                </a:solidFill>
                <a:latin typeface="Aptos" pitchFamily="34" charset="0"/>
                <a:ea typeface="Aptos" pitchFamily="34" charset="-122"/>
                <a:cs typeface="Aptos" pitchFamily="34" charset="-120"/>
              </a:rPr>
              <a:t>ACTUATOR  /  BUZZER</a:t>
            </a:r>
            <a:endParaRPr lang="en-US" sz="1000" dirty="0"/>
          </a:p>
        </p:txBody>
      </p:sp>
      <p:sp>
        <p:nvSpPr>
          <p:cNvPr id="42" name="Text 40"/>
          <p:cNvSpPr/>
          <p:nvPr/>
        </p:nvSpPr>
        <p:spPr>
          <a:xfrm>
            <a:off x="8046720" y="5129784"/>
            <a:ext cx="3154680" cy="566928"/>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Verify voltage, polarity, load current and channel limits</a:t>
            </a:r>
            <a:endParaRPr lang="en-US" sz="105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Data-quality and operator-display rules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Distinguish a valid zero count from stale, disconnected, out-of-range, or unknown-quality data; represent invalidity visibly rather than leaving the last number looking current.</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Verify address offset, data type, scaling, units, update interval, and alarm state against the live PLC map; a plausible-looking display can still be mapped incorrectly.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Design MedPack screens so operator actions, alarm acknowledgement, and process state are distinguishable, with alarm priority and recovery instructions appropriate to the actual fault.</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HMI buttons are ordinary control requests and must never serve as E-stop devices or bypass safety reset requirements.</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TOPOLOGY</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DATA / TAG MAP</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PERMISSIONS</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LOSS-OF-LINK STATE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PLC-to-dashboard demonstration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Procedure: select the actual PLC endpoint and supported protocol, verify the live device map and access permissions, then read one safe status/count tag into the dashboard using its documented type and scaling.</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Show endpoint/role, protocol, address or symbol, update/poll interval, value quality, and the observed response to a deliberately disconnected simulator or test endpoint.</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observation: a valid known PLC value is displayed with correct units; a communication failure becomes stale/invalid rather than a false zero, and no safety function depends on the dashboard.</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If no hardware is available, present a fully labelled architecture, actual or explicitly hypothetical tag mapping, step-by-step data path, and clearly marked simulated readings; never copy sample addresses without verification.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M2 integration design challenge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Activity procedure: teams create an architecture and tag table, then trace one read value such as PillCount and one request such as StartRequest through every device, protocol, address/type, and logic boundary.</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the command path, show where the PLC validates permissives and process state; for the read path, show scaling, units, quality, and display update behavior.</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Peer review asks what the HMI displays during connection loss, how a stale value is distinguished from zero, and which manual/map or live test proves the mapping.</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submission is a readable diagram plus evidence or a transparent simulation; a screen mock-up alone does not show integration.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58B28"/>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58B28"/>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58B28"/>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Criteria evidence review</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P4 evidence should connect reduced wiring, expansion, diagnostics, modularity/distributed I/O, and monitoring to specific MedPack installation or maintenance consequences and stated limitations.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M2 evidence should show protocol and endpoint roles, architecture, named tags/data types, read/write direction, and a working data path or clear equivalent documentation.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Check evidence provenance: manual/map references, tested values, quality/failure behavior, and clear distinction between measured result and hypothetical example.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gap action: name the missing artifact, owner, and test needed before the next assessment review.</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TOPOLOGY</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DATA / TAG MAP</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PERMISSIONS</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LOSS-OF-LINK STATE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07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P4 / M2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Exit ticket: one bus benefit, one integration proof</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State one MedPack bus advantage, the operational evidence supporting it, and one constraint or condition that could reduce the benefit.</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58B28"/>
          </a:solidFill>
          <a:ln w="12700">
            <a:solidFill>
              <a:srgbClr val="C58B28">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Name one artifact that proves PLC-HMI/SCADA integration, such as a verified architecture plus tag map and known-value test or an observed working exchange.</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58B28"/>
          </a:solidFill>
          <a:ln w="12700">
            <a:solidFill>
              <a:srgbClr val="C58B28">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Include the protocol/data-map check and one failure-quality behavior that should be visible to the operator.</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8138160" y="2697480"/>
            <a:ext cx="256032" cy="256032"/>
          </a:xfrm>
          <a:prstGeom prst="rect">
            <a:avLst/>
          </a:prstGeom>
          <a:solidFill>
            <a:srgbClr val="FFFFFF"/>
          </a:solidFill>
          <a:ln w="17780">
            <a:solidFill>
              <a:srgbClr val="C58B28"/>
            </a:solidFill>
            <a:prstDash val="solid"/>
          </a:ln>
        </p:spPr>
      </p:sp>
      <p:sp>
        <p:nvSpPr>
          <p:cNvPr id="27" name="Text 25"/>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28" name="Text 26"/>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TOPOLOGY</a:t>
            </a:r>
            <a:endParaRPr lang="en-US" sz="1000" dirty="0"/>
          </a:p>
        </p:txBody>
      </p:sp>
      <p:sp>
        <p:nvSpPr>
          <p:cNvPr id="29" name="Shape 27"/>
          <p:cNvSpPr/>
          <p:nvPr/>
        </p:nvSpPr>
        <p:spPr>
          <a:xfrm>
            <a:off x="8558784" y="3163824"/>
            <a:ext cx="2542032" cy="0"/>
          </a:xfrm>
          <a:prstGeom prst="line">
            <a:avLst/>
          </a:prstGeom>
          <a:noFill/>
          <a:ln w="8890">
            <a:solidFill>
              <a:srgbClr val="D5E0E7"/>
            </a:solidFill>
            <a:prstDash val="solid"/>
          </a:ln>
        </p:spPr>
      </p:sp>
      <p:sp>
        <p:nvSpPr>
          <p:cNvPr id="30" name="Shape 28"/>
          <p:cNvSpPr/>
          <p:nvPr/>
        </p:nvSpPr>
        <p:spPr>
          <a:xfrm>
            <a:off x="8138160" y="3447288"/>
            <a:ext cx="256032" cy="256032"/>
          </a:xfrm>
          <a:prstGeom prst="rect">
            <a:avLst/>
          </a:prstGeom>
          <a:solidFill>
            <a:srgbClr val="FFFFFF"/>
          </a:solidFill>
          <a:ln w="17780">
            <a:solidFill>
              <a:srgbClr val="C58B28"/>
            </a:solidFill>
            <a:prstDash val="solid"/>
          </a:ln>
        </p:spPr>
      </p:sp>
      <p:sp>
        <p:nvSpPr>
          <p:cNvPr id="31" name="Text 29"/>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2" name="Text 30"/>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DATA / TAG MAP</a:t>
            </a:r>
            <a:endParaRPr lang="en-US" sz="1000" dirty="0"/>
          </a:p>
        </p:txBody>
      </p:sp>
      <p:sp>
        <p:nvSpPr>
          <p:cNvPr id="33" name="Shape 31"/>
          <p:cNvSpPr/>
          <p:nvPr/>
        </p:nvSpPr>
        <p:spPr>
          <a:xfrm>
            <a:off x="8558784" y="3913632"/>
            <a:ext cx="2542032" cy="0"/>
          </a:xfrm>
          <a:prstGeom prst="line">
            <a:avLst/>
          </a:prstGeom>
          <a:noFill/>
          <a:ln w="8890">
            <a:solidFill>
              <a:srgbClr val="D5E0E7"/>
            </a:solidFill>
            <a:prstDash val="solid"/>
          </a:ln>
        </p:spPr>
      </p:sp>
      <p:sp>
        <p:nvSpPr>
          <p:cNvPr id="34" name="Shape 32"/>
          <p:cNvSpPr/>
          <p:nvPr/>
        </p:nvSpPr>
        <p:spPr>
          <a:xfrm>
            <a:off x="8138160" y="4197096"/>
            <a:ext cx="256032" cy="256032"/>
          </a:xfrm>
          <a:prstGeom prst="rect">
            <a:avLst/>
          </a:prstGeom>
          <a:solidFill>
            <a:srgbClr val="FFFFFF"/>
          </a:solidFill>
          <a:ln w="17780">
            <a:solidFill>
              <a:srgbClr val="C58B28"/>
            </a:solidFill>
            <a:prstDash val="solid"/>
          </a:ln>
        </p:spPr>
      </p:sp>
      <p:sp>
        <p:nvSpPr>
          <p:cNvPr id="35" name="Text 33"/>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36" name="Text 34"/>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PERMISSIONS</a:t>
            </a:r>
            <a:endParaRPr lang="en-US" sz="1000" dirty="0"/>
          </a:p>
        </p:txBody>
      </p:sp>
      <p:sp>
        <p:nvSpPr>
          <p:cNvPr id="37" name="Shape 35"/>
          <p:cNvSpPr/>
          <p:nvPr/>
        </p:nvSpPr>
        <p:spPr>
          <a:xfrm>
            <a:off x="8558784" y="4663440"/>
            <a:ext cx="2542032" cy="0"/>
          </a:xfrm>
          <a:prstGeom prst="line">
            <a:avLst/>
          </a:prstGeom>
          <a:noFill/>
          <a:ln w="8890">
            <a:solidFill>
              <a:srgbClr val="D5E0E7"/>
            </a:solidFill>
            <a:prstDash val="solid"/>
          </a:ln>
        </p:spPr>
      </p:sp>
      <p:sp>
        <p:nvSpPr>
          <p:cNvPr id="38" name="Shape 36"/>
          <p:cNvSpPr/>
          <p:nvPr/>
        </p:nvSpPr>
        <p:spPr>
          <a:xfrm>
            <a:off x="8138160" y="4946904"/>
            <a:ext cx="256032" cy="256032"/>
          </a:xfrm>
          <a:prstGeom prst="rect">
            <a:avLst/>
          </a:prstGeom>
          <a:solidFill>
            <a:srgbClr val="FFFFFF"/>
          </a:solidFill>
          <a:ln w="17780">
            <a:solidFill>
              <a:srgbClr val="C58B28"/>
            </a:solidFill>
            <a:prstDash val="solid"/>
          </a:ln>
        </p:spPr>
      </p:sp>
      <p:sp>
        <p:nvSpPr>
          <p:cNvPr id="39" name="Text 37"/>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0" name="Text 38"/>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LOSS-OF-LINK STATE</a:t>
            </a:r>
            <a:endParaRPr lang="en-US" sz="100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NETWORKED BUSES AND HMI/SCADA INTEGRATION</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07: Networked Buses and HMI/SCADA Integration</dc:title>
  <dc:subject>LO2 weekly teaching presentation</dc:subject>
  <dc:creator>Unit 5009 Teaching Materials</dc:creator>
  <cp:lastModifiedBy>Unit 5009 Teaching Materials</cp:lastModifiedBy>
  <cp:revision>1</cp:revision>
  <dcterms:created xsi:type="dcterms:W3CDTF">2026-10-13T19:42:18Z</dcterms:created>
  <dcterms:modified xsi:type="dcterms:W3CDTF">2026-10-13T19:42:18Z</dcterms:modified>
</cp:coreProperties>
</file>