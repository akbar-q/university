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Evaluating HMI/SCADA and Convergence | Week 08 | LO2
Slide 1 of 18 | Suggested time: 5 minutes | Criteria: M3 / D2
TEACHING NOTES AND ACTIVITY CUES
1. "Should MedPack connect every packaging station to a shared supervisory system?"
2. Learners vote yes/no/conditional and state one reason.
IMAGE PROMPT
Create an original, technically plausible landscape visual for a vocational engineering presentation about The line manager's question. Show: "Should MedPack connect every packaging station to a shared supervisory system?" Learners vote yes/no/conditional and state one reason.. Use an editorial technical-illustration style with accurate industrial components, a clean pale background, and restrained navy, teal, and muted amber accents. Compose the subject clearly for a right-side image panel. Do not include text, labels, numbers, logos, watermarks, or branded equipment.
IMAGE PLACEMENT
Replace the labelled image placeholder on the right with the generated or selected visual. Keep the title and key ideas unobstructed.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Evaluating HMI/SCADA and Convergence | Week 08 | LO2
Slide 2 of 18 | Suggested time: 5 minutes | Criteria: M3 / D2
TEACHING NOTES AND ACTIVITY CUES
1. Recall the PLC, HMI, SCADA/dashboard, bus, protocol, tags, local control, and safety boundary from Week 7.
IMAGE PROMPT
Create an original, technically plausible landscape visual for a vocational engineering presentation about Revisit the working architecture. Show: Recall the PLC, HMI, SCADA/dashboard, bus, protocol, tags, local control, and safety boundary from Week 7.. Use an editorial technical-illustration style with accurate industrial components, a clean pale background, and restrained navy, teal, and muted amber accents. Compose the subject clearly for a right-side image panel. Do not include text, labels, numbers, logos, watermarks, or branded equipment.
IMAGE PLACEMENT
Replace the labelled image placeholder on the right with the generated or selected visual. Keep the title and key ideas unobstructed.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Evaluating HMI/SCADA and Convergence | Week 08 | LO2
Slide 3 of 18 | Suggested time: 5 minutes | Criteria: M3 / D2
TEACHING NOTES AND ACTIVITY CUES
1. M3 requires balanced evaluation and a context-based conclusion.
2. D2 requires a valid rationale for convergence, including benefits, risks, and controls.
IMAGE PROMPT
Create an original, technically plausible landscape visual for a vocational engineering presentation about M3 and D2 are judgements. Show: M3 requires balanced evaluation and a context-based conclusion. D2 requires a valid rationale for convergence, including benefits, risks, and controls.. Use an editorial technical-illustration style with accurate industrial components, a clean pale background, and restrained navy, teal, and muted amber accents. Compose the subject clearly for a right-side image panel. Do not include text, labels, numbers, logos, watermarks, or branded equipment.
IMAGE PLACEMENT
Replace the labelled image placeholder on the right with the generated or selected visual. Keep the title and key ideas unobstructed.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Evaluating HMI/SCADA and Convergence | Week 08 | LO2
Slide 4 of 18 | Suggested time: 12 minutes | Criteria: M3 / D2
TEACHING NOTES AND ACTIVITY CUES
1. Visibility of state, guided operation, alarms, fault messages, count/target information, and maintenance support.
2. Discuss operator workload, readability, alarm priorities, and the cost of a confusing or overloaded screen.
IMAGE PROMPT
Create an original, technically plausible landscape visual for a vocational engineering presentation about Operational benefits of an HMI. Show: Visibility of state, guided operation, alarms, fault messages, count/target information, and maintenance support. Discuss operator workload, readability, alarm priorities, and the cost of a confusing or overloaded screen.. Use an editorial technical-illustration style with accurate industrial components, a clean pale background, and restrained navy, teal, and muted amber accents. Compose the subject clearly for a right-side image panel. Do not include text, labels, numbers, logos, watermarks, or branded equipment.
IMAGE PLACEMENT
Replace the labelled image placeholder on the right with the generated or selected visual. Keep the title and key ideas unobstructed.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Evaluating HMI/SCADA and Convergence | Week 08 | LO2
Slide 5 of 18 | Suggested time: 13 minutes | Criteria: M3 / D2
TEACHING NOTES AND ACTIVITY CUES
1. Multi-station overview, trends, production data, alarms/events, history, remote supervision, and troubleshooting.
2. Link each benefit to a real operational decision, user, and required data quality.
3. Distinguish live PLC values from historical records and validated production records.
IMAGE PROMPT
Create an original, technically plausible landscape visual for a vocational engineering presentation about Operational benefits of SCADA. Show: Multi-station overview, trends, production data, alarms/events, history, remote supervision, and troubleshooting. Link each benefit to a real operational decision, user, and required data quality.. Use an editorial technical-illustration style with accurate industrial components, a clean pale background, and restrained navy, teal, and muted amber accents. Compose the subject clearly for a right-side image panel. Do not include text, labels, numbers, logos, watermarks, or branded equipment.
IMAGE PLACEMENT
Replace the labelled image placeholder on the right with the generated or selected visual. Keep the title and key ideas unobstructed.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Evaluating HMI/SCADA and Convergence | Week 08 | LO2
Slide 6 of 18 | Suggested time: 12 minutes | Criteria: M3 / D2
TEACHING NOTES AND ACTIVITY CUES
1. Hardware/software and engineering cost, skills/training, licensing, network reliance, data quality, alarm flood, maintenance, and vendor lifecycle.
2. Ask whether one station needs a full SCADA system or a simpler local HMI; justify based on scale and need.
IMAGE PROMPT
Create an original, technically plausible landscape visual for a vocational engineering presentation about Limits, cost, and dependency. Show: Hardware/software and engineering cost, skills/training, licensing, network reliance, data quality, alarm flood, maintenance, and vendor lifecycle. Ask whether one station needs a full SCADA system or a simpler local HMI; justify based on scale and need.. Use an editorial technical-illustration style with accurate industrial components, a clean pale background, and restrained navy, teal, and muted amber accents. Compose the subject clearly for a right-side image panel. Do not include text, labels, numbers, logos, watermarks, or branded equipment.
IMAGE PLACEMENT
Replace the labelled image placeholder on the right with the generated or selected visual. Keep the title and key ideas unobstructed.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Evaluating HMI/SCADA and Convergence | Week 08 | LO2
Slide 7 of 18 | Suggested time: 13 minutes | Criteria: M3 / D2
TEACHING NOTES AND ACTIVITY CUES
1. Compare benefit, stakeholder, evidence, limitation, consequence, and mitigation.
2. Students evaluate one HMI function and one SCADA function for the MedPack context.
IMAGE PROMPT
Create an original, technically plausible landscape visual for a vocational engineering presentation about Balanced evaluation matrix. Show: Compare benefit, stakeholder, evidence, limitation, consequence, and mitigation. Students evaluate one HMI function and one SCADA function for the MedPack context.. Use an editorial technical-illustration style with accurate industrial components, a clean pale background, and restrained navy, teal, and muted amber accents. Compose the subject clearly for a right-side image panel. Do not include text, labels, numbers, logos, watermarks, or branded equipment.
IMAGE PLACEMENT
Replace the labelled image placeholder on the right with the generated or selected visual. Keep the title and key ideas unobstructed.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Evaluating HMI/SCADA and Convergence | Week 08 | LO2
Slide 8 of 18 | Suggested time: 10 minutes | Criteria: M3 / D2
TEACHING NOTES AND ACTIVITY CUES
1. Explain closer sharing of networks, tags, tools, data, and workflows across PLC control, HMI/SCADA, and higher-level systems.
2. Clarify that convergence is not necessarily one device, one network, or one software package.
IMAGE PROMPT
Create an original, technically plausible landscape visual for a vocational engineering presentation about Define convergence. Show: Explain closer sharing of networks, tags, tools, data, and workflows across PLC control, HMI/SCADA, and higher-level systems. Clarify that convergence is not necessarily one device, one network, or one software package.. Use an editorial technical-illustration style with accurate industrial components, a clean pale background, and restrained navy, teal, and muted amber accents. Compose the subject clearly for a right-side image panel. Do not include text, labels, numbers, logos, watermarks, or branded equipment.
IMAGE PLACEMENT
Replace the labelled image placeholder on the right with the generated or selected visual. Keep the title and key ideas unobstructed.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Evaluating HMI/SCADA and Convergence | Week 08 | LO2
Slide 9 of 18 | Suggested time: 15 minutes | Criteria: M3 / D2
TEACHING NOTES AND ACTIVITY CUES
1. Drivers: common Ethernet infrastructure, reusable data, reporting, easier engineering integration, asset visibility, lifecycle management, and better coordination between operational and information technology teams.
2. Evaluate which drivers matter to a single station versus an expanding line.
IMAGE PROMPT
Create an original, technically plausible landscape visual for a vocational engineering presentation about Why industry converges. Show: Drivers: common Ethernet infrastructure, reusable data, reporting, easier engineering integration, asset visibility, lifecycle management, and better coordination between operational and information technology teams. Evaluate which drivers matter to a single station versus an expanding line.. Use an editorial technical-illustration style with accurate industrial components, a clean pale background, and restrained navy, teal, and muted amber accents. Compose the subject clearly for a right-side image panel. Do not include text, labels, numbers, logos, watermarks, or branded equipment.
IMAGE PLACEMENT
Replace the labelled image placeholder on the right with the generated or selected visual. Keep the title and key ideas unobstructed.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Evaluating HMI/SCADA and Convergence | Week 08 | LO2
Slide 10 of 18 | Suggested time: 10 minutes | Criteria: M3 / D2
TEACHING NOTES AND ACTIVITY CUES
1. Draw device/control, supervisory, and enterprise layers; identify permitted data flows and system owners.
2. Mark local PLC control, HMI/SCADA clients, historian/reporting, remote support boundary, and safety system.
3. Show where shared infrastructure is useful and where separation remains essential.
IMAGE PROMPT
Create an original, technically plausible landscape visual for a vocational engineering presentation about Converged MedPack architecture. Show: Draw device/control, supervisory, and enterprise layers; identify permitted data flows and system owners. Mark local PLC control, HMI/SCADA clients, historian/reporting, remote support boundary, and safety system.. Use an editorial technical-illustration style with accurate industrial components, a clean pale background, and restrained navy, teal, and muted amber accents. Compose the subject clearly for a right-side image panel. Do not include text, labels, numbers, logos, watermarks, or branded equipment.
IMAGE PLACEMENT
Replace the labelled image placeholder on the right with the generated or selected visual. Keep the title and key ideas unobstructed.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Evaluating HMI/SCADA and Convergence | Week 08 | LO2
Slide 11 of 18 | Suggested time: 10 minutes | Criteria: M3 / D2
TEACHING NOTES AND ACTIVITY CUES
1. Discuss unauthorised writes, malware spread, remote access, stale data, network outage, shared failure domains, poor account management, and unsupported devices.
2. Connect each risk to a plausible consequence for production or safe recovery.
IMAGE PROMPT
Create an original, technically plausible landscape visual for a vocational engineering presentation about Cyber and operational risks. Show: Discuss unauthorised writes, malware spread, remote access, stale data, network outage, shared failure domains, poor account management, and unsupported devices. Connect each risk to a plausible consequence for production or safe recovery.. Use an editorial technical-illustration style with accurate industrial components, a clean pale background, and restrained navy, teal, and muted amber accents. Compose the subject clearly for a right-side image panel. Do not include text, labels, numbers, logos, watermarks, or branded equipment.
IMAGE PLACEMENT
Replace the labelled image placeholder on the right with the generated or selected visual. Keep the title and key ideas unobstructed.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Evaluating HMI/SCADA and Convergence | Week 08 | LO2
Slide 12 of 18 | Suggested time: 15 minutes | Criteria: M3 / D2
TEACHING NOTES AND ACTIVITY CUES
1. Network segmentation/zones and conduits; least privilege; controlled remote access; change management; tested backups and restore; monitoring; patch/lifecycle planning; and operator procedures.
2. Safety functions and essential local control must not depend on ordinary SCADA availability.
3. Emphasise controls must be verified in the actual site architecture; no single measure guarantees security.
IMAGE PROMPT
Create an original, technically plausible landscape visual for a vocational engineering presentation about Select proportionate controls. Show: Network segmentation/zones and conduits; least privilege; controlled remote access; change management; tested backups and restore; monitoring; patch/lifecycle planning; and operator procedures. Safety functions and essential local control must not depend on ordinary SCADA availability.. Use an editorial technical-illustration style with accurate industrial components, a clean pale background, and restrained navy, teal, and muted amber accents. Compose the subject clearly for a right-side image panel. Do not include text, labels, numbers, logos, watermarks, or branded equipment.
IMAGE PLACEMENT
Replace the labelled image placeholder on the right with the generated or selected visual. Keep the title and key ideas unobstructed.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Evaluating HMI/SCADA and Convergence | Week 08 | LO2
Slide 13 of 18 | Suggested time: 10 minutes | Criteria: M3 / D2
TEACHING NOTES AND ACTIVITY CUES
1. Ask whether counts, alarms, recipes, or electronic records are operational indicators or controlled quality records.
2. If regulated records are in scope, confirm validation, access, audit trail, retention, and change-control needs with the responsible quality function.
3. Do not assume an HMI or PLC feature alone demonstrates pharmaceutical regulatory compliance.
IMAGE PROMPT
Create an original, technically plausible landscape visual for a vocational engineering presentation about Data governance and regulated context. Show: Ask whether counts, alarms, recipes, or electronic records are operational indicators or controlled quality records. If regulated records are in scope, confirm validation, access, audit trail, retention, and change-control needs with the responsible quality function.. Use an editorial technical-illustration style with accurate industrial components, a clean pale background, and restrained navy, teal, and muted amber accents. Compose the subject clearly for a right-side image panel. Do not include text, labels, numbers, logos, watermarks, or branded equipment.
IMAGE PLACEMENT
Replace the labelled image placeholder on the right with the generated or selected visual. Keep the title and key ideas unobstructed.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Evaluating HMI/SCADA and Convergence | Week 08 | LO2
Slide 14 of 18 | Suggested time: 10 minutes | Criteria: M3 / D2
TEACHING NOTES AND ACTIVITY CUES
1. Is data ownership clear? Are tags documented? Are write permissions restricted? Is stale data visible? Can local control continue? Is recovery tested? Are changes traceable?
2. Teams apply the checklist to their Week 7 diagram.
IMAGE PROMPT
Create an original, technically plausible landscape visual for a vocational engineering presentation about Convergence assurance checklist. Show: Is data ownership clear? Are tags documented? Are write permissions restricted? Is stale data visible? Can local control continue? Is recovery tested? Are changes traceable? Teams apply the checklist to their Week 7 diagram.. Use an editorial technical-illustration style with accurate industrial components, a clean pale background, and restrained navy, teal, and muted amber accents. Compose the subject clearly for a right-side image panel. Do not include text, labels, numbers, logos, watermarks, or branded equipment.
IMAGE PLACEMENT
Replace the labelled image placeholder on the right with the generated or selected visual. Keep the title and key ideas unobstructed.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Evaluating HMI/SCADA and Convergence | Week 08 | LO2
Slide 15 of 18 | Suggested time: 20 minutes | Criteria: M3 / D2
TEACHING NOTES AND ACTIVITY CUES
1. Teams write a short balanced evaluation: benefits, limitations, risk, mitigation, and conclusion for a single station and for a growing line.
2. Peer review checks for application-specific evidence and rejects unsupported "SCADA is always better" claims.
IMAGE PROMPT
Create an original, technically plausible landscape visual for a vocational engineering presentation about M3 evaluation clinic. Show: Teams write a short balanced evaluation: benefits, limitations, risk, mitigation, and conclusion for a single station and for a growing line. Peer review checks for application-specific evidence and rejects unsupported "SCADA is always better" claims.. Use an editorial technical-illustration style with accurate industrial components, a clean pale background, and restrained navy, teal, and muted amber accents. Compose the subject clearly for a right-side image panel. Do not include text, labels, numbers, logos, watermarks, or branded equipment.
IMAGE PLACEMENT
Replace the labelled image placeholder on the right with the generated or selected visual. Keep the title and key ideas unobstructed.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Evaluating HMI/SCADA and Convergence | Week 08 | LO2
Slide 16 of 18 | Suggested time: 20 minutes | Criteria: M3 / D2
TEACHING NOTES AND ACTIVITY CUES
1. Deliver a structured argument: claim -&gt; industrial need -&gt; evidence/benefit -&gt; counterpoint -&gt; risk/control -&gt; conditional conclusion.
2. Include one architecture diagram and explain what stays local, what is shared, and why.
3. Panel asks what would change the recommendation (uptime target, number of stations, record needs, cyber policy, or cost).
IMAGE PROMPT
Create an original, technically plausible landscape visual for a vocational engineering presentation about D2 convergence recommendation panel. Show: Deliver a structured argument: claim -&gt; industrial need -&gt; evidence/benefit -&gt; counterpoint -&gt; risk/control -&gt; conditional conclusion. Include one architecture diagram and explain what stays local, what is shared, and why.. Use an editorial technical-illustration style with accurate industrial components, a clean pale background, and restrained navy, teal, and muted amber accents. Compose the subject clearly for a right-side image panel. Do not include text, labels, numbers, logos, watermarks, or branded equipment.
IMAGE PLACEMENT
Replace the labelled image placeholder on the right with the generated or selected visual. Keep the title and key ideas unobstructed.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Evaluating HMI/SCADA and Convergence | Week 08 | LO2
Slide 17 of 18 | Suggested time: 7 minutes | Criteria: M3 / D2
TEACHING NOTES AND ACTIVITY CUES
1. P3: link/protocol distinctions; P4: networked bus benefits and trade-offs; M2: shown architecture/tag mapping; M3: balanced evaluation; D2: justified convergence rationale with risks and controls.
2. Identify evidence gaps and assign a concrete completion action.
IMAGE PROMPT
Create an original, technically plausible landscape visual for a vocational engineering presentation about Full LO2 criterion audit. Show: P3: link/protocol distinctions; P4: networked bus benefits and trade-offs; M2: shown architecture/tag mapping; M3: balanced evaluation; D2: justified convergence rationale with risks and controls. Identify evidence gaps and assign a concrete completion action.. Use an editorial technical-illustration style with accurate industrial components, a clean pale background, and restrained navy, teal, and muted amber accents. Compose the subject clearly for a right-side image panel. Do not include text, labels, numbers, logos, watermarks, or branded equipment.
IMAGE PLACEMENT
Replace the labelled image placeholder on the right with the generated or selected visual. Keep the title and key ideas unobstructed.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Evaluating HMI/SCADA and Convergence | Week 08 | LO2
Slide 18 of 18 | Suggested time: 8 minutes | Criteria: M3 / D2
TEACHING NOTES AND ACTIVITY CUES
1. State whether and how MedPack should converge PLC/HMI/SCADA; give two reasons, one risk and control, and one condition that could change the decision.
IMAGE PROMPT
Create an original, technically plausible landscape visual for a vocational engineering presentation about Final exit: conditional recommendation. Show: State whether and how MedPack should converge PLC/HMI/SCADA; give two reasons, one risk and control, and one condition that could change the decision.. Use an editorial technical-illustration style with accurate industrial components, a clean pale background, and restrained navy, teal, and muted amber accents. Compose the subject clearly for a right-side image panel. Do not include text, labels, numbers, logos, watermarks, or branded equipment.
IMAGE PLACEMENT
Replace the labelled image placeholder on the right with the generated or selected visual. Keep the title and key ideas unobstructed.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C65E4E"/>
          </a:solidFill>
          <a:ln w="12700">
            <a:solidFill>
              <a:srgbClr val="C65E4E">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C65E4E"/>
                </a:solidFill>
                <a:latin typeface="Aptos" pitchFamily="34" charset="0"/>
                <a:ea typeface="Aptos" pitchFamily="34" charset="-122"/>
                <a:cs typeface="Aptos" pitchFamily="34" charset="-120"/>
              </a:rPr>
              <a:t>UNIT 5009    /    WEEK 08    /    LO2</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5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C65E4E"/>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C65E4E"/>
                </a:solidFill>
                <a:latin typeface="Aptos" pitchFamily="34" charset="0"/>
                <a:ea typeface="Aptos" pitchFamily="34" charset="-122"/>
                <a:cs typeface="Aptos" pitchFamily="34" charset="-120"/>
              </a:rPr>
              <a:t>M3 / D2</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3100" b="1" dirty="0">
                <a:solidFill>
                  <a:srgbClr val="1B3448"/>
                </a:solidFill>
                <a:latin typeface="Aptos Display" pitchFamily="34" charset="0"/>
                <a:ea typeface="Aptos Display" pitchFamily="34" charset="-122"/>
                <a:cs typeface="Aptos Display" pitchFamily="34" charset="-120"/>
              </a:rPr>
              <a:t>The line manager's question</a:t>
            </a:r>
            <a:endParaRPr lang="en-US" sz="31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76656" y="1719072"/>
            <a:ext cx="1828800" cy="210312"/>
          </a:xfrm>
          <a:prstGeom prst="rect">
            <a:avLst/>
          </a:prstGeom>
          <a:noFill/>
          <a:ln/>
        </p:spPr>
        <p:txBody>
          <a:bodyPr wrap="square" lIns="0" tIns="0" rIns="0" bIns="0" rtlCol="0" anchor="ctr"/>
          <a:lstStyle/>
          <a:p>
            <a:pPr indent="0" marL="0">
              <a:buNone/>
            </a:pPr>
            <a:r>
              <a:rPr lang="en-US" sz="900" b="1" spc="100" kern="0" dirty="0">
                <a:solidFill>
                  <a:srgbClr val="C65E4E"/>
                </a:solidFill>
                <a:latin typeface="Aptos" pitchFamily="34" charset="0"/>
                <a:ea typeface="Aptos" pitchFamily="34" charset="-122"/>
                <a:cs typeface="Aptos" pitchFamily="34" charset="-120"/>
              </a:rPr>
              <a:t>KEY IDEAS</a:t>
            </a:r>
            <a:endParaRPr lang="en-US" sz="900" dirty="0"/>
          </a:p>
        </p:txBody>
      </p:sp>
      <p:sp>
        <p:nvSpPr>
          <p:cNvPr id="11" name="Shape 9"/>
          <p:cNvSpPr/>
          <p:nvPr/>
        </p:nvSpPr>
        <p:spPr>
          <a:xfrm>
            <a:off x="713232" y="2139696"/>
            <a:ext cx="100584" cy="100584"/>
          </a:xfrm>
          <a:prstGeom prst="ellipse">
            <a:avLst/>
          </a:prstGeom>
          <a:solidFill>
            <a:srgbClr val="C65E4E"/>
          </a:solidFill>
          <a:ln w="12700">
            <a:solidFill>
              <a:srgbClr val="C65E4E">
                <a:alpha val="0"/>
              </a:srgbClr>
            </a:solidFill>
            <a:prstDash val="solid"/>
          </a:ln>
        </p:spPr>
      </p:sp>
      <p:sp>
        <p:nvSpPr>
          <p:cNvPr id="12" name="Text 10"/>
          <p:cNvSpPr/>
          <p:nvPr/>
        </p:nvSpPr>
        <p:spPr>
          <a:xfrm>
            <a:off x="969264" y="2029968"/>
            <a:ext cx="6327648" cy="566928"/>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"Should MedPack connect every packaging station to a shared supervisory system?"</a:t>
            </a:r>
            <a:endParaRPr lang="en-US" sz="1650" dirty="0"/>
          </a:p>
        </p:txBody>
      </p:sp>
      <p:sp>
        <p:nvSpPr>
          <p:cNvPr id="13" name="Shape 11"/>
          <p:cNvSpPr/>
          <p:nvPr/>
        </p:nvSpPr>
        <p:spPr>
          <a:xfrm>
            <a:off x="713232" y="2816352"/>
            <a:ext cx="100584" cy="100584"/>
          </a:xfrm>
          <a:prstGeom prst="ellipse">
            <a:avLst/>
          </a:prstGeom>
          <a:solidFill>
            <a:srgbClr val="C65E4E"/>
          </a:solidFill>
          <a:ln w="12700">
            <a:solidFill>
              <a:srgbClr val="C65E4E">
                <a:alpha val="0"/>
              </a:srgbClr>
            </a:solidFill>
            <a:prstDash val="solid"/>
          </a:ln>
        </p:spPr>
      </p:sp>
      <p:sp>
        <p:nvSpPr>
          <p:cNvPr id="14" name="Text 12"/>
          <p:cNvSpPr/>
          <p:nvPr/>
        </p:nvSpPr>
        <p:spPr>
          <a:xfrm>
            <a:off x="969264" y="2706624"/>
            <a:ext cx="6327648" cy="329184"/>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Learners vote yes/no/conditional and state one reason.</a:t>
            </a:r>
            <a:endParaRPr lang="en-US" sz="1650" dirty="0"/>
          </a:p>
        </p:txBody>
      </p:sp>
      <p:sp>
        <p:nvSpPr>
          <p:cNvPr id="15" name="Shape 13"/>
          <p:cNvSpPr/>
          <p:nvPr/>
        </p:nvSpPr>
        <p:spPr>
          <a:xfrm>
            <a:off x="7644384" y="1746504"/>
            <a:ext cx="3941064" cy="4352544"/>
          </a:xfrm>
          <a:prstGeom prst="rect">
            <a:avLst/>
          </a:prstGeom>
          <a:solidFill>
            <a:srgbClr val="E8EFF3"/>
          </a:solidFill>
          <a:ln w="15240">
            <a:solidFill>
              <a:srgbClr val="C8D5DE"/>
            </a:solidFill>
            <a:prstDash val="solid"/>
          </a:ln>
        </p:spPr>
      </p:sp>
      <p:sp>
        <p:nvSpPr>
          <p:cNvPr id="16" name="Text 14"/>
          <p:cNvSpPr/>
          <p:nvPr/>
        </p:nvSpPr>
        <p:spPr>
          <a:xfrm>
            <a:off x="7845552" y="1911096"/>
            <a:ext cx="3538728" cy="246888"/>
          </a:xfrm>
          <a:prstGeom prst="rect">
            <a:avLst/>
          </a:prstGeom>
          <a:noFill/>
          <a:ln/>
        </p:spPr>
        <p:txBody>
          <a:bodyPr wrap="square" lIns="0" tIns="0" rIns="0" bIns="0" rtlCol="0" anchor="ctr"/>
          <a:lstStyle/>
          <a:p>
            <a:pPr indent="0" marL="0">
              <a:buNone/>
            </a:pPr>
            <a:r>
              <a:rPr lang="en-US" sz="900" b="1" spc="80" kern="0" dirty="0">
                <a:solidFill>
                  <a:srgbClr val="C65E4E"/>
                </a:solidFill>
                <a:latin typeface="Aptos" pitchFamily="34" charset="0"/>
                <a:ea typeface="Aptos" pitchFamily="34" charset="-122"/>
                <a:cs typeface="Aptos" pitchFamily="34" charset="-120"/>
              </a:rPr>
              <a:t>IMAGE PLACEHOLDER</a:t>
            </a:r>
            <a:endParaRPr lang="en-US" sz="900" dirty="0"/>
          </a:p>
        </p:txBody>
      </p:sp>
      <p:sp>
        <p:nvSpPr>
          <p:cNvPr id="17" name="Text 15"/>
          <p:cNvSpPr/>
          <p:nvPr/>
        </p:nvSpPr>
        <p:spPr>
          <a:xfrm>
            <a:off x="7900416" y="3072384"/>
            <a:ext cx="3429000" cy="347472"/>
          </a:xfrm>
          <a:prstGeom prst="rect">
            <a:avLst/>
          </a:prstGeom>
          <a:noFill/>
          <a:ln/>
        </p:spPr>
        <p:txBody>
          <a:bodyPr wrap="square" lIns="0" tIns="0" rIns="0" bIns="0" rtlCol="0" anchor="ctr"/>
          <a:lstStyle/>
          <a:p>
            <a:pPr algn="ctr" indent="0" marL="0">
              <a:buNone/>
            </a:pPr>
            <a:r>
              <a:rPr lang="en-US" sz="1700" b="1" dirty="0">
                <a:solidFill>
                  <a:srgbClr val="7A8F9D"/>
                </a:solidFill>
                <a:latin typeface="Aptos Display" pitchFamily="34" charset="0"/>
                <a:ea typeface="Aptos Display" pitchFamily="34" charset="-122"/>
                <a:cs typeface="Aptos Display" pitchFamily="34" charset="-120"/>
              </a:rPr>
              <a:t>ADD PHOTO OR DIAGRAM</a:t>
            </a:r>
            <a:endParaRPr lang="en-US" sz="1700" dirty="0"/>
          </a:p>
        </p:txBody>
      </p:sp>
      <p:sp>
        <p:nvSpPr>
          <p:cNvPr id="18" name="Text 16"/>
          <p:cNvSpPr/>
          <p:nvPr/>
        </p:nvSpPr>
        <p:spPr>
          <a:xfrm>
            <a:off x="7900416" y="3465576"/>
            <a:ext cx="3429000" cy="301752"/>
          </a:xfrm>
          <a:prstGeom prst="rect">
            <a:avLst/>
          </a:prstGeom>
          <a:noFill/>
          <a:ln/>
        </p:spPr>
        <p:txBody>
          <a:bodyPr wrap="square" lIns="0" tIns="0" rIns="0" bIns="0" rtlCol="0" anchor="ctr"/>
          <a:lstStyle/>
          <a:p>
            <a:pPr algn="ctr" indent="0" marL="0">
              <a:buNone/>
            </a:pPr>
            <a:r>
              <a:rPr lang="en-US" sz="1150" dirty="0">
                <a:solidFill>
                  <a:srgbClr val="607585"/>
                </a:solidFill>
                <a:latin typeface="Aptos" pitchFamily="34" charset="0"/>
                <a:ea typeface="Aptos" pitchFamily="34" charset="-122"/>
                <a:cs typeface="Aptos" pitchFamily="34" charset="-120"/>
              </a:rPr>
              <a:t>Leave this area open for the final visual</a:t>
            </a:r>
            <a:endParaRPr lang="en-US" sz="1150" dirty="0"/>
          </a:p>
        </p:txBody>
      </p:sp>
      <p:sp>
        <p:nvSpPr>
          <p:cNvPr id="19" name="Shape 17"/>
          <p:cNvSpPr/>
          <p:nvPr/>
        </p:nvSpPr>
        <p:spPr>
          <a:xfrm>
            <a:off x="7845552" y="5111496"/>
            <a:ext cx="3538728" cy="0"/>
          </a:xfrm>
          <a:prstGeom prst="line">
            <a:avLst/>
          </a:prstGeom>
          <a:noFill/>
          <a:ln w="12700">
            <a:solidFill>
              <a:srgbClr val="C8D5DE"/>
            </a:solidFill>
            <a:prstDash val="solid"/>
          </a:ln>
        </p:spPr>
      </p:sp>
      <p:sp>
        <p:nvSpPr>
          <p:cNvPr id="20" name="Text 18"/>
          <p:cNvSpPr/>
          <p:nvPr/>
        </p:nvSpPr>
        <p:spPr>
          <a:xfrm>
            <a:off x="7845552" y="5239512"/>
            <a:ext cx="3538728" cy="384048"/>
          </a:xfrm>
          <a:prstGeom prst="rect">
            <a:avLst/>
          </a:prstGeom>
          <a:noFill/>
          <a:ln/>
        </p:spPr>
        <p:txBody>
          <a:bodyPr wrap="square" lIns="0" tIns="0" rIns="0" bIns="0" rtlCol="0" anchor="ctr"/>
          <a:lstStyle/>
          <a:p>
            <a:pPr indent="0" marL="0">
              <a:buNone/>
            </a:pPr>
            <a:r>
              <a:rPr lang="en-US" sz="1050" b="1" dirty="0">
                <a:solidFill>
                  <a:srgbClr val="1B3448"/>
                </a:solidFill>
                <a:latin typeface="Aptos" pitchFamily="34" charset="0"/>
                <a:ea typeface="Aptos" pitchFamily="34" charset="-122"/>
                <a:cs typeface="Aptos" pitchFamily="34" charset="-120"/>
              </a:rPr>
              <a:t>VISUAL BRIEF  /  The line manager's question</a:t>
            </a:r>
            <a:endParaRPr lang="en-US" sz="1050" dirty="0"/>
          </a:p>
        </p:txBody>
      </p:sp>
      <p:sp>
        <p:nvSpPr>
          <p:cNvPr id="21" name="Text 19"/>
          <p:cNvSpPr/>
          <p:nvPr/>
        </p:nvSpPr>
        <p:spPr>
          <a:xfrm>
            <a:off x="7845552" y="5650992"/>
            <a:ext cx="3538728" cy="265176"/>
          </a:xfrm>
          <a:prstGeom prst="rect">
            <a:avLst/>
          </a:prstGeom>
          <a:noFill/>
          <a:ln/>
        </p:spPr>
        <p:txBody>
          <a:bodyPr wrap="square" lIns="0" tIns="0" rIns="0" bIns="0" rtlCol="0" anchor="ctr"/>
          <a:lstStyle/>
          <a:p>
            <a:pPr indent="0" marL="0">
              <a:buNone/>
            </a:pPr>
            <a:r>
              <a:rPr lang="en-US" sz="900" dirty="0">
                <a:solidFill>
                  <a:srgbClr val="607585"/>
                </a:solidFill>
                <a:latin typeface="Aptos" pitchFamily="34" charset="0"/>
                <a:ea typeface="Aptos" pitchFamily="34" charset="-122"/>
                <a:cs typeface="Aptos" pitchFamily="34" charset="-120"/>
              </a:rPr>
              <a:t>Full image-generation prompt is in this slide's speaker notes.</a:t>
            </a:r>
            <a:endParaRPr lang="en-US" sz="900" dirty="0"/>
          </a:p>
        </p:txBody>
      </p:sp>
      <p:sp>
        <p:nvSpPr>
          <p:cNvPr id="22" name="Shape 20"/>
          <p:cNvSpPr/>
          <p:nvPr/>
        </p:nvSpPr>
        <p:spPr>
          <a:xfrm>
            <a:off x="603504" y="6318504"/>
            <a:ext cx="10972800" cy="0"/>
          </a:xfrm>
          <a:prstGeom prst="line">
            <a:avLst/>
          </a:prstGeom>
          <a:noFill/>
          <a:ln w="10160">
            <a:solidFill>
              <a:srgbClr val="D5E0E7"/>
            </a:solidFill>
            <a:prstDash val="solid"/>
          </a:ln>
        </p:spPr>
      </p:sp>
      <p:sp>
        <p:nvSpPr>
          <p:cNvPr id="23" name="Text 21"/>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EVALUATING HMI/SCADA AND CONVERGENCE</a:t>
            </a:r>
            <a:endParaRPr lang="en-US" sz="800" dirty="0"/>
          </a:p>
        </p:txBody>
      </p:sp>
      <p:sp>
        <p:nvSpPr>
          <p:cNvPr id="24" name="Text 22"/>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01 / 18</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C65E4E"/>
          </a:solidFill>
          <a:ln w="12700">
            <a:solidFill>
              <a:srgbClr val="C65E4E">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C65E4E"/>
                </a:solidFill>
                <a:latin typeface="Aptos" pitchFamily="34" charset="0"/>
                <a:ea typeface="Aptos" pitchFamily="34" charset="-122"/>
                <a:cs typeface="Aptos" pitchFamily="34" charset="-120"/>
              </a:rPr>
              <a:t>UNIT 5009    /    WEEK 08    /    LO2</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5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C65E4E"/>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C65E4E"/>
                </a:solidFill>
                <a:latin typeface="Aptos" pitchFamily="34" charset="0"/>
                <a:ea typeface="Aptos" pitchFamily="34" charset="-122"/>
                <a:cs typeface="Aptos" pitchFamily="34" charset="-120"/>
              </a:rPr>
              <a:t>M3 / D2</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3100" b="1" dirty="0">
                <a:solidFill>
                  <a:srgbClr val="1B3448"/>
                </a:solidFill>
                <a:latin typeface="Aptos Display" pitchFamily="34" charset="0"/>
                <a:ea typeface="Aptos Display" pitchFamily="34" charset="-122"/>
                <a:cs typeface="Aptos Display" pitchFamily="34" charset="-120"/>
              </a:rPr>
              <a:t>Revisit the working architecture</a:t>
            </a:r>
            <a:endParaRPr lang="en-US" sz="31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76656" y="1719072"/>
            <a:ext cx="1828800" cy="210312"/>
          </a:xfrm>
          <a:prstGeom prst="rect">
            <a:avLst/>
          </a:prstGeom>
          <a:noFill/>
          <a:ln/>
        </p:spPr>
        <p:txBody>
          <a:bodyPr wrap="square" lIns="0" tIns="0" rIns="0" bIns="0" rtlCol="0" anchor="ctr"/>
          <a:lstStyle/>
          <a:p>
            <a:pPr indent="0" marL="0">
              <a:buNone/>
            </a:pPr>
            <a:r>
              <a:rPr lang="en-US" sz="900" b="1" spc="100" kern="0" dirty="0">
                <a:solidFill>
                  <a:srgbClr val="C65E4E"/>
                </a:solidFill>
                <a:latin typeface="Aptos" pitchFamily="34" charset="0"/>
                <a:ea typeface="Aptos" pitchFamily="34" charset="-122"/>
                <a:cs typeface="Aptos" pitchFamily="34" charset="-120"/>
              </a:rPr>
              <a:t>KEY IDEAS</a:t>
            </a:r>
            <a:endParaRPr lang="en-US" sz="900" dirty="0"/>
          </a:p>
        </p:txBody>
      </p:sp>
      <p:sp>
        <p:nvSpPr>
          <p:cNvPr id="11" name="Shape 9"/>
          <p:cNvSpPr/>
          <p:nvPr/>
        </p:nvSpPr>
        <p:spPr>
          <a:xfrm>
            <a:off x="713232" y="2139696"/>
            <a:ext cx="100584" cy="100584"/>
          </a:xfrm>
          <a:prstGeom prst="ellipse">
            <a:avLst/>
          </a:prstGeom>
          <a:solidFill>
            <a:srgbClr val="C65E4E"/>
          </a:solidFill>
          <a:ln w="12700">
            <a:solidFill>
              <a:srgbClr val="C65E4E">
                <a:alpha val="0"/>
              </a:srgbClr>
            </a:solidFill>
            <a:prstDash val="solid"/>
          </a:ln>
        </p:spPr>
      </p:sp>
      <p:sp>
        <p:nvSpPr>
          <p:cNvPr id="12" name="Text 10"/>
          <p:cNvSpPr/>
          <p:nvPr/>
        </p:nvSpPr>
        <p:spPr>
          <a:xfrm>
            <a:off x="969264" y="2029968"/>
            <a:ext cx="6327648" cy="566928"/>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Recall the PLC, HMI, SCADA/dashboard, bus, protocol, tags, local control, and safety boundary from Week 7.</a:t>
            </a:r>
            <a:endParaRPr lang="en-US" sz="1650" dirty="0"/>
          </a:p>
        </p:txBody>
      </p:sp>
      <p:sp>
        <p:nvSpPr>
          <p:cNvPr id="13" name="Shape 11"/>
          <p:cNvSpPr/>
          <p:nvPr/>
        </p:nvSpPr>
        <p:spPr>
          <a:xfrm>
            <a:off x="7644384" y="1746504"/>
            <a:ext cx="3941064" cy="4352544"/>
          </a:xfrm>
          <a:prstGeom prst="rect">
            <a:avLst/>
          </a:prstGeom>
          <a:solidFill>
            <a:srgbClr val="E8EFF3"/>
          </a:solidFill>
          <a:ln w="15240">
            <a:solidFill>
              <a:srgbClr val="C8D5DE"/>
            </a:solidFill>
            <a:prstDash val="solid"/>
          </a:ln>
        </p:spPr>
      </p:sp>
      <p:sp>
        <p:nvSpPr>
          <p:cNvPr id="14" name="Text 12"/>
          <p:cNvSpPr/>
          <p:nvPr/>
        </p:nvSpPr>
        <p:spPr>
          <a:xfrm>
            <a:off x="7845552" y="1911096"/>
            <a:ext cx="3538728" cy="246888"/>
          </a:xfrm>
          <a:prstGeom prst="rect">
            <a:avLst/>
          </a:prstGeom>
          <a:noFill/>
          <a:ln/>
        </p:spPr>
        <p:txBody>
          <a:bodyPr wrap="square" lIns="0" tIns="0" rIns="0" bIns="0" rtlCol="0" anchor="ctr"/>
          <a:lstStyle/>
          <a:p>
            <a:pPr indent="0" marL="0">
              <a:buNone/>
            </a:pPr>
            <a:r>
              <a:rPr lang="en-US" sz="900" b="1" spc="80" kern="0" dirty="0">
                <a:solidFill>
                  <a:srgbClr val="C65E4E"/>
                </a:solidFill>
                <a:latin typeface="Aptos" pitchFamily="34" charset="0"/>
                <a:ea typeface="Aptos" pitchFamily="34" charset="-122"/>
                <a:cs typeface="Aptos" pitchFamily="34" charset="-120"/>
              </a:rPr>
              <a:t>IMAGE PLACEHOLDER</a:t>
            </a:r>
            <a:endParaRPr lang="en-US" sz="900" dirty="0"/>
          </a:p>
        </p:txBody>
      </p:sp>
      <p:sp>
        <p:nvSpPr>
          <p:cNvPr id="15" name="Text 13"/>
          <p:cNvSpPr/>
          <p:nvPr/>
        </p:nvSpPr>
        <p:spPr>
          <a:xfrm>
            <a:off x="7900416" y="3072384"/>
            <a:ext cx="3429000" cy="347472"/>
          </a:xfrm>
          <a:prstGeom prst="rect">
            <a:avLst/>
          </a:prstGeom>
          <a:noFill/>
          <a:ln/>
        </p:spPr>
        <p:txBody>
          <a:bodyPr wrap="square" lIns="0" tIns="0" rIns="0" bIns="0" rtlCol="0" anchor="ctr"/>
          <a:lstStyle/>
          <a:p>
            <a:pPr algn="ctr" indent="0" marL="0">
              <a:buNone/>
            </a:pPr>
            <a:r>
              <a:rPr lang="en-US" sz="1700" b="1" dirty="0">
                <a:solidFill>
                  <a:srgbClr val="7A8F9D"/>
                </a:solidFill>
                <a:latin typeface="Aptos Display" pitchFamily="34" charset="0"/>
                <a:ea typeface="Aptos Display" pitchFamily="34" charset="-122"/>
                <a:cs typeface="Aptos Display" pitchFamily="34" charset="-120"/>
              </a:rPr>
              <a:t>ADD PHOTO OR DIAGRAM</a:t>
            </a:r>
            <a:endParaRPr lang="en-US" sz="1700" dirty="0"/>
          </a:p>
        </p:txBody>
      </p:sp>
      <p:sp>
        <p:nvSpPr>
          <p:cNvPr id="16" name="Text 14"/>
          <p:cNvSpPr/>
          <p:nvPr/>
        </p:nvSpPr>
        <p:spPr>
          <a:xfrm>
            <a:off x="7900416" y="3465576"/>
            <a:ext cx="3429000" cy="301752"/>
          </a:xfrm>
          <a:prstGeom prst="rect">
            <a:avLst/>
          </a:prstGeom>
          <a:noFill/>
          <a:ln/>
        </p:spPr>
        <p:txBody>
          <a:bodyPr wrap="square" lIns="0" tIns="0" rIns="0" bIns="0" rtlCol="0" anchor="ctr"/>
          <a:lstStyle/>
          <a:p>
            <a:pPr algn="ctr" indent="0" marL="0">
              <a:buNone/>
            </a:pPr>
            <a:r>
              <a:rPr lang="en-US" sz="1150" dirty="0">
                <a:solidFill>
                  <a:srgbClr val="607585"/>
                </a:solidFill>
                <a:latin typeface="Aptos" pitchFamily="34" charset="0"/>
                <a:ea typeface="Aptos" pitchFamily="34" charset="-122"/>
                <a:cs typeface="Aptos" pitchFamily="34" charset="-120"/>
              </a:rPr>
              <a:t>Leave this area open for the final visual</a:t>
            </a:r>
            <a:endParaRPr lang="en-US" sz="1150" dirty="0"/>
          </a:p>
        </p:txBody>
      </p:sp>
      <p:sp>
        <p:nvSpPr>
          <p:cNvPr id="17" name="Shape 15"/>
          <p:cNvSpPr/>
          <p:nvPr/>
        </p:nvSpPr>
        <p:spPr>
          <a:xfrm>
            <a:off x="7845552" y="5111496"/>
            <a:ext cx="3538728" cy="0"/>
          </a:xfrm>
          <a:prstGeom prst="line">
            <a:avLst/>
          </a:prstGeom>
          <a:noFill/>
          <a:ln w="12700">
            <a:solidFill>
              <a:srgbClr val="C8D5DE"/>
            </a:solidFill>
            <a:prstDash val="solid"/>
          </a:ln>
        </p:spPr>
      </p:sp>
      <p:sp>
        <p:nvSpPr>
          <p:cNvPr id="18" name="Text 16"/>
          <p:cNvSpPr/>
          <p:nvPr/>
        </p:nvSpPr>
        <p:spPr>
          <a:xfrm>
            <a:off x="7845552" y="5239512"/>
            <a:ext cx="3538728" cy="384048"/>
          </a:xfrm>
          <a:prstGeom prst="rect">
            <a:avLst/>
          </a:prstGeom>
          <a:noFill/>
          <a:ln/>
        </p:spPr>
        <p:txBody>
          <a:bodyPr wrap="square" lIns="0" tIns="0" rIns="0" bIns="0" rtlCol="0" anchor="ctr"/>
          <a:lstStyle/>
          <a:p>
            <a:pPr indent="0" marL="0">
              <a:buNone/>
            </a:pPr>
            <a:r>
              <a:rPr lang="en-US" sz="1050" b="1" dirty="0">
                <a:solidFill>
                  <a:srgbClr val="1B3448"/>
                </a:solidFill>
                <a:latin typeface="Aptos" pitchFamily="34" charset="0"/>
                <a:ea typeface="Aptos" pitchFamily="34" charset="-122"/>
                <a:cs typeface="Aptos" pitchFamily="34" charset="-120"/>
              </a:rPr>
              <a:t>VISUAL BRIEF  /  Revisit the working architecture</a:t>
            </a:r>
            <a:endParaRPr lang="en-US" sz="1050" dirty="0"/>
          </a:p>
        </p:txBody>
      </p:sp>
      <p:sp>
        <p:nvSpPr>
          <p:cNvPr id="19" name="Text 17"/>
          <p:cNvSpPr/>
          <p:nvPr/>
        </p:nvSpPr>
        <p:spPr>
          <a:xfrm>
            <a:off x="7845552" y="5650992"/>
            <a:ext cx="3538728" cy="265176"/>
          </a:xfrm>
          <a:prstGeom prst="rect">
            <a:avLst/>
          </a:prstGeom>
          <a:noFill/>
          <a:ln/>
        </p:spPr>
        <p:txBody>
          <a:bodyPr wrap="square" lIns="0" tIns="0" rIns="0" bIns="0" rtlCol="0" anchor="ctr"/>
          <a:lstStyle/>
          <a:p>
            <a:pPr indent="0" marL="0">
              <a:buNone/>
            </a:pPr>
            <a:r>
              <a:rPr lang="en-US" sz="900" dirty="0">
                <a:solidFill>
                  <a:srgbClr val="607585"/>
                </a:solidFill>
                <a:latin typeface="Aptos" pitchFamily="34" charset="0"/>
                <a:ea typeface="Aptos" pitchFamily="34" charset="-122"/>
                <a:cs typeface="Aptos" pitchFamily="34" charset="-120"/>
              </a:rPr>
              <a:t>Full image-generation prompt is in this slide's speaker notes.</a:t>
            </a:r>
            <a:endParaRPr lang="en-US" sz="900" dirty="0"/>
          </a:p>
        </p:txBody>
      </p:sp>
      <p:sp>
        <p:nvSpPr>
          <p:cNvPr id="20" name="Shape 18"/>
          <p:cNvSpPr/>
          <p:nvPr/>
        </p:nvSpPr>
        <p:spPr>
          <a:xfrm>
            <a:off x="603504" y="6318504"/>
            <a:ext cx="10972800" cy="0"/>
          </a:xfrm>
          <a:prstGeom prst="line">
            <a:avLst/>
          </a:prstGeom>
          <a:noFill/>
          <a:ln w="10160">
            <a:solidFill>
              <a:srgbClr val="D5E0E7"/>
            </a:solidFill>
            <a:prstDash val="solid"/>
          </a:ln>
        </p:spPr>
      </p:sp>
      <p:sp>
        <p:nvSpPr>
          <p:cNvPr id="21" name="Text 19"/>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EVALUATING HMI/SCADA AND CONVERGENCE</a:t>
            </a:r>
            <a:endParaRPr lang="en-US" sz="800" dirty="0"/>
          </a:p>
        </p:txBody>
      </p:sp>
      <p:sp>
        <p:nvSpPr>
          <p:cNvPr id="22" name="Text 20"/>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02 / 18</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C65E4E"/>
          </a:solidFill>
          <a:ln w="12700">
            <a:solidFill>
              <a:srgbClr val="C65E4E">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C65E4E"/>
                </a:solidFill>
                <a:latin typeface="Aptos" pitchFamily="34" charset="0"/>
                <a:ea typeface="Aptos" pitchFamily="34" charset="-122"/>
                <a:cs typeface="Aptos" pitchFamily="34" charset="-120"/>
              </a:rPr>
              <a:t>UNIT 5009    /    WEEK 08    /    LO2</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5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C65E4E"/>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C65E4E"/>
                </a:solidFill>
                <a:latin typeface="Aptos" pitchFamily="34" charset="0"/>
                <a:ea typeface="Aptos" pitchFamily="34" charset="-122"/>
                <a:cs typeface="Aptos" pitchFamily="34" charset="-120"/>
              </a:rPr>
              <a:t>M3 / D2</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3100" b="1" dirty="0">
                <a:solidFill>
                  <a:srgbClr val="1B3448"/>
                </a:solidFill>
                <a:latin typeface="Aptos Display" pitchFamily="34" charset="0"/>
                <a:ea typeface="Aptos Display" pitchFamily="34" charset="-122"/>
                <a:cs typeface="Aptos Display" pitchFamily="34" charset="-120"/>
              </a:rPr>
              <a:t>M3 and D2 are judgements</a:t>
            </a:r>
            <a:endParaRPr lang="en-US" sz="31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76656" y="1719072"/>
            <a:ext cx="1828800" cy="210312"/>
          </a:xfrm>
          <a:prstGeom prst="rect">
            <a:avLst/>
          </a:prstGeom>
          <a:noFill/>
          <a:ln/>
        </p:spPr>
        <p:txBody>
          <a:bodyPr wrap="square" lIns="0" tIns="0" rIns="0" bIns="0" rtlCol="0" anchor="ctr"/>
          <a:lstStyle/>
          <a:p>
            <a:pPr indent="0" marL="0">
              <a:buNone/>
            </a:pPr>
            <a:r>
              <a:rPr lang="en-US" sz="900" b="1" spc="100" kern="0" dirty="0">
                <a:solidFill>
                  <a:srgbClr val="C65E4E"/>
                </a:solidFill>
                <a:latin typeface="Aptos" pitchFamily="34" charset="0"/>
                <a:ea typeface="Aptos" pitchFamily="34" charset="-122"/>
                <a:cs typeface="Aptos" pitchFamily="34" charset="-120"/>
              </a:rPr>
              <a:t>KEY IDEAS</a:t>
            </a:r>
            <a:endParaRPr lang="en-US" sz="900" dirty="0"/>
          </a:p>
        </p:txBody>
      </p:sp>
      <p:sp>
        <p:nvSpPr>
          <p:cNvPr id="11" name="Shape 9"/>
          <p:cNvSpPr/>
          <p:nvPr/>
        </p:nvSpPr>
        <p:spPr>
          <a:xfrm>
            <a:off x="713232" y="2139696"/>
            <a:ext cx="100584" cy="100584"/>
          </a:xfrm>
          <a:prstGeom prst="ellipse">
            <a:avLst/>
          </a:prstGeom>
          <a:solidFill>
            <a:srgbClr val="C65E4E"/>
          </a:solidFill>
          <a:ln w="12700">
            <a:solidFill>
              <a:srgbClr val="C65E4E">
                <a:alpha val="0"/>
              </a:srgbClr>
            </a:solidFill>
            <a:prstDash val="solid"/>
          </a:ln>
        </p:spPr>
      </p:sp>
      <p:sp>
        <p:nvSpPr>
          <p:cNvPr id="12" name="Text 10"/>
          <p:cNvSpPr/>
          <p:nvPr/>
        </p:nvSpPr>
        <p:spPr>
          <a:xfrm>
            <a:off x="969264" y="2029968"/>
            <a:ext cx="6327648" cy="329184"/>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M3 requires balanced evaluation and a context-based conclusion.</a:t>
            </a:r>
            <a:endParaRPr lang="en-US" sz="1650" dirty="0"/>
          </a:p>
        </p:txBody>
      </p:sp>
      <p:sp>
        <p:nvSpPr>
          <p:cNvPr id="13" name="Shape 11"/>
          <p:cNvSpPr/>
          <p:nvPr/>
        </p:nvSpPr>
        <p:spPr>
          <a:xfrm>
            <a:off x="713232" y="2578608"/>
            <a:ext cx="100584" cy="100584"/>
          </a:xfrm>
          <a:prstGeom prst="ellipse">
            <a:avLst/>
          </a:prstGeom>
          <a:solidFill>
            <a:srgbClr val="C65E4E"/>
          </a:solidFill>
          <a:ln w="12700">
            <a:solidFill>
              <a:srgbClr val="C65E4E">
                <a:alpha val="0"/>
              </a:srgbClr>
            </a:solidFill>
            <a:prstDash val="solid"/>
          </a:ln>
        </p:spPr>
      </p:sp>
      <p:sp>
        <p:nvSpPr>
          <p:cNvPr id="14" name="Text 12"/>
          <p:cNvSpPr/>
          <p:nvPr/>
        </p:nvSpPr>
        <p:spPr>
          <a:xfrm>
            <a:off x="969264" y="2468880"/>
            <a:ext cx="6327648" cy="566928"/>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D2 requires a valid rationale for convergence, including benefits, risks, and controls.</a:t>
            </a:r>
            <a:endParaRPr lang="en-US" sz="1650" dirty="0"/>
          </a:p>
        </p:txBody>
      </p:sp>
      <p:sp>
        <p:nvSpPr>
          <p:cNvPr id="15" name="Shape 13"/>
          <p:cNvSpPr/>
          <p:nvPr/>
        </p:nvSpPr>
        <p:spPr>
          <a:xfrm>
            <a:off x="7644384" y="1746504"/>
            <a:ext cx="3941064" cy="4352544"/>
          </a:xfrm>
          <a:prstGeom prst="rect">
            <a:avLst/>
          </a:prstGeom>
          <a:solidFill>
            <a:srgbClr val="E8EFF3"/>
          </a:solidFill>
          <a:ln w="15240">
            <a:solidFill>
              <a:srgbClr val="C8D5DE"/>
            </a:solidFill>
            <a:prstDash val="solid"/>
          </a:ln>
        </p:spPr>
      </p:sp>
      <p:sp>
        <p:nvSpPr>
          <p:cNvPr id="16" name="Text 14"/>
          <p:cNvSpPr/>
          <p:nvPr/>
        </p:nvSpPr>
        <p:spPr>
          <a:xfrm>
            <a:off x="7845552" y="1911096"/>
            <a:ext cx="3538728" cy="246888"/>
          </a:xfrm>
          <a:prstGeom prst="rect">
            <a:avLst/>
          </a:prstGeom>
          <a:noFill/>
          <a:ln/>
        </p:spPr>
        <p:txBody>
          <a:bodyPr wrap="square" lIns="0" tIns="0" rIns="0" bIns="0" rtlCol="0" anchor="ctr"/>
          <a:lstStyle/>
          <a:p>
            <a:pPr indent="0" marL="0">
              <a:buNone/>
            </a:pPr>
            <a:r>
              <a:rPr lang="en-US" sz="900" b="1" spc="80" kern="0" dirty="0">
                <a:solidFill>
                  <a:srgbClr val="C65E4E"/>
                </a:solidFill>
                <a:latin typeface="Aptos" pitchFamily="34" charset="0"/>
                <a:ea typeface="Aptos" pitchFamily="34" charset="-122"/>
                <a:cs typeface="Aptos" pitchFamily="34" charset="-120"/>
              </a:rPr>
              <a:t>IMAGE PLACEHOLDER</a:t>
            </a:r>
            <a:endParaRPr lang="en-US" sz="900" dirty="0"/>
          </a:p>
        </p:txBody>
      </p:sp>
      <p:sp>
        <p:nvSpPr>
          <p:cNvPr id="17" name="Text 15"/>
          <p:cNvSpPr/>
          <p:nvPr/>
        </p:nvSpPr>
        <p:spPr>
          <a:xfrm>
            <a:off x="7900416" y="3072384"/>
            <a:ext cx="3429000" cy="347472"/>
          </a:xfrm>
          <a:prstGeom prst="rect">
            <a:avLst/>
          </a:prstGeom>
          <a:noFill/>
          <a:ln/>
        </p:spPr>
        <p:txBody>
          <a:bodyPr wrap="square" lIns="0" tIns="0" rIns="0" bIns="0" rtlCol="0" anchor="ctr"/>
          <a:lstStyle/>
          <a:p>
            <a:pPr algn="ctr" indent="0" marL="0">
              <a:buNone/>
            </a:pPr>
            <a:r>
              <a:rPr lang="en-US" sz="1700" b="1" dirty="0">
                <a:solidFill>
                  <a:srgbClr val="7A8F9D"/>
                </a:solidFill>
                <a:latin typeface="Aptos Display" pitchFamily="34" charset="0"/>
                <a:ea typeface="Aptos Display" pitchFamily="34" charset="-122"/>
                <a:cs typeface="Aptos Display" pitchFamily="34" charset="-120"/>
              </a:rPr>
              <a:t>ADD PHOTO OR DIAGRAM</a:t>
            </a:r>
            <a:endParaRPr lang="en-US" sz="1700" dirty="0"/>
          </a:p>
        </p:txBody>
      </p:sp>
      <p:sp>
        <p:nvSpPr>
          <p:cNvPr id="18" name="Text 16"/>
          <p:cNvSpPr/>
          <p:nvPr/>
        </p:nvSpPr>
        <p:spPr>
          <a:xfrm>
            <a:off x="7900416" y="3465576"/>
            <a:ext cx="3429000" cy="301752"/>
          </a:xfrm>
          <a:prstGeom prst="rect">
            <a:avLst/>
          </a:prstGeom>
          <a:noFill/>
          <a:ln/>
        </p:spPr>
        <p:txBody>
          <a:bodyPr wrap="square" lIns="0" tIns="0" rIns="0" bIns="0" rtlCol="0" anchor="ctr"/>
          <a:lstStyle/>
          <a:p>
            <a:pPr algn="ctr" indent="0" marL="0">
              <a:buNone/>
            </a:pPr>
            <a:r>
              <a:rPr lang="en-US" sz="1150" dirty="0">
                <a:solidFill>
                  <a:srgbClr val="607585"/>
                </a:solidFill>
                <a:latin typeface="Aptos" pitchFamily="34" charset="0"/>
                <a:ea typeface="Aptos" pitchFamily="34" charset="-122"/>
                <a:cs typeface="Aptos" pitchFamily="34" charset="-120"/>
              </a:rPr>
              <a:t>Leave this area open for the final visual</a:t>
            </a:r>
            <a:endParaRPr lang="en-US" sz="1150" dirty="0"/>
          </a:p>
        </p:txBody>
      </p:sp>
      <p:sp>
        <p:nvSpPr>
          <p:cNvPr id="19" name="Shape 17"/>
          <p:cNvSpPr/>
          <p:nvPr/>
        </p:nvSpPr>
        <p:spPr>
          <a:xfrm>
            <a:off x="7845552" y="5111496"/>
            <a:ext cx="3538728" cy="0"/>
          </a:xfrm>
          <a:prstGeom prst="line">
            <a:avLst/>
          </a:prstGeom>
          <a:noFill/>
          <a:ln w="12700">
            <a:solidFill>
              <a:srgbClr val="C8D5DE"/>
            </a:solidFill>
            <a:prstDash val="solid"/>
          </a:ln>
        </p:spPr>
      </p:sp>
      <p:sp>
        <p:nvSpPr>
          <p:cNvPr id="20" name="Text 18"/>
          <p:cNvSpPr/>
          <p:nvPr/>
        </p:nvSpPr>
        <p:spPr>
          <a:xfrm>
            <a:off x="7845552" y="5239512"/>
            <a:ext cx="3538728" cy="384048"/>
          </a:xfrm>
          <a:prstGeom prst="rect">
            <a:avLst/>
          </a:prstGeom>
          <a:noFill/>
          <a:ln/>
        </p:spPr>
        <p:txBody>
          <a:bodyPr wrap="square" lIns="0" tIns="0" rIns="0" bIns="0" rtlCol="0" anchor="ctr"/>
          <a:lstStyle/>
          <a:p>
            <a:pPr indent="0" marL="0">
              <a:buNone/>
            </a:pPr>
            <a:r>
              <a:rPr lang="en-US" sz="1050" b="1" dirty="0">
                <a:solidFill>
                  <a:srgbClr val="1B3448"/>
                </a:solidFill>
                <a:latin typeface="Aptos" pitchFamily="34" charset="0"/>
                <a:ea typeface="Aptos" pitchFamily="34" charset="-122"/>
                <a:cs typeface="Aptos" pitchFamily="34" charset="-120"/>
              </a:rPr>
              <a:t>VISUAL BRIEF  /  M3 and D2 are judgements</a:t>
            </a:r>
            <a:endParaRPr lang="en-US" sz="1050" dirty="0"/>
          </a:p>
        </p:txBody>
      </p:sp>
      <p:sp>
        <p:nvSpPr>
          <p:cNvPr id="21" name="Text 19"/>
          <p:cNvSpPr/>
          <p:nvPr/>
        </p:nvSpPr>
        <p:spPr>
          <a:xfrm>
            <a:off x="7845552" y="5650992"/>
            <a:ext cx="3538728" cy="265176"/>
          </a:xfrm>
          <a:prstGeom prst="rect">
            <a:avLst/>
          </a:prstGeom>
          <a:noFill/>
          <a:ln/>
        </p:spPr>
        <p:txBody>
          <a:bodyPr wrap="square" lIns="0" tIns="0" rIns="0" bIns="0" rtlCol="0" anchor="ctr"/>
          <a:lstStyle/>
          <a:p>
            <a:pPr indent="0" marL="0">
              <a:buNone/>
            </a:pPr>
            <a:r>
              <a:rPr lang="en-US" sz="900" dirty="0">
                <a:solidFill>
                  <a:srgbClr val="607585"/>
                </a:solidFill>
                <a:latin typeface="Aptos" pitchFamily="34" charset="0"/>
                <a:ea typeface="Aptos" pitchFamily="34" charset="-122"/>
                <a:cs typeface="Aptos" pitchFamily="34" charset="-120"/>
              </a:rPr>
              <a:t>Full image-generation prompt is in this slide's speaker notes.</a:t>
            </a:r>
            <a:endParaRPr lang="en-US" sz="900" dirty="0"/>
          </a:p>
        </p:txBody>
      </p:sp>
      <p:sp>
        <p:nvSpPr>
          <p:cNvPr id="22" name="Shape 20"/>
          <p:cNvSpPr/>
          <p:nvPr/>
        </p:nvSpPr>
        <p:spPr>
          <a:xfrm>
            <a:off x="603504" y="6318504"/>
            <a:ext cx="10972800" cy="0"/>
          </a:xfrm>
          <a:prstGeom prst="line">
            <a:avLst/>
          </a:prstGeom>
          <a:noFill/>
          <a:ln w="10160">
            <a:solidFill>
              <a:srgbClr val="D5E0E7"/>
            </a:solidFill>
            <a:prstDash val="solid"/>
          </a:ln>
        </p:spPr>
      </p:sp>
      <p:sp>
        <p:nvSpPr>
          <p:cNvPr id="23" name="Text 21"/>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EVALUATING HMI/SCADA AND CONVERGENCE</a:t>
            </a:r>
            <a:endParaRPr lang="en-US" sz="800" dirty="0"/>
          </a:p>
        </p:txBody>
      </p:sp>
      <p:sp>
        <p:nvSpPr>
          <p:cNvPr id="24" name="Text 22"/>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03 / 18</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C65E4E"/>
          </a:solidFill>
          <a:ln w="12700">
            <a:solidFill>
              <a:srgbClr val="C65E4E">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C65E4E"/>
                </a:solidFill>
                <a:latin typeface="Aptos" pitchFamily="34" charset="0"/>
                <a:ea typeface="Aptos" pitchFamily="34" charset="-122"/>
                <a:cs typeface="Aptos" pitchFamily="34" charset="-120"/>
              </a:rPr>
              <a:t>UNIT 5009    /    WEEK 08    /    LO2</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12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C65E4E"/>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C65E4E"/>
                </a:solidFill>
                <a:latin typeface="Aptos" pitchFamily="34" charset="0"/>
                <a:ea typeface="Aptos" pitchFamily="34" charset="-122"/>
                <a:cs typeface="Aptos" pitchFamily="34" charset="-120"/>
              </a:rPr>
              <a:t>M3 / D2</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3100" b="1" dirty="0">
                <a:solidFill>
                  <a:srgbClr val="1B3448"/>
                </a:solidFill>
                <a:latin typeface="Aptos Display" pitchFamily="34" charset="0"/>
                <a:ea typeface="Aptos Display" pitchFamily="34" charset="-122"/>
                <a:cs typeface="Aptos Display" pitchFamily="34" charset="-120"/>
              </a:rPr>
              <a:t>Operational benefits of an HMI</a:t>
            </a:r>
            <a:endParaRPr lang="en-US" sz="31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76656" y="1719072"/>
            <a:ext cx="1828800" cy="210312"/>
          </a:xfrm>
          <a:prstGeom prst="rect">
            <a:avLst/>
          </a:prstGeom>
          <a:noFill/>
          <a:ln/>
        </p:spPr>
        <p:txBody>
          <a:bodyPr wrap="square" lIns="0" tIns="0" rIns="0" bIns="0" rtlCol="0" anchor="ctr"/>
          <a:lstStyle/>
          <a:p>
            <a:pPr indent="0" marL="0">
              <a:buNone/>
            </a:pPr>
            <a:r>
              <a:rPr lang="en-US" sz="900" b="1" spc="100" kern="0" dirty="0">
                <a:solidFill>
                  <a:srgbClr val="C65E4E"/>
                </a:solidFill>
                <a:latin typeface="Aptos" pitchFamily="34" charset="0"/>
                <a:ea typeface="Aptos" pitchFamily="34" charset="-122"/>
                <a:cs typeface="Aptos" pitchFamily="34" charset="-120"/>
              </a:rPr>
              <a:t>KEY IDEAS</a:t>
            </a:r>
            <a:endParaRPr lang="en-US" sz="900" dirty="0"/>
          </a:p>
        </p:txBody>
      </p:sp>
      <p:sp>
        <p:nvSpPr>
          <p:cNvPr id="11" name="Shape 9"/>
          <p:cNvSpPr/>
          <p:nvPr/>
        </p:nvSpPr>
        <p:spPr>
          <a:xfrm>
            <a:off x="713232" y="2139696"/>
            <a:ext cx="100584" cy="100584"/>
          </a:xfrm>
          <a:prstGeom prst="ellipse">
            <a:avLst/>
          </a:prstGeom>
          <a:solidFill>
            <a:srgbClr val="C65E4E"/>
          </a:solidFill>
          <a:ln w="12700">
            <a:solidFill>
              <a:srgbClr val="C65E4E">
                <a:alpha val="0"/>
              </a:srgbClr>
            </a:solidFill>
            <a:prstDash val="solid"/>
          </a:ln>
        </p:spPr>
      </p:sp>
      <p:sp>
        <p:nvSpPr>
          <p:cNvPr id="12" name="Text 10"/>
          <p:cNvSpPr/>
          <p:nvPr/>
        </p:nvSpPr>
        <p:spPr>
          <a:xfrm>
            <a:off x="969264" y="2029968"/>
            <a:ext cx="6327648" cy="566928"/>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Visibility of state, guided operation, alarms, fault messages, count/target information, and maintenance support.</a:t>
            </a:r>
            <a:endParaRPr lang="en-US" sz="1650" dirty="0"/>
          </a:p>
        </p:txBody>
      </p:sp>
      <p:sp>
        <p:nvSpPr>
          <p:cNvPr id="13" name="Shape 11"/>
          <p:cNvSpPr/>
          <p:nvPr/>
        </p:nvSpPr>
        <p:spPr>
          <a:xfrm>
            <a:off x="713232" y="2816352"/>
            <a:ext cx="100584" cy="100584"/>
          </a:xfrm>
          <a:prstGeom prst="ellipse">
            <a:avLst/>
          </a:prstGeom>
          <a:solidFill>
            <a:srgbClr val="C65E4E"/>
          </a:solidFill>
          <a:ln w="12700">
            <a:solidFill>
              <a:srgbClr val="C65E4E">
                <a:alpha val="0"/>
              </a:srgbClr>
            </a:solidFill>
            <a:prstDash val="solid"/>
          </a:ln>
        </p:spPr>
      </p:sp>
      <p:sp>
        <p:nvSpPr>
          <p:cNvPr id="14" name="Text 12"/>
          <p:cNvSpPr/>
          <p:nvPr/>
        </p:nvSpPr>
        <p:spPr>
          <a:xfrm>
            <a:off x="969264" y="2706624"/>
            <a:ext cx="6327648" cy="566928"/>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Discuss operator workload, readability, alarm priorities, and the cost of a confusing or overloaded screen.</a:t>
            </a:r>
            <a:endParaRPr lang="en-US" sz="1650" dirty="0"/>
          </a:p>
        </p:txBody>
      </p:sp>
      <p:sp>
        <p:nvSpPr>
          <p:cNvPr id="15" name="Shape 13"/>
          <p:cNvSpPr/>
          <p:nvPr/>
        </p:nvSpPr>
        <p:spPr>
          <a:xfrm>
            <a:off x="7644384" y="1746504"/>
            <a:ext cx="3941064" cy="4352544"/>
          </a:xfrm>
          <a:prstGeom prst="rect">
            <a:avLst/>
          </a:prstGeom>
          <a:solidFill>
            <a:srgbClr val="E8EFF3"/>
          </a:solidFill>
          <a:ln w="15240">
            <a:solidFill>
              <a:srgbClr val="C8D5DE"/>
            </a:solidFill>
            <a:prstDash val="solid"/>
          </a:ln>
        </p:spPr>
      </p:sp>
      <p:sp>
        <p:nvSpPr>
          <p:cNvPr id="16" name="Text 14"/>
          <p:cNvSpPr/>
          <p:nvPr/>
        </p:nvSpPr>
        <p:spPr>
          <a:xfrm>
            <a:off x="7845552" y="1911096"/>
            <a:ext cx="3538728" cy="246888"/>
          </a:xfrm>
          <a:prstGeom prst="rect">
            <a:avLst/>
          </a:prstGeom>
          <a:noFill/>
          <a:ln/>
        </p:spPr>
        <p:txBody>
          <a:bodyPr wrap="square" lIns="0" tIns="0" rIns="0" bIns="0" rtlCol="0" anchor="ctr"/>
          <a:lstStyle/>
          <a:p>
            <a:pPr indent="0" marL="0">
              <a:buNone/>
            </a:pPr>
            <a:r>
              <a:rPr lang="en-US" sz="900" b="1" spc="80" kern="0" dirty="0">
                <a:solidFill>
                  <a:srgbClr val="C65E4E"/>
                </a:solidFill>
                <a:latin typeface="Aptos" pitchFamily="34" charset="0"/>
                <a:ea typeface="Aptos" pitchFamily="34" charset="-122"/>
                <a:cs typeface="Aptos" pitchFamily="34" charset="-120"/>
              </a:rPr>
              <a:t>IMAGE PLACEHOLDER</a:t>
            </a:r>
            <a:endParaRPr lang="en-US" sz="900" dirty="0"/>
          </a:p>
        </p:txBody>
      </p:sp>
      <p:sp>
        <p:nvSpPr>
          <p:cNvPr id="17" name="Text 15"/>
          <p:cNvSpPr/>
          <p:nvPr/>
        </p:nvSpPr>
        <p:spPr>
          <a:xfrm>
            <a:off x="7900416" y="3072384"/>
            <a:ext cx="3429000" cy="347472"/>
          </a:xfrm>
          <a:prstGeom prst="rect">
            <a:avLst/>
          </a:prstGeom>
          <a:noFill/>
          <a:ln/>
        </p:spPr>
        <p:txBody>
          <a:bodyPr wrap="square" lIns="0" tIns="0" rIns="0" bIns="0" rtlCol="0" anchor="ctr"/>
          <a:lstStyle/>
          <a:p>
            <a:pPr algn="ctr" indent="0" marL="0">
              <a:buNone/>
            </a:pPr>
            <a:r>
              <a:rPr lang="en-US" sz="1700" b="1" dirty="0">
                <a:solidFill>
                  <a:srgbClr val="7A8F9D"/>
                </a:solidFill>
                <a:latin typeface="Aptos Display" pitchFamily="34" charset="0"/>
                <a:ea typeface="Aptos Display" pitchFamily="34" charset="-122"/>
                <a:cs typeface="Aptos Display" pitchFamily="34" charset="-120"/>
              </a:rPr>
              <a:t>ADD PHOTO OR DIAGRAM</a:t>
            </a:r>
            <a:endParaRPr lang="en-US" sz="1700" dirty="0"/>
          </a:p>
        </p:txBody>
      </p:sp>
      <p:sp>
        <p:nvSpPr>
          <p:cNvPr id="18" name="Text 16"/>
          <p:cNvSpPr/>
          <p:nvPr/>
        </p:nvSpPr>
        <p:spPr>
          <a:xfrm>
            <a:off x="7900416" y="3465576"/>
            <a:ext cx="3429000" cy="301752"/>
          </a:xfrm>
          <a:prstGeom prst="rect">
            <a:avLst/>
          </a:prstGeom>
          <a:noFill/>
          <a:ln/>
        </p:spPr>
        <p:txBody>
          <a:bodyPr wrap="square" lIns="0" tIns="0" rIns="0" bIns="0" rtlCol="0" anchor="ctr"/>
          <a:lstStyle/>
          <a:p>
            <a:pPr algn="ctr" indent="0" marL="0">
              <a:buNone/>
            </a:pPr>
            <a:r>
              <a:rPr lang="en-US" sz="1150" dirty="0">
                <a:solidFill>
                  <a:srgbClr val="607585"/>
                </a:solidFill>
                <a:latin typeface="Aptos" pitchFamily="34" charset="0"/>
                <a:ea typeface="Aptos" pitchFamily="34" charset="-122"/>
                <a:cs typeface="Aptos" pitchFamily="34" charset="-120"/>
              </a:rPr>
              <a:t>Leave this area open for the final visual</a:t>
            </a:r>
            <a:endParaRPr lang="en-US" sz="1150" dirty="0"/>
          </a:p>
        </p:txBody>
      </p:sp>
      <p:sp>
        <p:nvSpPr>
          <p:cNvPr id="19" name="Shape 17"/>
          <p:cNvSpPr/>
          <p:nvPr/>
        </p:nvSpPr>
        <p:spPr>
          <a:xfrm>
            <a:off x="7845552" y="5111496"/>
            <a:ext cx="3538728" cy="0"/>
          </a:xfrm>
          <a:prstGeom prst="line">
            <a:avLst/>
          </a:prstGeom>
          <a:noFill/>
          <a:ln w="12700">
            <a:solidFill>
              <a:srgbClr val="C8D5DE"/>
            </a:solidFill>
            <a:prstDash val="solid"/>
          </a:ln>
        </p:spPr>
      </p:sp>
      <p:sp>
        <p:nvSpPr>
          <p:cNvPr id="20" name="Text 18"/>
          <p:cNvSpPr/>
          <p:nvPr/>
        </p:nvSpPr>
        <p:spPr>
          <a:xfrm>
            <a:off x="7845552" y="5239512"/>
            <a:ext cx="3538728" cy="384048"/>
          </a:xfrm>
          <a:prstGeom prst="rect">
            <a:avLst/>
          </a:prstGeom>
          <a:noFill/>
          <a:ln/>
        </p:spPr>
        <p:txBody>
          <a:bodyPr wrap="square" lIns="0" tIns="0" rIns="0" bIns="0" rtlCol="0" anchor="ctr"/>
          <a:lstStyle/>
          <a:p>
            <a:pPr indent="0" marL="0">
              <a:buNone/>
            </a:pPr>
            <a:r>
              <a:rPr lang="en-US" sz="1050" b="1" dirty="0">
                <a:solidFill>
                  <a:srgbClr val="1B3448"/>
                </a:solidFill>
                <a:latin typeface="Aptos" pitchFamily="34" charset="0"/>
                <a:ea typeface="Aptos" pitchFamily="34" charset="-122"/>
                <a:cs typeface="Aptos" pitchFamily="34" charset="-120"/>
              </a:rPr>
              <a:t>VISUAL BRIEF  /  Operational benefits of an HMI</a:t>
            </a:r>
            <a:endParaRPr lang="en-US" sz="1050" dirty="0"/>
          </a:p>
        </p:txBody>
      </p:sp>
      <p:sp>
        <p:nvSpPr>
          <p:cNvPr id="21" name="Text 19"/>
          <p:cNvSpPr/>
          <p:nvPr/>
        </p:nvSpPr>
        <p:spPr>
          <a:xfrm>
            <a:off x="7845552" y="5650992"/>
            <a:ext cx="3538728" cy="265176"/>
          </a:xfrm>
          <a:prstGeom prst="rect">
            <a:avLst/>
          </a:prstGeom>
          <a:noFill/>
          <a:ln/>
        </p:spPr>
        <p:txBody>
          <a:bodyPr wrap="square" lIns="0" tIns="0" rIns="0" bIns="0" rtlCol="0" anchor="ctr"/>
          <a:lstStyle/>
          <a:p>
            <a:pPr indent="0" marL="0">
              <a:buNone/>
            </a:pPr>
            <a:r>
              <a:rPr lang="en-US" sz="900" dirty="0">
                <a:solidFill>
                  <a:srgbClr val="607585"/>
                </a:solidFill>
                <a:latin typeface="Aptos" pitchFamily="34" charset="0"/>
                <a:ea typeface="Aptos" pitchFamily="34" charset="-122"/>
                <a:cs typeface="Aptos" pitchFamily="34" charset="-120"/>
              </a:rPr>
              <a:t>Full image-generation prompt is in this slide's speaker notes.</a:t>
            </a:r>
            <a:endParaRPr lang="en-US" sz="900" dirty="0"/>
          </a:p>
        </p:txBody>
      </p:sp>
      <p:sp>
        <p:nvSpPr>
          <p:cNvPr id="22" name="Shape 20"/>
          <p:cNvSpPr/>
          <p:nvPr/>
        </p:nvSpPr>
        <p:spPr>
          <a:xfrm>
            <a:off x="603504" y="6318504"/>
            <a:ext cx="10972800" cy="0"/>
          </a:xfrm>
          <a:prstGeom prst="line">
            <a:avLst/>
          </a:prstGeom>
          <a:noFill/>
          <a:ln w="10160">
            <a:solidFill>
              <a:srgbClr val="D5E0E7"/>
            </a:solidFill>
            <a:prstDash val="solid"/>
          </a:ln>
        </p:spPr>
      </p:sp>
      <p:sp>
        <p:nvSpPr>
          <p:cNvPr id="23" name="Text 21"/>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EVALUATING HMI/SCADA AND CONVERGENCE</a:t>
            </a:r>
            <a:endParaRPr lang="en-US" sz="800" dirty="0"/>
          </a:p>
        </p:txBody>
      </p:sp>
      <p:sp>
        <p:nvSpPr>
          <p:cNvPr id="24" name="Text 22"/>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04 / 18</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C65E4E"/>
          </a:solidFill>
          <a:ln w="12700">
            <a:solidFill>
              <a:srgbClr val="C65E4E">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C65E4E"/>
                </a:solidFill>
                <a:latin typeface="Aptos" pitchFamily="34" charset="0"/>
                <a:ea typeface="Aptos" pitchFamily="34" charset="-122"/>
                <a:cs typeface="Aptos" pitchFamily="34" charset="-120"/>
              </a:rPr>
              <a:t>UNIT 5009    /    WEEK 08    /    LO2</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13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C65E4E"/>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C65E4E"/>
                </a:solidFill>
                <a:latin typeface="Aptos" pitchFamily="34" charset="0"/>
                <a:ea typeface="Aptos" pitchFamily="34" charset="-122"/>
                <a:cs typeface="Aptos" pitchFamily="34" charset="-120"/>
              </a:rPr>
              <a:t>M3 / D2</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3100" b="1" dirty="0">
                <a:solidFill>
                  <a:srgbClr val="1B3448"/>
                </a:solidFill>
                <a:latin typeface="Aptos Display" pitchFamily="34" charset="0"/>
                <a:ea typeface="Aptos Display" pitchFamily="34" charset="-122"/>
                <a:cs typeface="Aptos Display" pitchFamily="34" charset="-120"/>
              </a:rPr>
              <a:t>Operational benefits of SCADA</a:t>
            </a:r>
            <a:endParaRPr lang="en-US" sz="31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76656" y="1719072"/>
            <a:ext cx="1828800" cy="210312"/>
          </a:xfrm>
          <a:prstGeom prst="rect">
            <a:avLst/>
          </a:prstGeom>
          <a:noFill/>
          <a:ln/>
        </p:spPr>
        <p:txBody>
          <a:bodyPr wrap="square" lIns="0" tIns="0" rIns="0" bIns="0" rtlCol="0" anchor="ctr"/>
          <a:lstStyle/>
          <a:p>
            <a:pPr indent="0" marL="0">
              <a:buNone/>
            </a:pPr>
            <a:r>
              <a:rPr lang="en-US" sz="900" b="1" spc="100" kern="0" dirty="0">
                <a:solidFill>
                  <a:srgbClr val="C65E4E"/>
                </a:solidFill>
                <a:latin typeface="Aptos" pitchFamily="34" charset="0"/>
                <a:ea typeface="Aptos" pitchFamily="34" charset="-122"/>
                <a:cs typeface="Aptos" pitchFamily="34" charset="-120"/>
              </a:rPr>
              <a:t>KEY IDEAS</a:t>
            </a:r>
            <a:endParaRPr lang="en-US" sz="900" dirty="0"/>
          </a:p>
        </p:txBody>
      </p:sp>
      <p:sp>
        <p:nvSpPr>
          <p:cNvPr id="11" name="Shape 9"/>
          <p:cNvSpPr/>
          <p:nvPr/>
        </p:nvSpPr>
        <p:spPr>
          <a:xfrm>
            <a:off x="713232" y="2139696"/>
            <a:ext cx="100584" cy="100584"/>
          </a:xfrm>
          <a:prstGeom prst="ellipse">
            <a:avLst/>
          </a:prstGeom>
          <a:solidFill>
            <a:srgbClr val="C65E4E"/>
          </a:solidFill>
          <a:ln w="12700">
            <a:solidFill>
              <a:srgbClr val="C65E4E">
                <a:alpha val="0"/>
              </a:srgbClr>
            </a:solidFill>
            <a:prstDash val="solid"/>
          </a:ln>
        </p:spPr>
      </p:sp>
      <p:sp>
        <p:nvSpPr>
          <p:cNvPr id="12" name="Text 10"/>
          <p:cNvSpPr/>
          <p:nvPr/>
        </p:nvSpPr>
        <p:spPr>
          <a:xfrm>
            <a:off x="969264" y="2029968"/>
            <a:ext cx="6327648" cy="566928"/>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Multi-station overview, trends, production data, alarms/events, history, remote supervision, and troubleshooting.</a:t>
            </a:r>
            <a:endParaRPr lang="en-US" sz="1650" dirty="0"/>
          </a:p>
        </p:txBody>
      </p:sp>
      <p:sp>
        <p:nvSpPr>
          <p:cNvPr id="13" name="Shape 11"/>
          <p:cNvSpPr/>
          <p:nvPr/>
        </p:nvSpPr>
        <p:spPr>
          <a:xfrm>
            <a:off x="713232" y="2816352"/>
            <a:ext cx="100584" cy="100584"/>
          </a:xfrm>
          <a:prstGeom prst="ellipse">
            <a:avLst/>
          </a:prstGeom>
          <a:solidFill>
            <a:srgbClr val="C65E4E"/>
          </a:solidFill>
          <a:ln w="12700">
            <a:solidFill>
              <a:srgbClr val="C65E4E">
                <a:alpha val="0"/>
              </a:srgbClr>
            </a:solidFill>
            <a:prstDash val="solid"/>
          </a:ln>
        </p:spPr>
      </p:sp>
      <p:sp>
        <p:nvSpPr>
          <p:cNvPr id="14" name="Text 12"/>
          <p:cNvSpPr/>
          <p:nvPr/>
        </p:nvSpPr>
        <p:spPr>
          <a:xfrm>
            <a:off x="969264" y="2706624"/>
            <a:ext cx="6327648" cy="566928"/>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Link each benefit to a real operational decision, user, and required data quality.</a:t>
            </a:r>
            <a:endParaRPr lang="en-US" sz="1650" dirty="0"/>
          </a:p>
        </p:txBody>
      </p:sp>
      <p:sp>
        <p:nvSpPr>
          <p:cNvPr id="15" name="Shape 13"/>
          <p:cNvSpPr/>
          <p:nvPr/>
        </p:nvSpPr>
        <p:spPr>
          <a:xfrm>
            <a:off x="713232" y="3493008"/>
            <a:ext cx="100584" cy="100584"/>
          </a:xfrm>
          <a:prstGeom prst="ellipse">
            <a:avLst/>
          </a:prstGeom>
          <a:solidFill>
            <a:srgbClr val="C65E4E"/>
          </a:solidFill>
          <a:ln w="12700">
            <a:solidFill>
              <a:srgbClr val="C65E4E">
                <a:alpha val="0"/>
              </a:srgbClr>
            </a:solidFill>
            <a:prstDash val="solid"/>
          </a:ln>
        </p:spPr>
      </p:sp>
      <p:sp>
        <p:nvSpPr>
          <p:cNvPr id="16" name="Text 14"/>
          <p:cNvSpPr/>
          <p:nvPr/>
        </p:nvSpPr>
        <p:spPr>
          <a:xfrm>
            <a:off x="969264" y="3383280"/>
            <a:ext cx="6327648" cy="566928"/>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Distinguish live PLC values from historical records and validated production records.</a:t>
            </a:r>
            <a:endParaRPr lang="en-US" sz="1650" dirty="0"/>
          </a:p>
        </p:txBody>
      </p:sp>
      <p:sp>
        <p:nvSpPr>
          <p:cNvPr id="17" name="Shape 15"/>
          <p:cNvSpPr/>
          <p:nvPr/>
        </p:nvSpPr>
        <p:spPr>
          <a:xfrm>
            <a:off x="7644384" y="1746504"/>
            <a:ext cx="3941064" cy="4352544"/>
          </a:xfrm>
          <a:prstGeom prst="rect">
            <a:avLst/>
          </a:prstGeom>
          <a:solidFill>
            <a:srgbClr val="E8EFF3"/>
          </a:solidFill>
          <a:ln w="15240">
            <a:solidFill>
              <a:srgbClr val="C8D5DE"/>
            </a:solidFill>
            <a:prstDash val="solid"/>
          </a:ln>
        </p:spPr>
      </p:sp>
      <p:sp>
        <p:nvSpPr>
          <p:cNvPr id="18" name="Text 16"/>
          <p:cNvSpPr/>
          <p:nvPr/>
        </p:nvSpPr>
        <p:spPr>
          <a:xfrm>
            <a:off x="7845552" y="1911096"/>
            <a:ext cx="3538728" cy="246888"/>
          </a:xfrm>
          <a:prstGeom prst="rect">
            <a:avLst/>
          </a:prstGeom>
          <a:noFill/>
          <a:ln/>
        </p:spPr>
        <p:txBody>
          <a:bodyPr wrap="square" lIns="0" tIns="0" rIns="0" bIns="0" rtlCol="0" anchor="ctr"/>
          <a:lstStyle/>
          <a:p>
            <a:pPr indent="0" marL="0">
              <a:buNone/>
            </a:pPr>
            <a:r>
              <a:rPr lang="en-US" sz="900" b="1" spc="80" kern="0" dirty="0">
                <a:solidFill>
                  <a:srgbClr val="C65E4E"/>
                </a:solidFill>
                <a:latin typeface="Aptos" pitchFamily="34" charset="0"/>
                <a:ea typeface="Aptos" pitchFamily="34" charset="-122"/>
                <a:cs typeface="Aptos" pitchFamily="34" charset="-120"/>
              </a:rPr>
              <a:t>IMAGE PLACEHOLDER</a:t>
            </a:r>
            <a:endParaRPr lang="en-US" sz="900" dirty="0"/>
          </a:p>
        </p:txBody>
      </p:sp>
      <p:sp>
        <p:nvSpPr>
          <p:cNvPr id="19" name="Text 17"/>
          <p:cNvSpPr/>
          <p:nvPr/>
        </p:nvSpPr>
        <p:spPr>
          <a:xfrm>
            <a:off x="7900416" y="3072384"/>
            <a:ext cx="3429000" cy="347472"/>
          </a:xfrm>
          <a:prstGeom prst="rect">
            <a:avLst/>
          </a:prstGeom>
          <a:noFill/>
          <a:ln/>
        </p:spPr>
        <p:txBody>
          <a:bodyPr wrap="square" lIns="0" tIns="0" rIns="0" bIns="0" rtlCol="0" anchor="ctr"/>
          <a:lstStyle/>
          <a:p>
            <a:pPr algn="ctr" indent="0" marL="0">
              <a:buNone/>
            </a:pPr>
            <a:r>
              <a:rPr lang="en-US" sz="1700" b="1" dirty="0">
                <a:solidFill>
                  <a:srgbClr val="7A8F9D"/>
                </a:solidFill>
                <a:latin typeface="Aptos Display" pitchFamily="34" charset="0"/>
                <a:ea typeface="Aptos Display" pitchFamily="34" charset="-122"/>
                <a:cs typeface="Aptos Display" pitchFamily="34" charset="-120"/>
              </a:rPr>
              <a:t>ADD PHOTO OR DIAGRAM</a:t>
            </a:r>
            <a:endParaRPr lang="en-US" sz="1700" dirty="0"/>
          </a:p>
        </p:txBody>
      </p:sp>
      <p:sp>
        <p:nvSpPr>
          <p:cNvPr id="20" name="Text 18"/>
          <p:cNvSpPr/>
          <p:nvPr/>
        </p:nvSpPr>
        <p:spPr>
          <a:xfrm>
            <a:off x="7900416" y="3465576"/>
            <a:ext cx="3429000" cy="301752"/>
          </a:xfrm>
          <a:prstGeom prst="rect">
            <a:avLst/>
          </a:prstGeom>
          <a:noFill/>
          <a:ln/>
        </p:spPr>
        <p:txBody>
          <a:bodyPr wrap="square" lIns="0" tIns="0" rIns="0" bIns="0" rtlCol="0" anchor="ctr"/>
          <a:lstStyle/>
          <a:p>
            <a:pPr algn="ctr" indent="0" marL="0">
              <a:buNone/>
            </a:pPr>
            <a:r>
              <a:rPr lang="en-US" sz="1150" dirty="0">
                <a:solidFill>
                  <a:srgbClr val="607585"/>
                </a:solidFill>
                <a:latin typeface="Aptos" pitchFamily="34" charset="0"/>
                <a:ea typeface="Aptos" pitchFamily="34" charset="-122"/>
                <a:cs typeface="Aptos" pitchFamily="34" charset="-120"/>
              </a:rPr>
              <a:t>Leave this area open for the final visual</a:t>
            </a:r>
            <a:endParaRPr lang="en-US" sz="1150" dirty="0"/>
          </a:p>
        </p:txBody>
      </p:sp>
      <p:sp>
        <p:nvSpPr>
          <p:cNvPr id="21" name="Shape 19"/>
          <p:cNvSpPr/>
          <p:nvPr/>
        </p:nvSpPr>
        <p:spPr>
          <a:xfrm>
            <a:off x="7845552" y="5111496"/>
            <a:ext cx="3538728" cy="0"/>
          </a:xfrm>
          <a:prstGeom prst="line">
            <a:avLst/>
          </a:prstGeom>
          <a:noFill/>
          <a:ln w="12700">
            <a:solidFill>
              <a:srgbClr val="C8D5DE"/>
            </a:solidFill>
            <a:prstDash val="solid"/>
          </a:ln>
        </p:spPr>
      </p:sp>
      <p:sp>
        <p:nvSpPr>
          <p:cNvPr id="22" name="Text 20"/>
          <p:cNvSpPr/>
          <p:nvPr/>
        </p:nvSpPr>
        <p:spPr>
          <a:xfrm>
            <a:off x="7845552" y="5239512"/>
            <a:ext cx="3538728" cy="384048"/>
          </a:xfrm>
          <a:prstGeom prst="rect">
            <a:avLst/>
          </a:prstGeom>
          <a:noFill/>
          <a:ln/>
        </p:spPr>
        <p:txBody>
          <a:bodyPr wrap="square" lIns="0" tIns="0" rIns="0" bIns="0" rtlCol="0" anchor="ctr"/>
          <a:lstStyle/>
          <a:p>
            <a:pPr indent="0" marL="0">
              <a:buNone/>
            </a:pPr>
            <a:r>
              <a:rPr lang="en-US" sz="1050" b="1" dirty="0">
                <a:solidFill>
                  <a:srgbClr val="1B3448"/>
                </a:solidFill>
                <a:latin typeface="Aptos" pitchFamily="34" charset="0"/>
                <a:ea typeface="Aptos" pitchFamily="34" charset="-122"/>
                <a:cs typeface="Aptos" pitchFamily="34" charset="-120"/>
              </a:rPr>
              <a:t>VISUAL BRIEF  /  Operational benefits of SCADA</a:t>
            </a:r>
            <a:endParaRPr lang="en-US" sz="1050" dirty="0"/>
          </a:p>
        </p:txBody>
      </p:sp>
      <p:sp>
        <p:nvSpPr>
          <p:cNvPr id="23" name="Text 21"/>
          <p:cNvSpPr/>
          <p:nvPr/>
        </p:nvSpPr>
        <p:spPr>
          <a:xfrm>
            <a:off x="7845552" y="5650992"/>
            <a:ext cx="3538728" cy="265176"/>
          </a:xfrm>
          <a:prstGeom prst="rect">
            <a:avLst/>
          </a:prstGeom>
          <a:noFill/>
          <a:ln/>
        </p:spPr>
        <p:txBody>
          <a:bodyPr wrap="square" lIns="0" tIns="0" rIns="0" bIns="0" rtlCol="0" anchor="ctr"/>
          <a:lstStyle/>
          <a:p>
            <a:pPr indent="0" marL="0">
              <a:buNone/>
            </a:pPr>
            <a:r>
              <a:rPr lang="en-US" sz="900" dirty="0">
                <a:solidFill>
                  <a:srgbClr val="607585"/>
                </a:solidFill>
                <a:latin typeface="Aptos" pitchFamily="34" charset="0"/>
                <a:ea typeface="Aptos" pitchFamily="34" charset="-122"/>
                <a:cs typeface="Aptos" pitchFamily="34" charset="-120"/>
              </a:rPr>
              <a:t>Full image-generation prompt is in this slide's speaker notes.</a:t>
            </a:r>
            <a:endParaRPr lang="en-US" sz="900" dirty="0"/>
          </a:p>
        </p:txBody>
      </p:sp>
      <p:sp>
        <p:nvSpPr>
          <p:cNvPr id="24" name="Shape 22"/>
          <p:cNvSpPr/>
          <p:nvPr/>
        </p:nvSpPr>
        <p:spPr>
          <a:xfrm>
            <a:off x="603504" y="6318504"/>
            <a:ext cx="10972800" cy="0"/>
          </a:xfrm>
          <a:prstGeom prst="line">
            <a:avLst/>
          </a:prstGeom>
          <a:noFill/>
          <a:ln w="10160">
            <a:solidFill>
              <a:srgbClr val="D5E0E7"/>
            </a:solidFill>
            <a:prstDash val="solid"/>
          </a:ln>
        </p:spPr>
      </p:sp>
      <p:sp>
        <p:nvSpPr>
          <p:cNvPr id="25" name="Text 23"/>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EVALUATING HMI/SCADA AND CONVERGENCE</a:t>
            </a:r>
            <a:endParaRPr lang="en-US" sz="800" dirty="0"/>
          </a:p>
        </p:txBody>
      </p:sp>
      <p:sp>
        <p:nvSpPr>
          <p:cNvPr id="26" name="Text 24"/>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05 / 18</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C65E4E"/>
          </a:solidFill>
          <a:ln w="12700">
            <a:solidFill>
              <a:srgbClr val="C65E4E">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C65E4E"/>
                </a:solidFill>
                <a:latin typeface="Aptos" pitchFamily="34" charset="0"/>
                <a:ea typeface="Aptos" pitchFamily="34" charset="-122"/>
                <a:cs typeface="Aptos" pitchFamily="34" charset="-120"/>
              </a:rPr>
              <a:t>UNIT 5009    /    WEEK 08    /    LO2</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12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C65E4E"/>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C65E4E"/>
                </a:solidFill>
                <a:latin typeface="Aptos" pitchFamily="34" charset="0"/>
                <a:ea typeface="Aptos" pitchFamily="34" charset="-122"/>
                <a:cs typeface="Aptos" pitchFamily="34" charset="-120"/>
              </a:rPr>
              <a:t>M3 / D2</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3100" b="1" dirty="0">
                <a:solidFill>
                  <a:srgbClr val="1B3448"/>
                </a:solidFill>
                <a:latin typeface="Aptos Display" pitchFamily="34" charset="0"/>
                <a:ea typeface="Aptos Display" pitchFamily="34" charset="-122"/>
                <a:cs typeface="Aptos Display" pitchFamily="34" charset="-120"/>
              </a:rPr>
              <a:t>Limits, cost, and dependency</a:t>
            </a:r>
            <a:endParaRPr lang="en-US" sz="31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76656" y="1719072"/>
            <a:ext cx="1828800" cy="210312"/>
          </a:xfrm>
          <a:prstGeom prst="rect">
            <a:avLst/>
          </a:prstGeom>
          <a:noFill/>
          <a:ln/>
        </p:spPr>
        <p:txBody>
          <a:bodyPr wrap="square" lIns="0" tIns="0" rIns="0" bIns="0" rtlCol="0" anchor="ctr"/>
          <a:lstStyle/>
          <a:p>
            <a:pPr indent="0" marL="0">
              <a:buNone/>
            </a:pPr>
            <a:r>
              <a:rPr lang="en-US" sz="900" b="1" spc="100" kern="0" dirty="0">
                <a:solidFill>
                  <a:srgbClr val="C65E4E"/>
                </a:solidFill>
                <a:latin typeface="Aptos" pitchFamily="34" charset="0"/>
                <a:ea typeface="Aptos" pitchFamily="34" charset="-122"/>
                <a:cs typeface="Aptos" pitchFamily="34" charset="-120"/>
              </a:rPr>
              <a:t>KEY IDEAS</a:t>
            </a:r>
            <a:endParaRPr lang="en-US" sz="900" dirty="0"/>
          </a:p>
        </p:txBody>
      </p:sp>
      <p:sp>
        <p:nvSpPr>
          <p:cNvPr id="11" name="Shape 9"/>
          <p:cNvSpPr/>
          <p:nvPr/>
        </p:nvSpPr>
        <p:spPr>
          <a:xfrm>
            <a:off x="713232" y="2139696"/>
            <a:ext cx="100584" cy="100584"/>
          </a:xfrm>
          <a:prstGeom prst="ellipse">
            <a:avLst/>
          </a:prstGeom>
          <a:solidFill>
            <a:srgbClr val="C65E4E"/>
          </a:solidFill>
          <a:ln w="12700">
            <a:solidFill>
              <a:srgbClr val="C65E4E">
                <a:alpha val="0"/>
              </a:srgbClr>
            </a:solidFill>
            <a:prstDash val="solid"/>
          </a:ln>
        </p:spPr>
      </p:sp>
      <p:sp>
        <p:nvSpPr>
          <p:cNvPr id="12" name="Text 10"/>
          <p:cNvSpPr/>
          <p:nvPr/>
        </p:nvSpPr>
        <p:spPr>
          <a:xfrm>
            <a:off x="969264" y="2029968"/>
            <a:ext cx="6327648" cy="804672"/>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Hardware/software and engineering cost, skills/training, licensing, network reliance, data quality, alarm flood, maintenance, and vendor lifecycle.</a:t>
            </a:r>
            <a:endParaRPr lang="en-US" sz="1650" dirty="0"/>
          </a:p>
        </p:txBody>
      </p:sp>
      <p:sp>
        <p:nvSpPr>
          <p:cNvPr id="13" name="Shape 11"/>
          <p:cNvSpPr/>
          <p:nvPr/>
        </p:nvSpPr>
        <p:spPr>
          <a:xfrm>
            <a:off x="713232" y="3054096"/>
            <a:ext cx="100584" cy="100584"/>
          </a:xfrm>
          <a:prstGeom prst="ellipse">
            <a:avLst/>
          </a:prstGeom>
          <a:solidFill>
            <a:srgbClr val="C65E4E"/>
          </a:solidFill>
          <a:ln w="12700">
            <a:solidFill>
              <a:srgbClr val="C65E4E">
                <a:alpha val="0"/>
              </a:srgbClr>
            </a:solidFill>
            <a:prstDash val="solid"/>
          </a:ln>
        </p:spPr>
      </p:sp>
      <p:sp>
        <p:nvSpPr>
          <p:cNvPr id="14" name="Text 12"/>
          <p:cNvSpPr/>
          <p:nvPr/>
        </p:nvSpPr>
        <p:spPr>
          <a:xfrm>
            <a:off x="969264" y="2944368"/>
            <a:ext cx="6327648" cy="566928"/>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Ask whether one station needs a full SCADA system or a simpler local HMI; justify based on scale and need.</a:t>
            </a:r>
            <a:endParaRPr lang="en-US" sz="1650" dirty="0"/>
          </a:p>
        </p:txBody>
      </p:sp>
      <p:sp>
        <p:nvSpPr>
          <p:cNvPr id="15" name="Shape 13"/>
          <p:cNvSpPr/>
          <p:nvPr/>
        </p:nvSpPr>
        <p:spPr>
          <a:xfrm>
            <a:off x="7644384" y="1746504"/>
            <a:ext cx="3941064" cy="4352544"/>
          </a:xfrm>
          <a:prstGeom prst="rect">
            <a:avLst/>
          </a:prstGeom>
          <a:solidFill>
            <a:srgbClr val="E8EFF3"/>
          </a:solidFill>
          <a:ln w="15240">
            <a:solidFill>
              <a:srgbClr val="C8D5DE"/>
            </a:solidFill>
            <a:prstDash val="solid"/>
          </a:ln>
        </p:spPr>
      </p:sp>
      <p:sp>
        <p:nvSpPr>
          <p:cNvPr id="16" name="Text 14"/>
          <p:cNvSpPr/>
          <p:nvPr/>
        </p:nvSpPr>
        <p:spPr>
          <a:xfrm>
            <a:off x="7845552" y="1911096"/>
            <a:ext cx="3538728" cy="246888"/>
          </a:xfrm>
          <a:prstGeom prst="rect">
            <a:avLst/>
          </a:prstGeom>
          <a:noFill/>
          <a:ln/>
        </p:spPr>
        <p:txBody>
          <a:bodyPr wrap="square" lIns="0" tIns="0" rIns="0" bIns="0" rtlCol="0" anchor="ctr"/>
          <a:lstStyle/>
          <a:p>
            <a:pPr indent="0" marL="0">
              <a:buNone/>
            </a:pPr>
            <a:r>
              <a:rPr lang="en-US" sz="900" b="1" spc="80" kern="0" dirty="0">
                <a:solidFill>
                  <a:srgbClr val="C65E4E"/>
                </a:solidFill>
                <a:latin typeface="Aptos" pitchFamily="34" charset="0"/>
                <a:ea typeface="Aptos" pitchFamily="34" charset="-122"/>
                <a:cs typeface="Aptos" pitchFamily="34" charset="-120"/>
              </a:rPr>
              <a:t>IMAGE PLACEHOLDER</a:t>
            </a:r>
            <a:endParaRPr lang="en-US" sz="900" dirty="0"/>
          </a:p>
        </p:txBody>
      </p:sp>
      <p:sp>
        <p:nvSpPr>
          <p:cNvPr id="17" name="Text 15"/>
          <p:cNvSpPr/>
          <p:nvPr/>
        </p:nvSpPr>
        <p:spPr>
          <a:xfrm>
            <a:off x="7900416" y="3072384"/>
            <a:ext cx="3429000" cy="347472"/>
          </a:xfrm>
          <a:prstGeom prst="rect">
            <a:avLst/>
          </a:prstGeom>
          <a:noFill/>
          <a:ln/>
        </p:spPr>
        <p:txBody>
          <a:bodyPr wrap="square" lIns="0" tIns="0" rIns="0" bIns="0" rtlCol="0" anchor="ctr"/>
          <a:lstStyle/>
          <a:p>
            <a:pPr algn="ctr" indent="0" marL="0">
              <a:buNone/>
            </a:pPr>
            <a:r>
              <a:rPr lang="en-US" sz="1700" b="1" dirty="0">
                <a:solidFill>
                  <a:srgbClr val="7A8F9D"/>
                </a:solidFill>
                <a:latin typeface="Aptos Display" pitchFamily="34" charset="0"/>
                <a:ea typeface="Aptos Display" pitchFamily="34" charset="-122"/>
                <a:cs typeface="Aptos Display" pitchFamily="34" charset="-120"/>
              </a:rPr>
              <a:t>ADD PHOTO OR DIAGRAM</a:t>
            </a:r>
            <a:endParaRPr lang="en-US" sz="1700" dirty="0"/>
          </a:p>
        </p:txBody>
      </p:sp>
      <p:sp>
        <p:nvSpPr>
          <p:cNvPr id="18" name="Text 16"/>
          <p:cNvSpPr/>
          <p:nvPr/>
        </p:nvSpPr>
        <p:spPr>
          <a:xfrm>
            <a:off x="7900416" y="3465576"/>
            <a:ext cx="3429000" cy="301752"/>
          </a:xfrm>
          <a:prstGeom prst="rect">
            <a:avLst/>
          </a:prstGeom>
          <a:noFill/>
          <a:ln/>
        </p:spPr>
        <p:txBody>
          <a:bodyPr wrap="square" lIns="0" tIns="0" rIns="0" bIns="0" rtlCol="0" anchor="ctr"/>
          <a:lstStyle/>
          <a:p>
            <a:pPr algn="ctr" indent="0" marL="0">
              <a:buNone/>
            </a:pPr>
            <a:r>
              <a:rPr lang="en-US" sz="1150" dirty="0">
                <a:solidFill>
                  <a:srgbClr val="607585"/>
                </a:solidFill>
                <a:latin typeface="Aptos" pitchFamily="34" charset="0"/>
                <a:ea typeface="Aptos" pitchFamily="34" charset="-122"/>
                <a:cs typeface="Aptos" pitchFamily="34" charset="-120"/>
              </a:rPr>
              <a:t>Leave this area open for the final visual</a:t>
            </a:r>
            <a:endParaRPr lang="en-US" sz="1150" dirty="0"/>
          </a:p>
        </p:txBody>
      </p:sp>
      <p:sp>
        <p:nvSpPr>
          <p:cNvPr id="19" name="Shape 17"/>
          <p:cNvSpPr/>
          <p:nvPr/>
        </p:nvSpPr>
        <p:spPr>
          <a:xfrm>
            <a:off x="7845552" y="5111496"/>
            <a:ext cx="3538728" cy="0"/>
          </a:xfrm>
          <a:prstGeom prst="line">
            <a:avLst/>
          </a:prstGeom>
          <a:noFill/>
          <a:ln w="12700">
            <a:solidFill>
              <a:srgbClr val="C8D5DE"/>
            </a:solidFill>
            <a:prstDash val="solid"/>
          </a:ln>
        </p:spPr>
      </p:sp>
      <p:sp>
        <p:nvSpPr>
          <p:cNvPr id="20" name="Text 18"/>
          <p:cNvSpPr/>
          <p:nvPr/>
        </p:nvSpPr>
        <p:spPr>
          <a:xfrm>
            <a:off x="7845552" y="5239512"/>
            <a:ext cx="3538728" cy="384048"/>
          </a:xfrm>
          <a:prstGeom prst="rect">
            <a:avLst/>
          </a:prstGeom>
          <a:noFill/>
          <a:ln/>
        </p:spPr>
        <p:txBody>
          <a:bodyPr wrap="square" lIns="0" tIns="0" rIns="0" bIns="0" rtlCol="0" anchor="ctr"/>
          <a:lstStyle/>
          <a:p>
            <a:pPr indent="0" marL="0">
              <a:buNone/>
            </a:pPr>
            <a:r>
              <a:rPr lang="en-US" sz="1050" b="1" dirty="0">
                <a:solidFill>
                  <a:srgbClr val="1B3448"/>
                </a:solidFill>
                <a:latin typeface="Aptos" pitchFamily="34" charset="0"/>
                <a:ea typeface="Aptos" pitchFamily="34" charset="-122"/>
                <a:cs typeface="Aptos" pitchFamily="34" charset="-120"/>
              </a:rPr>
              <a:t>VISUAL BRIEF  /  Limits, cost, and dependency</a:t>
            </a:r>
            <a:endParaRPr lang="en-US" sz="1050" dirty="0"/>
          </a:p>
        </p:txBody>
      </p:sp>
      <p:sp>
        <p:nvSpPr>
          <p:cNvPr id="21" name="Text 19"/>
          <p:cNvSpPr/>
          <p:nvPr/>
        </p:nvSpPr>
        <p:spPr>
          <a:xfrm>
            <a:off x="7845552" y="5650992"/>
            <a:ext cx="3538728" cy="265176"/>
          </a:xfrm>
          <a:prstGeom prst="rect">
            <a:avLst/>
          </a:prstGeom>
          <a:noFill/>
          <a:ln/>
        </p:spPr>
        <p:txBody>
          <a:bodyPr wrap="square" lIns="0" tIns="0" rIns="0" bIns="0" rtlCol="0" anchor="ctr"/>
          <a:lstStyle/>
          <a:p>
            <a:pPr indent="0" marL="0">
              <a:buNone/>
            </a:pPr>
            <a:r>
              <a:rPr lang="en-US" sz="900" dirty="0">
                <a:solidFill>
                  <a:srgbClr val="607585"/>
                </a:solidFill>
                <a:latin typeface="Aptos" pitchFamily="34" charset="0"/>
                <a:ea typeface="Aptos" pitchFamily="34" charset="-122"/>
                <a:cs typeface="Aptos" pitchFamily="34" charset="-120"/>
              </a:rPr>
              <a:t>Full image-generation prompt is in this slide's speaker notes.</a:t>
            </a:r>
            <a:endParaRPr lang="en-US" sz="900" dirty="0"/>
          </a:p>
        </p:txBody>
      </p:sp>
      <p:sp>
        <p:nvSpPr>
          <p:cNvPr id="22" name="Shape 20"/>
          <p:cNvSpPr/>
          <p:nvPr/>
        </p:nvSpPr>
        <p:spPr>
          <a:xfrm>
            <a:off x="603504" y="6318504"/>
            <a:ext cx="10972800" cy="0"/>
          </a:xfrm>
          <a:prstGeom prst="line">
            <a:avLst/>
          </a:prstGeom>
          <a:noFill/>
          <a:ln w="10160">
            <a:solidFill>
              <a:srgbClr val="D5E0E7"/>
            </a:solidFill>
            <a:prstDash val="solid"/>
          </a:ln>
        </p:spPr>
      </p:sp>
      <p:sp>
        <p:nvSpPr>
          <p:cNvPr id="23" name="Text 21"/>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EVALUATING HMI/SCADA AND CONVERGENCE</a:t>
            </a:r>
            <a:endParaRPr lang="en-US" sz="800" dirty="0"/>
          </a:p>
        </p:txBody>
      </p:sp>
      <p:sp>
        <p:nvSpPr>
          <p:cNvPr id="24" name="Text 22"/>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06 / 18</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C65E4E"/>
          </a:solidFill>
          <a:ln w="12700">
            <a:solidFill>
              <a:srgbClr val="C65E4E">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C65E4E"/>
                </a:solidFill>
                <a:latin typeface="Aptos" pitchFamily="34" charset="0"/>
                <a:ea typeface="Aptos" pitchFamily="34" charset="-122"/>
                <a:cs typeface="Aptos" pitchFamily="34" charset="-120"/>
              </a:rPr>
              <a:t>UNIT 5009    /    WEEK 08    /    LO2</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13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C65E4E"/>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C65E4E"/>
                </a:solidFill>
                <a:latin typeface="Aptos" pitchFamily="34" charset="0"/>
                <a:ea typeface="Aptos" pitchFamily="34" charset="-122"/>
                <a:cs typeface="Aptos" pitchFamily="34" charset="-120"/>
              </a:rPr>
              <a:t>M3 / D2</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3100" b="1" dirty="0">
                <a:solidFill>
                  <a:srgbClr val="1B3448"/>
                </a:solidFill>
                <a:latin typeface="Aptos Display" pitchFamily="34" charset="0"/>
                <a:ea typeface="Aptos Display" pitchFamily="34" charset="-122"/>
                <a:cs typeface="Aptos Display" pitchFamily="34" charset="-120"/>
              </a:rPr>
              <a:t>Balanced evaluation matrix</a:t>
            </a:r>
            <a:endParaRPr lang="en-US" sz="31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76656" y="1719072"/>
            <a:ext cx="1828800" cy="210312"/>
          </a:xfrm>
          <a:prstGeom prst="rect">
            <a:avLst/>
          </a:prstGeom>
          <a:noFill/>
          <a:ln/>
        </p:spPr>
        <p:txBody>
          <a:bodyPr wrap="square" lIns="0" tIns="0" rIns="0" bIns="0" rtlCol="0" anchor="ctr"/>
          <a:lstStyle/>
          <a:p>
            <a:pPr indent="0" marL="0">
              <a:buNone/>
            </a:pPr>
            <a:r>
              <a:rPr lang="en-US" sz="900" b="1" spc="100" kern="0" dirty="0">
                <a:solidFill>
                  <a:srgbClr val="C65E4E"/>
                </a:solidFill>
                <a:latin typeface="Aptos" pitchFamily="34" charset="0"/>
                <a:ea typeface="Aptos" pitchFamily="34" charset="-122"/>
                <a:cs typeface="Aptos" pitchFamily="34" charset="-120"/>
              </a:rPr>
              <a:t>KEY IDEAS</a:t>
            </a:r>
            <a:endParaRPr lang="en-US" sz="900" dirty="0"/>
          </a:p>
        </p:txBody>
      </p:sp>
      <p:sp>
        <p:nvSpPr>
          <p:cNvPr id="11" name="Shape 9"/>
          <p:cNvSpPr/>
          <p:nvPr/>
        </p:nvSpPr>
        <p:spPr>
          <a:xfrm>
            <a:off x="713232" y="2139696"/>
            <a:ext cx="100584" cy="100584"/>
          </a:xfrm>
          <a:prstGeom prst="ellipse">
            <a:avLst/>
          </a:prstGeom>
          <a:solidFill>
            <a:srgbClr val="C65E4E"/>
          </a:solidFill>
          <a:ln w="12700">
            <a:solidFill>
              <a:srgbClr val="C65E4E">
                <a:alpha val="0"/>
              </a:srgbClr>
            </a:solidFill>
            <a:prstDash val="solid"/>
          </a:ln>
        </p:spPr>
      </p:sp>
      <p:sp>
        <p:nvSpPr>
          <p:cNvPr id="12" name="Text 10"/>
          <p:cNvSpPr/>
          <p:nvPr/>
        </p:nvSpPr>
        <p:spPr>
          <a:xfrm>
            <a:off x="969264" y="2029968"/>
            <a:ext cx="6327648" cy="566928"/>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Compare benefit, stakeholder, evidence, limitation, consequence, and mitigation.</a:t>
            </a:r>
            <a:endParaRPr lang="en-US" sz="1650" dirty="0"/>
          </a:p>
        </p:txBody>
      </p:sp>
      <p:sp>
        <p:nvSpPr>
          <p:cNvPr id="13" name="Shape 11"/>
          <p:cNvSpPr/>
          <p:nvPr/>
        </p:nvSpPr>
        <p:spPr>
          <a:xfrm>
            <a:off x="713232" y="2816352"/>
            <a:ext cx="100584" cy="100584"/>
          </a:xfrm>
          <a:prstGeom prst="ellipse">
            <a:avLst/>
          </a:prstGeom>
          <a:solidFill>
            <a:srgbClr val="C65E4E"/>
          </a:solidFill>
          <a:ln w="12700">
            <a:solidFill>
              <a:srgbClr val="C65E4E">
                <a:alpha val="0"/>
              </a:srgbClr>
            </a:solidFill>
            <a:prstDash val="solid"/>
          </a:ln>
        </p:spPr>
      </p:sp>
      <p:sp>
        <p:nvSpPr>
          <p:cNvPr id="14" name="Text 12"/>
          <p:cNvSpPr/>
          <p:nvPr/>
        </p:nvSpPr>
        <p:spPr>
          <a:xfrm>
            <a:off x="969264" y="2706624"/>
            <a:ext cx="6327648" cy="566928"/>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Students evaluate one HMI function and one SCADA function for the MedPack context.</a:t>
            </a:r>
            <a:endParaRPr lang="en-US" sz="1650" dirty="0"/>
          </a:p>
        </p:txBody>
      </p:sp>
      <p:sp>
        <p:nvSpPr>
          <p:cNvPr id="15" name="Shape 13"/>
          <p:cNvSpPr/>
          <p:nvPr/>
        </p:nvSpPr>
        <p:spPr>
          <a:xfrm>
            <a:off x="7644384" y="1746504"/>
            <a:ext cx="3941064" cy="4352544"/>
          </a:xfrm>
          <a:prstGeom prst="rect">
            <a:avLst/>
          </a:prstGeom>
          <a:solidFill>
            <a:srgbClr val="E8EFF3"/>
          </a:solidFill>
          <a:ln w="15240">
            <a:solidFill>
              <a:srgbClr val="C8D5DE"/>
            </a:solidFill>
            <a:prstDash val="solid"/>
          </a:ln>
        </p:spPr>
      </p:sp>
      <p:sp>
        <p:nvSpPr>
          <p:cNvPr id="16" name="Text 14"/>
          <p:cNvSpPr/>
          <p:nvPr/>
        </p:nvSpPr>
        <p:spPr>
          <a:xfrm>
            <a:off x="7845552" y="1911096"/>
            <a:ext cx="3538728" cy="246888"/>
          </a:xfrm>
          <a:prstGeom prst="rect">
            <a:avLst/>
          </a:prstGeom>
          <a:noFill/>
          <a:ln/>
        </p:spPr>
        <p:txBody>
          <a:bodyPr wrap="square" lIns="0" tIns="0" rIns="0" bIns="0" rtlCol="0" anchor="ctr"/>
          <a:lstStyle/>
          <a:p>
            <a:pPr indent="0" marL="0">
              <a:buNone/>
            </a:pPr>
            <a:r>
              <a:rPr lang="en-US" sz="900" b="1" spc="80" kern="0" dirty="0">
                <a:solidFill>
                  <a:srgbClr val="C65E4E"/>
                </a:solidFill>
                <a:latin typeface="Aptos" pitchFamily="34" charset="0"/>
                <a:ea typeface="Aptos" pitchFamily="34" charset="-122"/>
                <a:cs typeface="Aptos" pitchFamily="34" charset="-120"/>
              </a:rPr>
              <a:t>IMAGE PLACEHOLDER</a:t>
            </a:r>
            <a:endParaRPr lang="en-US" sz="900" dirty="0"/>
          </a:p>
        </p:txBody>
      </p:sp>
      <p:sp>
        <p:nvSpPr>
          <p:cNvPr id="17" name="Text 15"/>
          <p:cNvSpPr/>
          <p:nvPr/>
        </p:nvSpPr>
        <p:spPr>
          <a:xfrm>
            <a:off x="7900416" y="3072384"/>
            <a:ext cx="3429000" cy="347472"/>
          </a:xfrm>
          <a:prstGeom prst="rect">
            <a:avLst/>
          </a:prstGeom>
          <a:noFill/>
          <a:ln/>
        </p:spPr>
        <p:txBody>
          <a:bodyPr wrap="square" lIns="0" tIns="0" rIns="0" bIns="0" rtlCol="0" anchor="ctr"/>
          <a:lstStyle/>
          <a:p>
            <a:pPr algn="ctr" indent="0" marL="0">
              <a:buNone/>
            </a:pPr>
            <a:r>
              <a:rPr lang="en-US" sz="1700" b="1" dirty="0">
                <a:solidFill>
                  <a:srgbClr val="7A8F9D"/>
                </a:solidFill>
                <a:latin typeface="Aptos Display" pitchFamily="34" charset="0"/>
                <a:ea typeface="Aptos Display" pitchFamily="34" charset="-122"/>
                <a:cs typeface="Aptos Display" pitchFamily="34" charset="-120"/>
              </a:rPr>
              <a:t>ADD PHOTO OR DIAGRAM</a:t>
            </a:r>
            <a:endParaRPr lang="en-US" sz="1700" dirty="0"/>
          </a:p>
        </p:txBody>
      </p:sp>
      <p:sp>
        <p:nvSpPr>
          <p:cNvPr id="18" name="Text 16"/>
          <p:cNvSpPr/>
          <p:nvPr/>
        </p:nvSpPr>
        <p:spPr>
          <a:xfrm>
            <a:off x="7900416" y="3465576"/>
            <a:ext cx="3429000" cy="301752"/>
          </a:xfrm>
          <a:prstGeom prst="rect">
            <a:avLst/>
          </a:prstGeom>
          <a:noFill/>
          <a:ln/>
        </p:spPr>
        <p:txBody>
          <a:bodyPr wrap="square" lIns="0" tIns="0" rIns="0" bIns="0" rtlCol="0" anchor="ctr"/>
          <a:lstStyle/>
          <a:p>
            <a:pPr algn="ctr" indent="0" marL="0">
              <a:buNone/>
            </a:pPr>
            <a:r>
              <a:rPr lang="en-US" sz="1150" dirty="0">
                <a:solidFill>
                  <a:srgbClr val="607585"/>
                </a:solidFill>
                <a:latin typeface="Aptos" pitchFamily="34" charset="0"/>
                <a:ea typeface="Aptos" pitchFamily="34" charset="-122"/>
                <a:cs typeface="Aptos" pitchFamily="34" charset="-120"/>
              </a:rPr>
              <a:t>Leave this area open for the final visual</a:t>
            </a:r>
            <a:endParaRPr lang="en-US" sz="1150" dirty="0"/>
          </a:p>
        </p:txBody>
      </p:sp>
      <p:sp>
        <p:nvSpPr>
          <p:cNvPr id="19" name="Shape 17"/>
          <p:cNvSpPr/>
          <p:nvPr/>
        </p:nvSpPr>
        <p:spPr>
          <a:xfrm>
            <a:off x="7845552" y="5111496"/>
            <a:ext cx="3538728" cy="0"/>
          </a:xfrm>
          <a:prstGeom prst="line">
            <a:avLst/>
          </a:prstGeom>
          <a:noFill/>
          <a:ln w="12700">
            <a:solidFill>
              <a:srgbClr val="C8D5DE"/>
            </a:solidFill>
            <a:prstDash val="solid"/>
          </a:ln>
        </p:spPr>
      </p:sp>
      <p:sp>
        <p:nvSpPr>
          <p:cNvPr id="20" name="Text 18"/>
          <p:cNvSpPr/>
          <p:nvPr/>
        </p:nvSpPr>
        <p:spPr>
          <a:xfrm>
            <a:off x="7845552" y="5239512"/>
            <a:ext cx="3538728" cy="384048"/>
          </a:xfrm>
          <a:prstGeom prst="rect">
            <a:avLst/>
          </a:prstGeom>
          <a:noFill/>
          <a:ln/>
        </p:spPr>
        <p:txBody>
          <a:bodyPr wrap="square" lIns="0" tIns="0" rIns="0" bIns="0" rtlCol="0" anchor="ctr"/>
          <a:lstStyle/>
          <a:p>
            <a:pPr indent="0" marL="0">
              <a:buNone/>
            </a:pPr>
            <a:r>
              <a:rPr lang="en-US" sz="1050" b="1" dirty="0">
                <a:solidFill>
                  <a:srgbClr val="1B3448"/>
                </a:solidFill>
                <a:latin typeface="Aptos" pitchFamily="34" charset="0"/>
                <a:ea typeface="Aptos" pitchFamily="34" charset="-122"/>
                <a:cs typeface="Aptos" pitchFamily="34" charset="-120"/>
              </a:rPr>
              <a:t>VISUAL BRIEF  /  Balanced evaluation matrix</a:t>
            </a:r>
            <a:endParaRPr lang="en-US" sz="1050" dirty="0"/>
          </a:p>
        </p:txBody>
      </p:sp>
      <p:sp>
        <p:nvSpPr>
          <p:cNvPr id="21" name="Text 19"/>
          <p:cNvSpPr/>
          <p:nvPr/>
        </p:nvSpPr>
        <p:spPr>
          <a:xfrm>
            <a:off x="7845552" y="5650992"/>
            <a:ext cx="3538728" cy="265176"/>
          </a:xfrm>
          <a:prstGeom prst="rect">
            <a:avLst/>
          </a:prstGeom>
          <a:noFill/>
          <a:ln/>
        </p:spPr>
        <p:txBody>
          <a:bodyPr wrap="square" lIns="0" tIns="0" rIns="0" bIns="0" rtlCol="0" anchor="ctr"/>
          <a:lstStyle/>
          <a:p>
            <a:pPr indent="0" marL="0">
              <a:buNone/>
            </a:pPr>
            <a:r>
              <a:rPr lang="en-US" sz="900" dirty="0">
                <a:solidFill>
                  <a:srgbClr val="607585"/>
                </a:solidFill>
                <a:latin typeface="Aptos" pitchFamily="34" charset="0"/>
                <a:ea typeface="Aptos" pitchFamily="34" charset="-122"/>
                <a:cs typeface="Aptos" pitchFamily="34" charset="-120"/>
              </a:rPr>
              <a:t>Full image-generation prompt is in this slide's speaker notes.</a:t>
            </a:r>
            <a:endParaRPr lang="en-US" sz="900" dirty="0"/>
          </a:p>
        </p:txBody>
      </p:sp>
      <p:sp>
        <p:nvSpPr>
          <p:cNvPr id="22" name="Shape 20"/>
          <p:cNvSpPr/>
          <p:nvPr/>
        </p:nvSpPr>
        <p:spPr>
          <a:xfrm>
            <a:off x="603504" y="6318504"/>
            <a:ext cx="10972800" cy="0"/>
          </a:xfrm>
          <a:prstGeom prst="line">
            <a:avLst/>
          </a:prstGeom>
          <a:noFill/>
          <a:ln w="10160">
            <a:solidFill>
              <a:srgbClr val="D5E0E7"/>
            </a:solidFill>
            <a:prstDash val="solid"/>
          </a:ln>
        </p:spPr>
      </p:sp>
      <p:sp>
        <p:nvSpPr>
          <p:cNvPr id="23" name="Text 21"/>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EVALUATING HMI/SCADA AND CONVERGENCE</a:t>
            </a:r>
            <a:endParaRPr lang="en-US" sz="800" dirty="0"/>
          </a:p>
        </p:txBody>
      </p:sp>
      <p:sp>
        <p:nvSpPr>
          <p:cNvPr id="24" name="Text 22"/>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07 / 18</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C65E4E"/>
          </a:solidFill>
          <a:ln w="12700">
            <a:solidFill>
              <a:srgbClr val="C65E4E">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C65E4E"/>
                </a:solidFill>
                <a:latin typeface="Aptos" pitchFamily="34" charset="0"/>
                <a:ea typeface="Aptos" pitchFamily="34" charset="-122"/>
                <a:cs typeface="Aptos" pitchFamily="34" charset="-120"/>
              </a:rPr>
              <a:t>UNIT 5009    /    WEEK 08    /    LO2</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10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C65E4E"/>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C65E4E"/>
                </a:solidFill>
                <a:latin typeface="Aptos" pitchFamily="34" charset="0"/>
                <a:ea typeface="Aptos" pitchFamily="34" charset="-122"/>
                <a:cs typeface="Aptos" pitchFamily="34" charset="-120"/>
              </a:rPr>
              <a:t>M3 / D2</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3100" b="1" dirty="0">
                <a:solidFill>
                  <a:srgbClr val="1B3448"/>
                </a:solidFill>
                <a:latin typeface="Aptos Display" pitchFamily="34" charset="0"/>
                <a:ea typeface="Aptos Display" pitchFamily="34" charset="-122"/>
                <a:cs typeface="Aptos Display" pitchFamily="34" charset="-120"/>
              </a:rPr>
              <a:t>Define convergence</a:t>
            </a:r>
            <a:endParaRPr lang="en-US" sz="31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76656" y="1719072"/>
            <a:ext cx="1828800" cy="210312"/>
          </a:xfrm>
          <a:prstGeom prst="rect">
            <a:avLst/>
          </a:prstGeom>
          <a:noFill/>
          <a:ln/>
        </p:spPr>
        <p:txBody>
          <a:bodyPr wrap="square" lIns="0" tIns="0" rIns="0" bIns="0" rtlCol="0" anchor="ctr"/>
          <a:lstStyle/>
          <a:p>
            <a:pPr indent="0" marL="0">
              <a:buNone/>
            </a:pPr>
            <a:r>
              <a:rPr lang="en-US" sz="900" b="1" spc="100" kern="0" dirty="0">
                <a:solidFill>
                  <a:srgbClr val="C65E4E"/>
                </a:solidFill>
                <a:latin typeface="Aptos" pitchFamily="34" charset="0"/>
                <a:ea typeface="Aptos" pitchFamily="34" charset="-122"/>
                <a:cs typeface="Aptos" pitchFamily="34" charset="-120"/>
              </a:rPr>
              <a:t>KEY IDEAS</a:t>
            </a:r>
            <a:endParaRPr lang="en-US" sz="900" dirty="0"/>
          </a:p>
        </p:txBody>
      </p:sp>
      <p:sp>
        <p:nvSpPr>
          <p:cNvPr id="11" name="Shape 9"/>
          <p:cNvSpPr/>
          <p:nvPr/>
        </p:nvSpPr>
        <p:spPr>
          <a:xfrm>
            <a:off x="713232" y="2139696"/>
            <a:ext cx="100584" cy="100584"/>
          </a:xfrm>
          <a:prstGeom prst="ellipse">
            <a:avLst/>
          </a:prstGeom>
          <a:solidFill>
            <a:srgbClr val="C65E4E"/>
          </a:solidFill>
          <a:ln w="12700">
            <a:solidFill>
              <a:srgbClr val="C65E4E">
                <a:alpha val="0"/>
              </a:srgbClr>
            </a:solidFill>
            <a:prstDash val="solid"/>
          </a:ln>
        </p:spPr>
      </p:sp>
      <p:sp>
        <p:nvSpPr>
          <p:cNvPr id="12" name="Text 10"/>
          <p:cNvSpPr/>
          <p:nvPr/>
        </p:nvSpPr>
        <p:spPr>
          <a:xfrm>
            <a:off x="969264" y="2029968"/>
            <a:ext cx="6327648" cy="566928"/>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Explain closer sharing of networks, tags, tools, data, and workflows across PLC control, HMI/SCADA, and higher-level systems.</a:t>
            </a:r>
            <a:endParaRPr lang="en-US" sz="1650" dirty="0"/>
          </a:p>
        </p:txBody>
      </p:sp>
      <p:sp>
        <p:nvSpPr>
          <p:cNvPr id="13" name="Shape 11"/>
          <p:cNvSpPr/>
          <p:nvPr/>
        </p:nvSpPr>
        <p:spPr>
          <a:xfrm>
            <a:off x="713232" y="2816352"/>
            <a:ext cx="100584" cy="100584"/>
          </a:xfrm>
          <a:prstGeom prst="ellipse">
            <a:avLst/>
          </a:prstGeom>
          <a:solidFill>
            <a:srgbClr val="C65E4E"/>
          </a:solidFill>
          <a:ln w="12700">
            <a:solidFill>
              <a:srgbClr val="C65E4E">
                <a:alpha val="0"/>
              </a:srgbClr>
            </a:solidFill>
            <a:prstDash val="solid"/>
          </a:ln>
        </p:spPr>
      </p:sp>
      <p:sp>
        <p:nvSpPr>
          <p:cNvPr id="14" name="Text 12"/>
          <p:cNvSpPr/>
          <p:nvPr/>
        </p:nvSpPr>
        <p:spPr>
          <a:xfrm>
            <a:off x="969264" y="2706624"/>
            <a:ext cx="6327648" cy="566928"/>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Clarify that convergence is not necessarily one device, one network, or one software package.</a:t>
            </a:r>
            <a:endParaRPr lang="en-US" sz="1650" dirty="0"/>
          </a:p>
        </p:txBody>
      </p:sp>
      <p:sp>
        <p:nvSpPr>
          <p:cNvPr id="15" name="Shape 13"/>
          <p:cNvSpPr/>
          <p:nvPr/>
        </p:nvSpPr>
        <p:spPr>
          <a:xfrm>
            <a:off x="7644384" y="1746504"/>
            <a:ext cx="3941064" cy="4352544"/>
          </a:xfrm>
          <a:prstGeom prst="rect">
            <a:avLst/>
          </a:prstGeom>
          <a:solidFill>
            <a:srgbClr val="E8EFF3"/>
          </a:solidFill>
          <a:ln w="15240">
            <a:solidFill>
              <a:srgbClr val="C8D5DE"/>
            </a:solidFill>
            <a:prstDash val="solid"/>
          </a:ln>
        </p:spPr>
      </p:sp>
      <p:sp>
        <p:nvSpPr>
          <p:cNvPr id="16" name="Text 14"/>
          <p:cNvSpPr/>
          <p:nvPr/>
        </p:nvSpPr>
        <p:spPr>
          <a:xfrm>
            <a:off x="7845552" y="1911096"/>
            <a:ext cx="3538728" cy="246888"/>
          </a:xfrm>
          <a:prstGeom prst="rect">
            <a:avLst/>
          </a:prstGeom>
          <a:noFill/>
          <a:ln/>
        </p:spPr>
        <p:txBody>
          <a:bodyPr wrap="square" lIns="0" tIns="0" rIns="0" bIns="0" rtlCol="0" anchor="ctr"/>
          <a:lstStyle/>
          <a:p>
            <a:pPr indent="0" marL="0">
              <a:buNone/>
            </a:pPr>
            <a:r>
              <a:rPr lang="en-US" sz="900" b="1" spc="80" kern="0" dirty="0">
                <a:solidFill>
                  <a:srgbClr val="C65E4E"/>
                </a:solidFill>
                <a:latin typeface="Aptos" pitchFamily="34" charset="0"/>
                <a:ea typeface="Aptos" pitchFamily="34" charset="-122"/>
                <a:cs typeface="Aptos" pitchFamily="34" charset="-120"/>
              </a:rPr>
              <a:t>IMAGE PLACEHOLDER</a:t>
            </a:r>
            <a:endParaRPr lang="en-US" sz="900" dirty="0"/>
          </a:p>
        </p:txBody>
      </p:sp>
      <p:sp>
        <p:nvSpPr>
          <p:cNvPr id="17" name="Text 15"/>
          <p:cNvSpPr/>
          <p:nvPr/>
        </p:nvSpPr>
        <p:spPr>
          <a:xfrm>
            <a:off x="7900416" y="3072384"/>
            <a:ext cx="3429000" cy="347472"/>
          </a:xfrm>
          <a:prstGeom prst="rect">
            <a:avLst/>
          </a:prstGeom>
          <a:noFill/>
          <a:ln/>
        </p:spPr>
        <p:txBody>
          <a:bodyPr wrap="square" lIns="0" tIns="0" rIns="0" bIns="0" rtlCol="0" anchor="ctr"/>
          <a:lstStyle/>
          <a:p>
            <a:pPr algn="ctr" indent="0" marL="0">
              <a:buNone/>
            </a:pPr>
            <a:r>
              <a:rPr lang="en-US" sz="1700" b="1" dirty="0">
                <a:solidFill>
                  <a:srgbClr val="7A8F9D"/>
                </a:solidFill>
                <a:latin typeface="Aptos Display" pitchFamily="34" charset="0"/>
                <a:ea typeface="Aptos Display" pitchFamily="34" charset="-122"/>
                <a:cs typeface="Aptos Display" pitchFamily="34" charset="-120"/>
              </a:rPr>
              <a:t>ADD PHOTO OR DIAGRAM</a:t>
            </a:r>
            <a:endParaRPr lang="en-US" sz="1700" dirty="0"/>
          </a:p>
        </p:txBody>
      </p:sp>
      <p:sp>
        <p:nvSpPr>
          <p:cNvPr id="18" name="Text 16"/>
          <p:cNvSpPr/>
          <p:nvPr/>
        </p:nvSpPr>
        <p:spPr>
          <a:xfrm>
            <a:off x="7900416" y="3465576"/>
            <a:ext cx="3429000" cy="301752"/>
          </a:xfrm>
          <a:prstGeom prst="rect">
            <a:avLst/>
          </a:prstGeom>
          <a:noFill/>
          <a:ln/>
        </p:spPr>
        <p:txBody>
          <a:bodyPr wrap="square" lIns="0" tIns="0" rIns="0" bIns="0" rtlCol="0" anchor="ctr"/>
          <a:lstStyle/>
          <a:p>
            <a:pPr algn="ctr" indent="0" marL="0">
              <a:buNone/>
            </a:pPr>
            <a:r>
              <a:rPr lang="en-US" sz="1150" dirty="0">
                <a:solidFill>
                  <a:srgbClr val="607585"/>
                </a:solidFill>
                <a:latin typeface="Aptos" pitchFamily="34" charset="0"/>
                <a:ea typeface="Aptos" pitchFamily="34" charset="-122"/>
                <a:cs typeface="Aptos" pitchFamily="34" charset="-120"/>
              </a:rPr>
              <a:t>Leave this area open for the final visual</a:t>
            </a:r>
            <a:endParaRPr lang="en-US" sz="1150" dirty="0"/>
          </a:p>
        </p:txBody>
      </p:sp>
      <p:sp>
        <p:nvSpPr>
          <p:cNvPr id="19" name="Shape 17"/>
          <p:cNvSpPr/>
          <p:nvPr/>
        </p:nvSpPr>
        <p:spPr>
          <a:xfrm>
            <a:off x="7845552" y="5111496"/>
            <a:ext cx="3538728" cy="0"/>
          </a:xfrm>
          <a:prstGeom prst="line">
            <a:avLst/>
          </a:prstGeom>
          <a:noFill/>
          <a:ln w="12700">
            <a:solidFill>
              <a:srgbClr val="C8D5DE"/>
            </a:solidFill>
            <a:prstDash val="solid"/>
          </a:ln>
        </p:spPr>
      </p:sp>
      <p:sp>
        <p:nvSpPr>
          <p:cNvPr id="20" name="Text 18"/>
          <p:cNvSpPr/>
          <p:nvPr/>
        </p:nvSpPr>
        <p:spPr>
          <a:xfrm>
            <a:off x="7845552" y="5239512"/>
            <a:ext cx="3538728" cy="384048"/>
          </a:xfrm>
          <a:prstGeom prst="rect">
            <a:avLst/>
          </a:prstGeom>
          <a:noFill/>
          <a:ln/>
        </p:spPr>
        <p:txBody>
          <a:bodyPr wrap="square" lIns="0" tIns="0" rIns="0" bIns="0" rtlCol="0" anchor="ctr"/>
          <a:lstStyle/>
          <a:p>
            <a:pPr indent="0" marL="0">
              <a:buNone/>
            </a:pPr>
            <a:r>
              <a:rPr lang="en-US" sz="1050" b="1" dirty="0">
                <a:solidFill>
                  <a:srgbClr val="1B3448"/>
                </a:solidFill>
                <a:latin typeface="Aptos" pitchFamily="34" charset="0"/>
                <a:ea typeface="Aptos" pitchFamily="34" charset="-122"/>
                <a:cs typeface="Aptos" pitchFamily="34" charset="-120"/>
              </a:rPr>
              <a:t>VISUAL BRIEF  /  Define convergence</a:t>
            </a:r>
            <a:endParaRPr lang="en-US" sz="1050" dirty="0"/>
          </a:p>
        </p:txBody>
      </p:sp>
      <p:sp>
        <p:nvSpPr>
          <p:cNvPr id="21" name="Text 19"/>
          <p:cNvSpPr/>
          <p:nvPr/>
        </p:nvSpPr>
        <p:spPr>
          <a:xfrm>
            <a:off x="7845552" y="5650992"/>
            <a:ext cx="3538728" cy="265176"/>
          </a:xfrm>
          <a:prstGeom prst="rect">
            <a:avLst/>
          </a:prstGeom>
          <a:noFill/>
          <a:ln/>
        </p:spPr>
        <p:txBody>
          <a:bodyPr wrap="square" lIns="0" tIns="0" rIns="0" bIns="0" rtlCol="0" anchor="ctr"/>
          <a:lstStyle/>
          <a:p>
            <a:pPr indent="0" marL="0">
              <a:buNone/>
            </a:pPr>
            <a:r>
              <a:rPr lang="en-US" sz="900" dirty="0">
                <a:solidFill>
                  <a:srgbClr val="607585"/>
                </a:solidFill>
                <a:latin typeface="Aptos" pitchFamily="34" charset="0"/>
                <a:ea typeface="Aptos" pitchFamily="34" charset="-122"/>
                <a:cs typeface="Aptos" pitchFamily="34" charset="-120"/>
              </a:rPr>
              <a:t>Full image-generation prompt is in this slide's speaker notes.</a:t>
            </a:r>
            <a:endParaRPr lang="en-US" sz="900" dirty="0"/>
          </a:p>
        </p:txBody>
      </p:sp>
      <p:sp>
        <p:nvSpPr>
          <p:cNvPr id="22" name="Shape 20"/>
          <p:cNvSpPr/>
          <p:nvPr/>
        </p:nvSpPr>
        <p:spPr>
          <a:xfrm>
            <a:off x="603504" y="6318504"/>
            <a:ext cx="10972800" cy="0"/>
          </a:xfrm>
          <a:prstGeom prst="line">
            <a:avLst/>
          </a:prstGeom>
          <a:noFill/>
          <a:ln w="10160">
            <a:solidFill>
              <a:srgbClr val="D5E0E7"/>
            </a:solidFill>
            <a:prstDash val="solid"/>
          </a:ln>
        </p:spPr>
      </p:sp>
      <p:sp>
        <p:nvSpPr>
          <p:cNvPr id="23" name="Text 21"/>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EVALUATING HMI/SCADA AND CONVERGENCE</a:t>
            </a:r>
            <a:endParaRPr lang="en-US" sz="800" dirty="0"/>
          </a:p>
        </p:txBody>
      </p:sp>
      <p:sp>
        <p:nvSpPr>
          <p:cNvPr id="24" name="Text 22"/>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08 / 18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C65E4E"/>
          </a:solidFill>
          <a:ln w="12700">
            <a:solidFill>
              <a:srgbClr val="C65E4E">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C65E4E"/>
                </a:solidFill>
                <a:latin typeface="Aptos" pitchFamily="34" charset="0"/>
                <a:ea typeface="Aptos" pitchFamily="34" charset="-122"/>
                <a:cs typeface="Aptos" pitchFamily="34" charset="-120"/>
              </a:rPr>
              <a:t>UNIT 5009    /    WEEK 08    /    LO2</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15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C65E4E"/>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C65E4E"/>
                </a:solidFill>
                <a:latin typeface="Aptos" pitchFamily="34" charset="0"/>
                <a:ea typeface="Aptos" pitchFamily="34" charset="-122"/>
                <a:cs typeface="Aptos" pitchFamily="34" charset="-120"/>
              </a:rPr>
              <a:t>M3 / D2</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3100" b="1" dirty="0">
                <a:solidFill>
                  <a:srgbClr val="1B3448"/>
                </a:solidFill>
                <a:latin typeface="Aptos Display" pitchFamily="34" charset="0"/>
                <a:ea typeface="Aptos Display" pitchFamily="34" charset="-122"/>
                <a:cs typeface="Aptos Display" pitchFamily="34" charset="-120"/>
              </a:rPr>
              <a:t>Why industry converges</a:t>
            </a:r>
            <a:endParaRPr lang="en-US" sz="31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76656" y="1719072"/>
            <a:ext cx="1828800" cy="210312"/>
          </a:xfrm>
          <a:prstGeom prst="rect">
            <a:avLst/>
          </a:prstGeom>
          <a:noFill/>
          <a:ln/>
        </p:spPr>
        <p:txBody>
          <a:bodyPr wrap="square" lIns="0" tIns="0" rIns="0" bIns="0" rtlCol="0" anchor="ctr"/>
          <a:lstStyle/>
          <a:p>
            <a:pPr indent="0" marL="0">
              <a:buNone/>
            </a:pPr>
            <a:r>
              <a:rPr lang="en-US" sz="900" b="1" spc="100" kern="0" dirty="0">
                <a:solidFill>
                  <a:srgbClr val="C65E4E"/>
                </a:solidFill>
                <a:latin typeface="Aptos" pitchFamily="34" charset="0"/>
                <a:ea typeface="Aptos" pitchFamily="34" charset="-122"/>
                <a:cs typeface="Aptos" pitchFamily="34" charset="-120"/>
              </a:rPr>
              <a:t>KEY IDEAS</a:t>
            </a:r>
            <a:endParaRPr lang="en-US" sz="900" dirty="0"/>
          </a:p>
        </p:txBody>
      </p:sp>
      <p:sp>
        <p:nvSpPr>
          <p:cNvPr id="11" name="Shape 9"/>
          <p:cNvSpPr/>
          <p:nvPr/>
        </p:nvSpPr>
        <p:spPr>
          <a:xfrm>
            <a:off x="713232" y="2139696"/>
            <a:ext cx="100584" cy="100584"/>
          </a:xfrm>
          <a:prstGeom prst="ellipse">
            <a:avLst/>
          </a:prstGeom>
          <a:solidFill>
            <a:srgbClr val="C65E4E"/>
          </a:solidFill>
          <a:ln w="12700">
            <a:solidFill>
              <a:srgbClr val="C65E4E">
                <a:alpha val="0"/>
              </a:srgbClr>
            </a:solidFill>
            <a:prstDash val="solid"/>
          </a:ln>
        </p:spPr>
      </p:sp>
      <p:sp>
        <p:nvSpPr>
          <p:cNvPr id="12" name="Text 10"/>
          <p:cNvSpPr/>
          <p:nvPr/>
        </p:nvSpPr>
        <p:spPr>
          <a:xfrm>
            <a:off x="969264" y="2029968"/>
            <a:ext cx="6327648" cy="804672"/>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Drivers: common Ethernet infrastructure, reusable data, reporting, easier engineering integration, asset visibility, lifecycle management, and better coordination between oper...</a:t>
            </a:r>
            <a:endParaRPr lang="en-US" sz="1650" dirty="0"/>
          </a:p>
        </p:txBody>
      </p:sp>
      <p:sp>
        <p:nvSpPr>
          <p:cNvPr id="13" name="Shape 11"/>
          <p:cNvSpPr/>
          <p:nvPr/>
        </p:nvSpPr>
        <p:spPr>
          <a:xfrm>
            <a:off x="713232" y="3054096"/>
            <a:ext cx="100584" cy="100584"/>
          </a:xfrm>
          <a:prstGeom prst="ellipse">
            <a:avLst/>
          </a:prstGeom>
          <a:solidFill>
            <a:srgbClr val="C65E4E"/>
          </a:solidFill>
          <a:ln w="12700">
            <a:solidFill>
              <a:srgbClr val="C65E4E">
                <a:alpha val="0"/>
              </a:srgbClr>
            </a:solidFill>
            <a:prstDash val="solid"/>
          </a:ln>
        </p:spPr>
      </p:sp>
      <p:sp>
        <p:nvSpPr>
          <p:cNvPr id="14" name="Text 12"/>
          <p:cNvSpPr/>
          <p:nvPr/>
        </p:nvSpPr>
        <p:spPr>
          <a:xfrm>
            <a:off x="969264" y="2944368"/>
            <a:ext cx="6327648" cy="566928"/>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Evaluate which drivers matter to a single station versus an expanding line.</a:t>
            </a:r>
            <a:endParaRPr lang="en-US" sz="1650" dirty="0"/>
          </a:p>
        </p:txBody>
      </p:sp>
      <p:sp>
        <p:nvSpPr>
          <p:cNvPr id="15" name="Shape 13"/>
          <p:cNvSpPr/>
          <p:nvPr/>
        </p:nvSpPr>
        <p:spPr>
          <a:xfrm>
            <a:off x="7644384" y="1746504"/>
            <a:ext cx="3941064" cy="4352544"/>
          </a:xfrm>
          <a:prstGeom prst="rect">
            <a:avLst/>
          </a:prstGeom>
          <a:solidFill>
            <a:srgbClr val="E8EFF3"/>
          </a:solidFill>
          <a:ln w="15240">
            <a:solidFill>
              <a:srgbClr val="C8D5DE"/>
            </a:solidFill>
            <a:prstDash val="solid"/>
          </a:ln>
        </p:spPr>
      </p:sp>
      <p:sp>
        <p:nvSpPr>
          <p:cNvPr id="16" name="Text 14"/>
          <p:cNvSpPr/>
          <p:nvPr/>
        </p:nvSpPr>
        <p:spPr>
          <a:xfrm>
            <a:off x="7845552" y="1911096"/>
            <a:ext cx="3538728" cy="246888"/>
          </a:xfrm>
          <a:prstGeom prst="rect">
            <a:avLst/>
          </a:prstGeom>
          <a:noFill/>
          <a:ln/>
        </p:spPr>
        <p:txBody>
          <a:bodyPr wrap="square" lIns="0" tIns="0" rIns="0" bIns="0" rtlCol="0" anchor="ctr"/>
          <a:lstStyle/>
          <a:p>
            <a:pPr indent="0" marL="0">
              <a:buNone/>
            </a:pPr>
            <a:r>
              <a:rPr lang="en-US" sz="900" b="1" spc="80" kern="0" dirty="0">
                <a:solidFill>
                  <a:srgbClr val="C65E4E"/>
                </a:solidFill>
                <a:latin typeface="Aptos" pitchFamily="34" charset="0"/>
                <a:ea typeface="Aptos" pitchFamily="34" charset="-122"/>
                <a:cs typeface="Aptos" pitchFamily="34" charset="-120"/>
              </a:rPr>
              <a:t>IMAGE PLACEHOLDER</a:t>
            </a:r>
            <a:endParaRPr lang="en-US" sz="900" dirty="0"/>
          </a:p>
        </p:txBody>
      </p:sp>
      <p:sp>
        <p:nvSpPr>
          <p:cNvPr id="17" name="Text 15"/>
          <p:cNvSpPr/>
          <p:nvPr/>
        </p:nvSpPr>
        <p:spPr>
          <a:xfrm>
            <a:off x="7900416" y="3072384"/>
            <a:ext cx="3429000" cy="347472"/>
          </a:xfrm>
          <a:prstGeom prst="rect">
            <a:avLst/>
          </a:prstGeom>
          <a:noFill/>
          <a:ln/>
        </p:spPr>
        <p:txBody>
          <a:bodyPr wrap="square" lIns="0" tIns="0" rIns="0" bIns="0" rtlCol="0" anchor="ctr"/>
          <a:lstStyle/>
          <a:p>
            <a:pPr algn="ctr" indent="0" marL="0">
              <a:buNone/>
            </a:pPr>
            <a:r>
              <a:rPr lang="en-US" sz="1700" b="1" dirty="0">
                <a:solidFill>
                  <a:srgbClr val="7A8F9D"/>
                </a:solidFill>
                <a:latin typeface="Aptos Display" pitchFamily="34" charset="0"/>
                <a:ea typeface="Aptos Display" pitchFamily="34" charset="-122"/>
                <a:cs typeface="Aptos Display" pitchFamily="34" charset="-120"/>
              </a:rPr>
              <a:t>ADD PHOTO OR DIAGRAM</a:t>
            </a:r>
            <a:endParaRPr lang="en-US" sz="1700" dirty="0"/>
          </a:p>
        </p:txBody>
      </p:sp>
      <p:sp>
        <p:nvSpPr>
          <p:cNvPr id="18" name="Text 16"/>
          <p:cNvSpPr/>
          <p:nvPr/>
        </p:nvSpPr>
        <p:spPr>
          <a:xfrm>
            <a:off x="7900416" y="3465576"/>
            <a:ext cx="3429000" cy="301752"/>
          </a:xfrm>
          <a:prstGeom prst="rect">
            <a:avLst/>
          </a:prstGeom>
          <a:noFill/>
          <a:ln/>
        </p:spPr>
        <p:txBody>
          <a:bodyPr wrap="square" lIns="0" tIns="0" rIns="0" bIns="0" rtlCol="0" anchor="ctr"/>
          <a:lstStyle/>
          <a:p>
            <a:pPr algn="ctr" indent="0" marL="0">
              <a:buNone/>
            </a:pPr>
            <a:r>
              <a:rPr lang="en-US" sz="1150" dirty="0">
                <a:solidFill>
                  <a:srgbClr val="607585"/>
                </a:solidFill>
                <a:latin typeface="Aptos" pitchFamily="34" charset="0"/>
                <a:ea typeface="Aptos" pitchFamily="34" charset="-122"/>
                <a:cs typeface="Aptos" pitchFamily="34" charset="-120"/>
              </a:rPr>
              <a:t>Leave this area open for the final visual</a:t>
            </a:r>
            <a:endParaRPr lang="en-US" sz="1150" dirty="0"/>
          </a:p>
        </p:txBody>
      </p:sp>
      <p:sp>
        <p:nvSpPr>
          <p:cNvPr id="19" name="Shape 17"/>
          <p:cNvSpPr/>
          <p:nvPr/>
        </p:nvSpPr>
        <p:spPr>
          <a:xfrm>
            <a:off x="7845552" y="5111496"/>
            <a:ext cx="3538728" cy="0"/>
          </a:xfrm>
          <a:prstGeom prst="line">
            <a:avLst/>
          </a:prstGeom>
          <a:noFill/>
          <a:ln w="12700">
            <a:solidFill>
              <a:srgbClr val="C8D5DE"/>
            </a:solidFill>
            <a:prstDash val="solid"/>
          </a:ln>
        </p:spPr>
      </p:sp>
      <p:sp>
        <p:nvSpPr>
          <p:cNvPr id="20" name="Text 18"/>
          <p:cNvSpPr/>
          <p:nvPr/>
        </p:nvSpPr>
        <p:spPr>
          <a:xfrm>
            <a:off x="7845552" y="5239512"/>
            <a:ext cx="3538728" cy="384048"/>
          </a:xfrm>
          <a:prstGeom prst="rect">
            <a:avLst/>
          </a:prstGeom>
          <a:noFill/>
          <a:ln/>
        </p:spPr>
        <p:txBody>
          <a:bodyPr wrap="square" lIns="0" tIns="0" rIns="0" bIns="0" rtlCol="0" anchor="ctr"/>
          <a:lstStyle/>
          <a:p>
            <a:pPr indent="0" marL="0">
              <a:buNone/>
            </a:pPr>
            <a:r>
              <a:rPr lang="en-US" sz="1050" b="1" dirty="0">
                <a:solidFill>
                  <a:srgbClr val="1B3448"/>
                </a:solidFill>
                <a:latin typeface="Aptos" pitchFamily="34" charset="0"/>
                <a:ea typeface="Aptos" pitchFamily="34" charset="-122"/>
                <a:cs typeface="Aptos" pitchFamily="34" charset="-120"/>
              </a:rPr>
              <a:t>VISUAL BRIEF  /  Why industry converges</a:t>
            </a:r>
            <a:endParaRPr lang="en-US" sz="1050" dirty="0"/>
          </a:p>
        </p:txBody>
      </p:sp>
      <p:sp>
        <p:nvSpPr>
          <p:cNvPr id="21" name="Text 19"/>
          <p:cNvSpPr/>
          <p:nvPr/>
        </p:nvSpPr>
        <p:spPr>
          <a:xfrm>
            <a:off x="7845552" y="5650992"/>
            <a:ext cx="3538728" cy="265176"/>
          </a:xfrm>
          <a:prstGeom prst="rect">
            <a:avLst/>
          </a:prstGeom>
          <a:noFill/>
          <a:ln/>
        </p:spPr>
        <p:txBody>
          <a:bodyPr wrap="square" lIns="0" tIns="0" rIns="0" bIns="0" rtlCol="0" anchor="ctr"/>
          <a:lstStyle/>
          <a:p>
            <a:pPr indent="0" marL="0">
              <a:buNone/>
            </a:pPr>
            <a:r>
              <a:rPr lang="en-US" sz="900" dirty="0">
                <a:solidFill>
                  <a:srgbClr val="607585"/>
                </a:solidFill>
                <a:latin typeface="Aptos" pitchFamily="34" charset="0"/>
                <a:ea typeface="Aptos" pitchFamily="34" charset="-122"/>
                <a:cs typeface="Aptos" pitchFamily="34" charset="-120"/>
              </a:rPr>
              <a:t>Full image-generation prompt is in this slide's speaker notes.</a:t>
            </a:r>
            <a:endParaRPr lang="en-US" sz="900" dirty="0"/>
          </a:p>
        </p:txBody>
      </p:sp>
      <p:sp>
        <p:nvSpPr>
          <p:cNvPr id="22" name="Shape 20"/>
          <p:cNvSpPr/>
          <p:nvPr/>
        </p:nvSpPr>
        <p:spPr>
          <a:xfrm>
            <a:off x="603504" y="6318504"/>
            <a:ext cx="10972800" cy="0"/>
          </a:xfrm>
          <a:prstGeom prst="line">
            <a:avLst/>
          </a:prstGeom>
          <a:noFill/>
          <a:ln w="10160">
            <a:solidFill>
              <a:srgbClr val="D5E0E7"/>
            </a:solidFill>
            <a:prstDash val="solid"/>
          </a:ln>
        </p:spPr>
      </p:sp>
      <p:sp>
        <p:nvSpPr>
          <p:cNvPr id="23" name="Text 21"/>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EVALUATING HMI/SCADA AND CONVERGENCE</a:t>
            </a:r>
            <a:endParaRPr lang="en-US" sz="800" dirty="0"/>
          </a:p>
        </p:txBody>
      </p:sp>
      <p:sp>
        <p:nvSpPr>
          <p:cNvPr id="24" name="Text 22"/>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09 / 18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C65E4E"/>
          </a:solidFill>
          <a:ln w="12700">
            <a:solidFill>
              <a:srgbClr val="C65E4E">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C65E4E"/>
                </a:solidFill>
                <a:latin typeface="Aptos" pitchFamily="34" charset="0"/>
                <a:ea typeface="Aptos" pitchFamily="34" charset="-122"/>
                <a:cs typeface="Aptos" pitchFamily="34" charset="-120"/>
              </a:rPr>
              <a:t>UNIT 5009    /    WEEK 08    /    LO2</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10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C65E4E"/>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C65E4E"/>
                </a:solidFill>
                <a:latin typeface="Aptos" pitchFamily="34" charset="0"/>
                <a:ea typeface="Aptos" pitchFamily="34" charset="-122"/>
                <a:cs typeface="Aptos" pitchFamily="34" charset="-120"/>
              </a:rPr>
              <a:t>M3 / D2</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3100" b="1" dirty="0">
                <a:solidFill>
                  <a:srgbClr val="1B3448"/>
                </a:solidFill>
                <a:latin typeface="Aptos Display" pitchFamily="34" charset="0"/>
                <a:ea typeface="Aptos Display" pitchFamily="34" charset="-122"/>
                <a:cs typeface="Aptos Display" pitchFamily="34" charset="-120"/>
              </a:rPr>
              <a:t>Converged MedPack architecture</a:t>
            </a:r>
            <a:endParaRPr lang="en-US" sz="31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76656" y="1719072"/>
            <a:ext cx="1828800" cy="210312"/>
          </a:xfrm>
          <a:prstGeom prst="rect">
            <a:avLst/>
          </a:prstGeom>
          <a:noFill/>
          <a:ln/>
        </p:spPr>
        <p:txBody>
          <a:bodyPr wrap="square" lIns="0" tIns="0" rIns="0" bIns="0" rtlCol="0" anchor="ctr"/>
          <a:lstStyle/>
          <a:p>
            <a:pPr indent="0" marL="0">
              <a:buNone/>
            </a:pPr>
            <a:r>
              <a:rPr lang="en-US" sz="900" b="1" spc="100" kern="0" dirty="0">
                <a:solidFill>
                  <a:srgbClr val="C65E4E"/>
                </a:solidFill>
                <a:latin typeface="Aptos" pitchFamily="34" charset="0"/>
                <a:ea typeface="Aptos" pitchFamily="34" charset="-122"/>
                <a:cs typeface="Aptos" pitchFamily="34" charset="-120"/>
              </a:rPr>
              <a:t>KEY IDEAS</a:t>
            </a:r>
            <a:endParaRPr lang="en-US" sz="900" dirty="0"/>
          </a:p>
        </p:txBody>
      </p:sp>
      <p:sp>
        <p:nvSpPr>
          <p:cNvPr id="11" name="Shape 9"/>
          <p:cNvSpPr/>
          <p:nvPr/>
        </p:nvSpPr>
        <p:spPr>
          <a:xfrm>
            <a:off x="713232" y="2139696"/>
            <a:ext cx="100584" cy="100584"/>
          </a:xfrm>
          <a:prstGeom prst="ellipse">
            <a:avLst/>
          </a:prstGeom>
          <a:solidFill>
            <a:srgbClr val="C65E4E"/>
          </a:solidFill>
          <a:ln w="12700">
            <a:solidFill>
              <a:srgbClr val="C65E4E">
                <a:alpha val="0"/>
              </a:srgbClr>
            </a:solidFill>
            <a:prstDash val="solid"/>
          </a:ln>
        </p:spPr>
      </p:sp>
      <p:sp>
        <p:nvSpPr>
          <p:cNvPr id="12" name="Text 10"/>
          <p:cNvSpPr/>
          <p:nvPr/>
        </p:nvSpPr>
        <p:spPr>
          <a:xfrm>
            <a:off x="969264" y="2029968"/>
            <a:ext cx="6327648" cy="566928"/>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Draw device/control, supervisory, and enterprise layers; identify permitted data flows and system owners.</a:t>
            </a:r>
            <a:endParaRPr lang="en-US" sz="1650" dirty="0"/>
          </a:p>
        </p:txBody>
      </p:sp>
      <p:sp>
        <p:nvSpPr>
          <p:cNvPr id="13" name="Shape 11"/>
          <p:cNvSpPr/>
          <p:nvPr/>
        </p:nvSpPr>
        <p:spPr>
          <a:xfrm>
            <a:off x="713232" y="2816352"/>
            <a:ext cx="100584" cy="100584"/>
          </a:xfrm>
          <a:prstGeom prst="ellipse">
            <a:avLst/>
          </a:prstGeom>
          <a:solidFill>
            <a:srgbClr val="C65E4E"/>
          </a:solidFill>
          <a:ln w="12700">
            <a:solidFill>
              <a:srgbClr val="C65E4E">
                <a:alpha val="0"/>
              </a:srgbClr>
            </a:solidFill>
            <a:prstDash val="solid"/>
          </a:ln>
        </p:spPr>
      </p:sp>
      <p:sp>
        <p:nvSpPr>
          <p:cNvPr id="14" name="Text 12"/>
          <p:cNvSpPr/>
          <p:nvPr/>
        </p:nvSpPr>
        <p:spPr>
          <a:xfrm>
            <a:off x="969264" y="2706624"/>
            <a:ext cx="6327648" cy="566928"/>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Mark local PLC control, HMI/SCADA clients, historian/reporting, remote support boundary, and safety system.</a:t>
            </a:r>
            <a:endParaRPr lang="en-US" sz="1650" dirty="0"/>
          </a:p>
        </p:txBody>
      </p:sp>
      <p:sp>
        <p:nvSpPr>
          <p:cNvPr id="15" name="Shape 13"/>
          <p:cNvSpPr/>
          <p:nvPr/>
        </p:nvSpPr>
        <p:spPr>
          <a:xfrm>
            <a:off x="713232" y="3493008"/>
            <a:ext cx="100584" cy="100584"/>
          </a:xfrm>
          <a:prstGeom prst="ellipse">
            <a:avLst/>
          </a:prstGeom>
          <a:solidFill>
            <a:srgbClr val="C65E4E"/>
          </a:solidFill>
          <a:ln w="12700">
            <a:solidFill>
              <a:srgbClr val="C65E4E">
                <a:alpha val="0"/>
              </a:srgbClr>
            </a:solidFill>
            <a:prstDash val="solid"/>
          </a:ln>
        </p:spPr>
      </p:sp>
      <p:sp>
        <p:nvSpPr>
          <p:cNvPr id="16" name="Text 14"/>
          <p:cNvSpPr/>
          <p:nvPr/>
        </p:nvSpPr>
        <p:spPr>
          <a:xfrm>
            <a:off x="969264" y="3383280"/>
            <a:ext cx="6327648" cy="566928"/>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Show where shared infrastructure is useful and where separation remains essential.</a:t>
            </a:r>
            <a:endParaRPr lang="en-US" sz="1650" dirty="0"/>
          </a:p>
        </p:txBody>
      </p:sp>
      <p:sp>
        <p:nvSpPr>
          <p:cNvPr id="17" name="Shape 15"/>
          <p:cNvSpPr/>
          <p:nvPr/>
        </p:nvSpPr>
        <p:spPr>
          <a:xfrm>
            <a:off x="7644384" y="1746504"/>
            <a:ext cx="3941064" cy="4352544"/>
          </a:xfrm>
          <a:prstGeom prst="rect">
            <a:avLst/>
          </a:prstGeom>
          <a:solidFill>
            <a:srgbClr val="E8EFF3"/>
          </a:solidFill>
          <a:ln w="15240">
            <a:solidFill>
              <a:srgbClr val="C8D5DE"/>
            </a:solidFill>
            <a:prstDash val="solid"/>
          </a:ln>
        </p:spPr>
      </p:sp>
      <p:sp>
        <p:nvSpPr>
          <p:cNvPr id="18" name="Text 16"/>
          <p:cNvSpPr/>
          <p:nvPr/>
        </p:nvSpPr>
        <p:spPr>
          <a:xfrm>
            <a:off x="7845552" y="1911096"/>
            <a:ext cx="3538728" cy="246888"/>
          </a:xfrm>
          <a:prstGeom prst="rect">
            <a:avLst/>
          </a:prstGeom>
          <a:noFill/>
          <a:ln/>
        </p:spPr>
        <p:txBody>
          <a:bodyPr wrap="square" lIns="0" tIns="0" rIns="0" bIns="0" rtlCol="0" anchor="ctr"/>
          <a:lstStyle/>
          <a:p>
            <a:pPr indent="0" marL="0">
              <a:buNone/>
            </a:pPr>
            <a:r>
              <a:rPr lang="en-US" sz="900" b="1" spc="80" kern="0" dirty="0">
                <a:solidFill>
                  <a:srgbClr val="C65E4E"/>
                </a:solidFill>
                <a:latin typeface="Aptos" pitchFamily="34" charset="0"/>
                <a:ea typeface="Aptos" pitchFamily="34" charset="-122"/>
                <a:cs typeface="Aptos" pitchFamily="34" charset="-120"/>
              </a:rPr>
              <a:t>IMAGE PLACEHOLDER</a:t>
            </a:r>
            <a:endParaRPr lang="en-US" sz="900" dirty="0"/>
          </a:p>
        </p:txBody>
      </p:sp>
      <p:sp>
        <p:nvSpPr>
          <p:cNvPr id="19" name="Text 17"/>
          <p:cNvSpPr/>
          <p:nvPr/>
        </p:nvSpPr>
        <p:spPr>
          <a:xfrm>
            <a:off x="7900416" y="3072384"/>
            <a:ext cx="3429000" cy="347472"/>
          </a:xfrm>
          <a:prstGeom prst="rect">
            <a:avLst/>
          </a:prstGeom>
          <a:noFill/>
          <a:ln/>
        </p:spPr>
        <p:txBody>
          <a:bodyPr wrap="square" lIns="0" tIns="0" rIns="0" bIns="0" rtlCol="0" anchor="ctr"/>
          <a:lstStyle/>
          <a:p>
            <a:pPr algn="ctr" indent="0" marL="0">
              <a:buNone/>
            </a:pPr>
            <a:r>
              <a:rPr lang="en-US" sz="1700" b="1" dirty="0">
                <a:solidFill>
                  <a:srgbClr val="7A8F9D"/>
                </a:solidFill>
                <a:latin typeface="Aptos Display" pitchFamily="34" charset="0"/>
                <a:ea typeface="Aptos Display" pitchFamily="34" charset="-122"/>
                <a:cs typeface="Aptos Display" pitchFamily="34" charset="-120"/>
              </a:rPr>
              <a:t>ADD PHOTO OR DIAGRAM</a:t>
            </a:r>
            <a:endParaRPr lang="en-US" sz="1700" dirty="0"/>
          </a:p>
        </p:txBody>
      </p:sp>
      <p:sp>
        <p:nvSpPr>
          <p:cNvPr id="20" name="Text 18"/>
          <p:cNvSpPr/>
          <p:nvPr/>
        </p:nvSpPr>
        <p:spPr>
          <a:xfrm>
            <a:off x="7900416" y="3465576"/>
            <a:ext cx="3429000" cy="301752"/>
          </a:xfrm>
          <a:prstGeom prst="rect">
            <a:avLst/>
          </a:prstGeom>
          <a:noFill/>
          <a:ln/>
        </p:spPr>
        <p:txBody>
          <a:bodyPr wrap="square" lIns="0" tIns="0" rIns="0" bIns="0" rtlCol="0" anchor="ctr"/>
          <a:lstStyle/>
          <a:p>
            <a:pPr algn="ctr" indent="0" marL="0">
              <a:buNone/>
            </a:pPr>
            <a:r>
              <a:rPr lang="en-US" sz="1150" dirty="0">
                <a:solidFill>
                  <a:srgbClr val="607585"/>
                </a:solidFill>
                <a:latin typeface="Aptos" pitchFamily="34" charset="0"/>
                <a:ea typeface="Aptos" pitchFamily="34" charset="-122"/>
                <a:cs typeface="Aptos" pitchFamily="34" charset="-120"/>
              </a:rPr>
              <a:t>Leave this area open for the final visual</a:t>
            </a:r>
            <a:endParaRPr lang="en-US" sz="1150" dirty="0"/>
          </a:p>
        </p:txBody>
      </p:sp>
      <p:sp>
        <p:nvSpPr>
          <p:cNvPr id="21" name="Shape 19"/>
          <p:cNvSpPr/>
          <p:nvPr/>
        </p:nvSpPr>
        <p:spPr>
          <a:xfrm>
            <a:off x="7845552" y="5111496"/>
            <a:ext cx="3538728" cy="0"/>
          </a:xfrm>
          <a:prstGeom prst="line">
            <a:avLst/>
          </a:prstGeom>
          <a:noFill/>
          <a:ln w="12700">
            <a:solidFill>
              <a:srgbClr val="C8D5DE"/>
            </a:solidFill>
            <a:prstDash val="solid"/>
          </a:ln>
        </p:spPr>
      </p:sp>
      <p:sp>
        <p:nvSpPr>
          <p:cNvPr id="22" name="Text 20"/>
          <p:cNvSpPr/>
          <p:nvPr/>
        </p:nvSpPr>
        <p:spPr>
          <a:xfrm>
            <a:off x="7845552" y="5239512"/>
            <a:ext cx="3538728" cy="384048"/>
          </a:xfrm>
          <a:prstGeom prst="rect">
            <a:avLst/>
          </a:prstGeom>
          <a:noFill/>
          <a:ln/>
        </p:spPr>
        <p:txBody>
          <a:bodyPr wrap="square" lIns="0" tIns="0" rIns="0" bIns="0" rtlCol="0" anchor="ctr"/>
          <a:lstStyle/>
          <a:p>
            <a:pPr indent="0" marL="0">
              <a:buNone/>
            </a:pPr>
            <a:r>
              <a:rPr lang="en-US" sz="1050" b="1" dirty="0">
                <a:solidFill>
                  <a:srgbClr val="1B3448"/>
                </a:solidFill>
                <a:latin typeface="Aptos" pitchFamily="34" charset="0"/>
                <a:ea typeface="Aptos" pitchFamily="34" charset="-122"/>
                <a:cs typeface="Aptos" pitchFamily="34" charset="-120"/>
              </a:rPr>
              <a:t>VISUAL BRIEF  /  Converged MedPack architecture</a:t>
            </a:r>
            <a:endParaRPr lang="en-US" sz="1050" dirty="0"/>
          </a:p>
        </p:txBody>
      </p:sp>
      <p:sp>
        <p:nvSpPr>
          <p:cNvPr id="23" name="Text 21"/>
          <p:cNvSpPr/>
          <p:nvPr/>
        </p:nvSpPr>
        <p:spPr>
          <a:xfrm>
            <a:off x="7845552" y="5650992"/>
            <a:ext cx="3538728" cy="265176"/>
          </a:xfrm>
          <a:prstGeom prst="rect">
            <a:avLst/>
          </a:prstGeom>
          <a:noFill/>
          <a:ln/>
        </p:spPr>
        <p:txBody>
          <a:bodyPr wrap="square" lIns="0" tIns="0" rIns="0" bIns="0" rtlCol="0" anchor="ctr"/>
          <a:lstStyle/>
          <a:p>
            <a:pPr indent="0" marL="0">
              <a:buNone/>
            </a:pPr>
            <a:r>
              <a:rPr lang="en-US" sz="900" dirty="0">
                <a:solidFill>
                  <a:srgbClr val="607585"/>
                </a:solidFill>
                <a:latin typeface="Aptos" pitchFamily="34" charset="0"/>
                <a:ea typeface="Aptos" pitchFamily="34" charset="-122"/>
                <a:cs typeface="Aptos" pitchFamily="34" charset="-120"/>
              </a:rPr>
              <a:t>Full image-generation prompt is in this slide's speaker notes.</a:t>
            </a:r>
            <a:endParaRPr lang="en-US" sz="900" dirty="0"/>
          </a:p>
        </p:txBody>
      </p:sp>
      <p:sp>
        <p:nvSpPr>
          <p:cNvPr id="24" name="Shape 22"/>
          <p:cNvSpPr/>
          <p:nvPr/>
        </p:nvSpPr>
        <p:spPr>
          <a:xfrm>
            <a:off x="603504" y="6318504"/>
            <a:ext cx="10972800" cy="0"/>
          </a:xfrm>
          <a:prstGeom prst="line">
            <a:avLst/>
          </a:prstGeom>
          <a:noFill/>
          <a:ln w="10160">
            <a:solidFill>
              <a:srgbClr val="D5E0E7"/>
            </a:solidFill>
            <a:prstDash val="solid"/>
          </a:ln>
        </p:spPr>
      </p:sp>
      <p:sp>
        <p:nvSpPr>
          <p:cNvPr id="25" name="Text 23"/>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EVALUATING HMI/SCADA AND CONVERGENCE</a:t>
            </a:r>
            <a:endParaRPr lang="en-US" sz="800" dirty="0"/>
          </a:p>
        </p:txBody>
      </p:sp>
      <p:sp>
        <p:nvSpPr>
          <p:cNvPr id="26" name="Text 24"/>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10 / 18</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C65E4E"/>
          </a:solidFill>
          <a:ln w="12700">
            <a:solidFill>
              <a:srgbClr val="C65E4E">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C65E4E"/>
                </a:solidFill>
                <a:latin typeface="Aptos" pitchFamily="34" charset="0"/>
                <a:ea typeface="Aptos" pitchFamily="34" charset="-122"/>
                <a:cs typeface="Aptos" pitchFamily="34" charset="-120"/>
              </a:rPr>
              <a:t>UNIT 5009    /    WEEK 08    /    LO2</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10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C65E4E"/>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C65E4E"/>
                </a:solidFill>
                <a:latin typeface="Aptos" pitchFamily="34" charset="0"/>
                <a:ea typeface="Aptos" pitchFamily="34" charset="-122"/>
                <a:cs typeface="Aptos" pitchFamily="34" charset="-120"/>
              </a:rPr>
              <a:t>M3 / D2</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3100" b="1" dirty="0">
                <a:solidFill>
                  <a:srgbClr val="1B3448"/>
                </a:solidFill>
                <a:latin typeface="Aptos Display" pitchFamily="34" charset="0"/>
                <a:ea typeface="Aptos Display" pitchFamily="34" charset="-122"/>
                <a:cs typeface="Aptos Display" pitchFamily="34" charset="-120"/>
              </a:rPr>
              <a:t>Cyber and operational risks</a:t>
            </a:r>
            <a:endParaRPr lang="en-US" sz="31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76656" y="1719072"/>
            <a:ext cx="1828800" cy="210312"/>
          </a:xfrm>
          <a:prstGeom prst="rect">
            <a:avLst/>
          </a:prstGeom>
          <a:noFill/>
          <a:ln/>
        </p:spPr>
        <p:txBody>
          <a:bodyPr wrap="square" lIns="0" tIns="0" rIns="0" bIns="0" rtlCol="0" anchor="ctr"/>
          <a:lstStyle/>
          <a:p>
            <a:pPr indent="0" marL="0">
              <a:buNone/>
            </a:pPr>
            <a:r>
              <a:rPr lang="en-US" sz="900" b="1" spc="100" kern="0" dirty="0">
                <a:solidFill>
                  <a:srgbClr val="C65E4E"/>
                </a:solidFill>
                <a:latin typeface="Aptos" pitchFamily="34" charset="0"/>
                <a:ea typeface="Aptos" pitchFamily="34" charset="-122"/>
                <a:cs typeface="Aptos" pitchFamily="34" charset="-120"/>
              </a:rPr>
              <a:t>KEY IDEAS</a:t>
            </a:r>
            <a:endParaRPr lang="en-US" sz="900" dirty="0"/>
          </a:p>
        </p:txBody>
      </p:sp>
      <p:sp>
        <p:nvSpPr>
          <p:cNvPr id="11" name="Shape 9"/>
          <p:cNvSpPr/>
          <p:nvPr/>
        </p:nvSpPr>
        <p:spPr>
          <a:xfrm>
            <a:off x="713232" y="2139696"/>
            <a:ext cx="100584" cy="100584"/>
          </a:xfrm>
          <a:prstGeom prst="ellipse">
            <a:avLst/>
          </a:prstGeom>
          <a:solidFill>
            <a:srgbClr val="C65E4E"/>
          </a:solidFill>
          <a:ln w="12700">
            <a:solidFill>
              <a:srgbClr val="C65E4E">
                <a:alpha val="0"/>
              </a:srgbClr>
            </a:solidFill>
            <a:prstDash val="solid"/>
          </a:ln>
        </p:spPr>
      </p:sp>
      <p:sp>
        <p:nvSpPr>
          <p:cNvPr id="12" name="Text 10"/>
          <p:cNvSpPr/>
          <p:nvPr/>
        </p:nvSpPr>
        <p:spPr>
          <a:xfrm>
            <a:off x="969264" y="2029968"/>
            <a:ext cx="6327648" cy="804672"/>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Discuss unauthorised writes, malware spread, remote access, stale data, network outage, shared failure domains, poor account management, and unsupported devices.</a:t>
            </a:r>
            <a:endParaRPr lang="en-US" sz="1650" dirty="0"/>
          </a:p>
        </p:txBody>
      </p:sp>
      <p:sp>
        <p:nvSpPr>
          <p:cNvPr id="13" name="Shape 11"/>
          <p:cNvSpPr/>
          <p:nvPr/>
        </p:nvSpPr>
        <p:spPr>
          <a:xfrm>
            <a:off x="713232" y="3054096"/>
            <a:ext cx="100584" cy="100584"/>
          </a:xfrm>
          <a:prstGeom prst="ellipse">
            <a:avLst/>
          </a:prstGeom>
          <a:solidFill>
            <a:srgbClr val="C65E4E"/>
          </a:solidFill>
          <a:ln w="12700">
            <a:solidFill>
              <a:srgbClr val="C65E4E">
                <a:alpha val="0"/>
              </a:srgbClr>
            </a:solidFill>
            <a:prstDash val="solid"/>
          </a:ln>
        </p:spPr>
      </p:sp>
      <p:sp>
        <p:nvSpPr>
          <p:cNvPr id="14" name="Text 12"/>
          <p:cNvSpPr/>
          <p:nvPr/>
        </p:nvSpPr>
        <p:spPr>
          <a:xfrm>
            <a:off x="969264" y="2944368"/>
            <a:ext cx="6327648" cy="566928"/>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Connect each risk to a plausible consequence for production or safe recovery.</a:t>
            </a:r>
            <a:endParaRPr lang="en-US" sz="1650" dirty="0"/>
          </a:p>
        </p:txBody>
      </p:sp>
      <p:sp>
        <p:nvSpPr>
          <p:cNvPr id="15" name="Shape 13"/>
          <p:cNvSpPr/>
          <p:nvPr/>
        </p:nvSpPr>
        <p:spPr>
          <a:xfrm>
            <a:off x="7644384" y="1746504"/>
            <a:ext cx="3941064" cy="4352544"/>
          </a:xfrm>
          <a:prstGeom prst="rect">
            <a:avLst/>
          </a:prstGeom>
          <a:solidFill>
            <a:srgbClr val="E8EFF3"/>
          </a:solidFill>
          <a:ln w="15240">
            <a:solidFill>
              <a:srgbClr val="C8D5DE"/>
            </a:solidFill>
            <a:prstDash val="solid"/>
          </a:ln>
        </p:spPr>
      </p:sp>
      <p:sp>
        <p:nvSpPr>
          <p:cNvPr id="16" name="Text 14"/>
          <p:cNvSpPr/>
          <p:nvPr/>
        </p:nvSpPr>
        <p:spPr>
          <a:xfrm>
            <a:off x="7845552" y="1911096"/>
            <a:ext cx="3538728" cy="246888"/>
          </a:xfrm>
          <a:prstGeom prst="rect">
            <a:avLst/>
          </a:prstGeom>
          <a:noFill/>
          <a:ln/>
        </p:spPr>
        <p:txBody>
          <a:bodyPr wrap="square" lIns="0" tIns="0" rIns="0" bIns="0" rtlCol="0" anchor="ctr"/>
          <a:lstStyle/>
          <a:p>
            <a:pPr indent="0" marL="0">
              <a:buNone/>
            </a:pPr>
            <a:r>
              <a:rPr lang="en-US" sz="900" b="1" spc="80" kern="0" dirty="0">
                <a:solidFill>
                  <a:srgbClr val="C65E4E"/>
                </a:solidFill>
                <a:latin typeface="Aptos" pitchFamily="34" charset="0"/>
                <a:ea typeface="Aptos" pitchFamily="34" charset="-122"/>
                <a:cs typeface="Aptos" pitchFamily="34" charset="-120"/>
              </a:rPr>
              <a:t>IMAGE PLACEHOLDER</a:t>
            </a:r>
            <a:endParaRPr lang="en-US" sz="900" dirty="0"/>
          </a:p>
        </p:txBody>
      </p:sp>
      <p:sp>
        <p:nvSpPr>
          <p:cNvPr id="17" name="Text 15"/>
          <p:cNvSpPr/>
          <p:nvPr/>
        </p:nvSpPr>
        <p:spPr>
          <a:xfrm>
            <a:off x="7900416" y="3072384"/>
            <a:ext cx="3429000" cy="347472"/>
          </a:xfrm>
          <a:prstGeom prst="rect">
            <a:avLst/>
          </a:prstGeom>
          <a:noFill/>
          <a:ln/>
        </p:spPr>
        <p:txBody>
          <a:bodyPr wrap="square" lIns="0" tIns="0" rIns="0" bIns="0" rtlCol="0" anchor="ctr"/>
          <a:lstStyle/>
          <a:p>
            <a:pPr algn="ctr" indent="0" marL="0">
              <a:buNone/>
            </a:pPr>
            <a:r>
              <a:rPr lang="en-US" sz="1700" b="1" dirty="0">
                <a:solidFill>
                  <a:srgbClr val="7A8F9D"/>
                </a:solidFill>
                <a:latin typeface="Aptos Display" pitchFamily="34" charset="0"/>
                <a:ea typeface="Aptos Display" pitchFamily="34" charset="-122"/>
                <a:cs typeface="Aptos Display" pitchFamily="34" charset="-120"/>
              </a:rPr>
              <a:t>ADD PHOTO OR DIAGRAM</a:t>
            </a:r>
            <a:endParaRPr lang="en-US" sz="1700" dirty="0"/>
          </a:p>
        </p:txBody>
      </p:sp>
      <p:sp>
        <p:nvSpPr>
          <p:cNvPr id="18" name="Text 16"/>
          <p:cNvSpPr/>
          <p:nvPr/>
        </p:nvSpPr>
        <p:spPr>
          <a:xfrm>
            <a:off x="7900416" y="3465576"/>
            <a:ext cx="3429000" cy="301752"/>
          </a:xfrm>
          <a:prstGeom prst="rect">
            <a:avLst/>
          </a:prstGeom>
          <a:noFill/>
          <a:ln/>
        </p:spPr>
        <p:txBody>
          <a:bodyPr wrap="square" lIns="0" tIns="0" rIns="0" bIns="0" rtlCol="0" anchor="ctr"/>
          <a:lstStyle/>
          <a:p>
            <a:pPr algn="ctr" indent="0" marL="0">
              <a:buNone/>
            </a:pPr>
            <a:r>
              <a:rPr lang="en-US" sz="1150" dirty="0">
                <a:solidFill>
                  <a:srgbClr val="607585"/>
                </a:solidFill>
                <a:latin typeface="Aptos" pitchFamily="34" charset="0"/>
                <a:ea typeface="Aptos" pitchFamily="34" charset="-122"/>
                <a:cs typeface="Aptos" pitchFamily="34" charset="-120"/>
              </a:rPr>
              <a:t>Leave this area open for the final visual</a:t>
            </a:r>
            <a:endParaRPr lang="en-US" sz="1150" dirty="0"/>
          </a:p>
        </p:txBody>
      </p:sp>
      <p:sp>
        <p:nvSpPr>
          <p:cNvPr id="19" name="Shape 17"/>
          <p:cNvSpPr/>
          <p:nvPr/>
        </p:nvSpPr>
        <p:spPr>
          <a:xfrm>
            <a:off x="7845552" y="5111496"/>
            <a:ext cx="3538728" cy="0"/>
          </a:xfrm>
          <a:prstGeom prst="line">
            <a:avLst/>
          </a:prstGeom>
          <a:noFill/>
          <a:ln w="12700">
            <a:solidFill>
              <a:srgbClr val="C8D5DE"/>
            </a:solidFill>
            <a:prstDash val="solid"/>
          </a:ln>
        </p:spPr>
      </p:sp>
      <p:sp>
        <p:nvSpPr>
          <p:cNvPr id="20" name="Text 18"/>
          <p:cNvSpPr/>
          <p:nvPr/>
        </p:nvSpPr>
        <p:spPr>
          <a:xfrm>
            <a:off x="7845552" y="5239512"/>
            <a:ext cx="3538728" cy="384048"/>
          </a:xfrm>
          <a:prstGeom prst="rect">
            <a:avLst/>
          </a:prstGeom>
          <a:noFill/>
          <a:ln/>
        </p:spPr>
        <p:txBody>
          <a:bodyPr wrap="square" lIns="0" tIns="0" rIns="0" bIns="0" rtlCol="0" anchor="ctr"/>
          <a:lstStyle/>
          <a:p>
            <a:pPr indent="0" marL="0">
              <a:buNone/>
            </a:pPr>
            <a:r>
              <a:rPr lang="en-US" sz="1050" b="1" dirty="0">
                <a:solidFill>
                  <a:srgbClr val="1B3448"/>
                </a:solidFill>
                <a:latin typeface="Aptos" pitchFamily="34" charset="0"/>
                <a:ea typeface="Aptos" pitchFamily="34" charset="-122"/>
                <a:cs typeface="Aptos" pitchFamily="34" charset="-120"/>
              </a:rPr>
              <a:t>VISUAL BRIEF  /  Cyber and operational risks</a:t>
            </a:r>
            <a:endParaRPr lang="en-US" sz="1050" dirty="0"/>
          </a:p>
        </p:txBody>
      </p:sp>
      <p:sp>
        <p:nvSpPr>
          <p:cNvPr id="21" name="Text 19"/>
          <p:cNvSpPr/>
          <p:nvPr/>
        </p:nvSpPr>
        <p:spPr>
          <a:xfrm>
            <a:off x="7845552" y="5650992"/>
            <a:ext cx="3538728" cy="265176"/>
          </a:xfrm>
          <a:prstGeom prst="rect">
            <a:avLst/>
          </a:prstGeom>
          <a:noFill/>
          <a:ln/>
        </p:spPr>
        <p:txBody>
          <a:bodyPr wrap="square" lIns="0" tIns="0" rIns="0" bIns="0" rtlCol="0" anchor="ctr"/>
          <a:lstStyle/>
          <a:p>
            <a:pPr indent="0" marL="0">
              <a:buNone/>
            </a:pPr>
            <a:r>
              <a:rPr lang="en-US" sz="900" dirty="0">
                <a:solidFill>
                  <a:srgbClr val="607585"/>
                </a:solidFill>
                <a:latin typeface="Aptos" pitchFamily="34" charset="0"/>
                <a:ea typeface="Aptos" pitchFamily="34" charset="-122"/>
                <a:cs typeface="Aptos" pitchFamily="34" charset="-120"/>
              </a:rPr>
              <a:t>Full image-generation prompt is in this slide's speaker notes.</a:t>
            </a:r>
            <a:endParaRPr lang="en-US" sz="900" dirty="0"/>
          </a:p>
        </p:txBody>
      </p:sp>
      <p:sp>
        <p:nvSpPr>
          <p:cNvPr id="22" name="Shape 20"/>
          <p:cNvSpPr/>
          <p:nvPr/>
        </p:nvSpPr>
        <p:spPr>
          <a:xfrm>
            <a:off x="603504" y="6318504"/>
            <a:ext cx="10972800" cy="0"/>
          </a:xfrm>
          <a:prstGeom prst="line">
            <a:avLst/>
          </a:prstGeom>
          <a:noFill/>
          <a:ln w="10160">
            <a:solidFill>
              <a:srgbClr val="D5E0E7"/>
            </a:solidFill>
            <a:prstDash val="solid"/>
          </a:ln>
        </p:spPr>
      </p:sp>
      <p:sp>
        <p:nvSpPr>
          <p:cNvPr id="23" name="Text 21"/>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EVALUATING HMI/SCADA AND CONVERGENCE</a:t>
            </a:r>
            <a:endParaRPr lang="en-US" sz="800" dirty="0"/>
          </a:p>
        </p:txBody>
      </p:sp>
      <p:sp>
        <p:nvSpPr>
          <p:cNvPr id="24" name="Text 22"/>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11 / 18</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C65E4E"/>
          </a:solidFill>
          <a:ln w="12700">
            <a:solidFill>
              <a:srgbClr val="C65E4E">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C65E4E"/>
                </a:solidFill>
                <a:latin typeface="Aptos" pitchFamily="34" charset="0"/>
                <a:ea typeface="Aptos" pitchFamily="34" charset="-122"/>
                <a:cs typeface="Aptos" pitchFamily="34" charset="-120"/>
              </a:rPr>
              <a:t>UNIT 5009    /    WEEK 08    /    LO2</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15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C65E4E"/>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C65E4E"/>
                </a:solidFill>
                <a:latin typeface="Aptos" pitchFamily="34" charset="0"/>
                <a:ea typeface="Aptos" pitchFamily="34" charset="-122"/>
                <a:cs typeface="Aptos" pitchFamily="34" charset="-120"/>
              </a:rPr>
              <a:t>M3 / D2</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3100" b="1" dirty="0">
                <a:solidFill>
                  <a:srgbClr val="1B3448"/>
                </a:solidFill>
                <a:latin typeface="Aptos Display" pitchFamily="34" charset="0"/>
                <a:ea typeface="Aptos Display" pitchFamily="34" charset="-122"/>
                <a:cs typeface="Aptos Display" pitchFamily="34" charset="-120"/>
              </a:rPr>
              <a:t>Select proportionate controls</a:t>
            </a:r>
            <a:endParaRPr lang="en-US" sz="31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76656" y="1719072"/>
            <a:ext cx="1828800" cy="210312"/>
          </a:xfrm>
          <a:prstGeom prst="rect">
            <a:avLst/>
          </a:prstGeom>
          <a:noFill/>
          <a:ln/>
        </p:spPr>
        <p:txBody>
          <a:bodyPr wrap="square" lIns="0" tIns="0" rIns="0" bIns="0" rtlCol="0" anchor="ctr"/>
          <a:lstStyle/>
          <a:p>
            <a:pPr indent="0" marL="0">
              <a:buNone/>
            </a:pPr>
            <a:r>
              <a:rPr lang="en-US" sz="900" b="1" spc="100" kern="0" dirty="0">
                <a:solidFill>
                  <a:srgbClr val="C65E4E"/>
                </a:solidFill>
                <a:latin typeface="Aptos" pitchFamily="34" charset="0"/>
                <a:ea typeface="Aptos" pitchFamily="34" charset="-122"/>
                <a:cs typeface="Aptos" pitchFamily="34" charset="-120"/>
              </a:rPr>
              <a:t>KEY IDEAS</a:t>
            </a:r>
            <a:endParaRPr lang="en-US" sz="900" dirty="0"/>
          </a:p>
        </p:txBody>
      </p:sp>
      <p:sp>
        <p:nvSpPr>
          <p:cNvPr id="11" name="Shape 9"/>
          <p:cNvSpPr/>
          <p:nvPr/>
        </p:nvSpPr>
        <p:spPr>
          <a:xfrm>
            <a:off x="713232" y="2139696"/>
            <a:ext cx="100584" cy="100584"/>
          </a:xfrm>
          <a:prstGeom prst="ellipse">
            <a:avLst/>
          </a:prstGeom>
          <a:solidFill>
            <a:srgbClr val="C65E4E"/>
          </a:solidFill>
          <a:ln w="12700">
            <a:solidFill>
              <a:srgbClr val="C65E4E">
                <a:alpha val="0"/>
              </a:srgbClr>
            </a:solidFill>
            <a:prstDash val="solid"/>
          </a:ln>
        </p:spPr>
      </p:sp>
      <p:sp>
        <p:nvSpPr>
          <p:cNvPr id="12" name="Text 10"/>
          <p:cNvSpPr/>
          <p:nvPr/>
        </p:nvSpPr>
        <p:spPr>
          <a:xfrm>
            <a:off x="969264" y="2029968"/>
            <a:ext cx="6327648" cy="804672"/>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Network segmentation/zones and conduits; least privilege; controlled remote access; change management; tested backups and restore; monitoring; patch/lifecycle planning; and op...</a:t>
            </a:r>
            <a:endParaRPr lang="en-US" sz="1650" dirty="0"/>
          </a:p>
        </p:txBody>
      </p:sp>
      <p:sp>
        <p:nvSpPr>
          <p:cNvPr id="13" name="Shape 11"/>
          <p:cNvSpPr/>
          <p:nvPr/>
        </p:nvSpPr>
        <p:spPr>
          <a:xfrm>
            <a:off x="713232" y="3054096"/>
            <a:ext cx="100584" cy="100584"/>
          </a:xfrm>
          <a:prstGeom prst="ellipse">
            <a:avLst/>
          </a:prstGeom>
          <a:solidFill>
            <a:srgbClr val="C65E4E"/>
          </a:solidFill>
          <a:ln w="12700">
            <a:solidFill>
              <a:srgbClr val="C65E4E">
                <a:alpha val="0"/>
              </a:srgbClr>
            </a:solidFill>
            <a:prstDash val="solid"/>
          </a:ln>
        </p:spPr>
      </p:sp>
      <p:sp>
        <p:nvSpPr>
          <p:cNvPr id="14" name="Text 12"/>
          <p:cNvSpPr/>
          <p:nvPr/>
        </p:nvSpPr>
        <p:spPr>
          <a:xfrm>
            <a:off x="969264" y="2944368"/>
            <a:ext cx="6327648" cy="566928"/>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Safety functions and essential local control must not depend on ordinary SCADA availability.</a:t>
            </a:r>
            <a:endParaRPr lang="en-US" sz="1650" dirty="0"/>
          </a:p>
        </p:txBody>
      </p:sp>
      <p:sp>
        <p:nvSpPr>
          <p:cNvPr id="15" name="Shape 13"/>
          <p:cNvSpPr/>
          <p:nvPr/>
        </p:nvSpPr>
        <p:spPr>
          <a:xfrm>
            <a:off x="713232" y="3730752"/>
            <a:ext cx="100584" cy="100584"/>
          </a:xfrm>
          <a:prstGeom prst="ellipse">
            <a:avLst/>
          </a:prstGeom>
          <a:solidFill>
            <a:srgbClr val="C65E4E"/>
          </a:solidFill>
          <a:ln w="12700">
            <a:solidFill>
              <a:srgbClr val="C65E4E">
                <a:alpha val="0"/>
              </a:srgbClr>
            </a:solidFill>
            <a:prstDash val="solid"/>
          </a:ln>
        </p:spPr>
      </p:sp>
      <p:sp>
        <p:nvSpPr>
          <p:cNvPr id="16" name="Text 14"/>
          <p:cNvSpPr/>
          <p:nvPr/>
        </p:nvSpPr>
        <p:spPr>
          <a:xfrm>
            <a:off x="969264" y="3621024"/>
            <a:ext cx="6327648" cy="566928"/>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Emphasise controls must be verified in the actual site architecture; no single measure guarantees security.</a:t>
            </a:r>
            <a:endParaRPr lang="en-US" sz="1650" dirty="0"/>
          </a:p>
        </p:txBody>
      </p:sp>
      <p:sp>
        <p:nvSpPr>
          <p:cNvPr id="17" name="Shape 15"/>
          <p:cNvSpPr/>
          <p:nvPr/>
        </p:nvSpPr>
        <p:spPr>
          <a:xfrm>
            <a:off x="7644384" y="1746504"/>
            <a:ext cx="3941064" cy="4352544"/>
          </a:xfrm>
          <a:prstGeom prst="rect">
            <a:avLst/>
          </a:prstGeom>
          <a:solidFill>
            <a:srgbClr val="E8EFF3"/>
          </a:solidFill>
          <a:ln w="15240">
            <a:solidFill>
              <a:srgbClr val="C8D5DE"/>
            </a:solidFill>
            <a:prstDash val="solid"/>
          </a:ln>
        </p:spPr>
      </p:sp>
      <p:sp>
        <p:nvSpPr>
          <p:cNvPr id="18" name="Text 16"/>
          <p:cNvSpPr/>
          <p:nvPr/>
        </p:nvSpPr>
        <p:spPr>
          <a:xfrm>
            <a:off x="7845552" y="1911096"/>
            <a:ext cx="3538728" cy="246888"/>
          </a:xfrm>
          <a:prstGeom prst="rect">
            <a:avLst/>
          </a:prstGeom>
          <a:noFill/>
          <a:ln/>
        </p:spPr>
        <p:txBody>
          <a:bodyPr wrap="square" lIns="0" tIns="0" rIns="0" bIns="0" rtlCol="0" anchor="ctr"/>
          <a:lstStyle/>
          <a:p>
            <a:pPr indent="0" marL="0">
              <a:buNone/>
            </a:pPr>
            <a:r>
              <a:rPr lang="en-US" sz="900" b="1" spc="80" kern="0" dirty="0">
                <a:solidFill>
                  <a:srgbClr val="C65E4E"/>
                </a:solidFill>
                <a:latin typeface="Aptos" pitchFamily="34" charset="0"/>
                <a:ea typeface="Aptos" pitchFamily="34" charset="-122"/>
                <a:cs typeface="Aptos" pitchFamily="34" charset="-120"/>
              </a:rPr>
              <a:t>IMAGE PLACEHOLDER</a:t>
            </a:r>
            <a:endParaRPr lang="en-US" sz="900" dirty="0"/>
          </a:p>
        </p:txBody>
      </p:sp>
      <p:sp>
        <p:nvSpPr>
          <p:cNvPr id="19" name="Text 17"/>
          <p:cNvSpPr/>
          <p:nvPr/>
        </p:nvSpPr>
        <p:spPr>
          <a:xfrm>
            <a:off x="7900416" y="3072384"/>
            <a:ext cx="3429000" cy="347472"/>
          </a:xfrm>
          <a:prstGeom prst="rect">
            <a:avLst/>
          </a:prstGeom>
          <a:noFill/>
          <a:ln/>
        </p:spPr>
        <p:txBody>
          <a:bodyPr wrap="square" lIns="0" tIns="0" rIns="0" bIns="0" rtlCol="0" anchor="ctr"/>
          <a:lstStyle/>
          <a:p>
            <a:pPr algn="ctr" indent="0" marL="0">
              <a:buNone/>
            </a:pPr>
            <a:r>
              <a:rPr lang="en-US" sz="1700" b="1" dirty="0">
                <a:solidFill>
                  <a:srgbClr val="7A8F9D"/>
                </a:solidFill>
                <a:latin typeface="Aptos Display" pitchFamily="34" charset="0"/>
                <a:ea typeface="Aptos Display" pitchFamily="34" charset="-122"/>
                <a:cs typeface="Aptos Display" pitchFamily="34" charset="-120"/>
              </a:rPr>
              <a:t>ADD PHOTO OR DIAGRAM</a:t>
            </a:r>
            <a:endParaRPr lang="en-US" sz="1700" dirty="0"/>
          </a:p>
        </p:txBody>
      </p:sp>
      <p:sp>
        <p:nvSpPr>
          <p:cNvPr id="20" name="Text 18"/>
          <p:cNvSpPr/>
          <p:nvPr/>
        </p:nvSpPr>
        <p:spPr>
          <a:xfrm>
            <a:off x="7900416" y="3465576"/>
            <a:ext cx="3429000" cy="301752"/>
          </a:xfrm>
          <a:prstGeom prst="rect">
            <a:avLst/>
          </a:prstGeom>
          <a:noFill/>
          <a:ln/>
        </p:spPr>
        <p:txBody>
          <a:bodyPr wrap="square" lIns="0" tIns="0" rIns="0" bIns="0" rtlCol="0" anchor="ctr"/>
          <a:lstStyle/>
          <a:p>
            <a:pPr algn="ctr" indent="0" marL="0">
              <a:buNone/>
            </a:pPr>
            <a:r>
              <a:rPr lang="en-US" sz="1150" dirty="0">
                <a:solidFill>
                  <a:srgbClr val="607585"/>
                </a:solidFill>
                <a:latin typeface="Aptos" pitchFamily="34" charset="0"/>
                <a:ea typeface="Aptos" pitchFamily="34" charset="-122"/>
                <a:cs typeface="Aptos" pitchFamily="34" charset="-120"/>
              </a:rPr>
              <a:t>Leave this area open for the final visual</a:t>
            </a:r>
            <a:endParaRPr lang="en-US" sz="1150" dirty="0"/>
          </a:p>
        </p:txBody>
      </p:sp>
      <p:sp>
        <p:nvSpPr>
          <p:cNvPr id="21" name="Shape 19"/>
          <p:cNvSpPr/>
          <p:nvPr/>
        </p:nvSpPr>
        <p:spPr>
          <a:xfrm>
            <a:off x="7845552" y="5111496"/>
            <a:ext cx="3538728" cy="0"/>
          </a:xfrm>
          <a:prstGeom prst="line">
            <a:avLst/>
          </a:prstGeom>
          <a:noFill/>
          <a:ln w="12700">
            <a:solidFill>
              <a:srgbClr val="C8D5DE"/>
            </a:solidFill>
            <a:prstDash val="solid"/>
          </a:ln>
        </p:spPr>
      </p:sp>
      <p:sp>
        <p:nvSpPr>
          <p:cNvPr id="22" name="Text 20"/>
          <p:cNvSpPr/>
          <p:nvPr/>
        </p:nvSpPr>
        <p:spPr>
          <a:xfrm>
            <a:off x="7845552" y="5239512"/>
            <a:ext cx="3538728" cy="384048"/>
          </a:xfrm>
          <a:prstGeom prst="rect">
            <a:avLst/>
          </a:prstGeom>
          <a:noFill/>
          <a:ln/>
        </p:spPr>
        <p:txBody>
          <a:bodyPr wrap="square" lIns="0" tIns="0" rIns="0" bIns="0" rtlCol="0" anchor="ctr"/>
          <a:lstStyle/>
          <a:p>
            <a:pPr indent="0" marL="0">
              <a:buNone/>
            </a:pPr>
            <a:r>
              <a:rPr lang="en-US" sz="1050" b="1" dirty="0">
                <a:solidFill>
                  <a:srgbClr val="1B3448"/>
                </a:solidFill>
                <a:latin typeface="Aptos" pitchFamily="34" charset="0"/>
                <a:ea typeface="Aptos" pitchFamily="34" charset="-122"/>
                <a:cs typeface="Aptos" pitchFamily="34" charset="-120"/>
              </a:rPr>
              <a:t>VISUAL BRIEF  /  Select proportionate controls</a:t>
            </a:r>
            <a:endParaRPr lang="en-US" sz="1050" dirty="0"/>
          </a:p>
        </p:txBody>
      </p:sp>
      <p:sp>
        <p:nvSpPr>
          <p:cNvPr id="23" name="Text 21"/>
          <p:cNvSpPr/>
          <p:nvPr/>
        </p:nvSpPr>
        <p:spPr>
          <a:xfrm>
            <a:off x="7845552" y="5650992"/>
            <a:ext cx="3538728" cy="265176"/>
          </a:xfrm>
          <a:prstGeom prst="rect">
            <a:avLst/>
          </a:prstGeom>
          <a:noFill/>
          <a:ln/>
        </p:spPr>
        <p:txBody>
          <a:bodyPr wrap="square" lIns="0" tIns="0" rIns="0" bIns="0" rtlCol="0" anchor="ctr"/>
          <a:lstStyle/>
          <a:p>
            <a:pPr indent="0" marL="0">
              <a:buNone/>
            </a:pPr>
            <a:r>
              <a:rPr lang="en-US" sz="900" dirty="0">
                <a:solidFill>
                  <a:srgbClr val="607585"/>
                </a:solidFill>
                <a:latin typeface="Aptos" pitchFamily="34" charset="0"/>
                <a:ea typeface="Aptos" pitchFamily="34" charset="-122"/>
                <a:cs typeface="Aptos" pitchFamily="34" charset="-120"/>
              </a:rPr>
              <a:t>Full image-generation prompt is in this slide's speaker notes.</a:t>
            </a:r>
            <a:endParaRPr lang="en-US" sz="900" dirty="0"/>
          </a:p>
        </p:txBody>
      </p:sp>
      <p:sp>
        <p:nvSpPr>
          <p:cNvPr id="24" name="Shape 22"/>
          <p:cNvSpPr/>
          <p:nvPr/>
        </p:nvSpPr>
        <p:spPr>
          <a:xfrm>
            <a:off x="603504" y="6318504"/>
            <a:ext cx="10972800" cy="0"/>
          </a:xfrm>
          <a:prstGeom prst="line">
            <a:avLst/>
          </a:prstGeom>
          <a:noFill/>
          <a:ln w="10160">
            <a:solidFill>
              <a:srgbClr val="D5E0E7"/>
            </a:solidFill>
            <a:prstDash val="solid"/>
          </a:ln>
        </p:spPr>
      </p:sp>
      <p:sp>
        <p:nvSpPr>
          <p:cNvPr id="25" name="Text 23"/>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EVALUATING HMI/SCADA AND CONVERGENCE</a:t>
            </a:r>
            <a:endParaRPr lang="en-US" sz="800" dirty="0"/>
          </a:p>
        </p:txBody>
      </p:sp>
      <p:sp>
        <p:nvSpPr>
          <p:cNvPr id="26" name="Text 24"/>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12 / 18</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C65E4E"/>
          </a:solidFill>
          <a:ln w="12700">
            <a:solidFill>
              <a:srgbClr val="C65E4E">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C65E4E"/>
                </a:solidFill>
                <a:latin typeface="Aptos" pitchFamily="34" charset="0"/>
                <a:ea typeface="Aptos" pitchFamily="34" charset="-122"/>
                <a:cs typeface="Aptos" pitchFamily="34" charset="-120"/>
              </a:rPr>
              <a:t>UNIT 5009    /    WEEK 08    /    LO2</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10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C65E4E"/>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C65E4E"/>
                </a:solidFill>
                <a:latin typeface="Aptos" pitchFamily="34" charset="0"/>
                <a:ea typeface="Aptos" pitchFamily="34" charset="-122"/>
                <a:cs typeface="Aptos" pitchFamily="34" charset="-120"/>
              </a:rPr>
              <a:t>M3 / D2</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3100" b="1" dirty="0">
                <a:solidFill>
                  <a:srgbClr val="1B3448"/>
                </a:solidFill>
                <a:latin typeface="Aptos Display" pitchFamily="34" charset="0"/>
                <a:ea typeface="Aptos Display" pitchFamily="34" charset="-122"/>
                <a:cs typeface="Aptos Display" pitchFamily="34" charset="-120"/>
              </a:rPr>
              <a:t>Data governance and regulated context</a:t>
            </a:r>
            <a:endParaRPr lang="en-US" sz="31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76656" y="1719072"/>
            <a:ext cx="1828800" cy="210312"/>
          </a:xfrm>
          <a:prstGeom prst="rect">
            <a:avLst/>
          </a:prstGeom>
          <a:noFill/>
          <a:ln/>
        </p:spPr>
        <p:txBody>
          <a:bodyPr wrap="square" lIns="0" tIns="0" rIns="0" bIns="0" rtlCol="0" anchor="ctr"/>
          <a:lstStyle/>
          <a:p>
            <a:pPr indent="0" marL="0">
              <a:buNone/>
            </a:pPr>
            <a:r>
              <a:rPr lang="en-US" sz="900" b="1" spc="100" kern="0" dirty="0">
                <a:solidFill>
                  <a:srgbClr val="C65E4E"/>
                </a:solidFill>
                <a:latin typeface="Aptos" pitchFamily="34" charset="0"/>
                <a:ea typeface="Aptos" pitchFamily="34" charset="-122"/>
                <a:cs typeface="Aptos" pitchFamily="34" charset="-120"/>
              </a:rPr>
              <a:t>KEY IDEAS</a:t>
            </a:r>
            <a:endParaRPr lang="en-US" sz="900" dirty="0"/>
          </a:p>
        </p:txBody>
      </p:sp>
      <p:sp>
        <p:nvSpPr>
          <p:cNvPr id="11" name="Shape 9"/>
          <p:cNvSpPr/>
          <p:nvPr/>
        </p:nvSpPr>
        <p:spPr>
          <a:xfrm>
            <a:off x="713232" y="2139696"/>
            <a:ext cx="100584" cy="100584"/>
          </a:xfrm>
          <a:prstGeom prst="ellipse">
            <a:avLst/>
          </a:prstGeom>
          <a:solidFill>
            <a:srgbClr val="C65E4E"/>
          </a:solidFill>
          <a:ln w="12700">
            <a:solidFill>
              <a:srgbClr val="C65E4E">
                <a:alpha val="0"/>
              </a:srgbClr>
            </a:solidFill>
            <a:prstDash val="solid"/>
          </a:ln>
        </p:spPr>
      </p:sp>
      <p:sp>
        <p:nvSpPr>
          <p:cNvPr id="12" name="Text 10"/>
          <p:cNvSpPr/>
          <p:nvPr/>
        </p:nvSpPr>
        <p:spPr>
          <a:xfrm>
            <a:off x="969264" y="2029968"/>
            <a:ext cx="6327648" cy="566928"/>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Ask whether counts, alarms, recipes, or electronic records are operational indicators or controlled quality records.</a:t>
            </a:r>
            <a:endParaRPr lang="en-US" sz="1650" dirty="0"/>
          </a:p>
        </p:txBody>
      </p:sp>
      <p:sp>
        <p:nvSpPr>
          <p:cNvPr id="13" name="Shape 11"/>
          <p:cNvSpPr/>
          <p:nvPr/>
        </p:nvSpPr>
        <p:spPr>
          <a:xfrm>
            <a:off x="713232" y="2816352"/>
            <a:ext cx="100584" cy="100584"/>
          </a:xfrm>
          <a:prstGeom prst="ellipse">
            <a:avLst/>
          </a:prstGeom>
          <a:solidFill>
            <a:srgbClr val="C65E4E"/>
          </a:solidFill>
          <a:ln w="12700">
            <a:solidFill>
              <a:srgbClr val="C65E4E">
                <a:alpha val="0"/>
              </a:srgbClr>
            </a:solidFill>
            <a:prstDash val="solid"/>
          </a:ln>
        </p:spPr>
      </p:sp>
      <p:sp>
        <p:nvSpPr>
          <p:cNvPr id="14" name="Text 12"/>
          <p:cNvSpPr/>
          <p:nvPr/>
        </p:nvSpPr>
        <p:spPr>
          <a:xfrm>
            <a:off x="969264" y="2706624"/>
            <a:ext cx="6327648" cy="804672"/>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If regulated records are in scope, confirm validation, access, audit trail, retention, and change-control needs with the responsible quality function.</a:t>
            </a:r>
            <a:endParaRPr lang="en-US" sz="1650" dirty="0"/>
          </a:p>
        </p:txBody>
      </p:sp>
      <p:sp>
        <p:nvSpPr>
          <p:cNvPr id="15" name="Shape 13"/>
          <p:cNvSpPr/>
          <p:nvPr/>
        </p:nvSpPr>
        <p:spPr>
          <a:xfrm>
            <a:off x="713232" y="3730752"/>
            <a:ext cx="100584" cy="100584"/>
          </a:xfrm>
          <a:prstGeom prst="ellipse">
            <a:avLst/>
          </a:prstGeom>
          <a:solidFill>
            <a:srgbClr val="C65E4E"/>
          </a:solidFill>
          <a:ln w="12700">
            <a:solidFill>
              <a:srgbClr val="C65E4E">
                <a:alpha val="0"/>
              </a:srgbClr>
            </a:solidFill>
            <a:prstDash val="solid"/>
          </a:ln>
        </p:spPr>
      </p:sp>
      <p:sp>
        <p:nvSpPr>
          <p:cNvPr id="16" name="Text 14"/>
          <p:cNvSpPr/>
          <p:nvPr/>
        </p:nvSpPr>
        <p:spPr>
          <a:xfrm>
            <a:off x="969264" y="3621024"/>
            <a:ext cx="6327648" cy="566928"/>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Do not assume an HMI or PLC feature alone demonstrates pharmaceutical regulatory compliance.</a:t>
            </a:r>
            <a:endParaRPr lang="en-US" sz="1650" dirty="0"/>
          </a:p>
        </p:txBody>
      </p:sp>
      <p:sp>
        <p:nvSpPr>
          <p:cNvPr id="17" name="Shape 15"/>
          <p:cNvSpPr/>
          <p:nvPr/>
        </p:nvSpPr>
        <p:spPr>
          <a:xfrm>
            <a:off x="7644384" y="1746504"/>
            <a:ext cx="3941064" cy="4352544"/>
          </a:xfrm>
          <a:prstGeom prst="rect">
            <a:avLst/>
          </a:prstGeom>
          <a:solidFill>
            <a:srgbClr val="E8EFF3"/>
          </a:solidFill>
          <a:ln w="15240">
            <a:solidFill>
              <a:srgbClr val="C8D5DE"/>
            </a:solidFill>
            <a:prstDash val="solid"/>
          </a:ln>
        </p:spPr>
      </p:sp>
      <p:sp>
        <p:nvSpPr>
          <p:cNvPr id="18" name="Text 16"/>
          <p:cNvSpPr/>
          <p:nvPr/>
        </p:nvSpPr>
        <p:spPr>
          <a:xfrm>
            <a:off x="7845552" y="1911096"/>
            <a:ext cx="3538728" cy="246888"/>
          </a:xfrm>
          <a:prstGeom prst="rect">
            <a:avLst/>
          </a:prstGeom>
          <a:noFill/>
          <a:ln/>
        </p:spPr>
        <p:txBody>
          <a:bodyPr wrap="square" lIns="0" tIns="0" rIns="0" bIns="0" rtlCol="0" anchor="ctr"/>
          <a:lstStyle/>
          <a:p>
            <a:pPr indent="0" marL="0">
              <a:buNone/>
            </a:pPr>
            <a:r>
              <a:rPr lang="en-US" sz="900" b="1" spc="80" kern="0" dirty="0">
                <a:solidFill>
                  <a:srgbClr val="C65E4E"/>
                </a:solidFill>
                <a:latin typeface="Aptos" pitchFamily="34" charset="0"/>
                <a:ea typeface="Aptos" pitchFamily="34" charset="-122"/>
                <a:cs typeface="Aptos" pitchFamily="34" charset="-120"/>
              </a:rPr>
              <a:t>IMAGE PLACEHOLDER</a:t>
            </a:r>
            <a:endParaRPr lang="en-US" sz="900" dirty="0"/>
          </a:p>
        </p:txBody>
      </p:sp>
      <p:sp>
        <p:nvSpPr>
          <p:cNvPr id="19" name="Text 17"/>
          <p:cNvSpPr/>
          <p:nvPr/>
        </p:nvSpPr>
        <p:spPr>
          <a:xfrm>
            <a:off x="7900416" y="3072384"/>
            <a:ext cx="3429000" cy="347472"/>
          </a:xfrm>
          <a:prstGeom prst="rect">
            <a:avLst/>
          </a:prstGeom>
          <a:noFill/>
          <a:ln/>
        </p:spPr>
        <p:txBody>
          <a:bodyPr wrap="square" lIns="0" tIns="0" rIns="0" bIns="0" rtlCol="0" anchor="ctr"/>
          <a:lstStyle/>
          <a:p>
            <a:pPr algn="ctr" indent="0" marL="0">
              <a:buNone/>
            </a:pPr>
            <a:r>
              <a:rPr lang="en-US" sz="1700" b="1" dirty="0">
                <a:solidFill>
                  <a:srgbClr val="7A8F9D"/>
                </a:solidFill>
                <a:latin typeface="Aptos Display" pitchFamily="34" charset="0"/>
                <a:ea typeface="Aptos Display" pitchFamily="34" charset="-122"/>
                <a:cs typeface="Aptos Display" pitchFamily="34" charset="-120"/>
              </a:rPr>
              <a:t>ADD PHOTO OR DIAGRAM</a:t>
            </a:r>
            <a:endParaRPr lang="en-US" sz="1700" dirty="0"/>
          </a:p>
        </p:txBody>
      </p:sp>
      <p:sp>
        <p:nvSpPr>
          <p:cNvPr id="20" name="Text 18"/>
          <p:cNvSpPr/>
          <p:nvPr/>
        </p:nvSpPr>
        <p:spPr>
          <a:xfrm>
            <a:off x="7900416" y="3465576"/>
            <a:ext cx="3429000" cy="301752"/>
          </a:xfrm>
          <a:prstGeom prst="rect">
            <a:avLst/>
          </a:prstGeom>
          <a:noFill/>
          <a:ln/>
        </p:spPr>
        <p:txBody>
          <a:bodyPr wrap="square" lIns="0" tIns="0" rIns="0" bIns="0" rtlCol="0" anchor="ctr"/>
          <a:lstStyle/>
          <a:p>
            <a:pPr algn="ctr" indent="0" marL="0">
              <a:buNone/>
            </a:pPr>
            <a:r>
              <a:rPr lang="en-US" sz="1150" dirty="0">
                <a:solidFill>
                  <a:srgbClr val="607585"/>
                </a:solidFill>
                <a:latin typeface="Aptos" pitchFamily="34" charset="0"/>
                <a:ea typeface="Aptos" pitchFamily="34" charset="-122"/>
                <a:cs typeface="Aptos" pitchFamily="34" charset="-120"/>
              </a:rPr>
              <a:t>Leave this area open for the final visual</a:t>
            </a:r>
            <a:endParaRPr lang="en-US" sz="1150" dirty="0"/>
          </a:p>
        </p:txBody>
      </p:sp>
      <p:sp>
        <p:nvSpPr>
          <p:cNvPr id="21" name="Shape 19"/>
          <p:cNvSpPr/>
          <p:nvPr/>
        </p:nvSpPr>
        <p:spPr>
          <a:xfrm>
            <a:off x="7845552" y="5111496"/>
            <a:ext cx="3538728" cy="0"/>
          </a:xfrm>
          <a:prstGeom prst="line">
            <a:avLst/>
          </a:prstGeom>
          <a:noFill/>
          <a:ln w="12700">
            <a:solidFill>
              <a:srgbClr val="C8D5DE"/>
            </a:solidFill>
            <a:prstDash val="solid"/>
          </a:ln>
        </p:spPr>
      </p:sp>
      <p:sp>
        <p:nvSpPr>
          <p:cNvPr id="22" name="Text 20"/>
          <p:cNvSpPr/>
          <p:nvPr/>
        </p:nvSpPr>
        <p:spPr>
          <a:xfrm>
            <a:off x="7845552" y="5239512"/>
            <a:ext cx="3538728" cy="384048"/>
          </a:xfrm>
          <a:prstGeom prst="rect">
            <a:avLst/>
          </a:prstGeom>
          <a:noFill/>
          <a:ln/>
        </p:spPr>
        <p:txBody>
          <a:bodyPr wrap="square" lIns="0" tIns="0" rIns="0" bIns="0" rtlCol="0" anchor="ctr"/>
          <a:lstStyle/>
          <a:p>
            <a:pPr indent="0" marL="0">
              <a:buNone/>
            </a:pPr>
            <a:r>
              <a:rPr lang="en-US" sz="1050" b="1" dirty="0">
                <a:solidFill>
                  <a:srgbClr val="1B3448"/>
                </a:solidFill>
                <a:latin typeface="Aptos" pitchFamily="34" charset="0"/>
                <a:ea typeface="Aptos" pitchFamily="34" charset="-122"/>
                <a:cs typeface="Aptos" pitchFamily="34" charset="-120"/>
              </a:rPr>
              <a:t>VISUAL BRIEF  /  Data governance and regulated context</a:t>
            </a:r>
            <a:endParaRPr lang="en-US" sz="1050" dirty="0"/>
          </a:p>
        </p:txBody>
      </p:sp>
      <p:sp>
        <p:nvSpPr>
          <p:cNvPr id="23" name="Text 21"/>
          <p:cNvSpPr/>
          <p:nvPr/>
        </p:nvSpPr>
        <p:spPr>
          <a:xfrm>
            <a:off x="7845552" y="5650992"/>
            <a:ext cx="3538728" cy="265176"/>
          </a:xfrm>
          <a:prstGeom prst="rect">
            <a:avLst/>
          </a:prstGeom>
          <a:noFill/>
          <a:ln/>
        </p:spPr>
        <p:txBody>
          <a:bodyPr wrap="square" lIns="0" tIns="0" rIns="0" bIns="0" rtlCol="0" anchor="ctr"/>
          <a:lstStyle/>
          <a:p>
            <a:pPr indent="0" marL="0">
              <a:buNone/>
            </a:pPr>
            <a:r>
              <a:rPr lang="en-US" sz="900" dirty="0">
                <a:solidFill>
                  <a:srgbClr val="607585"/>
                </a:solidFill>
                <a:latin typeface="Aptos" pitchFamily="34" charset="0"/>
                <a:ea typeface="Aptos" pitchFamily="34" charset="-122"/>
                <a:cs typeface="Aptos" pitchFamily="34" charset="-120"/>
              </a:rPr>
              <a:t>Full image-generation prompt is in this slide's speaker notes.</a:t>
            </a:r>
            <a:endParaRPr lang="en-US" sz="900" dirty="0"/>
          </a:p>
        </p:txBody>
      </p:sp>
      <p:sp>
        <p:nvSpPr>
          <p:cNvPr id="24" name="Shape 22"/>
          <p:cNvSpPr/>
          <p:nvPr/>
        </p:nvSpPr>
        <p:spPr>
          <a:xfrm>
            <a:off x="603504" y="6318504"/>
            <a:ext cx="10972800" cy="0"/>
          </a:xfrm>
          <a:prstGeom prst="line">
            <a:avLst/>
          </a:prstGeom>
          <a:noFill/>
          <a:ln w="10160">
            <a:solidFill>
              <a:srgbClr val="D5E0E7"/>
            </a:solidFill>
            <a:prstDash val="solid"/>
          </a:ln>
        </p:spPr>
      </p:sp>
      <p:sp>
        <p:nvSpPr>
          <p:cNvPr id="25" name="Text 23"/>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EVALUATING HMI/SCADA AND CONVERGENCE</a:t>
            </a:r>
            <a:endParaRPr lang="en-US" sz="800" dirty="0"/>
          </a:p>
        </p:txBody>
      </p:sp>
      <p:sp>
        <p:nvSpPr>
          <p:cNvPr id="26" name="Text 24"/>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13 / 18</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C65E4E"/>
          </a:solidFill>
          <a:ln w="12700">
            <a:solidFill>
              <a:srgbClr val="C65E4E">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C65E4E"/>
                </a:solidFill>
                <a:latin typeface="Aptos" pitchFamily="34" charset="0"/>
                <a:ea typeface="Aptos" pitchFamily="34" charset="-122"/>
                <a:cs typeface="Aptos" pitchFamily="34" charset="-120"/>
              </a:rPr>
              <a:t>UNIT 5009    /    WEEK 08    /    LO2</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10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C65E4E"/>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C65E4E"/>
                </a:solidFill>
                <a:latin typeface="Aptos" pitchFamily="34" charset="0"/>
                <a:ea typeface="Aptos" pitchFamily="34" charset="-122"/>
                <a:cs typeface="Aptos" pitchFamily="34" charset="-120"/>
              </a:rPr>
              <a:t>M3 / D2</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3100" b="1" dirty="0">
                <a:solidFill>
                  <a:srgbClr val="1B3448"/>
                </a:solidFill>
                <a:latin typeface="Aptos Display" pitchFamily="34" charset="0"/>
                <a:ea typeface="Aptos Display" pitchFamily="34" charset="-122"/>
                <a:cs typeface="Aptos Display" pitchFamily="34" charset="-120"/>
              </a:rPr>
              <a:t>Convergence assurance checklist</a:t>
            </a:r>
            <a:endParaRPr lang="en-US" sz="31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76656" y="1719072"/>
            <a:ext cx="1828800" cy="210312"/>
          </a:xfrm>
          <a:prstGeom prst="rect">
            <a:avLst/>
          </a:prstGeom>
          <a:noFill/>
          <a:ln/>
        </p:spPr>
        <p:txBody>
          <a:bodyPr wrap="square" lIns="0" tIns="0" rIns="0" bIns="0" rtlCol="0" anchor="ctr"/>
          <a:lstStyle/>
          <a:p>
            <a:pPr indent="0" marL="0">
              <a:buNone/>
            </a:pPr>
            <a:r>
              <a:rPr lang="en-US" sz="900" b="1" spc="100" kern="0" dirty="0">
                <a:solidFill>
                  <a:srgbClr val="C65E4E"/>
                </a:solidFill>
                <a:latin typeface="Aptos" pitchFamily="34" charset="0"/>
                <a:ea typeface="Aptos" pitchFamily="34" charset="-122"/>
                <a:cs typeface="Aptos" pitchFamily="34" charset="-120"/>
              </a:rPr>
              <a:t>KEY IDEAS</a:t>
            </a:r>
            <a:endParaRPr lang="en-US" sz="900" dirty="0"/>
          </a:p>
        </p:txBody>
      </p:sp>
      <p:sp>
        <p:nvSpPr>
          <p:cNvPr id="11" name="Shape 9"/>
          <p:cNvSpPr/>
          <p:nvPr/>
        </p:nvSpPr>
        <p:spPr>
          <a:xfrm>
            <a:off x="713232" y="2139696"/>
            <a:ext cx="100584" cy="100584"/>
          </a:xfrm>
          <a:prstGeom prst="ellipse">
            <a:avLst/>
          </a:prstGeom>
          <a:solidFill>
            <a:srgbClr val="C65E4E"/>
          </a:solidFill>
          <a:ln w="12700">
            <a:solidFill>
              <a:srgbClr val="C65E4E">
                <a:alpha val="0"/>
              </a:srgbClr>
            </a:solidFill>
            <a:prstDash val="solid"/>
          </a:ln>
        </p:spPr>
      </p:sp>
      <p:sp>
        <p:nvSpPr>
          <p:cNvPr id="12" name="Text 10"/>
          <p:cNvSpPr/>
          <p:nvPr/>
        </p:nvSpPr>
        <p:spPr>
          <a:xfrm>
            <a:off x="969264" y="2029968"/>
            <a:ext cx="6327648" cy="804672"/>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Is data ownership clear? Are tags documented? Are write permissions restricted? Is stale data visible? Can local control continue? Is recovery tested? Are changes...</a:t>
            </a:r>
            <a:endParaRPr lang="en-US" sz="1650" dirty="0"/>
          </a:p>
        </p:txBody>
      </p:sp>
      <p:sp>
        <p:nvSpPr>
          <p:cNvPr id="13" name="Shape 11"/>
          <p:cNvSpPr/>
          <p:nvPr/>
        </p:nvSpPr>
        <p:spPr>
          <a:xfrm>
            <a:off x="713232" y="3054096"/>
            <a:ext cx="100584" cy="100584"/>
          </a:xfrm>
          <a:prstGeom prst="ellipse">
            <a:avLst/>
          </a:prstGeom>
          <a:solidFill>
            <a:srgbClr val="C65E4E"/>
          </a:solidFill>
          <a:ln w="12700">
            <a:solidFill>
              <a:srgbClr val="C65E4E">
                <a:alpha val="0"/>
              </a:srgbClr>
            </a:solidFill>
            <a:prstDash val="solid"/>
          </a:ln>
        </p:spPr>
      </p:sp>
      <p:sp>
        <p:nvSpPr>
          <p:cNvPr id="14" name="Text 12"/>
          <p:cNvSpPr/>
          <p:nvPr/>
        </p:nvSpPr>
        <p:spPr>
          <a:xfrm>
            <a:off x="969264" y="2944368"/>
            <a:ext cx="6327648" cy="329184"/>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Teams apply the checklist to their Week 7 diagram.</a:t>
            </a:r>
            <a:endParaRPr lang="en-US" sz="1650" dirty="0"/>
          </a:p>
        </p:txBody>
      </p:sp>
      <p:sp>
        <p:nvSpPr>
          <p:cNvPr id="15" name="Shape 13"/>
          <p:cNvSpPr/>
          <p:nvPr/>
        </p:nvSpPr>
        <p:spPr>
          <a:xfrm>
            <a:off x="7644384" y="1746504"/>
            <a:ext cx="3941064" cy="4352544"/>
          </a:xfrm>
          <a:prstGeom prst="rect">
            <a:avLst/>
          </a:prstGeom>
          <a:solidFill>
            <a:srgbClr val="E8EFF3"/>
          </a:solidFill>
          <a:ln w="15240">
            <a:solidFill>
              <a:srgbClr val="C8D5DE"/>
            </a:solidFill>
            <a:prstDash val="solid"/>
          </a:ln>
        </p:spPr>
      </p:sp>
      <p:sp>
        <p:nvSpPr>
          <p:cNvPr id="16" name="Text 14"/>
          <p:cNvSpPr/>
          <p:nvPr/>
        </p:nvSpPr>
        <p:spPr>
          <a:xfrm>
            <a:off x="7845552" y="1911096"/>
            <a:ext cx="3538728" cy="246888"/>
          </a:xfrm>
          <a:prstGeom prst="rect">
            <a:avLst/>
          </a:prstGeom>
          <a:noFill/>
          <a:ln/>
        </p:spPr>
        <p:txBody>
          <a:bodyPr wrap="square" lIns="0" tIns="0" rIns="0" bIns="0" rtlCol="0" anchor="ctr"/>
          <a:lstStyle/>
          <a:p>
            <a:pPr indent="0" marL="0">
              <a:buNone/>
            </a:pPr>
            <a:r>
              <a:rPr lang="en-US" sz="900" b="1" spc="80" kern="0" dirty="0">
                <a:solidFill>
                  <a:srgbClr val="C65E4E"/>
                </a:solidFill>
                <a:latin typeface="Aptos" pitchFamily="34" charset="0"/>
                <a:ea typeface="Aptos" pitchFamily="34" charset="-122"/>
                <a:cs typeface="Aptos" pitchFamily="34" charset="-120"/>
              </a:rPr>
              <a:t>IMAGE PLACEHOLDER</a:t>
            </a:r>
            <a:endParaRPr lang="en-US" sz="900" dirty="0"/>
          </a:p>
        </p:txBody>
      </p:sp>
      <p:sp>
        <p:nvSpPr>
          <p:cNvPr id="17" name="Text 15"/>
          <p:cNvSpPr/>
          <p:nvPr/>
        </p:nvSpPr>
        <p:spPr>
          <a:xfrm>
            <a:off x="7900416" y="3072384"/>
            <a:ext cx="3429000" cy="347472"/>
          </a:xfrm>
          <a:prstGeom prst="rect">
            <a:avLst/>
          </a:prstGeom>
          <a:noFill/>
          <a:ln/>
        </p:spPr>
        <p:txBody>
          <a:bodyPr wrap="square" lIns="0" tIns="0" rIns="0" bIns="0" rtlCol="0" anchor="ctr"/>
          <a:lstStyle/>
          <a:p>
            <a:pPr algn="ctr" indent="0" marL="0">
              <a:buNone/>
            </a:pPr>
            <a:r>
              <a:rPr lang="en-US" sz="1700" b="1" dirty="0">
                <a:solidFill>
                  <a:srgbClr val="7A8F9D"/>
                </a:solidFill>
                <a:latin typeface="Aptos Display" pitchFamily="34" charset="0"/>
                <a:ea typeface="Aptos Display" pitchFamily="34" charset="-122"/>
                <a:cs typeface="Aptos Display" pitchFamily="34" charset="-120"/>
              </a:rPr>
              <a:t>ADD PHOTO OR DIAGRAM</a:t>
            </a:r>
            <a:endParaRPr lang="en-US" sz="1700" dirty="0"/>
          </a:p>
        </p:txBody>
      </p:sp>
      <p:sp>
        <p:nvSpPr>
          <p:cNvPr id="18" name="Text 16"/>
          <p:cNvSpPr/>
          <p:nvPr/>
        </p:nvSpPr>
        <p:spPr>
          <a:xfrm>
            <a:off x="7900416" y="3465576"/>
            <a:ext cx="3429000" cy="301752"/>
          </a:xfrm>
          <a:prstGeom prst="rect">
            <a:avLst/>
          </a:prstGeom>
          <a:noFill/>
          <a:ln/>
        </p:spPr>
        <p:txBody>
          <a:bodyPr wrap="square" lIns="0" tIns="0" rIns="0" bIns="0" rtlCol="0" anchor="ctr"/>
          <a:lstStyle/>
          <a:p>
            <a:pPr algn="ctr" indent="0" marL="0">
              <a:buNone/>
            </a:pPr>
            <a:r>
              <a:rPr lang="en-US" sz="1150" dirty="0">
                <a:solidFill>
                  <a:srgbClr val="607585"/>
                </a:solidFill>
                <a:latin typeface="Aptos" pitchFamily="34" charset="0"/>
                <a:ea typeface="Aptos" pitchFamily="34" charset="-122"/>
                <a:cs typeface="Aptos" pitchFamily="34" charset="-120"/>
              </a:rPr>
              <a:t>Leave this area open for the final visual</a:t>
            </a:r>
            <a:endParaRPr lang="en-US" sz="1150" dirty="0"/>
          </a:p>
        </p:txBody>
      </p:sp>
      <p:sp>
        <p:nvSpPr>
          <p:cNvPr id="19" name="Shape 17"/>
          <p:cNvSpPr/>
          <p:nvPr/>
        </p:nvSpPr>
        <p:spPr>
          <a:xfrm>
            <a:off x="7845552" y="5111496"/>
            <a:ext cx="3538728" cy="0"/>
          </a:xfrm>
          <a:prstGeom prst="line">
            <a:avLst/>
          </a:prstGeom>
          <a:noFill/>
          <a:ln w="12700">
            <a:solidFill>
              <a:srgbClr val="C8D5DE"/>
            </a:solidFill>
            <a:prstDash val="solid"/>
          </a:ln>
        </p:spPr>
      </p:sp>
      <p:sp>
        <p:nvSpPr>
          <p:cNvPr id="20" name="Text 18"/>
          <p:cNvSpPr/>
          <p:nvPr/>
        </p:nvSpPr>
        <p:spPr>
          <a:xfrm>
            <a:off x="7845552" y="5239512"/>
            <a:ext cx="3538728" cy="384048"/>
          </a:xfrm>
          <a:prstGeom prst="rect">
            <a:avLst/>
          </a:prstGeom>
          <a:noFill/>
          <a:ln/>
        </p:spPr>
        <p:txBody>
          <a:bodyPr wrap="square" lIns="0" tIns="0" rIns="0" bIns="0" rtlCol="0" anchor="ctr"/>
          <a:lstStyle/>
          <a:p>
            <a:pPr indent="0" marL="0">
              <a:buNone/>
            </a:pPr>
            <a:r>
              <a:rPr lang="en-US" sz="1050" b="1" dirty="0">
                <a:solidFill>
                  <a:srgbClr val="1B3448"/>
                </a:solidFill>
                <a:latin typeface="Aptos" pitchFamily="34" charset="0"/>
                <a:ea typeface="Aptos" pitchFamily="34" charset="-122"/>
                <a:cs typeface="Aptos" pitchFamily="34" charset="-120"/>
              </a:rPr>
              <a:t>VISUAL BRIEF  /  Convergence assurance checklist</a:t>
            </a:r>
            <a:endParaRPr lang="en-US" sz="1050" dirty="0"/>
          </a:p>
        </p:txBody>
      </p:sp>
      <p:sp>
        <p:nvSpPr>
          <p:cNvPr id="21" name="Text 19"/>
          <p:cNvSpPr/>
          <p:nvPr/>
        </p:nvSpPr>
        <p:spPr>
          <a:xfrm>
            <a:off x="7845552" y="5650992"/>
            <a:ext cx="3538728" cy="265176"/>
          </a:xfrm>
          <a:prstGeom prst="rect">
            <a:avLst/>
          </a:prstGeom>
          <a:noFill/>
          <a:ln/>
        </p:spPr>
        <p:txBody>
          <a:bodyPr wrap="square" lIns="0" tIns="0" rIns="0" bIns="0" rtlCol="0" anchor="ctr"/>
          <a:lstStyle/>
          <a:p>
            <a:pPr indent="0" marL="0">
              <a:buNone/>
            </a:pPr>
            <a:r>
              <a:rPr lang="en-US" sz="900" dirty="0">
                <a:solidFill>
                  <a:srgbClr val="607585"/>
                </a:solidFill>
                <a:latin typeface="Aptos" pitchFamily="34" charset="0"/>
                <a:ea typeface="Aptos" pitchFamily="34" charset="-122"/>
                <a:cs typeface="Aptos" pitchFamily="34" charset="-120"/>
              </a:rPr>
              <a:t>Full image-generation prompt is in this slide's speaker notes.</a:t>
            </a:r>
            <a:endParaRPr lang="en-US" sz="900" dirty="0"/>
          </a:p>
        </p:txBody>
      </p:sp>
      <p:sp>
        <p:nvSpPr>
          <p:cNvPr id="22" name="Shape 20"/>
          <p:cNvSpPr/>
          <p:nvPr/>
        </p:nvSpPr>
        <p:spPr>
          <a:xfrm>
            <a:off x="603504" y="6318504"/>
            <a:ext cx="10972800" cy="0"/>
          </a:xfrm>
          <a:prstGeom prst="line">
            <a:avLst/>
          </a:prstGeom>
          <a:noFill/>
          <a:ln w="10160">
            <a:solidFill>
              <a:srgbClr val="D5E0E7"/>
            </a:solidFill>
            <a:prstDash val="solid"/>
          </a:ln>
        </p:spPr>
      </p:sp>
      <p:sp>
        <p:nvSpPr>
          <p:cNvPr id="23" name="Text 21"/>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EVALUATING HMI/SCADA AND CONVERGENCE</a:t>
            </a:r>
            <a:endParaRPr lang="en-US" sz="800" dirty="0"/>
          </a:p>
        </p:txBody>
      </p:sp>
      <p:sp>
        <p:nvSpPr>
          <p:cNvPr id="24" name="Text 22"/>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14 / 18</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C65E4E"/>
          </a:solidFill>
          <a:ln w="12700">
            <a:solidFill>
              <a:srgbClr val="C65E4E">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C65E4E"/>
                </a:solidFill>
                <a:latin typeface="Aptos" pitchFamily="34" charset="0"/>
                <a:ea typeface="Aptos" pitchFamily="34" charset="-122"/>
                <a:cs typeface="Aptos" pitchFamily="34" charset="-120"/>
              </a:rPr>
              <a:t>UNIT 5009    /    WEEK 08    /    LO2</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20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C65E4E"/>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C65E4E"/>
                </a:solidFill>
                <a:latin typeface="Aptos" pitchFamily="34" charset="0"/>
                <a:ea typeface="Aptos" pitchFamily="34" charset="-122"/>
                <a:cs typeface="Aptos" pitchFamily="34" charset="-120"/>
              </a:rPr>
              <a:t>M3 / D2</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3100" b="1" dirty="0">
                <a:solidFill>
                  <a:srgbClr val="1B3448"/>
                </a:solidFill>
                <a:latin typeface="Aptos Display" pitchFamily="34" charset="0"/>
                <a:ea typeface="Aptos Display" pitchFamily="34" charset="-122"/>
                <a:cs typeface="Aptos Display" pitchFamily="34" charset="-120"/>
              </a:rPr>
              <a:t>M3 evaluation clinic</a:t>
            </a:r>
            <a:endParaRPr lang="en-US" sz="31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76656" y="1719072"/>
            <a:ext cx="1828800" cy="210312"/>
          </a:xfrm>
          <a:prstGeom prst="rect">
            <a:avLst/>
          </a:prstGeom>
          <a:noFill/>
          <a:ln/>
        </p:spPr>
        <p:txBody>
          <a:bodyPr wrap="square" lIns="0" tIns="0" rIns="0" bIns="0" rtlCol="0" anchor="ctr"/>
          <a:lstStyle/>
          <a:p>
            <a:pPr indent="0" marL="0">
              <a:buNone/>
            </a:pPr>
            <a:r>
              <a:rPr lang="en-US" sz="900" b="1" spc="100" kern="0" dirty="0">
                <a:solidFill>
                  <a:srgbClr val="C65E4E"/>
                </a:solidFill>
                <a:latin typeface="Aptos" pitchFamily="34" charset="0"/>
                <a:ea typeface="Aptos" pitchFamily="34" charset="-122"/>
                <a:cs typeface="Aptos" pitchFamily="34" charset="-120"/>
              </a:rPr>
              <a:t>KEY IDEAS</a:t>
            </a:r>
            <a:endParaRPr lang="en-US" sz="900" dirty="0"/>
          </a:p>
        </p:txBody>
      </p:sp>
      <p:sp>
        <p:nvSpPr>
          <p:cNvPr id="11" name="Shape 9"/>
          <p:cNvSpPr/>
          <p:nvPr/>
        </p:nvSpPr>
        <p:spPr>
          <a:xfrm>
            <a:off x="713232" y="2139696"/>
            <a:ext cx="100584" cy="100584"/>
          </a:xfrm>
          <a:prstGeom prst="ellipse">
            <a:avLst/>
          </a:prstGeom>
          <a:solidFill>
            <a:srgbClr val="C65E4E"/>
          </a:solidFill>
          <a:ln w="12700">
            <a:solidFill>
              <a:srgbClr val="C65E4E">
                <a:alpha val="0"/>
              </a:srgbClr>
            </a:solidFill>
            <a:prstDash val="solid"/>
          </a:ln>
        </p:spPr>
      </p:sp>
      <p:sp>
        <p:nvSpPr>
          <p:cNvPr id="12" name="Text 10"/>
          <p:cNvSpPr/>
          <p:nvPr/>
        </p:nvSpPr>
        <p:spPr>
          <a:xfrm>
            <a:off x="969264" y="2029968"/>
            <a:ext cx="6327648" cy="804672"/>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Teams write a short balanced evaluation: benefits, limitations, risk, mitigation, and conclusion for a single station and for a growing line.</a:t>
            </a:r>
            <a:endParaRPr lang="en-US" sz="1650" dirty="0"/>
          </a:p>
        </p:txBody>
      </p:sp>
      <p:sp>
        <p:nvSpPr>
          <p:cNvPr id="13" name="Shape 11"/>
          <p:cNvSpPr/>
          <p:nvPr/>
        </p:nvSpPr>
        <p:spPr>
          <a:xfrm>
            <a:off x="713232" y="3054096"/>
            <a:ext cx="100584" cy="100584"/>
          </a:xfrm>
          <a:prstGeom prst="ellipse">
            <a:avLst/>
          </a:prstGeom>
          <a:solidFill>
            <a:srgbClr val="C65E4E"/>
          </a:solidFill>
          <a:ln w="12700">
            <a:solidFill>
              <a:srgbClr val="C65E4E">
                <a:alpha val="0"/>
              </a:srgbClr>
            </a:solidFill>
            <a:prstDash val="solid"/>
          </a:ln>
        </p:spPr>
      </p:sp>
      <p:sp>
        <p:nvSpPr>
          <p:cNvPr id="14" name="Text 12"/>
          <p:cNvSpPr/>
          <p:nvPr/>
        </p:nvSpPr>
        <p:spPr>
          <a:xfrm>
            <a:off x="969264" y="2944368"/>
            <a:ext cx="6327648" cy="566928"/>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Peer review checks for application-specific evidence and rejects unsupported "SCADA is always better" claims.</a:t>
            </a:r>
            <a:endParaRPr lang="en-US" sz="1650" dirty="0"/>
          </a:p>
        </p:txBody>
      </p:sp>
      <p:sp>
        <p:nvSpPr>
          <p:cNvPr id="15" name="Shape 13"/>
          <p:cNvSpPr/>
          <p:nvPr/>
        </p:nvSpPr>
        <p:spPr>
          <a:xfrm>
            <a:off x="7644384" y="1746504"/>
            <a:ext cx="3941064" cy="4352544"/>
          </a:xfrm>
          <a:prstGeom prst="rect">
            <a:avLst/>
          </a:prstGeom>
          <a:solidFill>
            <a:srgbClr val="E8EFF3"/>
          </a:solidFill>
          <a:ln w="15240">
            <a:solidFill>
              <a:srgbClr val="C8D5DE"/>
            </a:solidFill>
            <a:prstDash val="solid"/>
          </a:ln>
        </p:spPr>
      </p:sp>
      <p:sp>
        <p:nvSpPr>
          <p:cNvPr id="16" name="Text 14"/>
          <p:cNvSpPr/>
          <p:nvPr/>
        </p:nvSpPr>
        <p:spPr>
          <a:xfrm>
            <a:off x="7845552" y="1911096"/>
            <a:ext cx="3538728" cy="246888"/>
          </a:xfrm>
          <a:prstGeom prst="rect">
            <a:avLst/>
          </a:prstGeom>
          <a:noFill/>
          <a:ln/>
        </p:spPr>
        <p:txBody>
          <a:bodyPr wrap="square" lIns="0" tIns="0" rIns="0" bIns="0" rtlCol="0" anchor="ctr"/>
          <a:lstStyle/>
          <a:p>
            <a:pPr indent="0" marL="0">
              <a:buNone/>
            </a:pPr>
            <a:r>
              <a:rPr lang="en-US" sz="900" b="1" spc="80" kern="0" dirty="0">
                <a:solidFill>
                  <a:srgbClr val="C65E4E"/>
                </a:solidFill>
                <a:latin typeface="Aptos" pitchFamily="34" charset="0"/>
                <a:ea typeface="Aptos" pitchFamily="34" charset="-122"/>
                <a:cs typeface="Aptos" pitchFamily="34" charset="-120"/>
              </a:rPr>
              <a:t>IMAGE PLACEHOLDER</a:t>
            </a:r>
            <a:endParaRPr lang="en-US" sz="900" dirty="0"/>
          </a:p>
        </p:txBody>
      </p:sp>
      <p:sp>
        <p:nvSpPr>
          <p:cNvPr id="17" name="Text 15"/>
          <p:cNvSpPr/>
          <p:nvPr/>
        </p:nvSpPr>
        <p:spPr>
          <a:xfrm>
            <a:off x="7900416" y="3072384"/>
            <a:ext cx="3429000" cy="347472"/>
          </a:xfrm>
          <a:prstGeom prst="rect">
            <a:avLst/>
          </a:prstGeom>
          <a:noFill/>
          <a:ln/>
        </p:spPr>
        <p:txBody>
          <a:bodyPr wrap="square" lIns="0" tIns="0" rIns="0" bIns="0" rtlCol="0" anchor="ctr"/>
          <a:lstStyle/>
          <a:p>
            <a:pPr algn="ctr" indent="0" marL="0">
              <a:buNone/>
            </a:pPr>
            <a:r>
              <a:rPr lang="en-US" sz="1700" b="1" dirty="0">
                <a:solidFill>
                  <a:srgbClr val="7A8F9D"/>
                </a:solidFill>
                <a:latin typeface="Aptos Display" pitchFamily="34" charset="0"/>
                <a:ea typeface="Aptos Display" pitchFamily="34" charset="-122"/>
                <a:cs typeface="Aptos Display" pitchFamily="34" charset="-120"/>
              </a:rPr>
              <a:t>ADD PHOTO OR DIAGRAM</a:t>
            </a:r>
            <a:endParaRPr lang="en-US" sz="1700" dirty="0"/>
          </a:p>
        </p:txBody>
      </p:sp>
      <p:sp>
        <p:nvSpPr>
          <p:cNvPr id="18" name="Text 16"/>
          <p:cNvSpPr/>
          <p:nvPr/>
        </p:nvSpPr>
        <p:spPr>
          <a:xfrm>
            <a:off x="7900416" y="3465576"/>
            <a:ext cx="3429000" cy="301752"/>
          </a:xfrm>
          <a:prstGeom prst="rect">
            <a:avLst/>
          </a:prstGeom>
          <a:noFill/>
          <a:ln/>
        </p:spPr>
        <p:txBody>
          <a:bodyPr wrap="square" lIns="0" tIns="0" rIns="0" bIns="0" rtlCol="0" anchor="ctr"/>
          <a:lstStyle/>
          <a:p>
            <a:pPr algn="ctr" indent="0" marL="0">
              <a:buNone/>
            </a:pPr>
            <a:r>
              <a:rPr lang="en-US" sz="1150" dirty="0">
                <a:solidFill>
                  <a:srgbClr val="607585"/>
                </a:solidFill>
                <a:latin typeface="Aptos" pitchFamily="34" charset="0"/>
                <a:ea typeface="Aptos" pitchFamily="34" charset="-122"/>
                <a:cs typeface="Aptos" pitchFamily="34" charset="-120"/>
              </a:rPr>
              <a:t>Leave this area open for the final visual</a:t>
            </a:r>
            <a:endParaRPr lang="en-US" sz="1150" dirty="0"/>
          </a:p>
        </p:txBody>
      </p:sp>
      <p:sp>
        <p:nvSpPr>
          <p:cNvPr id="19" name="Shape 17"/>
          <p:cNvSpPr/>
          <p:nvPr/>
        </p:nvSpPr>
        <p:spPr>
          <a:xfrm>
            <a:off x="7845552" y="5111496"/>
            <a:ext cx="3538728" cy="0"/>
          </a:xfrm>
          <a:prstGeom prst="line">
            <a:avLst/>
          </a:prstGeom>
          <a:noFill/>
          <a:ln w="12700">
            <a:solidFill>
              <a:srgbClr val="C8D5DE"/>
            </a:solidFill>
            <a:prstDash val="solid"/>
          </a:ln>
        </p:spPr>
      </p:sp>
      <p:sp>
        <p:nvSpPr>
          <p:cNvPr id="20" name="Text 18"/>
          <p:cNvSpPr/>
          <p:nvPr/>
        </p:nvSpPr>
        <p:spPr>
          <a:xfrm>
            <a:off x="7845552" y="5239512"/>
            <a:ext cx="3538728" cy="384048"/>
          </a:xfrm>
          <a:prstGeom prst="rect">
            <a:avLst/>
          </a:prstGeom>
          <a:noFill/>
          <a:ln/>
        </p:spPr>
        <p:txBody>
          <a:bodyPr wrap="square" lIns="0" tIns="0" rIns="0" bIns="0" rtlCol="0" anchor="ctr"/>
          <a:lstStyle/>
          <a:p>
            <a:pPr indent="0" marL="0">
              <a:buNone/>
            </a:pPr>
            <a:r>
              <a:rPr lang="en-US" sz="1050" b="1" dirty="0">
                <a:solidFill>
                  <a:srgbClr val="1B3448"/>
                </a:solidFill>
                <a:latin typeface="Aptos" pitchFamily="34" charset="0"/>
                <a:ea typeface="Aptos" pitchFamily="34" charset="-122"/>
                <a:cs typeface="Aptos" pitchFamily="34" charset="-120"/>
              </a:rPr>
              <a:t>VISUAL BRIEF  /  M3 evaluation clinic</a:t>
            </a:r>
            <a:endParaRPr lang="en-US" sz="1050" dirty="0"/>
          </a:p>
        </p:txBody>
      </p:sp>
      <p:sp>
        <p:nvSpPr>
          <p:cNvPr id="21" name="Text 19"/>
          <p:cNvSpPr/>
          <p:nvPr/>
        </p:nvSpPr>
        <p:spPr>
          <a:xfrm>
            <a:off x="7845552" y="5650992"/>
            <a:ext cx="3538728" cy="265176"/>
          </a:xfrm>
          <a:prstGeom prst="rect">
            <a:avLst/>
          </a:prstGeom>
          <a:noFill/>
          <a:ln/>
        </p:spPr>
        <p:txBody>
          <a:bodyPr wrap="square" lIns="0" tIns="0" rIns="0" bIns="0" rtlCol="0" anchor="ctr"/>
          <a:lstStyle/>
          <a:p>
            <a:pPr indent="0" marL="0">
              <a:buNone/>
            </a:pPr>
            <a:r>
              <a:rPr lang="en-US" sz="900" dirty="0">
                <a:solidFill>
                  <a:srgbClr val="607585"/>
                </a:solidFill>
                <a:latin typeface="Aptos" pitchFamily="34" charset="0"/>
                <a:ea typeface="Aptos" pitchFamily="34" charset="-122"/>
                <a:cs typeface="Aptos" pitchFamily="34" charset="-120"/>
              </a:rPr>
              <a:t>Full image-generation prompt is in this slide's speaker notes.</a:t>
            </a:r>
            <a:endParaRPr lang="en-US" sz="900" dirty="0"/>
          </a:p>
        </p:txBody>
      </p:sp>
      <p:sp>
        <p:nvSpPr>
          <p:cNvPr id="22" name="Shape 20"/>
          <p:cNvSpPr/>
          <p:nvPr/>
        </p:nvSpPr>
        <p:spPr>
          <a:xfrm>
            <a:off x="603504" y="6318504"/>
            <a:ext cx="10972800" cy="0"/>
          </a:xfrm>
          <a:prstGeom prst="line">
            <a:avLst/>
          </a:prstGeom>
          <a:noFill/>
          <a:ln w="10160">
            <a:solidFill>
              <a:srgbClr val="D5E0E7"/>
            </a:solidFill>
            <a:prstDash val="solid"/>
          </a:ln>
        </p:spPr>
      </p:sp>
      <p:sp>
        <p:nvSpPr>
          <p:cNvPr id="23" name="Text 21"/>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EVALUATING HMI/SCADA AND CONVERGENCE</a:t>
            </a:r>
            <a:endParaRPr lang="en-US" sz="800" dirty="0"/>
          </a:p>
        </p:txBody>
      </p:sp>
      <p:sp>
        <p:nvSpPr>
          <p:cNvPr id="24" name="Text 22"/>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15 / 18</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C65E4E"/>
          </a:solidFill>
          <a:ln w="12700">
            <a:solidFill>
              <a:srgbClr val="C65E4E">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C65E4E"/>
                </a:solidFill>
                <a:latin typeface="Aptos" pitchFamily="34" charset="0"/>
                <a:ea typeface="Aptos" pitchFamily="34" charset="-122"/>
                <a:cs typeface="Aptos" pitchFamily="34" charset="-120"/>
              </a:rPr>
              <a:t>UNIT 5009    /    WEEK 08    /    LO2</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20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C65E4E"/>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C65E4E"/>
                </a:solidFill>
                <a:latin typeface="Aptos" pitchFamily="34" charset="0"/>
                <a:ea typeface="Aptos" pitchFamily="34" charset="-122"/>
                <a:cs typeface="Aptos" pitchFamily="34" charset="-120"/>
              </a:rPr>
              <a:t>M3 / D2</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3100" b="1" dirty="0">
                <a:solidFill>
                  <a:srgbClr val="1B3448"/>
                </a:solidFill>
                <a:latin typeface="Aptos Display" pitchFamily="34" charset="0"/>
                <a:ea typeface="Aptos Display" pitchFamily="34" charset="-122"/>
                <a:cs typeface="Aptos Display" pitchFamily="34" charset="-120"/>
              </a:rPr>
              <a:t>D2 convergence recommendation panel</a:t>
            </a:r>
            <a:endParaRPr lang="en-US" sz="31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76656" y="1719072"/>
            <a:ext cx="1828800" cy="210312"/>
          </a:xfrm>
          <a:prstGeom prst="rect">
            <a:avLst/>
          </a:prstGeom>
          <a:noFill/>
          <a:ln/>
        </p:spPr>
        <p:txBody>
          <a:bodyPr wrap="square" lIns="0" tIns="0" rIns="0" bIns="0" rtlCol="0" anchor="ctr"/>
          <a:lstStyle/>
          <a:p>
            <a:pPr indent="0" marL="0">
              <a:buNone/>
            </a:pPr>
            <a:r>
              <a:rPr lang="en-US" sz="900" b="1" spc="100" kern="0" dirty="0">
                <a:solidFill>
                  <a:srgbClr val="C65E4E"/>
                </a:solidFill>
                <a:latin typeface="Aptos" pitchFamily="34" charset="0"/>
                <a:ea typeface="Aptos" pitchFamily="34" charset="-122"/>
                <a:cs typeface="Aptos" pitchFamily="34" charset="-120"/>
              </a:rPr>
              <a:t>KEY IDEAS</a:t>
            </a:r>
            <a:endParaRPr lang="en-US" sz="900" dirty="0"/>
          </a:p>
        </p:txBody>
      </p:sp>
      <p:sp>
        <p:nvSpPr>
          <p:cNvPr id="11" name="Shape 9"/>
          <p:cNvSpPr/>
          <p:nvPr/>
        </p:nvSpPr>
        <p:spPr>
          <a:xfrm>
            <a:off x="713232" y="2139696"/>
            <a:ext cx="100584" cy="100584"/>
          </a:xfrm>
          <a:prstGeom prst="ellipse">
            <a:avLst/>
          </a:prstGeom>
          <a:solidFill>
            <a:srgbClr val="C65E4E"/>
          </a:solidFill>
          <a:ln w="12700">
            <a:solidFill>
              <a:srgbClr val="C65E4E">
                <a:alpha val="0"/>
              </a:srgbClr>
            </a:solidFill>
            <a:prstDash val="solid"/>
          </a:ln>
        </p:spPr>
      </p:sp>
      <p:sp>
        <p:nvSpPr>
          <p:cNvPr id="12" name="Text 10"/>
          <p:cNvSpPr/>
          <p:nvPr/>
        </p:nvSpPr>
        <p:spPr>
          <a:xfrm>
            <a:off x="969264" y="2029968"/>
            <a:ext cx="6327648" cy="804672"/>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Deliver a structured argument: claim -&gt; industrial need -&gt; evidence/benefit -&gt; counterpoint -&gt; risk/control -&gt; conditional conclusion.</a:t>
            </a:r>
            <a:endParaRPr lang="en-US" sz="1650" dirty="0"/>
          </a:p>
        </p:txBody>
      </p:sp>
      <p:sp>
        <p:nvSpPr>
          <p:cNvPr id="13" name="Shape 11"/>
          <p:cNvSpPr/>
          <p:nvPr/>
        </p:nvSpPr>
        <p:spPr>
          <a:xfrm>
            <a:off x="713232" y="3054096"/>
            <a:ext cx="100584" cy="100584"/>
          </a:xfrm>
          <a:prstGeom prst="ellipse">
            <a:avLst/>
          </a:prstGeom>
          <a:solidFill>
            <a:srgbClr val="C65E4E"/>
          </a:solidFill>
          <a:ln w="12700">
            <a:solidFill>
              <a:srgbClr val="C65E4E">
                <a:alpha val="0"/>
              </a:srgbClr>
            </a:solidFill>
            <a:prstDash val="solid"/>
          </a:ln>
        </p:spPr>
      </p:sp>
      <p:sp>
        <p:nvSpPr>
          <p:cNvPr id="14" name="Text 12"/>
          <p:cNvSpPr/>
          <p:nvPr/>
        </p:nvSpPr>
        <p:spPr>
          <a:xfrm>
            <a:off x="969264" y="2944368"/>
            <a:ext cx="6327648" cy="566928"/>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Include one architecture diagram and explain what stays local, what is shared, and why.</a:t>
            </a:r>
            <a:endParaRPr lang="en-US" sz="1650" dirty="0"/>
          </a:p>
        </p:txBody>
      </p:sp>
      <p:sp>
        <p:nvSpPr>
          <p:cNvPr id="15" name="Shape 13"/>
          <p:cNvSpPr/>
          <p:nvPr/>
        </p:nvSpPr>
        <p:spPr>
          <a:xfrm>
            <a:off x="713232" y="3730752"/>
            <a:ext cx="100584" cy="100584"/>
          </a:xfrm>
          <a:prstGeom prst="ellipse">
            <a:avLst/>
          </a:prstGeom>
          <a:solidFill>
            <a:srgbClr val="C65E4E"/>
          </a:solidFill>
          <a:ln w="12700">
            <a:solidFill>
              <a:srgbClr val="C65E4E">
                <a:alpha val="0"/>
              </a:srgbClr>
            </a:solidFill>
            <a:prstDash val="solid"/>
          </a:ln>
        </p:spPr>
      </p:sp>
      <p:sp>
        <p:nvSpPr>
          <p:cNvPr id="16" name="Text 14"/>
          <p:cNvSpPr/>
          <p:nvPr/>
        </p:nvSpPr>
        <p:spPr>
          <a:xfrm>
            <a:off x="969264" y="3621024"/>
            <a:ext cx="6327648" cy="566928"/>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Panel asks what would change the recommendation (uptime target, number of stations, record needs, cyber policy, or cost).</a:t>
            </a:r>
            <a:endParaRPr lang="en-US" sz="1650" dirty="0"/>
          </a:p>
        </p:txBody>
      </p:sp>
      <p:sp>
        <p:nvSpPr>
          <p:cNvPr id="17" name="Shape 15"/>
          <p:cNvSpPr/>
          <p:nvPr/>
        </p:nvSpPr>
        <p:spPr>
          <a:xfrm>
            <a:off x="7644384" y="1746504"/>
            <a:ext cx="3941064" cy="4352544"/>
          </a:xfrm>
          <a:prstGeom prst="rect">
            <a:avLst/>
          </a:prstGeom>
          <a:solidFill>
            <a:srgbClr val="E8EFF3"/>
          </a:solidFill>
          <a:ln w="15240">
            <a:solidFill>
              <a:srgbClr val="C8D5DE"/>
            </a:solidFill>
            <a:prstDash val="solid"/>
          </a:ln>
        </p:spPr>
      </p:sp>
      <p:sp>
        <p:nvSpPr>
          <p:cNvPr id="18" name="Text 16"/>
          <p:cNvSpPr/>
          <p:nvPr/>
        </p:nvSpPr>
        <p:spPr>
          <a:xfrm>
            <a:off x="7845552" y="1911096"/>
            <a:ext cx="3538728" cy="246888"/>
          </a:xfrm>
          <a:prstGeom prst="rect">
            <a:avLst/>
          </a:prstGeom>
          <a:noFill/>
          <a:ln/>
        </p:spPr>
        <p:txBody>
          <a:bodyPr wrap="square" lIns="0" tIns="0" rIns="0" bIns="0" rtlCol="0" anchor="ctr"/>
          <a:lstStyle/>
          <a:p>
            <a:pPr indent="0" marL="0">
              <a:buNone/>
            </a:pPr>
            <a:r>
              <a:rPr lang="en-US" sz="900" b="1" spc="80" kern="0" dirty="0">
                <a:solidFill>
                  <a:srgbClr val="C65E4E"/>
                </a:solidFill>
                <a:latin typeface="Aptos" pitchFamily="34" charset="0"/>
                <a:ea typeface="Aptos" pitchFamily="34" charset="-122"/>
                <a:cs typeface="Aptos" pitchFamily="34" charset="-120"/>
              </a:rPr>
              <a:t>IMAGE PLACEHOLDER</a:t>
            </a:r>
            <a:endParaRPr lang="en-US" sz="900" dirty="0"/>
          </a:p>
        </p:txBody>
      </p:sp>
      <p:sp>
        <p:nvSpPr>
          <p:cNvPr id="19" name="Text 17"/>
          <p:cNvSpPr/>
          <p:nvPr/>
        </p:nvSpPr>
        <p:spPr>
          <a:xfrm>
            <a:off x="7900416" y="3072384"/>
            <a:ext cx="3429000" cy="347472"/>
          </a:xfrm>
          <a:prstGeom prst="rect">
            <a:avLst/>
          </a:prstGeom>
          <a:noFill/>
          <a:ln/>
        </p:spPr>
        <p:txBody>
          <a:bodyPr wrap="square" lIns="0" tIns="0" rIns="0" bIns="0" rtlCol="0" anchor="ctr"/>
          <a:lstStyle/>
          <a:p>
            <a:pPr algn="ctr" indent="0" marL="0">
              <a:buNone/>
            </a:pPr>
            <a:r>
              <a:rPr lang="en-US" sz="1700" b="1" dirty="0">
                <a:solidFill>
                  <a:srgbClr val="7A8F9D"/>
                </a:solidFill>
                <a:latin typeface="Aptos Display" pitchFamily="34" charset="0"/>
                <a:ea typeface="Aptos Display" pitchFamily="34" charset="-122"/>
                <a:cs typeface="Aptos Display" pitchFamily="34" charset="-120"/>
              </a:rPr>
              <a:t>ADD PHOTO OR DIAGRAM</a:t>
            </a:r>
            <a:endParaRPr lang="en-US" sz="1700" dirty="0"/>
          </a:p>
        </p:txBody>
      </p:sp>
      <p:sp>
        <p:nvSpPr>
          <p:cNvPr id="20" name="Text 18"/>
          <p:cNvSpPr/>
          <p:nvPr/>
        </p:nvSpPr>
        <p:spPr>
          <a:xfrm>
            <a:off x="7900416" y="3465576"/>
            <a:ext cx="3429000" cy="301752"/>
          </a:xfrm>
          <a:prstGeom prst="rect">
            <a:avLst/>
          </a:prstGeom>
          <a:noFill/>
          <a:ln/>
        </p:spPr>
        <p:txBody>
          <a:bodyPr wrap="square" lIns="0" tIns="0" rIns="0" bIns="0" rtlCol="0" anchor="ctr"/>
          <a:lstStyle/>
          <a:p>
            <a:pPr algn="ctr" indent="0" marL="0">
              <a:buNone/>
            </a:pPr>
            <a:r>
              <a:rPr lang="en-US" sz="1150" dirty="0">
                <a:solidFill>
                  <a:srgbClr val="607585"/>
                </a:solidFill>
                <a:latin typeface="Aptos" pitchFamily="34" charset="0"/>
                <a:ea typeface="Aptos" pitchFamily="34" charset="-122"/>
                <a:cs typeface="Aptos" pitchFamily="34" charset="-120"/>
              </a:rPr>
              <a:t>Leave this area open for the final visual</a:t>
            </a:r>
            <a:endParaRPr lang="en-US" sz="1150" dirty="0"/>
          </a:p>
        </p:txBody>
      </p:sp>
      <p:sp>
        <p:nvSpPr>
          <p:cNvPr id="21" name="Shape 19"/>
          <p:cNvSpPr/>
          <p:nvPr/>
        </p:nvSpPr>
        <p:spPr>
          <a:xfrm>
            <a:off x="7845552" y="5111496"/>
            <a:ext cx="3538728" cy="0"/>
          </a:xfrm>
          <a:prstGeom prst="line">
            <a:avLst/>
          </a:prstGeom>
          <a:noFill/>
          <a:ln w="12700">
            <a:solidFill>
              <a:srgbClr val="C8D5DE"/>
            </a:solidFill>
            <a:prstDash val="solid"/>
          </a:ln>
        </p:spPr>
      </p:sp>
      <p:sp>
        <p:nvSpPr>
          <p:cNvPr id="22" name="Text 20"/>
          <p:cNvSpPr/>
          <p:nvPr/>
        </p:nvSpPr>
        <p:spPr>
          <a:xfrm>
            <a:off x="7845552" y="5239512"/>
            <a:ext cx="3538728" cy="384048"/>
          </a:xfrm>
          <a:prstGeom prst="rect">
            <a:avLst/>
          </a:prstGeom>
          <a:noFill/>
          <a:ln/>
        </p:spPr>
        <p:txBody>
          <a:bodyPr wrap="square" lIns="0" tIns="0" rIns="0" bIns="0" rtlCol="0" anchor="ctr"/>
          <a:lstStyle/>
          <a:p>
            <a:pPr indent="0" marL="0">
              <a:buNone/>
            </a:pPr>
            <a:r>
              <a:rPr lang="en-US" sz="1050" b="1" dirty="0">
                <a:solidFill>
                  <a:srgbClr val="1B3448"/>
                </a:solidFill>
                <a:latin typeface="Aptos" pitchFamily="34" charset="0"/>
                <a:ea typeface="Aptos" pitchFamily="34" charset="-122"/>
                <a:cs typeface="Aptos" pitchFamily="34" charset="-120"/>
              </a:rPr>
              <a:t>VISUAL BRIEF  /  D2 convergence recommendation panel</a:t>
            </a:r>
            <a:endParaRPr lang="en-US" sz="1050" dirty="0"/>
          </a:p>
        </p:txBody>
      </p:sp>
      <p:sp>
        <p:nvSpPr>
          <p:cNvPr id="23" name="Text 21"/>
          <p:cNvSpPr/>
          <p:nvPr/>
        </p:nvSpPr>
        <p:spPr>
          <a:xfrm>
            <a:off x="7845552" y="5650992"/>
            <a:ext cx="3538728" cy="265176"/>
          </a:xfrm>
          <a:prstGeom prst="rect">
            <a:avLst/>
          </a:prstGeom>
          <a:noFill/>
          <a:ln/>
        </p:spPr>
        <p:txBody>
          <a:bodyPr wrap="square" lIns="0" tIns="0" rIns="0" bIns="0" rtlCol="0" anchor="ctr"/>
          <a:lstStyle/>
          <a:p>
            <a:pPr indent="0" marL="0">
              <a:buNone/>
            </a:pPr>
            <a:r>
              <a:rPr lang="en-US" sz="900" dirty="0">
                <a:solidFill>
                  <a:srgbClr val="607585"/>
                </a:solidFill>
                <a:latin typeface="Aptos" pitchFamily="34" charset="0"/>
                <a:ea typeface="Aptos" pitchFamily="34" charset="-122"/>
                <a:cs typeface="Aptos" pitchFamily="34" charset="-120"/>
              </a:rPr>
              <a:t>Full image-generation prompt is in this slide's speaker notes.</a:t>
            </a:r>
            <a:endParaRPr lang="en-US" sz="900" dirty="0"/>
          </a:p>
        </p:txBody>
      </p:sp>
      <p:sp>
        <p:nvSpPr>
          <p:cNvPr id="24" name="Shape 22"/>
          <p:cNvSpPr/>
          <p:nvPr/>
        </p:nvSpPr>
        <p:spPr>
          <a:xfrm>
            <a:off x="603504" y="6318504"/>
            <a:ext cx="10972800" cy="0"/>
          </a:xfrm>
          <a:prstGeom prst="line">
            <a:avLst/>
          </a:prstGeom>
          <a:noFill/>
          <a:ln w="10160">
            <a:solidFill>
              <a:srgbClr val="D5E0E7"/>
            </a:solidFill>
            <a:prstDash val="solid"/>
          </a:ln>
        </p:spPr>
      </p:sp>
      <p:sp>
        <p:nvSpPr>
          <p:cNvPr id="25" name="Text 23"/>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EVALUATING HMI/SCADA AND CONVERGENCE</a:t>
            </a:r>
            <a:endParaRPr lang="en-US" sz="800" dirty="0"/>
          </a:p>
        </p:txBody>
      </p:sp>
      <p:sp>
        <p:nvSpPr>
          <p:cNvPr id="26" name="Text 24"/>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16 / 18</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C65E4E"/>
          </a:solidFill>
          <a:ln w="12700">
            <a:solidFill>
              <a:srgbClr val="C65E4E">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C65E4E"/>
                </a:solidFill>
                <a:latin typeface="Aptos" pitchFamily="34" charset="0"/>
                <a:ea typeface="Aptos" pitchFamily="34" charset="-122"/>
                <a:cs typeface="Aptos" pitchFamily="34" charset="-120"/>
              </a:rPr>
              <a:t>UNIT 5009    /    WEEK 08    /    LO2</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7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C65E4E"/>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C65E4E"/>
                </a:solidFill>
                <a:latin typeface="Aptos" pitchFamily="34" charset="0"/>
                <a:ea typeface="Aptos" pitchFamily="34" charset="-122"/>
                <a:cs typeface="Aptos" pitchFamily="34" charset="-120"/>
              </a:rPr>
              <a:t>M3 / D2</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3100" b="1" dirty="0">
                <a:solidFill>
                  <a:srgbClr val="1B3448"/>
                </a:solidFill>
                <a:latin typeface="Aptos Display" pitchFamily="34" charset="0"/>
                <a:ea typeface="Aptos Display" pitchFamily="34" charset="-122"/>
                <a:cs typeface="Aptos Display" pitchFamily="34" charset="-120"/>
              </a:rPr>
              <a:t>Full LO2 criterion audit</a:t>
            </a:r>
            <a:endParaRPr lang="en-US" sz="31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76656" y="1719072"/>
            <a:ext cx="1828800" cy="210312"/>
          </a:xfrm>
          <a:prstGeom prst="rect">
            <a:avLst/>
          </a:prstGeom>
          <a:noFill/>
          <a:ln/>
        </p:spPr>
        <p:txBody>
          <a:bodyPr wrap="square" lIns="0" tIns="0" rIns="0" bIns="0" rtlCol="0" anchor="ctr"/>
          <a:lstStyle/>
          <a:p>
            <a:pPr indent="0" marL="0">
              <a:buNone/>
            </a:pPr>
            <a:r>
              <a:rPr lang="en-US" sz="900" b="1" spc="100" kern="0" dirty="0">
                <a:solidFill>
                  <a:srgbClr val="C65E4E"/>
                </a:solidFill>
                <a:latin typeface="Aptos" pitchFamily="34" charset="0"/>
                <a:ea typeface="Aptos" pitchFamily="34" charset="-122"/>
                <a:cs typeface="Aptos" pitchFamily="34" charset="-120"/>
              </a:rPr>
              <a:t>KEY IDEAS</a:t>
            </a:r>
            <a:endParaRPr lang="en-US" sz="900" dirty="0"/>
          </a:p>
        </p:txBody>
      </p:sp>
      <p:sp>
        <p:nvSpPr>
          <p:cNvPr id="11" name="Shape 9"/>
          <p:cNvSpPr/>
          <p:nvPr/>
        </p:nvSpPr>
        <p:spPr>
          <a:xfrm>
            <a:off x="713232" y="2139696"/>
            <a:ext cx="100584" cy="100584"/>
          </a:xfrm>
          <a:prstGeom prst="ellipse">
            <a:avLst/>
          </a:prstGeom>
          <a:solidFill>
            <a:srgbClr val="C65E4E"/>
          </a:solidFill>
          <a:ln w="12700">
            <a:solidFill>
              <a:srgbClr val="C65E4E">
                <a:alpha val="0"/>
              </a:srgbClr>
            </a:solidFill>
            <a:prstDash val="solid"/>
          </a:ln>
        </p:spPr>
      </p:sp>
      <p:sp>
        <p:nvSpPr>
          <p:cNvPr id="12" name="Text 10"/>
          <p:cNvSpPr/>
          <p:nvPr/>
        </p:nvSpPr>
        <p:spPr>
          <a:xfrm>
            <a:off x="969264" y="2029968"/>
            <a:ext cx="6327648" cy="804672"/>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P3: link/protocol distinctions; P4: networked bus benefits and trade-offs; M2: shown architecture/tag mapping; M3: balanced evaluation; D2: justified convergence rationale wit...</a:t>
            </a:r>
            <a:endParaRPr lang="en-US" sz="1650" dirty="0"/>
          </a:p>
        </p:txBody>
      </p:sp>
      <p:sp>
        <p:nvSpPr>
          <p:cNvPr id="13" name="Shape 11"/>
          <p:cNvSpPr/>
          <p:nvPr/>
        </p:nvSpPr>
        <p:spPr>
          <a:xfrm>
            <a:off x="713232" y="3054096"/>
            <a:ext cx="100584" cy="100584"/>
          </a:xfrm>
          <a:prstGeom prst="ellipse">
            <a:avLst/>
          </a:prstGeom>
          <a:solidFill>
            <a:srgbClr val="C65E4E"/>
          </a:solidFill>
          <a:ln w="12700">
            <a:solidFill>
              <a:srgbClr val="C65E4E">
                <a:alpha val="0"/>
              </a:srgbClr>
            </a:solidFill>
            <a:prstDash val="solid"/>
          </a:ln>
        </p:spPr>
      </p:sp>
      <p:sp>
        <p:nvSpPr>
          <p:cNvPr id="14" name="Text 12"/>
          <p:cNvSpPr/>
          <p:nvPr/>
        </p:nvSpPr>
        <p:spPr>
          <a:xfrm>
            <a:off x="969264" y="2944368"/>
            <a:ext cx="6327648" cy="329184"/>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Identify evidence gaps and assign a concrete completion action.</a:t>
            </a:r>
            <a:endParaRPr lang="en-US" sz="1650" dirty="0"/>
          </a:p>
        </p:txBody>
      </p:sp>
      <p:sp>
        <p:nvSpPr>
          <p:cNvPr id="15" name="Shape 13"/>
          <p:cNvSpPr/>
          <p:nvPr/>
        </p:nvSpPr>
        <p:spPr>
          <a:xfrm>
            <a:off x="7644384" y="1746504"/>
            <a:ext cx="3941064" cy="4352544"/>
          </a:xfrm>
          <a:prstGeom prst="rect">
            <a:avLst/>
          </a:prstGeom>
          <a:solidFill>
            <a:srgbClr val="E8EFF3"/>
          </a:solidFill>
          <a:ln w="15240">
            <a:solidFill>
              <a:srgbClr val="C8D5DE"/>
            </a:solidFill>
            <a:prstDash val="solid"/>
          </a:ln>
        </p:spPr>
      </p:sp>
      <p:sp>
        <p:nvSpPr>
          <p:cNvPr id="16" name="Text 14"/>
          <p:cNvSpPr/>
          <p:nvPr/>
        </p:nvSpPr>
        <p:spPr>
          <a:xfrm>
            <a:off x="7845552" y="1911096"/>
            <a:ext cx="3538728" cy="246888"/>
          </a:xfrm>
          <a:prstGeom prst="rect">
            <a:avLst/>
          </a:prstGeom>
          <a:noFill/>
          <a:ln/>
        </p:spPr>
        <p:txBody>
          <a:bodyPr wrap="square" lIns="0" tIns="0" rIns="0" bIns="0" rtlCol="0" anchor="ctr"/>
          <a:lstStyle/>
          <a:p>
            <a:pPr indent="0" marL="0">
              <a:buNone/>
            </a:pPr>
            <a:r>
              <a:rPr lang="en-US" sz="900" b="1" spc="80" kern="0" dirty="0">
                <a:solidFill>
                  <a:srgbClr val="C65E4E"/>
                </a:solidFill>
                <a:latin typeface="Aptos" pitchFamily="34" charset="0"/>
                <a:ea typeface="Aptos" pitchFamily="34" charset="-122"/>
                <a:cs typeface="Aptos" pitchFamily="34" charset="-120"/>
              </a:rPr>
              <a:t>IMAGE PLACEHOLDER</a:t>
            </a:r>
            <a:endParaRPr lang="en-US" sz="900" dirty="0"/>
          </a:p>
        </p:txBody>
      </p:sp>
      <p:sp>
        <p:nvSpPr>
          <p:cNvPr id="17" name="Text 15"/>
          <p:cNvSpPr/>
          <p:nvPr/>
        </p:nvSpPr>
        <p:spPr>
          <a:xfrm>
            <a:off x="7900416" y="3072384"/>
            <a:ext cx="3429000" cy="347472"/>
          </a:xfrm>
          <a:prstGeom prst="rect">
            <a:avLst/>
          </a:prstGeom>
          <a:noFill/>
          <a:ln/>
        </p:spPr>
        <p:txBody>
          <a:bodyPr wrap="square" lIns="0" tIns="0" rIns="0" bIns="0" rtlCol="0" anchor="ctr"/>
          <a:lstStyle/>
          <a:p>
            <a:pPr algn="ctr" indent="0" marL="0">
              <a:buNone/>
            </a:pPr>
            <a:r>
              <a:rPr lang="en-US" sz="1700" b="1" dirty="0">
                <a:solidFill>
                  <a:srgbClr val="7A8F9D"/>
                </a:solidFill>
                <a:latin typeface="Aptos Display" pitchFamily="34" charset="0"/>
                <a:ea typeface="Aptos Display" pitchFamily="34" charset="-122"/>
                <a:cs typeface="Aptos Display" pitchFamily="34" charset="-120"/>
              </a:rPr>
              <a:t>ADD PHOTO OR DIAGRAM</a:t>
            </a:r>
            <a:endParaRPr lang="en-US" sz="1700" dirty="0"/>
          </a:p>
        </p:txBody>
      </p:sp>
      <p:sp>
        <p:nvSpPr>
          <p:cNvPr id="18" name="Text 16"/>
          <p:cNvSpPr/>
          <p:nvPr/>
        </p:nvSpPr>
        <p:spPr>
          <a:xfrm>
            <a:off x="7900416" y="3465576"/>
            <a:ext cx="3429000" cy="301752"/>
          </a:xfrm>
          <a:prstGeom prst="rect">
            <a:avLst/>
          </a:prstGeom>
          <a:noFill/>
          <a:ln/>
        </p:spPr>
        <p:txBody>
          <a:bodyPr wrap="square" lIns="0" tIns="0" rIns="0" bIns="0" rtlCol="0" anchor="ctr"/>
          <a:lstStyle/>
          <a:p>
            <a:pPr algn="ctr" indent="0" marL="0">
              <a:buNone/>
            </a:pPr>
            <a:r>
              <a:rPr lang="en-US" sz="1150" dirty="0">
                <a:solidFill>
                  <a:srgbClr val="607585"/>
                </a:solidFill>
                <a:latin typeface="Aptos" pitchFamily="34" charset="0"/>
                <a:ea typeface="Aptos" pitchFamily="34" charset="-122"/>
                <a:cs typeface="Aptos" pitchFamily="34" charset="-120"/>
              </a:rPr>
              <a:t>Leave this area open for the final visual</a:t>
            </a:r>
            <a:endParaRPr lang="en-US" sz="1150" dirty="0"/>
          </a:p>
        </p:txBody>
      </p:sp>
      <p:sp>
        <p:nvSpPr>
          <p:cNvPr id="19" name="Shape 17"/>
          <p:cNvSpPr/>
          <p:nvPr/>
        </p:nvSpPr>
        <p:spPr>
          <a:xfrm>
            <a:off x="7845552" y="5111496"/>
            <a:ext cx="3538728" cy="0"/>
          </a:xfrm>
          <a:prstGeom prst="line">
            <a:avLst/>
          </a:prstGeom>
          <a:noFill/>
          <a:ln w="12700">
            <a:solidFill>
              <a:srgbClr val="C8D5DE"/>
            </a:solidFill>
            <a:prstDash val="solid"/>
          </a:ln>
        </p:spPr>
      </p:sp>
      <p:sp>
        <p:nvSpPr>
          <p:cNvPr id="20" name="Text 18"/>
          <p:cNvSpPr/>
          <p:nvPr/>
        </p:nvSpPr>
        <p:spPr>
          <a:xfrm>
            <a:off x="7845552" y="5239512"/>
            <a:ext cx="3538728" cy="384048"/>
          </a:xfrm>
          <a:prstGeom prst="rect">
            <a:avLst/>
          </a:prstGeom>
          <a:noFill/>
          <a:ln/>
        </p:spPr>
        <p:txBody>
          <a:bodyPr wrap="square" lIns="0" tIns="0" rIns="0" bIns="0" rtlCol="0" anchor="ctr"/>
          <a:lstStyle/>
          <a:p>
            <a:pPr indent="0" marL="0">
              <a:buNone/>
            </a:pPr>
            <a:r>
              <a:rPr lang="en-US" sz="1050" b="1" dirty="0">
                <a:solidFill>
                  <a:srgbClr val="1B3448"/>
                </a:solidFill>
                <a:latin typeface="Aptos" pitchFamily="34" charset="0"/>
                <a:ea typeface="Aptos" pitchFamily="34" charset="-122"/>
                <a:cs typeface="Aptos" pitchFamily="34" charset="-120"/>
              </a:rPr>
              <a:t>VISUAL BRIEF  /  Full LO2 criterion audit</a:t>
            </a:r>
            <a:endParaRPr lang="en-US" sz="1050" dirty="0"/>
          </a:p>
        </p:txBody>
      </p:sp>
      <p:sp>
        <p:nvSpPr>
          <p:cNvPr id="21" name="Text 19"/>
          <p:cNvSpPr/>
          <p:nvPr/>
        </p:nvSpPr>
        <p:spPr>
          <a:xfrm>
            <a:off x="7845552" y="5650992"/>
            <a:ext cx="3538728" cy="265176"/>
          </a:xfrm>
          <a:prstGeom prst="rect">
            <a:avLst/>
          </a:prstGeom>
          <a:noFill/>
          <a:ln/>
        </p:spPr>
        <p:txBody>
          <a:bodyPr wrap="square" lIns="0" tIns="0" rIns="0" bIns="0" rtlCol="0" anchor="ctr"/>
          <a:lstStyle/>
          <a:p>
            <a:pPr indent="0" marL="0">
              <a:buNone/>
            </a:pPr>
            <a:r>
              <a:rPr lang="en-US" sz="900" dirty="0">
                <a:solidFill>
                  <a:srgbClr val="607585"/>
                </a:solidFill>
                <a:latin typeface="Aptos" pitchFamily="34" charset="0"/>
                <a:ea typeface="Aptos" pitchFamily="34" charset="-122"/>
                <a:cs typeface="Aptos" pitchFamily="34" charset="-120"/>
              </a:rPr>
              <a:t>Full image-generation prompt is in this slide's speaker notes.</a:t>
            </a:r>
            <a:endParaRPr lang="en-US" sz="900" dirty="0"/>
          </a:p>
        </p:txBody>
      </p:sp>
      <p:sp>
        <p:nvSpPr>
          <p:cNvPr id="22" name="Shape 20"/>
          <p:cNvSpPr/>
          <p:nvPr/>
        </p:nvSpPr>
        <p:spPr>
          <a:xfrm>
            <a:off x="603504" y="6318504"/>
            <a:ext cx="10972800" cy="0"/>
          </a:xfrm>
          <a:prstGeom prst="line">
            <a:avLst/>
          </a:prstGeom>
          <a:noFill/>
          <a:ln w="10160">
            <a:solidFill>
              <a:srgbClr val="D5E0E7"/>
            </a:solidFill>
            <a:prstDash val="solid"/>
          </a:ln>
        </p:spPr>
      </p:sp>
      <p:sp>
        <p:nvSpPr>
          <p:cNvPr id="23" name="Text 21"/>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EVALUATING HMI/SCADA AND CONVERGENCE</a:t>
            </a:r>
            <a:endParaRPr lang="en-US" sz="800" dirty="0"/>
          </a:p>
        </p:txBody>
      </p:sp>
      <p:sp>
        <p:nvSpPr>
          <p:cNvPr id="24" name="Text 22"/>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17 / 18</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C65E4E"/>
          </a:solidFill>
          <a:ln w="12700">
            <a:solidFill>
              <a:srgbClr val="C65E4E">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C65E4E"/>
                </a:solidFill>
                <a:latin typeface="Aptos" pitchFamily="34" charset="0"/>
                <a:ea typeface="Aptos" pitchFamily="34" charset="-122"/>
                <a:cs typeface="Aptos" pitchFamily="34" charset="-120"/>
              </a:rPr>
              <a:t>UNIT 5009    /    WEEK 08    /    LO2</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8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C65E4E"/>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C65E4E"/>
                </a:solidFill>
                <a:latin typeface="Aptos" pitchFamily="34" charset="0"/>
                <a:ea typeface="Aptos" pitchFamily="34" charset="-122"/>
                <a:cs typeface="Aptos" pitchFamily="34" charset="-120"/>
              </a:rPr>
              <a:t>M3 / D2</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3100" b="1" dirty="0">
                <a:solidFill>
                  <a:srgbClr val="1B3448"/>
                </a:solidFill>
                <a:latin typeface="Aptos Display" pitchFamily="34" charset="0"/>
                <a:ea typeface="Aptos Display" pitchFamily="34" charset="-122"/>
                <a:cs typeface="Aptos Display" pitchFamily="34" charset="-120"/>
              </a:rPr>
              <a:t>Final exit: conditional recommendation</a:t>
            </a:r>
            <a:endParaRPr lang="en-US" sz="31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76656" y="1719072"/>
            <a:ext cx="1828800" cy="210312"/>
          </a:xfrm>
          <a:prstGeom prst="rect">
            <a:avLst/>
          </a:prstGeom>
          <a:noFill/>
          <a:ln/>
        </p:spPr>
        <p:txBody>
          <a:bodyPr wrap="square" lIns="0" tIns="0" rIns="0" bIns="0" rtlCol="0" anchor="ctr"/>
          <a:lstStyle/>
          <a:p>
            <a:pPr indent="0" marL="0">
              <a:buNone/>
            </a:pPr>
            <a:r>
              <a:rPr lang="en-US" sz="900" b="1" spc="100" kern="0" dirty="0">
                <a:solidFill>
                  <a:srgbClr val="C65E4E"/>
                </a:solidFill>
                <a:latin typeface="Aptos" pitchFamily="34" charset="0"/>
                <a:ea typeface="Aptos" pitchFamily="34" charset="-122"/>
                <a:cs typeface="Aptos" pitchFamily="34" charset="-120"/>
              </a:rPr>
              <a:t>KEY IDEAS</a:t>
            </a:r>
            <a:endParaRPr lang="en-US" sz="900" dirty="0"/>
          </a:p>
        </p:txBody>
      </p:sp>
      <p:sp>
        <p:nvSpPr>
          <p:cNvPr id="11" name="Shape 9"/>
          <p:cNvSpPr/>
          <p:nvPr/>
        </p:nvSpPr>
        <p:spPr>
          <a:xfrm>
            <a:off x="713232" y="2139696"/>
            <a:ext cx="100584" cy="100584"/>
          </a:xfrm>
          <a:prstGeom prst="ellipse">
            <a:avLst/>
          </a:prstGeom>
          <a:solidFill>
            <a:srgbClr val="C65E4E"/>
          </a:solidFill>
          <a:ln w="12700">
            <a:solidFill>
              <a:srgbClr val="C65E4E">
                <a:alpha val="0"/>
              </a:srgbClr>
            </a:solidFill>
            <a:prstDash val="solid"/>
          </a:ln>
        </p:spPr>
      </p:sp>
      <p:sp>
        <p:nvSpPr>
          <p:cNvPr id="12" name="Text 10"/>
          <p:cNvSpPr/>
          <p:nvPr/>
        </p:nvSpPr>
        <p:spPr>
          <a:xfrm>
            <a:off x="969264" y="2029968"/>
            <a:ext cx="6327648" cy="804672"/>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State whether and how MedPack should converge PLC/HMI/SCADA; give two reasons, one risk and control, and one condition that could change the decision.</a:t>
            </a:r>
            <a:endParaRPr lang="en-US" sz="1650" dirty="0"/>
          </a:p>
        </p:txBody>
      </p:sp>
      <p:sp>
        <p:nvSpPr>
          <p:cNvPr id="13" name="Shape 11"/>
          <p:cNvSpPr/>
          <p:nvPr/>
        </p:nvSpPr>
        <p:spPr>
          <a:xfrm>
            <a:off x="7644384" y="1746504"/>
            <a:ext cx="3941064" cy="4352544"/>
          </a:xfrm>
          <a:prstGeom prst="rect">
            <a:avLst/>
          </a:prstGeom>
          <a:solidFill>
            <a:srgbClr val="E8EFF3"/>
          </a:solidFill>
          <a:ln w="15240">
            <a:solidFill>
              <a:srgbClr val="C8D5DE"/>
            </a:solidFill>
            <a:prstDash val="solid"/>
          </a:ln>
        </p:spPr>
      </p:sp>
      <p:sp>
        <p:nvSpPr>
          <p:cNvPr id="14" name="Text 12"/>
          <p:cNvSpPr/>
          <p:nvPr/>
        </p:nvSpPr>
        <p:spPr>
          <a:xfrm>
            <a:off x="7845552" y="1911096"/>
            <a:ext cx="3538728" cy="246888"/>
          </a:xfrm>
          <a:prstGeom prst="rect">
            <a:avLst/>
          </a:prstGeom>
          <a:noFill/>
          <a:ln/>
        </p:spPr>
        <p:txBody>
          <a:bodyPr wrap="square" lIns="0" tIns="0" rIns="0" bIns="0" rtlCol="0" anchor="ctr"/>
          <a:lstStyle/>
          <a:p>
            <a:pPr indent="0" marL="0">
              <a:buNone/>
            </a:pPr>
            <a:r>
              <a:rPr lang="en-US" sz="900" b="1" spc="80" kern="0" dirty="0">
                <a:solidFill>
                  <a:srgbClr val="C65E4E"/>
                </a:solidFill>
                <a:latin typeface="Aptos" pitchFamily="34" charset="0"/>
                <a:ea typeface="Aptos" pitchFamily="34" charset="-122"/>
                <a:cs typeface="Aptos" pitchFamily="34" charset="-120"/>
              </a:rPr>
              <a:t>IMAGE PLACEHOLDER</a:t>
            </a:r>
            <a:endParaRPr lang="en-US" sz="900" dirty="0"/>
          </a:p>
        </p:txBody>
      </p:sp>
      <p:sp>
        <p:nvSpPr>
          <p:cNvPr id="15" name="Text 13"/>
          <p:cNvSpPr/>
          <p:nvPr/>
        </p:nvSpPr>
        <p:spPr>
          <a:xfrm>
            <a:off x="7900416" y="3072384"/>
            <a:ext cx="3429000" cy="347472"/>
          </a:xfrm>
          <a:prstGeom prst="rect">
            <a:avLst/>
          </a:prstGeom>
          <a:noFill/>
          <a:ln/>
        </p:spPr>
        <p:txBody>
          <a:bodyPr wrap="square" lIns="0" tIns="0" rIns="0" bIns="0" rtlCol="0" anchor="ctr"/>
          <a:lstStyle/>
          <a:p>
            <a:pPr algn="ctr" indent="0" marL="0">
              <a:buNone/>
            </a:pPr>
            <a:r>
              <a:rPr lang="en-US" sz="1700" b="1" dirty="0">
                <a:solidFill>
                  <a:srgbClr val="7A8F9D"/>
                </a:solidFill>
                <a:latin typeface="Aptos Display" pitchFamily="34" charset="0"/>
                <a:ea typeface="Aptos Display" pitchFamily="34" charset="-122"/>
                <a:cs typeface="Aptos Display" pitchFamily="34" charset="-120"/>
              </a:rPr>
              <a:t>ADD PHOTO OR DIAGRAM</a:t>
            </a:r>
            <a:endParaRPr lang="en-US" sz="1700" dirty="0"/>
          </a:p>
        </p:txBody>
      </p:sp>
      <p:sp>
        <p:nvSpPr>
          <p:cNvPr id="16" name="Text 14"/>
          <p:cNvSpPr/>
          <p:nvPr/>
        </p:nvSpPr>
        <p:spPr>
          <a:xfrm>
            <a:off x="7900416" y="3465576"/>
            <a:ext cx="3429000" cy="301752"/>
          </a:xfrm>
          <a:prstGeom prst="rect">
            <a:avLst/>
          </a:prstGeom>
          <a:noFill/>
          <a:ln/>
        </p:spPr>
        <p:txBody>
          <a:bodyPr wrap="square" lIns="0" tIns="0" rIns="0" bIns="0" rtlCol="0" anchor="ctr"/>
          <a:lstStyle/>
          <a:p>
            <a:pPr algn="ctr" indent="0" marL="0">
              <a:buNone/>
            </a:pPr>
            <a:r>
              <a:rPr lang="en-US" sz="1150" dirty="0">
                <a:solidFill>
                  <a:srgbClr val="607585"/>
                </a:solidFill>
                <a:latin typeface="Aptos" pitchFamily="34" charset="0"/>
                <a:ea typeface="Aptos" pitchFamily="34" charset="-122"/>
                <a:cs typeface="Aptos" pitchFamily="34" charset="-120"/>
              </a:rPr>
              <a:t>Leave this area open for the final visual</a:t>
            </a:r>
            <a:endParaRPr lang="en-US" sz="1150" dirty="0"/>
          </a:p>
        </p:txBody>
      </p:sp>
      <p:sp>
        <p:nvSpPr>
          <p:cNvPr id="17" name="Shape 15"/>
          <p:cNvSpPr/>
          <p:nvPr/>
        </p:nvSpPr>
        <p:spPr>
          <a:xfrm>
            <a:off x="7845552" y="5111496"/>
            <a:ext cx="3538728" cy="0"/>
          </a:xfrm>
          <a:prstGeom prst="line">
            <a:avLst/>
          </a:prstGeom>
          <a:noFill/>
          <a:ln w="12700">
            <a:solidFill>
              <a:srgbClr val="C8D5DE"/>
            </a:solidFill>
            <a:prstDash val="solid"/>
          </a:ln>
        </p:spPr>
      </p:sp>
      <p:sp>
        <p:nvSpPr>
          <p:cNvPr id="18" name="Text 16"/>
          <p:cNvSpPr/>
          <p:nvPr/>
        </p:nvSpPr>
        <p:spPr>
          <a:xfrm>
            <a:off x="7845552" y="5239512"/>
            <a:ext cx="3538728" cy="384048"/>
          </a:xfrm>
          <a:prstGeom prst="rect">
            <a:avLst/>
          </a:prstGeom>
          <a:noFill/>
          <a:ln/>
        </p:spPr>
        <p:txBody>
          <a:bodyPr wrap="square" lIns="0" tIns="0" rIns="0" bIns="0" rtlCol="0" anchor="ctr"/>
          <a:lstStyle/>
          <a:p>
            <a:pPr indent="0" marL="0">
              <a:buNone/>
            </a:pPr>
            <a:r>
              <a:rPr lang="en-US" sz="1050" b="1" dirty="0">
                <a:solidFill>
                  <a:srgbClr val="1B3448"/>
                </a:solidFill>
                <a:latin typeface="Aptos" pitchFamily="34" charset="0"/>
                <a:ea typeface="Aptos" pitchFamily="34" charset="-122"/>
                <a:cs typeface="Aptos" pitchFamily="34" charset="-120"/>
              </a:rPr>
              <a:t>VISUAL BRIEF  /  Final exit: conditional recommendation</a:t>
            </a:r>
            <a:endParaRPr lang="en-US" sz="1050" dirty="0"/>
          </a:p>
        </p:txBody>
      </p:sp>
      <p:sp>
        <p:nvSpPr>
          <p:cNvPr id="19" name="Text 17"/>
          <p:cNvSpPr/>
          <p:nvPr/>
        </p:nvSpPr>
        <p:spPr>
          <a:xfrm>
            <a:off x="7845552" y="5650992"/>
            <a:ext cx="3538728" cy="265176"/>
          </a:xfrm>
          <a:prstGeom prst="rect">
            <a:avLst/>
          </a:prstGeom>
          <a:noFill/>
          <a:ln/>
        </p:spPr>
        <p:txBody>
          <a:bodyPr wrap="square" lIns="0" tIns="0" rIns="0" bIns="0" rtlCol="0" anchor="ctr"/>
          <a:lstStyle/>
          <a:p>
            <a:pPr indent="0" marL="0">
              <a:buNone/>
            </a:pPr>
            <a:r>
              <a:rPr lang="en-US" sz="900" dirty="0">
                <a:solidFill>
                  <a:srgbClr val="607585"/>
                </a:solidFill>
                <a:latin typeface="Aptos" pitchFamily="34" charset="0"/>
                <a:ea typeface="Aptos" pitchFamily="34" charset="-122"/>
                <a:cs typeface="Aptos" pitchFamily="34" charset="-120"/>
              </a:rPr>
              <a:t>Full image-generation prompt is in this slide's speaker notes.</a:t>
            </a:r>
            <a:endParaRPr lang="en-US" sz="900" dirty="0"/>
          </a:p>
        </p:txBody>
      </p:sp>
      <p:sp>
        <p:nvSpPr>
          <p:cNvPr id="20" name="Shape 18"/>
          <p:cNvSpPr/>
          <p:nvPr/>
        </p:nvSpPr>
        <p:spPr>
          <a:xfrm>
            <a:off x="603504" y="6318504"/>
            <a:ext cx="10972800" cy="0"/>
          </a:xfrm>
          <a:prstGeom prst="line">
            <a:avLst/>
          </a:prstGeom>
          <a:noFill/>
          <a:ln w="10160">
            <a:solidFill>
              <a:srgbClr val="D5E0E7"/>
            </a:solidFill>
            <a:prstDash val="solid"/>
          </a:ln>
        </p:spPr>
      </p:sp>
      <p:sp>
        <p:nvSpPr>
          <p:cNvPr id="21" name="Text 19"/>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EVALUATING HMI/SCADA AND CONVERGENCE</a:t>
            </a:r>
            <a:endParaRPr lang="en-US" sz="800" dirty="0"/>
          </a:p>
        </p:txBody>
      </p:sp>
      <p:sp>
        <p:nvSpPr>
          <p:cNvPr id="22" name="Text 20"/>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18 / 18</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Unit 5009</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08: Evaluating HMI/SCADA and Convergence</dc:title>
  <dc:subject>LO2 weekly teaching presentation</dc:subject>
  <dc:creator>Unit 5009 Teaching Materials</dc:creator>
  <cp:lastModifiedBy>Unit 5009 Teaching Materials</cp:lastModifiedBy>
  <cp:revision>1</cp:revision>
  <dcterms:created xsi:type="dcterms:W3CDTF">2026-10-13T19:12:29Z</dcterms:created>
  <dcterms:modified xsi:type="dcterms:W3CDTF">2026-10-13T19:12:29Z</dcterms:modified>
</cp:coreProperties>
</file>