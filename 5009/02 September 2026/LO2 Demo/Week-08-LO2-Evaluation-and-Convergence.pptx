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 of 18 | Suggested time: 5 minutes | Criteria: M3 / D2
TEACHING NOTES AND ACTIVITY CUES
1. Decision question: should a single MedPack station, and then a growing multi-station line, connect to a shared supervisory system? Separate the two operating scales before deciding.
2. Have learners vote yes/no/conditional and give one measurable need such as multi-station visibility, alarm coordination, history, or remote maintenance.
3. Expected opening position is conditional: the value depends on number of assets, required data/use, lifecycle cost, network/cyber controls, and what must continue locally.
TEACHING VISUAL
This slide has a reserved image bay. Add the image described below.
OPTIONAL IMAGE PROMPT
Original packaging-line manager reviewing one local station and a proposed multi-station supervisory display, with screens and papers containing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2 of 18 | Suggested time: 5 minutes | Criteria: M3 / D2
TEACHING NOTES AND ACTIVITY CUES
1. Reconstruct the Week 7 path from MedPack sensor and actuator through PLC/I/O, network/bus, HMI, SCADA/dashboard, and any historian or reporting service.
2. Identify the actual or assumed protocol, endpoint roles, mapped tags, data direction, and where local sequencing and safety functions reside.
3. Expected check: distinguish a valid PLC value from stale/unknown data and identify which services may be lost without stopping essential local control.
TEACHING VISUAL
The slide uses an editable control system layers diagram. Keep it unless the prompted image communicates the idea more clearly.
OPTIONAL IMAGE PROMPT
Original layered MedPack architecture with field devices, PLC, bus, HMI, supervisory workstation, historian, and a separate safety boundary;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3 of 18 | Suggested time: 5 minutes | Criteria: M3 / D2
TEACHING NOTES AND ACTIVITY CUES
1. LO2.M3 requires evaluation of HMI/SCADA benefits and limitations, then a conclusion justified for the particular industrial application.
2. LO2.D2 requires a valid rationale for PLC/HMI/SCADA convergence that explains drivers and balances benefits against risks and proportionate controls.
3. Today’s evidence is a scenario-based comparison, an architecture showing shared and local functions, and a recommendation whose assumptions and conditions are explicit.
TEACHING VISUAL
The slide uses an editable decision method diagram. Keep it unless the prompted image communicates the idea more clearly.
OPTIONAL IMAGE PROMPT
Original balance-scale composition with HMI/SCADA operational benefits on one side and cost, dependency, and cyber-risk symbols on the other; no labels 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4 of 18 | Suggested time: 12 minutes | Criteria: M3 / D2
TEACHING NOTES AND ACTIVITY CUES
1. A local HMI can present MedPack run/idle/fault state, pill count versus target, actionable fault context, and permitted operator requests such as Start or Reset.
2. A well-designed alarm should identify the condition and useful response priority; acknowledgement records operator awareness but does not clear the underlying cause or prove a safe state.
3. Compare a focused station display with an overloaded screen: poor grouping, ambiguous units, or alarm flooding can increase response time and operator error.
4. Evaluate usefulness by naming the operator decision, data freshness/quality needed, training requirement, and evidence that the screen supports the task.
TEACHING VISUAL
The slide uses an editable control system layers diagram. Keep it unless the prompted image communicates the idea more clearly.
OPTIONAL IMAGE PROMPT
Original operator-facing MedPack HMI concept with clear status hierarchy, count-versus-target graphic, prioritized alarm shapes, and a permitted command area; no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5 of 18 | Suggested time: 13 minutes | Criteria: M3 / D2
TEACHING NOTES AND ACTIVITY CUES
1. SCADA can aggregate state, alarms/events, trends, and production indicators across MedPack stations so a supervisor or maintenance engineer can compare performance and locate recurring interruptions.
2. Example decision: a trend of repeated sensor faults may justify inspecting alignment or cable routing; the trend is useful only if timestamps, tag mapping, quality, and event context are trustworthy.
3. Live PLC values, historian samples, and controlled production/quality records have different update, retention, validation, and governance requirements; do not treat them as interchangeable.
4. Expected evaluation states which user acts on the information, what decision improves, and what data-quality or retention controls are needed.
TEACHING VISUAL
The slide uses an editable control system layers diagram. Keep it unless the prompted image communicates the idea more clearly.
OPTIONAL IMAGE PROMPT
Original multi-station SCADA overview with several packaging cells, alarm/event timeline, and count trends represented graphically but without text or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6 of 18 | Suggested time: 12 minutes | Criteria: M3 / D2
TEACHING NOTES AND ACTIVITY CUES
1. Whole-life costs include hardware, software/licensing, engineering, validation where required, commissioning, training, support, backups, upgrades, and lifecycle replacement, not only the initial workstation.
2. More screens and data do not guarantee better operation: stale/mis-mapped tags, alarm floods, poor usability, or unclear ownership can reduce trust and delay action.
3. One isolated MedPack station may be adequately served by a local HMI; multi-station coordination, long-term trends, or central alarm handling may justify SCADA if the added services are genuinely used.
4. Compare station count, downtime impact, data/report needs, staff capability, support lifecycle, and network dependency; state when a simpler design is preferable.
TEACHING VISUAL
The slide uses an editable decision method diagram. Keep it unless the prompted image communicates the idea more clearly.
OPTIONAL IMAGE PROMPT
Original comparison scene of a single local operator panel beside a larger multi-station SCADA room, with lifecycle cost and maintenance objects but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7 of 18 | Suggested time: 13 minutes | Criteria: M3 / D2
TEACHING NOTES AND ACTIVITY CUES
1. Activity procedure: select one HMI function and one SCADA function, then complete columns for benefit, user/stakeholder, evidence, limitation, consequence, and mitigation.
2. Worked prompt: HMI fault detail may shorten diagnosis when the fault code and remedy are accurate; test this against training, alarm quality, and stale-value risks.
3. For a SCADA trend, identify the production/maintenance decision it supports and verify timestamp, sample rate, tag quality, retention, and record classification.
4. Expected debrief is a conditional judgement, not a feature list: name evidence that supports the benefit and a realistic condition that would weaken it.
TEACHING VISUAL
The slide uses an editable comparison framework diagram. Keep it unless the prompted image communicates the idea more clearly.
OPTIONAL IMAGE PROMPT
Original evaluation worksheet layout with six blank columns beside a MedPack HMI and SCADA trend illustration, with no writing or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8 of 18 | Suggested time: 10 minutes | Criteria: M3 / D2
TEACHING NOTES AND ACTIVITY CUES
1. In this context, convergence means closer integration and sharing of data, networks, engineering tools, and workflows among PLC control, HMI/SCADA, and higher-level information systems.
2. Convergence can use linked but segmented networks, gateways, common data models, or coordinated services; it does not require one device, one flat network, or one software product.
3. MedPack example: a PLC publishes line state to SCADA for trends while local PLC sequencing remains authoritative and enterprise reporting receives approved production indicators.
4. Correct misconception: shared data access does not automatically grant control authority or make distinct protocols and security zones interchangeable.
TEACHING VISUAL
The slide uses an editable control system layers diagram. Keep it unless the prompted image communicates the idea more clearly.
OPTIONAL IMAGE PROMPT
Original architecture visualization showing separate PLC, HMI/SCADA, and enterprise layers exchanging selected data through controlled interfaces, with no labels 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9 of 18 | Suggested time: 15 minutes | Criteria: M3 / D2
TEACHING NOTES AND ACTIVITY CUES
1. Drivers include wider availability of compatible network infrastructure, reusable device data, cross-station visibility, reporting, remote diagnostics, lifecycle coordination, and collaboration between operations and IT teams.
2. For one MedPack station, local diagnosis and a reliable operator interface may outweigh enterprise data integration; for several stations, comparing downtime and trends may support scheduling and maintenance decisions.
3. Every driver has conditions: consistent tag definitions, clock/timestamp quality, network design, access control, support ownership, and clear purpose for collected data.
4. Expected comparison names which stakeholder gains value and what measurable decision or operating outcome improves at each scale.
TEACHING VISUAL
This slide has a reserved image bay. Add the image described below.
OPTIONAL IMAGE PROMPT
Original factory illustration with several packaging stations sharing selected status and trend data with operations and maintenance teams through controlled network paths;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10 of 18 | Suggested time: 10 minutes | Criteria: M3 / D2
TEACHING NOTES AND ACTIVITY CUES
1. Procedure: draw field devices and local PLC control, HMI/SCADA services, historian/reporting, and any enterprise or remote-support connection as distinct functional layers.
2. Mark each permitted data flow, protocol/interface, owner, direction, and boundary; identify where read-only monitoring is sufficient and where a command request is allowed.
3. Keep essential sequence and independent safety functions local to their engineered control/safety design; ordinary supervisory availability must not be required for E-stop operation.
4. Expected debrief: shared infrastructure can support visibility, while segmentation and explicit interfaces limit unnecessary access and shared failure exposure.
TEACHING VISUAL
The slide uses an editable control system layers diagram. Keep it unless the prompted image communicates the idea more clearly.
OPTIONAL IMAGE PROMPT
Original layered MedPack network architecture with field/control, supervisory, and enterprise areas, controlled data gateways, local PLC logic, and separate safety system;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11 of 18 | Suggested time: 10 minutes | Criteria: M3 / D2
TEACHING NOTES AND ACTIVITY CUES
1. An unauthorised write to a command/setpoint, compromised remote account, malware spread across a flat network, or unsupported endpoint can disrupt production or complicate recovery.
2. A network outage or stale tag can mislead an operator; shared switch/power failure can affect multiple stations, while poor account management obscures who changed a configuration.
3. For each MedPack risk, record initiating event, affected asset/data, operational consequence, detection method, and recovery need; distinguish cybersecurity from ordinary component failure while considering both.
4. Expected discussion avoids claiming that a firewall, antivirus tool, or isolated subnet alone guarantees security or safe process behavior.
TEACHING VISUAL
The slide uses an editable fault and risk path diagram. Keep it unless the prompted image communicates the idea more clearly.
OPTIONAL IMAGE PROMPT
Original risk-path diagram showing remote access, a network switch, multiple packaging stations, stale dashboard data, and a controlled recovery boundary;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12 of 18 | Suggested time: 15 minutes | Criteria: M3 / D2
TEACHING NOTES AND ACTIVITY CUES
1. Define zones and controlled conduits for PLC/control, supervisory, and enterprise/remote-support traffic; allow only documented flows needed for MedPack operation and maintenance.
2. Apply named accounts, least privilege, role separation, controlled time-limited remote access, configuration/change approval, event monitoring, and tested backups with a practical restore procedure.
3. Plan patching and lifecycle support against production and validation constraints; include network-device configuration and PLC/HMI project backups, not just workstation files.
4. Verify controls against the actual site architecture and risk assessment; maintain independent engineered safety functions and essential local control without relying on ordinary SCADA availability.
TEACHING VISUAL
The slide uses an editable network security zones diagram. Keep it unless the prompted image communicates the idea more clearly.
OPTIONAL IMAGE PROMPT
Original segmented industrial network showing PLC/control, supervisory, and enterprise zones connected through controlled gateways, plus backup and monitoring symbols;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13 of 18 | Suggested time: 10 minutes | Criteria: M3 / D2
TEACHING NOTES AND ACTIVITY CUES
1. Classify MedPack counts, alarms, recipes, and records by intended use: an operational indicator is not automatically a controlled production or quality record.
2. If regulated electronic records are in scope, agree requirements for validation, identity/access, audit trail, retention, time synchronization, backup, and change control with the site's responsible quality and compliance functions.
3. The PLC/HMI/SCADA product label or a built-in audit feature alone does not establish pharmaceutical regulatory compliance; evidence depends on intended use, configuration, procedures, and accountable review.
4. Expected response names the data owner, purpose, authoritative source, retention rule, and approval path before promising a record capability.
TEACHING VISUAL
The slide uses an editable control system layers diagram. Keep it unless the prompted image communicates the idea more clearly.
OPTIONAL IMAGE PROMPT
Original data-governance flow showing operational PLC values, alarms, and a separately controlled quality-record repository with access and retention boundaries;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14 of 18 | Suggested time: 10 minutes | Criteria: M3 / D2
TEACHING NOTES AND ACTIVITY CUES
1. Activity procedure: apply the assurance questions to the Week 7 architecture: data owner, documented tags, write permissions, stale-data indication, local-control behavior, tested recovery, and traceable changes.
2. For each “yes,” identify evidence such as a tag register, configuration export, access-role test, connection-loss test, restore exercise, or approved change record.
3. Expected finding: any “unknown” becomes an action with an owner and verification method; a drawn boundary alone does not prove that traffic or permissions are enforced.
4. Debrief one failure path from sensor/network to display and state how the operator recognizes it and what remains under local control.
TEACHING VISUAL
The slide uses an editable formative check diagram. Keep it unless the prompted image communicates the idea more clearly.
OPTIONAL IMAGE PROMPT
Original engineering assurance review scene with a network diagram, access-control screen, stale-data test trace, and backup media, all without readable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15 of 18 | Suggested time: 20 minutes | Criteria: M3 / D2
TEACHING NOTES AND ACTIVITY CUES
1. Procedure: write two short evaluations, one for a single MedPack station and one for a growing line, covering operational benefit, limitation/cost, risk, mitigation, and conclusion.
2. Support each claim with scenario evidence such as station count, downtime consequence, user need, verified data quality, available support, or lifecycle cost; identify assumptions explicitly.
3. Peer review asks whether the recommendation changes with station count, history/report needs, staff capability, network/cyber controls, or cost; reject “SCADA is always better” without evidence.
4. Expected output is a conditional comparison that explains when a local HMI is sufficient and what additional need justifies SCADA.
TEACHING VISUAL
This slide has a reserved image bay. Add the image described below.
OPTIONAL IMAGE PROMPT
Original peer-review workshop with two side-by-side evaluation sheets for one station and a multi-station line, plus HMI/SCADA diagrams but no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16 of 18 | Suggested time: 20 minutes | Criteria: M3 / D2
TEACHING NOTES AND ACTIVITY CUES
1. Procedure: present a structured recommendation: claim -&gt; industrial need -&gt; evidence/benefit -&gt; counterpoint -&gt; risk/control -&gt; conditional conclusion, supported by one architecture drawing.
2. Identify what stays local (sequencing, validated permissives, independent safety function), what data is shared (named status/trend values), and which service or user owns each boundary.
3. Panel challenge: explain how the recommendation changes with uptime target, station count, record needs, cyber policy, support capability, or whole-life cost; name a measurable trigger for revisiting it.
4. Expected D2 rationale justifies convergence rather than merely describing it, acknowledges a valid alternative, and pairs each material risk with a proportionate, verifiable control.
TEACHING VISUAL
The slide uses an editable control system layers diagram. Keep it unless the prompted image communicates the idea more clearly.
OPTIONAL IMAGE PROMPT
Original recommendation-panel scene with a presenter pointing to a layered PLC/HMI/SCADA architecture and a separate local safety path, with no text on displays.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17 of 18 | Suggested time: 7 minutes | Criteria: M3 / D2
TEACHING NOTES AND ACTIVITY CUES
1. Audit LO2.P3 for distinct link/interface and protocol comparisons; LO2.P4 for contextual bus advantages plus trade-offs; LO2.M2 for an architecture, named tags, data path, and working or equivalent evidence.
2. Audit LO2.M3 for balanced HMI/SCADA benefits, limits, and application-specific conclusion; LO2.D2 for convergence drivers, justified rationale, risks, controls, and conditional recommendation.
3. Cross-check that wiring/I/O mapping, normal-cycle and safe fault records, signal-integrity findings, protocol/topology diagram, and required Harvard-style references are present in the wider evidence pack.
4. For each gap, assign one concrete artifact or test, a responsible person, and a completion date; do not relabel missing evidence as achieved.
TEACHING VISUAL
The slide uses an editable formative check diagram. Keep it unless the prompted image communicates the idea more clearly.
OPTIONAL IMAGE PROMPT
Original evidence-audit desk with five clearly separated technical evidence groups: wiring, network, integration, evaluation, and risk controls, with blank/no-text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Evaluating HMI/SCADA and Convergence | Week 08 | LO2
Slide 18 of 18 | Suggested time: 8 minutes | Criteria: M3 / D2
TEACHING NOTES AND ACTIVITY CUES
1. State whether and how MedPack should integrate PLC, HMI, and SCADA at single-station and growing-line scale, with two evidence-based reasons.
2. Name one material operational or cyber risk and a control that can be tested; state what local control and independent safety behavior must remain available.
3. Give one condition that would change the recommendation, such as station count, required records, uptime need, support lifecycle, site cyber policy, or cost evidence.
TEACHING VISUAL
The slide uses an editable decision method diagram. Keep it unless the prompted image communicates the idea more clearly.
OPTIONAL IMAGE PROMPT
Original final decision illustration with one MedPack station and an expanding line connected to a supervisory system through controlled boundaries, plus a separate safety path; no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The line manager's question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Decision question: should a single MedPack station, and then a growing multi-station line, connect to a shared supervisory system? Separate the two operating scales before deciding.</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65E4E"/>
          </a:solidFill>
          <a:ln w="12700">
            <a:solidFill>
              <a:srgbClr val="C65E4E">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Have learners vote yes/no/conditional and give one measurable need such as multi-station visibility, alarm coordination, history, or remote maintenance.</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65E4E"/>
          </a:solidFill>
          <a:ln w="12700">
            <a:solidFill>
              <a:srgbClr val="C65E4E">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opening position is conditional: the value depends on number of assets, required data/use, lifecycle cost, network/cyber controls, and what must continue locally.</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7882128" y="2432304"/>
            <a:ext cx="3483864" cy="3447288"/>
          </a:xfrm>
          <a:prstGeom prst="rect">
            <a:avLst/>
          </a:prstGeom>
          <a:solidFill>
            <a:srgbClr val="E8EFF3"/>
          </a:solidFill>
          <a:ln w="13970">
            <a:solidFill>
              <a:srgbClr val="AFC1CD"/>
            </a:solidFill>
            <a:prstDash val="solid"/>
          </a:ln>
        </p:spPr>
      </p:sp>
      <p:sp>
        <p:nvSpPr>
          <p:cNvPr id="27" name="Text 25"/>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28" name="Text 26"/>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29" name="Shape 27"/>
          <p:cNvSpPr/>
          <p:nvPr/>
        </p:nvSpPr>
        <p:spPr>
          <a:xfrm>
            <a:off x="603504" y="6318504"/>
            <a:ext cx="10972800" cy="0"/>
          </a:xfrm>
          <a:prstGeom prst="line">
            <a:avLst/>
          </a:prstGeom>
          <a:noFill/>
          <a:ln w="10160">
            <a:solidFill>
              <a:srgbClr val="D5E0E7"/>
            </a:solidFill>
            <a:prstDash val="solid"/>
          </a:ln>
        </p:spPr>
      </p:sp>
      <p:sp>
        <p:nvSpPr>
          <p:cNvPr id="30" name="Text 28"/>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31" name="Text 29"/>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01 / 18</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Revisit the working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Reconstruct the Week 7 path from MedPack sensor and actuator through PLC/I/O, network/bus, HMI, SCADA/dashboard, and any historian or reporting service.</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65E4E"/>
          </a:solidFill>
          <a:ln w="12700">
            <a:solidFill>
              <a:srgbClr val="C65E4E">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Identify the actual or assumed protocol, endpoint roles, mapped tags, data direction, and where local sequencing and safety functions reside.</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65E4E"/>
          </a:solidFill>
          <a:ln w="12700">
            <a:solidFill>
              <a:srgbClr val="C65E4E">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check: distinguish a valid PLC value from stale/unknown data and identify which services may be lost without stopping essential local control.</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Shape 24"/>
          <p:cNvSpPr/>
          <p:nvPr/>
        </p:nvSpPr>
        <p:spPr>
          <a:xfrm>
            <a:off x="7955280" y="2587752"/>
            <a:ext cx="3337560" cy="521208"/>
          </a:xfrm>
          <a:prstGeom prst="rect">
            <a:avLst/>
          </a:prstGeom>
          <a:solidFill>
            <a:srgbClr val="F6F8FA"/>
          </a:solidFill>
          <a:ln w="11430">
            <a:solidFill>
              <a:srgbClr val="D5E0E7"/>
            </a:solidFill>
            <a:prstDash val="solid"/>
          </a:ln>
        </p:spPr>
      </p:sp>
      <p:sp>
        <p:nvSpPr>
          <p:cNvPr id="27" name="Text 25"/>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28" name="Text 26"/>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29" name="Shape 27"/>
          <p:cNvSpPr/>
          <p:nvPr/>
        </p:nvSpPr>
        <p:spPr>
          <a:xfrm>
            <a:off x="7955280" y="3255264"/>
            <a:ext cx="3337560" cy="521208"/>
          </a:xfrm>
          <a:prstGeom prst="rect">
            <a:avLst/>
          </a:prstGeom>
          <a:solidFill>
            <a:srgbClr val="EAF3F4"/>
          </a:solidFill>
          <a:ln w="19050">
            <a:solidFill>
              <a:srgbClr val="C65E4E"/>
            </a:solidFill>
            <a:prstDash val="solid"/>
          </a:ln>
        </p:spPr>
      </p:sp>
      <p:sp>
        <p:nvSpPr>
          <p:cNvPr id="30" name="Text 28"/>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1" name="Text 29"/>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2" name="Shape 30"/>
          <p:cNvSpPr/>
          <p:nvPr/>
        </p:nvSpPr>
        <p:spPr>
          <a:xfrm>
            <a:off x="7955280" y="3922776"/>
            <a:ext cx="3337560" cy="521208"/>
          </a:xfrm>
          <a:prstGeom prst="rect">
            <a:avLst/>
          </a:prstGeom>
          <a:solidFill>
            <a:srgbClr val="F8F3E8"/>
          </a:solidFill>
          <a:ln w="11430">
            <a:solidFill>
              <a:srgbClr val="D5E0E7"/>
            </a:solidFill>
            <a:prstDash val="solid"/>
          </a:ln>
        </p:spPr>
      </p:sp>
      <p:sp>
        <p:nvSpPr>
          <p:cNvPr id="33" name="Text 31"/>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4" name="Text 32"/>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5" name="Shape 33"/>
          <p:cNvSpPr/>
          <p:nvPr/>
        </p:nvSpPr>
        <p:spPr>
          <a:xfrm>
            <a:off x="7955280" y="4590288"/>
            <a:ext cx="3337560" cy="521208"/>
          </a:xfrm>
          <a:prstGeom prst="rect">
            <a:avLst/>
          </a:prstGeom>
          <a:solidFill>
            <a:srgbClr val="F6F8FA"/>
          </a:solidFill>
          <a:ln w="11430">
            <a:solidFill>
              <a:srgbClr val="D5E0E7"/>
            </a:solidFill>
            <a:prstDash val="solid"/>
          </a:ln>
        </p:spPr>
      </p:sp>
      <p:sp>
        <p:nvSpPr>
          <p:cNvPr id="36" name="Text 34"/>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37" name="Text 35"/>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38" name="Text 36"/>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39" name="Shape 37"/>
          <p:cNvSpPr/>
          <p:nvPr/>
        </p:nvSpPr>
        <p:spPr>
          <a:xfrm>
            <a:off x="603504" y="6318504"/>
            <a:ext cx="10972800" cy="0"/>
          </a:xfrm>
          <a:prstGeom prst="line">
            <a:avLst/>
          </a:prstGeom>
          <a:noFill/>
          <a:ln w="10160">
            <a:solidFill>
              <a:srgbClr val="D5E0E7"/>
            </a:solidFill>
            <a:prstDash val="solid"/>
          </a:ln>
        </p:spPr>
      </p:sp>
      <p:sp>
        <p:nvSpPr>
          <p:cNvPr id="40" name="Text 38"/>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1" name="Text 39"/>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02 / 18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M3 and D2 are judgements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LO2.M3 requires evaluation of HMI/SCADA benefits and limitations, then a conclusion justified for the particular industrial application.</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65E4E"/>
          </a:solidFill>
          <a:ln w="12700">
            <a:solidFill>
              <a:srgbClr val="C65E4E">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LO2.D2 requires a valid rationale for PLC/HMI/SCADA convergence that explains drivers and balances benefits against risks and proportionate controls.</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65E4E"/>
          </a:solidFill>
          <a:ln w="12700">
            <a:solidFill>
              <a:srgbClr val="C65E4E">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Today’s evidence is a scenario-based comparison, an architecture showing shared and local functions, and a recommendation whose assumptions and conditions are explicit.</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DECISION METHOD</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Text 24"/>
          <p:cNvSpPr/>
          <p:nvPr/>
        </p:nvSpPr>
        <p:spPr>
          <a:xfrm>
            <a:off x="8101584" y="2660904"/>
            <a:ext cx="3063240" cy="320040"/>
          </a:xfrm>
          <a:prstGeom prst="rect">
            <a:avLst/>
          </a:prstGeom>
          <a:noFill/>
          <a:ln/>
        </p:spPr>
        <p:txBody>
          <a:bodyPr wrap="square" lIns="0" tIns="0" rIns="0" bIns="0" rtlCol="0" anchor="ctr">
            <a:normAutofit/>
          </a:bodyPr>
          <a:lstStyle/>
          <a:p>
            <a:pPr algn="ctr" indent="0" marL="0">
              <a:buNone/>
            </a:pPr>
            <a:r>
              <a:rPr lang="en-US" sz="920" b="1" dirty="0">
                <a:solidFill>
                  <a:srgbClr val="C65E4E"/>
                </a:solidFill>
                <a:latin typeface="Aptos" pitchFamily="34" charset="0"/>
                <a:ea typeface="Aptos" pitchFamily="34" charset="-122"/>
                <a:cs typeface="Aptos" pitchFamily="34" charset="-120"/>
              </a:rPr>
              <a:t>FIRST: PASS / FAIL MANDATORY GATES</a:t>
            </a:r>
            <a:endParaRPr lang="en-US" sz="920" dirty="0"/>
          </a:p>
        </p:txBody>
      </p:sp>
      <p:sp>
        <p:nvSpPr>
          <p:cNvPr id="27" name="Shape 25"/>
          <p:cNvSpPr/>
          <p:nvPr/>
        </p:nvSpPr>
        <p:spPr>
          <a:xfrm>
            <a:off x="8238744" y="3172968"/>
            <a:ext cx="1298448" cy="438912"/>
          </a:xfrm>
          <a:prstGeom prst="rect">
            <a:avLst/>
          </a:prstGeom>
          <a:solidFill>
            <a:srgbClr val="F4F8FA"/>
          </a:solidFill>
          <a:ln w="14605">
            <a:solidFill>
              <a:srgbClr val="C65E4E"/>
            </a:solidFill>
            <a:prstDash val="solid"/>
          </a:ln>
        </p:spPr>
      </p:sp>
      <p:sp>
        <p:nvSpPr>
          <p:cNvPr id="28" name="Text 26"/>
          <p:cNvSpPr/>
          <p:nvPr/>
        </p:nvSpPr>
        <p:spPr>
          <a:xfrm>
            <a:off x="8311896" y="322783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Electrical fit</a:t>
            </a:r>
            <a:endParaRPr lang="en-US" sz="920" dirty="0"/>
          </a:p>
        </p:txBody>
      </p:sp>
      <p:sp>
        <p:nvSpPr>
          <p:cNvPr id="29" name="Text 27"/>
          <p:cNvSpPr/>
          <p:nvPr/>
        </p:nvSpPr>
        <p:spPr>
          <a:xfrm>
            <a:off x="9793224" y="324612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0" name="Text 28"/>
          <p:cNvSpPr/>
          <p:nvPr/>
        </p:nvSpPr>
        <p:spPr>
          <a:xfrm>
            <a:off x="10323576" y="324612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1" name="Shape 29"/>
          <p:cNvSpPr/>
          <p:nvPr/>
        </p:nvSpPr>
        <p:spPr>
          <a:xfrm>
            <a:off x="8238744" y="3813048"/>
            <a:ext cx="1298448" cy="438912"/>
          </a:xfrm>
          <a:prstGeom prst="rect">
            <a:avLst/>
          </a:prstGeom>
          <a:solidFill>
            <a:srgbClr val="F4F8FA"/>
          </a:solidFill>
          <a:ln w="14605">
            <a:solidFill>
              <a:srgbClr val="C65E4E"/>
            </a:solidFill>
            <a:prstDash val="solid"/>
          </a:ln>
        </p:spPr>
      </p:sp>
      <p:sp>
        <p:nvSpPr>
          <p:cNvPr id="32" name="Text 30"/>
          <p:cNvSpPr/>
          <p:nvPr/>
        </p:nvSpPr>
        <p:spPr>
          <a:xfrm>
            <a:off x="8311896" y="386791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Required I/O</a:t>
            </a:r>
            <a:endParaRPr lang="en-US" sz="920" dirty="0"/>
          </a:p>
        </p:txBody>
      </p:sp>
      <p:sp>
        <p:nvSpPr>
          <p:cNvPr id="33" name="Text 31"/>
          <p:cNvSpPr/>
          <p:nvPr/>
        </p:nvSpPr>
        <p:spPr>
          <a:xfrm>
            <a:off x="9793224" y="388620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4" name="Text 32"/>
          <p:cNvSpPr/>
          <p:nvPr/>
        </p:nvSpPr>
        <p:spPr>
          <a:xfrm>
            <a:off x="10323576" y="388620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5" name="Shape 33"/>
          <p:cNvSpPr/>
          <p:nvPr/>
        </p:nvSpPr>
        <p:spPr>
          <a:xfrm>
            <a:off x="8238744" y="4453128"/>
            <a:ext cx="1298448" cy="438912"/>
          </a:xfrm>
          <a:prstGeom prst="rect">
            <a:avLst/>
          </a:prstGeom>
          <a:solidFill>
            <a:srgbClr val="F4F8FA"/>
          </a:solidFill>
          <a:ln w="14605">
            <a:solidFill>
              <a:srgbClr val="C65E4E"/>
            </a:solidFill>
            <a:prstDash val="solid"/>
          </a:ln>
        </p:spPr>
      </p:sp>
      <p:sp>
        <p:nvSpPr>
          <p:cNvPr id="36" name="Text 34"/>
          <p:cNvSpPr/>
          <p:nvPr/>
        </p:nvSpPr>
        <p:spPr>
          <a:xfrm>
            <a:off x="8311896" y="450799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Safety boundary</a:t>
            </a:r>
            <a:endParaRPr lang="en-US" sz="920" dirty="0"/>
          </a:p>
        </p:txBody>
      </p:sp>
      <p:sp>
        <p:nvSpPr>
          <p:cNvPr id="37" name="Text 35"/>
          <p:cNvSpPr/>
          <p:nvPr/>
        </p:nvSpPr>
        <p:spPr>
          <a:xfrm>
            <a:off x="9793224" y="452628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8" name="Text 36"/>
          <p:cNvSpPr/>
          <p:nvPr/>
        </p:nvSpPr>
        <p:spPr>
          <a:xfrm>
            <a:off x="10323576" y="452628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9" name="Shape 37"/>
          <p:cNvSpPr/>
          <p:nvPr/>
        </p:nvSpPr>
        <p:spPr>
          <a:xfrm>
            <a:off x="8211312" y="5276088"/>
            <a:ext cx="3108960" cy="0"/>
          </a:xfrm>
          <a:prstGeom prst="line">
            <a:avLst/>
          </a:prstGeom>
          <a:noFill/>
          <a:ln w="12700">
            <a:solidFill>
              <a:srgbClr val="D5E0E7"/>
            </a:solidFill>
            <a:prstDash val="solid"/>
          </a:ln>
        </p:spPr>
      </p:sp>
      <p:sp>
        <p:nvSpPr>
          <p:cNvPr id="40" name="Text 38"/>
          <p:cNvSpPr/>
          <p:nvPr/>
        </p:nvSpPr>
        <p:spPr>
          <a:xfrm>
            <a:off x="8156448" y="5404104"/>
            <a:ext cx="3200400" cy="411480"/>
          </a:xfrm>
          <a:prstGeom prst="rect">
            <a:avLst/>
          </a:prstGeom>
          <a:noFill/>
          <a:ln/>
        </p:spPr>
        <p:txBody>
          <a:bodyPr wrap="square" lIns="0" tIns="0" rIns="0" bIns="0" rtlCol="0" anchor="ctr">
            <a:normAutofit/>
          </a:bodyPr>
          <a:lstStyle/>
          <a:p>
            <a:pPr algn="ctr" indent="0" marL="0">
              <a:buNone/>
            </a:pPr>
            <a:r>
              <a:rPr lang="en-US" sz="1020" b="1" dirty="0">
                <a:solidFill>
                  <a:srgbClr val="1B3448"/>
                </a:solidFill>
                <a:latin typeface="Aptos" pitchFamily="34" charset="0"/>
                <a:ea typeface="Aptos" pitchFamily="34" charset="-122"/>
                <a:cs typeface="Aptos" pitchFamily="34" charset="-120"/>
              </a:rPr>
              <a:t>THEN weigh preferences with cited evidence</a:t>
            </a:r>
            <a:endParaRPr lang="en-US" sz="102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03 / 18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Operational benefits of an HMI</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local HMI can present MedPack run/idle/fault state, pill count versus target, actionable fault context, and permitted operator requests such as Start or Reset.</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 well-designed alarm should identify the condition and useful response priority; acknowledgement records operator awareness but does not clear the underlying cause or prove a safe state.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Compare a focused station display with an overloaded screen: poor grouping, ambiguous units, or alarm flooding can increase response time and operator error.</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Evaluate usefulness by naming the operator decision, data freshness/quality needed, training requirement, and evidence that the screen supports the task.</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04 / 18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Operational benefits of SCADA</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SCADA can aggregate state, alarms/events, trends, and production indicators across MedPack stations so a supervisor or maintenance engineer can compare performance and locate recurring interruptions.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Example decision: a trend of repeated sensor faults may justify inspecting alignment or cable routing; the trend is useful only if timestamps, tag mapping, quality, and event context are trustworthy.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Live PLC values, historian samples, and controlled production/quality records have different update, retention, validation, and governance requirements; do not treat them as interchangeable.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evaluation states which user acts on the information, what decision improves, and what data-quality or retention controls are needed.</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05 / 18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12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Limits, cost, and dependency</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Whole-life costs include hardware, software/licensing, engineering, validation where required, commissioning, training, support, backups, upgrades, and lifecycle replacement, not only the initial workstation.</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More screens and data do not guarantee better operation: stale/mis-mapped tags, alarm floods, poor usability, or unclear ownership can reduce trust and delay action.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One isolated MedPack station may be adequately served by a local HMI; multi-station coordination, long-term trends, or central alarm handling may justify SCADA if the added services are genuinely used.</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Compare station count, downtime impact, data/report needs, staff capability, support lifecycle, and network dependency; state when a simpler design is preferable.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DECISION METHOD</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Text 28"/>
          <p:cNvSpPr/>
          <p:nvPr/>
        </p:nvSpPr>
        <p:spPr>
          <a:xfrm>
            <a:off x="8101584" y="2660904"/>
            <a:ext cx="3063240" cy="320040"/>
          </a:xfrm>
          <a:prstGeom prst="rect">
            <a:avLst/>
          </a:prstGeom>
          <a:noFill/>
          <a:ln/>
        </p:spPr>
        <p:txBody>
          <a:bodyPr wrap="square" lIns="0" tIns="0" rIns="0" bIns="0" rtlCol="0" anchor="ctr">
            <a:normAutofit/>
          </a:bodyPr>
          <a:lstStyle/>
          <a:p>
            <a:pPr algn="ctr" indent="0" marL="0">
              <a:buNone/>
            </a:pPr>
            <a:r>
              <a:rPr lang="en-US" sz="920" b="1" dirty="0">
                <a:solidFill>
                  <a:srgbClr val="C65E4E"/>
                </a:solidFill>
                <a:latin typeface="Aptos" pitchFamily="34" charset="0"/>
                <a:ea typeface="Aptos" pitchFamily="34" charset="-122"/>
                <a:cs typeface="Aptos" pitchFamily="34" charset="-120"/>
              </a:rPr>
              <a:t>FIRST: PASS / FAIL MANDATORY GATES</a:t>
            </a:r>
            <a:endParaRPr lang="en-US" sz="920" dirty="0"/>
          </a:p>
        </p:txBody>
      </p:sp>
      <p:sp>
        <p:nvSpPr>
          <p:cNvPr id="31" name="Shape 29"/>
          <p:cNvSpPr/>
          <p:nvPr/>
        </p:nvSpPr>
        <p:spPr>
          <a:xfrm>
            <a:off x="8238744" y="3172968"/>
            <a:ext cx="1298448" cy="438912"/>
          </a:xfrm>
          <a:prstGeom prst="rect">
            <a:avLst/>
          </a:prstGeom>
          <a:solidFill>
            <a:srgbClr val="F4F8FA"/>
          </a:solidFill>
          <a:ln w="14605">
            <a:solidFill>
              <a:srgbClr val="C65E4E"/>
            </a:solidFill>
            <a:prstDash val="solid"/>
          </a:ln>
        </p:spPr>
      </p:sp>
      <p:sp>
        <p:nvSpPr>
          <p:cNvPr id="32" name="Text 30"/>
          <p:cNvSpPr/>
          <p:nvPr/>
        </p:nvSpPr>
        <p:spPr>
          <a:xfrm>
            <a:off x="8311896" y="322783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Electrical fit</a:t>
            </a:r>
            <a:endParaRPr lang="en-US" sz="920" dirty="0"/>
          </a:p>
        </p:txBody>
      </p:sp>
      <p:sp>
        <p:nvSpPr>
          <p:cNvPr id="33" name="Text 31"/>
          <p:cNvSpPr/>
          <p:nvPr/>
        </p:nvSpPr>
        <p:spPr>
          <a:xfrm>
            <a:off x="9793224" y="324612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4" name="Text 32"/>
          <p:cNvSpPr/>
          <p:nvPr/>
        </p:nvSpPr>
        <p:spPr>
          <a:xfrm>
            <a:off x="10323576" y="324612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5" name="Shape 33"/>
          <p:cNvSpPr/>
          <p:nvPr/>
        </p:nvSpPr>
        <p:spPr>
          <a:xfrm>
            <a:off x="8238744" y="3813048"/>
            <a:ext cx="1298448" cy="438912"/>
          </a:xfrm>
          <a:prstGeom prst="rect">
            <a:avLst/>
          </a:prstGeom>
          <a:solidFill>
            <a:srgbClr val="F4F8FA"/>
          </a:solidFill>
          <a:ln w="14605">
            <a:solidFill>
              <a:srgbClr val="C65E4E"/>
            </a:solidFill>
            <a:prstDash val="solid"/>
          </a:ln>
        </p:spPr>
      </p:sp>
      <p:sp>
        <p:nvSpPr>
          <p:cNvPr id="36" name="Text 34"/>
          <p:cNvSpPr/>
          <p:nvPr/>
        </p:nvSpPr>
        <p:spPr>
          <a:xfrm>
            <a:off x="8311896" y="386791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Required I/O</a:t>
            </a:r>
            <a:endParaRPr lang="en-US" sz="920" dirty="0"/>
          </a:p>
        </p:txBody>
      </p:sp>
      <p:sp>
        <p:nvSpPr>
          <p:cNvPr id="37" name="Text 35"/>
          <p:cNvSpPr/>
          <p:nvPr/>
        </p:nvSpPr>
        <p:spPr>
          <a:xfrm>
            <a:off x="9793224" y="388620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8" name="Text 36"/>
          <p:cNvSpPr/>
          <p:nvPr/>
        </p:nvSpPr>
        <p:spPr>
          <a:xfrm>
            <a:off x="10323576" y="388620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9" name="Shape 37"/>
          <p:cNvSpPr/>
          <p:nvPr/>
        </p:nvSpPr>
        <p:spPr>
          <a:xfrm>
            <a:off x="8238744" y="4453128"/>
            <a:ext cx="1298448" cy="438912"/>
          </a:xfrm>
          <a:prstGeom prst="rect">
            <a:avLst/>
          </a:prstGeom>
          <a:solidFill>
            <a:srgbClr val="F4F8FA"/>
          </a:solidFill>
          <a:ln w="14605">
            <a:solidFill>
              <a:srgbClr val="C65E4E"/>
            </a:solidFill>
            <a:prstDash val="solid"/>
          </a:ln>
        </p:spPr>
      </p:sp>
      <p:sp>
        <p:nvSpPr>
          <p:cNvPr id="40" name="Text 38"/>
          <p:cNvSpPr/>
          <p:nvPr/>
        </p:nvSpPr>
        <p:spPr>
          <a:xfrm>
            <a:off x="8311896" y="450799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Safety boundary</a:t>
            </a:r>
            <a:endParaRPr lang="en-US" sz="920" dirty="0"/>
          </a:p>
        </p:txBody>
      </p:sp>
      <p:sp>
        <p:nvSpPr>
          <p:cNvPr id="41" name="Text 39"/>
          <p:cNvSpPr/>
          <p:nvPr/>
        </p:nvSpPr>
        <p:spPr>
          <a:xfrm>
            <a:off x="9793224" y="452628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42" name="Text 40"/>
          <p:cNvSpPr/>
          <p:nvPr/>
        </p:nvSpPr>
        <p:spPr>
          <a:xfrm>
            <a:off x="10323576" y="452628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43" name="Shape 41"/>
          <p:cNvSpPr/>
          <p:nvPr/>
        </p:nvSpPr>
        <p:spPr>
          <a:xfrm>
            <a:off x="8211312" y="5276088"/>
            <a:ext cx="3108960" cy="0"/>
          </a:xfrm>
          <a:prstGeom prst="line">
            <a:avLst/>
          </a:prstGeom>
          <a:noFill/>
          <a:ln w="12700">
            <a:solidFill>
              <a:srgbClr val="D5E0E7"/>
            </a:solidFill>
            <a:prstDash val="solid"/>
          </a:ln>
        </p:spPr>
      </p:sp>
      <p:sp>
        <p:nvSpPr>
          <p:cNvPr id="44" name="Text 42"/>
          <p:cNvSpPr/>
          <p:nvPr/>
        </p:nvSpPr>
        <p:spPr>
          <a:xfrm>
            <a:off x="8156448" y="5404104"/>
            <a:ext cx="3200400" cy="411480"/>
          </a:xfrm>
          <a:prstGeom prst="rect">
            <a:avLst/>
          </a:prstGeom>
          <a:noFill/>
          <a:ln/>
        </p:spPr>
        <p:txBody>
          <a:bodyPr wrap="square" lIns="0" tIns="0" rIns="0" bIns="0" rtlCol="0" anchor="ctr">
            <a:normAutofit/>
          </a:bodyPr>
          <a:lstStyle/>
          <a:p>
            <a:pPr algn="ctr" indent="0" marL="0">
              <a:buNone/>
            </a:pPr>
            <a:r>
              <a:rPr lang="en-US" sz="1020" b="1" dirty="0">
                <a:solidFill>
                  <a:srgbClr val="1B3448"/>
                </a:solidFill>
                <a:latin typeface="Aptos" pitchFamily="34" charset="0"/>
                <a:ea typeface="Aptos" pitchFamily="34" charset="-122"/>
                <a:cs typeface="Aptos" pitchFamily="34" charset="-120"/>
              </a:rPr>
              <a:t>THEN weigh preferences with cited evidence</a:t>
            </a:r>
            <a:endParaRPr lang="en-US" sz="102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06 / 18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13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Balanced evaluation matrix</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Activity procedure: select one HMI function and one SCADA function, then complete columns for benefit, user/stakeholder, evidence, limitation, consequence, and mitigation.</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Worked prompt: HMI fault detail may shorten diagnosis when the fault code and remedy are accurate; test this against training, alarm quality, and stale-value risks.</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For a SCADA trend, identify the production/maintenance decision it supports and verify timestamp, sample rate, tag quality, retention, and record classification.</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debrief is a conditional judgement, not a feature list: name evidence that supports the benefit and a realistic condition that would weaken it.</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COMPARISON FRAMEWORK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15184"/>
            <a:ext cx="1188720" cy="475488"/>
          </a:xfrm>
          <a:prstGeom prst="rect">
            <a:avLst/>
          </a:prstGeom>
          <a:solidFill>
            <a:srgbClr val="C65E4E"/>
          </a:solidFill>
          <a:ln w="10160">
            <a:solidFill>
              <a:srgbClr val="C65E4E"/>
            </a:solidFill>
            <a:prstDash val="solid"/>
          </a:ln>
        </p:spPr>
      </p:sp>
      <p:sp>
        <p:nvSpPr>
          <p:cNvPr id="31" name="Text 29"/>
          <p:cNvSpPr/>
          <p:nvPr/>
        </p:nvSpPr>
        <p:spPr>
          <a:xfrm>
            <a:off x="7955280" y="2651760"/>
            <a:ext cx="1115568" cy="393192"/>
          </a:xfrm>
          <a:prstGeom prst="rect">
            <a:avLst/>
          </a:prstGeom>
          <a:noFill/>
          <a:ln/>
        </p:spPr>
        <p:txBody>
          <a:bodyPr wrap="square" lIns="0" tIns="0" rIns="0" bIns="0" rtlCol="0" anchor="ctr">
            <a:normAutofit/>
          </a:bodyPr>
          <a:lstStyle/>
          <a:p>
            <a:pPr algn="ctr" indent="0" marL="0">
              <a:buNone/>
            </a:pPr>
            <a:r>
              <a:rPr lang="en-US" sz="850" b="1" dirty="0">
                <a:solidFill>
                  <a:srgbClr val="FFFFFF"/>
                </a:solidFill>
                <a:latin typeface="Aptos" pitchFamily="34" charset="0"/>
                <a:ea typeface="Aptos" pitchFamily="34" charset="-122"/>
                <a:cs typeface="Aptos" pitchFamily="34" charset="-120"/>
              </a:rPr>
              <a:t>COMPARE</a:t>
            </a:r>
            <a:endParaRPr lang="en-US" sz="850" dirty="0"/>
          </a:p>
        </p:txBody>
      </p:sp>
      <p:sp>
        <p:nvSpPr>
          <p:cNvPr id="32" name="Shape 30"/>
          <p:cNvSpPr/>
          <p:nvPr/>
        </p:nvSpPr>
        <p:spPr>
          <a:xfrm>
            <a:off x="9107424" y="2615184"/>
            <a:ext cx="987552" cy="475488"/>
          </a:xfrm>
          <a:prstGeom prst="rect">
            <a:avLst/>
          </a:prstGeom>
          <a:solidFill>
            <a:srgbClr val="EAF0F3"/>
          </a:solidFill>
          <a:ln w="10160">
            <a:solidFill>
              <a:srgbClr val="C65E4E"/>
            </a:solidFill>
            <a:prstDash val="solid"/>
          </a:ln>
        </p:spPr>
      </p:sp>
      <p:sp>
        <p:nvSpPr>
          <p:cNvPr id="33" name="Text 31"/>
          <p:cNvSpPr/>
          <p:nvPr/>
        </p:nvSpPr>
        <p:spPr>
          <a:xfrm>
            <a:off x="9144000"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A</a:t>
            </a:r>
            <a:endParaRPr lang="en-US" sz="850" dirty="0"/>
          </a:p>
        </p:txBody>
      </p:sp>
      <p:sp>
        <p:nvSpPr>
          <p:cNvPr id="34" name="Shape 32"/>
          <p:cNvSpPr/>
          <p:nvPr/>
        </p:nvSpPr>
        <p:spPr>
          <a:xfrm>
            <a:off x="10094976" y="2615184"/>
            <a:ext cx="987552" cy="475488"/>
          </a:xfrm>
          <a:prstGeom prst="rect">
            <a:avLst/>
          </a:prstGeom>
          <a:solidFill>
            <a:srgbClr val="EAF0F3"/>
          </a:solidFill>
          <a:ln w="10160">
            <a:solidFill>
              <a:srgbClr val="C65E4E"/>
            </a:solidFill>
            <a:prstDash val="solid"/>
          </a:ln>
        </p:spPr>
      </p:sp>
      <p:sp>
        <p:nvSpPr>
          <p:cNvPr id="35" name="Text 33"/>
          <p:cNvSpPr/>
          <p:nvPr/>
        </p:nvSpPr>
        <p:spPr>
          <a:xfrm>
            <a:off x="10131552" y="2651760"/>
            <a:ext cx="914400" cy="393192"/>
          </a:xfrm>
          <a:prstGeom prst="rect">
            <a:avLst/>
          </a:prstGeom>
          <a:noFill/>
          <a:ln/>
        </p:spPr>
        <p:txBody>
          <a:bodyPr wrap="square" lIns="0" tIns="0" rIns="0" bIns="0" rtlCol="0" anchor="ctr">
            <a:normAutofit/>
          </a:bodyPr>
          <a:lstStyle/>
          <a:p>
            <a:pPr algn="ctr" indent="0" marL="0">
              <a:buNone/>
            </a:pPr>
            <a:r>
              <a:rPr lang="en-US" sz="850" b="1" dirty="0">
                <a:solidFill>
                  <a:srgbClr val="1B3448"/>
                </a:solidFill>
                <a:latin typeface="Aptos" pitchFamily="34" charset="0"/>
                <a:ea typeface="Aptos" pitchFamily="34" charset="-122"/>
                <a:cs typeface="Aptos" pitchFamily="34" charset="-120"/>
              </a:rPr>
              <a:t>CANDIDATE B</a:t>
            </a:r>
            <a:endParaRPr lang="en-US" sz="850" dirty="0"/>
          </a:p>
        </p:txBody>
      </p:sp>
      <p:sp>
        <p:nvSpPr>
          <p:cNvPr id="36" name="Shape 34"/>
          <p:cNvSpPr/>
          <p:nvPr/>
        </p:nvSpPr>
        <p:spPr>
          <a:xfrm>
            <a:off x="7918704" y="3090672"/>
            <a:ext cx="1188720" cy="594360"/>
          </a:xfrm>
          <a:prstGeom prst="rect">
            <a:avLst/>
          </a:prstGeom>
          <a:solidFill>
            <a:srgbClr val="FFFFFF"/>
          </a:solidFill>
          <a:ln w="7620">
            <a:solidFill>
              <a:srgbClr val="D5E0E7"/>
            </a:solidFill>
            <a:prstDash val="solid"/>
          </a:ln>
        </p:spPr>
      </p:sp>
      <p:sp>
        <p:nvSpPr>
          <p:cNvPr id="37" name="Text 35"/>
          <p:cNvSpPr/>
          <p:nvPr/>
        </p:nvSpPr>
        <p:spPr>
          <a:xfrm>
            <a:off x="7964424" y="313639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I/O fit</a:t>
            </a:r>
            <a:endParaRPr lang="en-US" sz="900" dirty="0"/>
          </a:p>
        </p:txBody>
      </p:sp>
      <p:sp>
        <p:nvSpPr>
          <p:cNvPr id="38" name="Shape 36"/>
          <p:cNvSpPr/>
          <p:nvPr/>
        </p:nvSpPr>
        <p:spPr>
          <a:xfrm>
            <a:off x="9107424" y="3090672"/>
            <a:ext cx="987552" cy="594360"/>
          </a:xfrm>
          <a:prstGeom prst="rect">
            <a:avLst/>
          </a:prstGeom>
          <a:solidFill>
            <a:srgbClr val="FFFFFF"/>
          </a:solidFill>
          <a:ln w="7620">
            <a:solidFill>
              <a:srgbClr val="D5E0E7"/>
            </a:solidFill>
            <a:prstDash val="solid"/>
          </a:ln>
        </p:spPr>
      </p:sp>
      <p:sp>
        <p:nvSpPr>
          <p:cNvPr id="39" name="Text 37"/>
          <p:cNvSpPr/>
          <p:nvPr/>
        </p:nvSpPr>
        <p:spPr>
          <a:xfrm>
            <a:off x="9153144"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0" name="Shape 38"/>
          <p:cNvSpPr/>
          <p:nvPr/>
        </p:nvSpPr>
        <p:spPr>
          <a:xfrm>
            <a:off x="10094976" y="3090672"/>
            <a:ext cx="987552" cy="594360"/>
          </a:xfrm>
          <a:prstGeom prst="rect">
            <a:avLst/>
          </a:prstGeom>
          <a:solidFill>
            <a:srgbClr val="FFFFFF"/>
          </a:solidFill>
          <a:ln w="7620">
            <a:solidFill>
              <a:srgbClr val="D5E0E7"/>
            </a:solidFill>
            <a:prstDash val="solid"/>
          </a:ln>
        </p:spPr>
      </p:sp>
      <p:sp>
        <p:nvSpPr>
          <p:cNvPr id="41" name="Text 39"/>
          <p:cNvSpPr/>
          <p:nvPr/>
        </p:nvSpPr>
        <p:spPr>
          <a:xfrm>
            <a:off x="10140696" y="313639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Verify model</a:t>
            </a:r>
            <a:endParaRPr lang="en-US" sz="870" dirty="0"/>
          </a:p>
        </p:txBody>
      </p:sp>
      <p:sp>
        <p:nvSpPr>
          <p:cNvPr id="42" name="Shape 40"/>
          <p:cNvSpPr/>
          <p:nvPr/>
        </p:nvSpPr>
        <p:spPr>
          <a:xfrm>
            <a:off x="7918704" y="3685032"/>
            <a:ext cx="1188720" cy="594360"/>
          </a:xfrm>
          <a:prstGeom prst="rect">
            <a:avLst/>
          </a:prstGeom>
          <a:solidFill>
            <a:srgbClr val="F6F8FA"/>
          </a:solidFill>
          <a:ln w="7620">
            <a:solidFill>
              <a:srgbClr val="D5E0E7"/>
            </a:solidFill>
            <a:prstDash val="solid"/>
          </a:ln>
        </p:spPr>
      </p:sp>
      <p:sp>
        <p:nvSpPr>
          <p:cNvPr id="43" name="Text 41"/>
          <p:cNvSpPr/>
          <p:nvPr/>
        </p:nvSpPr>
        <p:spPr>
          <a:xfrm>
            <a:off x="7964424" y="373075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Expansion</a:t>
            </a:r>
            <a:endParaRPr lang="en-US" sz="900" dirty="0"/>
          </a:p>
        </p:txBody>
      </p:sp>
      <p:sp>
        <p:nvSpPr>
          <p:cNvPr id="44" name="Shape 42"/>
          <p:cNvSpPr/>
          <p:nvPr/>
        </p:nvSpPr>
        <p:spPr>
          <a:xfrm>
            <a:off x="9107424" y="3685032"/>
            <a:ext cx="987552" cy="594360"/>
          </a:xfrm>
          <a:prstGeom prst="rect">
            <a:avLst/>
          </a:prstGeom>
          <a:solidFill>
            <a:srgbClr val="F6F8FA"/>
          </a:solidFill>
          <a:ln w="7620">
            <a:solidFill>
              <a:srgbClr val="D5E0E7"/>
            </a:solidFill>
            <a:prstDash val="solid"/>
          </a:ln>
        </p:spPr>
      </p:sp>
      <p:sp>
        <p:nvSpPr>
          <p:cNvPr id="45" name="Text 43"/>
          <p:cNvSpPr/>
          <p:nvPr/>
        </p:nvSpPr>
        <p:spPr>
          <a:xfrm>
            <a:off x="9153144"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6" name="Shape 44"/>
          <p:cNvSpPr/>
          <p:nvPr/>
        </p:nvSpPr>
        <p:spPr>
          <a:xfrm>
            <a:off x="10094976" y="3685032"/>
            <a:ext cx="987552" cy="594360"/>
          </a:xfrm>
          <a:prstGeom prst="rect">
            <a:avLst/>
          </a:prstGeom>
          <a:solidFill>
            <a:srgbClr val="F6F8FA"/>
          </a:solidFill>
          <a:ln w="7620">
            <a:solidFill>
              <a:srgbClr val="D5E0E7"/>
            </a:solidFill>
            <a:prstDash val="solid"/>
          </a:ln>
        </p:spPr>
      </p:sp>
      <p:sp>
        <p:nvSpPr>
          <p:cNvPr id="47" name="Text 45"/>
          <p:cNvSpPr/>
          <p:nvPr/>
        </p:nvSpPr>
        <p:spPr>
          <a:xfrm>
            <a:off x="10140696" y="373075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Check limit</a:t>
            </a:r>
            <a:endParaRPr lang="en-US" sz="870" dirty="0"/>
          </a:p>
        </p:txBody>
      </p:sp>
      <p:sp>
        <p:nvSpPr>
          <p:cNvPr id="48" name="Shape 46"/>
          <p:cNvSpPr/>
          <p:nvPr/>
        </p:nvSpPr>
        <p:spPr>
          <a:xfrm>
            <a:off x="7918704" y="4279392"/>
            <a:ext cx="1188720" cy="594360"/>
          </a:xfrm>
          <a:prstGeom prst="rect">
            <a:avLst/>
          </a:prstGeom>
          <a:solidFill>
            <a:srgbClr val="FFFFFF"/>
          </a:solidFill>
          <a:ln w="7620">
            <a:solidFill>
              <a:srgbClr val="D5E0E7"/>
            </a:solidFill>
            <a:prstDash val="solid"/>
          </a:ln>
        </p:spPr>
      </p:sp>
      <p:sp>
        <p:nvSpPr>
          <p:cNvPr id="49" name="Text 47"/>
          <p:cNvSpPr/>
          <p:nvPr/>
        </p:nvSpPr>
        <p:spPr>
          <a:xfrm>
            <a:off x="7964424" y="432511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Performance</a:t>
            </a:r>
            <a:endParaRPr lang="en-US" sz="900" dirty="0"/>
          </a:p>
        </p:txBody>
      </p:sp>
      <p:sp>
        <p:nvSpPr>
          <p:cNvPr id="50" name="Shape 48"/>
          <p:cNvSpPr/>
          <p:nvPr/>
        </p:nvSpPr>
        <p:spPr>
          <a:xfrm>
            <a:off x="9107424" y="4279392"/>
            <a:ext cx="987552" cy="594360"/>
          </a:xfrm>
          <a:prstGeom prst="rect">
            <a:avLst/>
          </a:prstGeom>
          <a:solidFill>
            <a:srgbClr val="FFFFFF"/>
          </a:solidFill>
          <a:ln w="7620">
            <a:solidFill>
              <a:srgbClr val="D5E0E7"/>
            </a:solidFill>
            <a:prstDash val="solid"/>
          </a:ln>
        </p:spPr>
      </p:sp>
      <p:sp>
        <p:nvSpPr>
          <p:cNvPr id="51" name="Text 49"/>
          <p:cNvSpPr/>
          <p:nvPr/>
        </p:nvSpPr>
        <p:spPr>
          <a:xfrm>
            <a:off x="9153144"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2" name="Shape 50"/>
          <p:cNvSpPr/>
          <p:nvPr/>
        </p:nvSpPr>
        <p:spPr>
          <a:xfrm>
            <a:off x="10094976" y="4279392"/>
            <a:ext cx="987552" cy="594360"/>
          </a:xfrm>
          <a:prstGeom prst="rect">
            <a:avLst/>
          </a:prstGeom>
          <a:solidFill>
            <a:srgbClr val="FFFFFF"/>
          </a:solidFill>
          <a:ln w="7620">
            <a:solidFill>
              <a:srgbClr val="D5E0E7"/>
            </a:solidFill>
            <a:prstDash val="solid"/>
          </a:ln>
        </p:spPr>
      </p:sp>
      <p:sp>
        <p:nvSpPr>
          <p:cNvPr id="53" name="Text 51"/>
          <p:cNvSpPr/>
          <p:nvPr/>
        </p:nvSpPr>
        <p:spPr>
          <a:xfrm>
            <a:off x="10140696" y="432511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Match need</a:t>
            </a:r>
            <a:endParaRPr lang="en-US" sz="870" dirty="0"/>
          </a:p>
        </p:txBody>
      </p:sp>
      <p:sp>
        <p:nvSpPr>
          <p:cNvPr id="54" name="Shape 52"/>
          <p:cNvSpPr/>
          <p:nvPr/>
        </p:nvSpPr>
        <p:spPr>
          <a:xfrm>
            <a:off x="7918704" y="4873752"/>
            <a:ext cx="1188720" cy="594360"/>
          </a:xfrm>
          <a:prstGeom prst="rect">
            <a:avLst/>
          </a:prstGeom>
          <a:solidFill>
            <a:srgbClr val="F6F8FA"/>
          </a:solidFill>
          <a:ln w="7620">
            <a:solidFill>
              <a:srgbClr val="D5E0E7"/>
            </a:solidFill>
            <a:prstDash val="solid"/>
          </a:ln>
        </p:spPr>
      </p:sp>
      <p:sp>
        <p:nvSpPr>
          <p:cNvPr id="55" name="Text 53"/>
          <p:cNvSpPr/>
          <p:nvPr/>
        </p:nvSpPr>
        <p:spPr>
          <a:xfrm>
            <a:off x="7964424" y="4919472"/>
            <a:ext cx="1097280" cy="502920"/>
          </a:xfrm>
          <a:prstGeom prst="rect">
            <a:avLst/>
          </a:prstGeom>
          <a:noFill/>
          <a:ln/>
        </p:spPr>
        <p:txBody>
          <a:bodyPr wrap="square" lIns="0" tIns="0" rIns="0" bIns="0" rtlCol="0" anchor="ctr">
            <a:normAutofit/>
          </a:bodyPr>
          <a:lstStyle/>
          <a:p>
            <a:pPr algn="ctr" indent="0" marL="0">
              <a:buNone/>
            </a:pPr>
            <a:r>
              <a:rPr lang="en-US" sz="900" b="1" dirty="0">
                <a:solidFill>
                  <a:srgbClr val="1B3448"/>
                </a:solidFill>
                <a:latin typeface="Aptos" pitchFamily="34" charset="0"/>
                <a:ea typeface="Aptos" pitchFamily="34" charset="-122"/>
                <a:cs typeface="Aptos" pitchFamily="34" charset="-120"/>
              </a:rPr>
              <a:t>Support / cost</a:t>
            </a:r>
            <a:endParaRPr lang="en-US" sz="900" dirty="0"/>
          </a:p>
        </p:txBody>
      </p:sp>
      <p:sp>
        <p:nvSpPr>
          <p:cNvPr id="56" name="Shape 54"/>
          <p:cNvSpPr/>
          <p:nvPr/>
        </p:nvSpPr>
        <p:spPr>
          <a:xfrm>
            <a:off x="9107424" y="4873752"/>
            <a:ext cx="987552" cy="594360"/>
          </a:xfrm>
          <a:prstGeom prst="rect">
            <a:avLst/>
          </a:prstGeom>
          <a:solidFill>
            <a:srgbClr val="F6F8FA"/>
          </a:solidFill>
          <a:ln w="7620">
            <a:solidFill>
              <a:srgbClr val="D5E0E7"/>
            </a:solidFill>
            <a:prstDash val="solid"/>
          </a:ln>
        </p:spPr>
      </p:sp>
      <p:sp>
        <p:nvSpPr>
          <p:cNvPr id="57" name="Text 55"/>
          <p:cNvSpPr/>
          <p:nvPr/>
        </p:nvSpPr>
        <p:spPr>
          <a:xfrm>
            <a:off x="9153144"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58" name="Shape 56"/>
          <p:cNvSpPr/>
          <p:nvPr/>
        </p:nvSpPr>
        <p:spPr>
          <a:xfrm>
            <a:off x="10094976" y="4873752"/>
            <a:ext cx="987552" cy="594360"/>
          </a:xfrm>
          <a:prstGeom prst="rect">
            <a:avLst/>
          </a:prstGeom>
          <a:solidFill>
            <a:srgbClr val="F6F8FA"/>
          </a:solidFill>
          <a:ln w="7620">
            <a:solidFill>
              <a:srgbClr val="D5E0E7"/>
            </a:solidFill>
            <a:prstDash val="solid"/>
          </a:ln>
        </p:spPr>
      </p:sp>
      <p:sp>
        <p:nvSpPr>
          <p:cNvPr id="59" name="Text 57"/>
          <p:cNvSpPr/>
          <p:nvPr/>
        </p:nvSpPr>
        <p:spPr>
          <a:xfrm>
            <a:off x="10140696" y="4919472"/>
            <a:ext cx="896112" cy="502920"/>
          </a:xfrm>
          <a:prstGeom prst="rect">
            <a:avLst/>
          </a:prstGeom>
          <a:noFill/>
          <a:ln/>
        </p:spPr>
        <p:txBody>
          <a:bodyPr wrap="square" lIns="0" tIns="0" rIns="0" bIns="0" rtlCol="0" anchor="ctr">
            <a:normAutofit/>
          </a:bodyPr>
          <a:lstStyle/>
          <a:p>
            <a:pPr algn="ctr" indent="0" marL="0">
              <a:buNone/>
            </a:pPr>
            <a:r>
              <a:rPr lang="en-US" sz="870" dirty="0">
                <a:solidFill>
                  <a:srgbClr val="334B5C"/>
                </a:solidFill>
                <a:latin typeface="Aptos" pitchFamily="34" charset="0"/>
                <a:ea typeface="Aptos" pitchFamily="34" charset="-122"/>
                <a:cs typeface="Aptos" pitchFamily="34" charset="-120"/>
              </a:rPr>
              <a:t>Cite source</a:t>
            </a:r>
            <a:endParaRPr lang="en-US" sz="870" dirty="0"/>
          </a:p>
        </p:txBody>
      </p:sp>
      <p:sp>
        <p:nvSpPr>
          <p:cNvPr id="60" name="Text 58"/>
          <p:cNvSpPr/>
          <p:nvPr/>
        </p:nvSpPr>
        <p:spPr>
          <a:xfrm>
            <a:off x="7973568" y="5678424"/>
            <a:ext cx="3154680" cy="493776"/>
          </a:xfrm>
          <a:prstGeom prst="rect">
            <a:avLst/>
          </a:prstGeom>
          <a:noFill/>
          <a:ln/>
        </p:spPr>
        <p:txBody>
          <a:bodyPr wrap="square" lIns="0" tIns="0" rIns="0" bIns="0" rtlCol="0" anchor="ctr">
            <a:normAutofit/>
          </a:bodyPr>
          <a:lstStyle/>
          <a:p>
            <a:pPr algn="ctr" indent="0" marL="0">
              <a:buNone/>
            </a:pPr>
            <a:r>
              <a:rPr lang="en-US" sz="920" dirty="0">
                <a:solidFill>
                  <a:srgbClr val="607585"/>
                </a:solidFill>
                <a:latin typeface="Aptos" pitchFamily="34" charset="0"/>
                <a:ea typeface="Aptos" pitchFamily="34" charset="-122"/>
                <a:cs typeface="Aptos" pitchFamily="34" charset="-120"/>
              </a:rPr>
              <a:t>Use exact model manuals; do not infer missing specifications</a:t>
            </a:r>
            <a:endParaRPr lang="en-US" sz="920" dirty="0"/>
          </a:p>
        </p:txBody>
      </p:sp>
      <p:sp>
        <p:nvSpPr>
          <p:cNvPr id="61" name="Shape 59"/>
          <p:cNvSpPr/>
          <p:nvPr/>
        </p:nvSpPr>
        <p:spPr>
          <a:xfrm>
            <a:off x="603504" y="6318504"/>
            <a:ext cx="10972800" cy="0"/>
          </a:xfrm>
          <a:prstGeom prst="line">
            <a:avLst/>
          </a:prstGeom>
          <a:noFill/>
          <a:ln w="10160">
            <a:solidFill>
              <a:srgbClr val="D5E0E7"/>
            </a:solidFill>
            <a:prstDash val="solid"/>
          </a:ln>
        </p:spPr>
      </p:sp>
      <p:sp>
        <p:nvSpPr>
          <p:cNvPr id="62" name="Text 6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63" name="Text 6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07 / 18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Define convergence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In this context, convergence means closer integration and sharing of data, networks, engineering tools, and workflows among PLC control, HMI/SCADA, and higher-level information systems.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Convergence can use linked but segmented networks, gateways, common data models, or coordinated services; it does not require one device, one flat network, or one software product.</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MedPack example: a PLC publishes line state to SCADA for trends while local PLC sequencing remains authoritative and enterprise reporting receives approved production indicators.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Correct misconception: shared data access does not automatically grant control authority or make distinct protocols and security zones interchangeable.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08 / 18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Why industry converges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Drivers include wider availability of compatible network infrastructure, reusable device data, cross-station visibility, reporting, remote diagnostics, lifecycle coordination, and collaboration between operations and IT teams.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one MedPack station, local diagnosis and a reliable operator interface may outweigh enterprise data integration; for several stations, comparing downtime and trends may support scheduling and maintenance decisions.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Every driver has conditions: consistent tag definitions, clock/timestamp quality, network design, access control, support ownership, and clear purpose for collected data.</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comparison names which stakeholder gains value and what measurable decision or operating outcome improves at each scale.</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09 / 18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Converged MedPack architecture</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Procedure: draw field devices and local PLC control, HMI/SCADA services, historian/reporting, and any enterprise or remote-support connection as distinct functional layers.</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Mark each permitted data flow, protocol/interface, owner, direction, and boundary; identify where read-only monitoring is sufficient and where a command request is allowed.</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Keep essential sequence and independent safety functions local to their engineered control/safety design; ordinary supervisory availability must not be required for E-stop operation.</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debrief: shared infrastructure can support visibility, while segmentation and explicit interfaces limit unnecessary access and shared failure exposure.</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10 / 18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Cyber and operational risks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An unauthorised write to a command/setpoint, compromised remote account, malware spread across a flat network, or unsupported endpoint can disrupt production or complicate recovery.</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 network outage or stale tag can mislead an operator; shared switch/power failure can affect multiple stations, while poor account management obscures who changed a configuration.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each MedPack risk, record initiating event, affected asset/data, operational consequence, detection method, and recovery need; distinguish cybersecurity from ordinary component failure while considering both.</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discussion avoids claiming that a firewall, antivirus tool, or isolated subnet alone guarantees security or safe process behavior.</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FAULT AND RISK PATH</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092440" y="2734056"/>
            <a:ext cx="1389888" cy="484632"/>
          </a:xfrm>
          <a:prstGeom prst="rect">
            <a:avLst/>
          </a:prstGeom>
          <a:solidFill>
            <a:srgbClr val="F6F8FA"/>
          </a:solidFill>
          <a:ln w="14605">
            <a:solidFill>
              <a:srgbClr val="C65E4E"/>
            </a:solidFill>
            <a:prstDash val="solid"/>
          </a:ln>
        </p:spPr>
      </p:sp>
      <p:sp>
        <p:nvSpPr>
          <p:cNvPr id="31" name="Text 29"/>
          <p:cNvSpPr/>
          <p:nvPr/>
        </p:nvSpPr>
        <p:spPr>
          <a:xfrm>
            <a:off x="8165592" y="2788920"/>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Initiating event</a:t>
            </a:r>
            <a:endParaRPr lang="en-US" sz="930" dirty="0"/>
          </a:p>
        </p:txBody>
      </p:sp>
      <p:sp>
        <p:nvSpPr>
          <p:cNvPr id="32" name="Shape 30"/>
          <p:cNvSpPr/>
          <p:nvPr/>
        </p:nvSpPr>
        <p:spPr>
          <a:xfrm>
            <a:off x="9656064" y="2980944"/>
            <a:ext cx="1207008" cy="0"/>
          </a:xfrm>
          <a:prstGeom prst="line">
            <a:avLst/>
          </a:prstGeom>
          <a:noFill/>
          <a:ln w="16510">
            <a:solidFill>
              <a:srgbClr val="607585"/>
            </a:solidFill>
            <a:prstDash val="solid"/>
            <a:tailEnd type="triangle"/>
          </a:ln>
        </p:spPr>
      </p:sp>
      <p:sp>
        <p:nvSpPr>
          <p:cNvPr id="33" name="Shape 31"/>
          <p:cNvSpPr/>
          <p:nvPr/>
        </p:nvSpPr>
        <p:spPr>
          <a:xfrm>
            <a:off x="8092440" y="3438144"/>
            <a:ext cx="1389888" cy="484632"/>
          </a:xfrm>
          <a:prstGeom prst="rect">
            <a:avLst/>
          </a:prstGeom>
          <a:solidFill>
            <a:srgbClr val="F6F8FA"/>
          </a:solidFill>
          <a:ln w="14605">
            <a:solidFill>
              <a:srgbClr val="C65E4E"/>
            </a:solidFill>
            <a:prstDash val="solid"/>
          </a:ln>
        </p:spPr>
      </p:sp>
      <p:sp>
        <p:nvSpPr>
          <p:cNvPr id="34" name="Text 32"/>
          <p:cNvSpPr/>
          <p:nvPr/>
        </p:nvSpPr>
        <p:spPr>
          <a:xfrm>
            <a:off x="8165592" y="3493008"/>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Process effect</a:t>
            </a:r>
            <a:endParaRPr lang="en-US" sz="930" dirty="0"/>
          </a:p>
        </p:txBody>
      </p:sp>
      <p:sp>
        <p:nvSpPr>
          <p:cNvPr id="35" name="Shape 33"/>
          <p:cNvSpPr/>
          <p:nvPr/>
        </p:nvSpPr>
        <p:spPr>
          <a:xfrm>
            <a:off x="9656064" y="3685032"/>
            <a:ext cx="1207008" cy="0"/>
          </a:xfrm>
          <a:prstGeom prst="line">
            <a:avLst/>
          </a:prstGeom>
          <a:noFill/>
          <a:ln w="16510">
            <a:solidFill>
              <a:srgbClr val="607585"/>
            </a:solidFill>
            <a:prstDash val="solid"/>
            <a:tailEnd type="triangle"/>
          </a:ln>
        </p:spPr>
      </p:sp>
      <p:sp>
        <p:nvSpPr>
          <p:cNvPr id="36" name="Shape 34"/>
          <p:cNvSpPr/>
          <p:nvPr/>
        </p:nvSpPr>
        <p:spPr>
          <a:xfrm>
            <a:off x="8092440" y="4142232"/>
            <a:ext cx="1389888" cy="484632"/>
          </a:xfrm>
          <a:prstGeom prst="rect">
            <a:avLst/>
          </a:prstGeom>
          <a:solidFill>
            <a:srgbClr val="F6F8FA"/>
          </a:solidFill>
          <a:ln w="14605">
            <a:solidFill>
              <a:srgbClr val="C65E4E"/>
            </a:solidFill>
            <a:prstDash val="solid"/>
          </a:ln>
        </p:spPr>
      </p:sp>
      <p:sp>
        <p:nvSpPr>
          <p:cNvPr id="37" name="Text 35"/>
          <p:cNvSpPr/>
          <p:nvPr/>
        </p:nvSpPr>
        <p:spPr>
          <a:xfrm>
            <a:off x="8165592" y="4197096"/>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Detection</a:t>
            </a:r>
            <a:endParaRPr lang="en-US" sz="930" dirty="0"/>
          </a:p>
        </p:txBody>
      </p:sp>
      <p:sp>
        <p:nvSpPr>
          <p:cNvPr id="38" name="Shape 36"/>
          <p:cNvSpPr/>
          <p:nvPr/>
        </p:nvSpPr>
        <p:spPr>
          <a:xfrm>
            <a:off x="9656064" y="4389120"/>
            <a:ext cx="1207008" cy="0"/>
          </a:xfrm>
          <a:prstGeom prst="line">
            <a:avLst/>
          </a:prstGeom>
          <a:noFill/>
          <a:ln w="16510">
            <a:solidFill>
              <a:srgbClr val="087F8C"/>
            </a:solidFill>
            <a:prstDash val="solid"/>
            <a:tailEnd type="triangle"/>
          </a:ln>
        </p:spPr>
      </p:sp>
      <p:sp>
        <p:nvSpPr>
          <p:cNvPr id="39" name="Shape 37"/>
          <p:cNvSpPr/>
          <p:nvPr/>
        </p:nvSpPr>
        <p:spPr>
          <a:xfrm>
            <a:off x="8092440" y="4846320"/>
            <a:ext cx="1389888" cy="484632"/>
          </a:xfrm>
          <a:prstGeom prst="rect">
            <a:avLst/>
          </a:prstGeom>
          <a:solidFill>
            <a:srgbClr val="EAF3F0"/>
          </a:solidFill>
          <a:ln w="14605">
            <a:solidFill>
              <a:srgbClr val="087F8C"/>
            </a:solidFill>
            <a:prstDash val="solid"/>
          </a:ln>
        </p:spPr>
      </p:sp>
      <p:sp>
        <p:nvSpPr>
          <p:cNvPr id="40" name="Text 38"/>
          <p:cNvSpPr/>
          <p:nvPr/>
        </p:nvSpPr>
        <p:spPr>
          <a:xfrm>
            <a:off x="8165592" y="4901184"/>
            <a:ext cx="1243584" cy="374904"/>
          </a:xfrm>
          <a:prstGeom prst="rect">
            <a:avLst/>
          </a:prstGeom>
          <a:noFill/>
          <a:ln/>
        </p:spPr>
        <p:txBody>
          <a:bodyPr wrap="square" lIns="0" tIns="0" rIns="0" bIns="0" rtlCol="0" anchor="ctr">
            <a:normAutofit/>
          </a:bodyPr>
          <a:lstStyle/>
          <a:p>
            <a:pPr algn="ctr" indent="0" marL="0">
              <a:buNone/>
            </a:pPr>
            <a:r>
              <a:rPr lang="en-US" sz="930" b="1" dirty="0">
                <a:solidFill>
                  <a:srgbClr val="1B3448"/>
                </a:solidFill>
                <a:latin typeface="Aptos" pitchFamily="34" charset="0"/>
                <a:ea typeface="Aptos" pitchFamily="34" charset="-122"/>
                <a:cs typeface="Aptos" pitchFamily="34" charset="-120"/>
              </a:rPr>
              <a:t>Response / recovery</a:t>
            </a:r>
            <a:endParaRPr lang="en-US" sz="930" dirty="0"/>
          </a:p>
        </p:txBody>
      </p:sp>
      <p:sp>
        <p:nvSpPr>
          <p:cNvPr id="41" name="Text 39"/>
          <p:cNvSpPr/>
          <p:nvPr/>
        </p:nvSpPr>
        <p:spPr>
          <a:xfrm>
            <a:off x="8037576" y="5586984"/>
            <a:ext cx="3337560" cy="384048"/>
          </a:xfrm>
          <a:prstGeom prst="rect">
            <a:avLst/>
          </a:prstGeom>
          <a:noFill/>
          <a:ln/>
        </p:spPr>
        <p:txBody>
          <a:bodyPr wrap="square" lIns="0" tIns="0" rIns="0" bIns="0" rtlCol="0" anchor="ctr">
            <a:normAutofit/>
          </a:bodyPr>
          <a:lstStyle/>
          <a:p>
            <a:pPr algn="ctr" indent="0" marL="0">
              <a:buNone/>
            </a:pPr>
            <a:r>
              <a:rPr lang="en-US" sz="920" dirty="0">
                <a:solidFill>
                  <a:srgbClr val="1B3448"/>
                </a:solidFill>
                <a:latin typeface="Aptos" pitchFamily="34" charset="0"/>
                <a:ea typeface="Aptos" pitchFamily="34" charset="-122"/>
                <a:cs typeface="Aptos" pitchFamily="34" charset="-120"/>
              </a:rPr>
              <a:t>Estimate likelihood and severity from evidence, not guesswork</a:t>
            </a:r>
            <a:endParaRPr lang="en-US" sz="920" dirty="0"/>
          </a:p>
        </p:txBody>
      </p:sp>
      <p:sp>
        <p:nvSpPr>
          <p:cNvPr id="42" name="Shape 40"/>
          <p:cNvSpPr/>
          <p:nvPr/>
        </p:nvSpPr>
        <p:spPr>
          <a:xfrm>
            <a:off x="603504" y="6318504"/>
            <a:ext cx="10972800" cy="0"/>
          </a:xfrm>
          <a:prstGeom prst="line">
            <a:avLst/>
          </a:prstGeom>
          <a:noFill/>
          <a:ln w="10160">
            <a:solidFill>
              <a:srgbClr val="D5E0E7"/>
            </a:solidFill>
            <a:prstDash val="solid"/>
          </a:ln>
        </p:spPr>
      </p:sp>
      <p:sp>
        <p:nvSpPr>
          <p:cNvPr id="43" name="Text 41"/>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4" name="Text 42"/>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11 / 18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15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Select proportionate controls</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Define zones and controlled conduits for PLC/control, supervisory, and enterprise/remote-support traffic; allow only documented flows needed for MedPack operation and maintenance.</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Apply named accounts, least privilege, role separation, controlled time-limited remote access, configuration/change approval, event monitoring, and tested backups with a practical restore procedure.</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Plan patching and lifecycle support against production and validation constraints; include network-device configuration and PLC/HMI project backups, not just workstation files.</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Verify controls against the actual site architecture and risk assessment; maintain independent engineered safety functions and essential local control without relying on ordinary SCADA availability.</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NETWORK SECURITY ZONES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18704" y="2660904"/>
            <a:ext cx="1024128" cy="1124712"/>
          </a:xfrm>
          <a:prstGeom prst="rect">
            <a:avLst/>
          </a:prstGeom>
          <a:solidFill>
            <a:srgbClr val="EAF3F4"/>
          </a:solidFill>
          <a:ln w="17780">
            <a:solidFill>
              <a:srgbClr val="C65E4E"/>
            </a:solidFill>
            <a:prstDash val="solid"/>
          </a:ln>
        </p:spPr>
      </p:sp>
      <p:sp>
        <p:nvSpPr>
          <p:cNvPr id="31" name="Text 29"/>
          <p:cNvSpPr/>
          <p:nvPr/>
        </p:nvSpPr>
        <p:spPr>
          <a:xfrm>
            <a:off x="7964424" y="2798064"/>
            <a:ext cx="932688" cy="310896"/>
          </a:xfrm>
          <a:prstGeom prst="rect">
            <a:avLst/>
          </a:prstGeom>
          <a:noFill/>
          <a:ln/>
        </p:spPr>
        <p:txBody>
          <a:bodyPr wrap="square" lIns="0" tIns="0" rIns="0" bIns="0" rtlCol="0" anchor="ctr">
            <a:normAutofit/>
          </a:bodyPr>
          <a:lstStyle/>
          <a:p>
            <a:pPr algn="ctr" indent="0" marL="0">
              <a:buNone/>
            </a:pPr>
            <a:r>
              <a:rPr lang="en-US" sz="780" b="1" dirty="0">
                <a:solidFill>
                  <a:srgbClr val="C65E4E"/>
                </a:solidFill>
                <a:latin typeface="Aptos" pitchFamily="34" charset="0"/>
                <a:ea typeface="Aptos" pitchFamily="34" charset="-122"/>
                <a:cs typeface="Aptos" pitchFamily="34" charset="-120"/>
              </a:rPr>
              <a:t>CELL / CONTROL</a:t>
            </a:r>
            <a:endParaRPr lang="en-US" sz="780" dirty="0"/>
          </a:p>
        </p:txBody>
      </p:sp>
      <p:sp>
        <p:nvSpPr>
          <p:cNvPr id="32" name="Text 30"/>
          <p:cNvSpPr/>
          <p:nvPr/>
        </p:nvSpPr>
        <p:spPr>
          <a:xfrm>
            <a:off x="7973568" y="3227832"/>
            <a:ext cx="914400" cy="365760"/>
          </a:xfrm>
          <a:prstGeom prst="rect">
            <a:avLst/>
          </a:prstGeom>
          <a:noFill/>
          <a:ln/>
        </p:spPr>
        <p:txBody>
          <a:bodyPr wrap="square" lIns="0" tIns="0" rIns="0" bIns="0" rtlCol="0" anchor="ctr">
            <a:normAutofit/>
          </a:bodyPr>
          <a:lstStyle/>
          <a:p>
            <a:pPr algn="ctr" indent="0" marL="0">
              <a:buNone/>
            </a:pPr>
            <a:r>
              <a:rPr lang="en-US" sz="850" dirty="0">
                <a:solidFill>
                  <a:srgbClr val="334B5C"/>
                </a:solidFill>
                <a:latin typeface="Aptos" pitchFamily="34" charset="0"/>
                <a:ea typeface="Aptos" pitchFamily="34" charset="-122"/>
                <a:cs typeface="Aptos" pitchFamily="34" charset="-120"/>
              </a:rPr>
              <a:t>PLC + local HMI</a:t>
            </a:r>
            <a:endParaRPr lang="en-US" sz="850" dirty="0"/>
          </a:p>
        </p:txBody>
      </p:sp>
      <p:sp>
        <p:nvSpPr>
          <p:cNvPr id="33" name="Shape 31"/>
          <p:cNvSpPr/>
          <p:nvPr/>
        </p:nvSpPr>
        <p:spPr>
          <a:xfrm>
            <a:off x="8961120" y="3227832"/>
            <a:ext cx="100584" cy="0"/>
          </a:xfrm>
          <a:prstGeom prst="line">
            <a:avLst/>
          </a:prstGeom>
          <a:noFill/>
          <a:ln w="15240">
            <a:solidFill>
              <a:srgbClr val="C65E4E"/>
            </a:solidFill>
            <a:prstDash val="solid"/>
            <a:tailEnd type="triangle"/>
          </a:ln>
        </p:spPr>
      </p:sp>
      <p:sp>
        <p:nvSpPr>
          <p:cNvPr id="34" name="Shape 32"/>
          <p:cNvSpPr/>
          <p:nvPr/>
        </p:nvSpPr>
        <p:spPr>
          <a:xfrm>
            <a:off x="9089136" y="2660904"/>
            <a:ext cx="1024128" cy="1124712"/>
          </a:xfrm>
          <a:prstGeom prst="rect">
            <a:avLst/>
          </a:prstGeom>
          <a:solidFill>
            <a:srgbClr val="F8F3E8"/>
          </a:solidFill>
          <a:ln w="11430">
            <a:solidFill>
              <a:srgbClr val="D5E0E7"/>
            </a:solidFill>
            <a:prstDash val="solid"/>
          </a:ln>
        </p:spPr>
      </p:sp>
      <p:sp>
        <p:nvSpPr>
          <p:cNvPr id="35" name="Text 33"/>
          <p:cNvSpPr/>
          <p:nvPr/>
        </p:nvSpPr>
        <p:spPr>
          <a:xfrm>
            <a:off x="9134856" y="2798064"/>
            <a:ext cx="932688" cy="310896"/>
          </a:xfrm>
          <a:prstGeom prst="rect">
            <a:avLst/>
          </a:prstGeom>
          <a:noFill/>
          <a:ln/>
        </p:spPr>
        <p:txBody>
          <a:bodyPr wrap="square" lIns="0" tIns="0" rIns="0" bIns="0" rtlCol="0" anchor="ctr">
            <a:normAutofit/>
          </a:bodyPr>
          <a:lstStyle/>
          <a:p>
            <a:pPr algn="ctr" indent="0" marL="0">
              <a:buNone/>
            </a:pPr>
            <a:r>
              <a:rPr lang="en-US" sz="780" b="1" dirty="0">
                <a:solidFill>
                  <a:srgbClr val="1B3448"/>
                </a:solidFill>
                <a:latin typeface="Aptos" pitchFamily="34" charset="0"/>
                <a:ea typeface="Aptos" pitchFamily="34" charset="-122"/>
                <a:cs typeface="Aptos" pitchFamily="34" charset="-120"/>
              </a:rPr>
              <a:t>SUPERVISORY</a:t>
            </a:r>
            <a:endParaRPr lang="en-US" sz="780" dirty="0"/>
          </a:p>
        </p:txBody>
      </p:sp>
      <p:sp>
        <p:nvSpPr>
          <p:cNvPr id="36" name="Text 34"/>
          <p:cNvSpPr/>
          <p:nvPr/>
        </p:nvSpPr>
        <p:spPr>
          <a:xfrm>
            <a:off x="9144000" y="3227832"/>
            <a:ext cx="914400" cy="365760"/>
          </a:xfrm>
          <a:prstGeom prst="rect">
            <a:avLst/>
          </a:prstGeom>
          <a:noFill/>
          <a:ln/>
        </p:spPr>
        <p:txBody>
          <a:bodyPr wrap="square" lIns="0" tIns="0" rIns="0" bIns="0" rtlCol="0" anchor="ctr">
            <a:normAutofit/>
          </a:bodyPr>
          <a:lstStyle/>
          <a:p>
            <a:pPr algn="ctr" indent="0" marL="0">
              <a:buNone/>
            </a:pPr>
            <a:r>
              <a:rPr lang="en-US" sz="850" dirty="0">
                <a:solidFill>
                  <a:srgbClr val="334B5C"/>
                </a:solidFill>
                <a:latin typeface="Aptos" pitchFamily="34" charset="0"/>
                <a:ea typeface="Aptos" pitchFamily="34" charset="-122"/>
                <a:cs typeface="Aptos" pitchFamily="34" charset="-120"/>
              </a:rPr>
              <a:t>SCADA + history</a:t>
            </a:r>
            <a:endParaRPr lang="en-US" sz="850" dirty="0"/>
          </a:p>
        </p:txBody>
      </p:sp>
      <p:sp>
        <p:nvSpPr>
          <p:cNvPr id="37" name="Shape 35"/>
          <p:cNvSpPr/>
          <p:nvPr/>
        </p:nvSpPr>
        <p:spPr>
          <a:xfrm>
            <a:off x="10131552" y="3227832"/>
            <a:ext cx="100584" cy="0"/>
          </a:xfrm>
          <a:prstGeom prst="line">
            <a:avLst/>
          </a:prstGeom>
          <a:noFill/>
          <a:ln w="15240">
            <a:solidFill>
              <a:srgbClr val="C65E4E"/>
            </a:solidFill>
            <a:prstDash val="solid"/>
            <a:tailEnd type="triangle"/>
          </a:ln>
        </p:spPr>
      </p:sp>
      <p:sp>
        <p:nvSpPr>
          <p:cNvPr id="38" name="Shape 36"/>
          <p:cNvSpPr/>
          <p:nvPr/>
        </p:nvSpPr>
        <p:spPr>
          <a:xfrm>
            <a:off x="10259568" y="2660904"/>
            <a:ext cx="1024128" cy="1124712"/>
          </a:xfrm>
          <a:prstGeom prst="rect">
            <a:avLst/>
          </a:prstGeom>
          <a:solidFill>
            <a:srgbClr val="F2F6F8"/>
          </a:solidFill>
          <a:ln w="11430">
            <a:solidFill>
              <a:srgbClr val="D5E0E7"/>
            </a:solidFill>
            <a:prstDash val="solid"/>
          </a:ln>
        </p:spPr>
      </p:sp>
      <p:sp>
        <p:nvSpPr>
          <p:cNvPr id="39" name="Text 37"/>
          <p:cNvSpPr/>
          <p:nvPr/>
        </p:nvSpPr>
        <p:spPr>
          <a:xfrm>
            <a:off x="10305288" y="2798064"/>
            <a:ext cx="932688" cy="310896"/>
          </a:xfrm>
          <a:prstGeom prst="rect">
            <a:avLst/>
          </a:prstGeom>
          <a:noFill/>
          <a:ln/>
        </p:spPr>
        <p:txBody>
          <a:bodyPr wrap="square" lIns="0" tIns="0" rIns="0" bIns="0" rtlCol="0" anchor="ctr">
            <a:normAutofit/>
          </a:bodyPr>
          <a:lstStyle/>
          <a:p>
            <a:pPr algn="ctr" indent="0" marL="0">
              <a:buNone/>
            </a:pPr>
            <a:r>
              <a:rPr lang="en-US" sz="780" b="1" dirty="0">
                <a:solidFill>
                  <a:srgbClr val="1B3448"/>
                </a:solidFill>
                <a:latin typeface="Aptos" pitchFamily="34" charset="0"/>
                <a:ea typeface="Aptos" pitchFamily="34" charset="-122"/>
                <a:cs typeface="Aptos" pitchFamily="34" charset="-120"/>
              </a:rPr>
              <a:t>BUSINESS</a:t>
            </a:r>
            <a:endParaRPr lang="en-US" sz="780" dirty="0"/>
          </a:p>
        </p:txBody>
      </p:sp>
      <p:sp>
        <p:nvSpPr>
          <p:cNvPr id="40" name="Text 38"/>
          <p:cNvSpPr/>
          <p:nvPr/>
        </p:nvSpPr>
        <p:spPr>
          <a:xfrm>
            <a:off x="10314432" y="3227832"/>
            <a:ext cx="914400" cy="365760"/>
          </a:xfrm>
          <a:prstGeom prst="rect">
            <a:avLst/>
          </a:prstGeom>
          <a:noFill/>
          <a:ln/>
        </p:spPr>
        <p:txBody>
          <a:bodyPr wrap="square" lIns="0" tIns="0" rIns="0" bIns="0" rtlCol="0" anchor="ctr">
            <a:normAutofit/>
          </a:bodyPr>
          <a:lstStyle/>
          <a:p>
            <a:pPr algn="ctr" indent="0" marL="0">
              <a:buNone/>
            </a:pPr>
            <a:r>
              <a:rPr lang="en-US" sz="850" dirty="0">
                <a:solidFill>
                  <a:srgbClr val="334B5C"/>
                </a:solidFill>
                <a:latin typeface="Aptos" pitchFamily="34" charset="0"/>
                <a:ea typeface="Aptos" pitchFamily="34" charset="-122"/>
                <a:cs typeface="Aptos" pitchFamily="34" charset="-120"/>
              </a:rPr>
              <a:t>Approved reports</a:t>
            </a:r>
            <a:endParaRPr lang="en-US" sz="850" dirty="0"/>
          </a:p>
        </p:txBody>
      </p:sp>
      <p:sp>
        <p:nvSpPr>
          <p:cNvPr id="41" name="Text 39"/>
          <p:cNvSpPr/>
          <p:nvPr/>
        </p:nvSpPr>
        <p:spPr>
          <a:xfrm>
            <a:off x="8010144" y="4142232"/>
            <a:ext cx="3200400" cy="256032"/>
          </a:xfrm>
          <a:prstGeom prst="rect">
            <a:avLst/>
          </a:prstGeom>
          <a:noFill/>
          <a:ln/>
        </p:spPr>
        <p:txBody>
          <a:bodyPr wrap="square" lIns="0" tIns="0" rIns="0" bIns="0" rtlCol="0" anchor="ctr">
            <a:normAutofit/>
          </a:bodyPr>
          <a:lstStyle/>
          <a:p>
            <a:pPr algn="ctr" indent="0" marL="0">
              <a:buNone/>
            </a:pPr>
            <a:r>
              <a:rPr lang="en-US" sz="850" b="1" dirty="0">
                <a:solidFill>
                  <a:srgbClr val="C65E4E"/>
                </a:solidFill>
                <a:latin typeface="Aptos" pitchFamily="34" charset="0"/>
                <a:ea typeface="Aptos" pitchFamily="34" charset="-122"/>
                <a:cs typeface="Aptos" pitchFamily="34" charset="-120"/>
              </a:rPr>
              <a:t>CONTROL THE BOUNDARIES</a:t>
            </a:r>
            <a:endParaRPr lang="en-US" sz="850" dirty="0"/>
          </a:p>
        </p:txBody>
      </p:sp>
      <p:sp>
        <p:nvSpPr>
          <p:cNvPr id="42" name="Shape 40"/>
          <p:cNvSpPr/>
          <p:nvPr/>
        </p:nvSpPr>
        <p:spPr>
          <a:xfrm>
            <a:off x="7918704" y="4553712"/>
            <a:ext cx="1536192" cy="411480"/>
          </a:xfrm>
          <a:prstGeom prst="rect">
            <a:avLst/>
          </a:prstGeom>
          <a:solidFill>
            <a:srgbClr val="FFFFFF"/>
          </a:solidFill>
          <a:ln w="14605">
            <a:solidFill>
              <a:srgbClr val="C65E4E"/>
            </a:solidFill>
            <a:prstDash val="solid"/>
          </a:ln>
        </p:spPr>
      </p:sp>
      <p:sp>
        <p:nvSpPr>
          <p:cNvPr id="43" name="Text 41"/>
          <p:cNvSpPr/>
          <p:nvPr/>
        </p:nvSpPr>
        <p:spPr>
          <a:xfrm>
            <a:off x="7991856" y="4608576"/>
            <a:ext cx="1389888" cy="301752"/>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Segmentation</a:t>
            </a:r>
            <a:endParaRPr lang="en-US" sz="840" dirty="0"/>
          </a:p>
        </p:txBody>
      </p:sp>
      <p:sp>
        <p:nvSpPr>
          <p:cNvPr id="44" name="Shape 42"/>
          <p:cNvSpPr/>
          <p:nvPr/>
        </p:nvSpPr>
        <p:spPr>
          <a:xfrm>
            <a:off x="9637776" y="4553712"/>
            <a:ext cx="1536192" cy="411480"/>
          </a:xfrm>
          <a:prstGeom prst="rect">
            <a:avLst/>
          </a:prstGeom>
          <a:solidFill>
            <a:srgbClr val="FFFFFF"/>
          </a:solidFill>
          <a:ln w="14605">
            <a:solidFill>
              <a:srgbClr val="C65E4E"/>
            </a:solidFill>
            <a:prstDash val="solid"/>
          </a:ln>
        </p:spPr>
      </p:sp>
      <p:sp>
        <p:nvSpPr>
          <p:cNvPr id="45" name="Text 43"/>
          <p:cNvSpPr/>
          <p:nvPr/>
        </p:nvSpPr>
        <p:spPr>
          <a:xfrm>
            <a:off x="9710928" y="4608576"/>
            <a:ext cx="1389888" cy="301752"/>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Least privilege</a:t>
            </a:r>
            <a:endParaRPr lang="en-US" sz="840" dirty="0"/>
          </a:p>
        </p:txBody>
      </p:sp>
      <p:sp>
        <p:nvSpPr>
          <p:cNvPr id="46" name="Shape 44"/>
          <p:cNvSpPr/>
          <p:nvPr/>
        </p:nvSpPr>
        <p:spPr>
          <a:xfrm>
            <a:off x="7918704" y="5129784"/>
            <a:ext cx="1536192" cy="411480"/>
          </a:xfrm>
          <a:prstGeom prst="rect">
            <a:avLst/>
          </a:prstGeom>
          <a:solidFill>
            <a:srgbClr val="FFFFFF"/>
          </a:solidFill>
          <a:ln w="14605">
            <a:solidFill>
              <a:srgbClr val="C65E4E"/>
            </a:solidFill>
            <a:prstDash val="solid"/>
          </a:ln>
        </p:spPr>
      </p:sp>
      <p:sp>
        <p:nvSpPr>
          <p:cNvPr id="47" name="Text 45"/>
          <p:cNvSpPr/>
          <p:nvPr/>
        </p:nvSpPr>
        <p:spPr>
          <a:xfrm>
            <a:off x="7991856" y="5184648"/>
            <a:ext cx="1389888" cy="301752"/>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Controlled remote access</a:t>
            </a:r>
            <a:endParaRPr lang="en-US" sz="840" dirty="0"/>
          </a:p>
        </p:txBody>
      </p:sp>
      <p:sp>
        <p:nvSpPr>
          <p:cNvPr id="48" name="Shape 46"/>
          <p:cNvSpPr/>
          <p:nvPr/>
        </p:nvSpPr>
        <p:spPr>
          <a:xfrm>
            <a:off x="9637776" y="5129784"/>
            <a:ext cx="1536192" cy="411480"/>
          </a:xfrm>
          <a:prstGeom prst="rect">
            <a:avLst/>
          </a:prstGeom>
          <a:solidFill>
            <a:srgbClr val="FFFFFF"/>
          </a:solidFill>
          <a:ln w="14605">
            <a:solidFill>
              <a:srgbClr val="C65E4E"/>
            </a:solidFill>
            <a:prstDash val="solid"/>
          </a:ln>
        </p:spPr>
      </p:sp>
      <p:sp>
        <p:nvSpPr>
          <p:cNvPr id="49" name="Text 47"/>
          <p:cNvSpPr/>
          <p:nvPr/>
        </p:nvSpPr>
        <p:spPr>
          <a:xfrm>
            <a:off x="9710928" y="5184648"/>
            <a:ext cx="1389888" cy="301752"/>
          </a:xfrm>
          <a:prstGeom prst="rect">
            <a:avLst/>
          </a:prstGeom>
          <a:noFill/>
          <a:ln/>
        </p:spPr>
        <p:txBody>
          <a:bodyPr wrap="square" lIns="0" tIns="0" rIns="0" bIns="0" rtlCol="0" anchor="ctr">
            <a:normAutofit/>
          </a:bodyPr>
          <a:lstStyle/>
          <a:p>
            <a:pPr algn="ctr" indent="0" marL="0">
              <a:buNone/>
            </a:pPr>
            <a:r>
              <a:rPr lang="en-US" sz="840" b="1" dirty="0">
                <a:solidFill>
                  <a:srgbClr val="1B3448"/>
                </a:solidFill>
                <a:latin typeface="Aptos" pitchFamily="34" charset="0"/>
                <a:ea typeface="Aptos" pitchFamily="34" charset="-122"/>
                <a:cs typeface="Aptos" pitchFamily="34" charset="-120"/>
              </a:rPr>
              <a:t>Tested backups</a:t>
            </a:r>
            <a:endParaRPr lang="en-US" sz="840" dirty="0"/>
          </a:p>
        </p:txBody>
      </p:sp>
      <p:sp>
        <p:nvSpPr>
          <p:cNvPr id="50" name="Text 48"/>
          <p:cNvSpPr/>
          <p:nvPr/>
        </p:nvSpPr>
        <p:spPr>
          <a:xfrm>
            <a:off x="7991856" y="5632704"/>
            <a:ext cx="3246120" cy="347472"/>
          </a:xfrm>
          <a:prstGeom prst="rect">
            <a:avLst/>
          </a:prstGeom>
          <a:noFill/>
          <a:ln/>
        </p:spPr>
        <p:txBody>
          <a:bodyPr wrap="square" lIns="0" tIns="0" rIns="0" bIns="0" rtlCol="0" anchor="ctr">
            <a:normAutofit/>
          </a:bodyPr>
          <a:lstStyle/>
          <a:p>
            <a:pPr algn="ctr" indent="0" marL="0">
              <a:buNone/>
            </a:pPr>
            <a:r>
              <a:rPr lang="en-US" sz="890" dirty="0">
                <a:solidFill>
                  <a:srgbClr val="1B3448"/>
                </a:solidFill>
                <a:latin typeface="Aptos" pitchFamily="34" charset="0"/>
                <a:ea typeface="Aptos" pitchFamily="34" charset="-122"/>
                <a:cs typeface="Aptos" pitchFamily="34" charset="-120"/>
              </a:rPr>
              <a:t>Local control remains available if supervisory links fail</a:t>
            </a:r>
            <a:endParaRPr lang="en-US" sz="890" dirty="0"/>
          </a:p>
        </p:txBody>
      </p:sp>
      <p:sp>
        <p:nvSpPr>
          <p:cNvPr id="51" name="Shape 49"/>
          <p:cNvSpPr/>
          <p:nvPr/>
        </p:nvSpPr>
        <p:spPr>
          <a:xfrm>
            <a:off x="603504" y="6318504"/>
            <a:ext cx="10972800" cy="0"/>
          </a:xfrm>
          <a:prstGeom prst="line">
            <a:avLst/>
          </a:prstGeom>
          <a:noFill/>
          <a:ln w="10160">
            <a:solidFill>
              <a:srgbClr val="D5E0E7"/>
            </a:solidFill>
            <a:prstDash val="solid"/>
          </a:ln>
        </p:spPr>
      </p:sp>
      <p:sp>
        <p:nvSpPr>
          <p:cNvPr id="52" name="Text 5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53" name="Text 5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12 / 18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Data governance and regulated context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Classify MedPack counts, alarms, recipes, and records by intended use: an operational indicator is not automatically a controlled production or quality record.</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If regulated electronic records are in scope, agree requirements for validation, identity/access, audit trail, retention, time synchronization, backup, and change control with the site's responsible quality and compliance functions.</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The PLC/HMI/SCADA product label or a built-in audit feature alone does not establish pharmaceutical regulatory compliance; evidence depends on intended use, configuration, procedures, and accountable review.</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response names the data owner, purpose, authoritative source, retention rule, and approval path before promising a record capability.</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13 / 18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10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Convergence assurance checklist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Activity procedure: apply the assurance questions to the Week 7 architecture: data owner, documented tags, write permissions, stale-data indication, local-control behavior, tested recovery, and traceable changes.</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each “yes,” identify evidence such as a tag register, configuration export, access-role test, connection-loss test, restore exercise, or approved change record.</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Expected finding: any “unknown” becomes an action with an owner and verification method; a drawn boundary alone does not prove that traffic or permissions are enforced.</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Debrief one failure path from sensor/network to display and state how the operator recognizes it and what remains under local control.</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65E4E"/>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BENEFIT</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65E4E"/>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LIMITATION</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65E4E"/>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RISK</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65E4E"/>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MITIGATION</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14 / 18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M3 evaluation clinic</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Procedure: write two short evaluations, one for a single MedPack station and one for a growing line, covering operational benefit, limitation/cost, risk, mitigation, and conclusion.</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Support each claim with scenario evidence such as station count, downtime consequence, user need, verified data quality, available support, or lifecycle cost; identify assumptions explicitly.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Peer review asks whether the recommendation changes with station count, history/report needs, staff capability, network/cyber controls, or cost; reject “SCADA is always better” without evidence.</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output is a conditional comparison that explains when a local HMI is sufficient and what additional need justifies SCADA.</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SUGGESTED VISUAL</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882128" y="2432304"/>
            <a:ext cx="3483864" cy="3447288"/>
          </a:xfrm>
          <a:prstGeom prst="rect">
            <a:avLst/>
          </a:prstGeom>
          <a:solidFill>
            <a:srgbClr val="E8EFF3"/>
          </a:solidFill>
          <a:ln w="13970">
            <a:solidFill>
              <a:srgbClr val="AFC1CD"/>
            </a:solidFill>
            <a:prstDash val="solid"/>
          </a:ln>
        </p:spPr>
      </p:sp>
      <p:sp>
        <p:nvSpPr>
          <p:cNvPr id="31" name="Text 29"/>
          <p:cNvSpPr/>
          <p:nvPr/>
        </p:nvSpPr>
        <p:spPr>
          <a:xfrm>
            <a:off x="8138160" y="3666744"/>
            <a:ext cx="2971800" cy="384048"/>
          </a:xfrm>
          <a:prstGeom prst="rect">
            <a:avLst/>
          </a:prstGeom>
          <a:noFill/>
          <a:ln/>
        </p:spPr>
        <p:txBody>
          <a:bodyPr wrap="square" lIns="0" tIns="0" rIns="0" bIns="0" rtlCol="0" anchor="ctr">
            <a:normAutofit/>
          </a:bodyPr>
          <a:lstStyle/>
          <a:p>
            <a:pPr algn="ctr" indent="0" marL="0">
              <a:buNone/>
            </a:pPr>
            <a:r>
              <a:rPr lang="en-US" sz="1800" b="1" dirty="0">
                <a:solidFill>
                  <a:srgbClr val="C65E4E"/>
                </a:solidFill>
                <a:latin typeface="Aptos Display" pitchFamily="34" charset="0"/>
                <a:ea typeface="Aptos Display" pitchFamily="34" charset="-122"/>
                <a:cs typeface="Aptos Display" pitchFamily="34" charset="-120"/>
              </a:rPr>
              <a:t>IMAGE SPACE</a:t>
            </a:r>
            <a:endParaRPr lang="en-US" sz="1800" dirty="0"/>
          </a:p>
        </p:txBody>
      </p:sp>
      <p:sp>
        <p:nvSpPr>
          <p:cNvPr id="32" name="Text 30"/>
          <p:cNvSpPr/>
          <p:nvPr/>
        </p:nvSpPr>
        <p:spPr>
          <a:xfrm>
            <a:off x="8229600" y="4123944"/>
            <a:ext cx="2788920" cy="502920"/>
          </a:xfrm>
          <a:prstGeom prst="rect">
            <a:avLst/>
          </a:prstGeom>
          <a:noFill/>
          <a:ln/>
        </p:spPr>
        <p:txBody>
          <a:bodyPr wrap="square" lIns="0" tIns="0" rIns="0" bIns="0" rtlCol="0" anchor="ctr">
            <a:normAutofit/>
          </a:bodyPr>
          <a:lstStyle/>
          <a:p>
            <a:pPr algn="ctr" indent="0" marL="0">
              <a:buNone/>
            </a:pPr>
            <a:r>
              <a:rPr lang="en-US" sz="1050" dirty="0">
                <a:solidFill>
                  <a:srgbClr val="607585"/>
                </a:solidFill>
                <a:latin typeface="Aptos" pitchFamily="34" charset="0"/>
                <a:ea typeface="Aptos" pitchFamily="34" charset="-122"/>
                <a:cs typeface="Aptos" pitchFamily="34" charset="-120"/>
              </a:rPr>
              <a:t>Insert the visual described in the speaker notes</a:t>
            </a:r>
            <a:endParaRPr lang="en-US" sz="1050" dirty="0"/>
          </a:p>
        </p:txBody>
      </p:sp>
      <p:sp>
        <p:nvSpPr>
          <p:cNvPr id="33" name="Shape 31"/>
          <p:cNvSpPr/>
          <p:nvPr/>
        </p:nvSpPr>
        <p:spPr>
          <a:xfrm>
            <a:off x="603504" y="6318504"/>
            <a:ext cx="10972800" cy="0"/>
          </a:xfrm>
          <a:prstGeom prst="line">
            <a:avLst/>
          </a:prstGeom>
          <a:noFill/>
          <a:ln w="10160">
            <a:solidFill>
              <a:srgbClr val="D5E0E7"/>
            </a:solidFill>
            <a:prstDash val="solid"/>
          </a:ln>
        </p:spPr>
      </p:sp>
      <p:sp>
        <p:nvSpPr>
          <p:cNvPr id="34" name="Text 3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35" name="Text 3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15 / 18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20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D2 convergence recommendation panel</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Procedure: present a structured recommendation: claim -&gt; industrial need -&gt; evidence/benefit -&gt; counterpoint -&gt; risk/control -&gt; conditional conclusion, supported by one architecture drawing.</a:t>
            </a:r>
            <a:endParaRPr lang="en-US" sz="14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Identify what stays local (sequencing, validated permissives, independent safety function), what data is shared (named status/trend values), and which service or user owns each boundary.</a:t>
            </a:r>
            <a:endParaRPr lang="en-US" sz="14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Panel challenge: explain how the recommendation changes with uptime target, station count, record needs, cyber policy, support capability, or whole-life cost; name a measurable trigger for revisiting it.</a:t>
            </a:r>
            <a:endParaRPr lang="en-US" sz="14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Expected D2 rationale justifies convergence rather than merely describing it, acknowledges a valid alternative, and pairs each material risk with a proportionate, verifiable control.</a:t>
            </a:r>
            <a:endParaRPr lang="en-US" sz="14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CONTROL SYSTEM LAYERS</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7955280" y="2587752"/>
            <a:ext cx="3337560" cy="521208"/>
          </a:xfrm>
          <a:prstGeom prst="rect">
            <a:avLst/>
          </a:prstGeom>
          <a:solidFill>
            <a:srgbClr val="F6F8FA"/>
          </a:solidFill>
          <a:ln w="11430">
            <a:solidFill>
              <a:srgbClr val="D5E0E7"/>
            </a:solidFill>
            <a:prstDash val="solid"/>
          </a:ln>
        </p:spPr>
      </p:sp>
      <p:sp>
        <p:nvSpPr>
          <p:cNvPr id="31" name="Text 29"/>
          <p:cNvSpPr/>
          <p:nvPr/>
        </p:nvSpPr>
        <p:spPr>
          <a:xfrm>
            <a:off x="8083296" y="2670048"/>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FIELD</a:t>
            </a:r>
            <a:endParaRPr lang="en-US" sz="830" dirty="0"/>
          </a:p>
        </p:txBody>
      </p:sp>
      <p:sp>
        <p:nvSpPr>
          <p:cNvPr id="32" name="Text 30"/>
          <p:cNvSpPr/>
          <p:nvPr/>
        </p:nvSpPr>
        <p:spPr>
          <a:xfrm>
            <a:off x="9116568" y="2679192"/>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Sensors  /  actuators</a:t>
            </a:r>
            <a:endParaRPr lang="en-US" sz="1020" dirty="0"/>
          </a:p>
        </p:txBody>
      </p:sp>
      <p:sp>
        <p:nvSpPr>
          <p:cNvPr id="33" name="Shape 31"/>
          <p:cNvSpPr/>
          <p:nvPr/>
        </p:nvSpPr>
        <p:spPr>
          <a:xfrm>
            <a:off x="7955280" y="3255264"/>
            <a:ext cx="3337560" cy="521208"/>
          </a:xfrm>
          <a:prstGeom prst="rect">
            <a:avLst/>
          </a:prstGeom>
          <a:solidFill>
            <a:srgbClr val="EAF3F4"/>
          </a:solidFill>
          <a:ln w="19050">
            <a:solidFill>
              <a:srgbClr val="C65E4E"/>
            </a:solidFill>
            <a:prstDash val="solid"/>
          </a:ln>
        </p:spPr>
      </p:sp>
      <p:sp>
        <p:nvSpPr>
          <p:cNvPr id="34" name="Text 32"/>
          <p:cNvSpPr/>
          <p:nvPr/>
        </p:nvSpPr>
        <p:spPr>
          <a:xfrm>
            <a:off x="8083296" y="3337560"/>
            <a:ext cx="1024128" cy="164592"/>
          </a:xfrm>
          <a:prstGeom prst="rect">
            <a:avLst/>
          </a:prstGeom>
          <a:noFill/>
          <a:ln/>
        </p:spPr>
        <p:txBody>
          <a:bodyPr wrap="square" lIns="0" tIns="0" rIns="0" bIns="0" rtlCol="0" anchor="ctr"/>
          <a:lstStyle/>
          <a:p>
            <a:pPr indent="0" marL="0">
              <a:buNone/>
            </a:pPr>
            <a:r>
              <a:rPr lang="en-US" sz="830" b="1" spc="45" kern="0" dirty="0">
                <a:solidFill>
                  <a:srgbClr val="C65E4E"/>
                </a:solidFill>
                <a:latin typeface="Aptos" pitchFamily="34" charset="0"/>
                <a:ea typeface="Aptos" pitchFamily="34" charset="-122"/>
                <a:cs typeface="Aptos" pitchFamily="34" charset="-120"/>
              </a:rPr>
              <a:t>CONTROL</a:t>
            </a:r>
            <a:endParaRPr lang="en-US" sz="830" dirty="0"/>
          </a:p>
        </p:txBody>
      </p:sp>
      <p:sp>
        <p:nvSpPr>
          <p:cNvPr id="35" name="Text 33"/>
          <p:cNvSpPr/>
          <p:nvPr/>
        </p:nvSpPr>
        <p:spPr>
          <a:xfrm>
            <a:off x="9116568" y="3346704"/>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PLC  /  local logic</a:t>
            </a:r>
            <a:endParaRPr lang="en-US" sz="1020" dirty="0"/>
          </a:p>
        </p:txBody>
      </p:sp>
      <p:sp>
        <p:nvSpPr>
          <p:cNvPr id="36" name="Shape 34"/>
          <p:cNvSpPr/>
          <p:nvPr/>
        </p:nvSpPr>
        <p:spPr>
          <a:xfrm>
            <a:off x="7955280" y="3922776"/>
            <a:ext cx="3337560" cy="521208"/>
          </a:xfrm>
          <a:prstGeom prst="rect">
            <a:avLst/>
          </a:prstGeom>
          <a:solidFill>
            <a:srgbClr val="F8F3E8"/>
          </a:solidFill>
          <a:ln w="11430">
            <a:solidFill>
              <a:srgbClr val="D5E0E7"/>
            </a:solidFill>
            <a:prstDash val="solid"/>
          </a:ln>
        </p:spPr>
      </p:sp>
      <p:sp>
        <p:nvSpPr>
          <p:cNvPr id="37" name="Text 35"/>
          <p:cNvSpPr/>
          <p:nvPr/>
        </p:nvSpPr>
        <p:spPr>
          <a:xfrm>
            <a:off x="8083296" y="4005072"/>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SUPERVISORY</a:t>
            </a:r>
            <a:endParaRPr lang="en-US" sz="830" dirty="0"/>
          </a:p>
        </p:txBody>
      </p:sp>
      <p:sp>
        <p:nvSpPr>
          <p:cNvPr id="38" name="Text 36"/>
          <p:cNvSpPr/>
          <p:nvPr/>
        </p:nvSpPr>
        <p:spPr>
          <a:xfrm>
            <a:off x="9116568" y="4014216"/>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HMI  /  SCADA</a:t>
            </a:r>
            <a:endParaRPr lang="en-US" sz="1020" dirty="0"/>
          </a:p>
        </p:txBody>
      </p:sp>
      <p:sp>
        <p:nvSpPr>
          <p:cNvPr id="39" name="Shape 37"/>
          <p:cNvSpPr/>
          <p:nvPr/>
        </p:nvSpPr>
        <p:spPr>
          <a:xfrm>
            <a:off x="7955280" y="4590288"/>
            <a:ext cx="3337560" cy="521208"/>
          </a:xfrm>
          <a:prstGeom prst="rect">
            <a:avLst/>
          </a:prstGeom>
          <a:solidFill>
            <a:srgbClr val="F6F8FA"/>
          </a:solidFill>
          <a:ln w="11430">
            <a:solidFill>
              <a:srgbClr val="D5E0E7"/>
            </a:solidFill>
            <a:prstDash val="solid"/>
          </a:ln>
        </p:spPr>
      </p:sp>
      <p:sp>
        <p:nvSpPr>
          <p:cNvPr id="40" name="Text 38"/>
          <p:cNvSpPr/>
          <p:nvPr/>
        </p:nvSpPr>
        <p:spPr>
          <a:xfrm>
            <a:off x="8083296" y="4672584"/>
            <a:ext cx="1024128" cy="164592"/>
          </a:xfrm>
          <a:prstGeom prst="rect">
            <a:avLst/>
          </a:prstGeom>
          <a:noFill/>
          <a:ln/>
        </p:spPr>
        <p:txBody>
          <a:bodyPr wrap="square" lIns="0" tIns="0" rIns="0" bIns="0" rtlCol="0" anchor="ctr"/>
          <a:lstStyle/>
          <a:p>
            <a:pPr indent="0" marL="0">
              <a:buNone/>
            </a:pPr>
            <a:r>
              <a:rPr lang="en-US" sz="830" b="1" spc="45" kern="0" dirty="0">
                <a:solidFill>
                  <a:srgbClr val="607585"/>
                </a:solidFill>
                <a:latin typeface="Aptos" pitchFamily="34" charset="0"/>
                <a:ea typeface="Aptos" pitchFamily="34" charset="-122"/>
                <a:cs typeface="Aptos" pitchFamily="34" charset="-120"/>
              </a:rPr>
              <a:t>INFORMATION</a:t>
            </a:r>
            <a:endParaRPr lang="en-US" sz="830" dirty="0"/>
          </a:p>
        </p:txBody>
      </p:sp>
      <p:sp>
        <p:nvSpPr>
          <p:cNvPr id="41" name="Text 39"/>
          <p:cNvSpPr/>
          <p:nvPr/>
        </p:nvSpPr>
        <p:spPr>
          <a:xfrm>
            <a:off x="9116568" y="4681728"/>
            <a:ext cx="1965960" cy="329184"/>
          </a:xfrm>
          <a:prstGeom prst="rect">
            <a:avLst/>
          </a:prstGeom>
          <a:noFill/>
          <a:ln/>
        </p:spPr>
        <p:txBody>
          <a:bodyPr wrap="square" lIns="0" tIns="0" rIns="0" bIns="0" rtlCol="0" anchor="ctr"/>
          <a:lstStyle/>
          <a:p>
            <a:pPr algn="ctr" indent="0" marL="0">
              <a:buNone/>
            </a:pPr>
            <a:r>
              <a:rPr lang="en-US" sz="1020" b="1" dirty="0">
                <a:solidFill>
                  <a:srgbClr val="1B3448"/>
                </a:solidFill>
                <a:latin typeface="Aptos" pitchFamily="34" charset="0"/>
                <a:ea typeface="Aptos" pitchFamily="34" charset="-122"/>
                <a:cs typeface="Aptos" pitchFamily="34" charset="-120"/>
              </a:rPr>
              <a:t>History  /  reports</a:t>
            </a:r>
            <a:endParaRPr lang="en-US" sz="1020" dirty="0"/>
          </a:p>
        </p:txBody>
      </p:sp>
      <p:sp>
        <p:nvSpPr>
          <p:cNvPr id="42" name="Text 40"/>
          <p:cNvSpPr/>
          <p:nvPr/>
        </p:nvSpPr>
        <p:spPr>
          <a:xfrm>
            <a:off x="8046720" y="5440680"/>
            <a:ext cx="3154680" cy="502920"/>
          </a:xfrm>
          <a:prstGeom prst="rect">
            <a:avLst/>
          </a:prstGeom>
          <a:noFill/>
          <a:ln/>
        </p:spPr>
        <p:txBody>
          <a:bodyPr wrap="square" lIns="0" tIns="0" rIns="0" bIns="0" rtlCol="0" anchor="ctr">
            <a:normAutofit/>
          </a:bodyPr>
          <a:lstStyle/>
          <a:p>
            <a:pPr algn="ctr" indent="0" marL="0">
              <a:buNone/>
            </a:pPr>
            <a:r>
              <a:rPr lang="en-US" sz="1020" b="1" dirty="0">
                <a:solidFill>
                  <a:srgbClr val="C65E4E"/>
                </a:solidFill>
                <a:latin typeface="Aptos" pitchFamily="34" charset="0"/>
                <a:ea typeface="Aptos" pitchFamily="34" charset="-122"/>
                <a:cs typeface="Aptos" pitchFamily="34" charset="-120"/>
              </a:rPr>
              <a:t>Supervisory loss must not stop essential local control</a:t>
            </a:r>
            <a:endParaRPr lang="en-US" sz="1020" dirty="0"/>
          </a:p>
        </p:txBody>
      </p:sp>
      <p:sp>
        <p:nvSpPr>
          <p:cNvPr id="43" name="Shape 41"/>
          <p:cNvSpPr/>
          <p:nvPr/>
        </p:nvSpPr>
        <p:spPr>
          <a:xfrm>
            <a:off x="603504" y="6318504"/>
            <a:ext cx="10972800" cy="0"/>
          </a:xfrm>
          <a:prstGeom prst="line">
            <a:avLst/>
          </a:prstGeom>
          <a:noFill/>
          <a:ln w="10160">
            <a:solidFill>
              <a:srgbClr val="D5E0E7"/>
            </a:solidFill>
            <a:prstDash val="solid"/>
          </a:ln>
        </p:spPr>
      </p:sp>
      <p:sp>
        <p:nvSpPr>
          <p:cNvPr id="44" name="Text 42"/>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5" name="Text 43"/>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16 / 18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7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Full LO2 criterion audit</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976122"/>
          </a:xfrm>
          <a:prstGeom prst="rect">
            <a:avLst/>
          </a:prstGeom>
          <a:solidFill>
            <a:srgbClr val="FFFFFF"/>
          </a:solidFill>
          <a:ln w="8890">
            <a:solidFill>
              <a:srgbClr val="D5E0E7"/>
            </a:solidFill>
            <a:prstDash val="solid"/>
          </a:ln>
        </p:spPr>
      </p:sp>
      <p:sp>
        <p:nvSpPr>
          <p:cNvPr id="12" name="Shape 10"/>
          <p:cNvSpPr/>
          <p:nvPr/>
        </p:nvSpPr>
        <p:spPr>
          <a:xfrm>
            <a:off x="640080" y="1993392"/>
            <a:ext cx="50292" cy="976122"/>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Audit LO2.P3 for distinct link/interface and protocol comparisons; LO2.P4 for contextual bus advantages plus trade-offs; LO2.M2 for an architecture, named tags, data path, and working or equivalent evidence.</a:t>
            </a:r>
            <a:endParaRPr lang="en-US" sz="1310" dirty="0"/>
          </a:p>
        </p:txBody>
      </p:sp>
      <p:sp>
        <p:nvSpPr>
          <p:cNvPr id="15" name="Shape 13"/>
          <p:cNvSpPr/>
          <p:nvPr/>
        </p:nvSpPr>
        <p:spPr>
          <a:xfrm>
            <a:off x="640080" y="3051810"/>
            <a:ext cx="6720840" cy="976122"/>
          </a:xfrm>
          <a:prstGeom prst="rect">
            <a:avLst/>
          </a:prstGeom>
          <a:solidFill>
            <a:srgbClr val="FFFFFF"/>
          </a:solidFill>
          <a:ln w="8890">
            <a:solidFill>
              <a:srgbClr val="E7EDF1"/>
            </a:solidFill>
            <a:prstDash val="solid"/>
          </a:ln>
        </p:spPr>
      </p:sp>
      <p:sp>
        <p:nvSpPr>
          <p:cNvPr id="16" name="Shape 14"/>
          <p:cNvSpPr/>
          <p:nvPr/>
        </p:nvSpPr>
        <p:spPr>
          <a:xfrm>
            <a:off x="640080" y="3051810"/>
            <a:ext cx="50292" cy="976122"/>
          </a:xfrm>
          <a:prstGeom prst="rect">
            <a:avLst/>
          </a:prstGeom>
          <a:solidFill>
            <a:srgbClr val="C65E4E"/>
          </a:solidFill>
          <a:ln w="12700">
            <a:solidFill>
              <a:srgbClr val="C65E4E">
                <a:alpha val="0"/>
              </a:srgbClr>
            </a:solidFill>
            <a:prstDash val="solid"/>
          </a:ln>
        </p:spPr>
      </p:sp>
      <p:sp>
        <p:nvSpPr>
          <p:cNvPr id="17" name="Text 15"/>
          <p:cNvSpPr/>
          <p:nvPr/>
        </p:nvSpPr>
        <p:spPr>
          <a:xfrm>
            <a:off x="786384" y="314325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134106"/>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Audit LO2.M3 for balanced HMI/SCADA benefits, limits, and application-specific conclusion; LO2.D2 for convergence drivers, justified rationale, risks, controls, and conditional recommendation.</a:t>
            </a:r>
            <a:endParaRPr lang="en-US" sz="1310" dirty="0"/>
          </a:p>
        </p:txBody>
      </p:sp>
      <p:sp>
        <p:nvSpPr>
          <p:cNvPr id="19" name="Shape 17"/>
          <p:cNvSpPr/>
          <p:nvPr/>
        </p:nvSpPr>
        <p:spPr>
          <a:xfrm>
            <a:off x="640080" y="4110228"/>
            <a:ext cx="6720840" cy="976122"/>
          </a:xfrm>
          <a:prstGeom prst="rect">
            <a:avLst/>
          </a:prstGeom>
          <a:solidFill>
            <a:srgbClr val="FFFFFF"/>
          </a:solidFill>
          <a:ln w="8890">
            <a:solidFill>
              <a:srgbClr val="E7EDF1"/>
            </a:solidFill>
            <a:prstDash val="solid"/>
          </a:ln>
        </p:spPr>
      </p:sp>
      <p:sp>
        <p:nvSpPr>
          <p:cNvPr id="20" name="Shape 18"/>
          <p:cNvSpPr/>
          <p:nvPr/>
        </p:nvSpPr>
        <p:spPr>
          <a:xfrm>
            <a:off x="640080" y="4110228"/>
            <a:ext cx="50292" cy="976122"/>
          </a:xfrm>
          <a:prstGeom prst="rect">
            <a:avLst/>
          </a:prstGeom>
          <a:solidFill>
            <a:srgbClr val="C65E4E"/>
          </a:solidFill>
          <a:ln w="12700">
            <a:solidFill>
              <a:srgbClr val="C65E4E">
                <a:alpha val="0"/>
              </a:srgbClr>
            </a:solidFill>
            <a:prstDash val="solid"/>
          </a:ln>
        </p:spPr>
      </p:sp>
      <p:sp>
        <p:nvSpPr>
          <p:cNvPr id="21" name="Text 19"/>
          <p:cNvSpPr/>
          <p:nvPr/>
        </p:nvSpPr>
        <p:spPr>
          <a:xfrm>
            <a:off x="786384" y="4201668"/>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192524"/>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Cross-check that wiring/I/O mapping, normal-cycle and safe fault records, signal-integrity findings, protocol/topology diagram, and required Harvard-style references are present in the wider evidence pack.</a:t>
            </a:r>
            <a:endParaRPr lang="en-US" sz="1310" dirty="0"/>
          </a:p>
        </p:txBody>
      </p:sp>
      <p:sp>
        <p:nvSpPr>
          <p:cNvPr id="23" name="Shape 21"/>
          <p:cNvSpPr/>
          <p:nvPr/>
        </p:nvSpPr>
        <p:spPr>
          <a:xfrm>
            <a:off x="640080" y="5168646"/>
            <a:ext cx="6720840" cy="976122"/>
          </a:xfrm>
          <a:prstGeom prst="rect">
            <a:avLst/>
          </a:prstGeom>
          <a:solidFill>
            <a:srgbClr val="FFFFFF"/>
          </a:solidFill>
          <a:ln w="8890">
            <a:solidFill>
              <a:srgbClr val="E7EDF1"/>
            </a:solidFill>
            <a:prstDash val="solid"/>
          </a:ln>
        </p:spPr>
      </p:sp>
      <p:sp>
        <p:nvSpPr>
          <p:cNvPr id="24" name="Shape 22"/>
          <p:cNvSpPr/>
          <p:nvPr/>
        </p:nvSpPr>
        <p:spPr>
          <a:xfrm>
            <a:off x="640080" y="5168646"/>
            <a:ext cx="50292" cy="976122"/>
          </a:xfrm>
          <a:prstGeom prst="rect">
            <a:avLst/>
          </a:prstGeom>
          <a:solidFill>
            <a:srgbClr val="C65E4E"/>
          </a:solidFill>
          <a:ln w="12700">
            <a:solidFill>
              <a:srgbClr val="C65E4E">
                <a:alpha val="0"/>
              </a:srgbClr>
            </a:solidFill>
            <a:prstDash val="solid"/>
          </a:ln>
        </p:spPr>
      </p:sp>
      <p:sp>
        <p:nvSpPr>
          <p:cNvPr id="25" name="Text 23"/>
          <p:cNvSpPr/>
          <p:nvPr/>
        </p:nvSpPr>
        <p:spPr>
          <a:xfrm>
            <a:off x="786384" y="526008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04</a:t>
            </a:r>
            <a:endParaRPr lang="en-US" sz="950" dirty="0"/>
          </a:p>
        </p:txBody>
      </p:sp>
      <p:sp>
        <p:nvSpPr>
          <p:cNvPr id="26" name="Text 24"/>
          <p:cNvSpPr/>
          <p:nvPr/>
        </p:nvSpPr>
        <p:spPr>
          <a:xfrm>
            <a:off x="1197864" y="5250942"/>
            <a:ext cx="5989320" cy="820674"/>
          </a:xfrm>
          <a:prstGeom prst="rect">
            <a:avLst/>
          </a:prstGeom>
          <a:noFill/>
          <a:ln/>
        </p:spPr>
        <p:txBody>
          <a:bodyPr wrap="square" lIns="0" tIns="0" rIns="0" bIns="0" rtlCol="0" anchor="ctr">
            <a:normAutofit/>
          </a:bodyPr>
          <a:lstStyle/>
          <a:p>
            <a:pPr indent="0" marL="0">
              <a:buNone/>
            </a:pPr>
            <a:r>
              <a:rPr lang="en-US" sz="1310" dirty="0">
                <a:solidFill>
                  <a:srgbClr val="334B5C"/>
                </a:solidFill>
                <a:latin typeface="Aptos" pitchFamily="34" charset="0"/>
                <a:ea typeface="Aptos" pitchFamily="34" charset="-122"/>
                <a:cs typeface="Aptos" pitchFamily="34" charset="-120"/>
              </a:rPr>
              <a:t>For each gap, assign one concrete artifact or test, a responsible person, and a completion date; do not relabel missing evidence as achieved.</a:t>
            </a:r>
            <a:endParaRPr lang="en-US" sz="1310" dirty="0"/>
          </a:p>
        </p:txBody>
      </p:sp>
      <p:sp>
        <p:nvSpPr>
          <p:cNvPr id="27" name="Shape 25"/>
          <p:cNvSpPr/>
          <p:nvPr/>
        </p:nvSpPr>
        <p:spPr>
          <a:xfrm>
            <a:off x="7662672" y="1746504"/>
            <a:ext cx="3922776" cy="4361688"/>
          </a:xfrm>
          <a:prstGeom prst="rect">
            <a:avLst/>
          </a:prstGeom>
          <a:solidFill>
            <a:srgbClr val="FFFFFF"/>
          </a:solidFill>
          <a:ln w="12700">
            <a:solidFill>
              <a:srgbClr val="D5E0E7"/>
            </a:solidFill>
            <a:prstDash val="solid"/>
          </a:ln>
        </p:spPr>
      </p:sp>
      <p:sp>
        <p:nvSpPr>
          <p:cNvPr id="28" name="Text 26"/>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FORMATIVE CHECK</a:t>
            </a:r>
            <a:endParaRPr lang="en-US" sz="900" dirty="0"/>
          </a:p>
        </p:txBody>
      </p:sp>
      <p:sp>
        <p:nvSpPr>
          <p:cNvPr id="29" name="Shape 27"/>
          <p:cNvSpPr/>
          <p:nvPr/>
        </p:nvSpPr>
        <p:spPr>
          <a:xfrm>
            <a:off x="7863840" y="2221992"/>
            <a:ext cx="3520440" cy="0"/>
          </a:xfrm>
          <a:prstGeom prst="line">
            <a:avLst/>
          </a:prstGeom>
          <a:noFill/>
          <a:ln w="8890">
            <a:solidFill>
              <a:srgbClr val="D5E0E7"/>
            </a:solidFill>
            <a:prstDash val="solid"/>
          </a:ln>
        </p:spPr>
      </p:sp>
      <p:sp>
        <p:nvSpPr>
          <p:cNvPr id="30" name="Shape 28"/>
          <p:cNvSpPr/>
          <p:nvPr/>
        </p:nvSpPr>
        <p:spPr>
          <a:xfrm>
            <a:off x="8138160" y="2697480"/>
            <a:ext cx="256032" cy="256032"/>
          </a:xfrm>
          <a:prstGeom prst="rect">
            <a:avLst/>
          </a:prstGeom>
          <a:solidFill>
            <a:srgbClr val="FFFFFF"/>
          </a:solidFill>
          <a:ln w="17780">
            <a:solidFill>
              <a:srgbClr val="C65E4E"/>
            </a:solidFill>
            <a:prstDash val="solid"/>
          </a:ln>
        </p:spPr>
      </p:sp>
      <p:sp>
        <p:nvSpPr>
          <p:cNvPr id="31" name="Text 29"/>
          <p:cNvSpPr/>
          <p:nvPr/>
        </p:nvSpPr>
        <p:spPr>
          <a:xfrm>
            <a:off x="8558784" y="2660904"/>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01</a:t>
            </a:r>
            <a:endParaRPr lang="en-US" sz="800" dirty="0"/>
          </a:p>
        </p:txBody>
      </p:sp>
      <p:sp>
        <p:nvSpPr>
          <p:cNvPr id="32" name="Text 30"/>
          <p:cNvSpPr/>
          <p:nvPr/>
        </p:nvSpPr>
        <p:spPr>
          <a:xfrm>
            <a:off x="8942832" y="2651760"/>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BENEFIT</a:t>
            </a:r>
            <a:endParaRPr lang="en-US" sz="1000" dirty="0"/>
          </a:p>
        </p:txBody>
      </p:sp>
      <p:sp>
        <p:nvSpPr>
          <p:cNvPr id="33" name="Shape 31"/>
          <p:cNvSpPr/>
          <p:nvPr/>
        </p:nvSpPr>
        <p:spPr>
          <a:xfrm>
            <a:off x="8558784" y="3163824"/>
            <a:ext cx="2542032" cy="0"/>
          </a:xfrm>
          <a:prstGeom prst="line">
            <a:avLst/>
          </a:prstGeom>
          <a:noFill/>
          <a:ln w="8890">
            <a:solidFill>
              <a:srgbClr val="D5E0E7"/>
            </a:solidFill>
            <a:prstDash val="solid"/>
          </a:ln>
        </p:spPr>
      </p:sp>
      <p:sp>
        <p:nvSpPr>
          <p:cNvPr id="34" name="Shape 32"/>
          <p:cNvSpPr/>
          <p:nvPr/>
        </p:nvSpPr>
        <p:spPr>
          <a:xfrm>
            <a:off x="8138160" y="3447288"/>
            <a:ext cx="256032" cy="256032"/>
          </a:xfrm>
          <a:prstGeom prst="rect">
            <a:avLst/>
          </a:prstGeom>
          <a:solidFill>
            <a:srgbClr val="FFFFFF"/>
          </a:solidFill>
          <a:ln w="17780">
            <a:solidFill>
              <a:srgbClr val="C65E4E"/>
            </a:solidFill>
            <a:prstDash val="solid"/>
          </a:ln>
        </p:spPr>
      </p:sp>
      <p:sp>
        <p:nvSpPr>
          <p:cNvPr id="35" name="Text 33"/>
          <p:cNvSpPr/>
          <p:nvPr/>
        </p:nvSpPr>
        <p:spPr>
          <a:xfrm>
            <a:off x="8558784" y="3410712"/>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02</a:t>
            </a:r>
            <a:endParaRPr lang="en-US" sz="800" dirty="0"/>
          </a:p>
        </p:txBody>
      </p:sp>
      <p:sp>
        <p:nvSpPr>
          <p:cNvPr id="36" name="Text 34"/>
          <p:cNvSpPr/>
          <p:nvPr/>
        </p:nvSpPr>
        <p:spPr>
          <a:xfrm>
            <a:off x="8942832" y="3401568"/>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LIMITATION</a:t>
            </a:r>
            <a:endParaRPr lang="en-US" sz="1000" dirty="0"/>
          </a:p>
        </p:txBody>
      </p:sp>
      <p:sp>
        <p:nvSpPr>
          <p:cNvPr id="37" name="Shape 35"/>
          <p:cNvSpPr/>
          <p:nvPr/>
        </p:nvSpPr>
        <p:spPr>
          <a:xfrm>
            <a:off x="8558784" y="3913632"/>
            <a:ext cx="2542032" cy="0"/>
          </a:xfrm>
          <a:prstGeom prst="line">
            <a:avLst/>
          </a:prstGeom>
          <a:noFill/>
          <a:ln w="8890">
            <a:solidFill>
              <a:srgbClr val="D5E0E7"/>
            </a:solidFill>
            <a:prstDash val="solid"/>
          </a:ln>
        </p:spPr>
      </p:sp>
      <p:sp>
        <p:nvSpPr>
          <p:cNvPr id="38" name="Shape 36"/>
          <p:cNvSpPr/>
          <p:nvPr/>
        </p:nvSpPr>
        <p:spPr>
          <a:xfrm>
            <a:off x="8138160" y="4197096"/>
            <a:ext cx="256032" cy="256032"/>
          </a:xfrm>
          <a:prstGeom prst="rect">
            <a:avLst/>
          </a:prstGeom>
          <a:solidFill>
            <a:srgbClr val="FFFFFF"/>
          </a:solidFill>
          <a:ln w="17780">
            <a:solidFill>
              <a:srgbClr val="C65E4E"/>
            </a:solidFill>
            <a:prstDash val="solid"/>
          </a:ln>
        </p:spPr>
      </p:sp>
      <p:sp>
        <p:nvSpPr>
          <p:cNvPr id="39" name="Text 37"/>
          <p:cNvSpPr/>
          <p:nvPr/>
        </p:nvSpPr>
        <p:spPr>
          <a:xfrm>
            <a:off x="8558784" y="4160520"/>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03</a:t>
            </a:r>
            <a:endParaRPr lang="en-US" sz="800" dirty="0"/>
          </a:p>
        </p:txBody>
      </p:sp>
      <p:sp>
        <p:nvSpPr>
          <p:cNvPr id="40" name="Text 38"/>
          <p:cNvSpPr/>
          <p:nvPr/>
        </p:nvSpPr>
        <p:spPr>
          <a:xfrm>
            <a:off x="8942832" y="4151376"/>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RISK</a:t>
            </a:r>
            <a:endParaRPr lang="en-US" sz="1000" dirty="0"/>
          </a:p>
        </p:txBody>
      </p:sp>
      <p:sp>
        <p:nvSpPr>
          <p:cNvPr id="41" name="Shape 39"/>
          <p:cNvSpPr/>
          <p:nvPr/>
        </p:nvSpPr>
        <p:spPr>
          <a:xfrm>
            <a:off x="8558784" y="4663440"/>
            <a:ext cx="2542032" cy="0"/>
          </a:xfrm>
          <a:prstGeom prst="line">
            <a:avLst/>
          </a:prstGeom>
          <a:noFill/>
          <a:ln w="8890">
            <a:solidFill>
              <a:srgbClr val="D5E0E7"/>
            </a:solidFill>
            <a:prstDash val="solid"/>
          </a:ln>
        </p:spPr>
      </p:sp>
      <p:sp>
        <p:nvSpPr>
          <p:cNvPr id="42" name="Shape 40"/>
          <p:cNvSpPr/>
          <p:nvPr/>
        </p:nvSpPr>
        <p:spPr>
          <a:xfrm>
            <a:off x="8138160" y="4946904"/>
            <a:ext cx="256032" cy="256032"/>
          </a:xfrm>
          <a:prstGeom prst="rect">
            <a:avLst/>
          </a:prstGeom>
          <a:solidFill>
            <a:srgbClr val="FFFFFF"/>
          </a:solidFill>
          <a:ln w="17780">
            <a:solidFill>
              <a:srgbClr val="C65E4E"/>
            </a:solidFill>
            <a:prstDash val="solid"/>
          </a:ln>
        </p:spPr>
      </p:sp>
      <p:sp>
        <p:nvSpPr>
          <p:cNvPr id="43" name="Text 41"/>
          <p:cNvSpPr/>
          <p:nvPr/>
        </p:nvSpPr>
        <p:spPr>
          <a:xfrm>
            <a:off x="8558784" y="4910328"/>
            <a:ext cx="310896" cy="173736"/>
          </a:xfrm>
          <a:prstGeom prst="rect">
            <a:avLst/>
          </a:prstGeom>
          <a:noFill/>
          <a:ln/>
        </p:spPr>
        <p:txBody>
          <a:bodyPr wrap="square" lIns="0" tIns="0" rIns="0" bIns="0" rtlCol="0" anchor="ctr"/>
          <a:lstStyle/>
          <a:p>
            <a:pPr indent="0" marL="0">
              <a:buNone/>
            </a:pPr>
            <a:r>
              <a:rPr lang="en-US" sz="800" b="1" dirty="0">
                <a:solidFill>
                  <a:srgbClr val="C65E4E"/>
                </a:solidFill>
                <a:latin typeface="Aptos" pitchFamily="34" charset="0"/>
                <a:ea typeface="Aptos" pitchFamily="34" charset="-122"/>
                <a:cs typeface="Aptos" pitchFamily="34" charset="-120"/>
              </a:rPr>
              <a:t>04</a:t>
            </a:r>
            <a:endParaRPr lang="en-US" sz="800" dirty="0"/>
          </a:p>
        </p:txBody>
      </p:sp>
      <p:sp>
        <p:nvSpPr>
          <p:cNvPr id="44" name="Text 42"/>
          <p:cNvSpPr/>
          <p:nvPr/>
        </p:nvSpPr>
        <p:spPr>
          <a:xfrm>
            <a:off x="8942832" y="4901184"/>
            <a:ext cx="2121408" cy="329184"/>
          </a:xfrm>
          <a:prstGeom prst="rect">
            <a:avLst/>
          </a:prstGeom>
          <a:noFill/>
          <a:ln/>
        </p:spPr>
        <p:txBody>
          <a:bodyPr wrap="square" lIns="0" tIns="0" rIns="0" bIns="0" rtlCol="0" anchor="ctr">
            <a:normAutofit/>
          </a:bodyPr>
          <a:lstStyle/>
          <a:p>
            <a:pPr indent="0" marL="0">
              <a:buNone/>
            </a:pPr>
            <a:r>
              <a:rPr lang="en-US" sz="1000" b="1" dirty="0">
                <a:solidFill>
                  <a:srgbClr val="1B3448"/>
                </a:solidFill>
                <a:latin typeface="Aptos" pitchFamily="34" charset="0"/>
                <a:ea typeface="Aptos" pitchFamily="34" charset="-122"/>
                <a:cs typeface="Aptos" pitchFamily="34" charset="-120"/>
              </a:rPr>
              <a:t>MITIGATION</a:t>
            </a:r>
            <a:endParaRPr lang="en-US" sz="1000" dirty="0"/>
          </a:p>
        </p:txBody>
      </p:sp>
      <p:sp>
        <p:nvSpPr>
          <p:cNvPr id="45" name="Shape 43"/>
          <p:cNvSpPr/>
          <p:nvPr/>
        </p:nvSpPr>
        <p:spPr>
          <a:xfrm>
            <a:off x="603504" y="6318504"/>
            <a:ext cx="10972800" cy="0"/>
          </a:xfrm>
          <a:prstGeom prst="line">
            <a:avLst/>
          </a:prstGeom>
          <a:noFill/>
          <a:ln w="10160">
            <a:solidFill>
              <a:srgbClr val="D5E0E7"/>
            </a:solidFill>
            <a:prstDash val="solid"/>
          </a:ln>
        </p:spPr>
      </p:sp>
      <p:sp>
        <p:nvSpPr>
          <p:cNvPr id="46" name="Text 44"/>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7" name="Text 45"/>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17 / 18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8FA"/>
          </a:solidFill>
          <a:ln w="12700">
            <a:solidFill>
              <a:srgbClr val="F6F8FA">
                <a:alpha val="0"/>
              </a:srgbClr>
            </a:solidFill>
            <a:prstDash val="solid"/>
          </a:ln>
        </p:spPr>
      </p:sp>
      <p:sp>
        <p:nvSpPr>
          <p:cNvPr id="3" name="Shape 1"/>
          <p:cNvSpPr/>
          <p:nvPr/>
        </p:nvSpPr>
        <p:spPr>
          <a:xfrm>
            <a:off x="0" y="0"/>
            <a:ext cx="12191695" cy="100584"/>
          </a:xfrm>
          <a:prstGeom prst="rect">
            <a:avLst/>
          </a:prstGeom>
          <a:solidFill>
            <a:srgbClr val="C65E4E"/>
          </a:solidFill>
          <a:ln w="12700">
            <a:solidFill>
              <a:srgbClr val="C65E4E">
                <a:alpha val="0"/>
              </a:srgbClr>
            </a:solidFill>
            <a:prstDash val="solid"/>
          </a:ln>
        </p:spPr>
      </p:sp>
      <p:sp>
        <p:nvSpPr>
          <p:cNvPr id="4" name="Text 2"/>
          <p:cNvSpPr/>
          <p:nvPr/>
        </p:nvSpPr>
        <p:spPr>
          <a:xfrm>
            <a:off x="603504" y="246888"/>
            <a:ext cx="6217920" cy="228600"/>
          </a:xfrm>
          <a:prstGeom prst="rect">
            <a:avLst/>
          </a:prstGeom>
          <a:noFill/>
          <a:ln/>
        </p:spPr>
        <p:txBody>
          <a:bodyPr wrap="square" lIns="0" tIns="0" rIns="0" bIns="0" rtlCol="0" anchor="ctr"/>
          <a:lstStyle/>
          <a:p>
            <a:pPr indent="0" marL="0">
              <a:buNone/>
            </a:pPr>
            <a:r>
              <a:rPr lang="en-US" sz="1000" b="1" spc="100" kern="0" dirty="0">
                <a:solidFill>
                  <a:srgbClr val="C65E4E"/>
                </a:solidFill>
                <a:latin typeface="Aptos" pitchFamily="34" charset="0"/>
                <a:ea typeface="Aptos" pitchFamily="34" charset="-122"/>
                <a:cs typeface="Aptos" pitchFamily="34" charset="-120"/>
              </a:rPr>
              <a:t>UNIT 5009    /    WEEK 08    /    LO2</a:t>
            </a:r>
            <a:endParaRPr lang="en-US" sz="1000" dirty="0"/>
          </a:p>
        </p:txBody>
      </p:sp>
      <p:sp>
        <p:nvSpPr>
          <p:cNvPr id="5" name="Text 3"/>
          <p:cNvSpPr/>
          <p:nvPr/>
        </p:nvSpPr>
        <p:spPr>
          <a:xfrm>
            <a:off x="9720072" y="210312"/>
            <a:ext cx="777240" cy="292608"/>
          </a:xfrm>
          <a:prstGeom prst="rect">
            <a:avLst/>
          </a:prstGeom>
          <a:noFill/>
          <a:ln/>
        </p:spPr>
        <p:txBody>
          <a:bodyPr wrap="square" lIns="0" tIns="0" rIns="0" bIns="0" rtlCol="0" anchor="ctr"/>
          <a:lstStyle/>
          <a:p>
            <a:pPr algn="r" indent="0" marL="0">
              <a:buNone/>
            </a:pPr>
            <a:r>
              <a:rPr lang="en-US" sz="950" b="1" dirty="0">
                <a:solidFill>
                  <a:srgbClr val="1B3448"/>
                </a:solidFill>
                <a:latin typeface="Aptos" pitchFamily="34" charset="0"/>
                <a:ea typeface="Aptos" pitchFamily="34" charset="-122"/>
                <a:cs typeface="Aptos" pitchFamily="34" charset="-120"/>
              </a:rPr>
              <a:t>8 MIN</a:t>
            </a:r>
            <a:endParaRPr lang="en-US" sz="950" dirty="0"/>
          </a:p>
        </p:txBody>
      </p:sp>
      <p:sp>
        <p:nvSpPr>
          <p:cNvPr id="6" name="Shape 4"/>
          <p:cNvSpPr/>
          <p:nvPr/>
        </p:nvSpPr>
        <p:spPr>
          <a:xfrm>
            <a:off x="10643616" y="201168"/>
            <a:ext cx="932688" cy="310896"/>
          </a:xfrm>
          <a:prstGeom prst="rect">
            <a:avLst/>
          </a:prstGeom>
          <a:solidFill>
            <a:srgbClr val="F6F8FA"/>
          </a:solidFill>
          <a:ln w="12700">
            <a:solidFill>
              <a:srgbClr val="C65E4E"/>
            </a:solidFill>
            <a:prstDash val="solid"/>
          </a:ln>
        </p:spPr>
      </p:sp>
      <p:sp>
        <p:nvSpPr>
          <p:cNvPr id="7" name="Text 5"/>
          <p:cNvSpPr/>
          <p:nvPr/>
        </p:nvSpPr>
        <p:spPr>
          <a:xfrm>
            <a:off x="10680192" y="219456"/>
            <a:ext cx="859536" cy="256032"/>
          </a:xfrm>
          <a:prstGeom prst="rect">
            <a:avLst/>
          </a:prstGeom>
          <a:noFill/>
          <a:ln/>
        </p:spPr>
        <p:txBody>
          <a:bodyPr wrap="square" lIns="0" tIns="0" rIns="0" bIns="0" rtlCol="0" anchor="ctr"/>
          <a:lstStyle/>
          <a:p>
            <a:pPr algn="ctr" indent="0" marL="0">
              <a:buNone/>
            </a:pPr>
            <a:r>
              <a:rPr lang="en-US" sz="850" b="1" dirty="0">
                <a:solidFill>
                  <a:srgbClr val="C65E4E"/>
                </a:solidFill>
                <a:latin typeface="Aptos" pitchFamily="34" charset="0"/>
                <a:ea typeface="Aptos" pitchFamily="34" charset="-122"/>
                <a:cs typeface="Aptos" pitchFamily="34" charset="-120"/>
              </a:rPr>
              <a:t>M3 / D2</a:t>
            </a:r>
            <a:endParaRPr lang="en-US" sz="850" dirty="0"/>
          </a:p>
        </p:txBody>
      </p:sp>
      <p:sp>
        <p:nvSpPr>
          <p:cNvPr id="8" name="Text 6"/>
          <p:cNvSpPr/>
          <p:nvPr/>
        </p:nvSpPr>
        <p:spPr>
          <a:xfrm>
            <a:off x="603504" y="704088"/>
            <a:ext cx="10972800" cy="640080"/>
          </a:xfrm>
          <a:prstGeom prst="rect">
            <a:avLst/>
          </a:prstGeom>
          <a:noFill/>
          <a:ln/>
        </p:spPr>
        <p:txBody>
          <a:bodyPr wrap="square" lIns="0" tIns="0" rIns="0" bIns="0" rtlCol="0" anchor="ctr">
            <a:normAutofit/>
          </a:bodyPr>
          <a:lstStyle/>
          <a:p>
            <a:pPr indent="0" marL="0">
              <a:buNone/>
            </a:pPr>
            <a:r>
              <a:rPr lang="en-US" sz="3100" b="1" dirty="0">
                <a:solidFill>
                  <a:srgbClr val="1B3448"/>
                </a:solidFill>
                <a:latin typeface="Aptos Display" pitchFamily="34" charset="0"/>
                <a:ea typeface="Aptos Display" pitchFamily="34" charset="-122"/>
                <a:cs typeface="Aptos Display" pitchFamily="34" charset="-120"/>
              </a:rPr>
              <a:t>Final exit: conditional recommendation</a:t>
            </a:r>
            <a:endParaRPr lang="en-US" sz="3100" dirty="0"/>
          </a:p>
        </p:txBody>
      </p:sp>
      <p:sp>
        <p:nvSpPr>
          <p:cNvPr id="9" name="Shape 7"/>
          <p:cNvSpPr/>
          <p:nvPr/>
        </p:nvSpPr>
        <p:spPr>
          <a:xfrm>
            <a:off x="603504" y="1472184"/>
            <a:ext cx="10972800" cy="0"/>
          </a:xfrm>
          <a:prstGeom prst="line">
            <a:avLst/>
          </a:prstGeom>
          <a:noFill/>
          <a:ln w="13970">
            <a:solidFill>
              <a:srgbClr val="D5E0E7"/>
            </a:solidFill>
            <a:prstDash val="solid"/>
          </a:ln>
        </p:spPr>
      </p:sp>
      <p:sp>
        <p:nvSpPr>
          <p:cNvPr id="10" name="Text 8"/>
          <p:cNvSpPr/>
          <p:nvPr/>
        </p:nvSpPr>
        <p:spPr>
          <a:xfrm>
            <a:off x="667512" y="1709928"/>
            <a:ext cx="2743200" cy="210312"/>
          </a:xfrm>
          <a:prstGeom prst="rect">
            <a:avLst/>
          </a:prstGeom>
          <a:noFill/>
          <a:ln/>
        </p:spPr>
        <p:txBody>
          <a:bodyPr wrap="square" lIns="0" tIns="0" rIns="0" bIns="0" rtlCol="0" anchor="ctr"/>
          <a:lstStyle/>
          <a:p>
            <a:pPr indent="0" marL="0">
              <a:buNone/>
            </a:pPr>
            <a:r>
              <a:rPr lang="en-US" sz="900" b="1" spc="100" kern="0" dirty="0">
                <a:solidFill>
                  <a:srgbClr val="C65E4E"/>
                </a:solidFill>
                <a:latin typeface="Aptos" pitchFamily="34" charset="0"/>
                <a:ea typeface="Aptos" pitchFamily="34" charset="-122"/>
                <a:cs typeface="Aptos" pitchFamily="34" charset="-120"/>
              </a:rPr>
              <a:t>TEACHING POINTS</a:t>
            </a:r>
            <a:endParaRPr lang="en-US" sz="900" dirty="0"/>
          </a:p>
        </p:txBody>
      </p:sp>
      <p:sp>
        <p:nvSpPr>
          <p:cNvPr id="11" name="Shape 9"/>
          <p:cNvSpPr/>
          <p:nvPr/>
        </p:nvSpPr>
        <p:spPr>
          <a:xfrm>
            <a:off x="640080" y="1993392"/>
            <a:ext cx="6720840" cy="1328928"/>
          </a:xfrm>
          <a:prstGeom prst="rect">
            <a:avLst/>
          </a:prstGeom>
          <a:solidFill>
            <a:srgbClr val="FFFFFF"/>
          </a:solidFill>
          <a:ln w="8890">
            <a:solidFill>
              <a:srgbClr val="D5E0E7"/>
            </a:solidFill>
            <a:prstDash val="solid"/>
          </a:ln>
        </p:spPr>
      </p:sp>
      <p:sp>
        <p:nvSpPr>
          <p:cNvPr id="12" name="Shape 10"/>
          <p:cNvSpPr/>
          <p:nvPr/>
        </p:nvSpPr>
        <p:spPr>
          <a:xfrm>
            <a:off x="640080" y="1993392"/>
            <a:ext cx="50292" cy="1328928"/>
          </a:xfrm>
          <a:prstGeom prst="rect">
            <a:avLst/>
          </a:prstGeom>
          <a:solidFill>
            <a:srgbClr val="C65E4E"/>
          </a:solidFill>
          <a:ln w="12700">
            <a:solidFill>
              <a:srgbClr val="C65E4E">
                <a:alpha val="0"/>
              </a:srgbClr>
            </a:solidFill>
            <a:prstDash val="solid"/>
          </a:ln>
        </p:spPr>
      </p:sp>
      <p:sp>
        <p:nvSpPr>
          <p:cNvPr id="13" name="Text 11"/>
          <p:cNvSpPr/>
          <p:nvPr/>
        </p:nvSpPr>
        <p:spPr>
          <a:xfrm>
            <a:off x="786384" y="2084832"/>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01</a:t>
            </a:r>
            <a:endParaRPr lang="en-US" sz="950" dirty="0"/>
          </a:p>
        </p:txBody>
      </p:sp>
      <p:sp>
        <p:nvSpPr>
          <p:cNvPr id="14" name="Text 12"/>
          <p:cNvSpPr/>
          <p:nvPr/>
        </p:nvSpPr>
        <p:spPr>
          <a:xfrm>
            <a:off x="1197864" y="2075688"/>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State whether and how MedPack should integrate PLC, HMI, and SCADA at single-station and growing-line scale, with two evidence-based reasons.</a:t>
            </a:r>
            <a:endParaRPr lang="en-US" sz="1410" dirty="0"/>
          </a:p>
        </p:txBody>
      </p:sp>
      <p:sp>
        <p:nvSpPr>
          <p:cNvPr id="15" name="Shape 13"/>
          <p:cNvSpPr/>
          <p:nvPr/>
        </p:nvSpPr>
        <p:spPr>
          <a:xfrm>
            <a:off x="640080" y="3404616"/>
            <a:ext cx="6720840" cy="1328928"/>
          </a:xfrm>
          <a:prstGeom prst="rect">
            <a:avLst/>
          </a:prstGeom>
          <a:solidFill>
            <a:srgbClr val="FFFFFF"/>
          </a:solidFill>
          <a:ln w="8890">
            <a:solidFill>
              <a:srgbClr val="E7EDF1"/>
            </a:solidFill>
            <a:prstDash val="solid"/>
          </a:ln>
        </p:spPr>
      </p:sp>
      <p:sp>
        <p:nvSpPr>
          <p:cNvPr id="16" name="Shape 14"/>
          <p:cNvSpPr/>
          <p:nvPr/>
        </p:nvSpPr>
        <p:spPr>
          <a:xfrm>
            <a:off x="640080" y="3404616"/>
            <a:ext cx="50292" cy="1328928"/>
          </a:xfrm>
          <a:prstGeom prst="rect">
            <a:avLst/>
          </a:prstGeom>
          <a:solidFill>
            <a:srgbClr val="C65E4E"/>
          </a:solidFill>
          <a:ln w="12700">
            <a:solidFill>
              <a:srgbClr val="C65E4E">
                <a:alpha val="0"/>
              </a:srgbClr>
            </a:solidFill>
            <a:prstDash val="solid"/>
          </a:ln>
        </p:spPr>
      </p:sp>
      <p:sp>
        <p:nvSpPr>
          <p:cNvPr id="17" name="Text 15"/>
          <p:cNvSpPr/>
          <p:nvPr/>
        </p:nvSpPr>
        <p:spPr>
          <a:xfrm>
            <a:off x="786384" y="3496056"/>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02</a:t>
            </a:r>
            <a:endParaRPr lang="en-US" sz="950" dirty="0"/>
          </a:p>
        </p:txBody>
      </p:sp>
      <p:sp>
        <p:nvSpPr>
          <p:cNvPr id="18" name="Text 16"/>
          <p:cNvSpPr/>
          <p:nvPr/>
        </p:nvSpPr>
        <p:spPr>
          <a:xfrm>
            <a:off x="1197864" y="3486912"/>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Name one material operational or cyber risk and a control that can be tested; state what local control and independent safety behavior must remain available.</a:t>
            </a:r>
            <a:endParaRPr lang="en-US" sz="1410" dirty="0"/>
          </a:p>
        </p:txBody>
      </p:sp>
      <p:sp>
        <p:nvSpPr>
          <p:cNvPr id="19" name="Shape 17"/>
          <p:cNvSpPr/>
          <p:nvPr/>
        </p:nvSpPr>
        <p:spPr>
          <a:xfrm>
            <a:off x="640080" y="4815840"/>
            <a:ext cx="6720840" cy="1328928"/>
          </a:xfrm>
          <a:prstGeom prst="rect">
            <a:avLst/>
          </a:prstGeom>
          <a:solidFill>
            <a:srgbClr val="FFFFFF"/>
          </a:solidFill>
          <a:ln w="8890">
            <a:solidFill>
              <a:srgbClr val="E7EDF1"/>
            </a:solidFill>
            <a:prstDash val="solid"/>
          </a:ln>
        </p:spPr>
      </p:sp>
      <p:sp>
        <p:nvSpPr>
          <p:cNvPr id="20" name="Shape 18"/>
          <p:cNvSpPr/>
          <p:nvPr/>
        </p:nvSpPr>
        <p:spPr>
          <a:xfrm>
            <a:off x="640080" y="4815840"/>
            <a:ext cx="50292" cy="1328928"/>
          </a:xfrm>
          <a:prstGeom prst="rect">
            <a:avLst/>
          </a:prstGeom>
          <a:solidFill>
            <a:srgbClr val="C65E4E"/>
          </a:solidFill>
          <a:ln w="12700">
            <a:solidFill>
              <a:srgbClr val="C65E4E">
                <a:alpha val="0"/>
              </a:srgbClr>
            </a:solidFill>
            <a:prstDash val="solid"/>
          </a:ln>
        </p:spPr>
      </p:sp>
      <p:sp>
        <p:nvSpPr>
          <p:cNvPr id="21" name="Text 19"/>
          <p:cNvSpPr/>
          <p:nvPr/>
        </p:nvSpPr>
        <p:spPr>
          <a:xfrm>
            <a:off x="786384" y="4907280"/>
            <a:ext cx="347472" cy="219456"/>
          </a:xfrm>
          <a:prstGeom prst="rect">
            <a:avLst/>
          </a:prstGeom>
          <a:noFill/>
          <a:ln/>
        </p:spPr>
        <p:txBody>
          <a:bodyPr wrap="square" lIns="0" tIns="0" rIns="0" bIns="0" rtlCol="0" anchor="t"/>
          <a:lstStyle/>
          <a:p>
            <a:pPr indent="0" marL="0">
              <a:buNone/>
            </a:pPr>
            <a:r>
              <a:rPr lang="en-US" sz="950" b="1" dirty="0">
                <a:solidFill>
                  <a:srgbClr val="C65E4E"/>
                </a:solidFill>
                <a:latin typeface="Aptos" pitchFamily="34" charset="0"/>
                <a:ea typeface="Aptos" pitchFamily="34" charset="-122"/>
                <a:cs typeface="Aptos" pitchFamily="34" charset="-120"/>
              </a:rPr>
              <a:t>03</a:t>
            </a:r>
            <a:endParaRPr lang="en-US" sz="950" dirty="0"/>
          </a:p>
        </p:txBody>
      </p:sp>
      <p:sp>
        <p:nvSpPr>
          <p:cNvPr id="22" name="Text 20"/>
          <p:cNvSpPr/>
          <p:nvPr/>
        </p:nvSpPr>
        <p:spPr>
          <a:xfrm>
            <a:off x="1197864" y="4898136"/>
            <a:ext cx="5989320" cy="1173480"/>
          </a:xfrm>
          <a:prstGeom prst="rect">
            <a:avLst/>
          </a:prstGeom>
          <a:noFill/>
          <a:ln/>
        </p:spPr>
        <p:txBody>
          <a:bodyPr wrap="square" lIns="0" tIns="0" rIns="0" bIns="0" rtlCol="0" anchor="ctr">
            <a:normAutofit/>
          </a:bodyPr>
          <a:lstStyle/>
          <a:p>
            <a:pPr indent="0" marL="0">
              <a:buNone/>
            </a:pPr>
            <a:r>
              <a:rPr lang="en-US" sz="1410" dirty="0">
                <a:solidFill>
                  <a:srgbClr val="334B5C"/>
                </a:solidFill>
                <a:latin typeface="Aptos" pitchFamily="34" charset="0"/>
                <a:ea typeface="Aptos" pitchFamily="34" charset="-122"/>
                <a:cs typeface="Aptos" pitchFamily="34" charset="-120"/>
              </a:rPr>
              <a:t>Give one condition that would change the recommendation, such as station count, required records, uptime need, support lifecycle, site cyber policy, or cost evidence.</a:t>
            </a:r>
            <a:endParaRPr lang="en-US" sz="1410" dirty="0"/>
          </a:p>
        </p:txBody>
      </p:sp>
      <p:sp>
        <p:nvSpPr>
          <p:cNvPr id="23" name="Shape 21"/>
          <p:cNvSpPr/>
          <p:nvPr/>
        </p:nvSpPr>
        <p:spPr>
          <a:xfrm>
            <a:off x="7662672" y="1746504"/>
            <a:ext cx="3922776" cy="4361688"/>
          </a:xfrm>
          <a:prstGeom prst="rect">
            <a:avLst/>
          </a:prstGeom>
          <a:solidFill>
            <a:srgbClr val="FFFFFF"/>
          </a:solidFill>
          <a:ln w="12700">
            <a:solidFill>
              <a:srgbClr val="D5E0E7"/>
            </a:solidFill>
            <a:prstDash val="solid"/>
          </a:ln>
        </p:spPr>
      </p:sp>
      <p:sp>
        <p:nvSpPr>
          <p:cNvPr id="24" name="Text 22"/>
          <p:cNvSpPr/>
          <p:nvPr/>
        </p:nvSpPr>
        <p:spPr>
          <a:xfrm>
            <a:off x="7863840" y="1892808"/>
            <a:ext cx="3520440" cy="219456"/>
          </a:xfrm>
          <a:prstGeom prst="rect">
            <a:avLst/>
          </a:prstGeom>
          <a:noFill/>
          <a:ln/>
        </p:spPr>
        <p:txBody>
          <a:bodyPr wrap="square" lIns="0" tIns="0" rIns="0" bIns="0" rtlCol="0" anchor="ctr"/>
          <a:lstStyle/>
          <a:p>
            <a:pPr indent="0" marL="0">
              <a:buNone/>
            </a:pPr>
            <a:r>
              <a:rPr lang="en-US" sz="900" b="1" spc="80" kern="0" dirty="0">
                <a:solidFill>
                  <a:srgbClr val="C65E4E"/>
                </a:solidFill>
                <a:latin typeface="Aptos" pitchFamily="34" charset="0"/>
                <a:ea typeface="Aptos" pitchFamily="34" charset="-122"/>
                <a:cs typeface="Aptos" pitchFamily="34" charset="-120"/>
              </a:rPr>
              <a:t>DECISION METHOD</a:t>
            </a:r>
            <a:endParaRPr lang="en-US" sz="900" dirty="0"/>
          </a:p>
        </p:txBody>
      </p:sp>
      <p:sp>
        <p:nvSpPr>
          <p:cNvPr id="25" name="Shape 23"/>
          <p:cNvSpPr/>
          <p:nvPr/>
        </p:nvSpPr>
        <p:spPr>
          <a:xfrm>
            <a:off x="7863840" y="2221992"/>
            <a:ext cx="3520440" cy="0"/>
          </a:xfrm>
          <a:prstGeom prst="line">
            <a:avLst/>
          </a:prstGeom>
          <a:noFill/>
          <a:ln w="8890">
            <a:solidFill>
              <a:srgbClr val="D5E0E7"/>
            </a:solidFill>
            <a:prstDash val="solid"/>
          </a:ln>
        </p:spPr>
      </p:sp>
      <p:sp>
        <p:nvSpPr>
          <p:cNvPr id="26" name="Text 24"/>
          <p:cNvSpPr/>
          <p:nvPr/>
        </p:nvSpPr>
        <p:spPr>
          <a:xfrm>
            <a:off x="8101584" y="2660904"/>
            <a:ext cx="3063240" cy="320040"/>
          </a:xfrm>
          <a:prstGeom prst="rect">
            <a:avLst/>
          </a:prstGeom>
          <a:noFill/>
          <a:ln/>
        </p:spPr>
        <p:txBody>
          <a:bodyPr wrap="square" lIns="0" tIns="0" rIns="0" bIns="0" rtlCol="0" anchor="ctr">
            <a:normAutofit/>
          </a:bodyPr>
          <a:lstStyle/>
          <a:p>
            <a:pPr algn="ctr" indent="0" marL="0">
              <a:buNone/>
            </a:pPr>
            <a:r>
              <a:rPr lang="en-US" sz="920" b="1" dirty="0">
                <a:solidFill>
                  <a:srgbClr val="C65E4E"/>
                </a:solidFill>
                <a:latin typeface="Aptos" pitchFamily="34" charset="0"/>
                <a:ea typeface="Aptos" pitchFamily="34" charset="-122"/>
                <a:cs typeface="Aptos" pitchFamily="34" charset="-120"/>
              </a:rPr>
              <a:t>FIRST: PASS / FAIL MANDATORY GATES</a:t>
            </a:r>
            <a:endParaRPr lang="en-US" sz="920" dirty="0"/>
          </a:p>
        </p:txBody>
      </p:sp>
      <p:sp>
        <p:nvSpPr>
          <p:cNvPr id="27" name="Shape 25"/>
          <p:cNvSpPr/>
          <p:nvPr/>
        </p:nvSpPr>
        <p:spPr>
          <a:xfrm>
            <a:off x="8238744" y="3172968"/>
            <a:ext cx="1298448" cy="438912"/>
          </a:xfrm>
          <a:prstGeom prst="rect">
            <a:avLst/>
          </a:prstGeom>
          <a:solidFill>
            <a:srgbClr val="F4F8FA"/>
          </a:solidFill>
          <a:ln w="14605">
            <a:solidFill>
              <a:srgbClr val="C65E4E"/>
            </a:solidFill>
            <a:prstDash val="solid"/>
          </a:ln>
        </p:spPr>
      </p:sp>
      <p:sp>
        <p:nvSpPr>
          <p:cNvPr id="28" name="Text 26"/>
          <p:cNvSpPr/>
          <p:nvPr/>
        </p:nvSpPr>
        <p:spPr>
          <a:xfrm>
            <a:off x="8311896" y="322783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Electrical fit</a:t>
            </a:r>
            <a:endParaRPr lang="en-US" sz="920" dirty="0"/>
          </a:p>
        </p:txBody>
      </p:sp>
      <p:sp>
        <p:nvSpPr>
          <p:cNvPr id="29" name="Text 27"/>
          <p:cNvSpPr/>
          <p:nvPr/>
        </p:nvSpPr>
        <p:spPr>
          <a:xfrm>
            <a:off x="9793224" y="324612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0" name="Text 28"/>
          <p:cNvSpPr/>
          <p:nvPr/>
        </p:nvSpPr>
        <p:spPr>
          <a:xfrm>
            <a:off x="10323576" y="324612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1" name="Shape 29"/>
          <p:cNvSpPr/>
          <p:nvPr/>
        </p:nvSpPr>
        <p:spPr>
          <a:xfrm>
            <a:off x="8238744" y="3813048"/>
            <a:ext cx="1298448" cy="438912"/>
          </a:xfrm>
          <a:prstGeom prst="rect">
            <a:avLst/>
          </a:prstGeom>
          <a:solidFill>
            <a:srgbClr val="F4F8FA"/>
          </a:solidFill>
          <a:ln w="14605">
            <a:solidFill>
              <a:srgbClr val="C65E4E"/>
            </a:solidFill>
            <a:prstDash val="solid"/>
          </a:ln>
        </p:spPr>
      </p:sp>
      <p:sp>
        <p:nvSpPr>
          <p:cNvPr id="32" name="Text 30"/>
          <p:cNvSpPr/>
          <p:nvPr/>
        </p:nvSpPr>
        <p:spPr>
          <a:xfrm>
            <a:off x="8311896" y="386791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Required I/O</a:t>
            </a:r>
            <a:endParaRPr lang="en-US" sz="920" dirty="0"/>
          </a:p>
        </p:txBody>
      </p:sp>
      <p:sp>
        <p:nvSpPr>
          <p:cNvPr id="33" name="Text 31"/>
          <p:cNvSpPr/>
          <p:nvPr/>
        </p:nvSpPr>
        <p:spPr>
          <a:xfrm>
            <a:off x="9793224" y="388620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4" name="Text 32"/>
          <p:cNvSpPr/>
          <p:nvPr/>
        </p:nvSpPr>
        <p:spPr>
          <a:xfrm>
            <a:off x="10323576" y="388620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5" name="Shape 33"/>
          <p:cNvSpPr/>
          <p:nvPr/>
        </p:nvSpPr>
        <p:spPr>
          <a:xfrm>
            <a:off x="8238744" y="4453128"/>
            <a:ext cx="1298448" cy="438912"/>
          </a:xfrm>
          <a:prstGeom prst="rect">
            <a:avLst/>
          </a:prstGeom>
          <a:solidFill>
            <a:srgbClr val="F4F8FA"/>
          </a:solidFill>
          <a:ln w="14605">
            <a:solidFill>
              <a:srgbClr val="C65E4E"/>
            </a:solidFill>
            <a:prstDash val="solid"/>
          </a:ln>
        </p:spPr>
      </p:sp>
      <p:sp>
        <p:nvSpPr>
          <p:cNvPr id="36" name="Text 34"/>
          <p:cNvSpPr/>
          <p:nvPr/>
        </p:nvSpPr>
        <p:spPr>
          <a:xfrm>
            <a:off x="8311896" y="4507992"/>
            <a:ext cx="1152144" cy="329184"/>
          </a:xfrm>
          <a:prstGeom prst="rect">
            <a:avLst/>
          </a:prstGeom>
          <a:noFill/>
          <a:ln/>
        </p:spPr>
        <p:txBody>
          <a:bodyPr wrap="square" lIns="0" tIns="0" rIns="0" bIns="0" rtlCol="0" anchor="ctr">
            <a:normAutofit/>
          </a:bodyPr>
          <a:lstStyle/>
          <a:p>
            <a:pPr algn="ctr" indent="0" marL="0">
              <a:buNone/>
            </a:pPr>
            <a:r>
              <a:rPr lang="en-US" sz="920" b="1" dirty="0">
                <a:solidFill>
                  <a:srgbClr val="1B3448"/>
                </a:solidFill>
                <a:latin typeface="Aptos" pitchFamily="34" charset="0"/>
                <a:ea typeface="Aptos" pitchFamily="34" charset="-122"/>
                <a:cs typeface="Aptos" pitchFamily="34" charset="-120"/>
              </a:rPr>
              <a:t>Safety boundary</a:t>
            </a:r>
            <a:endParaRPr lang="en-US" sz="920" dirty="0"/>
          </a:p>
        </p:txBody>
      </p:sp>
      <p:sp>
        <p:nvSpPr>
          <p:cNvPr id="37" name="Text 35"/>
          <p:cNvSpPr/>
          <p:nvPr/>
        </p:nvSpPr>
        <p:spPr>
          <a:xfrm>
            <a:off x="9793224" y="4526280"/>
            <a:ext cx="530352" cy="256032"/>
          </a:xfrm>
          <a:prstGeom prst="rect">
            <a:avLst/>
          </a:prstGeom>
          <a:noFill/>
          <a:ln/>
        </p:spPr>
        <p:txBody>
          <a:bodyPr wrap="square" lIns="0" tIns="0" rIns="0" bIns="0" rtlCol="0" anchor="ctr">
            <a:normAutofit/>
          </a:bodyPr>
          <a:lstStyle/>
          <a:p>
            <a:pPr algn="ctr" indent="0" marL="0">
              <a:buNone/>
            </a:pPr>
            <a:r>
              <a:rPr lang="en-US" sz="850" b="1" dirty="0">
                <a:solidFill>
                  <a:srgbClr val="087F8C"/>
                </a:solidFill>
                <a:latin typeface="Aptos" pitchFamily="34" charset="0"/>
                <a:ea typeface="Aptos" pitchFamily="34" charset="-122"/>
                <a:cs typeface="Aptos" pitchFamily="34" charset="-120"/>
              </a:rPr>
              <a:t>PASS</a:t>
            </a:r>
            <a:endParaRPr lang="en-US" sz="850" dirty="0"/>
          </a:p>
        </p:txBody>
      </p:sp>
      <p:sp>
        <p:nvSpPr>
          <p:cNvPr id="38" name="Text 36"/>
          <p:cNvSpPr/>
          <p:nvPr/>
        </p:nvSpPr>
        <p:spPr>
          <a:xfrm>
            <a:off x="10323576" y="4526280"/>
            <a:ext cx="914400" cy="256032"/>
          </a:xfrm>
          <a:prstGeom prst="rect">
            <a:avLst/>
          </a:prstGeom>
          <a:noFill/>
          <a:ln/>
        </p:spPr>
        <p:txBody>
          <a:bodyPr wrap="square" lIns="0" tIns="0" rIns="0" bIns="0" rtlCol="0" anchor="ctr">
            <a:normAutofit/>
          </a:bodyPr>
          <a:lstStyle/>
          <a:p>
            <a:pPr algn="ctr" indent="0" marL="0">
              <a:buNone/>
            </a:pPr>
            <a:r>
              <a:rPr lang="en-US" sz="800" b="1" dirty="0">
                <a:solidFill>
                  <a:srgbClr val="C65E4E"/>
                </a:solidFill>
                <a:latin typeface="Aptos" pitchFamily="34" charset="0"/>
                <a:ea typeface="Aptos" pitchFamily="34" charset="-122"/>
                <a:cs typeface="Aptos" pitchFamily="34" charset="-120"/>
              </a:rPr>
              <a:t>FAIL = EXCLUDE</a:t>
            </a:r>
            <a:endParaRPr lang="en-US" sz="800" dirty="0"/>
          </a:p>
        </p:txBody>
      </p:sp>
      <p:sp>
        <p:nvSpPr>
          <p:cNvPr id="39" name="Shape 37"/>
          <p:cNvSpPr/>
          <p:nvPr/>
        </p:nvSpPr>
        <p:spPr>
          <a:xfrm>
            <a:off x="8211312" y="5276088"/>
            <a:ext cx="3108960" cy="0"/>
          </a:xfrm>
          <a:prstGeom prst="line">
            <a:avLst/>
          </a:prstGeom>
          <a:noFill/>
          <a:ln w="12700">
            <a:solidFill>
              <a:srgbClr val="D5E0E7"/>
            </a:solidFill>
            <a:prstDash val="solid"/>
          </a:ln>
        </p:spPr>
      </p:sp>
      <p:sp>
        <p:nvSpPr>
          <p:cNvPr id="40" name="Text 38"/>
          <p:cNvSpPr/>
          <p:nvPr/>
        </p:nvSpPr>
        <p:spPr>
          <a:xfrm>
            <a:off x="8156448" y="5404104"/>
            <a:ext cx="3200400" cy="411480"/>
          </a:xfrm>
          <a:prstGeom prst="rect">
            <a:avLst/>
          </a:prstGeom>
          <a:noFill/>
          <a:ln/>
        </p:spPr>
        <p:txBody>
          <a:bodyPr wrap="square" lIns="0" tIns="0" rIns="0" bIns="0" rtlCol="0" anchor="ctr">
            <a:normAutofit/>
          </a:bodyPr>
          <a:lstStyle/>
          <a:p>
            <a:pPr algn="ctr" indent="0" marL="0">
              <a:buNone/>
            </a:pPr>
            <a:r>
              <a:rPr lang="en-US" sz="1020" b="1" dirty="0">
                <a:solidFill>
                  <a:srgbClr val="1B3448"/>
                </a:solidFill>
                <a:latin typeface="Aptos" pitchFamily="34" charset="0"/>
                <a:ea typeface="Aptos" pitchFamily="34" charset="-122"/>
                <a:cs typeface="Aptos" pitchFamily="34" charset="-120"/>
              </a:rPr>
              <a:t>THEN weigh preferences with cited evidence</a:t>
            </a:r>
            <a:endParaRPr lang="en-US" sz="1020" dirty="0"/>
          </a:p>
        </p:txBody>
      </p:sp>
      <p:sp>
        <p:nvSpPr>
          <p:cNvPr id="41" name="Shape 39"/>
          <p:cNvSpPr/>
          <p:nvPr/>
        </p:nvSpPr>
        <p:spPr>
          <a:xfrm>
            <a:off x="603504" y="6318504"/>
            <a:ext cx="10972800" cy="0"/>
          </a:xfrm>
          <a:prstGeom prst="line">
            <a:avLst/>
          </a:prstGeom>
          <a:noFill/>
          <a:ln w="10160">
            <a:solidFill>
              <a:srgbClr val="D5E0E7"/>
            </a:solidFill>
            <a:prstDash val="solid"/>
          </a:ln>
        </p:spPr>
      </p:sp>
      <p:sp>
        <p:nvSpPr>
          <p:cNvPr id="42" name="Text 40"/>
          <p:cNvSpPr/>
          <p:nvPr/>
        </p:nvSpPr>
        <p:spPr>
          <a:xfrm>
            <a:off x="603504" y="6428232"/>
            <a:ext cx="8229600" cy="182880"/>
          </a:xfrm>
          <a:prstGeom prst="rect">
            <a:avLst/>
          </a:prstGeom>
          <a:noFill/>
          <a:ln/>
        </p:spPr>
        <p:txBody>
          <a:bodyPr wrap="square" lIns="0" tIns="0" rIns="0" bIns="0" rtlCol="0" anchor="ctr"/>
          <a:lstStyle/>
          <a:p>
            <a:pPr indent="0" marL="0">
              <a:buNone/>
            </a:pPr>
            <a:r>
              <a:rPr lang="en-US" sz="800" b="1" spc="60" kern="0" dirty="0">
                <a:solidFill>
                  <a:srgbClr val="607585"/>
                </a:solidFill>
                <a:latin typeface="Aptos" pitchFamily="34" charset="0"/>
                <a:ea typeface="Aptos" pitchFamily="34" charset="-122"/>
                <a:cs typeface="Aptos" pitchFamily="34" charset="-120"/>
              </a:rPr>
              <a:t>EVALUATING HMI/SCADA AND CONVERGENCE</a:t>
            </a:r>
            <a:endParaRPr lang="en-US" sz="800" dirty="0"/>
          </a:p>
        </p:txBody>
      </p:sp>
      <p:sp>
        <p:nvSpPr>
          <p:cNvPr id="43" name="Text 41"/>
          <p:cNvSpPr/>
          <p:nvPr/>
        </p:nvSpPr>
        <p:spPr>
          <a:xfrm>
            <a:off x="10469880" y="6419088"/>
            <a:ext cx="1097280" cy="201168"/>
          </a:xfrm>
          <a:prstGeom prst="rect">
            <a:avLst/>
          </a:prstGeom>
          <a:noFill/>
          <a:ln/>
        </p:spPr>
        <p:txBody>
          <a:bodyPr wrap="square" lIns="0" tIns="0" rIns="0" bIns="0" rtlCol="0" anchor="ctr"/>
          <a:lstStyle/>
          <a:p>
            <a:pPr algn="r" indent="0" marL="0">
              <a:buNone/>
            </a:pPr>
            <a:r>
              <a:rPr lang="en-US" sz="900" b="1" dirty="0">
                <a:solidFill>
                  <a:srgbClr val="1B3448"/>
                </a:solidFill>
                <a:latin typeface="Aptos" pitchFamily="34" charset="0"/>
                <a:ea typeface="Aptos" pitchFamily="34" charset="-122"/>
                <a:cs typeface="Aptos"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Unit 5009</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08: Evaluating HMI/SCADA and Convergence</dc:title>
  <dc:subject>LO2 weekly teaching presentation</dc:subject>
  <dc:creator>Unit 5009 Teaching Materials</dc:creator>
  <cp:lastModifiedBy>Unit 5009 Teaching Materials</cp:lastModifiedBy>
  <cp:revision>1</cp:revision>
  <dcterms:created xsi:type="dcterms:W3CDTF">2026-10-13T19:42:18Z</dcterms:created>
  <dcterms:modified xsi:type="dcterms:W3CDTF">2026-10-13T19:42:18Z</dcterms:modified>
</cp:coreProperties>
</file>